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class in the series. It continues from *Datomic in Production*: the deployment map, the write path, the read path and the backup/restore drill are covered there and are not repeated here.
The question this class answers: how does a Datomic system behave in production — what each component does when it fails, how failover works, what a read costs at each cache tier, where parallelism applies, which settings matter, and how peers are shipped.
Two hours, six parts, one part per question. The labs are reached from waypoint boxes and are optional at every point: the slides carry the model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carry the model and the diagrams. REPL work lives in src/datomic_ops/labs.clj (§0–§6) and is reached through waypoint boxes. The coupling is loose on purpose: a waypoint can be taken early, late, or skipped entirely without breaking the thread of the class.
Labs marked [MEM] run on datomic:mem:// with nothing installed — every laptop in the room can run them, and the numbers on the slides came from those labs. Labs marked [PRO] need Postgres, one or two transactors and $DATOMIC — see infra/HA.md — and are demonstrated from the front, so nobody is blocked on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answers one operational question, and the six answers compose into a single model: what fails, who takes over, what a read costs, what scales, which knob, and how it ships.
The minute marks are a plan, not a contract — the failover drill in Part II and the parallelism measurements in Part IV are the two places where a class typically runs long, and both are worth the overrun. Parts V and VI are lookups and compress well if the earlier parts ran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part is structural, not procedural. In a single-server SQL deployment, everything that can die takes the application with it. In Datomic, three of the four things that can die do not.
The reason is the split: query, write, cache and durability live in four processes with four lifetimes. A failure takes down a responsibility rather than the system. Everything after this part is a consequence of the split — Part II covers the writer, Part III the reader, and neither mechanism helps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picture top to bottom.
Peers are libraries inside your JVM. The query engine runs there — not in a server. Each peer holds its own object cache of decoded segments.
Memcached is optional and shared: peers consult it before storage, so N cold peers cause one storage miss instead of N.
Storage is the source of truth AND the arbiter of who may write — that second role is what Part II is about.
Transactors: exactly one writes at a time. The standby is a parked process holding no lease.
Two details decide most operational questions later. A peer is a library, so adding a peer means starting another instance of the application: there is no server to size, and query capacity scales with the number of application instances you already run.
And the transactor is not in the read path at all. Peers read storage directly. That is why a dead transactor is a write outage and nothing more, and why no amount of transactor capacity makes reads faster.
Failure signature: if reads slow down while the transactor is busy, the two are contending for storage, not for the transactor.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cards left to right, worst first.
Storage: a total outage, and reads go down too — but only once the caches miss. A peer with a warm object cache keeps answering queries it can answer from cache for as long as its working set holds.
Transactor: writes fail, reads continue. This is the failure people expect to be fatal and it is not.
One peer: that peer's traffic only. Siblings are unaffected because peers share nothing but storage.
Memcached: nothing fails. Storage load goes up, latency goes up, correctness does not move.
The blast radius of a component is the blast radius of the state only it holds. Storage holds the only copy, so losing it loses everything. The transactor holds the right to write, which another process can take. A peer holds a cache, which rebuilds. Memcached holds a copy of a cache, which also rebuilds.
Storage is the single component here whose state exists nowhere else, and that is exactly the one card marked as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process is the query engine, the writer, the cache and the durability boundary at once, so every failure is the same failure. On the right, those four responsibilities live in different processes and fail separately.
The rest of the class follows from the split: Part II protects the write path only, Part III accelerates the read path only, and Part IV finds that the two words for 'parallelism' mean different mechanisms on each side.
The practical form of this is the on-call runbook. A single SQL server has one entry: the server is down, everything is down. Here there are four entries and three of them are degradations rather than outages — which means three of them can wait until business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Reads are served by the peer itself, from caches and from storage. They are parallel and independent of the transactor — a peer whose transactor is dead still answers queries.
Writes are serialised through one process. That is what buys you ACID transactions with no coordination protocol, and it is the reason the write path needs HA while the read path needs caching.
Hold on to this diagram: Part II is the left arrow, Part III the right one, and Part IV shows that 'parallelism' names a different mechanism on each side.
Why writes funnel, stated precisely: transaction functions, uniqueness and cardinality checks all run against the current value of the database, so the transactor has to know the exact predecessor of every transaction. That is a serial dependency in the semantics, not an implementation limit. What it buys is transactions with no two-phase commit, no consensus round and no lock manager, because there is nothing to coordinate. What it costs is a throughput ceiling and a component that needs HA.
Why reads fan out: a database value is immutable, so any number of readers can hold any number of points in time with no coordination. Nothing one reader does can change what another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reach for d/db-stats expecting a cache report. It is a database report: how many datoms exist, by attribute. It says nothing about what is resident in any cache.
There is no peer API that reports cache occupancy. Cache behaviour is observed one of two ways: through the metrics callback (Part V), or by timing the same query twice and comparing. Both appear later in this class.
The failure signature this prevents: we added a cache tier and db-stats did not change. It would not. db-stats counts datoms, and the datom count does not depend on caching. The measurements that would show the change are query timing and the memcached hit ratio in Part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of Datomic HA is one idea: the right to write is a lease, and the lease lives in storage. Everything else — no quorum, no consensus protocol, no split brain, no virtual IP, no failover controller — is a consequence of that one decision.
A lease is a claim on storage with an expiry. The holder renews it; when renewal stops, the claim expires and another process may take it. The correctness argument is one sentence: only storage grants the lease, and storage does not disagree with itself, so two processes cannot both hold it. No quorum is needed because there is no distributed decision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identical transactor processes point at the same storage. One of them holds a lease; the other polls and waits.
Storage is the arbiter. That matters because the lease lives where the data lives — so 'who is the writer' and 'what is committed' are decided by the same system and cannot disagree. A split brain would require storage to disagree with itself.
There is no separate failover controller, no virtual IP, and nothing for you to operate between the two processes.
Operational note: a standby that is working correctly prints nothing after startup. A silent standby log is the expected state, not a symptom.
The mechanism in full: the active transactor refreshes a heartbeat in storage on an interval, and the standby polls the same location. When the heartbeat goes stale for long enough, the standby takes the lease and begins writing. That is the entire protocol.
Why storage rather than a consensus protocol: every transaction already funnels through storage, so storage is already the serialisation point. Making it the arbiter adds no new dependency and no new failure mode.
Failure signature: two transactors that never fail over are usually pointed at different storage. The identical sql-url in the standby properties file is not a copy-paste convenience — it is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tracks, same wall clock.
The write track has a gap: from the moment A dies to the moment B has the lease, transactions fail. The read track has no gap at all — peers are reading storage and their own caches, and neither one noticed.
The peer reconnects on its own. No URI change, no restart, no load balancer entry to flip.
The width of that window depends on heartbeat-interval-msec, on storage latency, and on how warm the standby's JVM is. That is three environment-specific variables, so the width is a measured number from a given environment rather than a quoted constant.
Why the read track has no gap: peers never asked the transactor anything to begin with. They read storage and their own caches, and they notice the transactor only when they submit a transaction.
What a caller sees during the window depends on which side it is on. A writer fails or hangs, decided by txTimeoutMsec two slides on. A reader gets the last t the peer knows about, which is a real and consistent database value — an answer to a slightly older question, not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you get. The right column is what people assume they got and did not.
A standby is not a second copy of the data: both transactors write to the same storage, so storage loss loses everything either of them wrote. Data redundancy is storage replication's job — Postgres streaming replication, DynamoDB's own durability, whatever your storage offers.
A standby also does not protect you from a bad transaction. Once it is committed, it is committed; recovery is restore, covered in the Production class §4.
The rolling-upgrade line on the left is the one people undersell: the same mechanism that survives a crash lets you upgrade the transactor on purpose for the cost of one bounded write pause.
Worth being precise about three words that get used interchangeably. Availability is what HA buys — someone can still write. Durability is what storage replication buys — the bytes survive. Recoverability is what backup buys — you can go back to a state before a mistake. Three mechanisms, three different failures.
Failure signature: a deployment with a standby transactor and unreplicated storage has bought a shorter write pause and no protection whatsoever against losing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failover window a write has to do something. datomic.txTimeoutMsec decides what: how long a peer's write waits for a writer to exist before giving up.
There is no correct value, only a choice about which failure your application handles better. A short timeout gives you fast, explicit failures and free threads — your callers see errors during the window. A long timeout gives you writes that survive the window — at the cost of threads parked in the peer, which under load is its own outage.
Pick the end of the dial your caller can actually handle, then measure the window (previous waypoint) and make sure a long timeout is actually longer than it.
Mechanism: the flag bounds how long a peer blocks in d/transact when no transactor holds the lease. It does not retry faster or make failover happen sooner. It only decides when the peer gives up.
Failure signature for a value set too long: during a failover the peer's threads fill with parked writers, the pool exhausts, and the process stops serving reads as well. A bounded write-path pause has become a read-path outage. That is the failure people do not anticipate, and the reason a long timeout needs a bounded pool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read walks down a ladder until some tier answers. Knowing which tier answered is the whole skill: the same query is a hundred nanoseconds or ten milliseconds depending on nothing but residency.
One thing to establish before the ladder: there is no query cache and no result cache anywhere in Datomic. The only thing cached is the segment, a block of the index. So caching is entirely a question of which blocks are resident, and never a question of which queries were asked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ladder top to bottom, and read the right-hand column as orders of magnitude rather than as benchmark numbers.
Tier 1, the object cache, is on-heap and holds decoded segments — nothing to deserialise, which is why it is nanoseconds to microseconds.
Tier 2, valcache, is the addition in this class: local SSD, per peer. Its latency is not the interesting part. The interesting part is that it is the only tier that survives a process restart, which is exactly the event that empties the others.
Tier 3, memcached, is shared over the network. Its value is not its speed but its sharing: twenty cold peers cause one storage miss instead of twenty.
Tier 4 is storage, and storage is metered — in dollars on DynamoDB, in connections and IOPS on Postgres.
Why a ladder rather than one cache: each tier trades latency for a property the tier above lacks. Tier 1 is the fastest and dies with the process. Tier 2 is slower and survives a restart. Tier 3 is slower still and is shared between processes. Storage is the slowest and is the only one that is authoritative.
The reason the ladder needs no coherence protocol: segments are immutable and content-addressed. A segment that is present is correct, at every tier, forever. Nothing is ever invalidated, and no tier can serve a stale answer. That is what makes it safe to stack four independent caches with no protocol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sizing conversation. Four columns, four different reasons to add a tier.
The object cache is the only one that is always there, and it is the only one that is free. It is also the one most often left at its default.
Valcache buys restart survival. Memcached buys sharing across peers. Storage is the tier you are trying not to reach.
Note the last row: only memcached is shared. That is the whole reason it exists, and the reason its hit ratio is a signal worth alerting on in Part V.
Sizing order follows what each tier costs. Object cache first, because it costs heap you have already allocated and is the only free tier. Then choose between the two paid tiers by the failure being addressed: frequent restarts point at valcache, a large fleet points at memcached.
Failure signature for an undersized object cache: latency that is bimodal rather than uniformly high — most calls fast, a minority slow, with the proportion moving as the working set shifts. A single average hides it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 for one entity. The peer does not fetch one entity: it fetches the segment that entity's datoms live in, and neighbours in the index come along for free. The index-range call on the next line proves it — twenty readings, one segment, one storage hit.
The consequence for sizing is direct: the working set is measured in segments, not in entities. A workload that touches a thousand entities scattered across the index is expensive; a workload that touches ten thousand adjacent ones may be cheap. Cache sizing follows the segments a workload touches rather than the entities it names.
It also explains why sorted access patterns — index-range, reverse chronological scans — behave differently from random entity lookup.
The mechanism underneath: an index is a sorted tree whose leaves are segments holding many datoms. The peer's unit of transfer and of caching is the leaf. Nothing in the system can fetch a single datom.
So access-pattern shape matters more than data volume. A query touching a thousand entities adjacent in the index may load a handful of segments; the same thousand entities scattered across it may load a thousand. Same result, same datom count, an order of magnitude apart in storage traffic.
Failure signature: adding a cache tier changed nothing, and the access pattern is random along a dimension nothing is indexed by. Cache tiers do not fix a scattered access pattern. Changing what is indexed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peers restart together. Twenty object caches are empty at the same instant. Twenty peers ask storage the same questions in the same second.
On Postgres you watch it in pg_stat_database: blks_hit collapses and blks_read spikes. On DynamoDB you watch it on the bill, or in throttling.
Nothing is broken. Every peer is correct, every query returns, and p99 goes through the roof — which is why this shows up as a mysterious post-deploy latency incident rather than as an error.
The three mitigations are ordered by what they require. Rolling deploys require no infrastructure at all.
Why this is a herd rather than N independent slow starts: the peers are identical, restarted together, serving the same traffic, so they miss on the same segments in the same order at the same moment. Storage sees N times its normal miss rate for the length of the warm-up, which is precisely when its own latency is worst. The peers make each other slower.
Failure signature: latency spikes correlated with deploys, no errors anywhere, and the problem resolves by itself in a few minutes. It is routinely diagnosed as a bad release and rolled back, which restarts every peer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Halfway marker. Parts I–III were the model: what fails, who takes over, what a read costs. Parts IV–VI are what you do with it: scale it, tune it,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halves of the system are described as parallel, and the word means something different on each side. On the write side it means pipelining: keeping one serial writer busy. On the read side it means actual concurrency: many cores over one immutable value.
Keeping the two apart matters because they have different limits and different levers. Pipelining adds no concurrency at all — it removes idleness from a serial resource, and it is bounded by the round trip it hides. Read parallelism is ordinary concurrency, and it is bounded by cores and by cache misses. Conflating them leads to looking for threads where there are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Writes cannot be parallelised. One transactor, one serial order — that is what makes the transaction guarantees cheap. What writes can be is pipelined: send the next transaction before the previous one's result has come back, so the transactor never sits idle waiting on a round trip.
Reads are parallel in the ordinary sense. Every peer, every core, over an immutable database value. Once the segments are warm those reads cost storage nothing.
The levers therefore differ. On the left you are fighting idleness. On the right you are cutting work along the index. The two are separate mechanisms; only the read side involves concurrency.
Why writes cannot be parallelised is a statement about semantics, not implementation: transaction functions and the uniqueness and cardinality checks all evaluate against the current value of the database, so every transaction has to know its exact predecessor. Two writers would have to agree on that order, which is the coordination the single writer exists to avoid.
Failure signature: a write-throughput problem attacked by adding transactors. There is only ever one writer. The second process is idle by design and will stay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mechanism before showing the measurement, because the measurement is a null result and only makes sense once the mechanism is clear.
Serial: submit, wait for the round trip, get the result, submit the next. The transactor spends most of the wall clock idle, waiting on the network.
Pipelined: submit N transactions before collecting any of them. The transactor's work is the same; the idle gaps are gone.
So pipelining does not make the transactor faster. It stops it from waiting. That is exactly what the next slide's measurement isolates.
Concretely: d/transact returns a future. Serial code derefs it immediately, so the peer waits out a network round trip and a durable write before it submits the next one. Pipelined code submits several and derefs later, so those round trips overlap.
Why depth stops paying: once enough transactions are in flight to cover the round trip, there is no idleness left to remove. Further depth only queues work, and the queue costs heap in the peer and latency per transaction with no throughput to show for it. 8 to 16 is the documented starting point; the depth that covers your round trip is a measurement, like the gap itself.
Failure signature for unbounded pipelining: peer heap pressure and transaction latencies that grow with queue depth, with no throughput gain to show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runs on datomic:mem://: 500,000 datoms serial, 600,000 pipelined. 24.69 ms and 24.31 ms. No difference.
That is not a failed experiment, it is a controlled one. datomic:mem:// runs the transactor inside the same JVM, so there is no round trip. Remove the round trip and pipelining has nothing to overlap — which confirms that overlapping the round trip is all it ever did.
Run the identical two lines against a transactor over a socket and a gap appears, proportional to that round trip. So the number is environment-specific: the gap equals the round trip being hidden, and a multiplier from a slide does not transfer.
How to read a null result: the experiment removed exactly one variable, the round trip, and the effect vanished with it. That is the strongest evidence available that the round trip was the mechanism — stronger than a positive measurement, which would not have isolated anything.
The consequence for quoting numbers: the pipelining speed-up is a property of the network between peer and transactor, not a property of Datomic. A figure from another environment describes that environment's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:reading/t is indexed, so AVET can be sliced by value range. Each slice is an independent read — no locks, no coordination, and the transactor is not involved at all.
100,000 readings, 8 slices, pmap across 10 cores: 78.70 ms serial becomes 24.68 ms. About 3.2x, median of five runs.
Two constraints matter more than the multiplier.
First, db is a value. Every slice reads the same immutable database, so there is no snapshot to hold open, no read transaction to leak, and no possibility of slices disagreeing. This is the thing that is genuinely hard in a mutable database and free here.
Second, the speed-up is bounded by cache misses rather than by cores. On a warm peer you are dividing CPU work. On a cold peer you are overlapping storage waits — which is still a win, just a different one.
Why no coordination is needed: db is a value, and a value cannot change while it is being read. There is no snapshot to open, no read lock to take, no MVCC version to keep alive, and no way for two slices to disagree. In a mutable database this is the hard part of parallel reads; here it costs nothing.
Failure signature: pmap over slices that do almost no work is slower than serial. The coordination cost per slice is fixed, so when a slice's work is smaller than that cost, parallelism loses. Counting datoms in 250-datom slices is the reproducible example — the same code that gives 3.2x on real per-slice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same cores, only the slice count changes. 8 slices: 24.68 ms. 100: 27.62. 1,000: 30.12. 10,000: 54.41.
Two things to notice.
The degradation is gradual. Going from 8 to 1,000 slices — a 125-fold increase in coordination — costs about 22%. The curve is flat enough that an optimal slice count is not required.
Only at 10,000 slices does the parallel version start approaching the 78.70 ms serial baseline, and even there it is still faster. Over-slicing degrades the result gradually rather than reversing it.
In practice: slice to roughly the core count, or a small multiple of it.
Why the curve is gradual rather than a cliff: the cost per slice is small and constant — a thread hand-off and a range set-up — so total overhead grows linearly with slice count while the useful work stays fixed. There is no threshold and no change of mode, which is why nothing dramatic happens anywhere on the curve.
The practical reading is that slice count is not worth tuning. Any value near the core count sits in the flat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d/with applies a transaction to a database value and hands back a new value. No transactor is involved, nothing is durable, and nothing is shared — so any number of them can run at once.
The second form is the important one: after three concurrent what-ifs each reporting 105,005 readings, the base db still reports 105,000. Immutability is what makes the concurrency safe without locking.
Uses in production: validation before submitting, scenario analysis, and import dry runs — checking that a large load would not violate an invariant before spending transactor time on it.
Mechanism: d/with runs the same transaction machinery the transactor runs, but inside the peer and against a value. It returns db-before, db-after, tx-data and tempids — everything the transactor would have reported, minus durability.
Failure signature it prevents: discovering a uniqueness violation or a failing transaction function at commit time, on the transactor, halfway through a bulk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d/q is single-threaded inside the peer. There is no query planner hint, no degree-of-parallelism setting, and no thread pool to grow.
So parallelism applies across queries, or across index slices that the caller cut — never within one query. If a single query is slow, the answer is its shape or its cache, not more cores.
Parallel SQL engines behave differently here, which is why the expectation is stated explicitly.
Why no knob exists: a datalog query is a join over sorted index traversals, executed in one thread against local structures. Parallelising within a query would mean partitioning the join, which the engine does not do.
Failure signature: one slow query and a peer with idle cores. The cores will not be used. The levers that remain are the query shape — clause order, indexed attributes, narrower ranges — and cache 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are lookups. The loop they all act on is what makes a red dashboard readable — it identifies which knob is relevant.
Every setting in this part acts on one of two loops: the memory-index loop on the write side, or the cache ladder from Part III on the read side. Placing a setting on a loop is what makes it diagnosable. Read on its own, a settings table is a list of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Writes land in the memory index and, always and immediately, in the durable log. Durability never waits for indexing: the rest of the loop is an indexing path, not a write path.
When the memory index passes memory-index-threshold, an indexing job starts draining it into storage.
If writes keep outrunning that drain, the memory index reaches memory-index-max, and the transactor throttles the writers. p99 write latency rises.
The throttle is intentional back-pressure protecting the transactor's heap, not a failure. But it is what appears on your dashboard as a latency incident, so knowing the loop is what stops you from tuning at random when it happens.
Threshold starts the job. Max starts the throttling. Those two sentences describe the whole loop.
Why the loop exists at all: appending to the durable log is cheap, while updating the sorted indexes is expensive — it rewrites tree segments. Doing the second on every transaction would make every write pay index-maintenance cost. So recent writes live in an in-memory index, get merged into the durable indexes in batches, and queries read the union of the two. Durability is never deferred; only indexing is.
Failure signature: query latency that climbs slowly between indexing jobs and drops when one finishes. That is the memory index growing and then being merged — reads are paying for the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gauge, three states. The third is the one commonly misread as a failure.
Normal: the memory index sits below threshold, no indexing job running.
Draining: past threshold, an indexing job is running, writes continue at full speed. This is the healthy steady state under sustained load, not a warning.
Throttled: at max. The transactor deliberately slows the writers so the memory index cannot grow past what its heap can hold. Nothing is lost, nothing errors, and p99 rises.
When you see the third state, the question is not 'how do I turn off throttling' — it is 'why is the drain slower than the write rate'. Usually that is storage write latency, or an indexing job competing with a heavy write burst.
Why throttling rather than failing: the memory index is bounded by the transactor's heap. Without back-pressure a sustained burst would exhaust it, which is an outage. Slowing the writers converts an outage into latency, which is the trade being made deliberately.
Where to look, in order: the drain is storage writes plus index maintenance, so check storage write latency first and overlapping indexing jobs second. Raising memory-index-max buys a longer runway; it does not make the drain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table as a diagnosis aid rather than as a configuration guide: symptom on the right, knob on the left.
The first two are the loop from two slides ago. object-cache-max is the transactor's own read cache — a transactor reads while it indexes. memcached unset means every peer misses separately, which is Part III's thundering herd. heartbeat-interval-msec directly widens or narrows Part II's failover window.
The warning at the bottom: passing ANY JVM flag to bin/transactor makes it drop its own GC defaults. If you pass anything at all, re-specify the GC flags yourself.
Note what the table does not contain: there is no setting that makes indexing faster. Every knob here changes when work happens or how much is buffered. Making the drain faster is a storage question, not a properties-file question.
The GC line is a real failure signature: a transactor that starts pausing after an unrelated flag was added to bin/transactor is running on default JVM GC, not because that flag was wrong but because passing any flag at all drops the shipped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peer flags map one-to-one onto Part III's tier ladder, which is the easiest way to remember them: the first four are tiers 1, 3, 2 and 2's size limit. The fifth is Part II's dial.
Defaults change between releases. Confirm the values against the distribution in use — the next slide is how.
Why the list is this short: a peer has almost nothing to tune. It has a cache ladder and one timeout. Everything else about how a peer behaves is a property of the code it runs — which queries it issues and what access pattern those produce.
A misconfiguration worth naming: valcachePath pointed at a directory two peers share. Valcache is a per-peer cache, so a shared path buys no sharing and is not a supported way to build one. The tier that is shared on purpose is memcached.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commands, and they are the actual answer to 'what is the default for X'.
The samples directory is the authoritative starting point for a properties file. The grep strips comments and blank lines so you see only what is actually set. The third one finds where a feature is wired in the scripts — useful for valcache in particular, whose flags moved between releases.
Where the distribution and this deck disagree, the distribution is current.
The reason to read defaults off the distribution rather than out of documentation is that defaults are release-specific, and the distribution on disk is the one that will run. It is a two-minute check that resolves most questions of the form why is this setting not taking effect before they turn into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ship with the peer library and cost nothing to adopt.
d/sync-index returns a database whose INDEX — not merely whose log — includes a given t. d/sync waits on the log alone. Under light load the two look identical; under load, when indexing lags behind the log, they diverge, and code that assumed d/sync was enough starts reading through the memory index instead of the index it expected.
The tx-report queue lets any peer observe transactions as they land. The datom count in the example decomposes: 401 = 100 readings × 4 attributes + 1 :db/txInstant. A count that does not decompose is a signal about transaction shape.
In production the queue is used for audit, cache invalidation and CDC. In class, as a throughput monitor.
Why sync and sync-index differ: the log receives a transaction immediately, the durable index receives it at the next merge. A database whose log includes t answers queries correctly — it just answers them by reading the memory index as well as the durable one. Under indexing lag that is a difference in cost, not in correctness.
So sync is enough for read-your-writes, which is about a single recent transaction. sync-index is what a bulk read wants, because it wants the work already merged into the sorted index rather than merged again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part follows from one fact: a peer is not stateless. It carries a cache, and that cache is the difference between a 10 ms read and a 1,000 ms one. A deployment procedure that treats peers as interchangeable stateless containers reproduces the Part III cold-cache burst on every release.
A stateless service can be replaced instance for instance with no warm-up, because nothing was accumulated. A peer accumulated a cache, and that cache took time and storage traffic to build. Everything in this part follows from that one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readiness probe that succeeds at process start reports a peer that is up and cold. It will accept traffic and serve every one of the first requests from storage.
The fix is to make readiness mean warm. Warm the segments the service actually reads — index ranges over the attributes it queries — and only then report ready. That moves the cold-read cost ahead of the first request instead of onto it.
Note pmap in warm!: warming uses the parallel-slice pattern from Part IV for a different purpose. And note that it returns basis-t alongside :ready? — useful for the read-your-writes contract on the next slide.
Why the default probe is wrong here rather than merely imprecise: it is not reporting the wrong thing about the process, it is reporting about the wrong subject. The process genuinely is ready. The cache is not, and the cache is what decides the latency the caller sees.
Failure signature: the first few hundred requests to a fresh instance are slow, and the effect is gone before anyone can attach to it. It never reproduces on a warm instance, which is where people go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peer starts at whatever t storage gives it. So a request that arrives just after a write made through a DIFFERENT peer can legitimately be served a database value that does not include that write. Nothing is broken; the peer is simply behind.
The contract that fixes it is to pass the t along with the request and have the reading peer d/sync to it before answering. That is the consistency contract of a multi-peer deployment, and it belongs in the request envelope — a header or a field — rather than in a sleep.
If what you need is the index rather than the log, sync-index, per Part V.
Why the peer is behind rather than wrong: its database value is a consistent snapshot at some t. Answering from t-1 is a correct answer to a slightly older question. Nothing is corrupt and nothing will be logged as an error, which is what makes this hard to find.
Why a sleep does not fix it: a sleep guesses at a delay that varies with load. d/sync waits on the actual condition, and a deref with a timeout also bounds the wait.
Failure signature: a write followed by a read that does not see it, reproducible only under load or with more than one peer — and never in a single-peer test environment, which is where the code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and step 1 is the one that differs from SQL.
Datomic schema is additive. A new attribute is a new entity; an old peer simply never asks about it. So you ship schema first, with no lock, no ALTER, no migration window and no coordination with the code rollout. That is what makes the rest of the order safe: by the time new code arrives, the schema it needs is already there.
Step 2 is Part III's mitigation number 3. Step 3 is the previous slide's warm!. Step 4 is Part II's failover, this time on purpose: start the new-version standby, stop the old active, spend one bounded write pause.
From a peer's point of view, a rolling transactor upgrade and a transactor crash are indistinguishable. The same mechanism handles both, which is what makes the measured window from Part II the relevant number.
Why additive schema removes the migration window: a new attribute is a new entity in the same database, asserted by an ordinary transaction. Nothing is rewritten, nothing is locked, and no existing datom is touched. A peer that does not know the attribute never queries it. So schema can ship days ahead of the code that uses it.
The order is not a convention — each step depends on the previous one already being true. Schema before code, so the code finds what it needs. Peers in waves before traffic, so the caches are never all cold at once. Warm before ready, so the first request is not the one that pays. Transactor last, because it is the only step that costs a write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Every part of the class attaches to one of them.
Fails: storage totally, the transactor for writes only, peers locally.
Waits: writers wait — during failover, and during throttling. Those are the only two places anything waits.
Scales: reads by peers × cores, writes by pipelining, and nothing scales inside one query.
Costs: storage, whenever a cache is cold.
The settings tables in Part V are lookups. This table is the model they operate on.
Used as a diagnosis path: any symptom lands on one of the four rows. Writes failing is FAILS, and the question is which component. Writes slow is WAITS, and there are only two places anything waits. Reads slow is COSTS, so ask which tier answered — unless it is a single query, in which case SCALES already says that more cores will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class covers the paths and storage layers this class assumed. infra/HA.md has the two-transactor setup if Part II was not run live.
On Cloud: the model is the same and the operational surface is different. Query groups are Part IV's read scaling packaged as an autoscaling group, and failover is managed by the platform rather than by you. Everything in Parts I, III, IV and V still applies.
The failover drill is worth repeating on your own staging environment: the window depends on that infrastructure, so the applicable number is the measured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822960" y="5120640"/>
            <a:ext cx="457200" cy="457200"/>
          </a:xfrm>
          <a:prstGeom prst="rect">
            <a:avLst/>
          </a:prstGeom>
          <a:solidFill>
            <a:srgbClr val="A8864A"/>
          </a:solidFill>
          <a:ln/>
        </p:spPr>
      </p:sp>
      <p:sp>
        <p:nvSpPr>
          <p:cNvPr id="4" name="Shape 2"/>
          <p:cNvSpPr/>
          <p:nvPr/>
        </p:nvSpPr>
        <p:spPr>
          <a:xfrm>
            <a:off x="1463040" y="5120640"/>
            <a:ext cx="457200" cy="777240"/>
          </a:xfrm>
          <a:prstGeom prst="rect">
            <a:avLst/>
          </a:prstGeom>
          <a:solidFill>
            <a:srgbClr val="C6A46A"/>
          </a:solidFill>
          <a:ln/>
        </p:spPr>
      </p:sp>
      <p:sp>
        <p:nvSpPr>
          <p:cNvPr id="5" name="Shape 3"/>
          <p:cNvSpPr/>
          <p:nvPr/>
        </p:nvSpPr>
        <p:spPr>
          <a:xfrm>
            <a:off x="2103120" y="5120640"/>
            <a:ext cx="457200" cy="1097280"/>
          </a:xfrm>
          <a:prstGeom prst="rect">
            <a:avLst/>
          </a:prstGeom>
          <a:solidFill>
            <a:srgbClr val="C9BDA4"/>
          </a:solidFill>
          <a:ln/>
        </p:spPr>
      </p:sp>
      <p:sp>
        <p:nvSpPr>
          <p:cNvPr id="6" name="Shape 4"/>
          <p:cNvSpPr/>
          <p:nvPr/>
        </p:nvSpPr>
        <p:spPr>
          <a:xfrm>
            <a:off x="2743200" y="5120640"/>
            <a:ext cx="457200" cy="1417320"/>
          </a:xfrm>
          <a:prstGeom prst="rect">
            <a:avLst/>
          </a:prstGeom>
          <a:solidFill>
            <a:srgbClr val="FCFAF4"/>
          </a:solidFill>
          <a:ln/>
        </p:spPr>
      </p:sp>
      <p:sp>
        <p:nvSpPr>
          <p:cNvPr id="7" name="Text 5"/>
          <p:cNvSpPr/>
          <p:nvPr/>
        </p:nvSpPr>
        <p:spPr>
          <a:xfrm>
            <a:off x="822960" y="1737360"/>
            <a:ext cx="10515600" cy="320040"/>
          </a:xfrm>
          <a:prstGeom prst="rect">
            <a:avLst/>
          </a:prstGeom>
          <a:noFill/>
          <a:ln/>
        </p:spPr>
        <p:txBody>
          <a:bodyPr wrap="square" lIns="0" tIns="0" rIns="0" bIns="0" rtlCol="0" anchor="t"/>
          <a:lstStyle/>
          <a:p>
            <a:pPr indent="0" marL="0">
              <a:buNone/>
            </a:pPr>
            <a:r>
              <a:rPr lang="en-US" sz="1300" spc="300" kern="0" dirty="0">
                <a:solidFill>
                  <a:srgbClr val="C6A46A"/>
                </a:solidFill>
                <a:latin typeface="Helvetica Neue" pitchFamily="34" charset="0"/>
                <a:ea typeface="Helvetica Neue" pitchFamily="34" charset="-122"/>
                <a:cs typeface="Helvetica Neue" pitchFamily="34" charset="-120"/>
              </a:rPr>
              <a:t>A 2-HOUR CLASS</a:t>
            </a:r>
            <a:endParaRPr lang="en-US" sz="1300" dirty="0"/>
          </a:p>
        </p:txBody>
      </p:sp>
      <p:sp>
        <p:nvSpPr>
          <p:cNvPr id="8" name="Text 6"/>
          <p:cNvSpPr/>
          <p:nvPr/>
        </p:nvSpPr>
        <p:spPr>
          <a:xfrm>
            <a:off x="822960" y="2194560"/>
            <a:ext cx="10515600" cy="1097280"/>
          </a:xfrm>
          <a:prstGeom prst="rect">
            <a:avLst/>
          </a:prstGeom>
          <a:noFill/>
          <a:ln/>
        </p:spPr>
        <p:txBody>
          <a:bodyPr wrap="square" lIns="0" tIns="0" rIns="0" bIns="0" rtlCol="0" anchor="t"/>
          <a:lstStyle/>
          <a:p>
            <a:pPr indent="0" marL="0">
              <a:buNone/>
            </a:pPr>
            <a:r>
              <a:rPr lang="en-US" sz="4000" b="1" dirty="0">
                <a:solidFill>
                  <a:srgbClr val="FCFAF4"/>
                </a:solidFill>
                <a:latin typeface="Georgia" pitchFamily="34" charset="0"/>
                <a:ea typeface="Georgia" pitchFamily="34" charset="-122"/>
                <a:cs typeface="Georgia" pitchFamily="34" charset="-120"/>
              </a:rPr>
              <a:t>Datomic at Scale</a:t>
            </a:r>
            <a:endParaRPr lang="en-US" sz="4000" dirty="0"/>
          </a:p>
        </p:txBody>
      </p:sp>
      <p:sp>
        <p:nvSpPr>
          <p:cNvPr id="9" name="Text 7"/>
          <p:cNvSpPr/>
          <p:nvPr/>
        </p:nvSpPr>
        <p:spPr>
          <a:xfrm>
            <a:off x="822960" y="347472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Operations, parallelism, and the cost of a read</a:t>
            </a:r>
            <a:endParaRPr lang="en-US" sz="1600" dirty="0"/>
          </a:p>
        </p:txBody>
      </p:sp>
      <p:sp>
        <p:nvSpPr>
          <p:cNvPr id="10" name="Text 8"/>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FRAME</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How this deck works</a:t>
            </a:r>
            <a:endParaRPr lang="en-US" sz="2500" dirty="0"/>
          </a:p>
        </p:txBody>
      </p:sp>
      <p:sp>
        <p:nvSpPr>
          <p:cNvPr id="8" name="Shape 5"/>
          <p:cNvSpPr/>
          <p:nvPr/>
        </p:nvSpPr>
        <p:spPr>
          <a:xfrm>
            <a:off x="548640" y="1325880"/>
            <a:ext cx="5349240" cy="2286000"/>
          </a:xfrm>
          <a:prstGeom prst="roundRect">
            <a:avLst>
              <a:gd name="adj" fmla="val 3200"/>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DFD6C0"/>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SLIDES</a:t>
            </a:r>
            <a:endParaRPr lang="en-US" sz="1250" dirty="0"/>
          </a:p>
        </p:txBody>
      </p:sp>
      <p:sp>
        <p:nvSpPr>
          <p:cNvPr id="11" name="Text 8"/>
          <p:cNvSpPr/>
          <p:nvPr/>
        </p:nvSpPr>
        <p:spPr>
          <a:xfrm>
            <a:off x="777240" y="1874520"/>
            <a:ext cx="4892040" cy="1554480"/>
          </a:xfrm>
          <a:prstGeom prst="rect">
            <a:avLst/>
          </a:prstGeom>
          <a:noFill/>
          <a:ln/>
        </p:spPr>
        <p:txBody>
          <a:bodyPr wrap="square" lIns="0" tIns="0" rIns="0" bIns="0" rtlCol="0" anchor="t"/>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model and the diagrams.</a:t>
            </a:r>
            <a:endParaRPr lang="en-US" sz="1350" dirty="0"/>
          </a:p>
          <a:p>
            <a:pPr indent="0" marL="0">
              <a:buNone/>
            </a:pP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Everything needed to follow the class is</a:t>
            </a: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projected — the labs add measurement,</a:t>
            </a: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not content.</a:t>
            </a:r>
            <a:endParaRPr lang="en-US" sz="1350" dirty="0"/>
          </a:p>
        </p:txBody>
      </p:sp>
      <p:sp>
        <p:nvSpPr>
          <p:cNvPr id="12" name="Shape 9"/>
          <p:cNvSpPr/>
          <p:nvPr/>
        </p:nvSpPr>
        <p:spPr>
          <a:xfrm>
            <a:off x="6263640" y="1325880"/>
            <a:ext cx="5349240" cy="2286000"/>
          </a:xfrm>
          <a:prstGeom prst="roundRect">
            <a:avLst>
              <a:gd name="adj" fmla="val 3200"/>
            </a:avLst>
          </a:prstGeom>
          <a:solidFill>
            <a:srgbClr val="E6DFCE"/>
          </a:solidFill>
          <a:ln/>
        </p:spPr>
      </p:sp>
      <p:sp>
        <p:nvSpPr>
          <p:cNvPr id="13" name="Shape 10"/>
          <p:cNvSpPr/>
          <p:nvPr/>
        </p:nvSpPr>
        <p:spPr>
          <a:xfrm>
            <a:off x="6263640" y="1325880"/>
            <a:ext cx="5349240" cy="384048"/>
          </a:xfrm>
          <a:prstGeom prst="roundRect">
            <a:avLst>
              <a:gd name="adj" fmla="val 19048"/>
            </a:avLst>
          </a:prstGeom>
          <a:solidFill>
            <a:srgbClr val="DFD6C0"/>
          </a:solidFill>
          <a:ln/>
        </p:spPr>
      </p:sp>
      <p:sp>
        <p:nvSpPr>
          <p:cNvPr id="14" name="Text 11"/>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LABS · src/datomic_ops/labs.clj</a:t>
            </a:r>
            <a:endParaRPr lang="en-US" sz="1250" dirty="0"/>
          </a:p>
        </p:txBody>
      </p:sp>
      <p:sp>
        <p:nvSpPr>
          <p:cNvPr id="15" name="Text 12"/>
          <p:cNvSpPr/>
          <p:nvPr/>
        </p:nvSpPr>
        <p:spPr>
          <a:xfrm>
            <a:off x="6492240" y="1874520"/>
            <a:ext cx="4892040" cy="1554480"/>
          </a:xfrm>
          <a:prstGeom prst="rect">
            <a:avLst/>
          </a:prstGeom>
          <a:noFill/>
          <a:ln/>
        </p:spPr>
        <p:txBody>
          <a:bodyPr wrap="square" lIns="0" tIns="0" rIns="0" bIns="0" rtlCol="0" anchor="t"/>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§0–§6, reached from the ⚑ waypoint boxes.</a:t>
            </a:r>
            <a:endParaRPr lang="en-US" sz="1350" dirty="0"/>
          </a:p>
          <a:p>
            <a:pPr indent="0" marL="0">
              <a:buNone/>
            </a:pP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Loosely coupled: take one early, late,</a:t>
            </a: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or not at all.</a:t>
            </a:r>
            <a:endParaRPr lang="en-US" sz="1350" dirty="0"/>
          </a:p>
        </p:txBody>
      </p:sp>
      <p:sp>
        <p:nvSpPr>
          <p:cNvPr id="16" name="Shape 13"/>
          <p:cNvSpPr/>
          <p:nvPr/>
        </p:nvSpPr>
        <p:spPr>
          <a:xfrm>
            <a:off x="548640" y="3886200"/>
            <a:ext cx="5349240" cy="960120"/>
          </a:xfrm>
          <a:prstGeom prst="roundRect">
            <a:avLst>
              <a:gd name="adj" fmla="val 7619"/>
            </a:avLst>
          </a:prstGeom>
          <a:solidFill>
            <a:srgbClr val="DDE3CC"/>
          </a:solidFill>
          <a:ln/>
        </p:spPr>
      </p:sp>
      <p:sp>
        <p:nvSpPr>
          <p:cNvPr id="17" name="Shape 14"/>
          <p:cNvSpPr/>
          <p:nvPr/>
        </p:nvSpPr>
        <p:spPr>
          <a:xfrm>
            <a:off x="777240" y="4114800"/>
            <a:ext cx="777240" cy="292608"/>
          </a:xfrm>
          <a:prstGeom prst="roundRect">
            <a:avLst>
              <a:gd name="adj" fmla="val 25000"/>
            </a:avLst>
          </a:prstGeom>
          <a:solidFill>
            <a:srgbClr val="5F7A3A"/>
          </a:solidFill>
          <a:ln/>
        </p:spPr>
      </p:sp>
      <p:sp>
        <p:nvSpPr>
          <p:cNvPr id="18" name="Text 15"/>
          <p:cNvSpPr/>
          <p:nvPr/>
        </p:nvSpPr>
        <p:spPr>
          <a:xfrm>
            <a:off x="777240" y="4114800"/>
            <a:ext cx="777240" cy="292608"/>
          </a:xfrm>
          <a:prstGeom prst="rect">
            <a:avLst/>
          </a:prstGeom>
          <a:noFill/>
          <a:ln/>
        </p:spPr>
        <p:txBody>
          <a:bodyPr wrap="square" lIns="0" tIns="0" rIns="0" bIns="0" rtlCol="0" anchor="ctr"/>
          <a:lstStyle/>
          <a:p>
            <a:pPr algn="ctr" indent="0" marL="0">
              <a:buNone/>
            </a:pPr>
            <a:r>
              <a:rPr lang="en-US" sz="1100" b="1" dirty="0">
                <a:solidFill>
                  <a:srgbClr val="FCFAF4"/>
                </a:solidFill>
                <a:latin typeface="Helvetica Neue" pitchFamily="34" charset="0"/>
                <a:ea typeface="Helvetica Neue" pitchFamily="34" charset="-122"/>
                <a:cs typeface="Helvetica Neue" pitchFamily="34" charset="-120"/>
              </a:rPr>
              <a:t>[MEM]</a:t>
            </a:r>
            <a:endParaRPr lang="en-US" sz="1100" dirty="0"/>
          </a:p>
        </p:txBody>
      </p:sp>
      <p:sp>
        <p:nvSpPr>
          <p:cNvPr id="19" name="Text 16"/>
          <p:cNvSpPr/>
          <p:nvPr/>
        </p:nvSpPr>
        <p:spPr>
          <a:xfrm>
            <a:off x="1783080" y="4114800"/>
            <a:ext cx="4023360" cy="54864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runs on datomic:mem:// — nothing installed, works on every laptop</a:t>
            </a:r>
            <a:endParaRPr lang="en-US" sz="1250" dirty="0"/>
          </a:p>
        </p:txBody>
      </p:sp>
      <p:sp>
        <p:nvSpPr>
          <p:cNvPr id="20" name="Shape 17"/>
          <p:cNvSpPr/>
          <p:nvPr/>
        </p:nvSpPr>
        <p:spPr>
          <a:xfrm>
            <a:off x="6263640" y="3886200"/>
            <a:ext cx="5349240" cy="960120"/>
          </a:xfrm>
          <a:prstGeom prst="roundRect">
            <a:avLst>
              <a:gd name="adj" fmla="val 7619"/>
            </a:avLst>
          </a:prstGeom>
          <a:solidFill>
            <a:srgbClr val="EBD5CB"/>
          </a:solidFill>
          <a:ln/>
        </p:spPr>
      </p:sp>
      <p:sp>
        <p:nvSpPr>
          <p:cNvPr id="21" name="Shape 18"/>
          <p:cNvSpPr/>
          <p:nvPr/>
        </p:nvSpPr>
        <p:spPr>
          <a:xfrm>
            <a:off x="6492240" y="4114800"/>
            <a:ext cx="777240" cy="292608"/>
          </a:xfrm>
          <a:prstGeom prst="roundRect">
            <a:avLst>
              <a:gd name="adj" fmla="val 25000"/>
            </a:avLst>
          </a:prstGeom>
          <a:solidFill>
            <a:srgbClr val="9E4227"/>
          </a:solidFill>
          <a:ln/>
        </p:spPr>
      </p:sp>
      <p:sp>
        <p:nvSpPr>
          <p:cNvPr id="22" name="Text 19"/>
          <p:cNvSpPr/>
          <p:nvPr/>
        </p:nvSpPr>
        <p:spPr>
          <a:xfrm>
            <a:off x="6492240" y="4114800"/>
            <a:ext cx="777240" cy="292608"/>
          </a:xfrm>
          <a:prstGeom prst="rect">
            <a:avLst/>
          </a:prstGeom>
          <a:noFill/>
          <a:ln/>
        </p:spPr>
        <p:txBody>
          <a:bodyPr wrap="square" lIns="0" tIns="0" rIns="0" bIns="0" rtlCol="0" anchor="ctr"/>
          <a:lstStyle/>
          <a:p>
            <a:pPr algn="ctr" indent="0" marL="0">
              <a:buNone/>
            </a:pPr>
            <a:r>
              <a:rPr lang="en-US" sz="1100" b="1" dirty="0">
                <a:solidFill>
                  <a:srgbClr val="FCFAF4"/>
                </a:solidFill>
                <a:latin typeface="Helvetica Neue" pitchFamily="34" charset="0"/>
                <a:ea typeface="Helvetica Neue" pitchFamily="34" charset="-122"/>
                <a:cs typeface="Helvetica Neue" pitchFamily="34" charset="-120"/>
              </a:rPr>
              <a:t>[PRO]</a:t>
            </a:r>
            <a:endParaRPr lang="en-US" sz="1100" dirty="0"/>
          </a:p>
        </p:txBody>
      </p:sp>
      <p:sp>
        <p:nvSpPr>
          <p:cNvPr id="23" name="Text 20"/>
          <p:cNvSpPr/>
          <p:nvPr/>
        </p:nvSpPr>
        <p:spPr>
          <a:xfrm>
            <a:off x="7498080" y="4114800"/>
            <a:ext cx="4023360" cy="54864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needs Postgres + transactor(s) + $DATOMIC — see infra/HA.md</a:t>
            </a:r>
            <a:endParaRPr lang="en-US" sz="1250" dirty="0"/>
          </a:p>
        </p:txBody>
      </p:sp>
      <p:sp>
        <p:nvSpPr>
          <p:cNvPr id="24" name="Shape 21"/>
          <p:cNvSpPr/>
          <p:nvPr/>
        </p:nvSpPr>
        <p:spPr>
          <a:xfrm>
            <a:off x="548640" y="5120640"/>
            <a:ext cx="54864" cy="457200"/>
          </a:xfrm>
          <a:prstGeom prst="rect">
            <a:avLst/>
          </a:prstGeom>
          <a:solidFill>
            <a:srgbClr val="A8864A"/>
          </a:solidFill>
          <a:ln/>
        </p:spPr>
      </p:sp>
      <p:sp>
        <p:nvSpPr>
          <p:cNvPr id="25" name="Text 22"/>
          <p:cNvSpPr/>
          <p:nvPr/>
        </p:nvSpPr>
        <p:spPr>
          <a:xfrm>
            <a:off x="777240" y="51206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Assumed: Datomic in Production. Not repeated here: deployment map, write path, read path, backup/restore.</a:t>
            </a:r>
            <a:endParaRPr lang="en-US" sz="1450" dirty="0"/>
          </a:p>
        </p:txBody>
      </p:sp>
      <p:sp>
        <p:nvSpPr>
          <p:cNvPr id="26" name="Text 23"/>
          <p:cNvSpPr/>
          <p:nvPr/>
        </p:nvSpPr>
        <p:spPr>
          <a:xfrm>
            <a:off x="548640" y="576072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Setup: clj -M:repl covers every [MEM] lab.</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FRAME</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Two hours, six questions</a:t>
            </a:r>
            <a:endParaRPr lang="en-US" sz="2500" dirty="0"/>
          </a:p>
        </p:txBody>
      </p:sp>
      <p:sp>
        <p:nvSpPr>
          <p:cNvPr id="8" name="Shape 5"/>
          <p:cNvSpPr/>
          <p:nvPr/>
        </p:nvSpPr>
        <p:spPr>
          <a:xfrm>
            <a:off x="548640" y="1371600"/>
            <a:ext cx="11064240" cy="512064"/>
          </a:xfrm>
          <a:prstGeom prst="rect">
            <a:avLst/>
          </a:prstGeom>
          <a:solidFill>
            <a:srgbClr val="E6DFCE"/>
          </a:solidFill>
          <a:ln/>
        </p:spPr>
      </p:sp>
      <p:sp>
        <p:nvSpPr>
          <p:cNvPr id="9" name="Text 6"/>
          <p:cNvSpPr/>
          <p:nvPr/>
        </p:nvSpPr>
        <p:spPr>
          <a:xfrm>
            <a:off x="731520" y="1371600"/>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0:00</a:t>
            </a:r>
            <a:endParaRPr lang="en-US" sz="1400" dirty="0"/>
          </a:p>
        </p:txBody>
      </p:sp>
      <p:sp>
        <p:nvSpPr>
          <p:cNvPr id="10" name="Text 7"/>
          <p:cNvSpPr/>
          <p:nvPr/>
        </p:nvSpPr>
        <p:spPr>
          <a:xfrm>
            <a:off x="1828800" y="1371600"/>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The failure map</a:t>
            </a:r>
            <a:endParaRPr lang="en-US" sz="1550" dirty="0"/>
          </a:p>
        </p:txBody>
      </p:sp>
      <p:sp>
        <p:nvSpPr>
          <p:cNvPr id="11" name="Text 8"/>
          <p:cNvSpPr/>
          <p:nvPr/>
        </p:nvSpPr>
        <p:spPr>
          <a:xfrm>
            <a:off x="6675120" y="1371600"/>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what breaks, and how?</a:t>
            </a:r>
            <a:endParaRPr lang="en-US" sz="1400" dirty="0"/>
          </a:p>
        </p:txBody>
      </p:sp>
      <p:sp>
        <p:nvSpPr>
          <p:cNvPr id="12" name="Text 9"/>
          <p:cNvSpPr/>
          <p:nvPr/>
        </p:nvSpPr>
        <p:spPr>
          <a:xfrm>
            <a:off x="731520" y="1938528"/>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0:12</a:t>
            </a:r>
            <a:endParaRPr lang="en-US" sz="1400" dirty="0"/>
          </a:p>
        </p:txBody>
      </p:sp>
      <p:sp>
        <p:nvSpPr>
          <p:cNvPr id="13" name="Text 10"/>
          <p:cNvSpPr/>
          <p:nvPr/>
        </p:nvSpPr>
        <p:spPr>
          <a:xfrm>
            <a:off x="1828800" y="1938528"/>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High availability</a:t>
            </a:r>
            <a:endParaRPr lang="en-US" sz="1550" dirty="0"/>
          </a:p>
        </p:txBody>
      </p:sp>
      <p:sp>
        <p:nvSpPr>
          <p:cNvPr id="14" name="Text 11"/>
          <p:cNvSpPr/>
          <p:nvPr/>
        </p:nvSpPr>
        <p:spPr>
          <a:xfrm>
            <a:off x="6675120" y="1938528"/>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who takes over, and how fast?</a:t>
            </a:r>
            <a:endParaRPr lang="en-US" sz="1400" dirty="0"/>
          </a:p>
        </p:txBody>
      </p:sp>
      <p:sp>
        <p:nvSpPr>
          <p:cNvPr id="15" name="Shape 12"/>
          <p:cNvSpPr/>
          <p:nvPr/>
        </p:nvSpPr>
        <p:spPr>
          <a:xfrm>
            <a:off x="548640" y="2505456"/>
            <a:ext cx="11064240" cy="512064"/>
          </a:xfrm>
          <a:prstGeom prst="rect">
            <a:avLst/>
          </a:prstGeom>
          <a:solidFill>
            <a:srgbClr val="E6DFCE"/>
          </a:solidFill>
          <a:ln/>
        </p:spPr>
      </p:sp>
      <p:sp>
        <p:nvSpPr>
          <p:cNvPr id="16" name="Text 13"/>
          <p:cNvSpPr/>
          <p:nvPr/>
        </p:nvSpPr>
        <p:spPr>
          <a:xfrm>
            <a:off x="731520" y="2505456"/>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0:38</a:t>
            </a:r>
            <a:endParaRPr lang="en-US" sz="1400" dirty="0"/>
          </a:p>
        </p:txBody>
      </p:sp>
      <p:sp>
        <p:nvSpPr>
          <p:cNvPr id="17" name="Text 14"/>
          <p:cNvSpPr/>
          <p:nvPr/>
        </p:nvSpPr>
        <p:spPr>
          <a:xfrm>
            <a:off x="1828800" y="2505456"/>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The cost of a read</a:t>
            </a:r>
            <a:endParaRPr lang="en-US" sz="1550" dirty="0"/>
          </a:p>
        </p:txBody>
      </p:sp>
      <p:sp>
        <p:nvSpPr>
          <p:cNvPr id="18" name="Text 15"/>
          <p:cNvSpPr/>
          <p:nvPr/>
        </p:nvSpPr>
        <p:spPr>
          <a:xfrm>
            <a:off x="6675120" y="2505456"/>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which tier answered?</a:t>
            </a:r>
            <a:endParaRPr lang="en-US" sz="1400" dirty="0"/>
          </a:p>
        </p:txBody>
      </p:sp>
      <p:sp>
        <p:nvSpPr>
          <p:cNvPr id="19" name="Text 16"/>
          <p:cNvSpPr/>
          <p:nvPr/>
        </p:nvSpPr>
        <p:spPr>
          <a:xfrm>
            <a:off x="731520" y="3072384"/>
            <a:ext cx="914400" cy="512064"/>
          </a:xfrm>
          <a:prstGeom prst="rect">
            <a:avLst/>
          </a:prstGeom>
          <a:noFill/>
          <a:ln/>
        </p:spPr>
        <p:txBody>
          <a:bodyPr wrap="square" lIns="0" tIns="0" rIns="0" bIns="0" rtlCol="0" anchor="ctr"/>
          <a:lstStyle/>
          <a:p>
            <a:pPr indent="0" marL="0">
              <a:buNone/>
            </a:pPr>
            <a:r>
              <a:rPr lang="en-US" sz="1400" dirty="0">
                <a:solidFill>
                  <a:srgbClr val="9A8A72"/>
                </a:solidFill>
                <a:latin typeface="Courier New" pitchFamily="34" charset="0"/>
                <a:ea typeface="Courier New" pitchFamily="34" charset="-122"/>
                <a:cs typeface="Courier New" pitchFamily="34" charset="-120"/>
              </a:rPr>
              <a:t>1:02</a:t>
            </a:r>
            <a:endParaRPr lang="en-US" sz="1400" dirty="0"/>
          </a:p>
        </p:txBody>
      </p:sp>
      <p:sp>
        <p:nvSpPr>
          <p:cNvPr id="20" name="Text 17"/>
          <p:cNvSpPr/>
          <p:nvPr/>
        </p:nvSpPr>
        <p:spPr>
          <a:xfrm>
            <a:off x="1828800" y="3072384"/>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 Break — 10 min</a:t>
            </a:r>
            <a:endParaRPr lang="en-US" sz="1550" dirty="0"/>
          </a:p>
        </p:txBody>
      </p:sp>
      <p:sp>
        <p:nvSpPr>
          <p:cNvPr id="21" name="Text 18"/>
          <p:cNvSpPr/>
          <p:nvPr/>
        </p:nvSpPr>
        <p:spPr>
          <a:xfrm>
            <a:off x="6675120" y="3072384"/>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a:t>
            </a:r>
            <a:endParaRPr lang="en-US" sz="1400" dirty="0"/>
          </a:p>
        </p:txBody>
      </p:sp>
      <p:sp>
        <p:nvSpPr>
          <p:cNvPr id="22" name="Shape 19"/>
          <p:cNvSpPr/>
          <p:nvPr/>
        </p:nvSpPr>
        <p:spPr>
          <a:xfrm>
            <a:off x="548640" y="3639312"/>
            <a:ext cx="11064240" cy="512064"/>
          </a:xfrm>
          <a:prstGeom prst="rect">
            <a:avLst/>
          </a:prstGeom>
          <a:solidFill>
            <a:srgbClr val="E6DFCE"/>
          </a:solidFill>
          <a:ln/>
        </p:spPr>
      </p:sp>
      <p:sp>
        <p:nvSpPr>
          <p:cNvPr id="23" name="Text 20"/>
          <p:cNvSpPr/>
          <p:nvPr/>
        </p:nvSpPr>
        <p:spPr>
          <a:xfrm>
            <a:off x="731520" y="3639312"/>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1:12</a:t>
            </a:r>
            <a:endParaRPr lang="en-US" sz="1400" dirty="0"/>
          </a:p>
        </p:txBody>
      </p:sp>
      <p:sp>
        <p:nvSpPr>
          <p:cNvPr id="24" name="Text 21"/>
          <p:cNvSpPr/>
          <p:nvPr/>
        </p:nvSpPr>
        <p:spPr>
          <a:xfrm>
            <a:off x="1828800" y="3639312"/>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Parallelism</a:t>
            </a:r>
            <a:endParaRPr lang="en-US" sz="1550" dirty="0"/>
          </a:p>
        </p:txBody>
      </p:sp>
      <p:sp>
        <p:nvSpPr>
          <p:cNvPr id="25" name="Text 22"/>
          <p:cNvSpPr/>
          <p:nvPr/>
        </p:nvSpPr>
        <p:spPr>
          <a:xfrm>
            <a:off x="6675120" y="3639312"/>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what scales, and what does not?</a:t>
            </a:r>
            <a:endParaRPr lang="en-US" sz="1400" dirty="0"/>
          </a:p>
        </p:txBody>
      </p:sp>
      <p:sp>
        <p:nvSpPr>
          <p:cNvPr id="26" name="Text 23"/>
          <p:cNvSpPr/>
          <p:nvPr/>
        </p:nvSpPr>
        <p:spPr>
          <a:xfrm>
            <a:off x="731520" y="4206240"/>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1:38</a:t>
            </a:r>
            <a:endParaRPr lang="en-US" sz="1400" dirty="0"/>
          </a:p>
        </p:txBody>
      </p:sp>
      <p:sp>
        <p:nvSpPr>
          <p:cNvPr id="27" name="Text 24"/>
          <p:cNvSpPr/>
          <p:nvPr/>
        </p:nvSpPr>
        <p:spPr>
          <a:xfrm>
            <a:off x="1828800" y="4206240"/>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Settings &amp; signals</a:t>
            </a:r>
            <a:endParaRPr lang="en-US" sz="1550" dirty="0"/>
          </a:p>
        </p:txBody>
      </p:sp>
      <p:sp>
        <p:nvSpPr>
          <p:cNvPr id="28" name="Text 25"/>
          <p:cNvSpPr/>
          <p:nvPr/>
        </p:nvSpPr>
        <p:spPr>
          <a:xfrm>
            <a:off x="6675120" y="4206240"/>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which knob, and what does it affect?</a:t>
            </a:r>
            <a:endParaRPr lang="en-US" sz="1400" dirty="0"/>
          </a:p>
        </p:txBody>
      </p:sp>
      <p:sp>
        <p:nvSpPr>
          <p:cNvPr id="29" name="Shape 26"/>
          <p:cNvSpPr/>
          <p:nvPr/>
        </p:nvSpPr>
        <p:spPr>
          <a:xfrm>
            <a:off x="548640" y="4773168"/>
            <a:ext cx="11064240" cy="512064"/>
          </a:xfrm>
          <a:prstGeom prst="rect">
            <a:avLst/>
          </a:prstGeom>
          <a:solidFill>
            <a:srgbClr val="E6DFCE"/>
          </a:solidFill>
          <a:ln/>
        </p:spPr>
      </p:sp>
      <p:sp>
        <p:nvSpPr>
          <p:cNvPr id="30" name="Text 27"/>
          <p:cNvSpPr/>
          <p:nvPr/>
        </p:nvSpPr>
        <p:spPr>
          <a:xfrm>
            <a:off x="731520" y="4773168"/>
            <a:ext cx="914400" cy="512064"/>
          </a:xfrm>
          <a:prstGeom prst="rect">
            <a:avLst/>
          </a:prstGeom>
          <a:noFill/>
          <a:ln/>
        </p:spPr>
        <p:txBody>
          <a:bodyPr wrap="square" lIns="0" tIns="0" rIns="0" bIns="0" rtlCol="0" anchor="ctr"/>
          <a:lstStyle/>
          <a:p>
            <a:pPr indent="0" marL="0">
              <a:buNone/>
            </a:pPr>
            <a:r>
              <a:rPr lang="en-US" sz="1400" dirty="0">
                <a:solidFill>
                  <a:srgbClr val="A8864A"/>
                </a:solidFill>
                <a:latin typeface="Courier New" pitchFamily="34" charset="0"/>
                <a:ea typeface="Courier New" pitchFamily="34" charset="-122"/>
                <a:cs typeface="Courier New" pitchFamily="34" charset="-120"/>
              </a:rPr>
              <a:t>1:52</a:t>
            </a:r>
            <a:endParaRPr lang="en-US" sz="1400" dirty="0"/>
          </a:p>
        </p:txBody>
      </p:sp>
      <p:sp>
        <p:nvSpPr>
          <p:cNvPr id="31" name="Text 28"/>
          <p:cNvSpPr/>
          <p:nvPr/>
        </p:nvSpPr>
        <p:spPr>
          <a:xfrm>
            <a:off x="1828800" y="4773168"/>
            <a:ext cx="4754880" cy="512064"/>
          </a:xfrm>
          <a:prstGeom prst="rect">
            <a:avLst/>
          </a:prstGeom>
          <a:noFill/>
          <a:ln/>
        </p:spPr>
        <p:txBody>
          <a:bodyPr wrap="square" lIns="0" tIns="0" rIns="0" bIns="0" rtlCol="0" anchor="ctr">
            <a:normAutofit/>
          </a:bodyPr>
          <a:lstStyle/>
          <a:p>
            <a:pPr indent="0" marL="0">
              <a:buNone/>
            </a:pPr>
            <a:r>
              <a:rPr lang="en-US" sz="1550" b="1" dirty="0">
                <a:solidFill>
                  <a:srgbClr val="3A2C1A"/>
                </a:solidFill>
                <a:latin typeface="Helvetica Neue" pitchFamily="34" charset="0"/>
                <a:ea typeface="Helvetica Neue" pitchFamily="34" charset="-122"/>
                <a:cs typeface="Helvetica Neue" pitchFamily="34" charset="-120"/>
              </a:rPr>
              <a:t>Deployment</a:t>
            </a:r>
            <a:endParaRPr lang="en-US" sz="1550" dirty="0"/>
          </a:p>
        </p:txBody>
      </p:sp>
      <p:sp>
        <p:nvSpPr>
          <p:cNvPr id="32" name="Text 29"/>
          <p:cNvSpPr/>
          <p:nvPr/>
        </p:nvSpPr>
        <p:spPr>
          <a:xfrm>
            <a:off x="6675120" y="4773168"/>
            <a:ext cx="4754880" cy="512064"/>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how are peers shipped?</a:t>
            </a:r>
            <a:endParaRPr lang="en-US" sz="1400" dirty="0"/>
          </a:p>
        </p:txBody>
      </p:sp>
      <p:sp>
        <p:nvSpPr>
          <p:cNvPr id="33" name="Text 30"/>
          <p:cNvSpPr/>
          <p:nvPr/>
        </p:nvSpPr>
        <p:spPr>
          <a:xfrm>
            <a:off x="548640" y="548640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Setup: infra/HA.md for the live Part II lab. Otherwise clj -M:repl covers every [MEM] lab.</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I</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The failure map</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Four components · four different failures · one of them an outage</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 · THE FAILURE MAP</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5</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Four components, and where the work happens</a:t>
            </a:r>
            <a:endParaRPr lang="en-US" sz="2500" dirty="0"/>
          </a:p>
        </p:txBody>
      </p:sp>
      <p:sp>
        <p:nvSpPr>
          <p:cNvPr id="8" name="Shape 5"/>
          <p:cNvSpPr/>
          <p:nvPr/>
        </p:nvSpPr>
        <p:spPr>
          <a:xfrm>
            <a:off x="2194560" y="1316736"/>
            <a:ext cx="1737360" cy="658368"/>
          </a:xfrm>
          <a:prstGeom prst="roundRect">
            <a:avLst>
              <a:gd name="adj" fmla="val 8333"/>
            </a:avLst>
          </a:prstGeom>
          <a:solidFill>
            <a:srgbClr val="D3DEE1"/>
          </a:solidFill>
          <a:ln w="15875">
            <a:solidFill>
              <a:srgbClr val="3F6470"/>
            </a:solidFill>
            <a:prstDash val="solid"/>
          </a:ln>
        </p:spPr>
      </p:sp>
      <p:sp>
        <p:nvSpPr>
          <p:cNvPr id="9" name="Text 6"/>
          <p:cNvSpPr/>
          <p:nvPr/>
        </p:nvSpPr>
        <p:spPr>
          <a:xfrm>
            <a:off x="2267712" y="1316736"/>
            <a:ext cx="1591056" cy="658368"/>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peer</a:t>
            </a:r>
            <a:endParaRPr lang="en-US" sz="1400" dirty="0"/>
          </a:p>
        </p:txBody>
      </p:sp>
      <p:sp>
        <p:nvSpPr>
          <p:cNvPr id="10" name="Shape 7"/>
          <p:cNvSpPr/>
          <p:nvPr/>
        </p:nvSpPr>
        <p:spPr>
          <a:xfrm>
            <a:off x="3063240" y="1975104"/>
            <a:ext cx="0" cy="512064"/>
          </a:xfrm>
          <a:prstGeom prst="line">
            <a:avLst/>
          </a:prstGeom>
          <a:noFill/>
          <a:ln w="19050">
            <a:solidFill>
              <a:srgbClr val="3F6470"/>
            </a:solidFill>
            <a:prstDash val="solid"/>
            <a:headEnd type="none"/>
            <a:tailEnd type="none"/>
          </a:ln>
        </p:spPr>
      </p:sp>
      <p:sp>
        <p:nvSpPr>
          <p:cNvPr id="11" name="Shape 8"/>
          <p:cNvSpPr/>
          <p:nvPr/>
        </p:nvSpPr>
        <p:spPr>
          <a:xfrm>
            <a:off x="3063240" y="2816352"/>
            <a:ext cx="0" cy="704088"/>
          </a:xfrm>
          <a:prstGeom prst="line">
            <a:avLst/>
          </a:prstGeom>
          <a:noFill/>
          <a:ln w="19050">
            <a:solidFill>
              <a:srgbClr val="3F6470"/>
            </a:solidFill>
            <a:prstDash val="solid"/>
            <a:headEnd type="none"/>
            <a:tailEnd type="triangle"/>
          </a:ln>
        </p:spPr>
      </p:sp>
      <p:sp>
        <p:nvSpPr>
          <p:cNvPr id="12" name="Shape 9"/>
          <p:cNvSpPr/>
          <p:nvPr/>
        </p:nvSpPr>
        <p:spPr>
          <a:xfrm>
            <a:off x="4572000" y="1316736"/>
            <a:ext cx="1737360" cy="658368"/>
          </a:xfrm>
          <a:prstGeom prst="roundRect">
            <a:avLst>
              <a:gd name="adj" fmla="val 8333"/>
            </a:avLst>
          </a:prstGeom>
          <a:solidFill>
            <a:srgbClr val="D3DEE1"/>
          </a:solidFill>
          <a:ln w="15875">
            <a:solidFill>
              <a:srgbClr val="3F6470"/>
            </a:solidFill>
            <a:prstDash val="solid"/>
          </a:ln>
        </p:spPr>
      </p:sp>
      <p:sp>
        <p:nvSpPr>
          <p:cNvPr id="13" name="Text 10"/>
          <p:cNvSpPr/>
          <p:nvPr/>
        </p:nvSpPr>
        <p:spPr>
          <a:xfrm>
            <a:off x="4645152" y="1316736"/>
            <a:ext cx="1591056" cy="658368"/>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peer</a:t>
            </a:r>
            <a:endParaRPr lang="en-US" sz="1400" dirty="0"/>
          </a:p>
        </p:txBody>
      </p:sp>
      <p:sp>
        <p:nvSpPr>
          <p:cNvPr id="14" name="Shape 11"/>
          <p:cNvSpPr/>
          <p:nvPr/>
        </p:nvSpPr>
        <p:spPr>
          <a:xfrm>
            <a:off x="5440680" y="1975104"/>
            <a:ext cx="0" cy="512064"/>
          </a:xfrm>
          <a:prstGeom prst="line">
            <a:avLst/>
          </a:prstGeom>
          <a:noFill/>
          <a:ln w="19050">
            <a:solidFill>
              <a:srgbClr val="3F6470"/>
            </a:solidFill>
            <a:prstDash val="solid"/>
            <a:headEnd type="none"/>
            <a:tailEnd type="none"/>
          </a:ln>
        </p:spPr>
      </p:sp>
      <p:sp>
        <p:nvSpPr>
          <p:cNvPr id="15" name="Shape 12"/>
          <p:cNvSpPr/>
          <p:nvPr/>
        </p:nvSpPr>
        <p:spPr>
          <a:xfrm>
            <a:off x="5440680" y="2816352"/>
            <a:ext cx="0" cy="704088"/>
          </a:xfrm>
          <a:prstGeom prst="line">
            <a:avLst/>
          </a:prstGeom>
          <a:noFill/>
          <a:ln w="19050">
            <a:solidFill>
              <a:srgbClr val="3F6470"/>
            </a:solidFill>
            <a:prstDash val="solid"/>
            <a:headEnd type="none"/>
            <a:tailEnd type="triangle"/>
          </a:ln>
        </p:spPr>
      </p:sp>
      <p:sp>
        <p:nvSpPr>
          <p:cNvPr id="16" name="Shape 13"/>
          <p:cNvSpPr/>
          <p:nvPr/>
        </p:nvSpPr>
        <p:spPr>
          <a:xfrm>
            <a:off x="6949440" y="1316736"/>
            <a:ext cx="1737360" cy="658368"/>
          </a:xfrm>
          <a:prstGeom prst="roundRect">
            <a:avLst>
              <a:gd name="adj" fmla="val 8333"/>
            </a:avLst>
          </a:prstGeom>
          <a:solidFill>
            <a:srgbClr val="D3DEE1"/>
          </a:solidFill>
          <a:ln w="15875">
            <a:solidFill>
              <a:srgbClr val="3F6470"/>
            </a:solidFill>
            <a:prstDash val="solid"/>
          </a:ln>
        </p:spPr>
      </p:sp>
      <p:sp>
        <p:nvSpPr>
          <p:cNvPr id="17" name="Text 14"/>
          <p:cNvSpPr/>
          <p:nvPr/>
        </p:nvSpPr>
        <p:spPr>
          <a:xfrm>
            <a:off x="7022592" y="1316736"/>
            <a:ext cx="1591056" cy="658368"/>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peer</a:t>
            </a:r>
            <a:endParaRPr lang="en-US" sz="1400" dirty="0"/>
          </a:p>
        </p:txBody>
      </p:sp>
      <p:sp>
        <p:nvSpPr>
          <p:cNvPr id="18" name="Shape 15"/>
          <p:cNvSpPr/>
          <p:nvPr/>
        </p:nvSpPr>
        <p:spPr>
          <a:xfrm>
            <a:off x="7818120" y="1975104"/>
            <a:ext cx="0" cy="512064"/>
          </a:xfrm>
          <a:prstGeom prst="line">
            <a:avLst/>
          </a:prstGeom>
          <a:noFill/>
          <a:ln w="19050">
            <a:solidFill>
              <a:srgbClr val="3F6470"/>
            </a:solidFill>
            <a:prstDash val="solid"/>
            <a:headEnd type="none"/>
            <a:tailEnd type="none"/>
          </a:ln>
        </p:spPr>
      </p:sp>
      <p:sp>
        <p:nvSpPr>
          <p:cNvPr id="19" name="Shape 16"/>
          <p:cNvSpPr/>
          <p:nvPr/>
        </p:nvSpPr>
        <p:spPr>
          <a:xfrm>
            <a:off x="7818120" y="2816352"/>
            <a:ext cx="0" cy="704088"/>
          </a:xfrm>
          <a:prstGeom prst="line">
            <a:avLst/>
          </a:prstGeom>
          <a:noFill/>
          <a:ln w="19050">
            <a:solidFill>
              <a:srgbClr val="3F6470"/>
            </a:solidFill>
            <a:prstDash val="solid"/>
            <a:headEnd type="none"/>
            <a:tailEnd type="triangle"/>
          </a:ln>
        </p:spPr>
      </p:sp>
      <p:sp>
        <p:nvSpPr>
          <p:cNvPr id="20" name="Text 17"/>
          <p:cNvSpPr/>
          <p:nvPr/>
        </p:nvSpPr>
        <p:spPr>
          <a:xfrm>
            <a:off x="8138160" y="1316736"/>
            <a:ext cx="3291840" cy="731520"/>
          </a:xfrm>
          <a:prstGeom prst="rect">
            <a:avLst/>
          </a:prstGeom>
          <a:noFill/>
          <a:ln/>
        </p:spPr>
        <p:txBody>
          <a:bodyPr wrap="square" lIns="0" tIns="0" rIns="0" bIns="0" rtlCol="0" anchor="t"/>
          <a:lstStyle/>
          <a:p>
            <a:pPr indent="0" marL="0">
              <a:buNone/>
            </a:pPr>
            <a:r>
              <a:rPr lang="en-US" sz="1300" b="1" dirty="0">
                <a:solidFill>
                  <a:srgbClr val="3F6470"/>
                </a:solidFill>
                <a:latin typeface="Helvetica Neue" pitchFamily="34" charset="0"/>
                <a:ea typeface="Helvetica Neue" pitchFamily="34" charset="-122"/>
                <a:cs typeface="Helvetica Neue" pitchFamily="34" charset="-120"/>
              </a:rPr>
              <a:t>query runs HERE</a:t>
            </a:r>
            <a:endParaRPr lang="en-US" sz="1300" dirty="0"/>
          </a:p>
          <a:p>
            <a:pPr indent="0" marL="0">
              <a:buNone/>
            </a:pPr>
            <a:r>
              <a:rPr lang="en-US" sz="1300" b="1" dirty="0">
                <a:solidFill>
                  <a:srgbClr val="3F6470"/>
                </a:solidFill>
                <a:latin typeface="Helvetica Neue" pitchFamily="34" charset="0"/>
                <a:ea typeface="Helvetica Neue" pitchFamily="34" charset="-122"/>
                <a:cs typeface="Helvetica Neue" pitchFamily="34" charset="-120"/>
              </a:rPr>
              <a:t>(your JVM)</a:t>
            </a:r>
            <a:endParaRPr lang="en-US" sz="1300" dirty="0"/>
          </a:p>
        </p:txBody>
      </p:sp>
      <p:sp>
        <p:nvSpPr>
          <p:cNvPr id="21" name="Shape 18"/>
          <p:cNvSpPr/>
          <p:nvPr/>
        </p:nvSpPr>
        <p:spPr>
          <a:xfrm>
            <a:off x="3977640" y="2487168"/>
            <a:ext cx="4206240" cy="566928"/>
          </a:xfrm>
          <a:prstGeom prst="roundRect">
            <a:avLst>
              <a:gd name="adj" fmla="val 9677"/>
            </a:avLst>
          </a:prstGeom>
          <a:solidFill>
            <a:srgbClr val="DFD6C0"/>
          </a:solidFill>
          <a:ln w="15875">
            <a:solidFill>
              <a:srgbClr val="C9BDA4"/>
            </a:solidFill>
            <a:prstDash val="solid"/>
          </a:ln>
        </p:spPr>
      </p:sp>
      <p:sp>
        <p:nvSpPr>
          <p:cNvPr id="22" name="Text 19"/>
          <p:cNvSpPr/>
          <p:nvPr/>
        </p:nvSpPr>
        <p:spPr>
          <a:xfrm>
            <a:off x="4050792" y="2487168"/>
            <a:ext cx="4059936" cy="566928"/>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memcached</a:t>
            </a:r>
            <a:endParaRPr lang="en-US" sz="1300" dirty="0"/>
          </a:p>
        </p:txBody>
      </p:sp>
      <p:sp>
        <p:nvSpPr>
          <p:cNvPr id="23" name="Text 20"/>
          <p:cNvSpPr/>
          <p:nvPr/>
        </p:nvSpPr>
        <p:spPr>
          <a:xfrm>
            <a:off x="8138160" y="2542032"/>
            <a:ext cx="3291840" cy="365760"/>
          </a:xfrm>
          <a:prstGeom prst="rect">
            <a:avLst/>
          </a:prstGeom>
          <a:noFill/>
          <a:ln/>
        </p:spPr>
        <p:txBody>
          <a:bodyPr wrap="square" lIns="0" tIns="0" rIns="0" bIns="0" rtlCol="0" anchor="t"/>
          <a:lstStyle/>
          <a:p>
            <a:pPr indent="0" marL="0">
              <a:buNone/>
            </a:pPr>
            <a:r>
              <a:rPr lang="en-US" sz="1250" dirty="0">
                <a:solidFill>
                  <a:srgbClr val="9A8A72"/>
                </a:solidFill>
                <a:latin typeface="Helvetica Neue" pitchFamily="34" charset="0"/>
                <a:ea typeface="Helvetica Neue" pitchFamily="34" charset="-122"/>
                <a:cs typeface="Helvetica Neue" pitchFamily="34" charset="-120"/>
              </a:rPr>
              <a:t>optional · shared</a:t>
            </a:r>
            <a:endParaRPr lang="en-US" sz="1250" dirty="0"/>
          </a:p>
        </p:txBody>
      </p:sp>
      <p:sp>
        <p:nvSpPr>
          <p:cNvPr id="24" name="Shape 21"/>
          <p:cNvSpPr/>
          <p:nvPr/>
        </p:nvSpPr>
        <p:spPr>
          <a:xfrm>
            <a:off x="2194560" y="3520440"/>
            <a:ext cx="5943600" cy="777240"/>
          </a:xfrm>
          <a:prstGeom prst="roundRect">
            <a:avLst>
              <a:gd name="adj" fmla="val 7059"/>
            </a:avLst>
          </a:prstGeom>
          <a:solidFill>
            <a:srgbClr val="2C2416"/>
          </a:solidFill>
          <a:ln/>
        </p:spPr>
      </p:sp>
      <p:sp>
        <p:nvSpPr>
          <p:cNvPr id="25" name="Text 22"/>
          <p:cNvSpPr/>
          <p:nvPr/>
        </p:nvSpPr>
        <p:spPr>
          <a:xfrm>
            <a:off x="2267712" y="3520440"/>
            <a:ext cx="5797296" cy="777240"/>
          </a:xfrm>
          <a:prstGeom prst="rect">
            <a:avLst/>
          </a:prstGeom>
          <a:noFill/>
          <a:ln/>
        </p:spPr>
        <p:txBody>
          <a:bodyPr wrap="square" lIns="0" tIns="0" rIns="0" bIns="0" rtlCol="0" anchor="ctr">
            <a:normAutofit/>
          </a:bodyPr>
          <a:lstStyle/>
          <a:p>
            <a:pPr algn="ctr" indent="0" marL="0">
              <a:buNone/>
            </a:pPr>
            <a:r>
              <a:rPr lang="en-US" sz="1600" b="1" dirty="0">
                <a:solidFill>
                  <a:srgbClr val="FCFAF4"/>
                </a:solidFill>
                <a:latin typeface="Helvetica Neue" pitchFamily="34" charset="0"/>
                <a:ea typeface="Helvetica Neue" pitchFamily="34" charset="-122"/>
                <a:cs typeface="Helvetica Neue" pitchFamily="34" charset="-120"/>
              </a:rPr>
              <a:t>STORAGE</a:t>
            </a:r>
            <a:endParaRPr lang="en-US" sz="1600" dirty="0"/>
          </a:p>
        </p:txBody>
      </p:sp>
      <p:sp>
        <p:nvSpPr>
          <p:cNvPr id="26" name="Text 23"/>
          <p:cNvSpPr/>
          <p:nvPr/>
        </p:nvSpPr>
        <p:spPr>
          <a:xfrm>
            <a:off x="8138160" y="3520440"/>
            <a:ext cx="3291840" cy="731520"/>
          </a:xfrm>
          <a:prstGeom prst="rect">
            <a:avLst/>
          </a:prstGeom>
          <a:noFill/>
          <a:ln/>
        </p:spPr>
        <p:txBody>
          <a:bodyPr wrap="square" lIns="0" tIns="0" rIns="0" bIns="0" rtlCol="0" anchor="t"/>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source of truth</a:t>
            </a:r>
            <a:endParaRPr lang="en-US" sz="1300" dirty="0"/>
          </a:p>
          <a:p>
            <a:pPr indent="0" marL="0">
              <a:buNone/>
            </a:pPr>
            <a:r>
              <a:rPr lang="en-US" sz="1300" b="1" dirty="0">
                <a:solidFill>
                  <a:srgbClr val="3A2C1A"/>
                </a:solidFill>
                <a:latin typeface="Helvetica Neue" pitchFamily="34" charset="0"/>
                <a:ea typeface="Helvetica Neue" pitchFamily="34" charset="-122"/>
                <a:cs typeface="Helvetica Neue" pitchFamily="34" charset="-120"/>
              </a:rPr>
              <a:t>…and the arbiter</a:t>
            </a:r>
            <a:endParaRPr lang="en-US" sz="1300" dirty="0"/>
          </a:p>
        </p:txBody>
      </p:sp>
      <p:sp>
        <p:nvSpPr>
          <p:cNvPr id="27" name="Shape 24"/>
          <p:cNvSpPr/>
          <p:nvPr/>
        </p:nvSpPr>
        <p:spPr>
          <a:xfrm>
            <a:off x="2834640" y="5029200"/>
            <a:ext cx="2103120" cy="731520"/>
          </a:xfrm>
          <a:prstGeom prst="roundRect">
            <a:avLst>
              <a:gd name="adj" fmla="val 7500"/>
            </a:avLst>
          </a:prstGeom>
          <a:solidFill>
            <a:srgbClr val="DDE3CC"/>
          </a:solidFill>
          <a:ln w="15875">
            <a:solidFill>
              <a:srgbClr val="5F7A3A"/>
            </a:solidFill>
            <a:prstDash val="solid"/>
          </a:ln>
        </p:spPr>
      </p:sp>
      <p:sp>
        <p:nvSpPr>
          <p:cNvPr id="28" name="Text 25"/>
          <p:cNvSpPr/>
          <p:nvPr/>
        </p:nvSpPr>
        <p:spPr>
          <a:xfrm>
            <a:off x="2907792" y="5084064"/>
            <a:ext cx="195681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transactor</a:t>
            </a:r>
            <a:endParaRPr lang="en-US" sz="1300" dirty="0"/>
          </a:p>
        </p:txBody>
      </p:sp>
      <p:sp>
        <p:nvSpPr>
          <p:cNvPr id="29" name="Text 26"/>
          <p:cNvSpPr/>
          <p:nvPr/>
        </p:nvSpPr>
        <p:spPr>
          <a:xfrm>
            <a:off x="2907792" y="5376672"/>
            <a:ext cx="1956816" cy="384048"/>
          </a:xfrm>
          <a:prstGeom prst="rect">
            <a:avLst/>
          </a:prstGeom>
          <a:noFill/>
          <a:ln/>
        </p:spPr>
        <p:txBody>
          <a:bodyPr wrap="square" lIns="0" tIns="0" rIns="0" bIns="0" rtlCol="0" anchor="t">
            <a:normAutofit/>
          </a:bodyPr>
          <a:lstStyle/>
          <a:p>
            <a:pPr algn="ctr" indent="0" marL="0">
              <a:buNone/>
            </a:pPr>
            <a:r>
              <a:rPr lang="en-US" sz="950" dirty="0">
                <a:solidFill>
                  <a:srgbClr val="5F7A3A"/>
                </a:solidFill>
                <a:latin typeface="Helvetica Neue" pitchFamily="34" charset="0"/>
                <a:ea typeface="Helvetica Neue" pitchFamily="34" charset="-122"/>
                <a:cs typeface="Helvetica Neue" pitchFamily="34" charset="-120"/>
              </a:rPr>
              <a:t>ACTIVE — holds the lease</a:t>
            </a:r>
            <a:endParaRPr lang="en-US" sz="950" dirty="0"/>
          </a:p>
        </p:txBody>
      </p:sp>
      <p:sp>
        <p:nvSpPr>
          <p:cNvPr id="30" name="Shape 27"/>
          <p:cNvSpPr/>
          <p:nvPr/>
        </p:nvSpPr>
        <p:spPr>
          <a:xfrm>
            <a:off x="5394960" y="5029200"/>
            <a:ext cx="2103120" cy="731520"/>
          </a:xfrm>
          <a:prstGeom prst="roundRect">
            <a:avLst>
              <a:gd name="adj" fmla="val 7500"/>
            </a:avLst>
          </a:prstGeom>
          <a:solidFill>
            <a:srgbClr val="E6DFCE"/>
          </a:solidFill>
          <a:ln w="15875">
            <a:solidFill>
              <a:srgbClr val="C9BDA4"/>
            </a:solidFill>
            <a:prstDash val="solid"/>
          </a:ln>
        </p:spPr>
      </p:sp>
      <p:sp>
        <p:nvSpPr>
          <p:cNvPr id="31" name="Text 28"/>
          <p:cNvSpPr/>
          <p:nvPr/>
        </p:nvSpPr>
        <p:spPr>
          <a:xfrm>
            <a:off x="5468112" y="5084064"/>
            <a:ext cx="195681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standby</a:t>
            </a:r>
            <a:endParaRPr lang="en-US" sz="1300" dirty="0"/>
          </a:p>
        </p:txBody>
      </p:sp>
      <p:sp>
        <p:nvSpPr>
          <p:cNvPr id="32" name="Text 29"/>
          <p:cNvSpPr/>
          <p:nvPr/>
        </p:nvSpPr>
        <p:spPr>
          <a:xfrm>
            <a:off x="5468112" y="5376672"/>
            <a:ext cx="1956816" cy="384048"/>
          </a:xfrm>
          <a:prstGeom prst="rect">
            <a:avLst/>
          </a:prstGeom>
          <a:noFill/>
          <a:ln/>
        </p:spPr>
        <p:txBody>
          <a:bodyPr wrap="square" lIns="0" tIns="0" rIns="0" bIns="0" rtlCol="0" anchor="t">
            <a:normAutofit/>
          </a:bodyPr>
          <a:lstStyle/>
          <a:p>
            <a:pPr algn="ctr" indent="0" marL="0">
              <a:buNone/>
            </a:pPr>
            <a:r>
              <a:rPr lang="en-US" sz="950" dirty="0">
                <a:solidFill>
                  <a:srgbClr val="6B5A44"/>
                </a:solidFill>
                <a:latin typeface="Helvetica Neue" pitchFamily="34" charset="0"/>
                <a:ea typeface="Helvetica Neue" pitchFamily="34" charset="-122"/>
                <a:cs typeface="Helvetica Neue" pitchFamily="34" charset="-120"/>
              </a:rPr>
              <a:t>parked — no lease</a:t>
            </a:r>
            <a:endParaRPr lang="en-US" sz="950" dirty="0"/>
          </a:p>
        </p:txBody>
      </p:sp>
      <p:sp>
        <p:nvSpPr>
          <p:cNvPr id="33" name="Shape 30"/>
          <p:cNvSpPr/>
          <p:nvPr/>
        </p:nvSpPr>
        <p:spPr>
          <a:xfrm flipV="1">
            <a:off x="3886200" y="4297680"/>
            <a:ext cx="0" cy="731520"/>
          </a:xfrm>
          <a:prstGeom prst="line">
            <a:avLst/>
          </a:prstGeom>
          <a:noFill/>
          <a:ln w="19050">
            <a:solidFill>
              <a:srgbClr val="5F7A3A"/>
            </a:solidFill>
            <a:prstDash val="solid"/>
            <a:headEnd type="none"/>
            <a:tailEnd type="triangle"/>
          </a:ln>
        </p:spPr>
      </p:sp>
      <p:sp>
        <p:nvSpPr>
          <p:cNvPr id="34" name="Shape 31"/>
          <p:cNvSpPr/>
          <p:nvPr/>
        </p:nvSpPr>
        <p:spPr>
          <a:xfrm flipV="1">
            <a:off x="6446520" y="4297680"/>
            <a:ext cx="0" cy="731520"/>
          </a:xfrm>
          <a:prstGeom prst="line">
            <a:avLst/>
          </a:prstGeom>
          <a:noFill/>
          <a:ln w="19050">
            <a:solidFill>
              <a:srgbClr val="C9BDA4"/>
            </a:solidFill>
            <a:prstDash val="dash"/>
            <a:headEnd type="none"/>
            <a:tailEnd type="triangle"/>
          </a:ln>
        </p:spPr>
      </p:sp>
      <p:sp>
        <p:nvSpPr>
          <p:cNvPr id="35" name="Text 32"/>
          <p:cNvSpPr/>
          <p:nvPr/>
        </p:nvSpPr>
        <p:spPr>
          <a:xfrm>
            <a:off x="8138160" y="5120640"/>
            <a:ext cx="3291840" cy="365760"/>
          </a:xfrm>
          <a:prstGeom prst="rect">
            <a:avLst/>
          </a:prstGeom>
          <a:noFill/>
          <a:ln/>
        </p:spPr>
        <p:txBody>
          <a:bodyPr wrap="square" lIns="0" tIns="0" rIns="0" bIns="0" rtlCol="0" anchor="t"/>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exactly ONE writes</a:t>
            </a:r>
            <a:endParaRPr lang="en-US" sz="1300" dirty="0"/>
          </a:p>
        </p:txBody>
      </p:sp>
      <p:sp>
        <p:nvSpPr>
          <p:cNvPr id="36" name="Text 33"/>
          <p:cNvSpPr/>
          <p:nvPr/>
        </p:nvSpPr>
        <p:spPr>
          <a:xfrm>
            <a:off x="548640" y="608076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Arrows point the way data is read. Only the active transactor writes.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 · THE FAILURE MAP</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6</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What each failure actually costs you</a:t>
            </a:r>
            <a:endParaRPr lang="en-US" sz="2500" dirty="0"/>
          </a:p>
        </p:txBody>
      </p:sp>
      <p:sp>
        <p:nvSpPr>
          <p:cNvPr id="8" name="Shape 5"/>
          <p:cNvSpPr/>
          <p:nvPr/>
        </p:nvSpPr>
        <p:spPr>
          <a:xfrm>
            <a:off x="548640" y="1325880"/>
            <a:ext cx="2651760" cy="3200400"/>
          </a:xfrm>
          <a:prstGeom prst="roundRect">
            <a:avLst>
              <a:gd name="adj" fmla="val 2759"/>
            </a:avLst>
          </a:prstGeom>
          <a:solidFill>
            <a:srgbClr val="EBD5CB"/>
          </a:solidFill>
          <a:ln/>
        </p:spPr>
      </p:sp>
      <p:sp>
        <p:nvSpPr>
          <p:cNvPr id="9" name="Shape 6"/>
          <p:cNvSpPr/>
          <p:nvPr/>
        </p:nvSpPr>
        <p:spPr>
          <a:xfrm>
            <a:off x="548640" y="1325880"/>
            <a:ext cx="2651760" cy="109728"/>
          </a:xfrm>
          <a:prstGeom prst="roundRect">
            <a:avLst>
              <a:gd name="adj" fmla="val 66667"/>
            </a:avLst>
          </a:prstGeom>
          <a:solidFill>
            <a:srgbClr val="9E4227"/>
          </a:solidFill>
          <a:ln/>
        </p:spPr>
      </p:sp>
      <p:sp>
        <p:nvSpPr>
          <p:cNvPr id="10" name="Text 7"/>
          <p:cNvSpPr/>
          <p:nvPr/>
        </p:nvSpPr>
        <p:spPr>
          <a:xfrm>
            <a:off x="777240" y="1600200"/>
            <a:ext cx="2194560" cy="320040"/>
          </a:xfrm>
          <a:prstGeom prst="rect">
            <a:avLst/>
          </a:prstGeom>
          <a:noFill/>
          <a:ln/>
        </p:spPr>
        <p:txBody>
          <a:bodyPr wrap="square" lIns="0" tIns="0" rIns="0" bIns="0" rtlCol="0" anchor="t"/>
          <a:lstStyle/>
          <a:p>
            <a:pPr indent="0" marL="0">
              <a:buNone/>
            </a:pPr>
            <a:r>
              <a:rPr lang="en-US" sz="1300" b="1" spc="150" kern="0" dirty="0">
                <a:solidFill>
                  <a:srgbClr val="9E4227"/>
                </a:solidFill>
                <a:latin typeface="Helvetica Neue" pitchFamily="34" charset="0"/>
                <a:ea typeface="Helvetica Neue" pitchFamily="34" charset="-122"/>
                <a:cs typeface="Helvetica Neue" pitchFamily="34" charset="-120"/>
              </a:rPr>
              <a:t>STORAGE</a:t>
            </a:r>
            <a:endParaRPr lang="en-US" sz="1300" dirty="0"/>
          </a:p>
        </p:txBody>
      </p:sp>
      <p:sp>
        <p:nvSpPr>
          <p:cNvPr id="11" name="Text 8"/>
          <p:cNvSpPr/>
          <p:nvPr/>
        </p:nvSpPr>
        <p:spPr>
          <a:xfrm>
            <a:off x="777240" y="2057400"/>
            <a:ext cx="2194560" cy="822960"/>
          </a:xfrm>
          <a:prstGeom prst="rect">
            <a:avLst/>
          </a:prstGeom>
          <a:noFill/>
          <a:ln/>
        </p:spPr>
        <p:txBody>
          <a:bodyPr wrap="square" lIns="0" tIns="0" rIns="0" bIns="0" rtlCol="0" anchor="t">
            <a:normAutofit/>
          </a:bodyPr>
          <a:lstStyle/>
          <a:p>
            <a:pPr indent="0" marL="0">
              <a:buNone/>
            </a:pPr>
            <a:r>
              <a:rPr lang="en-US" sz="2100" dirty="0">
                <a:solidFill>
                  <a:srgbClr val="3A2C1A"/>
                </a:solidFill>
                <a:latin typeface="Georgia" pitchFamily="34" charset="0"/>
                <a:ea typeface="Georgia" pitchFamily="34" charset="-122"/>
                <a:cs typeface="Georgia" pitchFamily="34" charset="-120"/>
              </a:rPr>
              <a:t>total outage</a:t>
            </a:r>
            <a:endParaRPr lang="en-US" sz="2100" dirty="0"/>
          </a:p>
        </p:txBody>
      </p:sp>
      <p:sp>
        <p:nvSpPr>
          <p:cNvPr id="12" name="Text 9"/>
          <p:cNvSpPr/>
          <p:nvPr/>
        </p:nvSpPr>
        <p:spPr>
          <a:xfrm>
            <a:off x="777240" y="2971800"/>
            <a:ext cx="2194560" cy="822960"/>
          </a:xfrm>
          <a:prstGeom prst="rect">
            <a:avLst/>
          </a:prstGeom>
          <a:noFill/>
          <a:ln/>
        </p:spPr>
        <p:txBody>
          <a:bodyPr wrap="square" lIns="0" tIns="0" rIns="0" bIns="0" rtlCol="0" anchor="t"/>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reads too, once the caches miss</a:t>
            </a:r>
            <a:endParaRPr lang="en-US" sz="1300" dirty="0"/>
          </a:p>
        </p:txBody>
      </p:sp>
      <p:sp>
        <p:nvSpPr>
          <p:cNvPr id="13" name="Shape 10"/>
          <p:cNvSpPr/>
          <p:nvPr/>
        </p:nvSpPr>
        <p:spPr>
          <a:xfrm>
            <a:off x="777240" y="4069080"/>
            <a:ext cx="310896" cy="146304"/>
          </a:xfrm>
          <a:prstGeom prst="rect">
            <a:avLst/>
          </a:prstGeom>
          <a:solidFill>
            <a:srgbClr val="9E4227"/>
          </a:solidFill>
          <a:ln/>
        </p:spPr>
      </p:sp>
      <p:sp>
        <p:nvSpPr>
          <p:cNvPr id="14" name="Shape 11"/>
          <p:cNvSpPr/>
          <p:nvPr/>
        </p:nvSpPr>
        <p:spPr>
          <a:xfrm>
            <a:off x="1161288" y="4069080"/>
            <a:ext cx="310896" cy="146304"/>
          </a:xfrm>
          <a:prstGeom prst="rect">
            <a:avLst/>
          </a:prstGeom>
          <a:solidFill>
            <a:srgbClr val="9E4227"/>
          </a:solidFill>
          <a:ln/>
        </p:spPr>
      </p:sp>
      <p:sp>
        <p:nvSpPr>
          <p:cNvPr id="15" name="Shape 12"/>
          <p:cNvSpPr/>
          <p:nvPr/>
        </p:nvSpPr>
        <p:spPr>
          <a:xfrm>
            <a:off x="1545336" y="4069080"/>
            <a:ext cx="310896" cy="146304"/>
          </a:xfrm>
          <a:prstGeom prst="rect">
            <a:avLst/>
          </a:prstGeom>
          <a:solidFill>
            <a:srgbClr val="9E4227"/>
          </a:solidFill>
          <a:ln/>
        </p:spPr>
      </p:sp>
      <p:sp>
        <p:nvSpPr>
          <p:cNvPr id="16" name="Shape 13"/>
          <p:cNvSpPr/>
          <p:nvPr/>
        </p:nvSpPr>
        <p:spPr>
          <a:xfrm>
            <a:off x="1929384" y="4069080"/>
            <a:ext cx="310896" cy="146304"/>
          </a:xfrm>
          <a:prstGeom prst="rect">
            <a:avLst/>
          </a:prstGeom>
          <a:solidFill>
            <a:srgbClr val="9E4227"/>
          </a:solidFill>
          <a:ln/>
        </p:spPr>
      </p:sp>
      <p:sp>
        <p:nvSpPr>
          <p:cNvPr id="17" name="Text 14"/>
          <p:cNvSpPr/>
          <p:nvPr/>
        </p:nvSpPr>
        <p:spPr>
          <a:xfrm>
            <a:off x="777240" y="4251960"/>
            <a:ext cx="2194560" cy="228600"/>
          </a:xfrm>
          <a:prstGeom prst="rect">
            <a:avLst/>
          </a:prstGeom>
          <a:noFill/>
          <a:ln/>
        </p:spPr>
        <p:txBody>
          <a:bodyPr wrap="square" lIns="0" tIns="0" rIns="0" bIns="0" rtlCol="0" anchor="t"/>
          <a:lstStyle/>
          <a:p>
            <a:pPr indent="0" marL="0">
              <a:buNone/>
            </a:pPr>
            <a:r>
              <a:rPr lang="en-US" sz="1000" dirty="0">
                <a:solidFill>
                  <a:srgbClr val="9A8A72"/>
                </a:solidFill>
                <a:latin typeface="Helvetica Neue" pitchFamily="34" charset="0"/>
                <a:ea typeface="Helvetica Neue" pitchFamily="34" charset="-122"/>
                <a:cs typeface="Helvetica Neue" pitchFamily="34" charset="-120"/>
              </a:rPr>
              <a:t>blast radius</a:t>
            </a:r>
            <a:endParaRPr lang="en-US" sz="1000" dirty="0"/>
          </a:p>
        </p:txBody>
      </p:sp>
      <p:sp>
        <p:nvSpPr>
          <p:cNvPr id="18" name="Shape 15"/>
          <p:cNvSpPr/>
          <p:nvPr/>
        </p:nvSpPr>
        <p:spPr>
          <a:xfrm>
            <a:off x="3383280" y="1325880"/>
            <a:ext cx="2651760" cy="3200400"/>
          </a:xfrm>
          <a:prstGeom prst="roundRect">
            <a:avLst>
              <a:gd name="adj" fmla="val 2759"/>
            </a:avLst>
          </a:prstGeom>
          <a:solidFill>
            <a:srgbClr val="EDE0C4"/>
          </a:solidFill>
          <a:ln/>
        </p:spPr>
      </p:sp>
      <p:sp>
        <p:nvSpPr>
          <p:cNvPr id="19" name="Shape 16"/>
          <p:cNvSpPr/>
          <p:nvPr/>
        </p:nvSpPr>
        <p:spPr>
          <a:xfrm>
            <a:off x="3383280" y="1325880"/>
            <a:ext cx="2651760" cy="109728"/>
          </a:xfrm>
          <a:prstGeom prst="roundRect">
            <a:avLst>
              <a:gd name="adj" fmla="val 66667"/>
            </a:avLst>
          </a:prstGeom>
          <a:solidFill>
            <a:srgbClr val="B5822B"/>
          </a:solidFill>
          <a:ln/>
        </p:spPr>
      </p:sp>
      <p:sp>
        <p:nvSpPr>
          <p:cNvPr id="20" name="Text 17"/>
          <p:cNvSpPr/>
          <p:nvPr/>
        </p:nvSpPr>
        <p:spPr>
          <a:xfrm>
            <a:off x="3611880" y="1600200"/>
            <a:ext cx="2194560" cy="320040"/>
          </a:xfrm>
          <a:prstGeom prst="rect">
            <a:avLst/>
          </a:prstGeom>
          <a:noFill/>
          <a:ln/>
        </p:spPr>
        <p:txBody>
          <a:bodyPr wrap="square" lIns="0" tIns="0" rIns="0" bIns="0" rtlCol="0" anchor="t"/>
          <a:lstStyle/>
          <a:p>
            <a:pPr indent="0" marL="0">
              <a:buNone/>
            </a:pPr>
            <a:r>
              <a:rPr lang="en-US" sz="1300" b="1" spc="150" kern="0" dirty="0">
                <a:solidFill>
                  <a:srgbClr val="B5822B"/>
                </a:solidFill>
                <a:latin typeface="Helvetica Neue" pitchFamily="34" charset="0"/>
                <a:ea typeface="Helvetica Neue" pitchFamily="34" charset="-122"/>
                <a:cs typeface="Helvetica Neue" pitchFamily="34" charset="-120"/>
              </a:rPr>
              <a:t>TRANSACTOR</a:t>
            </a:r>
            <a:endParaRPr lang="en-US" sz="1300" dirty="0"/>
          </a:p>
        </p:txBody>
      </p:sp>
      <p:sp>
        <p:nvSpPr>
          <p:cNvPr id="21" name="Text 18"/>
          <p:cNvSpPr/>
          <p:nvPr/>
        </p:nvSpPr>
        <p:spPr>
          <a:xfrm>
            <a:off x="3611880" y="2057400"/>
            <a:ext cx="2194560" cy="822960"/>
          </a:xfrm>
          <a:prstGeom prst="rect">
            <a:avLst/>
          </a:prstGeom>
          <a:noFill/>
          <a:ln/>
        </p:spPr>
        <p:txBody>
          <a:bodyPr wrap="square" lIns="0" tIns="0" rIns="0" bIns="0" rtlCol="0" anchor="t">
            <a:normAutofit/>
          </a:bodyPr>
          <a:lstStyle/>
          <a:p>
            <a:pPr indent="0" marL="0">
              <a:buNone/>
            </a:pPr>
            <a:r>
              <a:rPr lang="en-US" sz="2100" dirty="0">
                <a:solidFill>
                  <a:srgbClr val="3A2C1A"/>
                </a:solidFill>
                <a:latin typeface="Georgia" pitchFamily="34" charset="0"/>
                <a:ea typeface="Georgia" pitchFamily="34" charset="-122"/>
                <a:cs typeface="Georgia" pitchFamily="34" charset="-120"/>
              </a:rPr>
              <a:t>writes fail</a:t>
            </a:r>
            <a:endParaRPr lang="en-US" sz="2100" dirty="0"/>
          </a:p>
        </p:txBody>
      </p:sp>
      <p:sp>
        <p:nvSpPr>
          <p:cNvPr id="22" name="Text 19"/>
          <p:cNvSpPr/>
          <p:nvPr/>
        </p:nvSpPr>
        <p:spPr>
          <a:xfrm>
            <a:off x="3611880" y="2971800"/>
            <a:ext cx="2194560" cy="822960"/>
          </a:xfrm>
          <a:prstGeom prst="rect">
            <a:avLst/>
          </a:prstGeom>
          <a:noFill/>
          <a:ln/>
        </p:spPr>
        <p:txBody>
          <a:bodyPr wrap="square" lIns="0" tIns="0" rIns="0" bIns="0" rtlCol="0" anchor="t"/>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reads continue, unaffected</a:t>
            </a:r>
            <a:endParaRPr lang="en-US" sz="1300" dirty="0"/>
          </a:p>
        </p:txBody>
      </p:sp>
      <p:sp>
        <p:nvSpPr>
          <p:cNvPr id="23" name="Shape 20"/>
          <p:cNvSpPr/>
          <p:nvPr/>
        </p:nvSpPr>
        <p:spPr>
          <a:xfrm>
            <a:off x="3611880" y="4069080"/>
            <a:ext cx="310896" cy="146304"/>
          </a:xfrm>
          <a:prstGeom prst="rect">
            <a:avLst/>
          </a:prstGeom>
          <a:solidFill>
            <a:srgbClr val="B5822B"/>
          </a:solidFill>
          <a:ln/>
        </p:spPr>
      </p:sp>
      <p:sp>
        <p:nvSpPr>
          <p:cNvPr id="24" name="Shape 21"/>
          <p:cNvSpPr/>
          <p:nvPr/>
        </p:nvSpPr>
        <p:spPr>
          <a:xfrm>
            <a:off x="3995928" y="4069080"/>
            <a:ext cx="310896" cy="146304"/>
          </a:xfrm>
          <a:prstGeom prst="rect">
            <a:avLst/>
          </a:prstGeom>
          <a:solidFill>
            <a:srgbClr val="B5822B"/>
          </a:solidFill>
          <a:ln/>
        </p:spPr>
      </p:sp>
      <p:sp>
        <p:nvSpPr>
          <p:cNvPr id="25" name="Shape 22"/>
          <p:cNvSpPr/>
          <p:nvPr/>
        </p:nvSpPr>
        <p:spPr>
          <a:xfrm>
            <a:off x="4379976" y="4069080"/>
            <a:ext cx="310896" cy="146304"/>
          </a:xfrm>
          <a:prstGeom prst="rect">
            <a:avLst/>
          </a:prstGeom>
          <a:solidFill>
            <a:srgbClr val="DFD6C0"/>
          </a:solidFill>
          <a:ln/>
        </p:spPr>
      </p:sp>
      <p:sp>
        <p:nvSpPr>
          <p:cNvPr id="26" name="Shape 23"/>
          <p:cNvSpPr/>
          <p:nvPr/>
        </p:nvSpPr>
        <p:spPr>
          <a:xfrm>
            <a:off x="4764024" y="4069080"/>
            <a:ext cx="310896" cy="146304"/>
          </a:xfrm>
          <a:prstGeom prst="rect">
            <a:avLst/>
          </a:prstGeom>
          <a:solidFill>
            <a:srgbClr val="DFD6C0"/>
          </a:solidFill>
          <a:ln/>
        </p:spPr>
      </p:sp>
      <p:sp>
        <p:nvSpPr>
          <p:cNvPr id="27" name="Text 24"/>
          <p:cNvSpPr/>
          <p:nvPr/>
        </p:nvSpPr>
        <p:spPr>
          <a:xfrm>
            <a:off x="3611880" y="4251960"/>
            <a:ext cx="2194560" cy="228600"/>
          </a:xfrm>
          <a:prstGeom prst="rect">
            <a:avLst/>
          </a:prstGeom>
          <a:noFill/>
          <a:ln/>
        </p:spPr>
        <p:txBody>
          <a:bodyPr wrap="square" lIns="0" tIns="0" rIns="0" bIns="0" rtlCol="0" anchor="t"/>
          <a:lstStyle/>
          <a:p>
            <a:pPr indent="0" marL="0">
              <a:buNone/>
            </a:pPr>
            <a:r>
              <a:rPr lang="en-US" sz="1000" dirty="0">
                <a:solidFill>
                  <a:srgbClr val="9A8A72"/>
                </a:solidFill>
                <a:latin typeface="Helvetica Neue" pitchFamily="34" charset="0"/>
                <a:ea typeface="Helvetica Neue" pitchFamily="34" charset="-122"/>
                <a:cs typeface="Helvetica Neue" pitchFamily="34" charset="-120"/>
              </a:rPr>
              <a:t>blast radius</a:t>
            </a:r>
            <a:endParaRPr lang="en-US" sz="1000" dirty="0"/>
          </a:p>
        </p:txBody>
      </p:sp>
      <p:sp>
        <p:nvSpPr>
          <p:cNvPr id="28" name="Shape 25"/>
          <p:cNvSpPr/>
          <p:nvPr/>
        </p:nvSpPr>
        <p:spPr>
          <a:xfrm>
            <a:off x="6217920" y="1325880"/>
            <a:ext cx="2651760" cy="3200400"/>
          </a:xfrm>
          <a:prstGeom prst="roundRect">
            <a:avLst>
              <a:gd name="adj" fmla="val 2759"/>
            </a:avLst>
          </a:prstGeom>
          <a:solidFill>
            <a:srgbClr val="DDE3CC"/>
          </a:solidFill>
          <a:ln/>
        </p:spPr>
      </p:sp>
      <p:sp>
        <p:nvSpPr>
          <p:cNvPr id="29" name="Shape 26"/>
          <p:cNvSpPr/>
          <p:nvPr/>
        </p:nvSpPr>
        <p:spPr>
          <a:xfrm>
            <a:off x="6217920" y="1325880"/>
            <a:ext cx="2651760" cy="109728"/>
          </a:xfrm>
          <a:prstGeom prst="roundRect">
            <a:avLst>
              <a:gd name="adj" fmla="val 66667"/>
            </a:avLst>
          </a:prstGeom>
          <a:solidFill>
            <a:srgbClr val="5F7A3A"/>
          </a:solidFill>
          <a:ln/>
        </p:spPr>
      </p:sp>
      <p:sp>
        <p:nvSpPr>
          <p:cNvPr id="30" name="Text 27"/>
          <p:cNvSpPr/>
          <p:nvPr/>
        </p:nvSpPr>
        <p:spPr>
          <a:xfrm>
            <a:off x="6446520" y="1600200"/>
            <a:ext cx="2194560" cy="320040"/>
          </a:xfrm>
          <a:prstGeom prst="rect">
            <a:avLst/>
          </a:prstGeom>
          <a:noFill/>
          <a:ln/>
        </p:spPr>
        <p:txBody>
          <a:bodyPr wrap="square" lIns="0" tIns="0" rIns="0" bIns="0" rtlCol="0" anchor="t"/>
          <a:lstStyle/>
          <a:p>
            <a:pPr indent="0" marL="0">
              <a:buNone/>
            </a:pPr>
            <a:r>
              <a:rPr lang="en-US" sz="1300" b="1" spc="150" kern="0" dirty="0">
                <a:solidFill>
                  <a:srgbClr val="5F7A3A"/>
                </a:solidFill>
                <a:latin typeface="Helvetica Neue" pitchFamily="34" charset="0"/>
                <a:ea typeface="Helvetica Neue" pitchFamily="34" charset="-122"/>
                <a:cs typeface="Helvetica Neue" pitchFamily="34" charset="-120"/>
              </a:rPr>
              <a:t>ONE PEER</a:t>
            </a:r>
            <a:endParaRPr lang="en-US" sz="1300" dirty="0"/>
          </a:p>
        </p:txBody>
      </p:sp>
      <p:sp>
        <p:nvSpPr>
          <p:cNvPr id="31" name="Text 28"/>
          <p:cNvSpPr/>
          <p:nvPr/>
        </p:nvSpPr>
        <p:spPr>
          <a:xfrm>
            <a:off x="6446520" y="2057400"/>
            <a:ext cx="2194560" cy="822960"/>
          </a:xfrm>
          <a:prstGeom prst="rect">
            <a:avLst/>
          </a:prstGeom>
          <a:noFill/>
          <a:ln/>
        </p:spPr>
        <p:txBody>
          <a:bodyPr wrap="square" lIns="0" tIns="0" rIns="0" bIns="0" rtlCol="0" anchor="t">
            <a:normAutofit/>
          </a:bodyPr>
          <a:lstStyle/>
          <a:p>
            <a:pPr indent="0" marL="0">
              <a:buNone/>
            </a:pPr>
            <a:r>
              <a:rPr lang="en-US" sz="2100" dirty="0">
                <a:solidFill>
                  <a:srgbClr val="3A2C1A"/>
                </a:solidFill>
                <a:latin typeface="Georgia" pitchFamily="34" charset="0"/>
                <a:ea typeface="Georgia" pitchFamily="34" charset="-122"/>
                <a:cs typeface="Georgia" pitchFamily="34" charset="-120"/>
              </a:rPr>
              <a:t>that peer only</a:t>
            </a:r>
            <a:endParaRPr lang="en-US" sz="2100" dirty="0"/>
          </a:p>
        </p:txBody>
      </p:sp>
      <p:sp>
        <p:nvSpPr>
          <p:cNvPr id="32" name="Text 29"/>
          <p:cNvSpPr/>
          <p:nvPr/>
        </p:nvSpPr>
        <p:spPr>
          <a:xfrm>
            <a:off x="6446520" y="2971800"/>
            <a:ext cx="2194560" cy="822960"/>
          </a:xfrm>
          <a:prstGeom prst="rect">
            <a:avLst/>
          </a:prstGeom>
          <a:noFill/>
          <a:ln/>
        </p:spPr>
        <p:txBody>
          <a:bodyPr wrap="square" lIns="0" tIns="0" rIns="0" bIns="0" rtlCol="0" anchor="t"/>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siblings unaffected</a:t>
            </a:r>
            <a:endParaRPr lang="en-US" sz="1300" dirty="0"/>
          </a:p>
        </p:txBody>
      </p:sp>
      <p:sp>
        <p:nvSpPr>
          <p:cNvPr id="33" name="Shape 30"/>
          <p:cNvSpPr/>
          <p:nvPr/>
        </p:nvSpPr>
        <p:spPr>
          <a:xfrm>
            <a:off x="6446520" y="4069080"/>
            <a:ext cx="310896" cy="146304"/>
          </a:xfrm>
          <a:prstGeom prst="rect">
            <a:avLst/>
          </a:prstGeom>
          <a:solidFill>
            <a:srgbClr val="5F7A3A"/>
          </a:solidFill>
          <a:ln/>
        </p:spPr>
      </p:sp>
      <p:sp>
        <p:nvSpPr>
          <p:cNvPr id="34" name="Shape 31"/>
          <p:cNvSpPr/>
          <p:nvPr/>
        </p:nvSpPr>
        <p:spPr>
          <a:xfrm>
            <a:off x="6830568" y="4069080"/>
            <a:ext cx="310896" cy="146304"/>
          </a:xfrm>
          <a:prstGeom prst="rect">
            <a:avLst/>
          </a:prstGeom>
          <a:solidFill>
            <a:srgbClr val="DFD6C0"/>
          </a:solidFill>
          <a:ln/>
        </p:spPr>
      </p:sp>
      <p:sp>
        <p:nvSpPr>
          <p:cNvPr id="35" name="Shape 32"/>
          <p:cNvSpPr/>
          <p:nvPr/>
        </p:nvSpPr>
        <p:spPr>
          <a:xfrm>
            <a:off x="7214616" y="4069080"/>
            <a:ext cx="310896" cy="146304"/>
          </a:xfrm>
          <a:prstGeom prst="rect">
            <a:avLst/>
          </a:prstGeom>
          <a:solidFill>
            <a:srgbClr val="DFD6C0"/>
          </a:solidFill>
          <a:ln/>
        </p:spPr>
      </p:sp>
      <p:sp>
        <p:nvSpPr>
          <p:cNvPr id="36" name="Shape 33"/>
          <p:cNvSpPr/>
          <p:nvPr/>
        </p:nvSpPr>
        <p:spPr>
          <a:xfrm>
            <a:off x="7598664" y="4069080"/>
            <a:ext cx="310896" cy="146304"/>
          </a:xfrm>
          <a:prstGeom prst="rect">
            <a:avLst/>
          </a:prstGeom>
          <a:solidFill>
            <a:srgbClr val="DFD6C0"/>
          </a:solidFill>
          <a:ln/>
        </p:spPr>
      </p:sp>
      <p:sp>
        <p:nvSpPr>
          <p:cNvPr id="37" name="Text 34"/>
          <p:cNvSpPr/>
          <p:nvPr/>
        </p:nvSpPr>
        <p:spPr>
          <a:xfrm>
            <a:off x="6446520" y="4251960"/>
            <a:ext cx="2194560" cy="228600"/>
          </a:xfrm>
          <a:prstGeom prst="rect">
            <a:avLst/>
          </a:prstGeom>
          <a:noFill/>
          <a:ln/>
        </p:spPr>
        <p:txBody>
          <a:bodyPr wrap="square" lIns="0" tIns="0" rIns="0" bIns="0" rtlCol="0" anchor="t"/>
          <a:lstStyle/>
          <a:p>
            <a:pPr indent="0" marL="0">
              <a:buNone/>
            </a:pPr>
            <a:r>
              <a:rPr lang="en-US" sz="1000" dirty="0">
                <a:solidFill>
                  <a:srgbClr val="9A8A72"/>
                </a:solidFill>
                <a:latin typeface="Helvetica Neue" pitchFamily="34" charset="0"/>
                <a:ea typeface="Helvetica Neue" pitchFamily="34" charset="-122"/>
                <a:cs typeface="Helvetica Neue" pitchFamily="34" charset="-120"/>
              </a:rPr>
              <a:t>blast radius</a:t>
            </a:r>
            <a:endParaRPr lang="en-US" sz="1000" dirty="0"/>
          </a:p>
        </p:txBody>
      </p:sp>
      <p:sp>
        <p:nvSpPr>
          <p:cNvPr id="38" name="Shape 35"/>
          <p:cNvSpPr/>
          <p:nvPr/>
        </p:nvSpPr>
        <p:spPr>
          <a:xfrm>
            <a:off x="9052560" y="1325880"/>
            <a:ext cx="2651760" cy="3200400"/>
          </a:xfrm>
          <a:prstGeom prst="roundRect">
            <a:avLst>
              <a:gd name="adj" fmla="val 2759"/>
            </a:avLst>
          </a:prstGeom>
          <a:solidFill>
            <a:srgbClr val="DDE3CC"/>
          </a:solidFill>
          <a:ln/>
        </p:spPr>
      </p:sp>
      <p:sp>
        <p:nvSpPr>
          <p:cNvPr id="39" name="Shape 36"/>
          <p:cNvSpPr/>
          <p:nvPr/>
        </p:nvSpPr>
        <p:spPr>
          <a:xfrm>
            <a:off x="9052560" y="1325880"/>
            <a:ext cx="2651760" cy="109728"/>
          </a:xfrm>
          <a:prstGeom prst="roundRect">
            <a:avLst>
              <a:gd name="adj" fmla="val 66667"/>
            </a:avLst>
          </a:prstGeom>
          <a:solidFill>
            <a:srgbClr val="5F7A3A"/>
          </a:solidFill>
          <a:ln/>
        </p:spPr>
      </p:sp>
      <p:sp>
        <p:nvSpPr>
          <p:cNvPr id="40" name="Text 37"/>
          <p:cNvSpPr/>
          <p:nvPr/>
        </p:nvSpPr>
        <p:spPr>
          <a:xfrm>
            <a:off x="9281160" y="1600200"/>
            <a:ext cx="2194560" cy="320040"/>
          </a:xfrm>
          <a:prstGeom prst="rect">
            <a:avLst/>
          </a:prstGeom>
          <a:noFill/>
          <a:ln/>
        </p:spPr>
        <p:txBody>
          <a:bodyPr wrap="square" lIns="0" tIns="0" rIns="0" bIns="0" rtlCol="0" anchor="t"/>
          <a:lstStyle/>
          <a:p>
            <a:pPr indent="0" marL="0">
              <a:buNone/>
            </a:pPr>
            <a:r>
              <a:rPr lang="en-US" sz="1300" b="1" spc="150" kern="0" dirty="0">
                <a:solidFill>
                  <a:srgbClr val="5F7A3A"/>
                </a:solidFill>
                <a:latin typeface="Helvetica Neue" pitchFamily="34" charset="0"/>
                <a:ea typeface="Helvetica Neue" pitchFamily="34" charset="-122"/>
                <a:cs typeface="Helvetica Neue" pitchFamily="34" charset="-120"/>
              </a:rPr>
              <a:t>MEMCACHED</a:t>
            </a:r>
            <a:endParaRPr lang="en-US" sz="1300" dirty="0"/>
          </a:p>
        </p:txBody>
      </p:sp>
      <p:sp>
        <p:nvSpPr>
          <p:cNvPr id="41" name="Text 38"/>
          <p:cNvSpPr/>
          <p:nvPr/>
        </p:nvSpPr>
        <p:spPr>
          <a:xfrm>
            <a:off x="9281160" y="2057400"/>
            <a:ext cx="2194560" cy="822960"/>
          </a:xfrm>
          <a:prstGeom prst="rect">
            <a:avLst/>
          </a:prstGeom>
          <a:noFill/>
          <a:ln/>
        </p:spPr>
        <p:txBody>
          <a:bodyPr wrap="square" lIns="0" tIns="0" rIns="0" bIns="0" rtlCol="0" anchor="t">
            <a:normAutofit/>
          </a:bodyPr>
          <a:lstStyle/>
          <a:p>
            <a:pPr indent="0" marL="0">
              <a:buNone/>
            </a:pPr>
            <a:r>
              <a:rPr lang="en-US" sz="2100" dirty="0">
                <a:solidFill>
                  <a:srgbClr val="3A2C1A"/>
                </a:solidFill>
                <a:latin typeface="Georgia" pitchFamily="34" charset="0"/>
                <a:ea typeface="Georgia" pitchFamily="34" charset="-122"/>
                <a:cs typeface="Georgia" pitchFamily="34" charset="-120"/>
              </a:rPr>
              <a:t>nothing fails</a:t>
            </a:r>
            <a:endParaRPr lang="en-US" sz="2100" dirty="0"/>
          </a:p>
        </p:txBody>
      </p:sp>
      <p:sp>
        <p:nvSpPr>
          <p:cNvPr id="42" name="Text 39"/>
          <p:cNvSpPr/>
          <p:nvPr/>
        </p:nvSpPr>
        <p:spPr>
          <a:xfrm>
            <a:off x="9281160" y="2971800"/>
            <a:ext cx="2194560" cy="822960"/>
          </a:xfrm>
          <a:prstGeom prst="rect">
            <a:avLst/>
          </a:prstGeom>
          <a:noFill/>
          <a:ln/>
        </p:spPr>
        <p:txBody>
          <a:bodyPr wrap="square" lIns="0" tIns="0" rIns="0" bIns="0" rtlCol="0" anchor="t"/>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storage load increases</a:t>
            </a:r>
            <a:endParaRPr lang="en-US" sz="1300" dirty="0"/>
          </a:p>
        </p:txBody>
      </p:sp>
      <p:sp>
        <p:nvSpPr>
          <p:cNvPr id="43" name="Shape 40"/>
          <p:cNvSpPr/>
          <p:nvPr/>
        </p:nvSpPr>
        <p:spPr>
          <a:xfrm>
            <a:off x="9281160" y="4069080"/>
            <a:ext cx="310896" cy="146304"/>
          </a:xfrm>
          <a:prstGeom prst="rect">
            <a:avLst/>
          </a:prstGeom>
          <a:solidFill>
            <a:srgbClr val="5F7A3A"/>
          </a:solidFill>
          <a:ln/>
        </p:spPr>
      </p:sp>
      <p:sp>
        <p:nvSpPr>
          <p:cNvPr id="44" name="Shape 41"/>
          <p:cNvSpPr/>
          <p:nvPr/>
        </p:nvSpPr>
        <p:spPr>
          <a:xfrm>
            <a:off x="9665208" y="4069080"/>
            <a:ext cx="310896" cy="146304"/>
          </a:xfrm>
          <a:prstGeom prst="rect">
            <a:avLst/>
          </a:prstGeom>
          <a:solidFill>
            <a:srgbClr val="DFD6C0"/>
          </a:solidFill>
          <a:ln/>
        </p:spPr>
      </p:sp>
      <p:sp>
        <p:nvSpPr>
          <p:cNvPr id="45" name="Shape 42"/>
          <p:cNvSpPr/>
          <p:nvPr/>
        </p:nvSpPr>
        <p:spPr>
          <a:xfrm>
            <a:off x="10049256" y="4069080"/>
            <a:ext cx="310896" cy="146304"/>
          </a:xfrm>
          <a:prstGeom prst="rect">
            <a:avLst/>
          </a:prstGeom>
          <a:solidFill>
            <a:srgbClr val="DFD6C0"/>
          </a:solidFill>
          <a:ln/>
        </p:spPr>
      </p:sp>
      <p:sp>
        <p:nvSpPr>
          <p:cNvPr id="46" name="Shape 43"/>
          <p:cNvSpPr/>
          <p:nvPr/>
        </p:nvSpPr>
        <p:spPr>
          <a:xfrm>
            <a:off x="10433304" y="4069080"/>
            <a:ext cx="310896" cy="146304"/>
          </a:xfrm>
          <a:prstGeom prst="rect">
            <a:avLst/>
          </a:prstGeom>
          <a:solidFill>
            <a:srgbClr val="DFD6C0"/>
          </a:solidFill>
          <a:ln/>
        </p:spPr>
      </p:sp>
      <p:sp>
        <p:nvSpPr>
          <p:cNvPr id="47" name="Text 44"/>
          <p:cNvSpPr/>
          <p:nvPr/>
        </p:nvSpPr>
        <p:spPr>
          <a:xfrm>
            <a:off x="9281160" y="4251960"/>
            <a:ext cx="2194560" cy="228600"/>
          </a:xfrm>
          <a:prstGeom prst="rect">
            <a:avLst/>
          </a:prstGeom>
          <a:noFill/>
          <a:ln/>
        </p:spPr>
        <p:txBody>
          <a:bodyPr wrap="square" lIns="0" tIns="0" rIns="0" bIns="0" rtlCol="0" anchor="t"/>
          <a:lstStyle/>
          <a:p>
            <a:pPr indent="0" marL="0">
              <a:buNone/>
            </a:pPr>
            <a:r>
              <a:rPr lang="en-US" sz="1000" dirty="0">
                <a:solidFill>
                  <a:srgbClr val="9A8A72"/>
                </a:solidFill>
                <a:latin typeface="Helvetica Neue" pitchFamily="34" charset="0"/>
                <a:ea typeface="Helvetica Neue" pitchFamily="34" charset="-122"/>
                <a:cs typeface="Helvetica Neue" pitchFamily="34" charset="-120"/>
              </a:rPr>
              <a:t>blast radius</a:t>
            </a:r>
            <a:endParaRPr lang="en-US" sz="1000" dirty="0"/>
          </a:p>
        </p:txBody>
      </p:sp>
      <p:sp>
        <p:nvSpPr>
          <p:cNvPr id="48" name="Shape 45"/>
          <p:cNvSpPr/>
          <p:nvPr/>
        </p:nvSpPr>
        <p:spPr>
          <a:xfrm>
            <a:off x="548640" y="4892040"/>
            <a:ext cx="54864" cy="457200"/>
          </a:xfrm>
          <a:prstGeom prst="rect">
            <a:avLst/>
          </a:prstGeom>
          <a:solidFill>
            <a:srgbClr val="A8864A"/>
          </a:solidFill>
          <a:ln/>
        </p:spPr>
      </p:sp>
      <p:sp>
        <p:nvSpPr>
          <p:cNvPr id="49" name="Text 46"/>
          <p:cNvSpPr/>
          <p:nvPr/>
        </p:nvSpPr>
        <p:spPr>
          <a:xfrm>
            <a:off x="777240" y="48920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Three of the four are not outages — that is the structural difference from a single-server SQL deployment.</a:t>
            </a:r>
            <a:endParaRPr lang="en-US" sz="1450" dirty="0"/>
          </a:p>
        </p:txBody>
      </p:sp>
      <p:sp>
        <p:nvSpPr>
          <p:cNvPr id="50" name="Shape 47"/>
          <p:cNvSpPr/>
          <p:nvPr/>
        </p:nvSpPr>
        <p:spPr>
          <a:xfrm>
            <a:off x="548640" y="5532120"/>
            <a:ext cx="11064240" cy="1051560"/>
          </a:xfrm>
          <a:prstGeom prst="roundRect">
            <a:avLst>
              <a:gd name="adj" fmla="val 6957"/>
            </a:avLst>
          </a:prstGeom>
          <a:solidFill>
            <a:srgbClr val="DFD6C0"/>
          </a:solidFill>
          <a:ln/>
        </p:spPr>
      </p:sp>
      <p:sp>
        <p:nvSpPr>
          <p:cNvPr id="51" name="Shape 48"/>
          <p:cNvSpPr/>
          <p:nvPr/>
        </p:nvSpPr>
        <p:spPr>
          <a:xfrm>
            <a:off x="548640" y="5532120"/>
            <a:ext cx="82296" cy="1051560"/>
          </a:xfrm>
          <a:prstGeom prst="rect">
            <a:avLst/>
          </a:prstGeom>
          <a:solidFill>
            <a:srgbClr val="A8864A"/>
          </a:solidFill>
          <a:ln/>
        </p:spPr>
      </p:sp>
      <p:sp>
        <p:nvSpPr>
          <p:cNvPr id="52" name="Text 49"/>
          <p:cNvSpPr/>
          <p:nvPr/>
        </p:nvSpPr>
        <p:spPr>
          <a:xfrm>
            <a:off x="822960" y="564184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§1</a:t>
            </a:r>
            <a:endParaRPr lang="en-US" sz="1300" dirty="0"/>
          </a:p>
        </p:txBody>
      </p:sp>
      <p:sp>
        <p:nvSpPr>
          <p:cNvPr id="53" name="Shape 50"/>
          <p:cNvSpPr/>
          <p:nvPr/>
        </p:nvSpPr>
        <p:spPr>
          <a:xfrm>
            <a:off x="10561320" y="5641848"/>
            <a:ext cx="777240" cy="292608"/>
          </a:xfrm>
          <a:prstGeom prst="roundRect">
            <a:avLst>
              <a:gd name="adj" fmla="val 25000"/>
            </a:avLst>
          </a:prstGeom>
          <a:solidFill>
            <a:srgbClr val="DDE3CC"/>
          </a:solidFill>
          <a:ln/>
        </p:spPr>
      </p:sp>
      <p:sp>
        <p:nvSpPr>
          <p:cNvPr id="54" name="Text 51"/>
          <p:cNvSpPr/>
          <p:nvPr/>
        </p:nvSpPr>
        <p:spPr>
          <a:xfrm>
            <a:off x="10561320" y="5641848"/>
            <a:ext cx="777240" cy="292608"/>
          </a:xfrm>
          <a:prstGeom prst="rect">
            <a:avLst/>
          </a:prstGeom>
          <a:noFill/>
          <a:ln/>
        </p:spPr>
        <p:txBody>
          <a:bodyPr wrap="square" lIns="0" tIns="0" rIns="0" bIns="0" rtlCol="0" anchor="ctr"/>
          <a:lstStyle/>
          <a:p>
            <a:pPr algn="ctr" indent="0" marL="0">
              <a:buNone/>
            </a:pPr>
            <a:r>
              <a:rPr lang="en-US" sz="1100" b="1" dirty="0">
                <a:solidFill>
                  <a:srgbClr val="5F7A3A"/>
                </a:solidFill>
                <a:latin typeface="Helvetica Neue" pitchFamily="34" charset="0"/>
                <a:ea typeface="Helvetica Neue" pitchFamily="34" charset="-122"/>
                <a:cs typeface="Helvetica Neue" pitchFamily="34" charset="-120"/>
              </a:rPr>
              <a:t>[MEM]</a:t>
            </a:r>
            <a:endParaRPr lang="en-US" sz="1100" dirty="0"/>
          </a:p>
        </p:txBody>
      </p:sp>
      <p:sp>
        <p:nvSpPr>
          <p:cNvPr id="55" name="Text 52"/>
          <p:cNvSpPr/>
          <p:nvPr/>
        </p:nvSpPr>
        <p:spPr>
          <a:xfrm>
            <a:off x="822960" y="5989320"/>
            <a:ext cx="10515600" cy="48463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(d/basis-t (d/db conn))  ·  (d/q all-readings (d/db conn))  ·  (:datoms (d/db-stats (d/db conn)))</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A peer's position in time, its data, and its size — the three things you check first on any peer.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 · THE FAILURE MAP</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7</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Why that is different from one SQL server</a:t>
            </a:r>
            <a:endParaRPr lang="en-US" sz="2500" dirty="0"/>
          </a:p>
        </p:txBody>
      </p:sp>
      <p:sp>
        <p:nvSpPr>
          <p:cNvPr id="8" name="Shape 5"/>
          <p:cNvSpPr/>
          <p:nvPr/>
        </p:nvSpPr>
        <p:spPr>
          <a:xfrm>
            <a:off x="548640" y="1325880"/>
            <a:ext cx="5349240" cy="3657600"/>
          </a:xfrm>
          <a:prstGeom prst="roundRect">
            <a:avLst>
              <a:gd name="adj" fmla="val 2000"/>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EBD5CB"/>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9E4227"/>
                </a:solidFill>
                <a:latin typeface="Helvetica Neue" pitchFamily="34" charset="0"/>
                <a:ea typeface="Helvetica Neue" pitchFamily="34" charset="-122"/>
                <a:cs typeface="Helvetica Neue" pitchFamily="34" charset="-120"/>
              </a:rPr>
              <a:t>ONE SQL SERVER</a:t>
            </a:r>
            <a:endParaRPr lang="en-US" sz="1250" dirty="0"/>
          </a:p>
        </p:txBody>
      </p:sp>
      <p:sp>
        <p:nvSpPr>
          <p:cNvPr id="11" name="Shape 8"/>
          <p:cNvSpPr/>
          <p:nvPr/>
        </p:nvSpPr>
        <p:spPr>
          <a:xfrm>
            <a:off x="1463040" y="2011680"/>
            <a:ext cx="3520440" cy="2377440"/>
          </a:xfrm>
          <a:prstGeom prst="roundRect">
            <a:avLst>
              <a:gd name="adj" fmla="val 2308"/>
            </a:avLst>
          </a:prstGeom>
          <a:solidFill>
            <a:srgbClr val="EBD5CB"/>
          </a:solidFill>
          <a:ln w="15875">
            <a:solidFill>
              <a:srgbClr val="9E4227"/>
            </a:solidFill>
            <a:prstDash val="solid"/>
          </a:ln>
        </p:spPr>
      </p:sp>
      <p:sp>
        <p:nvSpPr>
          <p:cNvPr id="12" name="Text 9"/>
          <p:cNvSpPr/>
          <p:nvPr/>
        </p:nvSpPr>
        <p:spPr>
          <a:xfrm>
            <a:off x="1536192" y="2889504"/>
            <a:ext cx="3374136" cy="310896"/>
          </a:xfrm>
          <a:prstGeom prst="rect">
            <a:avLst/>
          </a:prstGeom>
          <a:noFill/>
          <a:ln/>
        </p:spPr>
        <p:txBody>
          <a:bodyPr wrap="square" lIns="0" tIns="0" rIns="0" bIns="0" rtlCol="0" anchor="b">
            <a:normAutofit/>
          </a:bodyPr>
          <a:lstStyle/>
          <a:p>
            <a:pPr algn="ctr" indent="0" marL="0">
              <a:buNone/>
            </a:pPr>
            <a:r>
              <a:rPr lang="en-US" sz="1600" b="1" dirty="0">
                <a:solidFill>
                  <a:srgbClr val="3A2C1A"/>
                </a:solidFill>
                <a:latin typeface="Helvetica Neue" pitchFamily="34" charset="0"/>
                <a:ea typeface="Helvetica Neue" pitchFamily="34" charset="-122"/>
                <a:cs typeface="Helvetica Neue" pitchFamily="34" charset="-120"/>
              </a:rPr>
              <a:t>the server</a:t>
            </a:r>
            <a:endParaRPr lang="en-US" sz="1600" dirty="0"/>
          </a:p>
        </p:txBody>
      </p:sp>
      <p:sp>
        <p:nvSpPr>
          <p:cNvPr id="13" name="Text 10"/>
          <p:cNvSpPr/>
          <p:nvPr/>
        </p:nvSpPr>
        <p:spPr>
          <a:xfrm>
            <a:off x="1536192" y="3182112"/>
            <a:ext cx="3374136" cy="384048"/>
          </a:xfrm>
          <a:prstGeom prst="rect">
            <a:avLst/>
          </a:prstGeom>
          <a:noFill/>
          <a:ln/>
        </p:spPr>
        <p:txBody>
          <a:bodyPr wrap="square" lIns="0" tIns="0" rIns="0" bIns="0" rtlCol="0" anchor="t">
            <a:normAutofit/>
          </a:bodyPr>
          <a:lstStyle/>
          <a:p>
            <a:pPr algn="ctr" indent="0" marL="0">
              <a:buNone/>
            </a:pPr>
            <a:r>
              <a:rPr lang="en-US" sz="1100" dirty="0">
                <a:solidFill>
                  <a:srgbClr val="6B5A44"/>
                </a:solidFill>
                <a:latin typeface="Helvetica Neue" pitchFamily="34" charset="0"/>
                <a:ea typeface="Helvetica Neue" pitchFamily="34" charset="-122"/>
                <a:cs typeface="Helvetica Neue" pitchFamily="34" charset="-120"/>
              </a:rPr>
              <a:t>query engine + writer + cache + durability</a:t>
            </a:r>
            <a:endParaRPr lang="en-US" sz="1100" dirty="0"/>
          </a:p>
        </p:txBody>
      </p:sp>
      <p:sp>
        <p:nvSpPr>
          <p:cNvPr id="14" name="Text 11"/>
          <p:cNvSpPr/>
          <p:nvPr/>
        </p:nvSpPr>
        <p:spPr>
          <a:xfrm>
            <a:off x="1463040" y="4526280"/>
            <a:ext cx="3520440" cy="457200"/>
          </a:xfrm>
          <a:prstGeom prst="rect">
            <a:avLst/>
          </a:prstGeom>
          <a:noFill/>
          <a:ln/>
        </p:spPr>
        <p:txBody>
          <a:bodyPr wrap="square" lIns="0" tIns="0" rIns="0" bIns="0" rtlCol="0" anchor="t"/>
          <a:lstStyle/>
          <a:p>
            <a:pPr algn="ctr" indent="0" marL="0">
              <a:buNone/>
            </a:pPr>
            <a:r>
              <a:rPr lang="en-US" sz="1300" dirty="0">
                <a:solidFill>
                  <a:srgbClr val="9E4227"/>
                </a:solidFill>
                <a:latin typeface="Helvetica Neue" pitchFamily="34" charset="0"/>
                <a:ea typeface="Helvetica Neue" pitchFamily="34" charset="-122"/>
                <a:cs typeface="Helvetica Neue" pitchFamily="34" charset="-120"/>
              </a:rPr>
              <a:t>one process, four responsibilities</a:t>
            </a:r>
            <a:endParaRPr lang="en-US" sz="1300" dirty="0"/>
          </a:p>
          <a:p>
            <a:pPr algn="ctr" indent="0" marL="0">
              <a:buNone/>
            </a:pPr>
            <a:r>
              <a:rPr lang="en-US" sz="1300" dirty="0">
                <a:solidFill>
                  <a:srgbClr val="9E4227"/>
                </a:solidFill>
                <a:latin typeface="Helvetica Neue" pitchFamily="34" charset="0"/>
                <a:ea typeface="Helvetica Neue" pitchFamily="34" charset="-122"/>
                <a:cs typeface="Helvetica Neue" pitchFamily="34" charset="-120"/>
              </a:rPr>
              <a:t>→ one failure mode</a:t>
            </a:r>
            <a:endParaRPr lang="en-US" sz="1300" dirty="0"/>
          </a:p>
        </p:txBody>
      </p:sp>
      <p:sp>
        <p:nvSpPr>
          <p:cNvPr id="15" name="Shape 12"/>
          <p:cNvSpPr/>
          <p:nvPr/>
        </p:nvSpPr>
        <p:spPr>
          <a:xfrm>
            <a:off x="6263640" y="1325880"/>
            <a:ext cx="5349240" cy="3657600"/>
          </a:xfrm>
          <a:prstGeom prst="roundRect">
            <a:avLst>
              <a:gd name="adj" fmla="val 2000"/>
            </a:avLst>
          </a:prstGeom>
          <a:solidFill>
            <a:srgbClr val="E6DFCE"/>
          </a:solidFill>
          <a:ln/>
        </p:spPr>
      </p:sp>
      <p:sp>
        <p:nvSpPr>
          <p:cNvPr id="16" name="Shape 13"/>
          <p:cNvSpPr/>
          <p:nvPr/>
        </p:nvSpPr>
        <p:spPr>
          <a:xfrm>
            <a:off x="6263640" y="1325880"/>
            <a:ext cx="5349240" cy="384048"/>
          </a:xfrm>
          <a:prstGeom prst="roundRect">
            <a:avLst>
              <a:gd name="adj" fmla="val 19048"/>
            </a:avLst>
          </a:prstGeom>
          <a:solidFill>
            <a:srgbClr val="DDE3CC"/>
          </a:solidFill>
          <a:ln/>
        </p:spPr>
      </p:sp>
      <p:sp>
        <p:nvSpPr>
          <p:cNvPr id="17" name="Text 14"/>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5F7A3A"/>
                </a:solidFill>
                <a:latin typeface="Helvetica Neue" pitchFamily="34" charset="0"/>
                <a:ea typeface="Helvetica Neue" pitchFamily="34" charset="-122"/>
                <a:cs typeface="Helvetica Neue" pitchFamily="34" charset="-120"/>
              </a:rPr>
              <a:t>DATOMIC</a:t>
            </a:r>
            <a:endParaRPr lang="en-US" sz="1250" dirty="0"/>
          </a:p>
        </p:txBody>
      </p:sp>
      <p:sp>
        <p:nvSpPr>
          <p:cNvPr id="18" name="Shape 15"/>
          <p:cNvSpPr/>
          <p:nvPr/>
        </p:nvSpPr>
        <p:spPr>
          <a:xfrm>
            <a:off x="6537960" y="1920240"/>
            <a:ext cx="4800600" cy="548640"/>
          </a:xfrm>
          <a:prstGeom prst="roundRect">
            <a:avLst>
              <a:gd name="adj" fmla="val 10000"/>
            </a:avLst>
          </a:prstGeom>
          <a:solidFill>
            <a:srgbClr val="D3DEE1"/>
          </a:solidFill>
          <a:ln w="15875">
            <a:solidFill>
              <a:srgbClr val="3F6470"/>
            </a:solidFill>
            <a:prstDash val="solid"/>
          </a:ln>
        </p:spPr>
      </p:sp>
      <p:sp>
        <p:nvSpPr>
          <p:cNvPr id="19" name="Text 16"/>
          <p:cNvSpPr/>
          <p:nvPr/>
        </p:nvSpPr>
        <p:spPr>
          <a:xfrm>
            <a:off x="6611112" y="1920240"/>
            <a:ext cx="4654296" cy="548640"/>
          </a:xfrm>
          <a:prstGeom prst="rect">
            <a:avLst/>
          </a:prstGeom>
          <a:noFill/>
          <a:ln/>
        </p:spPr>
        <p:txBody>
          <a:bodyPr wrap="square" lIns="0" tIns="0" rIns="0" bIns="0" rtlCol="0" anchor="ctr">
            <a:normAutofit/>
          </a:bodyPr>
          <a:lstStyle/>
          <a:p>
            <a:pPr algn="l" indent="0" marL="0">
              <a:buNone/>
            </a:pPr>
            <a:r>
              <a:rPr lang="en-US" sz="1300" b="1" dirty="0">
                <a:solidFill>
                  <a:srgbClr val="3A2C1A"/>
                </a:solidFill>
                <a:latin typeface="Helvetica Neue" pitchFamily="34" charset="0"/>
                <a:ea typeface="Helvetica Neue" pitchFamily="34" charset="-122"/>
                <a:cs typeface="Helvetica Neue" pitchFamily="34" charset="-120"/>
              </a:rPr>
              <a:t>query engine</a:t>
            </a:r>
            <a:endParaRPr lang="en-US" sz="1300" dirty="0"/>
          </a:p>
        </p:txBody>
      </p:sp>
      <p:sp>
        <p:nvSpPr>
          <p:cNvPr id="20" name="Text 17"/>
          <p:cNvSpPr/>
          <p:nvPr/>
        </p:nvSpPr>
        <p:spPr>
          <a:xfrm>
            <a:off x="8778240" y="1920240"/>
            <a:ext cx="2423160" cy="548640"/>
          </a:xfrm>
          <a:prstGeom prst="rect">
            <a:avLst/>
          </a:prstGeom>
          <a:noFill/>
          <a:ln/>
        </p:spPr>
        <p:txBody>
          <a:bodyPr wrap="square" lIns="0" tIns="0" rIns="0" bIns="0" rtlCol="0" anchor="ctr"/>
          <a:lstStyle/>
          <a:p>
            <a:pPr algn="r" indent="0" marL="0">
              <a:buNone/>
            </a:pPr>
            <a:r>
              <a:rPr lang="en-US" sz="1150" dirty="0">
                <a:solidFill>
                  <a:srgbClr val="6B5A44"/>
                </a:solidFill>
                <a:latin typeface="Helvetica Neue" pitchFamily="34" charset="0"/>
                <a:ea typeface="Helvetica Neue" pitchFamily="34" charset="-122"/>
                <a:cs typeface="Helvetica Neue" pitchFamily="34" charset="-120"/>
              </a:rPr>
              <a:t>peer — local</a:t>
            </a:r>
            <a:endParaRPr lang="en-US" sz="1150" dirty="0"/>
          </a:p>
        </p:txBody>
      </p:sp>
      <p:sp>
        <p:nvSpPr>
          <p:cNvPr id="21" name="Shape 18"/>
          <p:cNvSpPr/>
          <p:nvPr/>
        </p:nvSpPr>
        <p:spPr>
          <a:xfrm>
            <a:off x="6537960" y="2578608"/>
            <a:ext cx="4800600" cy="548640"/>
          </a:xfrm>
          <a:prstGeom prst="roundRect">
            <a:avLst>
              <a:gd name="adj" fmla="val 10000"/>
            </a:avLst>
          </a:prstGeom>
          <a:solidFill>
            <a:srgbClr val="DDE3CC"/>
          </a:solidFill>
          <a:ln w="15875">
            <a:solidFill>
              <a:srgbClr val="5F7A3A"/>
            </a:solidFill>
            <a:prstDash val="solid"/>
          </a:ln>
        </p:spPr>
      </p:sp>
      <p:sp>
        <p:nvSpPr>
          <p:cNvPr id="22" name="Text 19"/>
          <p:cNvSpPr/>
          <p:nvPr/>
        </p:nvSpPr>
        <p:spPr>
          <a:xfrm>
            <a:off x="6611112" y="2578608"/>
            <a:ext cx="4654296" cy="548640"/>
          </a:xfrm>
          <a:prstGeom prst="rect">
            <a:avLst/>
          </a:prstGeom>
          <a:noFill/>
          <a:ln/>
        </p:spPr>
        <p:txBody>
          <a:bodyPr wrap="square" lIns="0" tIns="0" rIns="0" bIns="0" rtlCol="0" anchor="ctr">
            <a:normAutofit/>
          </a:bodyPr>
          <a:lstStyle/>
          <a:p>
            <a:pPr algn="l" indent="0" marL="0">
              <a:buNone/>
            </a:pPr>
            <a:r>
              <a:rPr lang="en-US" sz="1300" b="1" dirty="0">
                <a:solidFill>
                  <a:srgbClr val="3A2C1A"/>
                </a:solidFill>
                <a:latin typeface="Helvetica Neue" pitchFamily="34" charset="0"/>
                <a:ea typeface="Helvetica Neue" pitchFamily="34" charset="-122"/>
                <a:cs typeface="Helvetica Neue" pitchFamily="34" charset="-120"/>
              </a:rPr>
              <a:t>writer</a:t>
            </a:r>
            <a:endParaRPr lang="en-US" sz="1300" dirty="0"/>
          </a:p>
        </p:txBody>
      </p:sp>
      <p:sp>
        <p:nvSpPr>
          <p:cNvPr id="23" name="Text 20"/>
          <p:cNvSpPr/>
          <p:nvPr/>
        </p:nvSpPr>
        <p:spPr>
          <a:xfrm>
            <a:off x="8778240" y="2578608"/>
            <a:ext cx="2423160" cy="548640"/>
          </a:xfrm>
          <a:prstGeom prst="rect">
            <a:avLst/>
          </a:prstGeom>
          <a:noFill/>
          <a:ln/>
        </p:spPr>
        <p:txBody>
          <a:bodyPr wrap="square" lIns="0" tIns="0" rIns="0" bIns="0" rtlCol="0" anchor="ctr"/>
          <a:lstStyle/>
          <a:p>
            <a:pPr algn="r" indent="0" marL="0">
              <a:buNone/>
            </a:pPr>
            <a:r>
              <a:rPr lang="en-US" sz="1150" dirty="0">
                <a:solidFill>
                  <a:srgbClr val="6B5A44"/>
                </a:solidFill>
                <a:latin typeface="Helvetica Neue" pitchFamily="34" charset="0"/>
                <a:ea typeface="Helvetica Neue" pitchFamily="34" charset="-122"/>
                <a:cs typeface="Helvetica Neue" pitchFamily="34" charset="-120"/>
              </a:rPr>
              <a:t>transactor — HA</a:t>
            </a:r>
            <a:endParaRPr lang="en-US" sz="1150" dirty="0"/>
          </a:p>
        </p:txBody>
      </p:sp>
      <p:sp>
        <p:nvSpPr>
          <p:cNvPr id="24" name="Shape 21"/>
          <p:cNvSpPr/>
          <p:nvPr/>
        </p:nvSpPr>
        <p:spPr>
          <a:xfrm>
            <a:off x="6537960" y="3236976"/>
            <a:ext cx="4800600" cy="548640"/>
          </a:xfrm>
          <a:prstGeom prst="roundRect">
            <a:avLst>
              <a:gd name="adj" fmla="val 10000"/>
            </a:avLst>
          </a:prstGeom>
          <a:solidFill>
            <a:srgbClr val="E6DFCE"/>
          </a:solidFill>
          <a:ln w="15875">
            <a:solidFill>
              <a:srgbClr val="C9BDA4"/>
            </a:solidFill>
            <a:prstDash val="solid"/>
          </a:ln>
        </p:spPr>
      </p:sp>
      <p:sp>
        <p:nvSpPr>
          <p:cNvPr id="25" name="Text 22"/>
          <p:cNvSpPr/>
          <p:nvPr/>
        </p:nvSpPr>
        <p:spPr>
          <a:xfrm>
            <a:off x="6611112" y="3236976"/>
            <a:ext cx="4654296" cy="548640"/>
          </a:xfrm>
          <a:prstGeom prst="rect">
            <a:avLst/>
          </a:prstGeom>
          <a:noFill/>
          <a:ln/>
        </p:spPr>
        <p:txBody>
          <a:bodyPr wrap="square" lIns="0" tIns="0" rIns="0" bIns="0" rtlCol="0" anchor="ctr">
            <a:normAutofit/>
          </a:bodyPr>
          <a:lstStyle/>
          <a:p>
            <a:pPr algn="l" indent="0" marL="0">
              <a:buNone/>
            </a:pPr>
            <a:r>
              <a:rPr lang="en-US" sz="1300" b="1" dirty="0">
                <a:solidFill>
                  <a:srgbClr val="3A2C1A"/>
                </a:solidFill>
                <a:latin typeface="Helvetica Neue" pitchFamily="34" charset="0"/>
                <a:ea typeface="Helvetica Neue" pitchFamily="34" charset="-122"/>
                <a:cs typeface="Helvetica Neue" pitchFamily="34" charset="-120"/>
              </a:rPr>
              <a:t>cache</a:t>
            </a:r>
            <a:endParaRPr lang="en-US" sz="1300" dirty="0"/>
          </a:p>
        </p:txBody>
      </p:sp>
      <p:sp>
        <p:nvSpPr>
          <p:cNvPr id="26" name="Text 23"/>
          <p:cNvSpPr/>
          <p:nvPr/>
        </p:nvSpPr>
        <p:spPr>
          <a:xfrm>
            <a:off x="8778240" y="3236976"/>
            <a:ext cx="2423160" cy="548640"/>
          </a:xfrm>
          <a:prstGeom prst="rect">
            <a:avLst/>
          </a:prstGeom>
          <a:noFill/>
          <a:ln/>
        </p:spPr>
        <p:txBody>
          <a:bodyPr wrap="square" lIns="0" tIns="0" rIns="0" bIns="0" rtlCol="0" anchor="ctr"/>
          <a:lstStyle/>
          <a:p>
            <a:pPr algn="r" indent="0" marL="0">
              <a:buNone/>
            </a:pPr>
            <a:r>
              <a:rPr lang="en-US" sz="1150" dirty="0">
                <a:solidFill>
                  <a:srgbClr val="6B5A44"/>
                </a:solidFill>
                <a:latin typeface="Helvetica Neue" pitchFamily="34" charset="0"/>
                <a:ea typeface="Helvetica Neue" pitchFamily="34" charset="-122"/>
                <a:cs typeface="Helvetica Neue" pitchFamily="34" charset="-120"/>
              </a:rPr>
              <a:t>4 tiers — Part III</a:t>
            </a:r>
            <a:endParaRPr lang="en-US" sz="1150" dirty="0"/>
          </a:p>
        </p:txBody>
      </p:sp>
      <p:sp>
        <p:nvSpPr>
          <p:cNvPr id="27" name="Shape 24"/>
          <p:cNvSpPr/>
          <p:nvPr/>
        </p:nvSpPr>
        <p:spPr>
          <a:xfrm>
            <a:off x="6537960" y="3895344"/>
            <a:ext cx="4800600" cy="548640"/>
          </a:xfrm>
          <a:prstGeom prst="roundRect">
            <a:avLst>
              <a:gd name="adj" fmla="val 10000"/>
            </a:avLst>
          </a:prstGeom>
          <a:solidFill>
            <a:srgbClr val="DFD6C0"/>
          </a:solidFill>
          <a:ln w="15875">
            <a:solidFill>
              <a:srgbClr val="9A8A72"/>
            </a:solidFill>
            <a:prstDash val="solid"/>
          </a:ln>
        </p:spPr>
      </p:sp>
      <p:sp>
        <p:nvSpPr>
          <p:cNvPr id="28" name="Text 25"/>
          <p:cNvSpPr/>
          <p:nvPr/>
        </p:nvSpPr>
        <p:spPr>
          <a:xfrm>
            <a:off x="6611112" y="3895344"/>
            <a:ext cx="4654296" cy="548640"/>
          </a:xfrm>
          <a:prstGeom prst="rect">
            <a:avLst/>
          </a:prstGeom>
          <a:noFill/>
          <a:ln/>
        </p:spPr>
        <p:txBody>
          <a:bodyPr wrap="square" lIns="0" tIns="0" rIns="0" bIns="0" rtlCol="0" anchor="ctr">
            <a:normAutofit/>
          </a:bodyPr>
          <a:lstStyle/>
          <a:p>
            <a:pPr algn="l" indent="0" marL="0">
              <a:buNone/>
            </a:pPr>
            <a:r>
              <a:rPr lang="en-US" sz="1300" b="1" dirty="0">
                <a:solidFill>
                  <a:srgbClr val="3A2C1A"/>
                </a:solidFill>
                <a:latin typeface="Helvetica Neue" pitchFamily="34" charset="0"/>
                <a:ea typeface="Helvetica Neue" pitchFamily="34" charset="-122"/>
                <a:cs typeface="Helvetica Neue" pitchFamily="34" charset="-120"/>
              </a:rPr>
              <a:t>durability</a:t>
            </a:r>
            <a:endParaRPr lang="en-US" sz="1300" dirty="0"/>
          </a:p>
        </p:txBody>
      </p:sp>
      <p:sp>
        <p:nvSpPr>
          <p:cNvPr id="29" name="Text 26"/>
          <p:cNvSpPr/>
          <p:nvPr/>
        </p:nvSpPr>
        <p:spPr>
          <a:xfrm>
            <a:off x="8778240" y="3895344"/>
            <a:ext cx="2423160" cy="548640"/>
          </a:xfrm>
          <a:prstGeom prst="rect">
            <a:avLst/>
          </a:prstGeom>
          <a:noFill/>
          <a:ln/>
        </p:spPr>
        <p:txBody>
          <a:bodyPr wrap="square" lIns="0" tIns="0" rIns="0" bIns="0" rtlCol="0" anchor="ctr"/>
          <a:lstStyle/>
          <a:p>
            <a:pPr algn="r" indent="0" marL="0">
              <a:buNone/>
            </a:pPr>
            <a:r>
              <a:rPr lang="en-US" sz="1150" dirty="0">
                <a:solidFill>
                  <a:srgbClr val="6B5A44"/>
                </a:solidFill>
                <a:latin typeface="Helvetica Neue" pitchFamily="34" charset="0"/>
                <a:ea typeface="Helvetica Neue" pitchFamily="34" charset="-122"/>
                <a:cs typeface="Helvetica Neue" pitchFamily="34" charset="-120"/>
              </a:rPr>
              <a:t>storage — replicate it</a:t>
            </a:r>
            <a:endParaRPr lang="en-US" sz="1150" dirty="0"/>
          </a:p>
        </p:txBody>
      </p:sp>
      <p:sp>
        <p:nvSpPr>
          <p:cNvPr id="30" name="Text 27"/>
          <p:cNvSpPr/>
          <p:nvPr/>
        </p:nvSpPr>
        <p:spPr>
          <a:xfrm>
            <a:off x="6537960" y="4526280"/>
            <a:ext cx="4800600" cy="457200"/>
          </a:xfrm>
          <a:prstGeom prst="rect">
            <a:avLst/>
          </a:prstGeom>
          <a:noFill/>
          <a:ln/>
        </p:spPr>
        <p:txBody>
          <a:bodyPr wrap="square" lIns="0" tIns="0" rIns="0" bIns="0" rtlCol="0" anchor="t"/>
          <a:lstStyle/>
          <a:p>
            <a:pPr algn="ctr" indent="0" marL="0">
              <a:buNone/>
            </a:pPr>
            <a:r>
              <a:rPr lang="en-US" sz="1300" dirty="0">
                <a:solidFill>
                  <a:srgbClr val="5F7A3A"/>
                </a:solidFill>
                <a:latin typeface="Helvetica Neue" pitchFamily="34" charset="0"/>
                <a:ea typeface="Helvetica Neue" pitchFamily="34" charset="-122"/>
                <a:cs typeface="Helvetica Neue" pitchFamily="34" charset="-120"/>
              </a:rPr>
              <a:t>four processes, four failure modes</a:t>
            </a:r>
            <a:endParaRPr lang="en-US" sz="1300" dirty="0"/>
          </a:p>
          <a:p>
            <a:pPr algn="ctr" indent="0" marL="0">
              <a:buNone/>
            </a:pPr>
            <a:r>
              <a:rPr lang="en-US" sz="1300" dirty="0">
                <a:solidFill>
                  <a:srgbClr val="5F7A3A"/>
                </a:solidFill>
                <a:latin typeface="Helvetica Neue" pitchFamily="34" charset="0"/>
                <a:ea typeface="Helvetica Neue" pitchFamily="34" charset="-122"/>
                <a:cs typeface="Helvetica Neue" pitchFamily="34" charset="-120"/>
              </a:rPr>
              <a:t>→ three of them survivable</a:t>
            </a:r>
            <a:endParaRPr lang="en-US" sz="1300" dirty="0"/>
          </a:p>
        </p:txBody>
      </p:sp>
      <p:sp>
        <p:nvSpPr>
          <p:cNvPr id="31" name="Shape 28"/>
          <p:cNvSpPr/>
          <p:nvPr/>
        </p:nvSpPr>
        <p:spPr>
          <a:xfrm>
            <a:off x="548640" y="5257800"/>
            <a:ext cx="54864" cy="457200"/>
          </a:xfrm>
          <a:prstGeom prst="rect">
            <a:avLst/>
          </a:prstGeom>
          <a:solidFill>
            <a:srgbClr val="A8864A"/>
          </a:solidFill>
          <a:ln/>
        </p:spPr>
      </p:sp>
      <p:sp>
        <p:nvSpPr>
          <p:cNvPr id="32" name="Text 29"/>
          <p:cNvSpPr/>
          <p:nvPr/>
        </p:nvSpPr>
        <p:spPr>
          <a:xfrm>
            <a:off x="777240" y="525780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Separate processes fail separately. That is the whole operational thesis of this class.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 · THE FAILURE MAP</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8</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asymmetry: reads fan out, writes funnel in</a:t>
            </a:r>
            <a:endParaRPr lang="en-US" sz="2500" dirty="0"/>
          </a:p>
        </p:txBody>
      </p:sp>
      <p:sp>
        <p:nvSpPr>
          <p:cNvPr id="8" name="Shape 5"/>
          <p:cNvSpPr/>
          <p:nvPr/>
        </p:nvSpPr>
        <p:spPr>
          <a:xfrm>
            <a:off x="548640" y="1325880"/>
            <a:ext cx="5349240" cy="3931920"/>
          </a:xfrm>
          <a:prstGeom prst="roundRect">
            <a:avLst>
              <a:gd name="adj" fmla="val 1860"/>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DFD6C0"/>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READS  —  fan out</a:t>
            </a:r>
            <a:endParaRPr lang="en-US" sz="1250" dirty="0"/>
          </a:p>
        </p:txBody>
      </p:sp>
      <p:sp>
        <p:nvSpPr>
          <p:cNvPr id="11" name="Shape 8"/>
          <p:cNvSpPr/>
          <p:nvPr/>
        </p:nvSpPr>
        <p:spPr>
          <a:xfrm>
            <a:off x="2331720" y="1874520"/>
            <a:ext cx="1783080" cy="566928"/>
          </a:xfrm>
          <a:prstGeom prst="roundRect">
            <a:avLst>
              <a:gd name="adj" fmla="val 9677"/>
            </a:avLst>
          </a:prstGeom>
          <a:solidFill>
            <a:srgbClr val="DFD6C0"/>
          </a:solidFill>
          <a:ln/>
        </p:spPr>
      </p:sp>
      <p:sp>
        <p:nvSpPr>
          <p:cNvPr id="12" name="Text 9"/>
          <p:cNvSpPr/>
          <p:nvPr/>
        </p:nvSpPr>
        <p:spPr>
          <a:xfrm>
            <a:off x="2404872" y="1874520"/>
            <a:ext cx="1636776" cy="566928"/>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clients</a:t>
            </a:r>
            <a:endParaRPr lang="en-US" sz="1300" dirty="0"/>
          </a:p>
        </p:txBody>
      </p:sp>
      <p:sp>
        <p:nvSpPr>
          <p:cNvPr id="13" name="Shape 10"/>
          <p:cNvSpPr/>
          <p:nvPr/>
        </p:nvSpPr>
        <p:spPr>
          <a:xfrm flipH="1">
            <a:off x="1554480" y="2441448"/>
            <a:ext cx="1645920" cy="484632"/>
          </a:xfrm>
          <a:prstGeom prst="line">
            <a:avLst/>
          </a:prstGeom>
          <a:noFill/>
          <a:ln w="19050">
            <a:solidFill>
              <a:srgbClr val="3F6470"/>
            </a:solidFill>
            <a:prstDash val="solid"/>
            <a:headEnd type="none"/>
            <a:tailEnd type="triangle"/>
          </a:ln>
        </p:spPr>
      </p:sp>
      <p:sp>
        <p:nvSpPr>
          <p:cNvPr id="14" name="Shape 11"/>
          <p:cNvSpPr/>
          <p:nvPr/>
        </p:nvSpPr>
        <p:spPr>
          <a:xfrm>
            <a:off x="868680" y="2926080"/>
            <a:ext cx="1371600" cy="566928"/>
          </a:xfrm>
          <a:prstGeom prst="roundRect">
            <a:avLst>
              <a:gd name="adj" fmla="val 9677"/>
            </a:avLst>
          </a:prstGeom>
          <a:solidFill>
            <a:srgbClr val="D3DEE1"/>
          </a:solidFill>
          <a:ln w="15875">
            <a:solidFill>
              <a:srgbClr val="3F6470"/>
            </a:solidFill>
            <a:prstDash val="solid"/>
          </a:ln>
        </p:spPr>
      </p:sp>
      <p:sp>
        <p:nvSpPr>
          <p:cNvPr id="15" name="Text 12"/>
          <p:cNvSpPr/>
          <p:nvPr/>
        </p:nvSpPr>
        <p:spPr>
          <a:xfrm>
            <a:off x="941832" y="292608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16" name="Shape 13"/>
          <p:cNvSpPr/>
          <p:nvPr/>
        </p:nvSpPr>
        <p:spPr>
          <a:xfrm>
            <a:off x="1554480" y="3493008"/>
            <a:ext cx="0" cy="576072"/>
          </a:xfrm>
          <a:prstGeom prst="line">
            <a:avLst/>
          </a:prstGeom>
          <a:noFill/>
          <a:ln w="19050">
            <a:solidFill>
              <a:srgbClr val="3F6470"/>
            </a:solidFill>
            <a:prstDash val="dash"/>
            <a:headEnd type="none"/>
            <a:tailEnd type="triangle"/>
          </a:ln>
        </p:spPr>
      </p:sp>
      <p:sp>
        <p:nvSpPr>
          <p:cNvPr id="17" name="Shape 14"/>
          <p:cNvSpPr/>
          <p:nvPr/>
        </p:nvSpPr>
        <p:spPr>
          <a:xfrm>
            <a:off x="3200400" y="2441448"/>
            <a:ext cx="45720" cy="484632"/>
          </a:xfrm>
          <a:prstGeom prst="line">
            <a:avLst/>
          </a:prstGeom>
          <a:noFill/>
          <a:ln w="19050">
            <a:solidFill>
              <a:srgbClr val="3F6470"/>
            </a:solidFill>
            <a:prstDash val="solid"/>
            <a:headEnd type="none"/>
            <a:tailEnd type="triangle"/>
          </a:ln>
        </p:spPr>
      </p:sp>
      <p:sp>
        <p:nvSpPr>
          <p:cNvPr id="18" name="Shape 15"/>
          <p:cNvSpPr/>
          <p:nvPr/>
        </p:nvSpPr>
        <p:spPr>
          <a:xfrm>
            <a:off x="2560320" y="2926080"/>
            <a:ext cx="1371600" cy="566928"/>
          </a:xfrm>
          <a:prstGeom prst="roundRect">
            <a:avLst>
              <a:gd name="adj" fmla="val 9677"/>
            </a:avLst>
          </a:prstGeom>
          <a:solidFill>
            <a:srgbClr val="D3DEE1"/>
          </a:solidFill>
          <a:ln w="15875">
            <a:solidFill>
              <a:srgbClr val="3F6470"/>
            </a:solidFill>
            <a:prstDash val="solid"/>
          </a:ln>
        </p:spPr>
      </p:sp>
      <p:sp>
        <p:nvSpPr>
          <p:cNvPr id="19" name="Text 16"/>
          <p:cNvSpPr/>
          <p:nvPr/>
        </p:nvSpPr>
        <p:spPr>
          <a:xfrm>
            <a:off x="2633472" y="292608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20" name="Shape 17"/>
          <p:cNvSpPr/>
          <p:nvPr/>
        </p:nvSpPr>
        <p:spPr>
          <a:xfrm>
            <a:off x="3246120" y="3493008"/>
            <a:ext cx="0" cy="576072"/>
          </a:xfrm>
          <a:prstGeom prst="line">
            <a:avLst/>
          </a:prstGeom>
          <a:noFill/>
          <a:ln w="19050">
            <a:solidFill>
              <a:srgbClr val="3F6470"/>
            </a:solidFill>
            <a:prstDash val="dash"/>
            <a:headEnd type="none"/>
            <a:tailEnd type="triangle"/>
          </a:ln>
        </p:spPr>
      </p:sp>
      <p:sp>
        <p:nvSpPr>
          <p:cNvPr id="21" name="Shape 18"/>
          <p:cNvSpPr/>
          <p:nvPr/>
        </p:nvSpPr>
        <p:spPr>
          <a:xfrm>
            <a:off x="3200400" y="2441448"/>
            <a:ext cx="1737360" cy="484632"/>
          </a:xfrm>
          <a:prstGeom prst="line">
            <a:avLst/>
          </a:prstGeom>
          <a:noFill/>
          <a:ln w="19050">
            <a:solidFill>
              <a:srgbClr val="3F6470"/>
            </a:solidFill>
            <a:prstDash val="solid"/>
            <a:headEnd type="none"/>
            <a:tailEnd type="triangle"/>
          </a:ln>
        </p:spPr>
      </p:sp>
      <p:sp>
        <p:nvSpPr>
          <p:cNvPr id="22" name="Shape 19"/>
          <p:cNvSpPr/>
          <p:nvPr/>
        </p:nvSpPr>
        <p:spPr>
          <a:xfrm>
            <a:off x="4251960" y="2926080"/>
            <a:ext cx="1371600" cy="566928"/>
          </a:xfrm>
          <a:prstGeom prst="roundRect">
            <a:avLst>
              <a:gd name="adj" fmla="val 9677"/>
            </a:avLst>
          </a:prstGeom>
          <a:solidFill>
            <a:srgbClr val="D3DEE1"/>
          </a:solidFill>
          <a:ln w="15875">
            <a:solidFill>
              <a:srgbClr val="3F6470"/>
            </a:solidFill>
            <a:prstDash val="solid"/>
          </a:ln>
        </p:spPr>
      </p:sp>
      <p:sp>
        <p:nvSpPr>
          <p:cNvPr id="23" name="Text 20"/>
          <p:cNvSpPr/>
          <p:nvPr/>
        </p:nvSpPr>
        <p:spPr>
          <a:xfrm>
            <a:off x="4325112" y="292608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24" name="Shape 21"/>
          <p:cNvSpPr/>
          <p:nvPr/>
        </p:nvSpPr>
        <p:spPr>
          <a:xfrm>
            <a:off x="4937760" y="3493008"/>
            <a:ext cx="0" cy="576072"/>
          </a:xfrm>
          <a:prstGeom prst="line">
            <a:avLst/>
          </a:prstGeom>
          <a:noFill/>
          <a:ln w="19050">
            <a:solidFill>
              <a:srgbClr val="3F6470"/>
            </a:solidFill>
            <a:prstDash val="dash"/>
            <a:headEnd type="none"/>
            <a:tailEnd type="triangle"/>
          </a:ln>
        </p:spPr>
      </p:sp>
      <p:sp>
        <p:nvSpPr>
          <p:cNvPr id="25" name="Shape 22"/>
          <p:cNvSpPr/>
          <p:nvPr/>
        </p:nvSpPr>
        <p:spPr>
          <a:xfrm>
            <a:off x="868680" y="4069080"/>
            <a:ext cx="4709160" cy="548640"/>
          </a:xfrm>
          <a:prstGeom prst="roundRect">
            <a:avLst>
              <a:gd name="adj" fmla="val 10000"/>
            </a:avLst>
          </a:prstGeom>
          <a:solidFill>
            <a:srgbClr val="2C2416"/>
          </a:solidFill>
          <a:ln/>
        </p:spPr>
      </p:sp>
      <p:sp>
        <p:nvSpPr>
          <p:cNvPr id="26" name="Text 23"/>
          <p:cNvSpPr/>
          <p:nvPr/>
        </p:nvSpPr>
        <p:spPr>
          <a:xfrm>
            <a:off x="941832" y="4069080"/>
            <a:ext cx="4562856" cy="548640"/>
          </a:xfrm>
          <a:prstGeom prst="rect">
            <a:avLst/>
          </a:prstGeom>
          <a:noFill/>
          <a:ln/>
        </p:spPr>
        <p:txBody>
          <a:bodyPr wrap="square" lIns="0" tIns="0" rIns="0" bIns="0" rtlCol="0" anchor="ctr">
            <a:normAutofit/>
          </a:bodyPr>
          <a:lstStyle/>
          <a:p>
            <a:pPr algn="ctr" indent="0" marL="0">
              <a:buNone/>
            </a:pPr>
            <a:r>
              <a:rPr lang="en-US" sz="1200" b="1" dirty="0">
                <a:solidFill>
                  <a:srgbClr val="FCFAF4"/>
                </a:solidFill>
                <a:latin typeface="Helvetica Neue" pitchFamily="34" charset="0"/>
                <a:ea typeface="Helvetica Neue" pitchFamily="34" charset="-122"/>
                <a:cs typeface="Helvetica Neue" pitchFamily="34" charset="-120"/>
              </a:rPr>
              <a:t>caches, then storage</a:t>
            </a:r>
            <a:endParaRPr lang="en-US" sz="1200" dirty="0"/>
          </a:p>
        </p:txBody>
      </p:sp>
      <p:sp>
        <p:nvSpPr>
          <p:cNvPr id="27" name="Text 24"/>
          <p:cNvSpPr/>
          <p:nvPr/>
        </p:nvSpPr>
        <p:spPr>
          <a:xfrm>
            <a:off x="868680" y="4709160"/>
            <a:ext cx="4709160" cy="365760"/>
          </a:xfrm>
          <a:prstGeom prst="rect">
            <a:avLst/>
          </a:prstGeom>
          <a:noFill/>
          <a:ln/>
        </p:spPr>
        <p:txBody>
          <a:bodyPr wrap="square" lIns="0" tIns="0" rIns="0" bIns="0" rtlCol="0" anchor="t"/>
          <a:lstStyle/>
          <a:p>
            <a:pPr algn="ctr" indent="0" marL="0">
              <a:buNone/>
            </a:pPr>
            <a:r>
              <a:rPr lang="en-US" sz="1250" b="1" dirty="0">
                <a:solidFill>
                  <a:srgbClr val="3F6470"/>
                </a:solidFill>
                <a:latin typeface="Helvetica Neue" pitchFamily="34" charset="0"/>
                <a:ea typeface="Helvetica Neue" pitchFamily="34" charset="-122"/>
                <a:cs typeface="Helvetica Neue" pitchFamily="34" charset="-120"/>
              </a:rPr>
              <a:t>parallel · independent of the transactor</a:t>
            </a:r>
            <a:endParaRPr lang="en-US" sz="1250" dirty="0"/>
          </a:p>
        </p:txBody>
      </p:sp>
      <p:sp>
        <p:nvSpPr>
          <p:cNvPr id="28" name="Shape 25"/>
          <p:cNvSpPr/>
          <p:nvPr/>
        </p:nvSpPr>
        <p:spPr>
          <a:xfrm>
            <a:off x="6263640" y="1325880"/>
            <a:ext cx="5349240" cy="3931920"/>
          </a:xfrm>
          <a:prstGeom prst="roundRect">
            <a:avLst>
              <a:gd name="adj" fmla="val 1860"/>
            </a:avLst>
          </a:prstGeom>
          <a:solidFill>
            <a:srgbClr val="E6DFCE"/>
          </a:solidFill>
          <a:ln/>
        </p:spPr>
      </p:sp>
      <p:sp>
        <p:nvSpPr>
          <p:cNvPr id="29" name="Shape 26"/>
          <p:cNvSpPr/>
          <p:nvPr/>
        </p:nvSpPr>
        <p:spPr>
          <a:xfrm>
            <a:off x="6263640" y="1325880"/>
            <a:ext cx="5349240" cy="384048"/>
          </a:xfrm>
          <a:prstGeom prst="roundRect">
            <a:avLst>
              <a:gd name="adj" fmla="val 19048"/>
            </a:avLst>
          </a:prstGeom>
          <a:solidFill>
            <a:srgbClr val="DFD6C0"/>
          </a:solidFill>
          <a:ln/>
        </p:spPr>
      </p:sp>
      <p:sp>
        <p:nvSpPr>
          <p:cNvPr id="30" name="Text 27"/>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WRITES  —  funnel in</a:t>
            </a:r>
            <a:endParaRPr lang="en-US" sz="1250" dirty="0"/>
          </a:p>
        </p:txBody>
      </p:sp>
      <p:sp>
        <p:nvSpPr>
          <p:cNvPr id="31" name="Shape 28"/>
          <p:cNvSpPr/>
          <p:nvPr/>
        </p:nvSpPr>
        <p:spPr>
          <a:xfrm>
            <a:off x="6583680" y="1874520"/>
            <a:ext cx="1371600" cy="566928"/>
          </a:xfrm>
          <a:prstGeom prst="roundRect">
            <a:avLst>
              <a:gd name="adj" fmla="val 9677"/>
            </a:avLst>
          </a:prstGeom>
          <a:solidFill>
            <a:srgbClr val="E6DFCE"/>
          </a:solidFill>
          <a:ln w="15875">
            <a:solidFill>
              <a:srgbClr val="C9BDA4"/>
            </a:solidFill>
            <a:prstDash val="solid"/>
          </a:ln>
        </p:spPr>
      </p:sp>
      <p:sp>
        <p:nvSpPr>
          <p:cNvPr id="32" name="Text 29"/>
          <p:cNvSpPr/>
          <p:nvPr/>
        </p:nvSpPr>
        <p:spPr>
          <a:xfrm>
            <a:off x="6656832" y="187452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33" name="Shape 30"/>
          <p:cNvSpPr/>
          <p:nvPr/>
        </p:nvSpPr>
        <p:spPr>
          <a:xfrm>
            <a:off x="7269480" y="2441448"/>
            <a:ext cx="1673352" cy="484632"/>
          </a:xfrm>
          <a:prstGeom prst="line">
            <a:avLst/>
          </a:prstGeom>
          <a:noFill/>
          <a:ln w="19050">
            <a:solidFill>
              <a:srgbClr val="B5822B"/>
            </a:solidFill>
            <a:prstDash val="solid"/>
            <a:headEnd type="none"/>
            <a:tailEnd type="triangle"/>
          </a:ln>
        </p:spPr>
      </p:sp>
      <p:sp>
        <p:nvSpPr>
          <p:cNvPr id="34" name="Shape 31"/>
          <p:cNvSpPr/>
          <p:nvPr/>
        </p:nvSpPr>
        <p:spPr>
          <a:xfrm>
            <a:off x="8275320" y="1874520"/>
            <a:ext cx="1371600" cy="566928"/>
          </a:xfrm>
          <a:prstGeom prst="roundRect">
            <a:avLst>
              <a:gd name="adj" fmla="val 9677"/>
            </a:avLst>
          </a:prstGeom>
          <a:solidFill>
            <a:srgbClr val="E6DFCE"/>
          </a:solidFill>
          <a:ln w="15875">
            <a:solidFill>
              <a:srgbClr val="C9BDA4"/>
            </a:solidFill>
            <a:prstDash val="solid"/>
          </a:ln>
        </p:spPr>
      </p:sp>
      <p:sp>
        <p:nvSpPr>
          <p:cNvPr id="35" name="Text 32"/>
          <p:cNvSpPr/>
          <p:nvPr/>
        </p:nvSpPr>
        <p:spPr>
          <a:xfrm>
            <a:off x="8348472" y="187452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36" name="Shape 33"/>
          <p:cNvSpPr/>
          <p:nvPr/>
        </p:nvSpPr>
        <p:spPr>
          <a:xfrm flipH="1">
            <a:off x="8942832" y="2441448"/>
            <a:ext cx="18288" cy="484632"/>
          </a:xfrm>
          <a:prstGeom prst="line">
            <a:avLst/>
          </a:prstGeom>
          <a:noFill/>
          <a:ln w="19050">
            <a:solidFill>
              <a:srgbClr val="B5822B"/>
            </a:solidFill>
            <a:prstDash val="solid"/>
            <a:headEnd type="none"/>
            <a:tailEnd type="triangle"/>
          </a:ln>
        </p:spPr>
      </p:sp>
      <p:sp>
        <p:nvSpPr>
          <p:cNvPr id="37" name="Shape 34"/>
          <p:cNvSpPr/>
          <p:nvPr/>
        </p:nvSpPr>
        <p:spPr>
          <a:xfrm>
            <a:off x="9966960" y="1874520"/>
            <a:ext cx="1371600" cy="566928"/>
          </a:xfrm>
          <a:prstGeom prst="roundRect">
            <a:avLst>
              <a:gd name="adj" fmla="val 9677"/>
            </a:avLst>
          </a:prstGeom>
          <a:solidFill>
            <a:srgbClr val="E6DFCE"/>
          </a:solidFill>
          <a:ln w="15875">
            <a:solidFill>
              <a:srgbClr val="C9BDA4"/>
            </a:solidFill>
            <a:prstDash val="solid"/>
          </a:ln>
        </p:spPr>
      </p:sp>
      <p:sp>
        <p:nvSpPr>
          <p:cNvPr id="38" name="Text 35"/>
          <p:cNvSpPr/>
          <p:nvPr/>
        </p:nvSpPr>
        <p:spPr>
          <a:xfrm>
            <a:off x="10040112" y="1874520"/>
            <a:ext cx="1225296" cy="566928"/>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39" name="Shape 36"/>
          <p:cNvSpPr/>
          <p:nvPr/>
        </p:nvSpPr>
        <p:spPr>
          <a:xfrm flipH="1">
            <a:off x="8942832" y="2441448"/>
            <a:ext cx="1709928" cy="484632"/>
          </a:xfrm>
          <a:prstGeom prst="line">
            <a:avLst/>
          </a:prstGeom>
          <a:noFill/>
          <a:ln w="19050">
            <a:solidFill>
              <a:srgbClr val="B5822B"/>
            </a:solidFill>
            <a:prstDash val="solid"/>
            <a:headEnd type="none"/>
            <a:tailEnd type="triangle"/>
          </a:ln>
        </p:spPr>
      </p:sp>
      <p:sp>
        <p:nvSpPr>
          <p:cNvPr id="40" name="Shape 37"/>
          <p:cNvSpPr/>
          <p:nvPr/>
        </p:nvSpPr>
        <p:spPr>
          <a:xfrm>
            <a:off x="7772400" y="2926080"/>
            <a:ext cx="2331720" cy="566928"/>
          </a:xfrm>
          <a:prstGeom prst="roundRect">
            <a:avLst>
              <a:gd name="adj" fmla="val 9677"/>
            </a:avLst>
          </a:prstGeom>
          <a:solidFill>
            <a:srgbClr val="EDE0C4"/>
          </a:solidFill>
          <a:ln w="15875">
            <a:solidFill>
              <a:srgbClr val="B5822B"/>
            </a:solidFill>
            <a:prstDash val="solid"/>
          </a:ln>
        </p:spPr>
      </p:sp>
      <p:sp>
        <p:nvSpPr>
          <p:cNvPr id="41" name="Text 38"/>
          <p:cNvSpPr/>
          <p:nvPr/>
        </p:nvSpPr>
        <p:spPr>
          <a:xfrm>
            <a:off x="7845552" y="2926080"/>
            <a:ext cx="2185416" cy="566928"/>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ONE transactor</a:t>
            </a:r>
            <a:endParaRPr lang="en-US" sz="1300" dirty="0"/>
          </a:p>
        </p:txBody>
      </p:sp>
      <p:sp>
        <p:nvSpPr>
          <p:cNvPr id="42" name="Shape 39"/>
          <p:cNvSpPr/>
          <p:nvPr/>
        </p:nvSpPr>
        <p:spPr>
          <a:xfrm>
            <a:off x="8942832" y="3493008"/>
            <a:ext cx="0" cy="576072"/>
          </a:xfrm>
          <a:prstGeom prst="line">
            <a:avLst/>
          </a:prstGeom>
          <a:noFill/>
          <a:ln w="19050">
            <a:solidFill>
              <a:srgbClr val="B5822B"/>
            </a:solidFill>
            <a:prstDash val="solid"/>
            <a:headEnd type="none"/>
            <a:tailEnd type="triangle"/>
          </a:ln>
        </p:spPr>
      </p:sp>
      <p:sp>
        <p:nvSpPr>
          <p:cNvPr id="43" name="Shape 40"/>
          <p:cNvSpPr/>
          <p:nvPr/>
        </p:nvSpPr>
        <p:spPr>
          <a:xfrm>
            <a:off x="6583680" y="4069080"/>
            <a:ext cx="4709160" cy="548640"/>
          </a:xfrm>
          <a:prstGeom prst="roundRect">
            <a:avLst>
              <a:gd name="adj" fmla="val 10000"/>
            </a:avLst>
          </a:prstGeom>
          <a:solidFill>
            <a:srgbClr val="2C2416"/>
          </a:solidFill>
          <a:ln/>
        </p:spPr>
      </p:sp>
      <p:sp>
        <p:nvSpPr>
          <p:cNvPr id="44" name="Text 41"/>
          <p:cNvSpPr/>
          <p:nvPr/>
        </p:nvSpPr>
        <p:spPr>
          <a:xfrm>
            <a:off x="6656832" y="4069080"/>
            <a:ext cx="4562856" cy="548640"/>
          </a:xfrm>
          <a:prstGeom prst="rect">
            <a:avLst/>
          </a:prstGeom>
          <a:noFill/>
          <a:ln/>
        </p:spPr>
        <p:txBody>
          <a:bodyPr wrap="square" lIns="0" tIns="0" rIns="0" bIns="0" rtlCol="0" anchor="ctr">
            <a:normAutofit/>
          </a:bodyPr>
          <a:lstStyle/>
          <a:p>
            <a:pPr algn="ctr" indent="0" marL="0">
              <a:buNone/>
            </a:pPr>
            <a:r>
              <a:rPr lang="en-US" sz="1200" b="1" dirty="0">
                <a:solidFill>
                  <a:srgbClr val="FCFAF4"/>
                </a:solidFill>
                <a:latin typeface="Helvetica Neue" pitchFamily="34" charset="0"/>
                <a:ea typeface="Helvetica Neue" pitchFamily="34" charset="-122"/>
                <a:cs typeface="Helvetica Neue" pitchFamily="34" charset="-120"/>
              </a:rPr>
              <a:t>log, then indexes</a:t>
            </a:r>
            <a:endParaRPr lang="en-US" sz="1200" dirty="0"/>
          </a:p>
        </p:txBody>
      </p:sp>
      <p:sp>
        <p:nvSpPr>
          <p:cNvPr id="45" name="Text 42"/>
          <p:cNvSpPr/>
          <p:nvPr/>
        </p:nvSpPr>
        <p:spPr>
          <a:xfrm>
            <a:off x="6583680" y="4709160"/>
            <a:ext cx="4709160" cy="365760"/>
          </a:xfrm>
          <a:prstGeom prst="rect">
            <a:avLst/>
          </a:prstGeom>
          <a:noFill/>
          <a:ln/>
        </p:spPr>
        <p:txBody>
          <a:bodyPr wrap="square" lIns="0" tIns="0" rIns="0" bIns="0" rtlCol="0" anchor="t"/>
          <a:lstStyle/>
          <a:p>
            <a:pPr algn="ctr" indent="0" marL="0">
              <a:buNone/>
            </a:pPr>
            <a:r>
              <a:rPr lang="en-US" sz="1250" b="1" dirty="0">
                <a:solidFill>
                  <a:srgbClr val="B5822B"/>
                </a:solidFill>
                <a:latin typeface="Helvetica Neue" pitchFamily="34" charset="0"/>
                <a:ea typeface="Helvetica Neue" pitchFamily="34" charset="-122"/>
                <a:cs typeface="Helvetica Neue" pitchFamily="34" charset="-120"/>
              </a:rPr>
              <a:t>serialised · ordered · transactional</a:t>
            </a:r>
            <a:endParaRPr lang="en-US" sz="1250" dirty="0"/>
          </a:p>
        </p:txBody>
      </p:sp>
      <p:sp>
        <p:nvSpPr>
          <p:cNvPr id="46" name="Shape 43"/>
          <p:cNvSpPr/>
          <p:nvPr/>
        </p:nvSpPr>
        <p:spPr>
          <a:xfrm>
            <a:off x="548640" y="5486400"/>
            <a:ext cx="54864" cy="457200"/>
          </a:xfrm>
          <a:prstGeom prst="rect">
            <a:avLst/>
          </a:prstGeom>
          <a:solidFill>
            <a:srgbClr val="A8864A"/>
          </a:solidFill>
          <a:ln/>
        </p:spPr>
      </p:sp>
      <p:sp>
        <p:nvSpPr>
          <p:cNvPr id="47" name="Text 44"/>
          <p:cNvSpPr/>
          <p:nvPr/>
        </p:nvSpPr>
        <p:spPr>
          <a:xfrm>
            <a:off x="777240" y="548640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HA protects the write path. Caching accelerates the read path. Neither one helps the other.</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 · THE FAILURE MAP</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9</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One clarification before anyone tunes anything</a:t>
            </a:r>
            <a:endParaRPr lang="en-US" sz="2500" dirty="0"/>
          </a:p>
        </p:txBody>
      </p:sp>
      <p:sp>
        <p:nvSpPr>
          <p:cNvPr id="8" name="Shape 5"/>
          <p:cNvSpPr/>
          <p:nvPr/>
        </p:nvSpPr>
        <p:spPr>
          <a:xfrm>
            <a:off x="548640" y="1325880"/>
            <a:ext cx="5349240" cy="2377440"/>
          </a:xfrm>
          <a:prstGeom prst="roundRect">
            <a:avLst>
              <a:gd name="adj" fmla="val 3077"/>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DFD6C0"/>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WHAT d/db-stats TELLS YOU</a:t>
            </a:r>
            <a:endParaRPr lang="en-US" sz="1250" dirty="0"/>
          </a:p>
        </p:txBody>
      </p:sp>
      <p:sp>
        <p:nvSpPr>
          <p:cNvPr id="11" name="Shape 8"/>
          <p:cNvSpPr/>
          <p:nvPr/>
        </p:nvSpPr>
        <p:spPr>
          <a:xfrm>
            <a:off x="777240" y="1874520"/>
            <a:ext cx="4892040" cy="914400"/>
          </a:xfrm>
          <a:prstGeom prst="roundRect">
            <a:avLst>
              <a:gd name="adj" fmla="val 8000"/>
            </a:avLst>
          </a:prstGeom>
          <a:solidFill>
            <a:srgbClr val="E6DFCE"/>
          </a:solidFill>
          <a:ln/>
        </p:spPr>
      </p:sp>
      <p:sp>
        <p:nvSpPr>
          <p:cNvPr id="12" name="Text 9"/>
          <p:cNvSpPr/>
          <p:nvPr/>
        </p:nvSpPr>
        <p:spPr>
          <a:xfrm>
            <a:off x="978408" y="2020824"/>
            <a:ext cx="4489704" cy="62179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(:datoms (d/db-stats (d/db conn)))</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=&gt; 20301</a:t>
            </a:r>
            <a:endParaRPr lang="en-US" sz="1250" dirty="0"/>
          </a:p>
        </p:txBody>
      </p:sp>
      <p:sp>
        <p:nvSpPr>
          <p:cNvPr id="13" name="Text 10"/>
          <p:cNvSpPr/>
          <p:nvPr/>
        </p:nvSpPr>
        <p:spPr>
          <a:xfrm>
            <a:off x="777240" y="2926080"/>
            <a:ext cx="4892040" cy="640080"/>
          </a:xfrm>
          <a:prstGeom prst="rect">
            <a:avLst/>
          </a:prstGeom>
          <a:noFill/>
          <a:ln/>
        </p:spPr>
        <p:txBody>
          <a:bodyPr wrap="square" lIns="0" tIns="0" rIns="0" bIns="0" rtlCol="0" anchor="t"/>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size of the DATABASE — how many</a:t>
            </a: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datoms exist, and by which attribute.</a:t>
            </a:r>
            <a:endParaRPr lang="en-US" sz="1350" dirty="0"/>
          </a:p>
        </p:txBody>
      </p:sp>
      <p:sp>
        <p:nvSpPr>
          <p:cNvPr id="14" name="Shape 11"/>
          <p:cNvSpPr/>
          <p:nvPr/>
        </p:nvSpPr>
        <p:spPr>
          <a:xfrm>
            <a:off x="6263640" y="1325880"/>
            <a:ext cx="5349240" cy="2377440"/>
          </a:xfrm>
          <a:prstGeom prst="roundRect">
            <a:avLst>
              <a:gd name="adj" fmla="val 3077"/>
            </a:avLst>
          </a:prstGeom>
          <a:solidFill>
            <a:srgbClr val="E6DFCE"/>
          </a:solidFill>
          <a:ln/>
        </p:spPr>
      </p:sp>
      <p:sp>
        <p:nvSpPr>
          <p:cNvPr id="15" name="Shape 12"/>
          <p:cNvSpPr/>
          <p:nvPr/>
        </p:nvSpPr>
        <p:spPr>
          <a:xfrm>
            <a:off x="6263640" y="1325880"/>
            <a:ext cx="5349240" cy="384048"/>
          </a:xfrm>
          <a:prstGeom prst="roundRect">
            <a:avLst>
              <a:gd name="adj" fmla="val 19048"/>
            </a:avLst>
          </a:prstGeom>
          <a:solidFill>
            <a:srgbClr val="EBD5CB"/>
          </a:solidFill>
          <a:ln/>
        </p:spPr>
      </p:sp>
      <p:sp>
        <p:nvSpPr>
          <p:cNvPr id="16" name="Text 13"/>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9E4227"/>
                </a:solidFill>
                <a:latin typeface="Helvetica Neue" pitchFamily="34" charset="0"/>
                <a:ea typeface="Helvetica Neue" pitchFamily="34" charset="-122"/>
                <a:cs typeface="Helvetica Neue" pitchFamily="34" charset="-120"/>
              </a:rPr>
              <a:t>WHAT NO API TELLS YOU</a:t>
            </a:r>
            <a:endParaRPr lang="en-US" sz="1250" dirty="0"/>
          </a:p>
        </p:txBody>
      </p:sp>
      <p:sp>
        <p:nvSpPr>
          <p:cNvPr id="17" name="Shape 14"/>
          <p:cNvSpPr/>
          <p:nvPr/>
        </p:nvSpPr>
        <p:spPr>
          <a:xfrm>
            <a:off x="6492240" y="1874520"/>
            <a:ext cx="4892040" cy="914400"/>
          </a:xfrm>
          <a:prstGeom prst="roundRect">
            <a:avLst>
              <a:gd name="adj" fmla="val 6000"/>
            </a:avLst>
          </a:prstGeom>
          <a:solidFill>
            <a:srgbClr val="EBD5CB"/>
          </a:solidFill>
          <a:ln w="15875">
            <a:solidFill>
              <a:srgbClr val="9E4227"/>
            </a:solidFill>
            <a:prstDash val="solid"/>
          </a:ln>
        </p:spPr>
      </p:sp>
      <p:sp>
        <p:nvSpPr>
          <p:cNvPr id="18" name="Text 15"/>
          <p:cNvSpPr/>
          <p:nvPr/>
        </p:nvSpPr>
        <p:spPr>
          <a:xfrm>
            <a:off x="6565392" y="2020824"/>
            <a:ext cx="4745736" cy="310896"/>
          </a:xfrm>
          <a:prstGeom prst="rect">
            <a:avLst/>
          </a:prstGeom>
          <a:noFill/>
          <a:ln/>
        </p:spPr>
        <p:txBody>
          <a:bodyPr wrap="square" lIns="0" tIns="0" rIns="0" bIns="0" rtlCol="0" anchor="b">
            <a:normAutofit/>
          </a:bodyPr>
          <a:lstStyle/>
          <a:p>
            <a:pPr algn="ctr" indent="0" marL="0">
              <a:buNone/>
            </a:pPr>
            <a:r>
              <a:rPr lang="en-US" sz="1500" b="1" dirty="0">
                <a:solidFill>
                  <a:srgbClr val="3A2C1A"/>
                </a:solidFill>
                <a:latin typeface="Helvetica Neue" pitchFamily="34" charset="0"/>
                <a:ea typeface="Helvetica Neue" pitchFamily="34" charset="-122"/>
                <a:cs typeface="Helvetica Neue" pitchFamily="34" charset="-120"/>
              </a:rPr>
              <a:t>cache occupancy</a:t>
            </a:r>
            <a:endParaRPr lang="en-US" sz="1500" dirty="0"/>
          </a:p>
        </p:txBody>
      </p:sp>
      <p:sp>
        <p:nvSpPr>
          <p:cNvPr id="19" name="Text 16"/>
          <p:cNvSpPr/>
          <p:nvPr/>
        </p:nvSpPr>
        <p:spPr>
          <a:xfrm>
            <a:off x="6565392" y="2313432"/>
            <a:ext cx="4745736" cy="384048"/>
          </a:xfrm>
          <a:prstGeom prst="rect">
            <a:avLst/>
          </a:prstGeom>
          <a:noFill/>
          <a:ln/>
        </p:spPr>
        <p:txBody>
          <a:bodyPr wrap="square" lIns="0" tIns="0" rIns="0" bIns="0" rtlCol="0" anchor="t">
            <a:normAutofit/>
          </a:bodyPr>
          <a:lstStyle/>
          <a:p>
            <a:pPr algn="ctr" indent="0" marL="0">
              <a:buNone/>
            </a:pPr>
            <a:r>
              <a:rPr lang="en-US" sz="1150" dirty="0">
                <a:solidFill>
                  <a:srgbClr val="9E4227"/>
                </a:solidFill>
                <a:latin typeface="Helvetica Neue" pitchFamily="34" charset="0"/>
                <a:ea typeface="Helvetica Neue" pitchFamily="34" charset="-122"/>
                <a:cs typeface="Helvetica Neue" pitchFamily="34" charset="-120"/>
              </a:rPr>
              <a:t>not reported by any peer API</a:t>
            </a:r>
            <a:endParaRPr lang="en-US" sz="1150" dirty="0"/>
          </a:p>
        </p:txBody>
      </p:sp>
      <p:sp>
        <p:nvSpPr>
          <p:cNvPr id="20" name="Text 17"/>
          <p:cNvSpPr/>
          <p:nvPr/>
        </p:nvSpPr>
        <p:spPr>
          <a:xfrm>
            <a:off x="6492240" y="2926080"/>
            <a:ext cx="4892040" cy="640080"/>
          </a:xfrm>
          <a:prstGeom prst="rect">
            <a:avLst/>
          </a:prstGeom>
          <a:noFill/>
          <a:ln/>
        </p:spPr>
        <p:txBody>
          <a:bodyPr wrap="square" lIns="0" tIns="0" rIns="0" bIns="0" rtlCol="0" anchor="t"/>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How much of the working set is resident,</a:t>
            </a:r>
            <a:endParaRPr lang="en-US" sz="1350" dirty="0"/>
          </a:p>
          <a:p>
            <a:pPr indent="0" marL="0">
              <a:buNone/>
            </a:pPr>
            <a:r>
              <a:rPr lang="en-US" sz="1350" dirty="0">
                <a:solidFill>
                  <a:srgbClr val="6B5A44"/>
                </a:solidFill>
                <a:latin typeface="Helvetica Neue" pitchFamily="34" charset="0"/>
                <a:ea typeface="Helvetica Neue" pitchFamily="34" charset="-122"/>
                <a:cs typeface="Helvetica Neue" pitchFamily="34" charset="-120"/>
              </a:rPr>
              <a:t>and in which tier.</a:t>
            </a:r>
            <a:endParaRPr lang="en-US" sz="1350" dirty="0"/>
          </a:p>
        </p:txBody>
      </p:sp>
      <p:sp>
        <p:nvSpPr>
          <p:cNvPr id="21" name="Text 18"/>
          <p:cNvSpPr/>
          <p:nvPr/>
        </p:nvSpPr>
        <p:spPr>
          <a:xfrm>
            <a:off x="548640" y="3977640"/>
            <a:ext cx="11064240" cy="36576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So cache behaviour is OBSERVED, not queried:</a:t>
            </a:r>
            <a:endParaRPr lang="en-US" sz="1400" dirty="0"/>
          </a:p>
        </p:txBody>
      </p:sp>
      <p:sp>
        <p:nvSpPr>
          <p:cNvPr id="22" name="Shape 19"/>
          <p:cNvSpPr/>
          <p:nvPr/>
        </p:nvSpPr>
        <p:spPr>
          <a:xfrm>
            <a:off x="548640" y="4434840"/>
            <a:ext cx="5349240" cy="777240"/>
          </a:xfrm>
          <a:prstGeom prst="roundRect">
            <a:avLst>
              <a:gd name="adj" fmla="val 7059"/>
            </a:avLst>
          </a:prstGeom>
          <a:solidFill>
            <a:srgbClr val="E6DFCE"/>
          </a:solidFill>
          <a:ln w="15875">
            <a:solidFill>
              <a:srgbClr val="C9BDA4"/>
            </a:solidFill>
            <a:prstDash val="solid"/>
          </a:ln>
        </p:spPr>
      </p:sp>
      <p:sp>
        <p:nvSpPr>
          <p:cNvPr id="23" name="Text 20"/>
          <p:cNvSpPr/>
          <p:nvPr/>
        </p:nvSpPr>
        <p:spPr>
          <a:xfrm>
            <a:off x="621792" y="4434840"/>
            <a:ext cx="5202936" cy="777240"/>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metrics callback  →  Part V</a:t>
            </a:r>
            <a:endParaRPr lang="en-US" sz="1400" dirty="0"/>
          </a:p>
        </p:txBody>
      </p:sp>
      <p:sp>
        <p:nvSpPr>
          <p:cNvPr id="24" name="Shape 21"/>
          <p:cNvSpPr/>
          <p:nvPr/>
        </p:nvSpPr>
        <p:spPr>
          <a:xfrm>
            <a:off x="6263640" y="4434840"/>
            <a:ext cx="5349240" cy="777240"/>
          </a:xfrm>
          <a:prstGeom prst="roundRect">
            <a:avLst>
              <a:gd name="adj" fmla="val 7059"/>
            </a:avLst>
          </a:prstGeom>
          <a:solidFill>
            <a:srgbClr val="E6DFCE"/>
          </a:solidFill>
          <a:ln w="15875">
            <a:solidFill>
              <a:srgbClr val="C9BDA4"/>
            </a:solidFill>
            <a:prstDash val="solid"/>
          </a:ln>
        </p:spPr>
      </p:sp>
      <p:sp>
        <p:nvSpPr>
          <p:cNvPr id="25" name="Text 22"/>
          <p:cNvSpPr/>
          <p:nvPr/>
        </p:nvSpPr>
        <p:spPr>
          <a:xfrm>
            <a:off x="6336792" y="4434840"/>
            <a:ext cx="5202936" cy="777240"/>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time the same query twice</a:t>
            </a:r>
            <a:endParaRPr lang="en-US" sz="1400" dirty="0"/>
          </a:p>
        </p:txBody>
      </p:sp>
      <p:sp>
        <p:nvSpPr>
          <p:cNvPr id="26" name="Shape 23"/>
          <p:cNvSpPr/>
          <p:nvPr/>
        </p:nvSpPr>
        <p:spPr>
          <a:xfrm>
            <a:off x="548640" y="5577840"/>
            <a:ext cx="54864" cy="457200"/>
          </a:xfrm>
          <a:prstGeom prst="rect">
            <a:avLst/>
          </a:prstGeom>
          <a:solidFill>
            <a:srgbClr val="A8864A"/>
          </a:solidFill>
          <a:ln/>
        </p:spPr>
      </p:sp>
      <p:sp>
        <p:nvSpPr>
          <p:cNvPr id="27" name="Text 24"/>
          <p:cNvSpPr/>
          <p:nvPr/>
        </p:nvSpPr>
        <p:spPr>
          <a:xfrm>
            <a:off x="777240" y="55778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d/db-stats measures the database. Timing and metrics measure the cache.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II</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High availability</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Two transactors · one lease · storage as the arbiter</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 · HIGH AVAILABILITY</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11</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Datomic HA is a lease, not a cluster</a:t>
            </a:r>
            <a:endParaRPr lang="en-US" sz="2500" dirty="0"/>
          </a:p>
        </p:txBody>
      </p:sp>
      <p:sp>
        <p:nvSpPr>
          <p:cNvPr id="8" name="Shape 5"/>
          <p:cNvSpPr/>
          <p:nvPr/>
        </p:nvSpPr>
        <p:spPr>
          <a:xfrm>
            <a:off x="914400" y="1645920"/>
            <a:ext cx="2377440" cy="822960"/>
          </a:xfrm>
          <a:prstGeom prst="roundRect">
            <a:avLst>
              <a:gd name="adj" fmla="val 6667"/>
            </a:avLst>
          </a:prstGeom>
          <a:solidFill>
            <a:srgbClr val="DDE3CC"/>
          </a:solidFill>
          <a:ln w="15875">
            <a:solidFill>
              <a:srgbClr val="5F7A3A"/>
            </a:solidFill>
            <a:prstDash val="solid"/>
          </a:ln>
        </p:spPr>
      </p:sp>
      <p:sp>
        <p:nvSpPr>
          <p:cNvPr id="9" name="Text 6"/>
          <p:cNvSpPr/>
          <p:nvPr/>
        </p:nvSpPr>
        <p:spPr>
          <a:xfrm>
            <a:off x="987552" y="1746504"/>
            <a:ext cx="2231136"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transactor A</a:t>
            </a:r>
            <a:endParaRPr lang="en-US" sz="1400" dirty="0"/>
          </a:p>
        </p:txBody>
      </p:sp>
      <p:sp>
        <p:nvSpPr>
          <p:cNvPr id="10" name="Text 7"/>
          <p:cNvSpPr/>
          <p:nvPr/>
        </p:nvSpPr>
        <p:spPr>
          <a:xfrm>
            <a:off x="987552" y="2039112"/>
            <a:ext cx="2231136" cy="384048"/>
          </a:xfrm>
          <a:prstGeom prst="rect">
            <a:avLst/>
          </a:prstGeom>
          <a:noFill/>
          <a:ln/>
        </p:spPr>
        <p:txBody>
          <a:bodyPr wrap="square" lIns="0" tIns="0" rIns="0" bIns="0" rtlCol="0" anchor="t">
            <a:normAutofit/>
          </a:bodyPr>
          <a:lstStyle/>
          <a:p>
            <a:pPr algn="ctr" indent="0" marL="0">
              <a:buNone/>
            </a:pPr>
            <a:r>
              <a:rPr lang="en-US" sz="1100" dirty="0">
                <a:solidFill>
                  <a:srgbClr val="5F7A3A"/>
                </a:solidFill>
                <a:latin typeface="Helvetica Neue" pitchFamily="34" charset="0"/>
                <a:ea typeface="Helvetica Neue" pitchFamily="34" charset="-122"/>
                <a:cs typeface="Helvetica Neue" pitchFamily="34" charset="-120"/>
              </a:rPr>
              <a:t>holds the lease</a:t>
            </a:r>
            <a:endParaRPr lang="en-US" sz="1100" dirty="0"/>
          </a:p>
        </p:txBody>
      </p:sp>
      <p:sp>
        <p:nvSpPr>
          <p:cNvPr id="11" name="Shape 8"/>
          <p:cNvSpPr/>
          <p:nvPr/>
        </p:nvSpPr>
        <p:spPr>
          <a:xfrm>
            <a:off x="914400" y="3931920"/>
            <a:ext cx="2377440" cy="822960"/>
          </a:xfrm>
          <a:prstGeom prst="roundRect">
            <a:avLst>
              <a:gd name="adj" fmla="val 6667"/>
            </a:avLst>
          </a:prstGeom>
          <a:solidFill>
            <a:srgbClr val="E6DFCE"/>
          </a:solidFill>
          <a:ln w="15875">
            <a:solidFill>
              <a:srgbClr val="C9BDA4"/>
            </a:solidFill>
            <a:prstDash val="solid"/>
          </a:ln>
        </p:spPr>
      </p:sp>
      <p:sp>
        <p:nvSpPr>
          <p:cNvPr id="12" name="Text 9"/>
          <p:cNvSpPr/>
          <p:nvPr/>
        </p:nvSpPr>
        <p:spPr>
          <a:xfrm>
            <a:off x="987552" y="4032504"/>
            <a:ext cx="2231136"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transactor B</a:t>
            </a:r>
            <a:endParaRPr lang="en-US" sz="1400" dirty="0"/>
          </a:p>
        </p:txBody>
      </p:sp>
      <p:sp>
        <p:nvSpPr>
          <p:cNvPr id="13" name="Text 10"/>
          <p:cNvSpPr/>
          <p:nvPr/>
        </p:nvSpPr>
        <p:spPr>
          <a:xfrm>
            <a:off x="987552" y="4325112"/>
            <a:ext cx="2231136" cy="384048"/>
          </a:xfrm>
          <a:prstGeom prst="rect">
            <a:avLst/>
          </a:prstGeom>
          <a:noFill/>
          <a:ln/>
        </p:spPr>
        <p:txBody>
          <a:bodyPr wrap="square" lIns="0" tIns="0" rIns="0" bIns="0" rtlCol="0" anchor="t">
            <a:normAutofit/>
          </a:bodyPr>
          <a:lstStyle/>
          <a:p>
            <a:pPr algn="ctr" indent="0" marL="0">
              <a:buNone/>
            </a:pPr>
            <a:r>
              <a:rPr lang="en-US" sz="1100" dirty="0">
                <a:solidFill>
                  <a:srgbClr val="6B5A44"/>
                </a:solidFill>
                <a:latin typeface="Helvetica Neue" pitchFamily="34" charset="0"/>
                <a:ea typeface="Helvetica Neue" pitchFamily="34" charset="-122"/>
                <a:cs typeface="Helvetica Neue" pitchFamily="34" charset="-120"/>
              </a:rPr>
              <a:t>waits</a:t>
            </a:r>
            <a:endParaRPr lang="en-US" sz="1100" dirty="0"/>
          </a:p>
        </p:txBody>
      </p:sp>
      <p:sp>
        <p:nvSpPr>
          <p:cNvPr id="14" name="Shape 11"/>
          <p:cNvSpPr/>
          <p:nvPr/>
        </p:nvSpPr>
        <p:spPr>
          <a:xfrm>
            <a:off x="4663440" y="2468880"/>
            <a:ext cx="2926080" cy="1463040"/>
          </a:xfrm>
          <a:prstGeom prst="roundRect">
            <a:avLst>
              <a:gd name="adj" fmla="val 3750"/>
            </a:avLst>
          </a:prstGeom>
          <a:solidFill>
            <a:srgbClr val="2C2416"/>
          </a:solidFill>
          <a:ln/>
        </p:spPr>
      </p:sp>
      <p:sp>
        <p:nvSpPr>
          <p:cNvPr id="15" name="Text 12"/>
          <p:cNvSpPr/>
          <p:nvPr/>
        </p:nvSpPr>
        <p:spPr>
          <a:xfrm>
            <a:off x="4736592" y="2889504"/>
            <a:ext cx="2779776" cy="310896"/>
          </a:xfrm>
          <a:prstGeom prst="rect">
            <a:avLst/>
          </a:prstGeom>
          <a:noFill/>
          <a:ln/>
        </p:spPr>
        <p:txBody>
          <a:bodyPr wrap="square" lIns="0" tIns="0" rIns="0" bIns="0" rtlCol="0" anchor="b">
            <a:normAutofit/>
          </a:bodyPr>
          <a:lstStyle/>
          <a:p>
            <a:pPr algn="ctr" indent="0" marL="0">
              <a:buNone/>
            </a:pPr>
            <a:r>
              <a:rPr lang="en-US" sz="1800" b="1" dirty="0">
                <a:solidFill>
                  <a:srgbClr val="FCFAF4"/>
                </a:solidFill>
                <a:latin typeface="Helvetica Neue" pitchFamily="34" charset="0"/>
                <a:ea typeface="Helvetica Neue" pitchFamily="34" charset="-122"/>
                <a:cs typeface="Helvetica Neue" pitchFamily="34" charset="-120"/>
              </a:rPr>
              <a:t>STORAGE</a:t>
            </a:r>
            <a:endParaRPr lang="en-US" sz="1800" dirty="0"/>
          </a:p>
        </p:txBody>
      </p:sp>
      <p:sp>
        <p:nvSpPr>
          <p:cNvPr id="16" name="Text 13"/>
          <p:cNvSpPr/>
          <p:nvPr/>
        </p:nvSpPr>
        <p:spPr>
          <a:xfrm>
            <a:off x="4736592" y="3182112"/>
            <a:ext cx="2779776" cy="384048"/>
          </a:xfrm>
          <a:prstGeom prst="rect">
            <a:avLst/>
          </a:prstGeom>
          <a:noFill/>
          <a:ln/>
        </p:spPr>
        <p:txBody>
          <a:bodyPr wrap="square" lIns="0" tIns="0" rIns="0" bIns="0" rtlCol="0" anchor="t">
            <a:normAutofit/>
          </a:bodyPr>
          <a:lstStyle/>
          <a:p>
            <a:pPr algn="ctr" indent="0" marL="0">
              <a:buNone/>
            </a:pPr>
            <a:r>
              <a:rPr lang="en-US" sz="1200" dirty="0">
                <a:solidFill>
                  <a:srgbClr val="C6A46A"/>
                </a:solidFill>
                <a:latin typeface="Helvetica Neue" pitchFamily="34" charset="0"/>
                <a:ea typeface="Helvetica Neue" pitchFamily="34" charset="-122"/>
                <a:cs typeface="Helvetica Neue" pitchFamily="34" charset="-120"/>
              </a:rPr>
              <a:t>the lease lives here</a:t>
            </a:r>
            <a:endParaRPr lang="en-US" sz="1200" dirty="0"/>
          </a:p>
        </p:txBody>
      </p:sp>
      <p:sp>
        <p:nvSpPr>
          <p:cNvPr id="17" name="Shape 14"/>
          <p:cNvSpPr/>
          <p:nvPr/>
        </p:nvSpPr>
        <p:spPr>
          <a:xfrm>
            <a:off x="3291840" y="2057400"/>
            <a:ext cx="1371600" cy="777240"/>
          </a:xfrm>
          <a:prstGeom prst="line">
            <a:avLst/>
          </a:prstGeom>
          <a:noFill/>
          <a:ln w="19050">
            <a:solidFill>
              <a:srgbClr val="5F7A3A"/>
            </a:solidFill>
            <a:prstDash val="solid"/>
            <a:headEnd type="none"/>
            <a:tailEnd type="triangle"/>
          </a:ln>
        </p:spPr>
      </p:sp>
      <p:sp>
        <p:nvSpPr>
          <p:cNvPr id="18" name="Text 15"/>
          <p:cNvSpPr/>
          <p:nvPr/>
        </p:nvSpPr>
        <p:spPr>
          <a:xfrm>
            <a:off x="3337560" y="2098548"/>
            <a:ext cx="1280160" cy="292608"/>
          </a:xfrm>
          <a:prstGeom prst="rect">
            <a:avLst/>
          </a:prstGeom>
          <a:noFill/>
          <a:ln/>
        </p:spPr>
        <p:txBody>
          <a:bodyPr wrap="square" lIns="0" tIns="0" rIns="0" bIns="0" rtlCol="0" anchor="ctr">
            <a:normAutofit/>
          </a:bodyPr>
          <a:lstStyle/>
          <a:p>
            <a:pPr algn="ctr" indent="0" marL="0">
              <a:buNone/>
            </a:pPr>
            <a:r>
              <a:rPr lang="en-US" sz="1000" dirty="0">
                <a:solidFill>
                  <a:srgbClr val="9A8A72"/>
                </a:solidFill>
                <a:latin typeface="Helvetica Neue" pitchFamily="34" charset="0"/>
                <a:ea typeface="Helvetica Neue" pitchFamily="34" charset="-122"/>
                <a:cs typeface="Helvetica Neue" pitchFamily="34" charset="-120"/>
              </a:rPr>
              <a:t>writes</a:t>
            </a:r>
            <a:endParaRPr lang="en-US" sz="1000" dirty="0"/>
          </a:p>
        </p:txBody>
      </p:sp>
      <p:sp>
        <p:nvSpPr>
          <p:cNvPr id="19" name="Shape 16"/>
          <p:cNvSpPr/>
          <p:nvPr/>
        </p:nvSpPr>
        <p:spPr>
          <a:xfrm flipV="1">
            <a:off x="3291840" y="3611880"/>
            <a:ext cx="1371600" cy="731520"/>
          </a:xfrm>
          <a:prstGeom prst="line">
            <a:avLst/>
          </a:prstGeom>
          <a:noFill/>
          <a:ln w="19050">
            <a:solidFill>
              <a:srgbClr val="C9BDA4"/>
            </a:solidFill>
            <a:prstDash val="dash"/>
            <a:headEnd type="none"/>
            <a:tailEnd type="triangle"/>
          </a:ln>
        </p:spPr>
      </p:sp>
      <p:sp>
        <p:nvSpPr>
          <p:cNvPr id="20" name="Text 17"/>
          <p:cNvSpPr/>
          <p:nvPr/>
        </p:nvSpPr>
        <p:spPr>
          <a:xfrm>
            <a:off x="3337560" y="4032504"/>
            <a:ext cx="1280160" cy="292608"/>
          </a:xfrm>
          <a:prstGeom prst="rect">
            <a:avLst/>
          </a:prstGeom>
          <a:noFill/>
          <a:ln/>
        </p:spPr>
        <p:txBody>
          <a:bodyPr wrap="square" lIns="0" tIns="0" rIns="0" bIns="0" rtlCol="0" anchor="ctr">
            <a:normAutofit/>
          </a:bodyPr>
          <a:lstStyle/>
          <a:p>
            <a:pPr algn="ctr" indent="0" marL="0">
              <a:buNone/>
            </a:pPr>
            <a:r>
              <a:rPr lang="en-US" sz="1000" dirty="0">
                <a:solidFill>
                  <a:srgbClr val="9A8A72"/>
                </a:solidFill>
                <a:latin typeface="Helvetica Neue" pitchFamily="34" charset="0"/>
                <a:ea typeface="Helvetica Neue" pitchFamily="34" charset="-122"/>
                <a:cs typeface="Helvetica Neue" pitchFamily="34" charset="-120"/>
              </a:rPr>
              <a:t>polls</a:t>
            </a:r>
            <a:endParaRPr lang="en-US" sz="1000" dirty="0"/>
          </a:p>
        </p:txBody>
      </p:sp>
      <p:sp>
        <p:nvSpPr>
          <p:cNvPr id="21" name="Shape 18"/>
          <p:cNvSpPr/>
          <p:nvPr/>
        </p:nvSpPr>
        <p:spPr>
          <a:xfrm>
            <a:off x="9144000" y="1645920"/>
            <a:ext cx="1463040" cy="548640"/>
          </a:xfrm>
          <a:prstGeom prst="roundRect">
            <a:avLst>
              <a:gd name="adj" fmla="val 10000"/>
            </a:avLst>
          </a:prstGeom>
          <a:solidFill>
            <a:srgbClr val="D3DEE1"/>
          </a:solidFill>
          <a:ln w="15875">
            <a:solidFill>
              <a:srgbClr val="3F6470"/>
            </a:solidFill>
            <a:prstDash val="solid"/>
          </a:ln>
        </p:spPr>
      </p:sp>
      <p:sp>
        <p:nvSpPr>
          <p:cNvPr id="22" name="Text 19"/>
          <p:cNvSpPr/>
          <p:nvPr/>
        </p:nvSpPr>
        <p:spPr>
          <a:xfrm>
            <a:off x="9217152" y="1645920"/>
            <a:ext cx="1316736" cy="548640"/>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23" name="Shape 20"/>
          <p:cNvSpPr/>
          <p:nvPr/>
        </p:nvSpPr>
        <p:spPr>
          <a:xfrm flipH="1">
            <a:off x="7589520" y="1920240"/>
            <a:ext cx="1554480" cy="1005840"/>
          </a:xfrm>
          <a:prstGeom prst="line">
            <a:avLst/>
          </a:prstGeom>
          <a:noFill/>
          <a:ln w="19050">
            <a:solidFill>
              <a:srgbClr val="3F6470"/>
            </a:solidFill>
            <a:prstDash val="solid"/>
            <a:headEnd type="none"/>
            <a:tailEnd type="none"/>
          </a:ln>
        </p:spPr>
      </p:sp>
      <p:sp>
        <p:nvSpPr>
          <p:cNvPr id="24" name="Shape 21"/>
          <p:cNvSpPr/>
          <p:nvPr/>
        </p:nvSpPr>
        <p:spPr>
          <a:xfrm>
            <a:off x="9144000" y="2331720"/>
            <a:ext cx="1463040" cy="548640"/>
          </a:xfrm>
          <a:prstGeom prst="roundRect">
            <a:avLst>
              <a:gd name="adj" fmla="val 10000"/>
            </a:avLst>
          </a:prstGeom>
          <a:solidFill>
            <a:srgbClr val="D3DEE1"/>
          </a:solidFill>
          <a:ln w="15875">
            <a:solidFill>
              <a:srgbClr val="3F6470"/>
            </a:solidFill>
            <a:prstDash val="solid"/>
          </a:ln>
        </p:spPr>
      </p:sp>
      <p:sp>
        <p:nvSpPr>
          <p:cNvPr id="25" name="Text 22"/>
          <p:cNvSpPr/>
          <p:nvPr/>
        </p:nvSpPr>
        <p:spPr>
          <a:xfrm>
            <a:off x="9217152" y="2331720"/>
            <a:ext cx="1316736" cy="548640"/>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26" name="Shape 23"/>
          <p:cNvSpPr/>
          <p:nvPr/>
        </p:nvSpPr>
        <p:spPr>
          <a:xfrm flipH="1">
            <a:off x="7589520" y="2606040"/>
            <a:ext cx="1554480" cy="320040"/>
          </a:xfrm>
          <a:prstGeom prst="line">
            <a:avLst/>
          </a:prstGeom>
          <a:noFill/>
          <a:ln w="19050">
            <a:solidFill>
              <a:srgbClr val="3F6470"/>
            </a:solidFill>
            <a:prstDash val="solid"/>
            <a:headEnd type="none"/>
            <a:tailEnd type="none"/>
          </a:ln>
        </p:spPr>
      </p:sp>
      <p:sp>
        <p:nvSpPr>
          <p:cNvPr id="27" name="Shape 24"/>
          <p:cNvSpPr/>
          <p:nvPr/>
        </p:nvSpPr>
        <p:spPr>
          <a:xfrm>
            <a:off x="9144000" y="3017520"/>
            <a:ext cx="1463040" cy="548640"/>
          </a:xfrm>
          <a:prstGeom prst="roundRect">
            <a:avLst>
              <a:gd name="adj" fmla="val 10000"/>
            </a:avLst>
          </a:prstGeom>
          <a:solidFill>
            <a:srgbClr val="D3DEE1"/>
          </a:solidFill>
          <a:ln w="15875">
            <a:solidFill>
              <a:srgbClr val="3F6470"/>
            </a:solidFill>
            <a:prstDash val="solid"/>
          </a:ln>
        </p:spPr>
      </p:sp>
      <p:sp>
        <p:nvSpPr>
          <p:cNvPr id="28" name="Text 25"/>
          <p:cNvSpPr/>
          <p:nvPr/>
        </p:nvSpPr>
        <p:spPr>
          <a:xfrm>
            <a:off x="9217152" y="3017520"/>
            <a:ext cx="1316736" cy="548640"/>
          </a:xfrm>
          <a:prstGeom prst="rect">
            <a:avLst/>
          </a:prstGeom>
          <a:noFill/>
          <a:ln/>
        </p:spPr>
        <p:txBody>
          <a:bodyPr wrap="square" lIns="0" tIns="0" rIns="0" bIns="0" rtlCol="0" anchor="ctr">
            <a:normAutofit/>
          </a:bodyPr>
          <a:lstStyle/>
          <a:p>
            <a:pPr algn="ctr" indent="0" marL="0">
              <a:buNone/>
            </a:pPr>
            <a:r>
              <a:rPr lang="en-US" sz="1200" b="1" dirty="0">
                <a:solidFill>
                  <a:srgbClr val="3A2C1A"/>
                </a:solidFill>
                <a:latin typeface="Helvetica Neue" pitchFamily="34" charset="0"/>
                <a:ea typeface="Helvetica Neue" pitchFamily="34" charset="-122"/>
                <a:cs typeface="Helvetica Neue" pitchFamily="34" charset="-120"/>
              </a:rPr>
              <a:t>peer</a:t>
            </a:r>
            <a:endParaRPr lang="en-US" sz="1200" dirty="0"/>
          </a:p>
        </p:txBody>
      </p:sp>
      <p:sp>
        <p:nvSpPr>
          <p:cNvPr id="29" name="Shape 26"/>
          <p:cNvSpPr/>
          <p:nvPr/>
        </p:nvSpPr>
        <p:spPr>
          <a:xfrm flipH="1" flipV="1">
            <a:off x="7589520" y="2926080"/>
            <a:ext cx="1554480" cy="365760"/>
          </a:xfrm>
          <a:prstGeom prst="line">
            <a:avLst/>
          </a:prstGeom>
          <a:noFill/>
          <a:ln w="19050">
            <a:solidFill>
              <a:srgbClr val="3F6470"/>
            </a:solidFill>
            <a:prstDash val="solid"/>
            <a:headEnd type="none"/>
            <a:tailEnd type="none"/>
          </a:ln>
        </p:spPr>
      </p:sp>
      <p:sp>
        <p:nvSpPr>
          <p:cNvPr id="30" name="Text 27"/>
          <p:cNvSpPr/>
          <p:nvPr/>
        </p:nvSpPr>
        <p:spPr>
          <a:xfrm>
            <a:off x="7955280" y="4069080"/>
            <a:ext cx="3657600" cy="640080"/>
          </a:xfrm>
          <a:prstGeom prst="rect">
            <a:avLst/>
          </a:prstGeom>
          <a:noFill/>
          <a:ln/>
        </p:spPr>
        <p:txBody>
          <a:bodyPr wrap="square" lIns="0" tIns="0" rIns="0" bIns="0" rtlCol="0" anchor="t"/>
          <a:lstStyle/>
          <a:p>
            <a:pPr algn="ctr" indent="0" marL="0">
              <a:buNone/>
            </a:pPr>
            <a:r>
              <a:rPr lang="en-US" sz="1300" b="1" dirty="0">
                <a:solidFill>
                  <a:srgbClr val="3F6470"/>
                </a:solidFill>
                <a:latin typeface="Helvetica Neue" pitchFamily="34" charset="0"/>
                <a:ea typeface="Helvetica Neue" pitchFamily="34" charset="-122"/>
                <a:cs typeface="Helvetica Neue" pitchFamily="34" charset="-120"/>
              </a:rPr>
              <a:t>peers find the active</a:t>
            </a:r>
            <a:endParaRPr lang="en-US" sz="1300" dirty="0"/>
          </a:p>
          <a:p>
            <a:pPr algn="ctr" indent="0" marL="0">
              <a:buNone/>
            </a:pPr>
            <a:r>
              <a:rPr lang="en-US" sz="1300" b="1" dirty="0">
                <a:solidFill>
                  <a:srgbClr val="3F6470"/>
                </a:solidFill>
                <a:latin typeface="Helvetica Neue" pitchFamily="34" charset="0"/>
                <a:ea typeface="Helvetica Neue" pitchFamily="34" charset="-122"/>
                <a:cs typeface="Helvetica Neue" pitchFamily="34" charset="-120"/>
              </a:rPr>
              <a:t>transactor HERE</a:t>
            </a:r>
            <a:endParaRPr lang="en-US" sz="1300" dirty="0"/>
          </a:p>
        </p:txBody>
      </p:sp>
      <p:sp>
        <p:nvSpPr>
          <p:cNvPr id="31" name="Shape 28"/>
          <p:cNvSpPr/>
          <p:nvPr/>
        </p:nvSpPr>
        <p:spPr>
          <a:xfrm>
            <a:off x="548640" y="5074920"/>
            <a:ext cx="2651760" cy="457200"/>
          </a:xfrm>
          <a:prstGeom prst="roundRect">
            <a:avLst>
              <a:gd name="adj" fmla="val 16000"/>
            </a:avLst>
          </a:prstGeom>
          <a:solidFill>
            <a:srgbClr val="DFD6C0"/>
          </a:solidFill>
          <a:ln/>
        </p:spPr>
      </p:sp>
      <p:sp>
        <p:nvSpPr>
          <p:cNvPr id="32" name="Text 29"/>
          <p:cNvSpPr/>
          <p:nvPr/>
        </p:nvSpPr>
        <p:spPr>
          <a:xfrm>
            <a:off x="548640" y="5074920"/>
            <a:ext cx="2651760" cy="457200"/>
          </a:xfrm>
          <a:prstGeom prst="rect">
            <a:avLst/>
          </a:prstGeom>
          <a:noFill/>
          <a:ln/>
        </p:spPr>
        <p:txBody>
          <a:bodyPr wrap="square" lIns="0" tIns="0" rIns="0" bIns="0" rtlCol="0" anchor="ctr"/>
          <a:lstStyle/>
          <a:p>
            <a:pPr algn="ctr" indent="0" marL="0">
              <a:buNone/>
            </a:pPr>
            <a:r>
              <a:rPr lang="en-US" sz="1300" dirty="0">
                <a:solidFill>
                  <a:srgbClr val="9A8A72"/>
                </a:solidFill>
                <a:latin typeface="Helvetica Neue" pitchFamily="34" charset="0"/>
                <a:ea typeface="Helvetica Neue" pitchFamily="34" charset="-122"/>
                <a:cs typeface="Helvetica Neue" pitchFamily="34" charset="-120"/>
              </a:rPr>
              <a:t>✕  no quorum</a:t>
            </a:r>
            <a:endParaRPr lang="en-US" sz="1300" dirty="0"/>
          </a:p>
        </p:txBody>
      </p:sp>
      <p:sp>
        <p:nvSpPr>
          <p:cNvPr id="33" name="Shape 30"/>
          <p:cNvSpPr/>
          <p:nvPr/>
        </p:nvSpPr>
        <p:spPr>
          <a:xfrm>
            <a:off x="3383280" y="5074920"/>
            <a:ext cx="2651760" cy="457200"/>
          </a:xfrm>
          <a:prstGeom prst="roundRect">
            <a:avLst>
              <a:gd name="adj" fmla="val 16000"/>
            </a:avLst>
          </a:prstGeom>
          <a:solidFill>
            <a:srgbClr val="DFD6C0"/>
          </a:solidFill>
          <a:ln/>
        </p:spPr>
      </p:sp>
      <p:sp>
        <p:nvSpPr>
          <p:cNvPr id="34" name="Text 31"/>
          <p:cNvSpPr/>
          <p:nvPr/>
        </p:nvSpPr>
        <p:spPr>
          <a:xfrm>
            <a:off x="3383280" y="5074920"/>
            <a:ext cx="2651760" cy="457200"/>
          </a:xfrm>
          <a:prstGeom prst="rect">
            <a:avLst/>
          </a:prstGeom>
          <a:noFill/>
          <a:ln/>
        </p:spPr>
        <p:txBody>
          <a:bodyPr wrap="square" lIns="0" tIns="0" rIns="0" bIns="0" rtlCol="0" anchor="ctr"/>
          <a:lstStyle/>
          <a:p>
            <a:pPr algn="ctr" indent="0" marL="0">
              <a:buNone/>
            </a:pPr>
            <a:r>
              <a:rPr lang="en-US" sz="1300" dirty="0">
                <a:solidFill>
                  <a:srgbClr val="9A8A72"/>
                </a:solidFill>
                <a:latin typeface="Helvetica Neue" pitchFamily="34" charset="0"/>
                <a:ea typeface="Helvetica Neue" pitchFamily="34" charset="-122"/>
                <a:cs typeface="Helvetica Neue" pitchFamily="34" charset="-120"/>
              </a:rPr>
              <a:t>✕  no consensus protocol</a:t>
            </a:r>
            <a:endParaRPr lang="en-US" sz="1300" dirty="0"/>
          </a:p>
        </p:txBody>
      </p:sp>
      <p:sp>
        <p:nvSpPr>
          <p:cNvPr id="35" name="Shape 32"/>
          <p:cNvSpPr/>
          <p:nvPr/>
        </p:nvSpPr>
        <p:spPr>
          <a:xfrm>
            <a:off x="6217920" y="5074920"/>
            <a:ext cx="2651760" cy="457200"/>
          </a:xfrm>
          <a:prstGeom prst="roundRect">
            <a:avLst>
              <a:gd name="adj" fmla="val 16000"/>
            </a:avLst>
          </a:prstGeom>
          <a:solidFill>
            <a:srgbClr val="DFD6C0"/>
          </a:solidFill>
          <a:ln/>
        </p:spPr>
      </p:sp>
      <p:sp>
        <p:nvSpPr>
          <p:cNvPr id="36" name="Text 33"/>
          <p:cNvSpPr/>
          <p:nvPr/>
        </p:nvSpPr>
        <p:spPr>
          <a:xfrm>
            <a:off x="6217920" y="5074920"/>
            <a:ext cx="2651760" cy="457200"/>
          </a:xfrm>
          <a:prstGeom prst="rect">
            <a:avLst/>
          </a:prstGeom>
          <a:noFill/>
          <a:ln/>
        </p:spPr>
        <p:txBody>
          <a:bodyPr wrap="square" lIns="0" tIns="0" rIns="0" bIns="0" rtlCol="0" anchor="ctr"/>
          <a:lstStyle/>
          <a:p>
            <a:pPr algn="ctr" indent="0" marL="0">
              <a:buNone/>
            </a:pPr>
            <a:r>
              <a:rPr lang="en-US" sz="1300" dirty="0">
                <a:solidFill>
                  <a:srgbClr val="9A8A72"/>
                </a:solidFill>
                <a:latin typeface="Helvetica Neue" pitchFamily="34" charset="0"/>
                <a:ea typeface="Helvetica Neue" pitchFamily="34" charset="-122"/>
                <a:cs typeface="Helvetica Neue" pitchFamily="34" charset="-120"/>
              </a:rPr>
              <a:t>✕  no split brain</a:t>
            </a:r>
            <a:endParaRPr lang="en-US" sz="1300" dirty="0"/>
          </a:p>
        </p:txBody>
      </p:sp>
      <p:sp>
        <p:nvSpPr>
          <p:cNvPr id="37" name="Shape 34"/>
          <p:cNvSpPr/>
          <p:nvPr/>
        </p:nvSpPr>
        <p:spPr>
          <a:xfrm>
            <a:off x="9052560" y="5074920"/>
            <a:ext cx="2651760" cy="457200"/>
          </a:xfrm>
          <a:prstGeom prst="roundRect">
            <a:avLst>
              <a:gd name="adj" fmla="val 16000"/>
            </a:avLst>
          </a:prstGeom>
          <a:solidFill>
            <a:srgbClr val="DFD6C0"/>
          </a:solidFill>
          <a:ln/>
        </p:spPr>
      </p:sp>
      <p:sp>
        <p:nvSpPr>
          <p:cNvPr id="38" name="Text 35"/>
          <p:cNvSpPr/>
          <p:nvPr/>
        </p:nvSpPr>
        <p:spPr>
          <a:xfrm>
            <a:off x="9052560" y="5074920"/>
            <a:ext cx="2651760" cy="457200"/>
          </a:xfrm>
          <a:prstGeom prst="rect">
            <a:avLst/>
          </a:prstGeom>
          <a:noFill/>
          <a:ln/>
        </p:spPr>
        <p:txBody>
          <a:bodyPr wrap="square" lIns="0" tIns="0" rIns="0" bIns="0" rtlCol="0" anchor="ctr"/>
          <a:lstStyle/>
          <a:p>
            <a:pPr algn="ctr" indent="0" marL="0">
              <a:buNone/>
            </a:pPr>
            <a:r>
              <a:rPr lang="en-US" sz="1300" dirty="0">
                <a:solidFill>
                  <a:srgbClr val="9A8A72"/>
                </a:solidFill>
                <a:latin typeface="Helvetica Neue" pitchFamily="34" charset="0"/>
                <a:ea typeface="Helvetica Neue" pitchFamily="34" charset="-122"/>
                <a:cs typeface="Helvetica Neue" pitchFamily="34" charset="-120"/>
              </a:rPr>
              <a:t>✕  no virtual IP</a:t>
            </a:r>
            <a:endParaRPr lang="en-US" sz="1300" dirty="0"/>
          </a:p>
        </p:txBody>
      </p:sp>
      <p:sp>
        <p:nvSpPr>
          <p:cNvPr id="39" name="Shape 36"/>
          <p:cNvSpPr/>
          <p:nvPr/>
        </p:nvSpPr>
        <p:spPr>
          <a:xfrm>
            <a:off x="548640" y="5715000"/>
            <a:ext cx="54864" cy="457200"/>
          </a:xfrm>
          <a:prstGeom prst="rect">
            <a:avLst/>
          </a:prstGeom>
          <a:solidFill>
            <a:srgbClr val="A8864A"/>
          </a:solidFill>
          <a:ln/>
        </p:spPr>
      </p:sp>
      <p:sp>
        <p:nvSpPr>
          <p:cNvPr id="40" name="Text 37"/>
          <p:cNvSpPr/>
          <p:nvPr/>
        </p:nvSpPr>
        <p:spPr>
          <a:xfrm>
            <a:off x="777240" y="571500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The lease lives where the data lives, so the writer and the commit log cannot disagree.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 · HIGH AVAILABILITY</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12</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What a failover looks like from outside</a:t>
            </a:r>
            <a:endParaRPr lang="en-US" sz="2500" dirty="0"/>
          </a:p>
        </p:txBody>
      </p:sp>
      <p:sp>
        <p:nvSpPr>
          <p:cNvPr id="8" name="Text 5"/>
          <p:cNvSpPr/>
          <p:nvPr/>
        </p:nvSpPr>
        <p:spPr>
          <a:xfrm>
            <a:off x="548640" y="1691640"/>
            <a:ext cx="1280160" cy="365760"/>
          </a:xfrm>
          <a:prstGeom prst="rect">
            <a:avLst/>
          </a:prstGeom>
          <a:noFill/>
          <a:ln/>
        </p:spPr>
        <p:txBody>
          <a:bodyPr wrap="square" lIns="0" tIns="0" rIns="0" bIns="0" rtlCol="0" anchor="t"/>
          <a:lstStyle/>
          <a:p>
            <a:pPr indent="0" marL="0">
              <a:buNone/>
            </a:pPr>
            <a:r>
              <a:rPr lang="en-US" sz="1300" b="1" spc="100" kern="0" dirty="0">
                <a:solidFill>
                  <a:srgbClr val="3A2C1A"/>
                </a:solidFill>
                <a:latin typeface="Helvetica Neue" pitchFamily="34" charset="0"/>
                <a:ea typeface="Helvetica Neue" pitchFamily="34" charset="-122"/>
                <a:cs typeface="Helvetica Neue" pitchFamily="34" charset="-120"/>
              </a:rPr>
              <a:t>WRITES</a:t>
            </a:r>
            <a:endParaRPr lang="en-US" sz="1300" dirty="0"/>
          </a:p>
        </p:txBody>
      </p:sp>
      <p:sp>
        <p:nvSpPr>
          <p:cNvPr id="9" name="Shape 6"/>
          <p:cNvSpPr/>
          <p:nvPr/>
        </p:nvSpPr>
        <p:spPr>
          <a:xfrm>
            <a:off x="2011680" y="1645920"/>
            <a:ext cx="411480" cy="457200"/>
          </a:xfrm>
          <a:prstGeom prst="roundRect">
            <a:avLst>
              <a:gd name="adj" fmla="val 17778"/>
            </a:avLst>
          </a:prstGeom>
          <a:solidFill>
            <a:srgbClr val="5F7A3A"/>
          </a:solidFill>
          <a:ln/>
        </p:spPr>
      </p:sp>
      <p:sp>
        <p:nvSpPr>
          <p:cNvPr id="10" name="Shape 7"/>
          <p:cNvSpPr/>
          <p:nvPr/>
        </p:nvSpPr>
        <p:spPr>
          <a:xfrm>
            <a:off x="2478024" y="1645920"/>
            <a:ext cx="411480" cy="457200"/>
          </a:xfrm>
          <a:prstGeom prst="roundRect">
            <a:avLst>
              <a:gd name="adj" fmla="val 17778"/>
            </a:avLst>
          </a:prstGeom>
          <a:solidFill>
            <a:srgbClr val="5F7A3A"/>
          </a:solidFill>
          <a:ln/>
        </p:spPr>
      </p:sp>
      <p:sp>
        <p:nvSpPr>
          <p:cNvPr id="11" name="Shape 8"/>
          <p:cNvSpPr/>
          <p:nvPr/>
        </p:nvSpPr>
        <p:spPr>
          <a:xfrm>
            <a:off x="2944368" y="1645920"/>
            <a:ext cx="411480" cy="457200"/>
          </a:xfrm>
          <a:prstGeom prst="roundRect">
            <a:avLst>
              <a:gd name="adj" fmla="val 17778"/>
            </a:avLst>
          </a:prstGeom>
          <a:solidFill>
            <a:srgbClr val="5F7A3A"/>
          </a:solidFill>
          <a:ln/>
        </p:spPr>
      </p:sp>
      <p:sp>
        <p:nvSpPr>
          <p:cNvPr id="12" name="Shape 9"/>
          <p:cNvSpPr/>
          <p:nvPr/>
        </p:nvSpPr>
        <p:spPr>
          <a:xfrm>
            <a:off x="3410712" y="1645920"/>
            <a:ext cx="411480" cy="457200"/>
          </a:xfrm>
          <a:prstGeom prst="roundRect">
            <a:avLst>
              <a:gd name="adj" fmla="val 17778"/>
            </a:avLst>
          </a:prstGeom>
          <a:solidFill>
            <a:srgbClr val="5F7A3A"/>
          </a:solidFill>
          <a:ln/>
        </p:spPr>
      </p:sp>
      <p:sp>
        <p:nvSpPr>
          <p:cNvPr id="13" name="Shape 10"/>
          <p:cNvSpPr/>
          <p:nvPr/>
        </p:nvSpPr>
        <p:spPr>
          <a:xfrm>
            <a:off x="3877056" y="1645920"/>
            <a:ext cx="411480" cy="457200"/>
          </a:xfrm>
          <a:prstGeom prst="roundRect">
            <a:avLst>
              <a:gd name="adj" fmla="val 17778"/>
            </a:avLst>
          </a:prstGeom>
          <a:solidFill>
            <a:srgbClr val="5F7A3A"/>
          </a:solidFill>
          <a:ln/>
        </p:spPr>
      </p:sp>
      <p:sp>
        <p:nvSpPr>
          <p:cNvPr id="14" name="Shape 11"/>
          <p:cNvSpPr/>
          <p:nvPr/>
        </p:nvSpPr>
        <p:spPr>
          <a:xfrm>
            <a:off x="4343400" y="1645920"/>
            <a:ext cx="411480" cy="457200"/>
          </a:xfrm>
          <a:prstGeom prst="roundRect">
            <a:avLst>
              <a:gd name="adj" fmla="val 17778"/>
            </a:avLst>
          </a:prstGeom>
          <a:solidFill>
            <a:srgbClr val="5F7A3A"/>
          </a:solidFill>
          <a:ln/>
        </p:spPr>
      </p:sp>
      <p:sp>
        <p:nvSpPr>
          <p:cNvPr id="15" name="Shape 12"/>
          <p:cNvSpPr/>
          <p:nvPr/>
        </p:nvSpPr>
        <p:spPr>
          <a:xfrm>
            <a:off x="4809744" y="1645920"/>
            <a:ext cx="411480" cy="457200"/>
          </a:xfrm>
          <a:prstGeom prst="roundRect">
            <a:avLst>
              <a:gd name="adj" fmla="val 17778"/>
            </a:avLst>
          </a:prstGeom>
          <a:solidFill>
            <a:srgbClr val="5F7A3A"/>
          </a:solidFill>
          <a:ln/>
        </p:spPr>
      </p:sp>
      <p:sp>
        <p:nvSpPr>
          <p:cNvPr id="16" name="Shape 13"/>
          <p:cNvSpPr/>
          <p:nvPr/>
        </p:nvSpPr>
        <p:spPr>
          <a:xfrm>
            <a:off x="5276088" y="1645920"/>
            <a:ext cx="411480" cy="457200"/>
          </a:xfrm>
          <a:prstGeom prst="roundRect">
            <a:avLst>
              <a:gd name="adj" fmla="val 17778"/>
            </a:avLst>
          </a:prstGeom>
          <a:solidFill>
            <a:srgbClr val="9E4227"/>
          </a:solidFill>
          <a:ln/>
        </p:spPr>
      </p:sp>
      <p:sp>
        <p:nvSpPr>
          <p:cNvPr id="17" name="Shape 14"/>
          <p:cNvSpPr/>
          <p:nvPr/>
        </p:nvSpPr>
        <p:spPr>
          <a:xfrm>
            <a:off x="5742432" y="1645920"/>
            <a:ext cx="411480" cy="457200"/>
          </a:xfrm>
          <a:prstGeom prst="roundRect">
            <a:avLst>
              <a:gd name="adj" fmla="val 17778"/>
            </a:avLst>
          </a:prstGeom>
          <a:solidFill>
            <a:srgbClr val="9E4227"/>
          </a:solidFill>
          <a:ln/>
        </p:spPr>
      </p:sp>
      <p:sp>
        <p:nvSpPr>
          <p:cNvPr id="18" name="Shape 15"/>
          <p:cNvSpPr/>
          <p:nvPr/>
        </p:nvSpPr>
        <p:spPr>
          <a:xfrm>
            <a:off x="6208776" y="1645920"/>
            <a:ext cx="411480" cy="457200"/>
          </a:xfrm>
          <a:prstGeom prst="roundRect">
            <a:avLst>
              <a:gd name="adj" fmla="val 17778"/>
            </a:avLst>
          </a:prstGeom>
          <a:solidFill>
            <a:srgbClr val="9E4227"/>
          </a:solidFill>
          <a:ln/>
        </p:spPr>
      </p:sp>
      <p:sp>
        <p:nvSpPr>
          <p:cNvPr id="19" name="Shape 16"/>
          <p:cNvSpPr/>
          <p:nvPr/>
        </p:nvSpPr>
        <p:spPr>
          <a:xfrm>
            <a:off x="6675120" y="1645920"/>
            <a:ext cx="411480" cy="457200"/>
          </a:xfrm>
          <a:prstGeom prst="roundRect">
            <a:avLst>
              <a:gd name="adj" fmla="val 17778"/>
            </a:avLst>
          </a:prstGeom>
          <a:solidFill>
            <a:srgbClr val="9E4227"/>
          </a:solidFill>
          <a:ln/>
        </p:spPr>
      </p:sp>
      <p:sp>
        <p:nvSpPr>
          <p:cNvPr id="20" name="Shape 17"/>
          <p:cNvSpPr/>
          <p:nvPr/>
        </p:nvSpPr>
        <p:spPr>
          <a:xfrm>
            <a:off x="7141464" y="1645920"/>
            <a:ext cx="411480" cy="457200"/>
          </a:xfrm>
          <a:prstGeom prst="roundRect">
            <a:avLst>
              <a:gd name="adj" fmla="val 17778"/>
            </a:avLst>
          </a:prstGeom>
          <a:solidFill>
            <a:srgbClr val="9E4227"/>
          </a:solidFill>
          <a:ln/>
        </p:spPr>
      </p:sp>
      <p:sp>
        <p:nvSpPr>
          <p:cNvPr id="21" name="Shape 18"/>
          <p:cNvSpPr/>
          <p:nvPr/>
        </p:nvSpPr>
        <p:spPr>
          <a:xfrm>
            <a:off x="7607808" y="1645920"/>
            <a:ext cx="411480" cy="457200"/>
          </a:xfrm>
          <a:prstGeom prst="roundRect">
            <a:avLst>
              <a:gd name="adj" fmla="val 17778"/>
            </a:avLst>
          </a:prstGeom>
          <a:solidFill>
            <a:srgbClr val="5F7A3A"/>
          </a:solidFill>
          <a:ln/>
        </p:spPr>
      </p:sp>
      <p:sp>
        <p:nvSpPr>
          <p:cNvPr id="22" name="Shape 19"/>
          <p:cNvSpPr/>
          <p:nvPr/>
        </p:nvSpPr>
        <p:spPr>
          <a:xfrm>
            <a:off x="8074152" y="1645920"/>
            <a:ext cx="411480" cy="457200"/>
          </a:xfrm>
          <a:prstGeom prst="roundRect">
            <a:avLst>
              <a:gd name="adj" fmla="val 17778"/>
            </a:avLst>
          </a:prstGeom>
          <a:solidFill>
            <a:srgbClr val="5F7A3A"/>
          </a:solidFill>
          <a:ln/>
        </p:spPr>
      </p:sp>
      <p:sp>
        <p:nvSpPr>
          <p:cNvPr id="23" name="Shape 20"/>
          <p:cNvSpPr/>
          <p:nvPr/>
        </p:nvSpPr>
        <p:spPr>
          <a:xfrm>
            <a:off x="8540496" y="1645920"/>
            <a:ext cx="411480" cy="457200"/>
          </a:xfrm>
          <a:prstGeom prst="roundRect">
            <a:avLst>
              <a:gd name="adj" fmla="val 17778"/>
            </a:avLst>
          </a:prstGeom>
          <a:solidFill>
            <a:srgbClr val="5F7A3A"/>
          </a:solidFill>
          <a:ln/>
        </p:spPr>
      </p:sp>
      <p:sp>
        <p:nvSpPr>
          <p:cNvPr id="24" name="Shape 21"/>
          <p:cNvSpPr/>
          <p:nvPr/>
        </p:nvSpPr>
        <p:spPr>
          <a:xfrm>
            <a:off x="9006840" y="1645920"/>
            <a:ext cx="411480" cy="457200"/>
          </a:xfrm>
          <a:prstGeom prst="roundRect">
            <a:avLst>
              <a:gd name="adj" fmla="val 17778"/>
            </a:avLst>
          </a:prstGeom>
          <a:solidFill>
            <a:srgbClr val="5F7A3A"/>
          </a:solidFill>
          <a:ln/>
        </p:spPr>
      </p:sp>
      <p:sp>
        <p:nvSpPr>
          <p:cNvPr id="25" name="Shape 22"/>
          <p:cNvSpPr/>
          <p:nvPr/>
        </p:nvSpPr>
        <p:spPr>
          <a:xfrm>
            <a:off x="9473184" y="1645920"/>
            <a:ext cx="411480" cy="457200"/>
          </a:xfrm>
          <a:prstGeom prst="roundRect">
            <a:avLst>
              <a:gd name="adj" fmla="val 17778"/>
            </a:avLst>
          </a:prstGeom>
          <a:solidFill>
            <a:srgbClr val="5F7A3A"/>
          </a:solidFill>
          <a:ln/>
        </p:spPr>
      </p:sp>
      <p:sp>
        <p:nvSpPr>
          <p:cNvPr id="26" name="Shape 23"/>
          <p:cNvSpPr/>
          <p:nvPr/>
        </p:nvSpPr>
        <p:spPr>
          <a:xfrm>
            <a:off x="9939528" y="1645920"/>
            <a:ext cx="411480" cy="457200"/>
          </a:xfrm>
          <a:prstGeom prst="roundRect">
            <a:avLst>
              <a:gd name="adj" fmla="val 17778"/>
            </a:avLst>
          </a:prstGeom>
          <a:solidFill>
            <a:srgbClr val="5F7A3A"/>
          </a:solidFill>
          <a:ln/>
        </p:spPr>
      </p:sp>
      <p:sp>
        <p:nvSpPr>
          <p:cNvPr id="27" name="Shape 24"/>
          <p:cNvSpPr/>
          <p:nvPr/>
        </p:nvSpPr>
        <p:spPr>
          <a:xfrm>
            <a:off x="10405872" y="1645920"/>
            <a:ext cx="411480" cy="457200"/>
          </a:xfrm>
          <a:prstGeom prst="roundRect">
            <a:avLst>
              <a:gd name="adj" fmla="val 17778"/>
            </a:avLst>
          </a:prstGeom>
          <a:solidFill>
            <a:srgbClr val="5F7A3A"/>
          </a:solidFill>
          <a:ln/>
        </p:spPr>
      </p:sp>
      <p:sp>
        <p:nvSpPr>
          <p:cNvPr id="28" name="Shape 25"/>
          <p:cNvSpPr/>
          <p:nvPr/>
        </p:nvSpPr>
        <p:spPr>
          <a:xfrm>
            <a:off x="10872216" y="1645920"/>
            <a:ext cx="411480" cy="457200"/>
          </a:xfrm>
          <a:prstGeom prst="roundRect">
            <a:avLst>
              <a:gd name="adj" fmla="val 17778"/>
            </a:avLst>
          </a:prstGeom>
          <a:solidFill>
            <a:srgbClr val="5F7A3A"/>
          </a:solidFill>
          <a:ln/>
        </p:spPr>
      </p:sp>
      <p:sp>
        <p:nvSpPr>
          <p:cNvPr id="29" name="Shape 26"/>
          <p:cNvSpPr/>
          <p:nvPr/>
        </p:nvSpPr>
        <p:spPr>
          <a:xfrm>
            <a:off x="5276088" y="2194560"/>
            <a:ext cx="2276856" cy="91440"/>
          </a:xfrm>
          <a:prstGeom prst="rect">
            <a:avLst/>
          </a:prstGeom>
          <a:solidFill>
            <a:srgbClr val="9E4227"/>
          </a:solidFill>
          <a:ln/>
        </p:spPr>
      </p:sp>
      <p:sp>
        <p:nvSpPr>
          <p:cNvPr id="30" name="Text 27"/>
          <p:cNvSpPr/>
          <p:nvPr/>
        </p:nvSpPr>
        <p:spPr>
          <a:xfrm>
            <a:off x="4996282" y="2331720"/>
            <a:ext cx="3108960" cy="320040"/>
          </a:xfrm>
          <a:prstGeom prst="rect">
            <a:avLst/>
          </a:prstGeom>
          <a:noFill/>
          <a:ln/>
        </p:spPr>
        <p:txBody>
          <a:bodyPr wrap="square" lIns="0" tIns="0" rIns="0" bIns="0" rtlCol="0" anchor="t"/>
          <a:lstStyle/>
          <a:p>
            <a:pPr algn="ctr" indent="0" marL="0">
              <a:buNone/>
            </a:pPr>
            <a:r>
              <a:rPr lang="en-US" sz="1250" b="1" dirty="0">
                <a:solidFill>
                  <a:srgbClr val="9E4227"/>
                </a:solidFill>
                <a:latin typeface="Helvetica Neue" pitchFamily="34" charset="0"/>
                <a:ea typeface="Helvetica Neue" pitchFamily="34" charset="-122"/>
                <a:cs typeface="Helvetica Neue" pitchFamily="34" charset="-120"/>
              </a:rPr>
              <a:t>the window — writes fail</a:t>
            </a:r>
            <a:endParaRPr lang="en-US" sz="1250" dirty="0"/>
          </a:p>
        </p:txBody>
      </p:sp>
      <p:sp>
        <p:nvSpPr>
          <p:cNvPr id="31" name="Text 28"/>
          <p:cNvSpPr/>
          <p:nvPr/>
        </p:nvSpPr>
        <p:spPr>
          <a:xfrm>
            <a:off x="4623206" y="1325880"/>
            <a:ext cx="1463040" cy="320040"/>
          </a:xfrm>
          <a:prstGeom prst="rect">
            <a:avLst/>
          </a:prstGeom>
          <a:noFill/>
          <a:ln/>
        </p:spPr>
        <p:txBody>
          <a:bodyPr wrap="square" lIns="0" tIns="0" rIns="0" bIns="0" rtlCol="0" anchor="t"/>
          <a:lstStyle/>
          <a:p>
            <a:pPr algn="ctr" indent="0" marL="0">
              <a:buNone/>
            </a:pPr>
            <a:r>
              <a:rPr lang="en-US" sz="1200" dirty="0">
                <a:solidFill>
                  <a:srgbClr val="9E4227"/>
                </a:solidFill>
                <a:latin typeface="Helvetica Neue" pitchFamily="34" charset="0"/>
                <a:ea typeface="Helvetica Neue" pitchFamily="34" charset="-122"/>
                <a:cs typeface="Helvetica Neue" pitchFamily="34" charset="-120"/>
              </a:rPr>
              <a:t>A dies</a:t>
            </a:r>
            <a:endParaRPr lang="en-US" sz="1200" dirty="0"/>
          </a:p>
        </p:txBody>
      </p:sp>
      <p:sp>
        <p:nvSpPr>
          <p:cNvPr id="32" name="Text 29"/>
          <p:cNvSpPr/>
          <p:nvPr/>
        </p:nvSpPr>
        <p:spPr>
          <a:xfrm>
            <a:off x="6861658" y="1325880"/>
            <a:ext cx="2194560" cy="320040"/>
          </a:xfrm>
          <a:prstGeom prst="rect">
            <a:avLst/>
          </a:prstGeom>
          <a:noFill/>
          <a:ln/>
        </p:spPr>
        <p:txBody>
          <a:bodyPr wrap="square" lIns="0" tIns="0" rIns="0" bIns="0" rtlCol="0" anchor="t"/>
          <a:lstStyle/>
          <a:p>
            <a:pPr algn="ctr" indent="0" marL="0">
              <a:buNone/>
            </a:pPr>
            <a:r>
              <a:rPr lang="en-US" sz="1200" dirty="0">
                <a:solidFill>
                  <a:srgbClr val="5F7A3A"/>
                </a:solidFill>
                <a:latin typeface="Helvetica Neue" pitchFamily="34" charset="0"/>
                <a:ea typeface="Helvetica Neue" pitchFamily="34" charset="-122"/>
                <a:cs typeface="Helvetica Neue" pitchFamily="34" charset="-120"/>
              </a:rPr>
              <a:t>B has the lease</a:t>
            </a:r>
            <a:endParaRPr lang="en-US" sz="1200" dirty="0"/>
          </a:p>
        </p:txBody>
      </p:sp>
      <p:sp>
        <p:nvSpPr>
          <p:cNvPr id="33" name="Text 30"/>
          <p:cNvSpPr/>
          <p:nvPr/>
        </p:nvSpPr>
        <p:spPr>
          <a:xfrm>
            <a:off x="548640" y="2788920"/>
            <a:ext cx="1280160" cy="365760"/>
          </a:xfrm>
          <a:prstGeom prst="rect">
            <a:avLst/>
          </a:prstGeom>
          <a:noFill/>
          <a:ln/>
        </p:spPr>
        <p:txBody>
          <a:bodyPr wrap="square" lIns="0" tIns="0" rIns="0" bIns="0" rtlCol="0" anchor="t"/>
          <a:lstStyle/>
          <a:p>
            <a:pPr indent="0" marL="0">
              <a:buNone/>
            </a:pPr>
            <a:r>
              <a:rPr lang="en-US" sz="1300" b="1" spc="100" kern="0" dirty="0">
                <a:solidFill>
                  <a:srgbClr val="3A2C1A"/>
                </a:solidFill>
                <a:latin typeface="Helvetica Neue" pitchFamily="34" charset="0"/>
                <a:ea typeface="Helvetica Neue" pitchFamily="34" charset="-122"/>
                <a:cs typeface="Helvetica Neue" pitchFamily="34" charset="-120"/>
              </a:rPr>
              <a:t>READS</a:t>
            </a:r>
            <a:endParaRPr lang="en-US" sz="1300" dirty="0"/>
          </a:p>
        </p:txBody>
      </p:sp>
      <p:sp>
        <p:nvSpPr>
          <p:cNvPr id="34" name="Shape 31"/>
          <p:cNvSpPr/>
          <p:nvPr/>
        </p:nvSpPr>
        <p:spPr>
          <a:xfrm>
            <a:off x="2011680" y="2743200"/>
            <a:ext cx="411480" cy="457200"/>
          </a:xfrm>
          <a:prstGeom prst="roundRect">
            <a:avLst>
              <a:gd name="adj" fmla="val 17778"/>
            </a:avLst>
          </a:prstGeom>
          <a:solidFill>
            <a:srgbClr val="3F6470"/>
          </a:solidFill>
          <a:ln/>
        </p:spPr>
      </p:sp>
      <p:sp>
        <p:nvSpPr>
          <p:cNvPr id="35" name="Shape 32"/>
          <p:cNvSpPr/>
          <p:nvPr/>
        </p:nvSpPr>
        <p:spPr>
          <a:xfrm>
            <a:off x="2478024" y="2743200"/>
            <a:ext cx="411480" cy="457200"/>
          </a:xfrm>
          <a:prstGeom prst="roundRect">
            <a:avLst>
              <a:gd name="adj" fmla="val 17778"/>
            </a:avLst>
          </a:prstGeom>
          <a:solidFill>
            <a:srgbClr val="3F6470"/>
          </a:solidFill>
          <a:ln/>
        </p:spPr>
      </p:sp>
      <p:sp>
        <p:nvSpPr>
          <p:cNvPr id="36" name="Shape 33"/>
          <p:cNvSpPr/>
          <p:nvPr/>
        </p:nvSpPr>
        <p:spPr>
          <a:xfrm>
            <a:off x="2944368" y="2743200"/>
            <a:ext cx="411480" cy="457200"/>
          </a:xfrm>
          <a:prstGeom prst="roundRect">
            <a:avLst>
              <a:gd name="adj" fmla="val 17778"/>
            </a:avLst>
          </a:prstGeom>
          <a:solidFill>
            <a:srgbClr val="3F6470"/>
          </a:solidFill>
          <a:ln/>
        </p:spPr>
      </p:sp>
      <p:sp>
        <p:nvSpPr>
          <p:cNvPr id="37" name="Shape 34"/>
          <p:cNvSpPr/>
          <p:nvPr/>
        </p:nvSpPr>
        <p:spPr>
          <a:xfrm>
            <a:off x="3410712" y="2743200"/>
            <a:ext cx="411480" cy="457200"/>
          </a:xfrm>
          <a:prstGeom prst="roundRect">
            <a:avLst>
              <a:gd name="adj" fmla="val 17778"/>
            </a:avLst>
          </a:prstGeom>
          <a:solidFill>
            <a:srgbClr val="3F6470"/>
          </a:solidFill>
          <a:ln/>
        </p:spPr>
      </p:sp>
      <p:sp>
        <p:nvSpPr>
          <p:cNvPr id="38" name="Shape 35"/>
          <p:cNvSpPr/>
          <p:nvPr/>
        </p:nvSpPr>
        <p:spPr>
          <a:xfrm>
            <a:off x="3877056" y="2743200"/>
            <a:ext cx="411480" cy="457200"/>
          </a:xfrm>
          <a:prstGeom prst="roundRect">
            <a:avLst>
              <a:gd name="adj" fmla="val 17778"/>
            </a:avLst>
          </a:prstGeom>
          <a:solidFill>
            <a:srgbClr val="3F6470"/>
          </a:solidFill>
          <a:ln/>
        </p:spPr>
      </p:sp>
      <p:sp>
        <p:nvSpPr>
          <p:cNvPr id="39" name="Shape 36"/>
          <p:cNvSpPr/>
          <p:nvPr/>
        </p:nvSpPr>
        <p:spPr>
          <a:xfrm>
            <a:off x="4343400" y="2743200"/>
            <a:ext cx="411480" cy="457200"/>
          </a:xfrm>
          <a:prstGeom prst="roundRect">
            <a:avLst>
              <a:gd name="adj" fmla="val 17778"/>
            </a:avLst>
          </a:prstGeom>
          <a:solidFill>
            <a:srgbClr val="3F6470"/>
          </a:solidFill>
          <a:ln/>
        </p:spPr>
      </p:sp>
      <p:sp>
        <p:nvSpPr>
          <p:cNvPr id="40" name="Shape 37"/>
          <p:cNvSpPr/>
          <p:nvPr/>
        </p:nvSpPr>
        <p:spPr>
          <a:xfrm>
            <a:off x="4809744" y="2743200"/>
            <a:ext cx="411480" cy="457200"/>
          </a:xfrm>
          <a:prstGeom prst="roundRect">
            <a:avLst>
              <a:gd name="adj" fmla="val 17778"/>
            </a:avLst>
          </a:prstGeom>
          <a:solidFill>
            <a:srgbClr val="3F6470"/>
          </a:solidFill>
          <a:ln/>
        </p:spPr>
      </p:sp>
      <p:sp>
        <p:nvSpPr>
          <p:cNvPr id="41" name="Shape 38"/>
          <p:cNvSpPr/>
          <p:nvPr/>
        </p:nvSpPr>
        <p:spPr>
          <a:xfrm>
            <a:off x="5276088" y="2743200"/>
            <a:ext cx="411480" cy="457200"/>
          </a:xfrm>
          <a:prstGeom prst="roundRect">
            <a:avLst>
              <a:gd name="adj" fmla="val 17778"/>
            </a:avLst>
          </a:prstGeom>
          <a:solidFill>
            <a:srgbClr val="3F6470"/>
          </a:solidFill>
          <a:ln/>
        </p:spPr>
      </p:sp>
      <p:sp>
        <p:nvSpPr>
          <p:cNvPr id="42" name="Shape 39"/>
          <p:cNvSpPr/>
          <p:nvPr/>
        </p:nvSpPr>
        <p:spPr>
          <a:xfrm>
            <a:off x="5742432" y="2743200"/>
            <a:ext cx="411480" cy="457200"/>
          </a:xfrm>
          <a:prstGeom prst="roundRect">
            <a:avLst>
              <a:gd name="adj" fmla="val 17778"/>
            </a:avLst>
          </a:prstGeom>
          <a:solidFill>
            <a:srgbClr val="3F6470"/>
          </a:solidFill>
          <a:ln/>
        </p:spPr>
      </p:sp>
      <p:sp>
        <p:nvSpPr>
          <p:cNvPr id="43" name="Shape 40"/>
          <p:cNvSpPr/>
          <p:nvPr/>
        </p:nvSpPr>
        <p:spPr>
          <a:xfrm>
            <a:off x="6208776" y="2743200"/>
            <a:ext cx="411480" cy="457200"/>
          </a:xfrm>
          <a:prstGeom prst="roundRect">
            <a:avLst>
              <a:gd name="adj" fmla="val 17778"/>
            </a:avLst>
          </a:prstGeom>
          <a:solidFill>
            <a:srgbClr val="3F6470"/>
          </a:solidFill>
          <a:ln/>
        </p:spPr>
      </p:sp>
      <p:sp>
        <p:nvSpPr>
          <p:cNvPr id="44" name="Shape 41"/>
          <p:cNvSpPr/>
          <p:nvPr/>
        </p:nvSpPr>
        <p:spPr>
          <a:xfrm>
            <a:off x="6675120" y="2743200"/>
            <a:ext cx="411480" cy="457200"/>
          </a:xfrm>
          <a:prstGeom prst="roundRect">
            <a:avLst>
              <a:gd name="adj" fmla="val 17778"/>
            </a:avLst>
          </a:prstGeom>
          <a:solidFill>
            <a:srgbClr val="3F6470"/>
          </a:solidFill>
          <a:ln/>
        </p:spPr>
      </p:sp>
      <p:sp>
        <p:nvSpPr>
          <p:cNvPr id="45" name="Shape 42"/>
          <p:cNvSpPr/>
          <p:nvPr/>
        </p:nvSpPr>
        <p:spPr>
          <a:xfrm>
            <a:off x="7141464" y="2743200"/>
            <a:ext cx="411480" cy="457200"/>
          </a:xfrm>
          <a:prstGeom prst="roundRect">
            <a:avLst>
              <a:gd name="adj" fmla="val 17778"/>
            </a:avLst>
          </a:prstGeom>
          <a:solidFill>
            <a:srgbClr val="3F6470"/>
          </a:solidFill>
          <a:ln/>
        </p:spPr>
      </p:sp>
      <p:sp>
        <p:nvSpPr>
          <p:cNvPr id="46" name="Shape 43"/>
          <p:cNvSpPr/>
          <p:nvPr/>
        </p:nvSpPr>
        <p:spPr>
          <a:xfrm>
            <a:off x="7607808" y="2743200"/>
            <a:ext cx="411480" cy="457200"/>
          </a:xfrm>
          <a:prstGeom prst="roundRect">
            <a:avLst>
              <a:gd name="adj" fmla="val 17778"/>
            </a:avLst>
          </a:prstGeom>
          <a:solidFill>
            <a:srgbClr val="3F6470"/>
          </a:solidFill>
          <a:ln/>
        </p:spPr>
      </p:sp>
      <p:sp>
        <p:nvSpPr>
          <p:cNvPr id="47" name="Shape 44"/>
          <p:cNvSpPr/>
          <p:nvPr/>
        </p:nvSpPr>
        <p:spPr>
          <a:xfrm>
            <a:off x="8074152" y="2743200"/>
            <a:ext cx="411480" cy="457200"/>
          </a:xfrm>
          <a:prstGeom prst="roundRect">
            <a:avLst>
              <a:gd name="adj" fmla="val 17778"/>
            </a:avLst>
          </a:prstGeom>
          <a:solidFill>
            <a:srgbClr val="3F6470"/>
          </a:solidFill>
          <a:ln/>
        </p:spPr>
      </p:sp>
      <p:sp>
        <p:nvSpPr>
          <p:cNvPr id="48" name="Shape 45"/>
          <p:cNvSpPr/>
          <p:nvPr/>
        </p:nvSpPr>
        <p:spPr>
          <a:xfrm>
            <a:off x="8540496" y="2743200"/>
            <a:ext cx="411480" cy="457200"/>
          </a:xfrm>
          <a:prstGeom prst="roundRect">
            <a:avLst>
              <a:gd name="adj" fmla="val 17778"/>
            </a:avLst>
          </a:prstGeom>
          <a:solidFill>
            <a:srgbClr val="3F6470"/>
          </a:solidFill>
          <a:ln/>
        </p:spPr>
      </p:sp>
      <p:sp>
        <p:nvSpPr>
          <p:cNvPr id="49" name="Shape 46"/>
          <p:cNvSpPr/>
          <p:nvPr/>
        </p:nvSpPr>
        <p:spPr>
          <a:xfrm>
            <a:off x="9006840" y="2743200"/>
            <a:ext cx="411480" cy="457200"/>
          </a:xfrm>
          <a:prstGeom prst="roundRect">
            <a:avLst>
              <a:gd name="adj" fmla="val 17778"/>
            </a:avLst>
          </a:prstGeom>
          <a:solidFill>
            <a:srgbClr val="3F6470"/>
          </a:solidFill>
          <a:ln/>
        </p:spPr>
      </p:sp>
      <p:sp>
        <p:nvSpPr>
          <p:cNvPr id="50" name="Shape 47"/>
          <p:cNvSpPr/>
          <p:nvPr/>
        </p:nvSpPr>
        <p:spPr>
          <a:xfrm>
            <a:off x="9473184" y="2743200"/>
            <a:ext cx="411480" cy="457200"/>
          </a:xfrm>
          <a:prstGeom prst="roundRect">
            <a:avLst>
              <a:gd name="adj" fmla="val 17778"/>
            </a:avLst>
          </a:prstGeom>
          <a:solidFill>
            <a:srgbClr val="3F6470"/>
          </a:solidFill>
          <a:ln/>
        </p:spPr>
      </p:sp>
      <p:sp>
        <p:nvSpPr>
          <p:cNvPr id="51" name="Shape 48"/>
          <p:cNvSpPr/>
          <p:nvPr/>
        </p:nvSpPr>
        <p:spPr>
          <a:xfrm>
            <a:off x="9939528" y="2743200"/>
            <a:ext cx="411480" cy="457200"/>
          </a:xfrm>
          <a:prstGeom prst="roundRect">
            <a:avLst>
              <a:gd name="adj" fmla="val 17778"/>
            </a:avLst>
          </a:prstGeom>
          <a:solidFill>
            <a:srgbClr val="3F6470"/>
          </a:solidFill>
          <a:ln/>
        </p:spPr>
      </p:sp>
      <p:sp>
        <p:nvSpPr>
          <p:cNvPr id="52" name="Shape 49"/>
          <p:cNvSpPr/>
          <p:nvPr/>
        </p:nvSpPr>
        <p:spPr>
          <a:xfrm>
            <a:off x="10405872" y="2743200"/>
            <a:ext cx="411480" cy="457200"/>
          </a:xfrm>
          <a:prstGeom prst="roundRect">
            <a:avLst>
              <a:gd name="adj" fmla="val 17778"/>
            </a:avLst>
          </a:prstGeom>
          <a:solidFill>
            <a:srgbClr val="3F6470"/>
          </a:solidFill>
          <a:ln/>
        </p:spPr>
      </p:sp>
      <p:sp>
        <p:nvSpPr>
          <p:cNvPr id="53" name="Shape 50"/>
          <p:cNvSpPr/>
          <p:nvPr/>
        </p:nvSpPr>
        <p:spPr>
          <a:xfrm>
            <a:off x="10872216" y="2743200"/>
            <a:ext cx="411480" cy="457200"/>
          </a:xfrm>
          <a:prstGeom prst="roundRect">
            <a:avLst>
              <a:gd name="adj" fmla="val 17778"/>
            </a:avLst>
          </a:prstGeom>
          <a:solidFill>
            <a:srgbClr val="3F6470"/>
          </a:solidFill>
          <a:ln/>
        </p:spPr>
      </p:sp>
      <p:sp>
        <p:nvSpPr>
          <p:cNvPr id="54" name="Text 51"/>
          <p:cNvSpPr/>
          <p:nvPr/>
        </p:nvSpPr>
        <p:spPr>
          <a:xfrm>
            <a:off x="2011680" y="3291840"/>
            <a:ext cx="9326880" cy="320040"/>
          </a:xfrm>
          <a:prstGeom prst="rect">
            <a:avLst/>
          </a:prstGeom>
          <a:noFill/>
          <a:ln/>
        </p:spPr>
        <p:txBody>
          <a:bodyPr wrap="square" lIns="0" tIns="0" rIns="0" bIns="0" rtlCol="0" anchor="t"/>
          <a:lstStyle/>
          <a:p>
            <a:pPr indent="0" marL="0">
              <a:buNone/>
            </a:pPr>
            <a:r>
              <a:rPr lang="en-US" sz="1250" dirty="0">
                <a:solidFill>
                  <a:srgbClr val="3F6470"/>
                </a:solidFill>
                <a:latin typeface="Helvetica Neue" pitchFamily="34" charset="0"/>
                <a:ea typeface="Helvetica Neue" pitchFamily="34" charset="-122"/>
                <a:cs typeface="Helvetica Neue" pitchFamily="34" charset="-120"/>
              </a:rPr>
              <a:t>uninterrupted — peers never asked the transactor anything</a:t>
            </a:r>
            <a:endParaRPr lang="en-US" sz="1250" dirty="0"/>
          </a:p>
        </p:txBody>
      </p:sp>
      <p:sp>
        <p:nvSpPr>
          <p:cNvPr id="55" name="Text 52"/>
          <p:cNvSpPr/>
          <p:nvPr/>
        </p:nvSpPr>
        <p:spPr>
          <a:xfrm>
            <a:off x="548640" y="3794760"/>
            <a:ext cx="1106424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The peer reconnects by itself:</a:t>
            </a:r>
            <a:endParaRPr lang="en-US" sz="1400" dirty="0"/>
          </a:p>
        </p:txBody>
      </p:sp>
      <p:sp>
        <p:nvSpPr>
          <p:cNvPr id="56" name="Shape 53"/>
          <p:cNvSpPr/>
          <p:nvPr/>
        </p:nvSpPr>
        <p:spPr>
          <a:xfrm>
            <a:off x="548640" y="4160520"/>
            <a:ext cx="3520440" cy="502920"/>
          </a:xfrm>
          <a:prstGeom prst="roundRect">
            <a:avLst>
              <a:gd name="adj" fmla="val 10909"/>
            </a:avLst>
          </a:prstGeom>
          <a:solidFill>
            <a:srgbClr val="DDE3CC"/>
          </a:solidFill>
          <a:ln w="15875">
            <a:solidFill>
              <a:srgbClr val="5F7A3A"/>
            </a:solidFill>
            <a:prstDash val="solid"/>
          </a:ln>
        </p:spPr>
      </p:sp>
      <p:sp>
        <p:nvSpPr>
          <p:cNvPr id="57" name="Text 54"/>
          <p:cNvSpPr/>
          <p:nvPr/>
        </p:nvSpPr>
        <p:spPr>
          <a:xfrm>
            <a:off x="621792" y="4160520"/>
            <a:ext cx="3374136" cy="502920"/>
          </a:xfrm>
          <a:prstGeom prst="rect">
            <a:avLst/>
          </a:prstGeom>
          <a:noFill/>
          <a:ln/>
        </p:spPr>
        <p:txBody>
          <a:bodyPr wrap="square" lIns="0" tIns="0" rIns="0" bIns="0" rtlCol="0" anchor="ctr">
            <a:normAutofit/>
          </a:bodyPr>
          <a:lstStyle/>
          <a:p>
            <a:pPr algn="ctr" indent="0" marL="0">
              <a:buNone/>
            </a:pPr>
            <a:r>
              <a:rPr lang="en-US" sz="1300" b="1" dirty="0">
                <a:solidFill>
                  <a:srgbClr val="5F7A3A"/>
                </a:solidFill>
                <a:latin typeface="Helvetica Neue" pitchFamily="34" charset="0"/>
                <a:ea typeface="Helvetica Neue" pitchFamily="34" charset="-122"/>
                <a:cs typeface="Helvetica Neue" pitchFamily="34" charset="-120"/>
              </a:rPr>
              <a:t>✓  no URI change</a:t>
            </a:r>
            <a:endParaRPr lang="en-US" sz="1300" dirty="0"/>
          </a:p>
        </p:txBody>
      </p:sp>
      <p:sp>
        <p:nvSpPr>
          <p:cNvPr id="58" name="Shape 55"/>
          <p:cNvSpPr/>
          <p:nvPr/>
        </p:nvSpPr>
        <p:spPr>
          <a:xfrm>
            <a:off x="4251960" y="4160520"/>
            <a:ext cx="3520440" cy="502920"/>
          </a:xfrm>
          <a:prstGeom prst="roundRect">
            <a:avLst>
              <a:gd name="adj" fmla="val 10909"/>
            </a:avLst>
          </a:prstGeom>
          <a:solidFill>
            <a:srgbClr val="DDE3CC"/>
          </a:solidFill>
          <a:ln w="15875">
            <a:solidFill>
              <a:srgbClr val="5F7A3A"/>
            </a:solidFill>
            <a:prstDash val="solid"/>
          </a:ln>
        </p:spPr>
      </p:sp>
      <p:sp>
        <p:nvSpPr>
          <p:cNvPr id="59" name="Text 56"/>
          <p:cNvSpPr/>
          <p:nvPr/>
        </p:nvSpPr>
        <p:spPr>
          <a:xfrm>
            <a:off x="4325112" y="4160520"/>
            <a:ext cx="3374136" cy="502920"/>
          </a:xfrm>
          <a:prstGeom prst="rect">
            <a:avLst/>
          </a:prstGeom>
          <a:noFill/>
          <a:ln/>
        </p:spPr>
        <p:txBody>
          <a:bodyPr wrap="square" lIns="0" tIns="0" rIns="0" bIns="0" rtlCol="0" anchor="ctr">
            <a:normAutofit/>
          </a:bodyPr>
          <a:lstStyle/>
          <a:p>
            <a:pPr algn="ctr" indent="0" marL="0">
              <a:buNone/>
            </a:pPr>
            <a:r>
              <a:rPr lang="en-US" sz="1300" b="1" dirty="0">
                <a:solidFill>
                  <a:srgbClr val="5F7A3A"/>
                </a:solidFill>
                <a:latin typeface="Helvetica Neue" pitchFamily="34" charset="0"/>
                <a:ea typeface="Helvetica Neue" pitchFamily="34" charset="-122"/>
                <a:cs typeface="Helvetica Neue" pitchFamily="34" charset="-120"/>
              </a:rPr>
              <a:t>✓  no peer restart</a:t>
            </a:r>
            <a:endParaRPr lang="en-US" sz="1300" dirty="0"/>
          </a:p>
        </p:txBody>
      </p:sp>
      <p:sp>
        <p:nvSpPr>
          <p:cNvPr id="60" name="Shape 57"/>
          <p:cNvSpPr/>
          <p:nvPr/>
        </p:nvSpPr>
        <p:spPr>
          <a:xfrm>
            <a:off x="7955280" y="4160520"/>
            <a:ext cx="3520440" cy="502920"/>
          </a:xfrm>
          <a:prstGeom prst="roundRect">
            <a:avLst>
              <a:gd name="adj" fmla="val 10909"/>
            </a:avLst>
          </a:prstGeom>
          <a:solidFill>
            <a:srgbClr val="DDE3CC"/>
          </a:solidFill>
          <a:ln w="15875">
            <a:solidFill>
              <a:srgbClr val="5F7A3A"/>
            </a:solidFill>
            <a:prstDash val="solid"/>
          </a:ln>
        </p:spPr>
      </p:sp>
      <p:sp>
        <p:nvSpPr>
          <p:cNvPr id="61" name="Text 58"/>
          <p:cNvSpPr/>
          <p:nvPr/>
        </p:nvSpPr>
        <p:spPr>
          <a:xfrm>
            <a:off x="8028432" y="4160520"/>
            <a:ext cx="3374136" cy="502920"/>
          </a:xfrm>
          <a:prstGeom prst="rect">
            <a:avLst/>
          </a:prstGeom>
          <a:noFill/>
          <a:ln/>
        </p:spPr>
        <p:txBody>
          <a:bodyPr wrap="square" lIns="0" tIns="0" rIns="0" bIns="0" rtlCol="0" anchor="ctr">
            <a:normAutofit/>
          </a:bodyPr>
          <a:lstStyle/>
          <a:p>
            <a:pPr algn="ctr" indent="0" marL="0">
              <a:buNone/>
            </a:pPr>
            <a:r>
              <a:rPr lang="en-US" sz="1300" b="1" dirty="0">
                <a:solidFill>
                  <a:srgbClr val="5F7A3A"/>
                </a:solidFill>
                <a:latin typeface="Helvetica Neue" pitchFamily="34" charset="0"/>
                <a:ea typeface="Helvetica Neue" pitchFamily="34" charset="-122"/>
                <a:cs typeface="Helvetica Neue" pitchFamily="34" charset="-120"/>
              </a:rPr>
              <a:t>✓  no load balancer</a:t>
            </a:r>
            <a:endParaRPr lang="en-US" sz="1300" dirty="0"/>
          </a:p>
        </p:txBody>
      </p:sp>
      <p:sp>
        <p:nvSpPr>
          <p:cNvPr id="62" name="Shape 59"/>
          <p:cNvSpPr/>
          <p:nvPr/>
        </p:nvSpPr>
        <p:spPr>
          <a:xfrm>
            <a:off x="548640" y="4892040"/>
            <a:ext cx="11064240" cy="1097280"/>
          </a:xfrm>
          <a:prstGeom prst="roundRect">
            <a:avLst>
              <a:gd name="adj" fmla="val 6667"/>
            </a:avLst>
          </a:prstGeom>
          <a:solidFill>
            <a:srgbClr val="DFD6C0"/>
          </a:solidFill>
          <a:ln/>
        </p:spPr>
      </p:sp>
      <p:sp>
        <p:nvSpPr>
          <p:cNvPr id="63" name="Shape 60"/>
          <p:cNvSpPr/>
          <p:nvPr/>
        </p:nvSpPr>
        <p:spPr>
          <a:xfrm>
            <a:off x="548640" y="4892040"/>
            <a:ext cx="82296" cy="1097280"/>
          </a:xfrm>
          <a:prstGeom prst="rect">
            <a:avLst/>
          </a:prstGeom>
          <a:solidFill>
            <a:srgbClr val="A8864A"/>
          </a:solidFill>
          <a:ln/>
        </p:spPr>
      </p:sp>
      <p:sp>
        <p:nvSpPr>
          <p:cNvPr id="64" name="Text 61"/>
          <p:cNvSpPr/>
          <p:nvPr/>
        </p:nvSpPr>
        <p:spPr>
          <a:xfrm>
            <a:off x="822960" y="500176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§2</a:t>
            </a:r>
            <a:endParaRPr lang="en-US" sz="1300" dirty="0"/>
          </a:p>
        </p:txBody>
      </p:sp>
      <p:sp>
        <p:nvSpPr>
          <p:cNvPr id="65" name="Shape 62"/>
          <p:cNvSpPr/>
          <p:nvPr/>
        </p:nvSpPr>
        <p:spPr>
          <a:xfrm>
            <a:off x="10561320" y="5001768"/>
            <a:ext cx="777240" cy="292608"/>
          </a:xfrm>
          <a:prstGeom prst="roundRect">
            <a:avLst>
              <a:gd name="adj" fmla="val 25000"/>
            </a:avLst>
          </a:prstGeom>
          <a:solidFill>
            <a:srgbClr val="EBD5CB"/>
          </a:solidFill>
          <a:ln/>
        </p:spPr>
      </p:sp>
      <p:sp>
        <p:nvSpPr>
          <p:cNvPr id="66" name="Text 63"/>
          <p:cNvSpPr/>
          <p:nvPr/>
        </p:nvSpPr>
        <p:spPr>
          <a:xfrm>
            <a:off x="10561320" y="5001768"/>
            <a:ext cx="777240" cy="292608"/>
          </a:xfrm>
          <a:prstGeom prst="rect">
            <a:avLst/>
          </a:prstGeom>
          <a:noFill/>
          <a:ln/>
        </p:spPr>
        <p:txBody>
          <a:bodyPr wrap="square" lIns="0" tIns="0" rIns="0" bIns="0" rtlCol="0" anchor="ctr"/>
          <a:lstStyle/>
          <a:p>
            <a:pPr algn="ctr" indent="0" marL="0">
              <a:buNone/>
            </a:pPr>
            <a:r>
              <a:rPr lang="en-US" sz="1100" b="1" dirty="0">
                <a:solidFill>
                  <a:srgbClr val="9E4227"/>
                </a:solidFill>
                <a:latin typeface="Helvetica Neue" pitchFamily="34" charset="0"/>
                <a:ea typeface="Helvetica Neue" pitchFamily="34" charset="-122"/>
                <a:cs typeface="Helvetica Neue" pitchFamily="34" charset="-120"/>
              </a:rPr>
              <a:t>[PRO]</a:t>
            </a:r>
            <a:endParaRPr lang="en-US" sz="1100" dirty="0"/>
          </a:p>
        </p:txBody>
      </p:sp>
      <p:sp>
        <p:nvSpPr>
          <p:cNvPr id="67" name="Text 64"/>
          <p:cNvSpPr/>
          <p:nvPr/>
        </p:nvSpPr>
        <p:spPr>
          <a:xfrm>
            <a:off x="822960" y="5349240"/>
            <a:ext cx="10515600" cy="53035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Start (writer-loop!), then  pkill -f pg-transactor.properties, then read (failover-report @timeline).</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That number is the write-availability SLO for this environment.</a:t>
            </a:r>
            <a:endParaRPr lang="en-US" sz="1250" dirty="0"/>
          </a:p>
        </p:txBody>
      </p:sp>
      <p:sp>
        <p:nvSpPr>
          <p:cNvPr id="68" name="Text 65"/>
          <p:cNvSpPr/>
          <p:nvPr/>
        </p:nvSpPr>
        <p:spPr>
          <a:xfrm>
            <a:off x="548640" y="612648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The window depends on heartbeat-interval-msec, storage latency, and standby JVM warmth. Measure it where you run it.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 · HIGH AVAILABILITY</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13</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What a standby covers — and what it does not</a:t>
            </a:r>
            <a:endParaRPr lang="en-US" sz="2500" dirty="0"/>
          </a:p>
        </p:txBody>
      </p:sp>
      <p:sp>
        <p:nvSpPr>
          <p:cNvPr id="8" name="Shape 5"/>
          <p:cNvSpPr/>
          <p:nvPr/>
        </p:nvSpPr>
        <p:spPr>
          <a:xfrm>
            <a:off x="548640" y="1325880"/>
            <a:ext cx="5349240" cy="3291840"/>
          </a:xfrm>
          <a:prstGeom prst="roundRect">
            <a:avLst>
              <a:gd name="adj" fmla="val 2222"/>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DDE3CC"/>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5F7A3A"/>
                </a:solidFill>
                <a:latin typeface="Helvetica Neue" pitchFamily="34" charset="0"/>
                <a:ea typeface="Helvetica Neue" pitchFamily="34" charset="-122"/>
                <a:cs typeface="Helvetica Neue" pitchFamily="34" charset="-120"/>
              </a:rPr>
              <a:t>COVERS</a:t>
            </a:r>
            <a:endParaRPr lang="en-US" sz="1250" dirty="0"/>
          </a:p>
        </p:txBody>
      </p:sp>
      <p:sp>
        <p:nvSpPr>
          <p:cNvPr id="11" name="Shape 8"/>
          <p:cNvSpPr/>
          <p:nvPr/>
        </p:nvSpPr>
        <p:spPr>
          <a:xfrm>
            <a:off x="777240" y="1874520"/>
            <a:ext cx="4892040" cy="731520"/>
          </a:xfrm>
          <a:prstGeom prst="roundRect">
            <a:avLst>
              <a:gd name="adj" fmla="val 7500"/>
            </a:avLst>
          </a:prstGeom>
          <a:solidFill>
            <a:srgbClr val="DDE3CC"/>
          </a:solidFill>
          <a:ln w="15875">
            <a:solidFill>
              <a:srgbClr val="5F7A3A"/>
            </a:solidFill>
            <a:prstDash val="solid"/>
          </a:ln>
        </p:spPr>
      </p:sp>
      <p:sp>
        <p:nvSpPr>
          <p:cNvPr id="12" name="Text 9"/>
          <p:cNvSpPr/>
          <p:nvPr/>
        </p:nvSpPr>
        <p:spPr>
          <a:xfrm>
            <a:off x="850392" y="192938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a bounded write pause</a:t>
            </a:r>
            <a:endParaRPr lang="en-US" sz="1400" dirty="0"/>
          </a:p>
        </p:txBody>
      </p:sp>
      <p:sp>
        <p:nvSpPr>
          <p:cNvPr id="13" name="Text 10"/>
          <p:cNvSpPr/>
          <p:nvPr/>
        </p:nvSpPr>
        <p:spPr>
          <a:xfrm>
            <a:off x="850392" y="222199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measured, not unbounded</a:t>
            </a:r>
            <a:endParaRPr lang="en-US" sz="1100" dirty="0"/>
          </a:p>
        </p:txBody>
      </p:sp>
      <p:sp>
        <p:nvSpPr>
          <p:cNvPr id="14" name="Shape 11"/>
          <p:cNvSpPr/>
          <p:nvPr/>
        </p:nvSpPr>
        <p:spPr>
          <a:xfrm>
            <a:off x="777240" y="2743200"/>
            <a:ext cx="4892040" cy="731520"/>
          </a:xfrm>
          <a:prstGeom prst="roundRect">
            <a:avLst>
              <a:gd name="adj" fmla="val 7500"/>
            </a:avLst>
          </a:prstGeom>
          <a:solidFill>
            <a:srgbClr val="DDE3CC"/>
          </a:solidFill>
          <a:ln w="15875">
            <a:solidFill>
              <a:srgbClr val="5F7A3A"/>
            </a:solidFill>
            <a:prstDash val="solid"/>
          </a:ln>
        </p:spPr>
      </p:sp>
      <p:sp>
        <p:nvSpPr>
          <p:cNvPr id="15" name="Text 12"/>
          <p:cNvSpPr/>
          <p:nvPr/>
        </p:nvSpPr>
        <p:spPr>
          <a:xfrm>
            <a:off x="850392" y="279806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unattended recovery</a:t>
            </a:r>
            <a:endParaRPr lang="en-US" sz="1400" dirty="0"/>
          </a:p>
        </p:txBody>
      </p:sp>
      <p:sp>
        <p:nvSpPr>
          <p:cNvPr id="16" name="Text 13"/>
          <p:cNvSpPr/>
          <p:nvPr/>
        </p:nvSpPr>
        <p:spPr>
          <a:xfrm>
            <a:off x="850392" y="309067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no operator in the loop</a:t>
            </a:r>
            <a:endParaRPr lang="en-US" sz="1100" dirty="0"/>
          </a:p>
        </p:txBody>
      </p:sp>
      <p:sp>
        <p:nvSpPr>
          <p:cNvPr id="17" name="Shape 14"/>
          <p:cNvSpPr/>
          <p:nvPr/>
        </p:nvSpPr>
        <p:spPr>
          <a:xfrm>
            <a:off x="777240" y="3611880"/>
            <a:ext cx="4892040" cy="731520"/>
          </a:xfrm>
          <a:prstGeom prst="roundRect">
            <a:avLst>
              <a:gd name="adj" fmla="val 7500"/>
            </a:avLst>
          </a:prstGeom>
          <a:solidFill>
            <a:srgbClr val="DDE3CC"/>
          </a:solidFill>
          <a:ln w="15875">
            <a:solidFill>
              <a:srgbClr val="5F7A3A"/>
            </a:solidFill>
            <a:prstDash val="solid"/>
          </a:ln>
        </p:spPr>
      </p:sp>
      <p:sp>
        <p:nvSpPr>
          <p:cNvPr id="18" name="Text 15"/>
          <p:cNvSpPr/>
          <p:nvPr/>
        </p:nvSpPr>
        <p:spPr>
          <a:xfrm>
            <a:off x="850392" y="366674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rolling transactor upgrades</a:t>
            </a:r>
            <a:endParaRPr lang="en-US" sz="1400" dirty="0"/>
          </a:p>
        </p:txBody>
      </p:sp>
      <p:sp>
        <p:nvSpPr>
          <p:cNvPr id="19" name="Text 16"/>
          <p:cNvSpPr/>
          <p:nvPr/>
        </p:nvSpPr>
        <p:spPr>
          <a:xfrm>
            <a:off x="850392" y="395935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on purpose, same mechanism</a:t>
            </a:r>
            <a:endParaRPr lang="en-US" sz="1100" dirty="0"/>
          </a:p>
        </p:txBody>
      </p:sp>
      <p:sp>
        <p:nvSpPr>
          <p:cNvPr id="20" name="Shape 17"/>
          <p:cNvSpPr/>
          <p:nvPr/>
        </p:nvSpPr>
        <p:spPr>
          <a:xfrm>
            <a:off x="6263640" y="1325880"/>
            <a:ext cx="5349240" cy="3291840"/>
          </a:xfrm>
          <a:prstGeom prst="roundRect">
            <a:avLst>
              <a:gd name="adj" fmla="val 2222"/>
            </a:avLst>
          </a:prstGeom>
          <a:solidFill>
            <a:srgbClr val="E6DFCE"/>
          </a:solidFill>
          <a:ln/>
        </p:spPr>
      </p:sp>
      <p:sp>
        <p:nvSpPr>
          <p:cNvPr id="21" name="Shape 18"/>
          <p:cNvSpPr/>
          <p:nvPr/>
        </p:nvSpPr>
        <p:spPr>
          <a:xfrm>
            <a:off x="6263640" y="1325880"/>
            <a:ext cx="5349240" cy="384048"/>
          </a:xfrm>
          <a:prstGeom prst="roundRect">
            <a:avLst>
              <a:gd name="adj" fmla="val 19048"/>
            </a:avLst>
          </a:prstGeom>
          <a:solidFill>
            <a:srgbClr val="EBD5CB"/>
          </a:solidFill>
          <a:ln/>
        </p:spPr>
      </p:sp>
      <p:sp>
        <p:nvSpPr>
          <p:cNvPr id="22" name="Text 19"/>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9E4227"/>
                </a:solidFill>
                <a:latin typeface="Helvetica Neue" pitchFamily="34" charset="0"/>
                <a:ea typeface="Helvetica Neue" pitchFamily="34" charset="-122"/>
                <a:cs typeface="Helvetica Neue" pitchFamily="34" charset="-120"/>
              </a:rPr>
              <a:t>DOES NOT COVER</a:t>
            </a:r>
            <a:endParaRPr lang="en-US" sz="1250" dirty="0"/>
          </a:p>
        </p:txBody>
      </p:sp>
      <p:sp>
        <p:nvSpPr>
          <p:cNvPr id="23" name="Shape 20"/>
          <p:cNvSpPr/>
          <p:nvPr/>
        </p:nvSpPr>
        <p:spPr>
          <a:xfrm>
            <a:off x="6492240" y="1874520"/>
            <a:ext cx="4892040" cy="731520"/>
          </a:xfrm>
          <a:prstGeom prst="roundRect">
            <a:avLst>
              <a:gd name="adj" fmla="val 7500"/>
            </a:avLst>
          </a:prstGeom>
          <a:solidFill>
            <a:srgbClr val="EBD5CB"/>
          </a:solidFill>
          <a:ln w="15875">
            <a:solidFill>
              <a:srgbClr val="9E4227"/>
            </a:solidFill>
            <a:prstDash val="solid"/>
          </a:ln>
        </p:spPr>
      </p:sp>
      <p:sp>
        <p:nvSpPr>
          <p:cNvPr id="24" name="Text 21"/>
          <p:cNvSpPr/>
          <p:nvPr/>
        </p:nvSpPr>
        <p:spPr>
          <a:xfrm>
            <a:off x="6565392" y="192938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a second copy of the data</a:t>
            </a:r>
            <a:endParaRPr lang="en-US" sz="1400" dirty="0"/>
          </a:p>
        </p:txBody>
      </p:sp>
      <p:sp>
        <p:nvSpPr>
          <p:cNvPr id="25" name="Text 22"/>
          <p:cNvSpPr/>
          <p:nvPr/>
        </p:nvSpPr>
        <p:spPr>
          <a:xfrm>
            <a:off x="6565392" y="222199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both write the same storage</a:t>
            </a:r>
            <a:endParaRPr lang="en-US" sz="1100" dirty="0"/>
          </a:p>
        </p:txBody>
      </p:sp>
      <p:sp>
        <p:nvSpPr>
          <p:cNvPr id="26" name="Shape 23"/>
          <p:cNvSpPr/>
          <p:nvPr/>
        </p:nvSpPr>
        <p:spPr>
          <a:xfrm>
            <a:off x="6492240" y="2743200"/>
            <a:ext cx="4892040" cy="731520"/>
          </a:xfrm>
          <a:prstGeom prst="roundRect">
            <a:avLst>
              <a:gd name="adj" fmla="val 7500"/>
            </a:avLst>
          </a:prstGeom>
          <a:solidFill>
            <a:srgbClr val="EBD5CB"/>
          </a:solidFill>
          <a:ln w="15875">
            <a:solidFill>
              <a:srgbClr val="9E4227"/>
            </a:solidFill>
            <a:prstDash val="solid"/>
          </a:ln>
        </p:spPr>
      </p:sp>
      <p:sp>
        <p:nvSpPr>
          <p:cNvPr id="27" name="Text 24"/>
          <p:cNvSpPr/>
          <p:nvPr/>
        </p:nvSpPr>
        <p:spPr>
          <a:xfrm>
            <a:off x="6565392" y="279806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storage loss</a:t>
            </a:r>
            <a:endParaRPr lang="en-US" sz="1400" dirty="0"/>
          </a:p>
        </p:txBody>
      </p:sp>
      <p:sp>
        <p:nvSpPr>
          <p:cNvPr id="28" name="Text 25"/>
          <p:cNvSpPr/>
          <p:nvPr/>
        </p:nvSpPr>
        <p:spPr>
          <a:xfrm>
            <a:off x="6565392" y="309067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storage replication's job</a:t>
            </a:r>
            <a:endParaRPr lang="en-US" sz="1100" dirty="0"/>
          </a:p>
        </p:txBody>
      </p:sp>
      <p:sp>
        <p:nvSpPr>
          <p:cNvPr id="29" name="Shape 26"/>
          <p:cNvSpPr/>
          <p:nvPr/>
        </p:nvSpPr>
        <p:spPr>
          <a:xfrm>
            <a:off x="6492240" y="3611880"/>
            <a:ext cx="4892040" cy="731520"/>
          </a:xfrm>
          <a:prstGeom prst="roundRect">
            <a:avLst>
              <a:gd name="adj" fmla="val 7500"/>
            </a:avLst>
          </a:prstGeom>
          <a:solidFill>
            <a:srgbClr val="EBD5CB"/>
          </a:solidFill>
          <a:ln w="15875">
            <a:solidFill>
              <a:srgbClr val="9E4227"/>
            </a:solidFill>
            <a:prstDash val="solid"/>
          </a:ln>
        </p:spPr>
      </p:sp>
      <p:sp>
        <p:nvSpPr>
          <p:cNvPr id="30" name="Text 27"/>
          <p:cNvSpPr/>
          <p:nvPr/>
        </p:nvSpPr>
        <p:spPr>
          <a:xfrm>
            <a:off x="6565392" y="3666744"/>
            <a:ext cx="4745736" cy="310896"/>
          </a:xfrm>
          <a:prstGeom prst="rect">
            <a:avLst/>
          </a:prstGeom>
          <a:noFill/>
          <a:ln/>
        </p:spPr>
        <p:txBody>
          <a:bodyPr wrap="square" lIns="0" tIns="0" rIns="0" bIns="0" rtlCol="0" anchor="b">
            <a:normAutofit/>
          </a:bodyPr>
          <a:lstStyle/>
          <a:p>
            <a:pPr algn="l" indent="0" marL="0">
              <a:buNone/>
            </a:pPr>
            <a:r>
              <a:rPr lang="en-US" sz="1400" b="1" dirty="0">
                <a:solidFill>
                  <a:srgbClr val="3A2C1A"/>
                </a:solidFill>
                <a:latin typeface="Helvetica Neue" pitchFamily="34" charset="0"/>
                <a:ea typeface="Helvetica Neue" pitchFamily="34" charset="-122"/>
                <a:cs typeface="Helvetica Neue" pitchFamily="34" charset="-120"/>
              </a:rPr>
              <a:t>✕  a bad transaction</a:t>
            </a:r>
            <a:endParaRPr lang="en-US" sz="1400" dirty="0"/>
          </a:p>
        </p:txBody>
      </p:sp>
      <p:sp>
        <p:nvSpPr>
          <p:cNvPr id="31" name="Text 28"/>
          <p:cNvSpPr/>
          <p:nvPr/>
        </p:nvSpPr>
        <p:spPr>
          <a:xfrm>
            <a:off x="6565392" y="3959352"/>
            <a:ext cx="4745736" cy="384048"/>
          </a:xfrm>
          <a:prstGeom prst="rect">
            <a:avLst/>
          </a:prstGeom>
          <a:noFill/>
          <a:ln/>
        </p:spPr>
        <p:txBody>
          <a:bodyPr wrap="square" lIns="0" tIns="0" rIns="0" bIns="0" rtlCol="0" anchor="t">
            <a:normAutofit/>
          </a:bodyPr>
          <a:lstStyle/>
          <a:p>
            <a:pPr algn="l" indent="0" marL="0">
              <a:buNone/>
            </a:pPr>
            <a:r>
              <a:rPr lang="en-US" sz="1100" dirty="0">
                <a:solidFill>
                  <a:srgbClr val="6B5A44"/>
                </a:solidFill>
                <a:latin typeface="Helvetica Neue" pitchFamily="34" charset="0"/>
                <a:ea typeface="Helvetica Neue" pitchFamily="34" charset="-122"/>
                <a:cs typeface="Helvetica Neue" pitchFamily="34" charset="-120"/>
              </a:rPr>
              <a:t>restore — Production class §4</a:t>
            </a:r>
            <a:endParaRPr lang="en-US" sz="1100" dirty="0"/>
          </a:p>
        </p:txBody>
      </p:sp>
      <p:sp>
        <p:nvSpPr>
          <p:cNvPr id="32" name="Shape 29"/>
          <p:cNvSpPr/>
          <p:nvPr/>
        </p:nvSpPr>
        <p:spPr>
          <a:xfrm>
            <a:off x="548640" y="4892040"/>
            <a:ext cx="54864" cy="457200"/>
          </a:xfrm>
          <a:prstGeom prst="rect">
            <a:avLst/>
          </a:prstGeom>
          <a:solidFill>
            <a:srgbClr val="A8864A"/>
          </a:solidFill>
          <a:ln/>
        </p:spPr>
      </p:sp>
      <p:sp>
        <p:nvSpPr>
          <p:cNvPr id="33" name="Text 30"/>
          <p:cNvSpPr/>
          <p:nvPr/>
        </p:nvSpPr>
        <p:spPr>
          <a:xfrm>
            <a:off x="777240" y="48920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HA buys you a bounded pause. Durability is bought separately, from your storage.</a:t>
            </a:r>
            <a:endParaRPr lang="en-US" sz="1450" dirty="0"/>
          </a:p>
        </p:txBody>
      </p:sp>
      <p:sp>
        <p:nvSpPr>
          <p:cNvPr id="34" name="Text 31"/>
          <p:cNvSpPr/>
          <p:nvPr/>
        </p:nvSpPr>
        <p:spPr>
          <a:xfrm>
            <a:off x="548640" y="562356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Both transactors write the same storage — that is the point of the lease, and the limit of the guarantee.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 · HIGH AVAILABILITY</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14</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peer-side dial that shapes the pause</a:t>
            </a:r>
            <a:endParaRPr lang="en-US" sz="2500" dirty="0"/>
          </a:p>
        </p:txBody>
      </p:sp>
      <p:sp>
        <p:nvSpPr>
          <p:cNvPr id="8" name="Shape 5"/>
          <p:cNvSpPr/>
          <p:nvPr/>
        </p:nvSpPr>
        <p:spPr>
          <a:xfrm>
            <a:off x="548640" y="1325880"/>
            <a:ext cx="11064240" cy="566928"/>
          </a:xfrm>
          <a:prstGeom prst="roundRect">
            <a:avLst>
              <a:gd name="adj" fmla="val 12903"/>
            </a:avLst>
          </a:prstGeom>
          <a:solidFill>
            <a:srgbClr val="E6DFCE"/>
          </a:solidFill>
          <a:ln/>
        </p:spPr>
      </p:sp>
      <p:sp>
        <p:nvSpPr>
          <p:cNvPr id="9" name="Text 6"/>
          <p:cNvSpPr/>
          <p:nvPr/>
        </p:nvSpPr>
        <p:spPr>
          <a:xfrm>
            <a:off x="749808" y="1472184"/>
            <a:ext cx="10661904" cy="274320"/>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-Ddatomic.txTimeoutMsec=&lt;ms&gt;       ;; how long a write waits for a writer to exist</a:t>
            </a:r>
            <a:endParaRPr lang="en-US" sz="1250" dirty="0"/>
          </a:p>
        </p:txBody>
      </p:sp>
      <p:sp>
        <p:nvSpPr>
          <p:cNvPr id="10" name="Shape 7"/>
          <p:cNvSpPr/>
          <p:nvPr/>
        </p:nvSpPr>
        <p:spPr>
          <a:xfrm>
            <a:off x="1828800" y="2651760"/>
            <a:ext cx="8503920" cy="146304"/>
          </a:xfrm>
          <a:prstGeom prst="rect">
            <a:avLst/>
          </a:prstGeom>
          <a:solidFill>
            <a:srgbClr val="DFD6C0"/>
          </a:solidFill>
          <a:ln/>
        </p:spPr>
      </p:sp>
      <p:sp>
        <p:nvSpPr>
          <p:cNvPr id="11" name="Shape 8"/>
          <p:cNvSpPr/>
          <p:nvPr/>
        </p:nvSpPr>
        <p:spPr>
          <a:xfrm>
            <a:off x="1828800" y="2724912"/>
            <a:ext cx="8503920" cy="0"/>
          </a:xfrm>
          <a:prstGeom prst="line">
            <a:avLst/>
          </a:prstGeom>
          <a:noFill/>
          <a:ln w="19050">
            <a:solidFill>
              <a:srgbClr val="C9BDA4"/>
            </a:solidFill>
            <a:prstDash val="solid"/>
            <a:headEnd type="none"/>
            <a:tailEnd type="none"/>
          </a:ln>
        </p:spPr>
      </p:sp>
      <p:sp>
        <p:nvSpPr>
          <p:cNvPr id="12" name="Shape 9"/>
          <p:cNvSpPr/>
          <p:nvPr/>
        </p:nvSpPr>
        <p:spPr>
          <a:xfrm>
            <a:off x="1188720" y="2286000"/>
            <a:ext cx="1280160" cy="868680"/>
          </a:xfrm>
          <a:prstGeom prst="roundRect">
            <a:avLst>
              <a:gd name="adj" fmla="val 6316"/>
            </a:avLst>
          </a:prstGeom>
          <a:solidFill>
            <a:srgbClr val="EDE0C4"/>
          </a:solidFill>
          <a:ln w="15875">
            <a:solidFill>
              <a:srgbClr val="B5822B"/>
            </a:solidFill>
            <a:prstDash val="solid"/>
          </a:ln>
        </p:spPr>
      </p:sp>
      <p:sp>
        <p:nvSpPr>
          <p:cNvPr id="13" name="Text 10"/>
          <p:cNvSpPr/>
          <p:nvPr/>
        </p:nvSpPr>
        <p:spPr>
          <a:xfrm>
            <a:off x="1261872" y="2286000"/>
            <a:ext cx="1133856" cy="868680"/>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SHORT</a:t>
            </a:r>
            <a:endParaRPr lang="en-US" sz="1300" dirty="0"/>
          </a:p>
        </p:txBody>
      </p:sp>
      <p:sp>
        <p:nvSpPr>
          <p:cNvPr id="14" name="Shape 11"/>
          <p:cNvSpPr/>
          <p:nvPr/>
        </p:nvSpPr>
        <p:spPr>
          <a:xfrm>
            <a:off x="9692640" y="2286000"/>
            <a:ext cx="1280160" cy="868680"/>
          </a:xfrm>
          <a:prstGeom prst="roundRect">
            <a:avLst>
              <a:gd name="adj" fmla="val 6316"/>
            </a:avLst>
          </a:prstGeom>
          <a:solidFill>
            <a:srgbClr val="D3DEE1"/>
          </a:solidFill>
          <a:ln w="15875">
            <a:solidFill>
              <a:srgbClr val="3F6470"/>
            </a:solidFill>
            <a:prstDash val="solid"/>
          </a:ln>
        </p:spPr>
      </p:sp>
      <p:sp>
        <p:nvSpPr>
          <p:cNvPr id="15" name="Text 12"/>
          <p:cNvSpPr/>
          <p:nvPr/>
        </p:nvSpPr>
        <p:spPr>
          <a:xfrm>
            <a:off x="9765792" y="2286000"/>
            <a:ext cx="1133856" cy="868680"/>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LONG</a:t>
            </a:r>
            <a:endParaRPr lang="en-US" sz="1300" dirty="0"/>
          </a:p>
        </p:txBody>
      </p:sp>
      <p:sp>
        <p:nvSpPr>
          <p:cNvPr id="16" name="Shape 13"/>
          <p:cNvSpPr/>
          <p:nvPr/>
        </p:nvSpPr>
        <p:spPr>
          <a:xfrm>
            <a:off x="1188720" y="3429000"/>
            <a:ext cx="4663440" cy="2011680"/>
          </a:xfrm>
          <a:prstGeom prst="roundRect">
            <a:avLst>
              <a:gd name="adj" fmla="val 3636"/>
            </a:avLst>
          </a:prstGeom>
          <a:solidFill>
            <a:srgbClr val="E6DFCE"/>
          </a:solidFill>
          <a:ln/>
        </p:spPr>
      </p:sp>
      <p:sp>
        <p:nvSpPr>
          <p:cNvPr id="17" name="Shape 14"/>
          <p:cNvSpPr/>
          <p:nvPr/>
        </p:nvSpPr>
        <p:spPr>
          <a:xfrm>
            <a:off x="1188720" y="3429000"/>
            <a:ext cx="4663440" cy="384048"/>
          </a:xfrm>
          <a:prstGeom prst="roundRect">
            <a:avLst>
              <a:gd name="adj" fmla="val 19048"/>
            </a:avLst>
          </a:prstGeom>
          <a:solidFill>
            <a:srgbClr val="EDE0C4"/>
          </a:solidFill>
          <a:ln/>
        </p:spPr>
      </p:sp>
      <p:sp>
        <p:nvSpPr>
          <p:cNvPr id="18" name="Text 15"/>
          <p:cNvSpPr/>
          <p:nvPr/>
        </p:nvSpPr>
        <p:spPr>
          <a:xfrm>
            <a:off x="1389888" y="3429000"/>
            <a:ext cx="4261104" cy="384048"/>
          </a:xfrm>
          <a:prstGeom prst="rect">
            <a:avLst/>
          </a:prstGeom>
          <a:noFill/>
          <a:ln/>
        </p:spPr>
        <p:txBody>
          <a:bodyPr wrap="square" lIns="0" tIns="0" rIns="0" bIns="0" rtlCol="0" anchor="ctr">
            <a:normAutofit/>
          </a:bodyPr>
          <a:lstStyle/>
          <a:p>
            <a:pPr indent="0" marL="0">
              <a:buNone/>
            </a:pPr>
            <a:r>
              <a:rPr lang="en-US" sz="1250" b="1" spc="100" kern="0" dirty="0">
                <a:solidFill>
                  <a:srgbClr val="B5822B"/>
                </a:solidFill>
                <a:latin typeface="Helvetica Neue" pitchFamily="34" charset="0"/>
                <a:ea typeface="Helvetica Neue" pitchFamily="34" charset="-122"/>
                <a:cs typeface="Helvetica Neue" pitchFamily="34" charset="-120"/>
              </a:rPr>
              <a:t>IF SHORT</a:t>
            </a:r>
            <a:endParaRPr lang="en-US" sz="1250" dirty="0"/>
          </a:p>
        </p:txBody>
      </p:sp>
      <p:sp>
        <p:nvSpPr>
          <p:cNvPr id="19" name="Text 16"/>
          <p:cNvSpPr/>
          <p:nvPr/>
        </p:nvSpPr>
        <p:spPr>
          <a:xfrm>
            <a:off x="1417320" y="3931920"/>
            <a:ext cx="4206240" cy="137160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more failed writes, visible to the caller</a:t>
            </a:r>
            <a:endParaRPr lang="en-US" sz="1300" dirty="0"/>
          </a:p>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fewer stalled peer threads</a:t>
            </a:r>
            <a:endParaRPr lang="en-US" sz="1300" dirty="0"/>
          </a:p>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the window becomes an error rate</a:t>
            </a:r>
            <a:endParaRPr lang="en-US" sz="1300" dirty="0"/>
          </a:p>
        </p:txBody>
      </p:sp>
      <p:sp>
        <p:nvSpPr>
          <p:cNvPr id="20" name="Shape 17"/>
          <p:cNvSpPr/>
          <p:nvPr/>
        </p:nvSpPr>
        <p:spPr>
          <a:xfrm>
            <a:off x="6309360" y="3429000"/>
            <a:ext cx="4663440" cy="2011680"/>
          </a:xfrm>
          <a:prstGeom prst="roundRect">
            <a:avLst>
              <a:gd name="adj" fmla="val 3636"/>
            </a:avLst>
          </a:prstGeom>
          <a:solidFill>
            <a:srgbClr val="E6DFCE"/>
          </a:solidFill>
          <a:ln/>
        </p:spPr>
      </p:sp>
      <p:sp>
        <p:nvSpPr>
          <p:cNvPr id="21" name="Shape 18"/>
          <p:cNvSpPr/>
          <p:nvPr/>
        </p:nvSpPr>
        <p:spPr>
          <a:xfrm>
            <a:off x="6309360" y="3429000"/>
            <a:ext cx="4663440" cy="384048"/>
          </a:xfrm>
          <a:prstGeom prst="roundRect">
            <a:avLst>
              <a:gd name="adj" fmla="val 19048"/>
            </a:avLst>
          </a:prstGeom>
          <a:solidFill>
            <a:srgbClr val="D3DEE1"/>
          </a:solidFill>
          <a:ln/>
        </p:spPr>
      </p:sp>
      <p:sp>
        <p:nvSpPr>
          <p:cNvPr id="22" name="Text 19"/>
          <p:cNvSpPr/>
          <p:nvPr/>
        </p:nvSpPr>
        <p:spPr>
          <a:xfrm>
            <a:off x="6510528" y="3429000"/>
            <a:ext cx="4261104" cy="384048"/>
          </a:xfrm>
          <a:prstGeom prst="rect">
            <a:avLst/>
          </a:prstGeom>
          <a:noFill/>
          <a:ln/>
        </p:spPr>
        <p:txBody>
          <a:bodyPr wrap="square" lIns="0" tIns="0" rIns="0" bIns="0" rtlCol="0" anchor="ctr">
            <a:normAutofit/>
          </a:bodyPr>
          <a:lstStyle/>
          <a:p>
            <a:pPr indent="0" marL="0">
              <a:buNone/>
            </a:pPr>
            <a:r>
              <a:rPr lang="en-US" sz="1250" b="1" spc="100" kern="0" dirty="0">
                <a:solidFill>
                  <a:srgbClr val="3F6470"/>
                </a:solidFill>
                <a:latin typeface="Helvetica Neue" pitchFamily="34" charset="0"/>
                <a:ea typeface="Helvetica Neue" pitchFamily="34" charset="-122"/>
                <a:cs typeface="Helvetica Neue" pitchFamily="34" charset="-120"/>
              </a:rPr>
              <a:t>IF LONG</a:t>
            </a:r>
            <a:endParaRPr lang="en-US" sz="1250" dirty="0"/>
          </a:p>
        </p:txBody>
      </p:sp>
      <p:sp>
        <p:nvSpPr>
          <p:cNvPr id="23" name="Text 20"/>
          <p:cNvSpPr/>
          <p:nvPr/>
        </p:nvSpPr>
        <p:spPr>
          <a:xfrm>
            <a:off x="6537960" y="3931920"/>
            <a:ext cx="4206240" cy="137160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writes survive the window</a:t>
            </a:r>
            <a:endParaRPr lang="en-US" sz="1300" dirty="0"/>
          </a:p>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threads park in the peer</a:t>
            </a:r>
            <a:endParaRPr lang="en-US" sz="1300" dirty="0"/>
          </a:p>
          <a:p>
            <a:pPr marL="342900" indent="-342900">
              <a:spcAft>
                <a:spcPts val="800"/>
              </a:spcAft>
              <a:buSzPct val="100000"/>
              <a:buChar char="•"/>
            </a:pPr>
            <a:r>
              <a:rPr lang="en-US" sz="1300" dirty="0">
                <a:solidFill>
                  <a:srgbClr val="6B5A44"/>
                </a:solidFill>
                <a:latin typeface="Helvetica Neue" pitchFamily="34" charset="0"/>
                <a:ea typeface="Helvetica Neue" pitchFamily="34" charset="-122"/>
                <a:cs typeface="Helvetica Neue" pitchFamily="34" charset="-120"/>
              </a:rPr>
              <a:t>the window becomes a latency spike</a:t>
            </a:r>
            <a:endParaRPr lang="en-US" sz="1300" dirty="0"/>
          </a:p>
        </p:txBody>
      </p:sp>
      <p:sp>
        <p:nvSpPr>
          <p:cNvPr id="24" name="Shape 21"/>
          <p:cNvSpPr/>
          <p:nvPr/>
        </p:nvSpPr>
        <p:spPr>
          <a:xfrm>
            <a:off x="548640" y="5669280"/>
            <a:ext cx="54864" cy="457200"/>
          </a:xfrm>
          <a:prstGeom prst="rect">
            <a:avLst/>
          </a:prstGeom>
          <a:solidFill>
            <a:srgbClr val="A8864A"/>
          </a:solidFill>
          <a:ln/>
        </p:spPr>
      </p:sp>
      <p:sp>
        <p:nvSpPr>
          <p:cNvPr id="25" name="Text 22"/>
          <p:cNvSpPr/>
          <p:nvPr/>
        </p:nvSpPr>
        <p:spPr>
          <a:xfrm>
            <a:off x="777240" y="566928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Tuning this is choosing which failure your callers handle better — not finding a right value.</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III</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The cost of a read</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Four tiers · the segment · and the cold peer after a deploy</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III · THE COST OF A READ</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16</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Four tiers — a read walks down until one answers</a:t>
            </a:r>
            <a:endParaRPr lang="en-US" sz="2500" dirty="0"/>
          </a:p>
        </p:txBody>
      </p:sp>
      <p:sp>
        <p:nvSpPr>
          <p:cNvPr id="8" name="Shape 5"/>
          <p:cNvSpPr/>
          <p:nvPr/>
        </p:nvSpPr>
        <p:spPr>
          <a:xfrm>
            <a:off x="1371600" y="1371600"/>
            <a:ext cx="7498080" cy="777240"/>
          </a:xfrm>
          <a:prstGeom prst="roundRect">
            <a:avLst>
              <a:gd name="adj" fmla="val 9412"/>
            </a:avLst>
          </a:prstGeom>
          <a:solidFill>
            <a:srgbClr val="2C2416"/>
          </a:solidFill>
          <a:ln/>
        </p:spPr>
      </p:sp>
      <p:sp>
        <p:nvSpPr>
          <p:cNvPr id="9" name="Text 6"/>
          <p:cNvSpPr/>
          <p:nvPr/>
        </p:nvSpPr>
        <p:spPr>
          <a:xfrm>
            <a:off x="1600200" y="1371600"/>
            <a:ext cx="457200" cy="777240"/>
          </a:xfrm>
          <a:prstGeom prst="rect">
            <a:avLst/>
          </a:prstGeom>
          <a:noFill/>
          <a:ln/>
        </p:spPr>
        <p:txBody>
          <a:bodyPr wrap="square" lIns="0" tIns="0" rIns="0" bIns="0" rtlCol="0" anchor="ctr"/>
          <a:lstStyle/>
          <a:p>
            <a:pPr indent="0" marL="0">
              <a:buNone/>
            </a:pPr>
            <a:r>
              <a:rPr lang="en-US" sz="2000" dirty="0">
                <a:solidFill>
                  <a:srgbClr val="FCFAF4"/>
                </a:solidFill>
                <a:latin typeface="Georgia" pitchFamily="34" charset="0"/>
                <a:ea typeface="Georgia" pitchFamily="34" charset="-122"/>
                <a:cs typeface="Georgia" pitchFamily="34" charset="-120"/>
              </a:rPr>
              <a:t>1</a:t>
            </a:r>
            <a:endParaRPr lang="en-US" sz="2000" dirty="0"/>
          </a:p>
        </p:txBody>
      </p:sp>
      <p:sp>
        <p:nvSpPr>
          <p:cNvPr id="10" name="Text 7"/>
          <p:cNvSpPr/>
          <p:nvPr/>
        </p:nvSpPr>
        <p:spPr>
          <a:xfrm>
            <a:off x="2148840" y="1371600"/>
            <a:ext cx="2651760" cy="777240"/>
          </a:xfrm>
          <a:prstGeom prst="rect">
            <a:avLst/>
          </a:prstGeom>
          <a:noFill/>
          <a:ln/>
        </p:spPr>
        <p:txBody>
          <a:bodyPr wrap="square" lIns="0" tIns="0" rIns="0" bIns="0" rtlCol="0" anchor="ctr">
            <a:normAutofit/>
          </a:bodyPr>
          <a:lstStyle/>
          <a:p>
            <a:pPr indent="0" marL="0">
              <a:buNone/>
            </a:pPr>
            <a:r>
              <a:rPr lang="en-US" sz="1600" b="1" dirty="0">
                <a:solidFill>
                  <a:srgbClr val="FCFAF4"/>
                </a:solidFill>
                <a:latin typeface="Helvetica Neue" pitchFamily="34" charset="0"/>
                <a:ea typeface="Helvetica Neue" pitchFamily="34" charset="-122"/>
                <a:cs typeface="Helvetica Neue" pitchFamily="34" charset="-120"/>
              </a:rPr>
              <a:t>object cache</a:t>
            </a:r>
            <a:endParaRPr lang="en-US" sz="1600" dirty="0"/>
          </a:p>
        </p:txBody>
      </p:sp>
      <p:sp>
        <p:nvSpPr>
          <p:cNvPr id="11" name="Text 8"/>
          <p:cNvSpPr/>
          <p:nvPr/>
        </p:nvSpPr>
        <p:spPr>
          <a:xfrm>
            <a:off x="4846320" y="1371600"/>
            <a:ext cx="3931920" cy="777240"/>
          </a:xfrm>
          <a:prstGeom prst="rect">
            <a:avLst/>
          </a:prstGeom>
          <a:noFill/>
          <a:ln/>
        </p:spPr>
        <p:txBody>
          <a:bodyPr wrap="square" lIns="0" tIns="0" rIns="0" bIns="0" rtlCol="0" anchor="ctr">
            <a:normAutofit/>
          </a:bodyPr>
          <a:lstStyle/>
          <a:p>
            <a:pPr indent="0" marL="0">
              <a:buNone/>
            </a:pPr>
            <a:r>
              <a:rPr lang="en-US" sz="1250" dirty="0">
                <a:solidFill>
                  <a:srgbClr val="C9BDA4"/>
                </a:solidFill>
                <a:latin typeface="Helvetica Neue" pitchFamily="34" charset="0"/>
                <a:ea typeface="Helvetica Neue" pitchFamily="34" charset="-122"/>
                <a:cs typeface="Helvetica Neue" pitchFamily="34" charset="-120"/>
              </a:rPr>
              <a:t>on-heap, decoded segments</a:t>
            </a:r>
            <a:endParaRPr lang="en-US" sz="1250" dirty="0"/>
          </a:p>
        </p:txBody>
      </p:sp>
      <p:sp>
        <p:nvSpPr>
          <p:cNvPr id="12" name="Text 9"/>
          <p:cNvSpPr/>
          <p:nvPr/>
        </p:nvSpPr>
        <p:spPr>
          <a:xfrm>
            <a:off x="9144000" y="1371600"/>
            <a:ext cx="2468880" cy="777240"/>
          </a:xfrm>
          <a:prstGeom prst="rect">
            <a:avLst/>
          </a:prstGeom>
          <a:noFill/>
          <a:ln/>
        </p:spPr>
        <p:txBody>
          <a:bodyPr wrap="square" lIns="0" tIns="0" rIns="0" bIns="0" rtlCol="0" anchor="ctr"/>
          <a:lstStyle/>
          <a:p>
            <a:pPr algn="r" indent="0" marL="0">
              <a:buNone/>
            </a:pPr>
            <a:r>
              <a:rPr lang="en-US" sz="1400" dirty="0">
                <a:solidFill>
                  <a:srgbClr val="3A2C1A"/>
                </a:solidFill>
                <a:latin typeface="Courier New" pitchFamily="34" charset="0"/>
                <a:ea typeface="Courier New" pitchFamily="34" charset="-122"/>
                <a:cs typeface="Courier New" pitchFamily="34" charset="-120"/>
              </a:rPr>
              <a:t>ns … µs</a:t>
            </a:r>
            <a:endParaRPr lang="en-US" sz="1400" dirty="0"/>
          </a:p>
        </p:txBody>
      </p:sp>
      <p:sp>
        <p:nvSpPr>
          <p:cNvPr id="13" name="Shape 10"/>
          <p:cNvSpPr/>
          <p:nvPr/>
        </p:nvSpPr>
        <p:spPr>
          <a:xfrm>
            <a:off x="1051560" y="2148840"/>
            <a:ext cx="0" cy="182880"/>
          </a:xfrm>
          <a:prstGeom prst="line">
            <a:avLst/>
          </a:prstGeom>
          <a:noFill/>
          <a:ln w="15240">
            <a:solidFill>
              <a:srgbClr val="A8864A"/>
            </a:solidFill>
            <a:prstDash val="solid"/>
            <a:headEnd type="none"/>
            <a:tailEnd type="triangle"/>
          </a:ln>
        </p:spPr>
      </p:sp>
      <p:sp>
        <p:nvSpPr>
          <p:cNvPr id="14" name="Shape 11"/>
          <p:cNvSpPr/>
          <p:nvPr/>
        </p:nvSpPr>
        <p:spPr>
          <a:xfrm>
            <a:off x="1691640" y="2331720"/>
            <a:ext cx="7178040" cy="777240"/>
          </a:xfrm>
          <a:prstGeom prst="roundRect">
            <a:avLst>
              <a:gd name="adj" fmla="val 9412"/>
            </a:avLst>
          </a:prstGeom>
          <a:solidFill>
            <a:srgbClr val="A8864A"/>
          </a:solidFill>
          <a:ln/>
        </p:spPr>
      </p:sp>
      <p:sp>
        <p:nvSpPr>
          <p:cNvPr id="15" name="Text 12"/>
          <p:cNvSpPr/>
          <p:nvPr/>
        </p:nvSpPr>
        <p:spPr>
          <a:xfrm>
            <a:off x="1920240" y="2331720"/>
            <a:ext cx="457200" cy="777240"/>
          </a:xfrm>
          <a:prstGeom prst="rect">
            <a:avLst/>
          </a:prstGeom>
          <a:noFill/>
          <a:ln/>
        </p:spPr>
        <p:txBody>
          <a:bodyPr wrap="square" lIns="0" tIns="0" rIns="0" bIns="0" rtlCol="0" anchor="ctr"/>
          <a:lstStyle/>
          <a:p>
            <a:pPr indent="0" marL="0">
              <a:buNone/>
            </a:pPr>
            <a:r>
              <a:rPr lang="en-US" sz="2000" dirty="0">
                <a:solidFill>
                  <a:srgbClr val="FCFAF4"/>
                </a:solidFill>
                <a:latin typeface="Georgia" pitchFamily="34" charset="0"/>
                <a:ea typeface="Georgia" pitchFamily="34" charset="-122"/>
                <a:cs typeface="Georgia" pitchFamily="34" charset="-120"/>
              </a:rPr>
              <a:t>2</a:t>
            </a:r>
            <a:endParaRPr lang="en-US" sz="2000" dirty="0"/>
          </a:p>
        </p:txBody>
      </p:sp>
      <p:sp>
        <p:nvSpPr>
          <p:cNvPr id="16" name="Text 13"/>
          <p:cNvSpPr/>
          <p:nvPr/>
        </p:nvSpPr>
        <p:spPr>
          <a:xfrm>
            <a:off x="2468880" y="2331720"/>
            <a:ext cx="2651760" cy="777240"/>
          </a:xfrm>
          <a:prstGeom prst="rect">
            <a:avLst/>
          </a:prstGeom>
          <a:noFill/>
          <a:ln/>
        </p:spPr>
        <p:txBody>
          <a:bodyPr wrap="square" lIns="0" tIns="0" rIns="0" bIns="0" rtlCol="0" anchor="ctr">
            <a:normAutofit/>
          </a:bodyPr>
          <a:lstStyle/>
          <a:p>
            <a:pPr indent="0" marL="0">
              <a:buNone/>
            </a:pPr>
            <a:r>
              <a:rPr lang="en-US" sz="1600" b="1" dirty="0">
                <a:solidFill>
                  <a:srgbClr val="FCFAF4"/>
                </a:solidFill>
                <a:latin typeface="Helvetica Neue" pitchFamily="34" charset="0"/>
                <a:ea typeface="Helvetica Neue" pitchFamily="34" charset="-122"/>
                <a:cs typeface="Helvetica Neue" pitchFamily="34" charset="-120"/>
              </a:rPr>
              <a:t>valcache</a:t>
            </a:r>
            <a:endParaRPr lang="en-US" sz="1600" dirty="0"/>
          </a:p>
        </p:txBody>
      </p:sp>
      <p:sp>
        <p:nvSpPr>
          <p:cNvPr id="17" name="Text 14"/>
          <p:cNvSpPr/>
          <p:nvPr/>
        </p:nvSpPr>
        <p:spPr>
          <a:xfrm>
            <a:off x="4846320" y="2331720"/>
            <a:ext cx="3931920" cy="777240"/>
          </a:xfrm>
          <a:prstGeom prst="rect">
            <a:avLst/>
          </a:prstGeom>
          <a:noFill/>
          <a:ln/>
        </p:spPr>
        <p:txBody>
          <a:bodyPr wrap="square" lIns="0" tIns="0" rIns="0" bIns="0" rtlCol="0" anchor="ctr">
            <a:normAutofit/>
          </a:bodyPr>
          <a:lstStyle/>
          <a:p>
            <a:pPr indent="0" marL="0">
              <a:buNone/>
            </a:pPr>
            <a:r>
              <a:rPr lang="en-US" sz="1250" dirty="0">
                <a:solidFill>
                  <a:srgbClr val="C9BDA4"/>
                </a:solidFill>
                <a:latin typeface="Helvetica Neue" pitchFamily="34" charset="0"/>
                <a:ea typeface="Helvetica Neue" pitchFamily="34" charset="-122"/>
                <a:cs typeface="Helvetica Neue" pitchFamily="34" charset="-120"/>
              </a:rPr>
              <a:t>local SSD, per peer</a:t>
            </a:r>
            <a:endParaRPr lang="en-US" sz="1250" dirty="0"/>
          </a:p>
        </p:txBody>
      </p:sp>
      <p:sp>
        <p:nvSpPr>
          <p:cNvPr id="18" name="Text 15"/>
          <p:cNvSpPr/>
          <p:nvPr/>
        </p:nvSpPr>
        <p:spPr>
          <a:xfrm>
            <a:off x="9144000" y="2331720"/>
            <a:ext cx="2468880" cy="777240"/>
          </a:xfrm>
          <a:prstGeom prst="rect">
            <a:avLst/>
          </a:prstGeom>
          <a:noFill/>
          <a:ln/>
        </p:spPr>
        <p:txBody>
          <a:bodyPr wrap="square" lIns="0" tIns="0" rIns="0" bIns="0" rtlCol="0" anchor="ctr"/>
          <a:lstStyle/>
          <a:p>
            <a:pPr algn="r" indent="0" marL="0">
              <a:buNone/>
            </a:pPr>
            <a:r>
              <a:rPr lang="en-US" sz="1400" dirty="0">
                <a:solidFill>
                  <a:srgbClr val="3A2C1A"/>
                </a:solidFill>
                <a:latin typeface="Courier New" pitchFamily="34" charset="0"/>
                <a:ea typeface="Courier New" pitchFamily="34" charset="-122"/>
                <a:cs typeface="Courier New" pitchFamily="34" charset="-120"/>
              </a:rPr>
              <a:t>~100s of µs</a:t>
            </a:r>
            <a:endParaRPr lang="en-US" sz="1400" dirty="0"/>
          </a:p>
        </p:txBody>
      </p:sp>
      <p:sp>
        <p:nvSpPr>
          <p:cNvPr id="19" name="Shape 16"/>
          <p:cNvSpPr/>
          <p:nvPr/>
        </p:nvSpPr>
        <p:spPr>
          <a:xfrm>
            <a:off x="1051560" y="3108960"/>
            <a:ext cx="0" cy="182880"/>
          </a:xfrm>
          <a:prstGeom prst="line">
            <a:avLst/>
          </a:prstGeom>
          <a:noFill/>
          <a:ln w="15240">
            <a:solidFill>
              <a:srgbClr val="A8864A"/>
            </a:solidFill>
            <a:prstDash val="solid"/>
            <a:headEnd type="none"/>
            <a:tailEnd type="triangle"/>
          </a:ln>
        </p:spPr>
      </p:sp>
      <p:sp>
        <p:nvSpPr>
          <p:cNvPr id="20" name="Shape 17"/>
          <p:cNvSpPr/>
          <p:nvPr/>
        </p:nvSpPr>
        <p:spPr>
          <a:xfrm>
            <a:off x="2011680" y="3291840"/>
            <a:ext cx="6858000" cy="777240"/>
          </a:xfrm>
          <a:prstGeom prst="roundRect">
            <a:avLst>
              <a:gd name="adj" fmla="val 9412"/>
            </a:avLst>
          </a:prstGeom>
          <a:solidFill>
            <a:srgbClr val="DFD6C0"/>
          </a:solidFill>
          <a:ln/>
        </p:spPr>
      </p:sp>
      <p:sp>
        <p:nvSpPr>
          <p:cNvPr id="21" name="Text 18"/>
          <p:cNvSpPr/>
          <p:nvPr/>
        </p:nvSpPr>
        <p:spPr>
          <a:xfrm>
            <a:off x="2240280" y="3291840"/>
            <a:ext cx="457200" cy="777240"/>
          </a:xfrm>
          <a:prstGeom prst="rect">
            <a:avLst/>
          </a:prstGeom>
          <a:noFill/>
          <a:ln/>
        </p:spPr>
        <p:txBody>
          <a:bodyPr wrap="square" lIns="0" tIns="0" rIns="0" bIns="0" rtlCol="0" anchor="ctr"/>
          <a:lstStyle/>
          <a:p>
            <a:pPr indent="0" marL="0">
              <a:buNone/>
            </a:pPr>
            <a:r>
              <a:rPr lang="en-US" sz="2000" dirty="0">
                <a:solidFill>
                  <a:srgbClr val="3A2C1A"/>
                </a:solidFill>
                <a:latin typeface="Georgia" pitchFamily="34" charset="0"/>
                <a:ea typeface="Georgia" pitchFamily="34" charset="-122"/>
                <a:cs typeface="Georgia" pitchFamily="34" charset="-120"/>
              </a:rPr>
              <a:t>3</a:t>
            </a:r>
            <a:endParaRPr lang="en-US" sz="2000" dirty="0"/>
          </a:p>
        </p:txBody>
      </p:sp>
      <p:sp>
        <p:nvSpPr>
          <p:cNvPr id="22" name="Text 19"/>
          <p:cNvSpPr/>
          <p:nvPr/>
        </p:nvSpPr>
        <p:spPr>
          <a:xfrm>
            <a:off x="2788920" y="3291840"/>
            <a:ext cx="2651760" cy="777240"/>
          </a:xfrm>
          <a:prstGeom prst="rect">
            <a:avLst/>
          </a:prstGeom>
          <a:noFill/>
          <a:ln/>
        </p:spPr>
        <p:txBody>
          <a:bodyPr wrap="square" lIns="0" tIns="0" rIns="0" bIns="0" rtlCol="0" anchor="ctr">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memcached</a:t>
            </a:r>
            <a:endParaRPr lang="en-US" sz="1600" dirty="0"/>
          </a:p>
        </p:txBody>
      </p:sp>
      <p:sp>
        <p:nvSpPr>
          <p:cNvPr id="23" name="Text 20"/>
          <p:cNvSpPr/>
          <p:nvPr/>
        </p:nvSpPr>
        <p:spPr>
          <a:xfrm>
            <a:off x="4846320" y="3291840"/>
            <a:ext cx="3931920" cy="77724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shared, over the network</a:t>
            </a:r>
            <a:endParaRPr lang="en-US" sz="1250" dirty="0"/>
          </a:p>
        </p:txBody>
      </p:sp>
      <p:sp>
        <p:nvSpPr>
          <p:cNvPr id="24" name="Text 21"/>
          <p:cNvSpPr/>
          <p:nvPr/>
        </p:nvSpPr>
        <p:spPr>
          <a:xfrm>
            <a:off x="9144000" y="3291840"/>
            <a:ext cx="2468880" cy="777240"/>
          </a:xfrm>
          <a:prstGeom prst="rect">
            <a:avLst/>
          </a:prstGeom>
          <a:noFill/>
          <a:ln/>
        </p:spPr>
        <p:txBody>
          <a:bodyPr wrap="square" lIns="0" tIns="0" rIns="0" bIns="0" rtlCol="0" anchor="ctr"/>
          <a:lstStyle/>
          <a:p>
            <a:pPr algn="r" indent="0" marL="0">
              <a:buNone/>
            </a:pPr>
            <a:r>
              <a:rPr lang="en-US" sz="1400" dirty="0">
                <a:solidFill>
                  <a:srgbClr val="3A2C1A"/>
                </a:solidFill>
                <a:latin typeface="Courier New" pitchFamily="34" charset="0"/>
                <a:ea typeface="Courier New" pitchFamily="34" charset="-122"/>
                <a:cs typeface="Courier New" pitchFamily="34" charset="-120"/>
              </a:rPr>
              <a:t>~1 ms</a:t>
            </a:r>
            <a:endParaRPr lang="en-US" sz="1400" dirty="0"/>
          </a:p>
        </p:txBody>
      </p:sp>
      <p:sp>
        <p:nvSpPr>
          <p:cNvPr id="25" name="Shape 22"/>
          <p:cNvSpPr/>
          <p:nvPr/>
        </p:nvSpPr>
        <p:spPr>
          <a:xfrm>
            <a:off x="1051560" y="4069080"/>
            <a:ext cx="0" cy="182880"/>
          </a:xfrm>
          <a:prstGeom prst="line">
            <a:avLst/>
          </a:prstGeom>
          <a:noFill/>
          <a:ln w="15240">
            <a:solidFill>
              <a:srgbClr val="A8864A"/>
            </a:solidFill>
            <a:prstDash val="solid"/>
            <a:headEnd type="none"/>
            <a:tailEnd type="triangle"/>
          </a:ln>
        </p:spPr>
      </p:sp>
      <p:sp>
        <p:nvSpPr>
          <p:cNvPr id="26" name="Shape 23"/>
          <p:cNvSpPr/>
          <p:nvPr/>
        </p:nvSpPr>
        <p:spPr>
          <a:xfrm>
            <a:off x="2331720" y="4251960"/>
            <a:ext cx="6537960" cy="777240"/>
          </a:xfrm>
          <a:prstGeom prst="roundRect">
            <a:avLst>
              <a:gd name="adj" fmla="val 9412"/>
            </a:avLst>
          </a:prstGeom>
          <a:solidFill>
            <a:srgbClr val="E6DFCE"/>
          </a:solidFill>
          <a:ln/>
        </p:spPr>
      </p:sp>
      <p:sp>
        <p:nvSpPr>
          <p:cNvPr id="27" name="Text 24"/>
          <p:cNvSpPr/>
          <p:nvPr/>
        </p:nvSpPr>
        <p:spPr>
          <a:xfrm>
            <a:off x="2560320" y="4251960"/>
            <a:ext cx="457200" cy="777240"/>
          </a:xfrm>
          <a:prstGeom prst="rect">
            <a:avLst/>
          </a:prstGeom>
          <a:noFill/>
          <a:ln/>
        </p:spPr>
        <p:txBody>
          <a:bodyPr wrap="square" lIns="0" tIns="0" rIns="0" bIns="0" rtlCol="0" anchor="ctr"/>
          <a:lstStyle/>
          <a:p>
            <a:pPr indent="0" marL="0">
              <a:buNone/>
            </a:pPr>
            <a:r>
              <a:rPr lang="en-US" sz="2000" dirty="0">
                <a:solidFill>
                  <a:srgbClr val="3A2C1A"/>
                </a:solidFill>
                <a:latin typeface="Georgia" pitchFamily="34" charset="0"/>
                <a:ea typeface="Georgia" pitchFamily="34" charset="-122"/>
                <a:cs typeface="Georgia" pitchFamily="34" charset="-120"/>
              </a:rPr>
              <a:t>4</a:t>
            </a:r>
            <a:endParaRPr lang="en-US" sz="2000" dirty="0"/>
          </a:p>
        </p:txBody>
      </p:sp>
      <p:sp>
        <p:nvSpPr>
          <p:cNvPr id="28" name="Text 25"/>
          <p:cNvSpPr/>
          <p:nvPr/>
        </p:nvSpPr>
        <p:spPr>
          <a:xfrm>
            <a:off x="3108960" y="4251960"/>
            <a:ext cx="2651760" cy="777240"/>
          </a:xfrm>
          <a:prstGeom prst="rect">
            <a:avLst/>
          </a:prstGeom>
          <a:noFill/>
          <a:ln/>
        </p:spPr>
        <p:txBody>
          <a:bodyPr wrap="square" lIns="0" tIns="0" rIns="0" bIns="0" rtlCol="0" anchor="ctr">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storage</a:t>
            </a:r>
            <a:endParaRPr lang="en-US" sz="1600" dirty="0"/>
          </a:p>
        </p:txBody>
      </p:sp>
      <p:sp>
        <p:nvSpPr>
          <p:cNvPr id="29" name="Text 26"/>
          <p:cNvSpPr/>
          <p:nvPr/>
        </p:nvSpPr>
        <p:spPr>
          <a:xfrm>
            <a:off x="4846320" y="4251960"/>
            <a:ext cx="3931920" cy="77724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Postgres / DynamoDB / S3</a:t>
            </a:r>
            <a:endParaRPr lang="en-US" sz="1250" dirty="0"/>
          </a:p>
        </p:txBody>
      </p:sp>
      <p:sp>
        <p:nvSpPr>
          <p:cNvPr id="30" name="Text 27"/>
          <p:cNvSpPr/>
          <p:nvPr/>
        </p:nvSpPr>
        <p:spPr>
          <a:xfrm>
            <a:off x="9144000" y="4251960"/>
            <a:ext cx="2468880" cy="777240"/>
          </a:xfrm>
          <a:prstGeom prst="rect">
            <a:avLst/>
          </a:prstGeom>
          <a:noFill/>
          <a:ln/>
        </p:spPr>
        <p:txBody>
          <a:bodyPr wrap="square" lIns="0" tIns="0" rIns="0" bIns="0" rtlCol="0" anchor="ctr"/>
          <a:lstStyle/>
          <a:p>
            <a:pPr algn="r" indent="0" marL="0">
              <a:buNone/>
            </a:pPr>
            <a:r>
              <a:rPr lang="en-US" sz="1400" dirty="0">
                <a:solidFill>
                  <a:srgbClr val="3A2C1A"/>
                </a:solidFill>
                <a:latin typeface="Courier New" pitchFamily="34" charset="0"/>
                <a:ea typeface="Courier New" pitchFamily="34" charset="-122"/>
                <a:cs typeface="Courier New" pitchFamily="34" charset="-120"/>
              </a:rPr>
              <a:t>ms, and metered</a:t>
            </a:r>
            <a:endParaRPr lang="en-US" sz="1400" dirty="0"/>
          </a:p>
        </p:txBody>
      </p:sp>
      <p:sp>
        <p:nvSpPr>
          <p:cNvPr id="31" name="Text 28"/>
          <p:cNvSpPr/>
          <p:nvPr/>
        </p:nvSpPr>
        <p:spPr>
          <a:xfrm>
            <a:off x="502920" y="2743200"/>
            <a:ext cx="548640" cy="640080"/>
          </a:xfrm>
          <a:prstGeom prst="rect">
            <a:avLst/>
          </a:prstGeom>
          <a:noFill/>
          <a:ln/>
        </p:spPr>
        <p:txBody>
          <a:bodyPr wrap="square" lIns="0" tIns="0" rIns="0" bIns="0" rtlCol="0" anchor="t"/>
          <a:lstStyle/>
          <a:p>
            <a:pPr algn="ctr" indent="0" marL="0">
              <a:buNone/>
            </a:pPr>
            <a:r>
              <a:rPr lang="en-US" sz="1100" dirty="0">
                <a:solidFill>
                  <a:srgbClr val="A8864A"/>
                </a:solidFill>
                <a:latin typeface="Helvetica Neue" pitchFamily="34" charset="0"/>
                <a:ea typeface="Helvetica Neue" pitchFamily="34" charset="-122"/>
                <a:cs typeface="Helvetica Neue" pitchFamily="34" charset="-120"/>
              </a:rPr>
              <a:t>miss</a:t>
            </a:r>
            <a:endParaRPr lang="en-US" sz="1100" dirty="0"/>
          </a:p>
          <a:p>
            <a:pPr algn="ctr" indent="0" marL="0">
              <a:buNone/>
            </a:pPr>
            <a:r>
              <a:rPr lang="en-US" sz="1100" dirty="0">
                <a:solidFill>
                  <a:srgbClr val="A8864A"/>
                </a:solidFill>
                <a:latin typeface="Helvetica Neue" pitchFamily="34" charset="0"/>
                <a:ea typeface="Helvetica Neue" pitchFamily="34" charset="-122"/>
                <a:cs typeface="Helvetica Neue" pitchFamily="34" charset="-120"/>
              </a:rPr>
              <a:t>↓</a:t>
            </a:r>
            <a:endParaRPr lang="en-US" sz="1100" dirty="0"/>
          </a:p>
        </p:txBody>
      </p:sp>
      <p:sp>
        <p:nvSpPr>
          <p:cNvPr id="32" name="Shape 29"/>
          <p:cNvSpPr/>
          <p:nvPr/>
        </p:nvSpPr>
        <p:spPr>
          <a:xfrm>
            <a:off x="1691640" y="4846320"/>
            <a:ext cx="7772400" cy="502920"/>
          </a:xfrm>
          <a:prstGeom prst="roundRect">
            <a:avLst>
              <a:gd name="adj" fmla="val 14545"/>
            </a:avLst>
          </a:prstGeom>
          <a:solidFill>
            <a:srgbClr val="D3DEE1"/>
          </a:solidFill>
          <a:ln/>
        </p:spPr>
      </p:sp>
      <p:sp>
        <p:nvSpPr>
          <p:cNvPr id="33" name="Text 30"/>
          <p:cNvSpPr/>
          <p:nvPr/>
        </p:nvSpPr>
        <p:spPr>
          <a:xfrm>
            <a:off x="1874520" y="4846320"/>
            <a:ext cx="7406640" cy="502920"/>
          </a:xfrm>
          <a:prstGeom prst="rect">
            <a:avLst/>
          </a:prstGeom>
          <a:noFill/>
          <a:ln/>
        </p:spPr>
        <p:txBody>
          <a:bodyPr wrap="square" lIns="0" tIns="0" rIns="0" bIns="0" rtlCol="0" anchor="ctr">
            <a:normAutofit/>
          </a:bodyPr>
          <a:lstStyle/>
          <a:p>
            <a:pPr indent="0" marL="0">
              <a:buNone/>
            </a:pPr>
            <a:r>
              <a:rPr lang="en-US" sz="1300" b="1" dirty="0">
                <a:solidFill>
                  <a:srgbClr val="3F6470"/>
                </a:solidFill>
                <a:latin typeface="Helvetica Neue" pitchFamily="34" charset="0"/>
                <a:ea typeface="Helvetica Neue" pitchFamily="34" charset="-122"/>
                <a:cs typeface="Helvetica Neue" pitchFamily="34" charset="-120"/>
              </a:rPr>
              <a:t>Tier 2 is the addition in this class — and it is the only tier that survives a process restart.</a:t>
            </a:r>
            <a:endParaRPr lang="en-US" sz="1300" dirty="0"/>
          </a:p>
        </p:txBody>
      </p:sp>
      <p:sp>
        <p:nvSpPr>
          <p:cNvPr id="34" name="Shape 31"/>
          <p:cNvSpPr/>
          <p:nvPr/>
        </p:nvSpPr>
        <p:spPr>
          <a:xfrm>
            <a:off x="548640" y="5623560"/>
            <a:ext cx="54864" cy="457200"/>
          </a:xfrm>
          <a:prstGeom prst="rect">
            <a:avLst/>
          </a:prstGeom>
          <a:solidFill>
            <a:srgbClr val="A8864A"/>
          </a:solidFill>
          <a:ln/>
        </p:spPr>
      </p:sp>
      <p:sp>
        <p:nvSpPr>
          <p:cNvPr id="35" name="Text 32"/>
          <p:cNvSpPr/>
          <p:nvPr/>
        </p:nvSpPr>
        <p:spPr>
          <a:xfrm>
            <a:off x="777240" y="562356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Latency is not a property of the query. It is a property of which tier had the segment.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III · THE COST OF A READ</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17</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Choosing tiers: what each one actually buys</a:t>
            </a:r>
            <a:endParaRPr lang="en-US" sz="2500" dirty="0"/>
          </a:p>
        </p:txBody>
      </p:sp>
      <p:sp>
        <p:nvSpPr>
          <p:cNvPr id="8" name="Shape 5"/>
          <p:cNvSpPr/>
          <p:nvPr/>
        </p:nvSpPr>
        <p:spPr>
          <a:xfrm>
            <a:off x="3108960" y="1325880"/>
            <a:ext cx="2039112" cy="502920"/>
          </a:xfrm>
          <a:prstGeom prst="roundRect">
            <a:avLst>
              <a:gd name="adj" fmla="val 14545"/>
            </a:avLst>
          </a:prstGeom>
          <a:solidFill>
            <a:srgbClr val="2C2416"/>
          </a:solidFill>
          <a:ln/>
        </p:spPr>
      </p:sp>
      <p:sp>
        <p:nvSpPr>
          <p:cNvPr id="9" name="Text 6"/>
          <p:cNvSpPr/>
          <p:nvPr/>
        </p:nvSpPr>
        <p:spPr>
          <a:xfrm>
            <a:off x="3108960" y="1325880"/>
            <a:ext cx="2039112" cy="502920"/>
          </a:xfrm>
          <a:prstGeom prst="rect">
            <a:avLst/>
          </a:prstGeom>
          <a:noFill/>
          <a:ln/>
        </p:spPr>
        <p:txBody>
          <a:bodyPr wrap="square" lIns="0" tIns="0" rIns="0" bIns="0" rtlCol="0" anchor="ctr">
            <a:normAutofit/>
          </a:bodyPr>
          <a:lstStyle/>
          <a:p>
            <a:pPr algn="ctr" indent="0" marL="0">
              <a:buNone/>
            </a:pPr>
            <a:r>
              <a:rPr lang="en-US" sz="1250" b="1" dirty="0">
                <a:solidFill>
                  <a:srgbClr val="FCFAF4"/>
                </a:solidFill>
                <a:latin typeface="Helvetica Neue" pitchFamily="34" charset="0"/>
                <a:ea typeface="Helvetica Neue" pitchFamily="34" charset="-122"/>
                <a:cs typeface="Helvetica Neue" pitchFamily="34" charset="-120"/>
              </a:rPr>
              <a:t>object cache</a:t>
            </a:r>
            <a:endParaRPr lang="en-US" sz="1250" dirty="0"/>
          </a:p>
        </p:txBody>
      </p:sp>
      <p:sp>
        <p:nvSpPr>
          <p:cNvPr id="10" name="Shape 7"/>
          <p:cNvSpPr/>
          <p:nvPr/>
        </p:nvSpPr>
        <p:spPr>
          <a:xfrm>
            <a:off x="5257800" y="1325880"/>
            <a:ext cx="2039112" cy="502920"/>
          </a:xfrm>
          <a:prstGeom prst="roundRect">
            <a:avLst>
              <a:gd name="adj" fmla="val 14545"/>
            </a:avLst>
          </a:prstGeom>
          <a:solidFill>
            <a:srgbClr val="DFD6C0"/>
          </a:solidFill>
          <a:ln/>
        </p:spPr>
      </p:sp>
      <p:sp>
        <p:nvSpPr>
          <p:cNvPr id="11" name="Text 8"/>
          <p:cNvSpPr/>
          <p:nvPr/>
        </p:nvSpPr>
        <p:spPr>
          <a:xfrm>
            <a:off x="5257800" y="1325880"/>
            <a:ext cx="2039112" cy="50292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valcache</a:t>
            </a:r>
            <a:endParaRPr lang="en-US" sz="1250" dirty="0"/>
          </a:p>
        </p:txBody>
      </p:sp>
      <p:sp>
        <p:nvSpPr>
          <p:cNvPr id="12" name="Shape 9"/>
          <p:cNvSpPr/>
          <p:nvPr/>
        </p:nvSpPr>
        <p:spPr>
          <a:xfrm>
            <a:off x="7406640" y="1325880"/>
            <a:ext cx="2039112" cy="502920"/>
          </a:xfrm>
          <a:prstGeom prst="roundRect">
            <a:avLst>
              <a:gd name="adj" fmla="val 14545"/>
            </a:avLst>
          </a:prstGeom>
          <a:solidFill>
            <a:srgbClr val="DFD6C0"/>
          </a:solidFill>
          <a:ln/>
        </p:spPr>
      </p:sp>
      <p:sp>
        <p:nvSpPr>
          <p:cNvPr id="13" name="Text 10"/>
          <p:cNvSpPr/>
          <p:nvPr/>
        </p:nvSpPr>
        <p:spPr>
          <a:xfrm>
            <a:off x="7406640" y="1325880"/>
            <a:ext cx="2039112" cy="50292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memcached</a:t>
            </a:r>
            <a:endParaRPr lang="en-US" sz="1250" dirty="0"/>
          </a:p>
        </p:txBody>
      </p:sp>
      <p:sp>
        <p:nvSpPr>
          <p:cNvPr id="14" name="Shape 11"/>
          <p:cNvSpPr/>
          <p:nvPr/>
        </p:nvSpPr>
        <p:spPr>
          <a:xfrm>
            <a:off x="9555480" y="1325880"/>
            <a:ext cx="2039112" cy="502920"/>
          </a:xfrm>
          <a:prstGeom prst="roundRect">
            <a:avLst>
              <a:gd name="adj" fmla="val 14545"/>
            </a:avLst>
          </a:prstGeom>
          <a:solidFill>
            <a:srgbClr val="DFD6C0"/>
          </a:solidFill>
          <a:ln/>
        </p:spPr>
      </p:sp>
      <p:sp>
        <p:nvSpPr>
          <p:cNvPr id="15" name="Text 12"/>
          <p:cNvSpPr/>
          <p:nvPr/>
        </p:nvSpPr>
        <p:spPr>
          <a:xfrm>
            <a:off x="9555480" y="1325880"/>
            <a:ext cx="2039112" cy="50292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storage</a:t>
            </a:r>
            <a:endParaRPr lang="en-US" sz="1250" dirty="0"/>
          </a:p>
        </p:txBody>
      </p:sp>
      <p:sp>
        <p:nvSpPr>
          <p:cNvPr id="16" name="Shape 13"/>
          <p:cNvSpPr/>
          <p:nvPr/>
        </p:nvSpPr>
        <p:spPr>
          <a:xfrm>
            <a:off x="548640" y="1965960"/>
            <a:ext cx="11064240" cy="566928"/>
          </a:xfrm>
          <a:prstGeom prst="rect">
            <a:avLst/>
          </a:prstGeom>
          <a:solidFill>
            <a:srgbClr val="E6DFCE"/>
          </a:solidFill>
          <a:ln/>
        </p:spPr>
      </p:sp>
      <p:sp>
        <p:nvSpPr>
          <p:cNvPr id="17" name="Text 14"/>
          <p:cNvSpPr/>
          <p:nvPr/>
        </p:nvSpPr>
        <p:spPr>
          <a:xfrm>
            <a:off x="731520" y="1965960"/>
            <a:ext cx="2286000" cy="566928"/>
          </a:xfrm>
          <a:prstGeom prst="rect">
            <a:avLst/>
          </a:prstGeom>
          <a:noFill/>
          <a:ln/>
        </p:spPr>
        <p:txBody>
          <a:bodyPr wrap="square" lIns="0" tIns="0" rIns="0" bIns="0" rtlCol="0" anchor="ctr">
            <a:normAutofit/>
          </a:bodyPr>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where</a:t>
            </a:r>
            <a:endParaRPr lang="en-US" sz="1300" dirty="0"/>
          </a:p>
        </p:txBody>
      </p:sp>
      <p:sp>
        <p:nvSpPr>
          <p:cNvPr id="18" name="Text 15"/>
          <p:cNvSpPr/>
          <p:nvPr/>
        </p:nvSpPr>
        <p:spPr>
          <a:xfrm>
            <a:off x="3108960" y="1965960"/>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JVM heap</a:t>
            </a:r>
            <a:endParaRPr lang="en-US" sz="1300" dirty="0"/>
          </a:p>
        </p:txBody>
      </p:sp>
      <p:sp>
        <p:nvSpPr>
          <p:cNvPr id="19" name="Text 16"/>
          <p:cNvSpPr/>
          <p:nvPr/>
        </p:nvSpPr>
        <p:spPr>
          <a:xfrm>
            <a:off x="5257800" y="1965960"/>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local SSD</a:t>
            </a:r>
            <a:endParaRPr lang="en-US" sz="1300" dirty="0"/>
          </a:p>
        </p:txBody>
      </p:sp>
      <p:sp>
        <p:nvSpPr>
          <p:cNvPr id="20" name="Text 17"/>
          <p:cNvSpPr/>
          <p:nvPr/>
        </p:nvSpPr>
        <p:spPr>
          <a:xfrm>
            <a:off x="7406640" y="1965960"/>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network</a:t>
            </a:r>
            <a:endParaRPr lang="en-US" sz="1300" dirty="0"/>
          </a:p>
        </p:txBody>
      </p:sp>
      <p:sp>
        <p:nvSpPr>
          <p:cNvPr id="21" name="Text 18"/>
          <p:cNvSpPr/>
          <p:nvPr/>
        </p:nvSpPr>
        <p:spPr>
          <a:xfrm>
            <a:off x="9555480" y="1965960"/>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the database</a:t>
            </a:r>
            <a:endParaRPr lang="en-US" sz="1300" dirty="0"/>
          </a:p>
        </p:txBody>
      </p:sp>
      <p:sp>
        <p:nvSpPr>
          <p:cNvPr id="22" name="Shape 19"/>
          <p:cNvSpPr/>
          <p:nvPr/>
        </p:nvSpPr>
        <p:spPr>
          <a:xfrm>
            <a:off x="548640" y="2624328"/>
            <a:ext cx="11064240" cy="566928"/>
          </a:xfrm>
          <a:prstGeom prst="rect">
            <a:avLst/>
          </a:prstGeom>
          <a:solidFill>
            <a:srgbClr val="EFE9DD"/>
          </a:solidFill>
          <a:ln/>
        </p:spPr>
      </p:sp>
      <p:sp>
        <p:nvSpPr>
          <p:cNvPr id="23" name="Text 20"/>
          <p:cNvSpPr/>
          <p:nvPr/>
        </p:nvSpPr>
        <p:spPr>
          <a:xfrm>
            <a:off x="731520" y="2624328"/>
            <a:ext cx="2286000" cy="566928"/>
          </a:xfrm>
          <a:prstGeom prst="rect">
            <a:avLst/>
          </a:prstGeom>
          <a:noFill/>
          <a:ln/>
        </p:spPr>
        <p:txBody>
          <a:bodyPr wrap="square" lIns="0" tIns="0" rIns="0" bIns="0" rtlCol="0" anchor="ctr">
            <a:normAutofit/>
          </a:bodyPr>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survives restart?</a:t>
            </a:r>
            <a:endParaRPr lang="en-US" sz="1300" dirty="0"/>
          </a:p>
        </p:txBody>
      </p:sp>
      <p:sp>
        <p:nvSpPr>
          <p:cNvPr id="24" name="Text 21"/>
          <p:cNvSpPr/>
          <p:nvPr/>
        </p:nvSpPr>
        <p:spPr>
          <a:xfrm>
            <a:off x="3108960" y="2624328"/>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no</a:t>
            </a:r>
            <a:endParaRPr lang="en-US" sz="1300" dirty="0"/>
          </a:p>
        </p:txBody>
      </p:sp>
      <p:sp>
        <p:nvSpPr>
          <p:cNvPr id="25" name="Text 22"/>
          <p:cNvSpPr/>
          <p:nvPr/>
        </p:nvSpPr>
        <p:spPr>
          <a:xfrm>
            <a:off x="5257800" y="2624328"/>
            <a:ext cx="2039112" cy="566928"/>
          </a:xfrm>
          <a:prstGeom prst="rect">
            <a:avLst/>
          </a:prstGeom>
          <a:noFill/>
          <a:ln/>
        </p:spPr>
        <p:txBody>
          <a:bodyPr wrap="square" lIns="0" tIns="0" rIns="0" bIns="0" rtlCol="0" anchor="ctr">
            <a:normAutofit/>
          </a:bodyPr>
          <a:lstStyle/>
          <a:p>
            <a:pPr algn="ctr" indent="0" marL="0">
              <a:buNone/>
            </a:pPr>
            <a:r>
              <a:rPr lang="en-US" sz="1300" b="1" dirty="0">
                <a:solidFill>
                  <a:srgbClr val="5F7A3A"/>
                </a:solidFill>
                <a:latin typeface="Helvetica Neue" pitchFamily="34" charset="0"/>
                <a:ea typeface="Helvetica Neue" pitchFamily="34" charset="-122"/>
                <a:cs typeface="Helvetica Neue" pitchFamily="34" charset="-120"/>
              </a:rPr>
              <a:t>YES</a:t>
            </a:r>
            <a:endParaRPr lang="en-US" sz="1300" dirty="0"/>
          </a:p>
        </p:txBody>
      </p:sp>
      <p:sp>
        <p:nvSpPr>
          <p:cNvPr id="26" name="Text 23"/>
          <p:cNvSpPr/>
          <p:nvPr/>
        </p:nvSpPr>
        <p:spPr>
          <a:xfrm>
            <a:off x="7406640" y="2624328"/>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yes (shared)</a:t>
            </a:r>
            <a:endParaRPr lang="en-US" sz="1300" dirty="0"/>
          </a:p>
        </p:txBody>
      </p:sp>
      <p:sp>
        <p:nvSpPr>
          <p:cNvPr id="27" name="Text 24"/>
          <p:cNvSpPr/>
          <p:nvPr/>
        </p:nvSpPr>
        <p:spPr>
          <a:xfrm>
            <a:off x="9555480" y="2624328"/>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n/a</a:t>
            </a:r>
            <a:endParaRPr lang="en-US" sz="1300" dirty="0"/>
          </a:p>
        </p:txBody>
      </p:sp>
      <p:sp>
        <p:nvSpPr>
          <p:cNvPr id="28" name="Shape 25"/>
          <p:cNvSpPr/>
          <p:nvPr/>
        </p:nvSpPr>
        <p:spPr>
          <a:xfrm>
            <a:off x="548640" y="3282696"/>
            <a:ext cx="11064240" cy="566928"/>
          </a:xfrm>
          <a:prstGeom prst="rect">
            <a:avLst/>
          </a:prstGeom>
          <a:solidFill>
            <a:srgbClr val="E6DFCE"/>
          </a:solidFill>
          <a:ln/>
        </p:spPr>
      </p:sp>
      <p:sp>
        <p:nvSpPr>
          <p:cNvPr id="29" name="Text 26"/>
          <p:cNvSpPr/>
          <p:nvPr/>
        </p:nvSpPr>
        <p:spPr>
          <a:xfrm>
            <a:off x="731520" y="3282696"/>
            <a:ext cx="2286000" cy="566928"/>
          </a:xfrm>
          <a:prstGeom prst="rect">
            <a:avLst/>
          </a:prstGeom>
          <a:noFill/>
          <a:ln/>
        </p:spPr>
        <p:txBody>
          <a:bodyPr wrap="square" lIns="0" tIns="0" rIns="0" bIns="0" rtlCol="0" anchor="ctr">
            <a:normAutofit/>
          </a:bodyPr>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shared across peers?</a:t>
            </a:r>
            <a:endParaRPr lang="en-US" sz="1300" dirty="0"/>
          </a:p>
        </p:txBody>
      </p:sp>
      <p:sp>
        <p:nvSpPr>
          <p:cNvPr id="30" name="Text 27"/>
          <p:cNvSpPr/>
          <p:nvPr/>
        </p:nvSpPr>
        <p:spPr>
          <a:xfrm>
            <a:off x="3108960" y="3282696"/>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no</a:t>
            </a:r>
            <a:endParaRPr lang="en-US" sz="1300" dirty="0"/>
          </a:p>
        </p:txBody>
      </p:sp>
      <p:sp>
        <p:nvSpPr>
          <p:cNvPr id="31" name="Text 28"/>
          <p:cNvSpPr/>
          <p:nvPr/>
        </p:nvSpPr>
        <p:spPr>
          <a:xfrm>
            <a:off x="5257800" y="3282696"/>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no</a:t>
            </a:r>
            <a:endParaRPr lang="en-US" sz="1300" dirty="0"/>
          </a:p>
        </p:txBody>
      </p:sp>
      <p:sp>
        <p:nvSpPr>
          <p:cNvPr id="32" name="Text 29"/>
          <p:cNvSpPr/>
          <p:nvPr/>
        </p:nvSpPr>
        <p:spPr>
          <a:xfrm>
            <a:off x="7406640" y="3282696"/>
            <a:ext cx="2039112" cy="566928"/>
          </a:xfrm>
          <a:prstGeom prst="rect">
            <a:avLst/>
          </a:prstGeom>
          <a:noFill/>
          <a:ln/>
        </p:spPr>
        <p:txBody>
          <a:bodyPr wrap="square" lIns="0" tIns="0" rIns="0" bIns="0" rtlCol="0" anchor="ctr">
            <a:normAutofit/>
          </a:bodyPr>
          <a:lstStyle/>
          <a:p>
            <a:pPr algn="ctr" indent="0" marL="0">
              <a:buNone/>
            </a:pPr>
            <a:r>
              <a:rPr lang="en-US" sz="1300" b="1" dirty="0">
                <a:solidFill>
                  <a:srgbClr val="5F7A3A"/>
                </a:solidFill>
                <a:latin typeface="Helvetica Neue" pitchFamily="34" charset="0"/>
                <a:ea typeface="Helvetica Neue" pitchFamily="34" charset="-122"/>
                <a:cs typeface="Helvetica Neue" pitchFamily="34" charset="-120"/>
              </a:rPr>
              <a:t>YES</a:t>
            </a:r>
            <a:endParaRPr lang="en-US" sz="1300" dirty="0"/>
          </a:p>
        </p:txBody>
      </p:sp>
      <p:sp>
        <p:nvSpPr>
          <p:cNvPr id="33" name="Text 30"/>
          <p:cNvSpPr/>
          <p:nvPr/>
        </p:nvSpPr>
        <p:spPr>
          <a:xfrm>
            <a:off x="9555480" y="3282696"/>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yes</a:t>
            </a:r>
            <a:endParaRPr lang="en-US" sz="1300" dirty="0"/>
          </a:p>
        </p:txBody>
      </p:sp>
      <p:sp>
        <p:nvSpPr>
          <p:cNvPr id="34" name="Shape 31"/>
          <p:cNvSpPr/>
          <p:nvPr/>
        </p:nvSpPr>
        <p:spPr>
          <a:xfrm>
            <a:off x="548640" y="3941064"/>
            <a:ext cx="11064240" cy="566928"/>
          </a:xfrm>
          <a:prstGeom prst="rect">
            <a:avLst/>
          </a:prstGeom>
          <a:solidFill>
            <a:srgbClr val="EFE9DD"/>
          </a:solidFill>
          <a:ln/>
        </p:spPr>
      </p:sp>
      <p:sp>
        <p:nvSpPr>
          <p:cNvPr id="35" name="Text 32"/>
          <p:cNvSpPr/>
          <p:nvPr/>
        </p:nvSpPr>
        <p:spPr>
          <a:xfrm>
            <a:off x="731520" y="3941064"/>
            <a:ext cx="2286000" cy="566928"/>
          </a:xfrm>
          <a:prstGeom prst="rect">
            <a:avLst/>
          </a:prstGeom>
          <a:noFill/>
          <a:ln/>
        </p:spPr>
        <p:txBody>
          <a:bodyPr wrap="square" lIns="0" tIns="0" rIns="0" bIns="0" rtlCol="0" anchor="ctr">
            <a:normAutofit/>
          </a:bodyPr>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costs</a:t>
            </a:r>
            <a:endParaRPr lang="en-US" sz="1300" dirty="0"/>
          </a:p>
        </p:txBody>
      </p:sp>
      <p:sp>
        <p:nvSpPr>
          <p:cNvPr id="36" name="Text 33"/>
          <p:cNvSpPr/>
          <p:nvPr/>
        </p:nvSpPr>
        <p:spPr>
          <a:xfrm>
            <a:off x="3108960" y="3941064"/>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heap</a:t>
            </a:r>
            <a:endParaRPr lang="en-US" sz="1300" dirty="0"/>
          </a:p>
        </p:txBody>
      </p:sp>
      <p:sp>
        <p:nvSpPr>
          <p:cNvPr id="37" name="Text 34"/>
          <p:cNvSpPr/>
          <p:nvPr/>
        </p:nvSpPr>
        <p:spPr>
          <a:xfrm>
            <a:off x="5257800" y="3941064"/>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disk</a:t>
            </a:r>
            <a:endParaRPr lang="en-US" sz="1300" dirty="0"/>
          </a:p>
        </p:txBody>
      </p:sp>
      <p:sp>
        <p:nvSpPr>
          <p:cNvPr id="38" name="Text 35"/>
          <p:cNvSpPr/>
          <p:nvPr/>
        </p:nvSpPr>
        <p:spPr>
          <a:xfrm>
            <a:off x="7406640" y="3941064"/>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a server</a:t>
            </a:r>
            <a:endParaRPr lang="en-US" sz="1300" dirty="0"/>
          </a:p>
        </p:txBody>
      </p:sp>
      <p:sp>
        <p:nvSpPr>
          <p:cNvPr id="39" name="Text 36"/>
          <p:cNvSpPr/>
          <p:nvPr/>
        </p:nvSpPr>
        <p:spPr>
          <a:xfrm>
            <a:off x="9555480" y="3941064"/>
            <a:ext cx="2039112" cy="566928"/>
          </a:xfrm>
          <a:prstGeom prst="rect">
            <a:avLst/>
          </a:prstGeom>
          <a:noFill/>
          <a:ln/>
        </p:spPr>
        <p:txBody>
          <a:bodyPr wrap="square" lIns="0" tIns="0" rIns="0" bIns="0" rtlCol="0" anchor="ctr">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money / IOPS</a:t>
            </a:r>
            <a:endParaRPr lang="en-US" sz="1300" dirty="0"/>
          </a:p>
        </p:txBody>
      </p:sp>
      <p:sp>
        <p:nvSpPr>
          <p:cNvPr id="40" name="Shape 37"/>
          <p:cNvSpPr/>
          <p:nvPr/>
        </p:nvSpPr>
        <p:spPr>
          <a:xfrm>
            <a:off x="548640" y="4599432"/>
            <a:ext cx="11064240" cy="566928"/>
          </a:xfrm>
          <a:prstGeom prst="rect">
            <a:avLst/>
          </a:prstGeom>
          <a:solidFill>
            <a:srgbClr val="E6DFCE"/>
          </a:solidFill>
          <a:ln/>
        </p:spPr>
      </p:sp>
      <p:sp>
        <p:nvSpPr>
          <p:cNvPr id="41" name="Text 38"/>
          <p:cNvSpPr/>
          <p:nvPr/>
        </p:nvSpPr>
        <p:spPr>
          <a:xfrm>
            <a:off x="731520" y="4599432"/>
            <a:ext cx="2286000" cy="566928"/>
          </a:xfrm>
          <a:prstGeom prst="rect">
            <a:avLst/>
          </a:prstGeom>
          <a:noFill/>
          <a:ln/>
        </p:spPr>
        <p:txBody>
          <a:bodyPr wrap="square" lIns="0" tIns="0" rIns="0" bIns="0" rtlCol="0" anchor="ctr">
            <a:normAutofit/>
          </a:bodyPr>
          <a:lstStyle/>
          <a:p>
            <a:pPr indent="0" marL="0">
              <a:buNone/>
            </a:pPr>
            <a:r>
              <a:rPr lang="en-US" sz="1300" b="1" dirty="0">
                <a:solidFill>
                  <a:srgbClr val="3A2C1A"/>
                </a:solidFill>
                <a:latin typeface="Helvetica Neue" pitchFamily="34" charset="0"/>
                <a:ea typeface="Helvetica Neue" pitchFamily="34" charset="-122"/>
                <a:cs typeface="Helvetica Neue" pitchFamily="34" charset="-120"/>
              </a:rPr>
              <a:t>turned on by</a:t>
            </a:r>
            <a:endParaRPr lang="en-US" sz="1300" dirty="0"/>
          </a:p>
        </p:txBody>
      </p:sp>
      <p:sp>
        <p:nvSpPr>
          <p:cNvPr id="42" name="Text 39"/>
          <p:cNvSpPr/>
          <p:nvPr/>
        </p:nvSpPr>
        <p:spPr>
          <a:xfrm>
            <a:off x="3108960" y="4599432"/>
            <a:ext cx="2039112" cy="566928"/>
          </a:xfrm>
          <a:prstGeom prst="rect">
            <a:avLst/>
          </a:prstGeom>
          <a:noFill/>
          <a:ln/>
        </p:spPr>
        <p:txBody>
          <a:bodyPr wrap="square" lIns="0" tIns="0" rIns="0" bIns="0" rtlCol="0" anchor="ctr">
            <a:normAutofit/>
          </a:bodyPr>
          <a:lstStyle/>
          <a:p>
            <a:pPr algn="ctr" indent="0" marL="0">
              <a:buNone/>
            </a:pPr>
            <a:r>
              <a:rPr lang="en-US" sz="1100" dirty="0">
                <a:solidFill>
                  <a:srgbClr val="6B5A44"/>
                </a:solidFill>
                <a:latin typeface="Courier New" pitchFamily="34" charset="0"/>
                <a:ea typeface="Courier New" pitchFamily="34" charset="-122"/>
                <a:cs typeface="Courier New" pitchFamily="34" charset="-120"/>
              </a:rPr>
              <a:t>objectCacheMax</a:t>
            </a:r>
            <a:endParaRPr lang="en-US" sz="1100" dirty="0"/>
          </a:p>
        </p:txBody>
      </p:sp>
      <p:sp>
        <p:nvSpPr>
          <p:cNvPr id="43" name="Text 40"/>
          <p:cNvSpPr/>
          <p:nvPr/>
        </p:nvSpPr>
        <p:spPr>
          <a:xfrm>
            <a:off x="5257800" y="4599432"/>
            <a:ext cx="2039112" cy="566928"/>
          </a:xfrm>
          <a:prstGeom prst="rect">
            <a:avLst/>
          </a:prstGeom>
          <a:noFill/>
          <a:ln/>
        </p:spPr>
        <p:txBody>
          <a:bodyPr wrap="square" lIns="0" tIns="0" rIns="0" bIns="0" rtlCol="0" anchor="ctr">
            <a:normAutofit/>
          </a:bodyPr>
          <a:lstStyle/>
          <a:p>
            <a:pPr algn="ctr" indent="0" marL="0">
              <a:buNone/>
            </a:pPr>
            <a:r>
              <a:rPr lang="en-US" sz="1100" dirty="0">
                <a:solidFill>
                  <a:srgbClr val="6B5A44"/>
                </a:solidFill>
                <a:latin typeface="Courier New" pitchFamily="34" charset="0"/>
                <a:ea typeface="Courier New" pitchFamily="34" charset="-122"/>
                <a:cs typeface="Courier New" pitchFamily="34" charset="-120"/>
              </a:rPr>
              <a:t>valcachePath</a:t>
            </a:r>
            <a:endParaRPr lang="en-US" sz="1100" dirty="0"/>
          </a:p>
        </p:txBody>
      </p:sp>
      <p:sp>
        <p:nvSpPr>
          <p:cNvPr id="44" name="Text 41"/>
          <p:cNvSpPr/>
          <p:nvPr/>
        </p:nvSpPr>
        <p:spPr>
          <a:xfrm>
            <a:off x="7406640" y="4599432"/>
            <a:ext cx="2039112" cy="566928"/>
          </a:xfrm>
          <a:prstGeom prst="rect">
            <a:avLst/>
          </a:prstGeom>
          <a:noFill/>
          <a:ln/>
        </p:spPr>
        <p:txBody>
          <a:bodyPr wrap="square" lIns="0" tIns="0" rIns="0" bIns="0" rtlCol="0" anchor="ctr">
            <a:normAutofit/>
          </a:bodyPr>
          <a:lstStyle/>
          <a:p>
            <a:pPr algn="ctr" indent="0" marL="0">
              <a:buNone/>
            </a:pPr>
            <a:r>
              <a:rPr lang="en-US" sz="1100" dirty="0">
                <a:solidFill>
                  <a:srgbClr val="6B5A44"/>
                </a:solidFill>
                <a:latin typeface="Courier New" pitchFamily="34" charset="0"/>
                <a:ea typeface="Courier New" pitchFamily="34" charset="-122"/>
                <a:cs typeface="Courier New" pitchFamily="34" charset="-120"/>
              </a:rPr>
              <a:t>memcachedServers</a:t>
            </a:r>
            <a:endParaRPr lang="en-US" sz="1100" dirty="0"/>
          </a:p>
        </p:txBody>
      </p:sp>
      <p:sp>
        <p:nvSpPr>
          <p:cNvPr id="45" name="Text 42"/>
          <p:cNvSpPr/>
          <p:nvPr/>
        </p:nvSpPr>
        <p:spPr>
          <a:xfrm>
            <a:off x="9555480" y="4599432"/>
            <a:ext cx="2039112" cy="566928"/>
          </a:xfrm>
          <a:prstGeom prst="rect">
            <a:avLst/>
          </a:prstGeom>
          <a:noFill/>
          <a:ln/>
        </p:spPr>
        <p:txBody>
          <a:bodyPr wrap="square" lIns="0" tIns="0" rIns="0" bIns="0" rtlCol="0" anchor="ctr">
            <a:normAutofit/>
          </a:bodyPr>
          <a:lstStyle/>
          <a:p>
            <a:pPr algn="ctr" indent="0" marL="0">
              <a:buNone/>
            </a:pPr>
            <a:r>
              <a:rPr lang="en-US" sz="1100" dirty="0">
                <a:solidFill>
                  <a:srgbClr val="6B5A44"/>
                </a:solidFill>
                <a:latin typeface="Courier New" pitchFamily="34" charset="0"/>
                <a:ea typeface="Courier New" pitchFamily="34" charset="-122"/>
                <a:cs typeface="Courier New" pitchFamily="34" charset="-120"/>
              </a:rPr>
              <a:t>always on</a:t>
            </a:r>
            <a:endParaRPr lang="en-US" sz="1100" dirty="0"/>
          </a:p>
        </p:txBody>
      </p:sp>
      <p:sp>
        <p:nvSpPr>
          <p:cNvPr id="46" name="Shape 43"/>
          <p:cNvSpPr/>
          <p:nvPr/>
        </p:nvSpPr>
        <p:spPr>
          <a:xfrm>
            <a:off x="548640" y="5532120"/>
            <a:ext cx="54864" cy="457200"/>
          </a:xfrm>
          <a:prstGeom prst="rect">
            <a:avLst/>
          </a:prstGeom>
          <a:solidFill>
            <a:srgbClr val="A8864A"/>
          </a:solidFill>
          <a:ln/>
        </p:spPr>
      </p:sp>
      <p:sp>
        <p:nvSpPr>
          <p:cNvPr id="47" name="Text 44"/>
          <p:cNvSpPr/>
          <p:nvPr/>
        </p:nvSpPr>
        <p:spPr>
          <a:xfrm>
            <a:off x="777240" y="55321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Size the object cache first — it is free. Add valcache for restarts, memcached for fleets.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III · THE COST OF A READ</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18</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unit of caching is a segment — not an entity, not a row</a:t>
            </a:r>
            <a:endParaRPr lang="en-US" sz="2500" dirty="0"/>
          </a:p>
        </p:txBody>
      </p:sp>
      <p:sp>
        <p:nvSpPr>
          <p:cNvPr id="8" name="Text 5"/>
          <p:cNvSpPr/>
          <p:nvPr/>
        </p:nvSpPr>
        <p:spPr>
          <a:xfrm>
            <a:off x="548640" y="1280160"/>
            <a:ext cx="530352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You ask for one entity …</a:t>
            </a:r>
            <a:endParaRPr lang="en-US" sz="1400" dirty="0"/>
          </a:p>
        </p:txBody>
      </p:sp>
      <p:sp>
        <p:nvSpPr>
          <p:cNvPr id="9" name="Shape 6"/>
          <p:cNvSpPr/>
          <p:nvPr/>
        </p:nvSpPr>
        <p:spPr>
          <a:xfrm>
            <a:off x="548640" y="1645920"/>
            <a:ext cx="5303520" cy="548640"/>
          </a:xfrm>
          <a:prstGeom prst="roundRect">
            <a:avLst>
              <a:gd name="adj" fmla="val 13333"/>
            </a:avLst>
          </a:prstGeom>
          <a:solidFill>
            <a:srgbClr val="E6DFCE"/>
          </a:solidFill>
          <a:ln/>
        </p:spPr>
      </p:sp>
      <p:sp>
        <p:nvSpPr>
          <p:cNvPr id="10" name="Text 7"/>
          <p:cNvSpPr/>
          <p:nvPr/>
        </p:nvSpPr>
        <p:spPr>
          <a:xfrm>
            <a:off x="749808" y="1792224"/>
            <a:ext cx="4901184" cy="25603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(d/pull db '[*] some-e)</a:t>
            </a:r>
            <a:endParaRPr lang="en-US" sz="1250" dirty="0"/>
          </a:p>
        </p:txBody>
      </p:sp>
      <p:sp>
        <p:nvSpPr>
          <p:cNvPr id="11" name="Text 8"/>
          <p:cNvSpPr/>
          <p:nvPr/>
        </p:nvSpPr>
        <p:spPr>
          <a:xfrm>
            <a:off x="6309360" y="1280160"/>
            <a:ext cx="530352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 the peer fetches the segment it lives in.</a:t>
            </a:r>
            <a:endParaRPr lang="en-US" sz="1400" dirty="0"/>
          </a:p>
        </p:txBody>
      </p:sp>
      <p:sp>
        <p:nvSpPr>
          <p:cNvPr id="12" name="Shape 9"/>
          <p:cNvSpPr/>
          <p:nvPr/>
        </p:nvSpPr>
        <p:spPr>
          <a:xfrm>
            <a:off x="6309360" y="1645920"/>
            <a:ext cx="5303520" cy="777240"/>
          </a:xfrm>
          <a:prstGeom prst="roundRect">
            <a:avLst>
              <a:gd name="adj" fmla="val 9412"/>
            </a:avLst>
          </a:prstGeom>
          <a:solidFill>
            <a:srgbClr val="E6DFCE"/>
          </a:solidFill>
          <a:ln/>
        </p:spPr>
      </p:sp>
      <p:sp>
        <p:nvSpPr>
          <p:cNvPr id="13" name="Text 10"/>
          <p:cNvSpPr/>
          <p:nvPr/>
        </p:nvSpPr>
        <p:spPr>
          <a:xfrm>
            <a:off x="6510528" y="1792224"/>
            <a:ext cx="4901184" cy="48463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(count (seq (d/index-range db</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:reading/t 4240 4260)))   ;; =&gt; 20</a:t>
            </a:r>
            <a:endParaRPr lang="en-US" sz="1250" dirty="0"/>
          </a:p>
        </p:txBody>
      </p:sp>
      <p:sp>
        <p:nvSpPr>
          <p:cNvPr id="14" name="Text 11"/>
          <p:cNvSpPr/>
          <p:nvPr/>
        </p:nvSpPr>
        <p:spPr>
          <a:xfrm>
            <a:off x="548640" y="2743200"/>
            <a:ext cx="5486400" cy="274320"/>
          </a:xfrm>
          <a:prstGeom prst="rect">
            <a:avLst/>
          </a:prstGeom>
          <a:noFill/>
          <a:ln/>
        </p:spPr>
        <p:txBody>
          <a:bodyPr wrap="square" lIns="0" tIns="0" rIns="0" bIns="0" rtlCol="0" anchor="t"/>
          <a:lstStyle/>
          <a:p>
            <a:pPr indent="0" marL="0">
              <a:buNone/>
            </a:pPr>
            <a:r>
              <a:rPr lang="en-US" sz="1200" dirty="0">
                <a:solidFill>
                  <a:srgbClr val="9A8A72"/>
                </a:solidFill>
                <a:latin typeface="Helvetica Neue" pitchFamily="34" charset="0"/>
                <a:ea typeface="Helvetica Neue" pitchFamily="34" charset="-122"/>
                <a:cs typeface="Helvetica Neue" pitchFamily="34" charset="-120"/>
              </a:rPr>
              <a:t>AVET index, ordered by :reading/t</a:t>
            </a:r>
            <a:endParaRPr lang="en-US" sz="1200" dirty="0"/>
          </a:p>
        </p:txBody>
      </p:sp>
      <p:sp>
        <p:nvSpPr>
          <p:cNvPr id="15" name="Shape 12"/>
          <p:cNvSpPr/>
          <p:nvPr/>
        </p:nvSpPr>
        <p:spPr>
          <a:xfrm>
            <a:off x="548640" y="3063240"/>
            <a:ext cx="2029968" cy="1051560"/>
          </a:xfrm>
          <a:prstGeom prst="roundRect">
            <a:avLst>
              <a:gd name="adj" fmla="val 6957"/>
            </a:avLst>
          </a:prstGeom>
          <a:solidFill>
            <a:srgbClr val="E6DFCE"/>
          </a:solidFill>
          <a:ln/>
        </p:spPr>
      </p:sp>
      <p:sp>
        <p:nvSpPr>
          <p:cNvPr id="16" name="Text 13"/>
          <p:cNvSpPr/>
          <p:nvPr/>
        </p:nvSpPr>
        <p:spPr>
          <a:xfrm>
            <a:off x="548640" y="3127248"/>
            <a:ext cx="2029968" cy="274320"/>
          </a:xfrm>
          <a:prstGeom prst="rect">
            <a:avLst/>
          </a:prstGeom>
          <a:noFill/>
          <a:ln/>
        </p:spPr>
        <p:txBody>
          <a:bodyPr wrap="square" lIns="0" tIns="0" rIns="0" bIns="0" rtlCol="0" anchor="t"/>
          <a:lstStyle/>
          <a:p>
            <a:pPr algn="ctr" indent="0" marL="0">
              <a:buNone/>
            </a:pPr>
            <a:r>
              <a:rPr lang="en-US" sz="1100" dirty="0">
                <a:solidFill>
                  <a:srgbClr val="9A8A72"/>
                </a:solidFill>
                <a:latin typeface="Helvetica Neue" pitchFamily="34" charset="0"/>
                <a:ea typeface="Helvetica Neue" pitchFamily="34" charset="-122"/>
                <a:cs typeface="Helvetica Neue" pitchFamily="34" charset="-120"/>
              </a:rPr>
              <a:t>segment 1</a:t>
            </a:r>
            <a:endParaRPr lang="en-US" sz="1100" dirty="0"/>
          </a:p>
        </p:txBody>
      </p:sp>
      <p:sp>
        <p:nvSpPr>
          <p:cNvPr id="17" name="Shape 14"/>
          <p:cNvSpPr/>
          <p:nvPr/>
        </p:nvSpPr>
        <p:spPr>
          <a:xfrm>
            <a:off x="713232" y="3520440"/>
            <a:ext cx="274320" cy="411480"/>
          </a:xfrm>
          <a:prstGeom prst="rect">
            <a:avLst/>
          </a:prstGeom>
          <a:solidFill>
            <a:srgbClr val="DFD6C0"/>
          </a:solidFill>
          <a:ln/>
        </p:spPr>
      </p:sp>
      <p:sp>
        <p:nvSpPr>
          <p:cNvPr id="18" name="Shape 15"/>
          <p:cNvSpPr/>
          <p:nvPr/>
        </p:nvSpPr>
        <p:spPr>
          <a:xfrm>
            <a:off x="1078992" y="3520440"/>
            <a:ext cx="274320" cy="411480"/>
          </a:xfrm>
          <a:prstGeom prst="rect">
            <a:avLst/>
          </a:prstGeom>
          <a:solidFill>
            <a:srgbClr val="DFD6C0"/>
          </a:solidFill>
          <a:ln/>
        </p:spPr>
      </p:sp>
      <p:sp>
        <p:nvSpPr>
          <p:cNvPr id="19" name="Shape 16"/>
          <p:cNvSpPr/>
          <p:nvPr/>
        </p:nvSpPr>
        <p:spPr>
          <a:xfrm>
            <a:off x="1444752" y="3520440"/>
            <a:ext cx="274320" cy="411480"/>
          </a:xfrm>
          <a:prstGeom prst="rect">
            <a:avLst/>
          </a:prstGeom>
          <a:solidFill>
            <a:srgbClr val="DFD6C0"/>
          </a:solidFill>
          <a:ln/>
        </p:spPr>
      </p:sp>
      <p:sp>
        <p:nvSpPr>
          <p:cNvPr id="20" name="Shape 17"/>
          <p:cNvSpPr/>
          <p:nvPr/>
        </p:nvSpPr>
        <p:spPr>
          <a:xfrm>
            <a:off x="1810512" y="3520440"/>
            <a:ext cx="274320" cy="411480"/>
          </a:xfrm>
          <a:prstGeom prst="rect">
            <a:avLst/>
          </a:prstGeom>
          <a:solidFill>
            <a:srgbClr val="DFD6C0"/>
          </a:solidFill>
          <a:ln/>
        </p:spPr>
      </p:sp>
      <p:sp>
        <p:nvSpPr>
          <p:cNvPr id="21" name="Shape 18"/>
          <p:cNvSpPr/>
          <p:nvPr/>
        </p:nvSpPr>
        <p:spPr>
          <a:xfrm>
            <a:off x="2176272" y="3520440"/>
            <a:ext cx="274320" cy="411480"/>
          </a:xfrm>
          <a:prstGeom prst="rect">
            <a:avLst/>
          </a:prstGeom>
          <a:solidFill>
            <a:srgbClr val="DFD6C0"/>
          </a:solidFill>
          <a:ln/>
        </p:spPr>
      </p:sp>
      <p:sp>
        <p:nvSpPr>
          <p:cNvPr id="22" name="Shape 19"/>
          <p:cNvSpPr/>
          <p:nvPr/>
        </p:nvSpPr>
        <p:spPr>
          <a:xfrm>
            <a:off x="2688336" y="3063240"/>
            <a:ext cx="2029968" cy="1051560"/>
          </a:xfrm>
          <a:prstGeom prst="roundRect">
            <a:avLst>
              <a:gd name="adj" fmla="val 6957"/>
            </a:avLst>
          </a:prstGeom>
          <a:solidFill>
            <a:srgbClr val="E6DFCE"/>
          </a:solidFill>
          <a:ln/>
        </p:spPr>
      </p:sp>
      <p:sp>
        <p:nvSpPr>
          <p:cNvPr id="23" name="Text 20"/>
          <p:cNvSpPr/>
          <p:nvPr/>
        </p:nvSpPr>
        <p:spPr>
          <a:xfrm>
            <a:off x="2688336" y="3127248"/>
            <a:ext cx="2029968" cy="274320"/>
          </a:xfrm>
          <a:prstGeom prst="rect">
            <a:avLst/>
          </a:prstGeom>
          <a:noFill/>
          <a:ln/>
        </p:spPr>
        <p:txBody>
          <a:bodyPr wrap="square" lIns="0" tIns="0" rIns="0" bIns="0" rtlCol="0" anchor="t"/>
          <a:lstStyle/>
          <a:p>
            <a:pPr algn="ctr" indent="0" marL="0">
              <a:buNone/>
            </a:pPr>
            <a:r>
              <a:rPr lang="en-US" sz="1100" dirty="0">
                <a:solidFill>
                  <a:srgbClr val="9A8A72"/>
                </a:solidFill>
                <a:latin typeface="Helvetica Neue" pitchFamily="34" charset="0"/>
                <a:ea typeface="Helvetica Neue" pitchFamily="34" charset="-122"/>
                <a:cs typeface="Helvetica Neue" pitchFamily="34" charset="-120"/>
              </a:rPr>
              <a:t>segment 2</a:t>
            </a:r>
            <a:endParaRPr lang="en-US" sz="1100" dirty="0"/>
          </a:p>
        </p:txBody>
      </p:sp>
      <p:sp>
        <p:nvSpPr>
          <p:cNvPr id="24" name="Shape 21"/>
          <p:cNvSpPr/>
          <p:nvPr/>
        </p:nvSpPr>
        <p:spPr>
          <a:xfrm>
            <a:off x="2852928" y="3520440"/>
            <a:ext cx="274320" cy="411480"/>
          </a:xfrm>
          <a:prstGeom prst="rect">
            <a:avLst/>
          </a:prstGeom>
          <a:solidFill>
            <a:srgbClr val="DFD6C0"/>
          </a:solidFill>
          <a:ln/>
        </p:spPr>
      </p:sp>
      <p:sp>
        <p:nvSpPr>
          <p:cNvPr id="25" name="Shape 22"/>
          <p:cNvSpPr/>
          <p:nvPr/>
        </p:nvSpPr>
        <p:spPr>
          <a:xfrm>
            <a:off x="3218688" y="3520440"/>
            <a:ext cx="274320" cy="411480"/>
          </a:xfrm>
          <a:prstGeom prst="rect">
            <a:avLst/>
          </a:prstGeom>
          <a:solidFill>
            <a:srgbClr val="DFD6C0"/>
          </a:solidFill>
          <a:ln/>
        </p:spPr>
      </p:sp>
      <p:sp>
        <p:nvSpPr>
          <p:cNvPr id="26" name="Shape 23"/>
          <p:cNvSpPr/>
          <p:nvPr/>
        </p:nvSpPr>
        <p:spPr>
          <a:xfrm>
            <a:off x="3584448" y="3520440"/>
            <a:ext cx="274320" cy="411480"/>
          </a:xfrm>
          <a:prstGeom prst="rect">
            <a:avLst/>
          </a:prstGeom>
          <a:solidFill>
            <a:srgbClr val="DFD6C0"/>
          </a:solidFill>
          <a:ln/>
        </p:spPr>
      </p:sp>
      <p:sp>
        <p:nvSpPr>
          <p:cNvPr id="27" name="Shape 24"/>
          <p:cNvSpPr/>
          <p:nvPr/>
        </p:nvSpPr>
        <p:spPr>
          <a:xfrm>
            <a:off x="3950208" y="3520440"/>
            <a:ext cx="274320" cy="411480"/>
          </a:xfrm>
          <a:prstGeom prst="rect">
            <a:avLst/>
          </a:prstGeom>
          <a:solidFill>
            <a:srgbClr val="DFD6C0"/>
          </a:solidFill>
          <a:ln/>
        </p:spPr>
      </p:sp>
      <p:sp>
        <p:nvSpPr>
          <p:cNvPr id="28" name="Shape 25"/>
          <p:cNvSpPr/>
          <p:nvPr/>
        </p:nvSpPr>
        <p:spPr>
          <a:xfrm>
            <a:off x="4315968" y="3520440"/>
            <a:ext cx="274320" cy="411480"/>
          </a:xfrm>
          <a:prstGeom prst="rect">
            <a:avLst/>
          </a:prstGeom>
          <a:solidFill>
            <a:srgbClr val="DFD6C0"/>
          </a:solidFill>
          <a:ln/>
        </p:spPr>
      </p:sp>
      <p:sp>
        <p:nvSpPr>
          <p:cNvPr id="29" name="Shape 26"/>
          <p:cNvSpPr/>
          <p:nvPr/>
        </p:nvSpPr>
        <p:spPr>
          <a:xfrm>
            <a:off x="4828032" y="3063240"/>
            <a:ext cx="2029968" cy="1051560"/>
          </a:xfrm>
          <a:prstGeom prst="roundRect">
            <a:avLst>
              <a:gd name="adj" fmla="val 6957"/>
            </a:avLst>
          </a:prstGeom>
          <a:solidFill>
            <a:srgbClr val="C6A46A"/>
          </a:solidFill>
          <a:ln/>
        </p:spPr>
      </p:sp>
      <p:sp>
        <p:nvSpPr>
          <p:cNvPr id="30" name="Text 27"/>
          <p:cNvSpPr/>
          <p:nvPr/>
        </p:nvSpPr>
        <p:spPr>
          <a:xfrm>
            <a:off x="4828032" y="3127248"/>
            <a:ext cx="2029968" cy="274320"/>
          </a:xfrm>
          <a:prstGeom prst="rect">
            <a:avLst/>
          </a:prstGeom>
          <a:noFill/>
          <a:ln/>
        </p:spPr>
        <p:txBody>
          <a:bodyPr wrap="square" lIns="0" tIns="0" rIns="0" bIns="0" rtlCol="0" anchor="t"/>
          <a:lstStyle/>
          <a:p>
            <a:pPr algn="ctr" indent="0" marL="0">
              <a:buNone/>
            </a:pPr>
            <a:r>
              <a:rPr lang="en-US" sz="1100" dirty="0">
                <a:solidFill>
                  <a:srgbClr val="2C2416"/>
                </a:solidFill>
                <a:latin typeface="Helvetica Neue" pitchFamily="34" charset="0"/>
                <a:ea typeface="Helvetica Neue" pitchFamily="34" charset="-122"/>
                <a:cs typeface="Helvetica Neue" pitchFamily="34" charset="-120"/>
              </a:rPr>
              <a:t>segment 3</a:t>
            </a:r>
            <a:endParaRPr lang="en-US" sz="1100" dirty="0"/>
          </a:p>
        </p:txBody>
      </p:sp>
      <p:sp>
        <p:nvSpPr>
          <p:cNvPr id="31" name="Shape 28"/>
          <p:cNvSpPr/>
          <p:nvPr/>
        </p:nvSpPr>
        <p:spPr>
          <a:xfrm>
            <a:off x="4992624" y="3520440"/>
            <a:ext cx="274320" cy="411480"/>
          </a:xfrm>
          <a:prstGeom prst="rect">
            <a:avLst/>
          </a:prstGeom>
          <a:solidFill>
            <a:srgbClr val="2C2416"/>
          </a:solidFill>
          <a:ln/>
        </p:spPr>
      </p:sp>
      <p:sp>
        <p:nvSpPr>
          <p:cNvPr id="32" name="Shape 29"/>
          <p:cNvSpPr/>
          <p:nvPr/>
        </p:nvSpPr>
        <p:spPr>
          <a:xfrm>
            <a:off x="5358384" y="3520440"/>
            <a:ext cx="274320" cy="411480"/>
          </a:xfrm>
          <a:prstGeom prst="rect">
            <a:avLst/>
          </a:prstGeom>
          <a:solidFill>
            <a:srgbClr val="2C2416"/>
          </a:solidFill>
          <a:ln/>
        </p:spPr>
      </p:sp>
      <p:sp>
        <p:nvSpPr>
          <p:cNvPr id="33" name="Shape 30"/>
          <p:cNvSpPr/>
          <p:nvPr/>
        </p:nvSpPr>
        <p:spPr>
          <a:xfrm>
            <a:off x="5724144" y="3520440"/>
            <a:ext cx="274320" cy="411480"/>
          </a:xfrm>
          <a:prstGeom prst="rect">
            <a:avLst/>
          </a:prstGeom>
          <a:solidFill>
            <a:srgbClr val="2C2416"/>
          </a:solidFill>
          <a:ln/>
        </p:spPr>
      </p:sp>
      <p:sp>
        <p:nvSpPr>
          <p:cNvPr id="34" name="Shape 31"/>
          <p:cNvSpPr/>
          <p:nvPr/>
        </p:nvSpPr>
        <p:spPr>
          <a:xfrm>
            <a:off x="6089904" y="3520440"/>
            <a:ext cx="274320" cy="411480"/>
          </a:xfrm>
          <a:prstGeom prst="rect">
            <a:avLst/>
          </a:prstGeom>
          <a:solidFill>
            <a:srgbClr val="2C2416"/>
          </a:solidFill>
          <a:ln/>
        </p:spPr>
      </p:sp>
      <p:sp>
        <p:nvSpPr>
          <p:cNvPr id="35" name="Shape 32"/>
          <p:cNvSpPr/>
          <p:nvPr/>
        </p:nvSpPr>
        <p:spPr>
          <a:xfrm>
            <a:off x="6455664" y="3520440"/>
            <a:ext cx="274320" cy="411480"/>
          </a:xfrm>
          <a:prstGeom prst="rect">
            <a:avLst/>
          </a:prstGeom>
          <a:solidFill>
            <a:srgbClr val="2C2416"/>
          </a:solidFill>
          <a:ln/>
        </p:spPr>
      </p:sp>
      <p:sp>
        <p:nvSpPr>
          <p:cNvPr id="36" name="Shape 33"/>
          <p:cNvSpPr/>
          <p:nvPr/>
        </p:nvSpPr>
        <p:spPr>
          <a:xfrm>
            <a:off x="6967728" y="3063240"/>
            <a:ext cx="2029968" cy="1051560"/>
          </a:xfrm>
          <a:prstGeom prst="roundRect">
            <a:avLst>
              <a:gd name="adj" fmla="val 6957"/>
            </a:avLst>
          </a:prstGeom>
          <a:solidFill>
            <a:srgbClr val="E6DFCE"/>
          </a:solidFill>
          <a:ln/>
        </p:spPr>
      </p:sp>
      <p:sp>
        <p:nvSpPr>
          <p:cNvPr id="37" name="Text 34"/>
          <p:cNvSpPr/>
          <p:nvPr/>
        </p:nvSpPr>
        <p:spPr>
          <a:xfrm>
            <a:off x="6967728" y="3127248"/>
            <a:ext cx="2029968" cy="274320"/>
          </a:xfrm>
          <a:prstGeom prst="rect">
            <a:avLst/>
          </a:prstGeom>
          <a:noFill/>
          <a:ln/>
        </p:spPr>
        <p:txBody>
          <a:bodyPr wrap="square" lIns="0" tIns="0" rIns="0" bIns="0" rtlCol="0" anchor="t"/>
          <a:lstStyle/>
          <a:p>
            <a:pPr algn="ctr" indent="0" marL="0">
              <a:buNone/>
            </a:pPr>
            <a:r>
              <a:rPr lang="en-US" sz="1100" dirty="0">
                <a:solidFill>
                  <a:srgbClr val="9A8A72"/>
                </a:solidFill>
                <a:latin typeface="Helvetica Neue" pitchFamily="34" charset="0"/>
                <a:ea typeface="Helvetica Neue" pitchFamily="34" charset="-122"/>
                <a:cs typeface="Helvetica Neue" pitchFamily="34" charset="-120"/>
              </a:rPr>
              <a:t>segment 4</a:t>
            </a:r>
            <a:endParaRPr lang="en-US" sz="1100" dirty="0"/>
          </a:p>
        </p:txBody>
      </p:sp>
      <p:sp>
        <p:nvSpPr>
          <p:cNvPr id="38" name="Shape 35"/>
          <p:cNvSpPr/>
          <p:nvPr/>
        </p:nvSpPr>
        <p:spPr>
          <a:xfrm>
            <a:off x="7132320" y="3520440"/>
            <a:ext cx="274320" cy="411480"/>
          </a:xfrm>
          <a:prstGeom prst="rect">
            <a:avLst/>
          </a:prstGeom>
          <a:solidFill>
            <a:srgbClr val="DFD6C0"/>
          </a:solidFill>
          <a:ln/>
        </p:spPr>
      </p:sp>
      <p:sp>
        <p:nvSpPr>
          <p:cNvPr id="39" name="Shape 36"/>
          <p:cNvSpPr/>
          <p:nvPr/>
        </p:nvSpPr>
        <p:spPr>
          <a:xfrm>
            <a:off x="7498080" y="3520440"/>
            <a:ext cx="274320" cy="411480"/>
          </a:xfrm>
          <a:prstGeom prst="rect">
            <a:avLst/>
          </a:prstGeom>
          <a:solidFill>
            <a:srgbClr val="DFD6C0"/>
          </a:solidFill>
          <a:ln/>
        </p:spPr>
      </p:sp>
      <p:sp>
        <p:nvSpPr>
          <p:cNvPr id="40" name="Shape 37"/>
          <p:cNvSpPr/>
          <p:nvPr/>
        </p:nvSpPr>
        <p:spPr>
          <a:xfrm>
            <a:off x="7863840" y="3520440"/>
            <a:ext cx="274320" cy="411480"/>
          </a:xfrm>
          <a:prstGeom prst="rect">
            <a:avLst/>
          </a:prstGeom>
          <a:solidFill>
            <a:srgbClr val="DFD6C0"/>
          </a:solidFill>
          <a:ln/>
        </p:spPr>
      </p:sp>
      <p:sp>
        <p:nvSpPr>
          <p:cNvPr id="41" name="Shape 38"/>
          <p:cNvSpPr/>
          <p:nvPr/>
        </p:nvSpPr>
        <p:spPr>
          <a:xfrm>
            <a:off x="8229600" y="3520440"/>
            <a:ext cx="274320" cy="411480"/>
          </a:xfrm>
          <a:prstGeom prst="rect">
            <a:avLst/>
          </a:prstGeom>
          <a:solidFill>
            <a:srgbClr val="DFD6C0"/>
          </a:solidFill>
          <a:ln/>
        </p:spPr>
      </p:sp>
      <p:sp>
        <p:nvSpPr>
          <p:cNvPr id="42" name="Shape 39"/>
          <p:cNvSpPr/>
          <p:nvPr/>
        </p:nvSpPr>
        <p:spPr>
          <a:xfrm>
            <a:off x="8595360" y="3520440"/>
            <a:ext cx="274320" cy="411480"/>
          </a:xfrm>
          <a:prstGeom prst="rect">
            <a:avLst/>
          </a:prstGeom>
          <a:solidFill>
            <a:srgbClr val="DFD6C0"/>
          </a:solidFill>
          <a:ln/>
        </p:spPr>
      </p:sp>
      <p:sp>
        <p:nvSpPr>
          <p:cNvPr id="43" name="Shape 40"/>
          <p:cNvSpPr/>
          <p:nvPr/>
        </p:nvSpPr>
        <p:spPr>
          <a:xfrm>
            <a:off x="9107424" y="3063240"/>
            <a:ext cx="2029968" cy="1051560"/>
          </a:xfrm>
          <a:prstGeom prst="roundRect">
            <a:avLst>
              <a:gd name="adj" fmla="val 6957"/>
            </a:avLst>
          </a:prstGeom>
          <a:solidFill>
            <a:srgbClr val="E6DFCE"/>
          </a:solidFill>
          <a:ln/>
        </p:spPr>
      </p:sp>
      <p:sp>
        <p:nvSpPr>
          <p:cNvPr id="44" name="Text 41"/>
          <p:cNvSpPr/>
          <p:nvPr/>
        </p:nvSpPr>
        <p:spPr>
          <a:xfrm>
            <a:off x="9107424" y="3127248"/>
            <a:ext cx="2029968" cy="274320"/>
          </a:xfrm>
          <a:prstGeom prst="rect">
            <a:avLst/>
          </a:prstGeom>
          <a:noFill/>
          <a:ln/>
        </p:spPr>
        <p:txBody>
          <a:bodyPr wrap="square" lIns="0" tIns="0" rIns="0" bIns="0" rtlCol="0" anchor="t"/>
          <a:lstStyle/>
          <a:p>
            <a:pPr algn="ctr" indent="0" marL="0">
              <a:buNone/>
            </a:pPr>
            <a:r>
              <a:rPr lang="en-US" sz="1100" dirty="0">
                <a:solidFill>
                  <a:srgbClr val="9A8A72"/>
                </a:solidFill>
                <a:latin typeface="Helvetica Neue" pitchFamily="34" charset="0"/>
                <a:ea typeface="Helvetica Neue" pitchFamily="34" charset="-122"/>
                <a:cs typeface="Helvetica Neue" pitchFamily="34" charset="-120"/>
              </a:rPr>
              <a:t>segment 5</a:t>
            </a:r>
            <a:endParaRPr lang="en-US" sz="1100" dirty="0"/>
          </a:p>
        </p:txBody>
      </p:sp>
      <p:sp>
        <p:nvSpPr>
          <p:cNvPr id="45" name="Shape 42"/>
          <p:cNvSpPr/>
          <p:nvPr/>
        </p:nvSpPr>
        <p:spPr>
          <a:xfrm>
            <a:off x="9272016" y="3520440"/>
            <a:ext cx="274320" cy="411480"/>
          </a:xfrm>
          <a:prstGeom prst="rect">
            <a:avLst/>
          </a:prstGeom>
          <a:solidFill>
            <a:srgbClr val="DFD6C0"/>
          </a:solidFill>
          <a:ln/>
        </p:spPr>
      </p:sp>
      <p:sp>
        <p:nvSpPr>
          <p:cNvPr id="46" name="Shape 43"/>
          <p:cNvSpPr/>
          <p:nvPr/>
        </p:nvSpPr>
        <p:spPr>
          <a:xfrm>
            <a:off x="9637776" y="3520440"/>
            <a:ext cx="274320" cy="411480"/>
          </a:xfrm>
          <a:prstGeom prst="rect">
            <a:avLst/>
          </a:prstGeom>
          <a:solidFill>
            <a:srgbClr val="DFD6C0"/>
          </a:solidFill>
          <a:ln/>
        </p:spPr>
      </p:sp>
      <p:sp>
        <p:nvSpPr>
          <p:cNvPr id="47" name="Shape 44"/>
          <p:cNvSpPr/>
          <p:nvPr/>
        </p:nvSpPr>
        <p:spPr>
          <a:xfrm>
            <a:off x="10003536" y="3520440"/>
            <a:ext cx="274320" cy="411480"/>
          </a:xfrm>
          <a:prstGeom prst="rect">
            <a:avLst/>
          </a:prstGeom>
          <a:solidFill>
            <a:srgbClr val="DFD6C0"/>
          </a:solidFill>
          <a:ln/>
        </p:spPr>
      </p:sp>
      <p:sp>
        <p:nvSpPr>
          <p:cNvPr id="48" name="Shape 45"/>
          <p:cNvSpPr/>
          <p:nvPr/>
        </p:nvSpPr>
        <p:spPr>
          <a:xfrm>
            <a:off x="10369296" y="3520440"/>
            <a:ext cx="274320" cy="411480"/>
          </a:xfrm>
          <a:prstGeom prst="rect">
            <a:avLst/>
          </a:prstGeom>
          <a:solidFill>
            <a:srgbClr val="DFD6C0"/>
          </a:solidFill>
          <a:ln/>
        </p:spPr>
      </p:sp>
      <p:sp>
        <p:nvSpPr>
          <p:cNvPr id="49" name="Shape 46"/>
          <p:cNvSpPr/>
          <p:nvPr/>
        </p:nvSpPr>
        <p:spPr>
          <a:xfrm>
            <a:off x="10735056" y="3520440"/>
            <a:ext cx="274320" cy="411480"/>
          </a:xfrm>
          <a:prstGeom prst="rect">
            <a:avLst/>
          </a:prstGeom>
          <a:solidFill>
            <a:srgbClr val="DFD6C0"/>
          </a:solidFill>
          <a:ln/>
        </p:spPr>
      </p:sp>
      <p:sp>
        <p:nvSpPr>
          <p:cNvPr id="50" name="Shape 47"/>
          <p:cNvSpPr/>
          <p:nvPr/>
        </p:nvSpPr>
        <p:spPr>
          <a:xfrm>
            <a:off x="2834640" y="2331720"/>
            <a:ext cx="0" cy="685800"/>
          </a:xfrm>
          <a:prstGeom prst="line">
            <a:avLst/>
          </a:prstGeom>
          <a:noFill/>
          <a:ln w="19050">
            <a:solidFill>
              <a:srgbClr val="A8864A"/>
            </a:solidFill>
            <a:prstDash val="solid"/>
            <a:headEnd type="none"/>
            <a:tailEnd type="triangle"/>
          </a:ln>
        </p:spPr>
      </p:sp>
      <p:sp>
        <p:nvSpPr>
          <p:cNvPr id="51" name="Text 48"/>
          <p:cNvSpPr/>
          <p:nvPr/>
        </p:nvSpPr>
        <p:spPr>
          <a:xfrm>
            <a:off x="274320" y="2528316"/>
            <a:ext cx="2377440" cy="292608"/>
          </a:xfrm>
          <a:prstGeom prst="rect">
            <a:avLst/>
          </a:prstGeom>
          <a:noFill/>
          <a:ln/>
        </p:spPr>
        <p:txBody>
          <a:bodyPr wrap="square" lIns="0" tIns="0" rIns="0" bIns="0" rtlCol="0" anchor="ctr">
            <a:normAutofit/>
          </a:bodyPr>
          <a:lstStyle/>
          <a:p>
            <a:pPr algn="ctr" indent="0" marL="0">
              <a:buNone/>
            </a:pPr>
            <a:r>
              <a:rPr lang="en-US" sz="1000" dirty="0">
                <a:solidFill>
                  <a:srgbClr val="9A8A72"/>
                </a:solidFill>
                <a:latin typeface="Helvetica Neue" pitchFamily="34" charset="0"/>
                <a:ea typeface="Helvetica Neue" pitchFamily="34" charset="-122"/>
                <a:cs typeface="Helvetica Neue" pitchFamily="34" charset="-120"/>
              </a:rPr>
              <a:t>asked for one datom</a:t>
            </a:r>
            <a:endParaRPr lang="en-US" sz="1000" dirty="0"/>
          </a:p>
        </p:txBody>
      </p:sp>
      <p:sp>
        <p:nvSpPr>
          <p:cNvPr id="52" name="Shape 49"/>
          <p:cNvSpPr/>
          <p:nvPr/>
        </p:nvSpPr>
        <p:spPr>
          <a:xfrm>
            <a:off x="4828032" y="4206240"/>
            <a:ext cx="2029968" cy="91440"/>
          </a:xfrm>
          <a:prstGeom prst="rect">
            <a:avLst/>
          </a:prstGeom>
          <a:solidFill>
            <a:srgbClr val="A8864A"/>
          </a:solidFill>
          <a:ln/>
        </p:spPr>
      </p:sp>
      <p:sp>
        <p:nvSpPr>
          <p:cNvPr id="53" name="Text 50"/>
          <p:cNvSpPr/>
          <p:nvPr/>
        </p:nvSpPr>
        <p:spPr>
          <a:xfrm>
            <a:off x="3931920" y="4343400"/>
            <a:ext cx="5486400" cy="320040"/>
          </a:xfrm>
          <a:prstGeom prst="rect">
            <a:avLst/>
          </a:prstGeom>
          <a:noFill/>
          <a:ln/>
        </p:spPr>
        <p:txBody>
          <a:bodyPr wrap="square" lIns="0" tIns="0" rIns="0" bIns="0" rtlCol="0" anchor="t"/>
          <a:lstStyle/>
          <a:p>
            <a:pPr algn="ctr" indent="0" marL="0">
              <a:buNone/>
            </a:pPr>
            <a:r>
              <a:rPr lang="en-US" sz="1300" b="1" dirty="0">
                <a:solidFill>
                  <a:srgbClr val="A8864A"/>
                </a:solidFill>
                <a:latin typeface="Helvetica Neue" pitchFamily="34" charset="0"/>
                <a:ea typeface="Helvetica Neue" pitchFamily="34" charset="-122"/>
                <a:cs typeface="Helvetica Neue" pitchFamily="34" charset="-120"/>
              </a:rPr>
              <a:t>one segment loaded — 20 neighbours came along free</a:t>
            </a:r>
            <a:endParaRPr lang="en-US" sz="1300" dirty="0"/>
          </a:p>
        </p:txBody>
      </p:sp>
      <p:sp>
        <p:nvSpPr>
          <p:cNvPr id="54" name="Shape 51"/>
          <p:cNvSpPr/>
          <p:nvPr/>
        </p:nvSpPr>
        <p:spPr>
          <a:xfrm>
            <a:off x="548640" y="4800600"/>
            <a:ext cx="54864" cy="457200"/>
          </a:xfrm>
          <a:prstGeom prst="rect">
            <a:avLst/>
          </a:prstGeom>
          <a:solidFill>
            <a:srgbClr val="A8864A"/>
          </a:solidFill>
          <a:ln/>
        </p:spPr>
      </p:sp>
      <p:sp>
        <p:nvSpPr>
          <p:cNvPr id="55" name="Text 52"/>
          <p:cNvSpPr/>
          <p:nvPr/>
        </p:nvSpPr>
        <p:spPr>
          <a:xfrm>
            <a:off x="777240" y="480060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Working sets are measured in segments. Size caches for the segments a workload touches, not the entities it names.</a:t>
            </a:r>
            <a:endParaRPr lang="en-US" sz="1450" dirty="0"/>
          </a:p>
        </p:txBody>
      </p:sp>
      <p:sp>
        <p:nvSpPr>
          <p:cNvPr id="56" name="Shape 53"/>
          <p:cNvSpPr/>
          <p:nvPr/>
        </p:nvSpPr>
        <p:spPr>
          <a:xfrm>
            <a:off x="548640" y="5440680"/>
            <a:ext cx="11064240" cy="1097280"/>
          </a:xfrm>
          <a:prstGeom prst="roundRect">
            <a:avLst>
              <a:gd name="adj" fmla="val 6667"/>
            </a:avLst>
          </a:prstGeom>
          <a:solidFill>
            <a:srgbClr val="DFD6C0"/>
          </a:solidFill>
          <a:ln/>
        </p:spPr>
      </p:sp>
      <p:sp>
        <p:nvSpPr>
          <p:cNvPr id="57" name="Shape 54"/>
          <p:cNvSpPr/>
          <p:nvPr/>
        </p:nvSpPr>
        <p:spPr>
          <a:xfrm>
            <a:off x="548640" y="5440680"/>
            <a:ext cx="82296" cy="1097280"/>
          </a:xfrm>
          <a:prstGeom prst="rect">
            <a:avLst/>
          </a:prstGeom>
          <a:solidFill>
            <a:srgbClr val="A8864A"/>
          </a:solidFill>
          <a:ln/>
        </p:spPr>
      </p:sp>
      <p:sp>
        <p:nvSpPr>
          <p:cNvPr id="58" name="Text 55"/>
          <p:cNvSpPr/>
          <p:nvPr/>
        </p:nvSpPr>
        <p:spPr>
          <a:xfrm>
            <a:off x="822960" y="555040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§3</a:t>
            </a:r>
            <a:endParaRPr lang="en-US" sz="1300" dirty="0"/>
          </a:p>
        </p:txBody>
      </p:sp>
      <p:sp>
        <p:nvSpPr>
          <p:cNvPr id="59" name="Shape 56"/>
          <p:cNvSpPr/>
          <p:nvPr/>
        </p:nvSpPr>
        <p:spPr>
          <a:xfrm>
            <a:off x="10561320" y="5550408"/>
            <a:ext cx="777240" cy="292608"/>
          </a:xfrm>
          <a:prstGeom prst="roundRect">
            <a:avLst>
              <a:gd name="adj" fmla="val 25000"/>
            </a:avLst>
          </a:prstGeom>
          <a:solidFill>
            <a:srgbClr val="DDE3CC"/>
          </a:solidFill>
          <a:ln/>
        </p:spPr>
      </p:sp>
      <p:sp>
        <p:nvSpPr>
          <p:cNvPr id="60" name="Text 57"/>
          <p:cNvSpPr/>
          <p:nvPr/>
        </p:nvSpPr>
        <p:spPr>
          <a:xfrm>
            <a:off x="10561320" y="5550408"/>
            <a:ext cx="777240" cy="292608"/>
          </a:xfrm>
          <a:prstGeom prst="rect">
            <a:avLst/>
          </a:prstGeom>
          <a:noFill/>
          <a:ln/>
        </p:spPr>
        <p:txBody>
          <a:bodyPr wrap="square" lIns="0" tIns="0" rIns="0" bIns="0" rtlCol="0" anchor="ctr"/>
          <a:lstStyle/>
          <a:p>
            <a:pPr algn="ctr" indent="0" marL="0">
              <a:buNone/>
            </a:pPr>
            <a:r>
              <a:rPr lang="en-US" sz="1100" b="1" dirty="0">
                <a:solidFill>
                  <a:srgbClr val="5F7A3A"/>
                </a:solidFill>
                <a:latin typeface="Helvetica Neue" pitchFamily="34" charset="0"/>
                <a:ea typeface="Helvetica Neue" pitchFamily="34" charset="-122"/>
                <a:cs typeface="Helvetica Neue" pitchFamily="34" charset="-120"/>
              </a:rPr>
              <a:t>[MEM]</a:t>
            </a:r>
            <a:endParaRPr lang="en-US" sz="1100" dirty="0"/>
          </a:p>
        </p:txBody>
      </p:sp>
      <p:sp>
        <p:nvSpPr>
          <p:cNvPr id="61" name="Text 58"/>
          <p:cNvSpPr/>
          <p:nvPr/>
        </p:nvSpPr>
        <p:spPr>
          <a:xfrm>
            <a:off x="822960" y="5897880"/>
            <a:ext cx="10515600" cy="53035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segment demo needs no infrastructure — segmentation is a property of the index, not of the cache.</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Run it before adding any tier — a scattered access pattern is not fixed by a cache tier.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III · THE COST OF A READ</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19</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cold-peer thundering herd, right after a deploy</a:t>
            </a:r>
            <a:endParaRPr lang="en-US" sz="2500" dirty="0"/>
          </a:p>
        </p:txBody>
      </p:sp>
      <p:sp>
        <p:nvSpPr>
          <p:cNvPr id="8" name="Text 5"/>
          <p:cNvSpPr/>
          <p:nvPr/>
        </p:nvSpPr>
        <p:spPr>
          <a:xfrm>
            <a:off x="1097280" y="1325880"/>
            <a:ext cx="4572000" cy="320040"/>
          </a:xfrm>
          <a:prstGeom prst="rect">
            <a:avLst/>
          </a:prstGeom>
          <a:noFill/>
          <a:ln/>
        </p:spPr>
        <p:txBody>
          <a:bodyPr wrap="square" lIns="0" tIns="0" rIns="0" bIns="0" rtlCol="0" anchor="t"/>
          <a:lstStyle/>
          <a:p>
            <a:pPr indent="0" marL="0">
              <a:buNone/>
            </a:pPr>
            <a:r>
              <a:rPr lang="en-US" sz="1300" b="1" spc="100" kern="0" dirty="0">
                <a:solidFill>
                  <a:srgbClr val="5F7A3A"/>
                </a:solidFill>
                <a:latin typeface="Helvetica Neue" pitchFamily="34" charset="0"/>
                <a:ea typeface="Helvetica Neue" pitchFamily="34" charset="-122"/>
                <a:cs typeface="Helvetica Neue" pitchFamily="34" charset="-120"/>
              </a:rPr>
              <a:t>BEFORE DEPLOY</a:t>
            </a:r>
            <a:endParaRPr lang="en-US" sz="1300" dirty="0"/>
          </a:p>
        </p:txBody>
      </p:sp>
      <p:sp>
        <p:nvSpPr>
          <p:cNvPr id="9" name="Text 6"/>
          <p:cNvSpPr/>
          <p:nvPr/>
        </p:nvSpPr>
        <p:spPr>
          <a:xfrm>
            <a:off x="1097280" y="1737360"/>
            <a:ext cx="137160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blks_hit</a:t>
            </a:r>
            <a:endParaRPr lang="en-US" sz="1250" dirty="0"/>
          </a:p>
        </p:txBody>
      </p:sp>
      <p:sp>
        <p:nvSpPr>
          <p:cNvPr id="10" name="Shape 7"/>
          <p:cNvSpPr/>
          <p:nvPr/>
        </p:nvSpPr>
        <p:spPr>
          <a:xfrm>
            <a:off x="2651760" y="1792224"/>
            <a:ext cx="1554480" cy="393192"/>
          </a:xfrm>
          <a:prstGeom prst="rect">
            <a:avLst/>
          </a:prstGeom>
          <a:solidFill>
            <a:srgbClr val="E6DFCE"/>
          </a:solidFill>
          <a:ln/>
        </p:spPr>
      </p:sp>
      <p:sp>
        <p:nvSpPr>
          <p:cNvPr id="11" name="Shape 8"/>
          <p:cNvSpPr/>
          <p:nvPr/>
        </p:nvSpPr>
        <p:spPr>
          <a:xfrm>
            <a:off x="2651760" y="1792224"/>
            <a:ext cx="1554480" cy="393192"/>
          </a:xfrm>
          <a:prstGeom prst="rect">
            <a:avLst/>
          </a:prstGeom>
          <a:solidFill>
            <a:srgbClr val="5F7A3A"/>
          </a:solidFill>
          <a:ln/>
        </p:spPr>
      </p:sp>
      <p:sp>
        <p:nvSpPr>
          <p:cNvPr id="12" name="Text 9"/>
          <p:cNvSpPr/>
          <p:nvPr/>
        </p:nvSpPr>
        <p:spPr>
          <a:xfrm>
            <a:off x="4297680" y="1737360"/>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warm</a:t>
            </a:r>
            <a:endParaRPr lang="en-US" sz="1250" dirty="0"/>
          </a:p>
        </p:txBody>
      </p:sp>
      <p:sp>
        <p:nvSpPr>
          <p:cNvPr id="13" name="Text 10"/>
          <p:cNvSpPr/>
          <p:nvPr/>
        </p:nvSpPr>
        <p:spPr>
          <a:xfrm>
            <a:off x="1097280" y="2404872"/>
            <a:ext cx="137160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blks_read</a:t>
            </a:r>
            <a:endParaRPr lang="en-US" sz="1250" dirty="0"/>
          </a:p>
        </p:txBody>
      </p:sp>
      <p:sp>
        <p:nvSpPr>
          <p:cNvPr id="14" name="Shape 11"/>
          <p:cNvSpPr/>
          <p:nvPr/>
        </p:nvSpPr>
        <p:spPr>
          <a:xfrm>
            <a:off x="2651760" y="2459736"/>
            <a:ext cx="1554480" cy="393192"/>
          </a:xfrm>
          <a:prstGeom prst="rect">
            <a:avLst/>
          </a:prstGeom>
          <a:solidFill>
            <a:srgbClr val="E6DFCE"/>
          </a:solidFill>
          <a:ln/>
        </p:spPr>
      </p:sp>
      <p:sp>
        <p:nvSpPr>
          <p:cNvPr id="15" name="Shape 12"/>
          <p:cNvSpPr/>
          <p:nvPr/>
        </p:nvSpPr>
        <p:spPr>
          <a:xfrm>
            <a:off x="2651760" y="2459736"/>
            <a:ext cx="172720" cy="393192"/>
          </a:xfrm>
          <a:prstGeom prst="rect">
            <a:avLst/>
          </a:prstGeom>
          <a:solidFill>
            <a:srgbClr val="DFD6C0"/>
          </a:solidFill>
          <a:ln/>
        </p:spPr>
      </p:sp>
      <p:sp>
        <p:nvSpPr>
          <p:cNvPr id="16" name="Text 13"/>
          <p:cNvSpPr/>
          <p:nvPr/>
        </p:nvSpPr>
        <p:spPr>
          <a:xfrm>
            <a:off x="4297680" y="2404872"/>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few</a:t>
            </a:r>
            <a:endParaRPr lang="en-US" sz="1250" dirty="0"/>
          </a:p>
        </p:txBody>
      </p:sp>
      <p:sp>
        <p:nvSpPr>
          <p:cNvPr id="17" name="Text 14"/>
          <p:cNvSpPr/>
          <p:nvPr/>
        </p:nvSpPr>
        <p:spPr>
          <a:xfrm>
            <a:off x="6583680" y="1325880"/>
            <a:ext cx="4572000" cy="320040"/>
          </a:xfrm>
          <a:prstGeom prst="rect">
            <a:avLst/>
          </a:prstGeom>
          <a:noFill/>
          <a:ln/>
        </p:spPr>
        <p:txBody>
          <a:bodyPr wrap="square" lIns="0" tIns="0" rIns="0" bIns="0" rtlCol="0" anchor="t"/>
          <a:lstStyle/>
          <a:p>
            <a:pPr indent="0" marL="0">
              <a:buNone/>
            </a:pPr>
            <a:r>
              <a:rPr lang="en-US" sz="1300" b="1" spc="100" kern="0" dirty="0">
                <a:solidFill>
                  <a:srgbClr val="9E4227"/>
                </a:solidFill>
                <a:latin typeface="Helvetica Neue" pitchFamily="34" charset="0"/>
                <a:ea typeface="Helvetica Neue" pitchFamily="34" charset="-122"/>
                <a:cs typeface="Helvetica Neue" pitchFamily="34" charset="-120"/>
              </a:rPr>
              <a:t>AFTER DEPLOY</a:t>
            </a:r>
            <a:endParaRPr lang="en-US" sz="1300" dirty="0"/>
          </a:p>
        </p:txBody>
      </p:sp>
      <p:sp>
        <p:nvSpPr>
          <p:cNvPr id="18" name="Text 15"/>
          <p:cNvSpPr/>
          <p:nvPr/>
        </p:nvSpPr>
        <p:spPr>
          <a:xfrm>
            <a:off x="6583680" y="1737360"/>
            <a:ext cx="137160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blks_hit</a:t>
            </a:r>
            <a:endParaRPr lang="en-US" sz="1250" dirty="0"/>
          </a:p>
        </p:txBody>
      </p:sp>
      <p:sp>
        <p:nvSpPr>
          <p:cNvPr id="19" name="Shape 16"/>
          <p:cNvSpPr/>
          <p:nvPr/>
        </p:nvSpPr>
        <p:spPr>
          <a:xfrm>
            <a:off x="8138160" y="1792224"/>
            <a:ext cx="1554480" cy="393192"/>
          </a:xfrm>
          <a:prstGeom prst="rect">
            <a:avLst/>
          </a:prstGeom>
          <a:solidFill>
            <a:srgbClr val="E6DFCE"/>
          </a:solidFill>
          <a:ln/>
        </p:spPr>
      </p:sp>
      <p:sp>
        <p:nvSpPr>
          <p:cNvPr id="20" name="Shape 17"/>
          <p:cNvSpPr/>
          <p:nvPr/>
        </p:nvSpPr>
        <p:spPr>
          <a:xfrm>
            <a:off x="8138160" y="1792224"/>
            <a:ext cx="186538" cy="393192"/>
          </a:xfrm>
          <a:prstGeom prst="rect">
            <a:avLst/>
          </a:prstGeom>
          <a:solidFill>
            <a:srgbClr val="DFD6C0"/>
          </a:solidFill>
          <a:ln/>
        </p:spPr>
      </p:sp>
      <p:sp>
        <p:nvSpPr>
          <p:cNvPr id="21" name="Text 18"/>
          <p:cNvSpPr/>
          <p:nvPr/>
        </p:nvSpPr>
        <p:spPr>
          <a:xfrm>
            <a:off x="9784080" y="1737360"/>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cold</a:t>
            </a:r>
            <a:endParaRPr lang="en-US" sz="1250" dirty="0"/>
          </a:p>
        </p:txBody>
      </p:sp>
      <p:sp>
        <p:nvSpPr>
          <p:cNvPr id="22" name="Text 19"/>
          <p:cNvSpPr/>
          <p:nvPr/>
        </p:nvSpPr>
        <p:spPr>
          <a:xfrm>
            <a:off x="6583680" y="2404872"/>
            <a:ext cx="137160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blks_read</a:t>
            </a:r>
            <a:endParaRPr lang="en-US" sz="1250" dirty="0"/>
          </a:p>
        </p:txBody>
      </p:sp>
      <p:sp>
        <p:nvSpPr>
          <p:cNvPr id="23" name="Shape 20"/>
          <p:cNvSpPr/>
          <p:nvPr/>
        </p:nvSpPr>
        <p:spPr>
          <a:xfrm>
            <a:off x="8138160" y="2459736"/>
            <a:ext cx="1554480" cy="393192"/>
          </a:xfrm>
          <a:prstGeom prst="rect">
            <a:avLst/>
          </a:prstGeom>
          <a:solidFill>
            <a:srgbClr val="E6DFCE"/>
          </a:solidFill>
          <a:ln/>
        </p:spPr>
      </p:sp>
      <p:sp>
        <p:nvSpPr>
          <p:cNvPr id="24" name="Shape 21"/>
          <p:cNvSpPr/>
          <p:nvPr/>
        </p:nvSpPr>
        <p:spPr>
          <a:xfrm>
            <a:off x="8138160" y="2459736"/>
            <a:ext cx="1554480" cy="393192"/>
          </a:xfrm>
          <a:prstGeom prst="rect">
            <a:avLst/>
          </a:prstGeom>
          <a:solidFill>
            <a:srgbClr val="9E4227"/>
          </a:solidFill>
          <a:ln/>
        </p:spPr>
      </p:sp>
      <p:sp>
        <p:nvSpPr>
          <p:cNvPr id="25" name="Text 22"/>
          <p:cNvSpPr/>
          <p:nvPr/>
        </p:nvSpPr>
        <p:spPr>
          <a:xfrm>
            <a:off x="9784080" y="2404872"/>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spike</a:t>
            </a:r>
            <a:endParaRPr lang="en-US" sz="1250" dirty="0"/>
          </a:p>
        </p:txBody>
      </p:sp>
      <p:sp>
        <p:nvSpPr>
          <p:cNvPr id="26" name="Shape 23"/>
          <p:cNvSpPr/>
          <p:nvPr/>
        </p:nvSpPr>
        <p:spPr>
          <a:xfrm>
            <a:off x="5760720" y="1920240"/>
            <a:ext cx="685800" cy="640080"/>
          </a:xfrm>
          <a:prstGeom prst="rightArrow">
            <a:avLst/>
          </a:prstGeom>
          <a:solidFill>
            <a:srgbClr val="C9BDA4"/>
          </a:solidFill>
          <a:ln/>
        </p:spPr>
      </p:sp>
      <p:sp>
        <p:nvSpPr>
          <p:cNvPr id="27" name="Text 24"/>
          <p:cNvSpPr/>
          <p:nvPr/>
        </p:nvSpPr>
        <p:spPr>
          <a:xfrm>
            <a:off x="548640" y="2880360"/>
            <a:ext cx="11064240" cy="320040"/>
          </a:xfrm>
          <a:prstGeom prst="rect">
            <a:avLst/>
          </a:prstGeom>
          <a:noFill/>
          <a:ln/>
        </p:spPr>
        <p:txBody>
          <a:bodyPr wrap="square" lIns="0" tIns="0" rIns="0" bIns="0" rtlCol="0" anchor="t"/>
          <a:lstStyle/>
          <a:p>
            <a:pPr algn="ctr" indent="0" marL="0">
              <a:buNone/>
            </a:pPr>
            <a:r>
              <a:rPr lang="en-US" sz="1350" i="1" dirty="0">
                <a:solidFill>
                  <a:srgbClr val="3A2C1A"/>
                </a:solidFill>
                <a:latin typeface="Helvetica Neue" pitchFamily="34" charset="0"/>
                <a:ea typeface="Helvetica Neue" pitchFamily="34" charset="-122"/>
                <a:cs typeface="Helvetica Neue" pitchFamily="34" charset="-120"/>
              </a:rPr>
              <a:t>every peer, cold, simultaneously — nothing is broken, and p99 triples</a:t>
            </a:r>
            <a:endParaRPr lang="en-US" sz="1350" dirty="0"/>
          </a:p>
        </p:txBody>
      </p:sp>
      <p:sp>
        <p:nvSpPr>
          <p:cNvPr id="28" name="Shape 25"/>
          <p:cNvSpPr/>
          <p:nvPr/>
        </p:nvSpPr>
        <p:spPr>
          <a:xfrm>
            <a:off x="548640" y="3337560"/>
            <a:ext cx="3538728" cy="1417320"/>
          </a:xfrm>
          <a:prstGeom prst="roundRect">
            <a:avLst>
              <a:gd name="adj" fmla="val 5161"/>
            </a:avLst>
          </a:prstGeom>
          <a:solidFill>
            <a:srgbClr val="D3DEE1"/>
          </a:solidFill>
          <a:ln/>
        </p:spPr>
      </p:sp>
      <p:sp>
        <p:nvSpPr>
          <p:cNvPr id="29" name="Text 26"/>
          <p:cNvSpPr/>
          <p:nvPr/>
        </p:nvSpPr>
        <p:spPr>
          <a:xfrm>
            <a:off x="731520" y="3456432"/>
            <a:ext cx="365760" cy="320040"/>
          </a:xfrm>
          <a:prstGeom prst="rect">
            <a:avLst/>
          </a:prstGeom>
          <a:noFill/>
          <a:ln/>
        </p:spPr>
        <p:txBody>
          <a:bodyPr wrap="square" lIns="0" tIns="0" rIns="0" bIns="0" rtlCol="0" anchor="t"/>
          <a:lstStyle/>
          <a:p>
            <a:pPr indent="0" marL="0">
              <a:buNone/>
            </a:pPr>
            <a:r>
              <a:rPr lang="en-US" sz="1700" b="1" dirty="0">
                <a:solidFill>
                  <a:srgbClr val="3F6470"/>
                </a:solidFill>
                <a:latin typeface="Georgia" pitchFamily="34" charset="0"/>
                <a:ea typeface="Georgia" pitchFamily="34" charset="-122"/>
                <a:cs typeface="Georgia" pitchFamily="34" charset="-120"/>
              </a:rPr>
              <a:t>1</a:t>
            </a:r>
            <a:endParaRPr lang="en-US" sz="1700" dirty="0"/>
          </a:p>
        </p:txBody>
      </p:sp>
      <p:sp>
        <p:nvSpPr>
          <p:cNvPr id="30" name="Text 27"/>
          <p:cNvSpPr/>
          <p:nvPr/>
        </p:nvSpPr>
        <p:spPr>
          <a:xfrm>
            <a:off x="1188720" y="3474720"/>
            <a:ext cx="2743200" cy="320040"/>
          </a:xfrm>
          <a:prstGeom prst="rect">
            <a:avLst/>
          </a:prstGeom>
          <a:noFill/>
          <a:ln/>
        </p:spPr>
        <p:txBody>
          <a:bodyPr wrap="square" lIns="0" tIns="0" rIns="0" bIns="0" rtlCol="0" anchor="t"/>
          <a:lstStyle/>
          <a:p>
            <a:pPr indent="0" marL="0">
              <a:buNone/>
            </a:pPr>
            <a:r>
              <a:rPr lang="en-US" sz="1500" b="1" dirty="0">
                <a:solidFill>
                  <a:srgbClr val="3A2C1A"/>
                </a:solidFill>
                <a:latin typeface="Helvetica Neue" pitchFamily="34" charset="0"/>
                <a:ea typeface="Helvetica Neue" pitchFamily="34" charset="-122"/>
                <a:cs typeface="Helvetica Neue" pitchFamily="34" charset="-120"/>
              </a:rPr>
              <a:t>memcached</a:t>
            </a:r>
            <a:endParaRPr lang="en-US" sz="1500" dirty="0"/>
          </a:p>
        </p:txBody>
      </p:sp>
      <p:sp>
        <p:nvSpPr>
          <p:cNvPr id="31" name="Text 28"/>
          <p:cNvSpPr/>
          <p:nvPr/>
        </p:nvSpPr>
        <p:spPr>
          <a:xfrm>
            <a:off x="1188720" y="3840480"/>
            <a:ext cx="2743200" cy="54864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one shared miss instead of N</a:t>
            </a:r>
            <a:endParaRPr lang="en-US" sz="1250" dirty="0"/>
          </a:p>
        </p:txBody>
      </p:sp>
      <p:sp>
        <p:nvSpPr>
          <p:cNvPr id="32" name="Text 29"/>
          <p:cNvSpPr/>
          <p:nvPr/>
        </p:nvSpPr>
        <p:spPr>
          <a:xfrm>
            <a:off x="1188720" y="4434840"/>
            <a:ext cx="2743200" cy="274320"/>
          </a:xfrm>
          <a:prstGeom prst="rect">
            <a:avLst/>
          </a:prstGeom>
          <a:noFill/>
          <a:ln/>
        </p:spPr>
        <p:txBody>
          <a:bodyPr wrap="square" lIns="0" tIns="0" rIns="0" bIns="0" rtlCol="0" anchor="t"/>
          <a:lstStyle/>
          <a:p>
            <a:pPr indent="0" marL="0">
              <a:buNone/>
            </a:pPr>
            <a:r>
              <a:rPr lang="en-US" sz="1150" i="1" dirty="0">
                <a:solidFill>
                  <a:srgbClr val="3F6470"/>
                </a:solidFill>
                <a:latin typeface="Helvetica Neue" pitchFamily="34" charset="0"/>
                <a:ea typeface="Helvetica Neue" pitchFamily="34" charset="-122"/>
                <a:cs typeface="Helvetica Neue" pitchFamily="34" charset="-120"/>
              </a:rPr>
              <a:t>(needs a server)</a:t>
            </a:r>
            <a:endParaRPr lang="en-US" sz="1150" dirty="0"/>
          </a:p>
        </p:txBody>
      </p:sp>
      <p:sp>
        <p:nvSpPr>
          <p:cNvPr id="33" name="Shape 30"/>
          <p:cNvSpPr/>
          <p:nvPr/>
        </p:nvSpPr>
        <p:spPr>
          <a:xfrm>
            <a:off x="4270248" y="3337560"/>
            <a:ext cx="3538728" cy="1417320"/>
          </a:xfrm>
          <a:prstGeom prst="roundRect">
            <a:avLst>
              <a:gd name="adj" fmla="val 5161"/>
            </a:avLst>
          </a:prstGeom>
          <a:solidFill>
            <a:srgbClr val="EDE0C4"/>
          </a:solidFill>
          <a:ln/>
        </p:spPr>
      </p:sp>
      <p:sp>
        <p:nvSpPr>
          <p:cNvPr id="34" name="Text 31"/>
          <p:cNvSpPr/>
          <p:nvPr/>
        </p:nvSpPr>
        <p:spPr>
          <a:xfrm>
            <a:off x="4453128" y="3456432"/>
            <a:ext cx="365760" cy="320040"/>
          </a:xfrm>
          <a:prstGeom prst="rect">
            <a:avLst/>
          </a:prstGeom>
          <a:noFill/>
          <a:ln/>
        </p:spPr>
        <p:txBody>
          <a:bodyPr wrap="square" lIns="0" tIns="0" rIns="0" bIns="0" rtlCol="0" anchor="t"/>
          <a:lstStyle/>
          <a:p>
            <a:pPr indent="0" marL="0">
              <a:buNone/>
            </a:pPr>
            <a:r>
              <a:rPr lang="en-US" sz="1700" b="1" dirty="0">
                <a:solidFill>
                  <a:srgbClr val="B5822B"/>
                </a:solidFill>
                <a:latin typeface="Georgia" pitchFamily="34" charset="0"/>
                <a:ea typeface="Georgia" pitchFamily="34" charset="-122"/>
                <a:cs typeface="Georgia" pitchFamily="34" charset="-120"/>
              </a:rPr>
              <a:t>2</a:t>
            </a:r>
            <a:endParaRPr lang="en-US" sz="1700" dirty="0"/>
          </a:p>
        </p:txBody>
      </p:sp>
      <p:sp>
        <p:nvSpPr>
          <p:cNvPr id="35" name="Text 32"/>
          <p:cNvSpPr/>
          <p:nvPr/>
        </p:nvSpPr>
        <p:spPr>
          <a:xfrm>
            <a:off x="4910328" y="3474720"/>
            <a:ext cx="2743200" cy="320040"/>
          </a:xfrm>
          <a:prstGeom prst="rect">
            <a:avLst/>
          </a:prstGeom>
          <a:noFill/>
          <a:ln/>
        </p:spPr>
        <p:txBody>
          <a:bodyPr wrap="square" lIns="0" tIns="0" rIns="0" bIns="0" rtlCol="0" anchor="t"/>
          <a:lstStyle/>
          <a:p>
            <a:pPr indent="0" marL="0">
              <a:buNone/>
            </a:pPr>
            <a:r>
              <a:rPr lang="en-US" sz="1500" b="1" dirty="0">
                <a:solidFill>
                  <a:srgbClr val="3A2C1A"/>
                </a:solidFill>
                <a:latin typeface="Helvetica Neue" pitchFamily="34" charset="0"/>
                <a:ea typeface="Helvetica Neue" pitchFamily="34" charset="-122"/>
                <a:cs typeface="Helvetica Neue" pitchFamily="34" charset="-120"/>
              </a:rPr>
              <a:t>valcache</a:t>
            </a:r>
            <a:endParaRPr lang="en-US" sz="1500" dirty="0"/>
          </a:p>
        </p:txBody>
      </p:sp>
      <p:sp>
        <p:nvSpPr>
          <p:cNvPr id="36" name="Text 33"/>
          <p:cNvSpPr/>
          <p:nvPr/>
        </p:nvSpPr>
        <p:spPr>
          <a:xfrm>
            <a:off x="4910328" y="3840480"/>
            <a:ext cx="2743200" cy="54864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survives the restart that caused it</a:t>
            </a:r>
            <a:endParaRPr lang="en-US" sz="1250" dirty="0"/>
          </a:p>
        </p:txBody>
      </p:sp>
      <p:sp>
        <p:nvSpPr>
          <p:cNvPr id="37" name="Text 34"/>
          <p:cNvSpPr/>
          <p:nvPr/>
        </p:nvSpPr>
        <p:spPr>
          <a:xfrm>
            <a:off x="4910328" y="4434840"/>
            <a:ext cx="2743200" cy="274320"/>
          </a:xfrm>
          <a:prstGeom prst="rect">
            <a:avLst/>
          </a:prstGeom>
          <a:noFill/>
          <a:ln/>
        </p:spPr>
        <p:txBody>
          <a:bodyPr wrap="square" lIns="0" tIns="0" rIns="0" bIns="0" rtlCol="0" anchor="t"/>
          <a:lstStyle/>
          <a:p>
            <a:pPr indent="0" marL="0">
              <a:buNone/>
            </a:pPr>
            <a:r>
              <a:rPr lang="en-US" sz="1150" i="1" dirty="0">
                <a:solidFill>
                  <a:srgbClr val="B5822B"/>
                </a:solidFill>
                <a:latin typeface="Helvetica Neue" pitchFamily="34" charset="0"/>
                <a:ea typeface="Helvetica Neue" pitchFamily="34" charset="-122"/>
                <a:cs typeface="Helvetica Neue" pitchFamily="34" charset="-120"/>
              </a:rPr>
              <a:t>(needs a disk)</a:t>
            </a:r>
            <a:endParaRPr lang="en-US" sz="1150" dirty="0"/>
          </a:p>
        </p:txBody>
      </p:sp>
      <p:sp>
        <p:nvSpPr>
          <p:cNvPr id="38" name="Shape 35"/>
          <p:cNvSpPr/>
          <p:nvPr/>
        </p:nvSpPr>
        <p:spPr>
          <a:xfrm>
            <a:off x="7991856" y="3337560"/>
            <a:ext cx="3538728" cy="1417320"/>
          </a:xfrm>
          <a:prstGeom prst="roundRect">
            <a:avLst>
              <a:gd name="adj" fmla="val 5161"/>
            </a:avLst>
          </a:prstGeom>
          <a:solidFill>
            <a:srgbClr val="DDE3CC"/>
          </a:solidFill>
          <a:ln/>
        </p:spPr>
      </p:sp>
      <p:sp>
        <p:nvSpPr>
          <p:cNvPr id="39" name="Text 36"/>
          <p:cNvSpPr/>
          <p:nvPr/>
        </p:nvSpPr>
        <p:spPr>
          <a:xfrm>
            <a:off x="8174736" y="3456432"/>
            <a:ext cx="365760" cy="320040"/>
          </a:xfrm>
          <a:prstGeom prst="rect">
            <a:avLst/>
          </a:prstGeom>
          <a:noFill/>
          <a:ln/>
        </p:spPr>
        <p:txBody>
          <a:bodyPr wrap="square" lIns="0" tIns="0" rIns="0" bIns="0" rtlCol="0" anchor="t"/>
          <a:lstStyle/>
          <a:p>
            <a:pPr indent="0" marL="0">
              <a:buNone/>
            </a:pPr>
            <a:r>
              <a:rPr lang="en-US" sz="1700" b="1" dirty="0">
                <a:solidFill>
                  <a:srgbClr val="5F7A3A"/>
                </a:solidFill>
                <a:latin typeface="Georgia" pitchFamily="34" charset="0"/>
                <a:ea typeface="Georgia" pitchFamily="34" charset="-122"/>
                <a:cs typeface="Georgia" pitchFamily="34" charset="-120"/>
              </a:rPr>
              <a:t>3</a:t>
            </a:r>
            <a:endParaRPr lang="en-US" sz="1700" dirty="0"/>
          </a:p>
        </p:txBody>
      </p:sp>
      <p:sp>
        <p:nvSpPr>
          <p:cNvPr id="40" name="Text 37"/>
          <p:cNvSpPr/>
          <p:nvPr/>
        </p:nvSpPr>
        <p:spPr>
          <a:xfrm>
            <a:off x="8631936" y="3474720"/>
            <a:ext cx="2743200" cy="320040"/>
          </a:xfrm>
          <a:prstGeom prst="rect">
            <a:avLst/>
          </a:prstGeom>
          <a:noFill/>
          <a:ln/>
        </p:spPr>
        <p:txBody>
          <a:bodyPr wrap="square" lIns="0" tIns="0" rIns="0" bIns="0" rtlCol="0" anchor="t"/>
          <a:lstStyle/>
          <a:p>
            <a:pPr indent="0" marL="0">
              <a:buNone/>
            </a:pPr>
            <a:r>
              <a:rPr lang="en-US" sz="1500" b="1" dirty="0">
                <a:solidFill>
                  <a:srgbClr val="3A2C1A"/>
                </a:solidFill>
                <a:latin typeface="Helvetica Neue" pitchFamily="34" charset="0"/>
                <a:ea typeface="Helvetica Neue" pitchFamily="34" charset="-122"/>
                <a:cs typeface="Helvetica Neue" pitchFamily="34" charset="-120"/>
              </a:rPr>
              <a:t>rolling deploys</a:t>
            </a:r>
            <a:endParaRPr lang="en-US" sz="1500" dirty="0"/>
          </a:p>
        </p:txBody>
      </p:sp>
      <p:sp>
        <p:nvSpPr>
          <p:cNvPr id="41" name="Text 38"/>
          <p:cNvSpPr/>
          <p:nvPr/>
        </p:nvSpPr>
        <p:spPr>
          <a:xfrm>
            <a:off x="8631936" y="3840480"/>
            <a:ext cx="2743200" cy="54864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don't replace 20 peers at once</a:t>
            </a:r>
            <a:endParaRPr lang="en-US" sz="1250" dirty="0"/>
          </a:p>
        </p:txBody>
      </p:sp>
      <p:sp>
        <p:nvSpPr>
          <p:cNvPr id="42" name="Text 39"/>
          <p:cNvSpPr/>
          <p:nvPr/>
        </p:nvSpPr>
        <p:spPr>
          <a:xfrm>
            <a:off x="8631936" y="4434840"/>
            <a:ext cx="2743200" cy="274320"/>
          </a:xfrm>
          <a:prstGeom prst="rect">
            <a:avLst/>
          </a:prstGeom>
          <a:noFill/>
          <a:ln/>
        </p:spPr>
        <p:txBody>
          <a:bodyPr wrap="square" lIns="0" tIns="0" rIns="0" bIns="0" rtlCol="0" anchor="t"/>
          <a:lstStyle/>
          <a:p>
            <a:pPr indent="0" marL="0">
              <a:buNone/>
            </a:pPr>
            <a:r>
              <a:rPr lang="en-US" sz="1150" i="1" dirty="0">
                <a:solidFill>
                  <a:srgbClr val="5F7A3A"/>
                </a:solidFill>
                <a:latin typeface="Helvetica Neue" pitchFamily="34" charset="0"/>
                <a:ea typeface="Helvetica Neue" pitchFamily="34" charset="-122"/>
                <a:cs typeface="Helvetica Neue" pitchFamily="34" charset="-120"/>
              </a:rPr>
              <a:t>(needs nothing)</a:t>
            </a:r>
            <a:endParaRPr lang="en-US" sz="1150" dirty="0"/>
          </a:p>
        </p:txBody>
      </p:sp>
      <p:sp>
        <p:nvSpPr>
          <p:cNvPr id="43" name="Shape 40"/>
          <p:cNvSpPr/>
          <p:nvPr/>
        </p:nvSpPr>
        <p:spPr>
          <a:xfrm>
            <a:off x="548640" y="4937760"/>
            <a:ext cx="11064240" cy="1143000"/>
          </a:xfrm>
          <a:prstGeom prst="roundRect">
            <a:avLst>
              <a:gd name="adj" fmla="val 6400"/>
            </a:avLst>
          </a:prstGeom>
          <a:solidFill>
            <a:srgbClr val="DFD6C0"/>
          </a:solidFill>
          <a:ln/>
        </p:spPr>
      </p:sp>
      <p:sp>
        <p:nvSpPr>
          <p:cNvPr id="44" name="Shape 41"/>
          <p:cNvSpPr/>
          <p:nvPr/>
        </p:nvSpPr>
        <p:spPr>
          <a:xfrm>
            <a:off x="548640" y="4937760"/>
            <a:ext cx="82296" cy="1143000"/>
          </a:xfrm>
          <a:prstGeom prst="rect">
            <a:avLst/>
          </a:prstGeom>
          <a:solidFill>
            <a:srgbClr val="A8864A"/>
          </a:solidFill>
          <a:ln/>
        </p:spPr>
      </p:sp>
      <p:sp>
        <p:nvSpPr>
          <p:cNvPr id="45" name="Text 42"/>
          <p:cNvSpPr/>
          <p:nvPr/>
        </p:nvSpPr>
        <p:spPr>
          <a:xfrm>
            <a:off x="822960" y="504748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§3</a:t>
            </a:r>
            <a:endParaRPr lang="en-US" sz="1300" dirty="0"/>
          </a:p>
        </p:txBody>
      </p:sp>
      <p:sp>
        <p:nvSpPr>
          <p:cNvPr id="46" name="Shape 43"/>
          <p:cNvSpPr/>
          <p:nvPr/>
        </p:nvSpPr>
        <p:spPr>
          <a:xfrm>
            <a:off x="10561320" y="5047488"/>
            <a:ext cx="777240" cy="292608"/>
          </a:xfrm>
          <a:prstGeom prst="roundRect">
            <a:avLst>
              <a:gd name="adj" fmla="val 25000"/>
            </a:avLst>
          </a:prstGeom>
          <a:solidFill>
            <a:srgbClr val="EBD5CB"/>
          </a:solidFill>
          <a:ln/>
        </p:spPr>
      </p:sp>
      <p:sp>
        <p:nvSpPr>
          <p:cNvPr id="47" name="Text 44"/>
          <p:cNvSpPr/>
          <p:nvPr/>
        </p:nvSpPr>
        <p:spPr>
          <a:xfrm>
            <a:off x="10561320" y="5047488"/>
            <a:ext cx="777240" cy="292608"/>
          </a:xfrm>
          <a:prstGeom prst="rect">
            <a:avLst/>
          </a:prstGeom>
          <a:noFill/>
          <a:ln/>
        </p:spPr>
        <p:txBody>
          <a:bodyPr wrap="square" lIns="0" tIns="0" rIns="0" bIns="0" rtlCol="0" anchor="ctr"/>
          <a:lstStyle/>
          <a:p>
            <a:pPr algn="ctr" indent="0" marL="0">
              <a:buNone/>
            </a:pPr>
            <a:r>
              <a:rPr lang="en-US" sz="1100" b="1" dirty="0">
                <a:solidFill>
                  <a:srgbClr val="9E4227"/>
                </a:solidFill>
                <a:latin typeface="Helvetica Neue" pitchFamily="34" charset="0"/>
                <a:ea typeface="Helvetica Neue" pitchFamily="34" charset="-122"/>
                <a:cs typeface="Helvetica Neue" pitchFamily="34" charset="-120"/>
              </a:rPr>
              <a:t>[PRO]</a:t>
            </a:r>
            <a:endParaRPr lang="en-US" sz="1100" dirty="0"/>
          </a:p>
        </p:txBody>
      </p:sp>
      <p:sp>
        <p:nvSpPr>
          <p:cNvPr id="48" name="Text 45"/>
          <p:cNvSpPr/>
          <p:nvPr/>
        </p:nvSpPr>
        <p:spPr>
          <a:xfrm>
            <a:off x="822960" y="5394960"/>
            <a:ext cx="10515600" cy="57607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Add valcache with two -D flags, restart the REPL, re-run the cold query. Then set datomic.objectCacheMax=32m</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and re-run the warm one. The gap between those two measurements is the object-cache sizing signal for this dataset.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Text 1"/>
          <p:cNvSpPr/>
          <p:nvPr/>
        </p:nvSpPr>
        <p:spPr>
          <a:xfrm>
            <a:off x="822960" y="2011680"/>
            <a:ext cx="1828800" cy="914400"/>
          </a:xfrm>
          <a:prstGeom prst="rect">
            <a:avLst/>
          </a:prstGeom>
          <a:noFill/>
          <a:ln/>
        </p:spPr>
        <p:txBody>
          <a:bodyPr wrap="square" lIns="0" tIns="0" rIns="0" bIns="0" rtlCol="0" anchor="t"/>
          <a:lstStyle/>
          <a:p>
            <a:pPr indent="0" marL="0">
              <a:buNone/>
            </a:pPr>
            <a:r>
              <a:rPr lang="en-US" sz="5400" dirty="0">
                <a:solidFill>
                  <a:srgbClr val="C6A46A"/>
                </a:solidFill>
                <a:latin typeface="Helvetica Neue" pitchFamily="34" charset="0"/>
                <a:ea typeface="Helvetica Neue" pitchFamily="34" charset="-122"/>
                <a:cs typeface="Helvetica Neue" pitchFamily="34" charset="-120"/>
              </a:rPr>
              <a:t>☕</a:t>
            </a:r>
            <a:endParaRPr lang="en-US" sz="5400" dirty="0"/>
          </a:p>
        </p:txBody>
      </p:sp>
      <p:sp>
        <p:nvSpPr>
          <p:cNvPr id="4" name="Text 2"/>
          <p:cNvSpPr/>
          <p:nvPr/>
        </p:nvSpPr>
        <p:spPr>
          <a:xfrm>
            <a:off x="822960" y="3017520"/>
            <a:ext cx="10515600" cy="822960"/>
          </a:xfrm>
          <a:prstGeom prst="rect">
            <a:avLst/>
          </a:prstGeom>
          <a:noFill/>
          <a:ln/>
        </p:spPr>
        <p:txBody>
          <a:bodyPr wrap="square" lIns="0" tIns="0" rIns="0" bIns="0" rtlCol="0" anchor="t"/>
          <a:lstStyle/>
          <a:p>
            <a:pPr indent="0" marL="0">
              <a:buNone/>
            </a:pPr>
            <a:r>
              <a:rPr lang="en-US" sz="3600" dirty="0">
                <a:solidFill>
                  <a:srgbClr val="FCFAF4"/>
                </a:solidFill>
                <a:latin typeface="Georgia" pitchFamily="34" charset="0"/>
                <a:ea typeface="Georgia" pitchFamily="34" charset="-122"/>
                <a:cs typeface="Georgia" pitchFamily="34" charset="-120"/>
              </a:rPr>
              <a:t>Break — 10 minutes</a:t>
            </a:r>
            <a:endParaRPr lang="en-US" sz="3600" dirty="0"/>
          </a:p>
        </p:txBody>
      </p:sp>
      <p:sp>
        <p:nvSpPr>
          <p:cNvPr id="5" name="Text 3"/>
          <p:cNvSpPr/>
          <p:nvPr/>
        </p:nvSpPr>
        <p:spPr>
          <a:xfrm>
            <a:off x="822960" y="3931920"/>
            <a:ext cx="10515600" cy="457200"/>
          </a:xfrm>
          <a:prstGeom prst="rect">
            <a:avLst/>
          </a:prstGeom>
          <a:noFill/>
          <a:ln/>
        </p:spPr>
        <p:txBody>
          <a:bodyPr wrap="square" lIns="0" tIns="0" rIns="0" bIns="0" rtlCol="0" anchor="t"/>
          <a:lstStyle/>
          <a:p>
            <a:pPr indent="0" marL="0">
              <a:buNone/>
            </a:pPr>
            <a:r>
              <a:rPr lang="en-US" sz="1700" dirty="0">
                <a:solidFill>
                  <a:srgbClr val="C9BDA4"/>
                </a:solidFill>
                <a:latin typeface="Helvetica Neue" pitchFamily="34" charset="0"/>
                <a:ea typeface="Helvetica Neue" pitchFamily="34" charset="-122"/>
                <a:cs typeface="Helvetica Neue" pitchFamily="34" charset="-120"/>
              </a:rPr>
              <a:t>Next: which half of the system scales, and which one does not.</a:t>
            </a:r>
            <a:endParaRPr lang="en-US" sz="1700" dirty="0"/>
          </a:p>
        </p:txBody>
      </p:sp>
      <p:sp>
        <p:nvSpPr>
          <p:cNvPr id="6" name="Text 4"/>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IV</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Parallelism</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One writer, many readers — two different mechanisms, one word</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22</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One word, two mechanisms</a:t>
            </a:r>
            <a:endParaRPr lang="en-US" sz="2500" dirty="0"/>
          </a:p>
        </p:txBody>
      </p:sp>
      <p:sp>
        <p:nvSpPr>
          <p:cNvPr id="8" name="Shape 5"/>
          <p:cNvSpPr/>
          <p:nvPr/>
        </p:nvSpPr>
        <p:spPr>
          <a:xfrm>
            <a:off x="548640" y="1325880"/>
            <a:ext cx="5349240" cy="4023360"/>
          </a:xfrm>
          <a:prstGeom prst="roundRect">
            <a:avLst>
              <a:gd name="adj" fmla="val 1818"/>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EDE0C4"/>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B5822B"/>
                </a:solidFill>
                <a:latin typeface="Helvetica Neue" pitchFamily="34" charset="0"/>
                <a:ea typeface="Helvetica Neue" pitchFamily="34" charset="-122"/>
                <a:cs typeface="Helvetica Neue" pitchFamily="34" charset="-120"/>
              </a:rPr>
              <a:t>WRITES</a:t>
            </a:r>
            <a:endParaRPr lang="en-US" sz="1250" dirty="0"/>
          </a:p>
        </p:txBody>
      </p:sp>
      <p:sp>
        <p:nvSpPr>
          <p:cNvPr id="11" name="Shape 8"/>
          <p:cNvSpPr/>
          <p:nvPr/>
        </p:nvSpPr>
        <p:spPr>
          <a:xfrm>
            <a:off x="822960" y="1874520"/>
            <a:ext cx="4800600" cy="685800"/>
          </a:xfrm>
          <a:prstGeom prst="roundRect">
            <a:avLst>
              <a:gd name="adj" fmla="val 8000"/>
            </a:avLst>
          </a:prstGeom>
          <a:solidFill>
            <a:srgbClr val="EDE0C4"/>
          </a:solidFill>
          <a:ln w="15875">
            <a:solidFill>
              <a:srgbClr val="B5822B"/>
            </a:solidFill>
            <a:prstDash val="solid"/>
          </a:ln>
        </p:spPr>
      </p:sp>
      <p:sp>
        <p:nvSpPr>
          <p:cNvPr id="12" name="Text 9"/>
          <p:cNvSpPr/>
          <p:nvPr/>
        </p:nvSpPr>
        <p:spPr>
          <a:xfrm>
            <a:off x="896112" y="1874520"/>
            <a:ext cx="4654296" cy="685800"/>
          </a:xfrm>
          <a:prstGeom prst="rect">
            <a:avLst/>
          </a:prstGeom>
          <a:noFill/>
          <a:ln/>
        </p:spPr>
        <p:txBody>
          <a:bodyPr wrap="square" lIns="0" tIns="0" rIns="0" bIns="0" rtlCol="0" anchor="ctr">
            <a:normAutofit/>
          </a:bodyPr>
          <a:lstStyle/>
          <a:p>
            <a:pPr algn="ctr" indent="0" marL="0">
              <a:buNone/>
            </a:pPr>
            <a:r>
              <a:rPr lang="en-US" sz="1500" b="1" dirty="0">
                <a:solidFill>
                  <a:srgbClr val="3A2C1A"/>
                </a:solidFill>
                <a:latin typeface="Helvetica Neue" pitchFamily="34" charset="0"/>
                <a:ea typeface="Helvetica Neue" pitchFamily="34" charset="-122"/>
                <a:cs typeface="Helvetica Neue" pitchFamily="34" charset="-120"/>
              </a:rPr>
              <a:t>one transactor</a:t>
            </a:r>
            <a:endParaRPr lang="en-US" sz="1500" dirty="0"/>
          </a:p>
        </p:txBody>
      </p:sp>
      <p:sp>
        <p:nvSpPr>
          <p:cNvPr id="13" name="Text 10"/>
          <p:cNvSpPr/>
          <p:nvPr/>
        </p:nvSpPr>
        <p:spPr>
          <a:xfrm>
            <a:off x="868680" y="2743200"/>
            <a:ext cx="2286000" cy="566928"/>
          </a:xfrm>
          <a:prstGeom prst="rect">
            <a:avLst/>
          </a:prstGeom>
          <a:noFill/>
          <a:ln/>
        </p:spPr>
        <p:txBody>
          <a:bodyPr wrap="square" lIns="0" tIns="0" rIns="0" bIns="0" rtlCol="0" anchor="ctr">
            <a:normAutofit/>
          </a:bodyPr>
          <a:lstStyle/>
          <a:p>
            <a:pPr indent="0" marL="0">
              <a:buNone/>
            </a:pPr>
            <a:r>
              <a:rPr lang="en-US" sz="1200" dirty="0">
                <a:solidFill>
                  <a:srgbClr val="3A2C1A"/>
                </a:solidFill>
                <a:latin typeface="Helvetica Neue" pitchFamily="34" charset="0"/>
                <a:ea typeface="Helvetica Neue" pitchFamily="34" charset="-122"/>
                <a:cs typeface="Helvetica Neue" pitchFamily="34" charset="-120"/>
              </a:rPr>
              <a:t>cannot be parallelised</a:t>
            </a:r>
            <a:endParaRPr lang="en-US" sz="1200" dirty="0"/>
          </a:p>
        </p:txBody>
      </p:sp>
      <p:sp>
        <p:nvSpPr>
          <p:cNvPr id="14" name="Text 11"/>
          <p:cNvSpPr/>
          <p:nvPr/>
        </p:nvSpPr>
        <p:spPr>
          <a:xfrm>
            <a:off x="3337560" y="2743200"/>
            <a:ext cx="2240280" cy="566928"/>
          </a:xfrm>
          <a:prstGeom prst="rect">
            <a:avLst/>
          </a:prstGeom>
          <a:noFill/>
          <a:ln/>
        </p:spPr>
        <p:txBody>
          <a:bodyPr wrap="square" lIns="0" tIns="0" rIns="0" bIns="0" rtlCol="0" anchor="ctr">
            <a:normAutofit/>
          </a:bodyPr>
          <a:lstStyle/>
          <a:p>
            <a:pPr indent="0" marL="0">
              <a:buNone/>
            </a:pPr>
            <a:r>
              <a:rPr lang="en-US" sz="1200" dirty="0">
                <a:solidFill>
                  <a:srgbClr val="6B5A44"/>
                </a:solidFill>
                <a:latin typeface="Helvetica Neue" pitchFamily="34" charset="0"/>
                <a:ea typeface="Helvetica Neue" pitchFamily="34" charset="-122"/>
                <a:cs typeface="Helvetica Neue" pitchFamily="34" charset="-120"/>
              </a:rPr>
              <a:t>serial order is the guarantee</a:t>
            </a:r>
            <a:endParaRPr lang="en-US" sz="1200" dirty="0"/>
          </a:p>
        </p:txBody>
      </p:sp>
      <p:sp>
        <p:nvSpPr>
          <p:cNvPr id="15" name="Text 12"/>
          <p:cNvSpPr/>
          <p:nvPr/>
        </p:nvSpPr>
        <p:spPr>
          <a:xfrm>
            <a:off x="868680" y="3310128"/>
            <a:ext cx="2286000" cy="566928"/>
          </a:xfrm>
          <a:prstGeom prst="rect">
            <a:avLst/>
          </a:prstGeom>
          <a:noFill/>
          <a:ln/>
        </p:spPr>
        <p:txBody>
          <a:bodyPr wrap="square" lIns="0" tIns="0" rIns="0" bIns="0" rtlCol="0" anchor="ctr">
            <a:normAutofit/>
          </a:bodyPr>
          <a:lstStyle/>
          <a:p>
            <a:pPr indent="0" marL="0">
              <a:buNone/>
            </a:pPr>
            <a:r>
              <a:rPr lang="en-US" sz="1200" dirty="0">
                <a:solidFill>
                  <a:srgbClr val="3A2C1A"/>
                </a:solidFill>
                <a:latin typeface="Helvetica Neue" pitchFamily="34" charset="0"/>
                <a:ea typeface="Helvetica Neue" pitchFamily="34" charset="-122"/>
                <a:cs typeface="Helvetica Neue" pitchFamily="34" charset="-120"/>
              </a:rPr>
              <a:t>can be pipelined</a:t>
            </a:r>
            <a:endParaRPr lang="en-US" sz="1200" dirty="0"/>
          </a:p>
        </p:txBody>
      </p:sp>
      <p:sp>
        <p:nvSpPr>
          <p:cNvPr id="16" name="Text 13"/>
          <p:cNvSpPr/>
          <p:nvPr/>
        </p:nvSpPr>
        <p:spPr>
          <a:xfrm>
            <a:off x="3337560" y="3310128"/>
            <a:ext cx="2240280" cy="566928"/>
          </a:xfrm>
          <a:prstGeom prst="rect">
            <a:avLst/>
          </a:prstGeom>
          <a:noFill/>
          <a:ln/>
        </p:spPr>
        <p:txBody>
          <a:bodyPr wrap="square" lIns="0" tIns="0" rIns="0" bIns="0" rtlCol="0" anchor="ctr">
            <a:normAutofit/>
          </a:bodyPr>
          <a:lstStyle/>
          <a:p>
            <a:pPr indent="0" marL="0">
              <a:buNone/>
            </a:pPr>
            <a:r>
              <a:rPr lang="en-US" sz="1200" dirty="0">
                <a:solidFill>
                  <a:srgbClr val="6B5A44"/>
                </a:solidFill>
                <a:latin typeface="Helvetica Neue" pitchFamily="34" charset="0"/>
                <a:ea typeface="Helvetica Neue" pitchFamily="34" charset="-122"/>
                <a:cs typeface="Helvetica Neue" pitchFamily="34" charset="-120"/>
              </a:rPr>
              <a:t>overlap the round trips</a:t>
            </a:r>
            <a:endParaRPr lang="en-US" sz="1200" dirty="0"/>
          </a:p>
        </p:txBody>
      </p:sp>
      <p:sp>
        <p:nvSpPr>
          <p:cNvPr id="17" name="Shape 14"/>
          <p:cNvSpPr/>
          <p:nvPr/>
        </p:nvSpPr>
        <p:spPr>
          <a:xfrm>
            <a:off x="822960" y="3977640"/>
            <a:ext cx="4800600" cy="1097280"/>
          </a:xfrm>
          <a:prstGeom prst="roundRect">
            <a:avLst>
              <a:gd name="adj" fmla="val 6667"/>
            </a:avLst>
          </a:prstGeom>
          <a:solidFill>
            <a:srgbClr val="EDE0C4"/>
          </a:solidFill>
          <a:ln/>
        </p:spPr>
      </p:sp>
      <p:sp>
        <p:nvSpPr>
          <p:cNvPr id="18" name="Text 15"/>
          <p:cNvSpPr/>
          <p:nvPr/>
        </p:nvSpPr>
        <p:spPr>
          <a:xfrm>
            <a:off x="1005840" y="4114800"/>
            <a:ext cx="4480560" cy="274320"/>
          </a:xfrm>
          <a:prstGeom prst="rect">
            <a:avLst/>
          </a:prstGeom>
          <a:noFill/>
          <a:ln/>
        </p:spPr>
        <p:txBody>
          <a:bodyPr wrap="square" lIns="0" tIns="0" rIns="0" bIns="0" rtlCol="0" anchor="t"/>
          <a:lstStyle/>
          <a:p>
            <a:pPr indent="0" marL="0">
              <a:buNone/>
            </a:pPr>
            <a:r>
              <a:rPr lang="en-US" sz="1100" b="1" spc="150" kern="0" dirty="0">
                <a:solidFill>
                  <a:srgbClr val="B5822B"/>
                </a:solidFill>
                <a:latin typeface="Helvetica Neue" pitchFamily="34" charset="0"/>
                <a:ea typeface="Helvetica Neue" pitchFamily="34" charset="-122"/>
                <a:cs typeface="Helvetica Neue" pitchFamily="34" charset="-120"/>
              </a:rPr>
              <a:t>LEVER</a:t>
            </a:r>
            <a:endParaRPr lang="en-US" sz="1100" dirty="0"/>
          </a:p>
        </p:txBody>
      </p:sp>
      <p:sp>
        <p:nvSpPr>
          <p:cNvPr id="19" name="Text 16"/>
          <p:cNvSpPr/>
          <p:nvPr/>
        </p:nvSpPr>
        <p:spPr>
          <a:xfrm>
            <a:off x="1005840" y="4407408"/>
            <a:ext cx="4480560" cy="548640"/>
          </a:xfrm>
          <a:prstGeom prst="rect">
            <a:avLst/>
          </a:prstGeom>
          <a:noFill/>
          <a:ln/>
        </p:spPr>
        <p:txBody>
          <a:bodyPr wrap="square" lIns="0" tIns="0" rIns="0" bIns="0" rtlCol="0" anchor="t">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keep the writer from going idle</a:t>
            </a:r>
            <a:endParaRPr lang="en-US" sz="1500" dirty="0"/>
          </a:p>
        </p:txBody>
      </p:sp>
      <p:sp>
        <p:nvSpPr>
          <p:cNvPr id="20" name="Shape 17"/>
          <p:cNvSpPr/>
          <p:nvPr/>
        </p:nvSpPr>
        <p:spPr>
          <a:xfrm>
            <a:off x="6263640" y="1325880"/>
            <a:ext cx="5349240" cy="4023360"/>
          </a:xfrm>
          <a:prstGeom prst="roundRect">
            <a:avLst>
              <a:gd name="adj" fmla="val 1818"/>
            </a:avLst>
          </a:prstGeom>
          <a:solidFill>
            <a:srgbClr val="E6DFCE"/>
          </a:solidFill>
          <a:ln/>
        </p:spPr>
      </p:sp>
      <p:sp>
        <p:nvSpPr>
          <p:cNvPr id="21" name="Shape 18"/>
          <p:cNvSpPr/>
          <p:nvPr/>
        </p:nvSpPr>
        <p:spPr>
          <a:xfrm>
            <a:off x="6263640" y="1325880"/>
            <a:ext cx="5349240" cy="384048"/>
          </a:xfrm>
          <a:prstGeom prst="roundRect">
            <a:avLst>
              <a:gd name="adj" fmla="val 19048"/>
            </a:avLst>
          </a:prstGeom>
          <a:solidFill>
            <a:srgbClr val="D3DEE1"/>
          </a:solidFill>
          <a:ln/>
        </p:spPr>
      </p:sp>
      <p:sp>
        <p:nvSpPr>
          <p:cNvPr id="22" name="Text 19"/>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3F6470"/>
                </a:solidFill>
                <a:latin typeface="Helvetica Neue" pitchFamily="34" charset="0"/>
                <a:ea typeface="Helvetica Neue" pitchFamily="34" charset="-122"/>
                <a:cs typeface="Helvetica Neue" pitchFamily="34" charset="-120"/>
              </a:rPr>
              <a:t>READS</a:t>
            </a:r>
            <a:endParaRPr lang="en-US" sz="1250" dirty="0"/>
          </a:p>
        </p:txBody>
      </p:sp>
      <p:sp>
        <p:nvSpPr>
          <p:cNvPr id="23" name="Shape 20"/>
          <p:cNvSpPr/>
          <p:nvPr/>
        </p:nvSpPr>
        <p:spPr>
          <a:xfrm>
            <a:off x="6537960" y="1874520"/>
            <a:ext cx="1097280" cy="685800"/>
          </a:xfrm>
          <a:prstGeom prst="roundRect">
            <a:avLst>
              <a:gd name="adj" fmla="val 8000"/>
            </a:avLst>
          </a:prstGeom>
          <a:solidFill>
            <a:srgbClr val="D3DEE1"/>
          </a:solidFill>
          <a:ln w="15875">
            <a:solidFill>
              <a:srgbClr val="3F6470"/>
            </a:solidFill>
            <a:prstDash val="solid"/>
          </a:ln>
        </p:spPr>
      </p:sp>
      <p:sp>
        <p:nvSpPr>
          <p:cNvPr id="24" name="Text 21"/>
          <p:cNvSpPr/>
          <p:nvPr/>
        </p:nvSpPr>
        <p:spPr>
          <a:xfrm>
            <a:off x="6611112" y="1874520"/>
            <a:ext cx="950976" cy="6858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core</a:t>
            </a:r>
            <a:endParaRPr lang="en-US" sz="1100" dirty="0"/>
          </a:p>
        </p:txBody>
      </p:sp>
      <p:sp>
        <p:nvSpPr>
          <p:cNvPr id="25" name="Shape 22"/>
          <p:cNvSpPr/>
          <p:nvPr/>
        </p:nvSpPr>
        <p:spPr>
          <a:xfrm>
            <a:off x="7772400" y="1874520"/>
            <a:ext cx="1097280" cy="685800"/>
          </a:xfrm>
          <a:prstGeom prst="roundRect">
            <a:avLst>
              <a:gd name="adj" fmla="val 8000"/>
            </a:avLst>
          </a:prstGeom>
          <a:solidFill>
            <a:srgbClr val="D3DEE1"/>
          </a:solidFill>
          <a:ln w="15875">
            <a:solidFill>
              <a:srgbClr val="3F6470"/>
            </a:solidFill>
            <a:prstDash val="solid"/>
          </a:ln>
        </p:spPr>
      </p:sp>
      <p:sp>
        <p:nvSpPr>
          <p:cNvPr id="26" name="Text 23"/>
          <p:cNvSpPr/>
          <p:nvPr/>
        </p:nvSpPr>
        <p:spPr>
          <a:xfrm>
            <a:off x="7845552" y="1874520"/>
            <a:ext cx="950976" cy="6858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core</a:t>
            </a:r>
            <a:endParaRPr lang="en-US" sz="1100" dirty="0"/>
          </a:p>
        </p:txBody>
      </p:sp>
      <p:sp>
        <p:nvSpPr>
          <p:cNvPr id="27" name="Shape 24"/>
          <p:cNvSpPr/>
          <p:nvPr/>
        </p:nvSpPr>
        <p:spPr>
          <a:xfrm>
            <a:off x="9006840" y="1874520"/>
            <a:ext cx="1097280" cy="685800"/>
          </a:xfrm>
          <a:prstGeom prst="roundRect">
            <a:avLst>
              <a:gd name="adj" fmla="val 8000"/>
            </a:avLst>
          </a:prstGeom>
          <a:solidFill>
            <a:srgbClr val="D3DEE1"/>
          </a:solidFill>
          <a:ln w="15875">
            <a:solidFill>
              <a:srgbClr val="3F6470"/>
            </a:solidFill>
            <a:prstDash val="solid"/>
          </a:ln>
        </p:spPr>
      </p:sp>
      <p:sp>
        <p:nvSpPr>
          <p:cNvPr id="28" name="Text 25"/>
          <p:cNvSpPr/>
          <p:nvPr/>
        </p:nvSpPr>
        <p:spPr>
          <a:xfrm>
            <a:off x="9079992" y="1874520"/>
            <a:ext cx="950976" cy="6858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core</a:t>
            </a:r>
            <a:endParaRPr lang="en-US" sz="1100" dirty="0"/>
          </a:p>
        </p:txBody>
      </p:sp>
      <p:sp>
        <p:nvSpPr>
          <p:cNvPr id="29" name="Shape 26"/>
          <p:cNvSpPr/>
          <p:nvPr/>
        </p:nvSpPr>
        <p:spPr>
          <a:xfrm>
            <a:off x="10241280" y="1874520"/>
            <a:ext cx="1097280" cy="685800"/>
          </a:xfrm>
          <a:prstGeom prst="roundRect">
            <a:avLst>
              <a:gd name="adj" fmla="val 8000"/>
            </a:avLst>
          </a:prstGeom>
          <a:solidFill>
            <a:srgbClr val="D3DEE1"/>
          </a:solidFill>
          <a:ln w="15875">
            <a:solidFill>
              <a:srgbClr val="3F6470"/>
            </a:solidFill>
            <a:prstDash val="solid"/>
          </a:ln>
        </p:spPr>
      </p:sp>
      <p:sp>
        <p:nvSpPr>
          <p:cNvPr id="30" name="Text 27"/>
          <p:cNvSpPr/>
          <p:nvPr/>
        </p:nvSpPr>
        <p:spPr>
          <a:xfrm>
            <a:off x="10314432" y="1874520"/>
            <a:ext cx="950976" cy="6858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core</a:t>
            </a:r>
            <a:endParaRPr lang="en-US" sz="1100" dirty="0"/>
          </a:p>
        </p:txBody>
      </p:sp>
      <p:sp>
        <p:nvSpPr>
          <p:cNvPr id="31" name="Text 28"/>
          <p:cNvSpPr/>
          <p:nvPr/>
        </p:nvSpPr>
        <p:spPr>
          <a:xfrm>
            <a:off x="6583680" y="2743200"/>
            <a:ext cx="2286000" cy="566928"/>
          </a:xfrm>
          <a:prstGeom prst="rect">
            <a:avLst/>
          </a:prstGeom>
          <a:noFill/>
          <a:ln/>
        </p:spPr>
        <p:txBody>
          <a:bodyPr wrap="square" lIns="0" tIns="0" rIns="0" bIns="0" rtlCol="0" anchor="ctr">
            <a:normAutofit/>
          </a:bodyPr>
          <a:lstStyle/>
          <a:p>
            <a:pPr indent="0" marL="0">
              <a:buNone/>
            </a:pPr>
            <a:r>
              <a:rPr lang="en-US" sz="1200" dirty="0">
                <a:solidFill>
                  <a:srgbClr val="3A2C1A"/>
                </a:solidFill>
                <a:latin typeface="Helvetica Neue" pitchFamily="34" charset="0"/>
                <a:ea typeface="Helvetica Neue" pitchFamily="34" charset="-122"/>
                <a:cs typeface="Helvetica Neue" pitchFamily="34" charset="-120"/>
              </a:rPr>
              <a:t>every peer, every core</a:t>
            </a:r>
            <a:endParaRPr lang="en-US" sz="1200" dirty="0"/>
          </a:p>
        </p:txBody>
      </p:sp>
      <p:sp>
        <p:nvSpPr>
          <p:cNvPr id="32" name="Text 29"/>
          <p:cNvSpPr/>
          <p:nvPr/>
        </p:nvSpPr>
        <p:spPr>
          <a:xfrm>
            <a:off x="9052560" y="2743200"/>
            <a:ext cx="2240280" cy="566928"/>
          </a:xfrm>
          <a:prstGeom prst="rect">
            <a:avLst/>
          </a:prstGeom>
          <a:noFill/>
          <a:ln/>
        </p:spPr>
        <p:txBody>
          <a:bodyPr wrap="square" lIns="0" tIns="0" rIns="0" bIns="0" rtlCol="0" anchor="ctr">
            <a:normAutofit/>
          </a:bodyPr>
          <a:lstStyle/>
          <a:p>
            <a:pPr indent="0" marL="0">
              <a:buNone/>
            </a:pPr>
            <a:r>
              <a:rPr lang="en-US" sz="1200" dirty="0">
                <a:solidFill>
                  <a:srgbClr val="6B5A44"/>
                </a:solidFill>
                <a:latin typeface="Helvetica Neue" pitchFamily="34" charset="0"/>
                <a:ea typeface="Helvetica Neue" pitchFamily="34" charset="-122"/>
                <a:cs typeface="Helvetica Neue" pitchFamily="34" charset="-120"/>
              </a:rPr>
              <a:t>no locks, no coordination</a:t>
            </a:r>
            <a:endParaRPr lang="en-US" sz="1200" dirty="0"/>
          </a:p>
        </p:txBody>
      </p:sp>
      <p:sp>
        <p:nvSpPr>
          <p:cNvPr id="33" name="Text 30"/>
          <p:cNvSpPr/>
          <p:nvPr/>
        </p:nvSpPr>
        <p:spPr>
          <a:xfrm>
            <a:off x="6583680" y="3310128"/>
            <a:ext cx="2286000" cy="566928"/>
          </a:xfrm>
          <a:prstGeom prst="rect">
            <a:avLst/>
          </a:prstGeom>
          <a:noFill/>
          <a:ln/>
        </p:spPr>
        <p:txBody>
          <a:bodyPr wrap="square" lIns="0" tIns="0" rIns="0" bIns="0" rtlCol="0" anchor="ctr">
            <a:normAutofit/>
          </a:bodyPr>
          <a:lstStyle/>
          <a:p>
            <a:pPr indent="0" marL="0">
              <a:buNone/>
            </a:pPr>
            <a:r>
              <a:rPr lang="en-US" sz="1200" dirty="0">
                <a:solidFill>
                  <a:srgbClr val="3A2C1A"/>
                </a:solidFill>
                <a:latin typeface="Helvetica Neue" pitchFamily="34" charset="0"/>
                <a:ea typeface="Helvetica Neue" pitchFamily="34" charset="-122"/>
                <a:cs typeface="Helvetica Neue" pitchFamily="34" charset="-120"/>
              </a:rPr>
              <a:t>free once warm</a:t>
            </a:r>
            <a:endParaRPr lang="en-US" sz="1200" dirty="0"/>
          </a:p>
        </p:txBody>
      </p:sp>
      <p:sp>
        <p:nvSpPr>
          <p:cNvPr id="34" name="Text 31"/>
          <p:cNvSpPr/>
          <p:nvPr/>
        </p:nvSpPr>
        <p:spPr>
          <a:xfrm>
            <a:off x="9052560" y="3310128"/>
            <a:ext cx="2240280" cy="566928"/>
          </a:xfrm>
          <a:prstGeom prst="rect">
            <a:avLst/>
          </a:prstGeom>
          <a:noFill/>
          <a:ln/>
        </p:spPr>
        <p:txBody>
          <a:bodyPr wrap="square" lIns="0" tIns="0" rIns="0" bIns="0" rtlCol="0" anchor="ctr">
            <a:normAutofit/>
          </a:bodyPr>
          <a:lstStyle/>
          <a:p>
            <a:pPr indent="0" marL="0">
              <a:buNone/>
            </a:pPr>
            <a:r>
              <a:rPr lang="en-US" sz="1200" dirty="0">
                <a:solidFill>
                  <a:srgbClr val="6B5A44"/>
                </a:solidFill>
                <a:latin typeface="Helvetica Neue" pitchFamily="34" charset="0"/>
                <a:ea typeface="Helvetica Neue" pitchFamily="34" charset="-122"/>
                <a:cs typeface="Helvetica Neue" pitchFamily="34" charset="-120"/>
              </a:rPr>
              <a:t>cached segments cost storage nothing</a:t>
            </a:r>
            <a:endParaRPr lang="en-US" sz="1200" dirty="0"/>
          </a:p>
        </p:txBody>
      </p:sp>
      <p:sp>
        <p:nvSpPr>
          <p:cNvPr id="35" name="Shape 32"/>
          <p:cNvSpPr/>
          <p:nvPr/>
        </p:nvSpPr>
        <p:spPr>
          <a:xfrm>
            <a:off x="6537960" y="3977640"/>
            <a:ext cx="4800600" cy="1097280"/>
          </a:xfrm>
          <a:prstGeom prst="roundRect">
            <a:avLst>
              <a:gd name="adj" fmla="val 6667"/>
            </a:avLst>
          </a:prstGeom>
          <a:solidFill>
            <a:srgbClr val="D3DEE1"/>
          </a:solidFill>
          <a:ln/>
        </p:spPr>
      </p:sp>
      <p:sp>
        <p:nvSpPr>
          <p:cNvPr id="36" name="Text 33"/>
          <p:cNvSpPr/>
          <p:nvPr/>
        </p:nvSpPr>
        <p:spPr>
          <a:xfrm>
            <a:off x="6720840" y="4114800"/>
            <a:ext cx="4480560" cy="274320"/>
          </a:xfrm>
          <a:prstGeom prst="rect">
            <a:avLst/>
          </a:prstGeom>
          <a:noFill/>
          <a:ln/>
        </p:spPr>
        <p:txBody>
          <a:bodyPr wrap="square" lIns="0" tIns="0" rIns="0" bIns="0" rtlCol="0" anchor="t"/>
          <a:lstStyle/>
          <a:p>
            <a:pPr indent="0" marL="0">
              <a:buNone/>
            </a:pPr>
            <a:r>
              <a:rPr lang="en-US" sz="1100" b="1" spc="150" kern="0" dirty="0">
                <a:solidFill>
                  <a:srgbClr val="3F6470"/>
                </a:solidFill>
                <a:latin typeface="Helvetica Neue" pitchFamily="34" charset="0"/>
                <a:ea typeface="Helvetica Neue" pitchFamily="34" charset="-122"/>
                <a:cs typeface="Helvetica Neue" pitchFamily="34" charset="-120"/>
              </a:rPr>
              <a:t>LEVER</a:t>
            </a:r>
            <a:endParaRPr lang="en-US" sz="1100" dirty="0"/>
          </a:p>
        </p:txBody>
      </p:sp>
      <p:sp>
        <p:nvSpPr>
          <p:cNvPr id="37" name="Text 34"/>
          <p:cNvSpPr/>
          <p:nvPr/>
        </p:nvSpPr>
        <p:spPr>
          <a:xfrm>
            <a:off x="6720840" y="4407408"/>
            <a:ext cx="4480560" cy="548640"/>
          </a:xfrm>
          <a:prstGeom prst="rect">
            <a:avLst/>
          </a:prstGeom>
          <a:noFill/>
          <a:ln/>
        </p:spPr>
        <p:txBody>
          <a:bodyPr wrap="square" lIns="0" tIns="0" rIns="0" bIns="0" rtlCol="0" anchor="t">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cut the work up along the index</a:t>
            </a:r>
            <a:endParaRPr lang="en-US" sz="1500" dirty="0"/>
          </a:p>
        </p:txBody>
      </p:sp>
      <p:sp>
        <p:nvSpPr>
          <p:cNvPr id="38" name="Shape 35"/>
          <p:cNvSpPr/>
          <p:nvPr/>
        </p:nvSpPr>
        <p:spPr>
          <a:xfrm>
            <a:off x="548640" y="5532120"/>
            <a:ext cx="54864" cy="457200"/>
          </a:xfrm>
          <a:prstGeom prst="rect">
            <a:avLst/>
          </a:prstGeom>
          <a:solidFill>
            <a:srgbClr val="A8864A"/>
          </a:solidFill>
          <a:ln/>
        </p:spPr>
      </p:sp>
      <p:sp>
        <p:nvSpPr>
          <p:cNvPr id="39" name="Text 36"/>
          <p:cNvSpPr/>
          <p:nvPr/>
        </p:nvSpPr>
        <p:spPr>
          <a:xfrm>
            <a:off x="777240" y="55321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Same word, different machinery. Do not go looking for threads inside a single query.</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23</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Pipelining: overlapping the round trips</a:t>
            </a:r>
            <a:endParaRPr lang="en-US" sz="2500" dirty="0"/>
          </a:p>
        </p:txBody>
      </p:sp>
      <p:sp>
        <p:nvSpPr>
          <p:cNvPr id="8" name="Text 5"/>
          <p:cNvSpPr/>
          <p:nvPr/>
        </p:nvSpPr>
        <p:spPr>
          <a:xfrm>
            <a:off x="548640" y="1399032"/>
            <a:ext cx="1828800" cy="320040"/>
          </a:xfrm>
          <a:prstGeom prst="rect">
            <a:avLst/>
          </a:prstGeom>
          <a:noFill/>
          <a:ln/>
        </p:spPr>
        <p:txBody>
          <a:bodyPr wrap="square" lIns="0" tIns="0" rIns="0" bIns="0" rtlCol="0" anchor="t"/>
          <a:lstStyle/>
          <a:p>
            <a:pPr indent="0" marL="0">
              <a:buNone/>
            </a:pPr>
            <a:r>
              <a:rPr lang="en-US" sz="1300" b="1" spc="100" kern="0" dirty="0">
                <a:solidFill>
                  <a:srgbClr val="3A2C1A"/>
                </a:solidFill>
                <a:latin typeface="Helvetica Neue" pitchFamily="34" charset="0"/>
                <a:ea typeface="Helvetica Neue" pitchFamily="34" charset="-122"/>
                <a:cs typeface="Helvetica Neue" pitchFamily="34" charset="-120"/>
              </a:rPr>
              <a:t>SERIAL</a:t>
            </a:r>
            <a:endParaRPr lang="en-US" sz="1300" dirty="0"/>
          </a:p>
        </p:txBody>
      </p:sp>
      <p:sp>
        <p:nvSpPr>
          <p:cNvPr id="9" name="Shape 6"/>
          <p:cNvSpPr/>
          <p:nvPr/>
        </p:nvSpPr>
        <p:spPr>
          <a:xfrm>
            <a:off x="2194560" y="1353312"/>
            <a:ext cx="822960" cy="457200"/>
          </a:xfrm>
          <a:prstGeom prst="roundRect">
            <a:avLst>
              <a:gd name="adj" fmla="val 12000"/>
            </a:avLst>
          </a:prstGeom>
          <a:solidFill>
            <a:srgbClr val="EDE0C4"/>
          </a:solidFill>
          <a:ln w="15875">
            <a:solidFill>
              <a:srgbClr val="B5822B"/>
            </a:solidFill>
            <a:prstDash val="solid"/>
          </a:ln>
        </p:spPr>
      </p:sp>
      <p:sp>
        <p:nvSpPr>
          <p:cNvPr id="10" name="Text 7"/>
          <p:cNvSpPr/>
          <p:nvPr/>
        </p:nvSpPr>
        <p:spPr>
          <a:xfrm>
            <a:off x="2267712" y="1353312"/>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11" name="Shape 8"/>
          <p:cNvSpPr/>
          <p:nvPr/>
        </p:nvSpPr>
        <p:spPr>
          <a:xfrm>
            <a:off x="3063240" y="1490472"/>
            <a:ext cx="1371600" cy="182880"/>
          </a:xfrm>
          <a:prstGeom prst="rect">
            <a:avLst/>
          </a:prstGeom>
          <a:solidFill>
            <a:srgbClr val="DFD6C0"/>
          </a:solidFill>
          <a:ln/>
        </p:spPr>
      </p:sp>
      <p:sp>
        <p:nvSpPr>
          <p:cNvPr id="12" name="Text 9"/>
          <p:cNvSpPr/>
          <p:nvPr/>
        </p:nvSpPr>
        <p:spPr>
          <a:xfrm>
            <a:off x="3063240" y="1472184"/>
            <a:ext cx="1371600" cy="228600"/>
          </a:xfrm>
          <a:prstGeom prst="rect">
            <a:avLst/>
          </a:prstGeom>
          <a:noFill/>
          <a:ln/>
        </p:spPr>
        <p:txBody>
          <a:bodyPr wrap="square" lIns="0" tIns="0" rIns="0" bIns="0" rtlCol="0" anchor="t"/>
          <a:lstStyle/>
          <a:p>
            <a:pPr algn="ctr" indent="0" marL="0">
              <a:buNone/>
            </a:pPr>
            <a:r>
              <a:rPr lang="en-US" sz="950" dirty="0">
                <a:solidFill>
                  <a:srgbClr val="9A8A72"/>
                </a:solidFill>
                <a:latin typeface="Helvetica Neue" pitchFamily="34" charset="0"/>
                <a:ea typeface="Helvetica Neue" pitchFamily="34" charset="-122"/>
                <a:cs typeface="Helvetica Neue" pitchFamily="34" charset="-120"/>
              </a:rPr>
              <a:t>idle</a:t>
            </a:r>
            <a:endParaRPr lang="en-US" sz="950" dirty="0"/>
          </a:p>
        </p:txBody>
      </p:sp>
      <p:sp>
        <p:nvSpPr>
          <p:cNvPr id="13" name="Shape 10"/>
          <p:cNvSpPr/>
          <p:nvPr/>
        </p:nvSpPr>
        <p:spPr>
          <a:xfrm>
            <a:off x="4526280" y="1353312"/>
            <a:ext cx="822960" cy="457200"/>
          </a:xfrm>
          <a:prstGeom prst="roundRect">
            <a:avLst>
              <a:gd name="adj" fmla="val 12000"/>
            </a:avLst>
          </a:prstGeom>
          <a:solidFill>
            <a:srgbClr val="EDE0C4"/>
          </a:solidFill>
          <a:ln w="15875">
            <a:solidFill>
              <a:srgbClr val="B5822B"/>
            </a:solidFill>
            <a:prstDash val="solid"/>
          </a:ln>
        </p:spPr>
      </p:sp>
      <p:sp>
        <p:nvSpPr>
          <p:cNvPr id="14" name="Text 11"/>
          <p:cNvSpPr/>
          <p:nvPr/>
        </p:nvSpPr>
        <p:spPr>
          <a:xfrm>
            <a:off x="4599432" y="1353312"/>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15" name="Shape 12"/>
          <p:cNvSpPr/>
          <p:nvPr/>
        </p:nvSpPr>
        <p:spPr>
          <a:xfrm>
            <a:off x="5394960" y="1490472"/>
            <a:ext cx="1371600" cy="182880"/>
          </a:xfrm>
          <a:prstGeom prst="rect">
            <a:avLst/>
          </a:prstGeom>
          <a:solidFill>
            <a:srgbClr val="DFD6C0"/>
          </a:solidFill>
          <a:ln/>
        </p:spPr>
      </p:sp>
      <p:sp>
        <p:nvSpPr>
          <p:cNvPr id="16" name="Text 13"/>
          <p:cNvSpPr/>
          <p:nvPr/>
        </p:nvSpPr>
        <p:spPr>
          <a:xfrm>
            <a:off x="5394960" y="1472184"/>
            <a:ext cx="1371600" cy="228600"/>
          </a:xfrm>
          <a:prstGeom prst="rect">
            <a:avLst/>
          </a:prstGeom>
          <a:noFill/>
          <a:ln/>
        </p:spPr>
        <p:txBody>
          <a:bodyPr wrap="square" lIns="0" tIns="0" rIns="0" bIns="0" rtlCol="0" anchor="t"/>
          <a:lstStyle/>
          <a:p>
            <a:pPr algn="ctr" indent="0" marL="0">
              <a:buNone/>
            </a:pPr>
            <a:r>
              <a:rPr lang="en-US" sz="950" dirty="0">
                <a:solidFill>
                  <a:srgbClr val="9A8A72"/>
                </a:solidFill>
                <a:latin typeface="Helvetica Neue" pitchFamily="34" charset="0"/>
                <a:ea typeface="Helvetica Neue" pitchFamily="34" charset="-122"/>
                <a:cs typeface="Helvetica Neue" pitchFamily="34" charset="-120"/>
              </a:rPr>
              <a:t>idle</a:t>
            </a:r>
            <a:endParaRPr lang="en-US" sz="950" dirty="0"/>
          </a:p>
        </p:txBody>
      </p:sp>
      <p:sp>
        <p:nvSpPr>
          <p:cNvPr id="17" name="Shape 14"/>
          <p:cNvSpPr/>
          <p:nvPr/>
        </p:nvSpPr>
        <p:spPr>
          <a:xfrm>
            <a:off x="6858000" y="1353312"/>
            <a:ext cx="822960" cy="457200"/>
          </a:xfrm>
          <a:prstGeom prst="roundRect">
            <a:avLst>
              <a:gd name="adj" fmla="val 12000"/>
            </a:avLst>
          </a:prstGeom>
          <a:solidFill>
            <a:srgbClr val="EDE0C4"/>
          </a:solidFill>
          <a:ln w="15875">
            <a:solidFill>
              <a:srgbClr val="B5822B"/>
            </a:solidFill>
            <a:prstDash val="solid"/>
          </a:ln>
        </p:spPr>
      </p:sp>
      <p:sp>
        <p:nvSpPr>
          <p:cNvPr id="18" name="Text 15"/>
          <p:cNvSpPr/>
          <p:nvPr/>
        </p:nvSpPr>
        <p:spPr>
          <a:xfrm>
            <a:off x="6931152" y="1353312"/>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19" name="Shape 16"/>
          <p:cNvSpPr/>
          <p:nvPr/>
        </p:nvSpPr>
        <p:spPr>
          <a:xfrm>
            <a:off x="7726680" y="1490472"/>
            <a:ext cx="1371600" cy="182880"/>
          </a:xfrm>
          <a:prstGeom prst="rect">
            <a:avLst/>
          </a:prstGeom>
          <a:solidFill>
            <a:srgbClr val="DFD6C0"/>
          </a:solidFill>
          <a:ln/>
        </p:spPr>
      </p:sp>
      <p:sp>
        <p:nvSpPr>
          <p:cNvPr id="20" name="Text 17"/>
          <p:cNvSpPr/>
          <p:nvPr/>
        </p:nvSpPr>
        <p:spPr>
          <a:xfrm>
            <a:off x="7726680" y="1472184"/>
            <a:ext cx="1371600" cy="228600"/>
          </a:xfrm>
          <a:prstGeom prst="rect">
            <a:avLst/>
          </a:prstGeom>
          <a:noFill/>
          <a:ln/>
        </p:spPr>
        <p:txBody>
          <a:bodyPr wrap="square" lIns="0" tIns="0" rIns="0" bIns="0" rtlCol="0" anchor="t"/>
          <a:lstStyle/>
          <a:p>
            <a:pPr algn="ctr" indent="0" marL="0">
              <a:buNone/>
            </a:pPr>
            <a:r>
              <a:rPr lang="en-US" sz="950" dirty="0">
                <a:solidFill>
                  <a:srgbClr val="9A8A72"/>
                </a:solidFill>
                <a:latin typeface="Helvetica Neue" pitchFamily="34" charset="0"/>
                <a:ea typeface="Helvetica Neue" pitchFamily="34" charset="-122"/>
                <a:cs typeface="Helvetica Neue" pitchFamily="34" charset="-120"/>
              </a:rPr>
              <a:t>idle</a:t>
            </a:r>
            <a:endParaRPr lang="en-US" sz="950" dirty="0"/>
          </a:p>
        </p:txBody>
      </p:sp>
      <p:sp>
        <p:nvSpPr>
          <p:cNvPr id="21" name="Shape 18"/>
          <p:cNvSpPr/>
          <p:nvPr/>
        </p:nvSpPr>
        <p:spPr>
          <a:xfrm>
            <a:off x="9189720" y="1353312"/>
            <a:ext cx="822960" cy="457200"/>
          </a:xfrm>
          <a:prstGeom prst="roundRect">
            <a:avLst>
              <a:gd name="adj" fmla="val 12000"/>
            </a:avLst>
          </a:prstGeom>
          <a:solidFill>
            <a:srgbClr val="EDE0C4"/>
          </a:solidFill>
          <a:ln w="15875">
            <a:solidFill>
              <a:srgbClr val="B5822B"/>
            </a:solidFill>
            <a:prstDash val="solid"/>
          </a:ln>
        </p:spPr>
      </p:sp>
      <p:sp>
        <p:nvSpPr>
          <p:cNvPr id="22" name="Text 19"/>
          <p:cNvSpPr/>
          <p:nvPr/>
        </p:nvSpPr>
        <p:spPr>
          <a:xfrm>
            <a:off x="9262872" y="1353312"/>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23" name="Shape 20"/>
          <p:cNvSpPr/>
          <p:nvPr/>
        </p:nvSpPr>
        <p:spPr>
          <a:xfrm>
            <a:off x="10058400" y="1490472"/>
            <a:ext cx="1371600" cy="182880"/>
          </a:xfrm>
          <a:prstGeom prst="rect">
            <a:avLst/>
          </a:prstGeom>
          <a:solidFill>
            <a:srgbClr val="DFD6C0"/>
          </a:solidFill>
          <a:ln/>
        </p:spPr>
      </p:sp>
      <p:sp>
        <p:nvSpPr>
          <p:cNvPr id="24" name="Text 21"/>
          <p:cNvSpPr/>
          <p:nvPr/>
        </p:nvSpPr>
        <p:spPr>
          <a:xfrm>
            <a:off x="10058400" y="1472184"/>
            <a:ext cx="1371600" cy="228600"/>
          </a:xfrm>
          <a:prstGeom prst="rect">
            <a:avLst/>
          </a:prstGeom>
          <a:noFill/>
          <a:ln/>
        </p:spPr>
        <p:txBody>
          <a:bodyPr wrap="square" lIns="0" tIns="0" rIns="0" bIns="0" rtlCol="0" anchor="t"/>
          <a:lstStyle/>
          <a:p>
            <a:pPr algn="ctr" indent="0" marL="0">
              <a:buNone/>
            </a:pPr>
            <a:r>
              <a:rPr lang="en-US" sz="950" dirty="0">
                <a:solidFill>
                  <a:srgbClr val="9A8A72"/>
                </a:solidFill>
                <a:latin typeface="Helvetica Neue" pitchFamily="34" charset="0"/>
                <a:ea typeface="Helvetica Neue" pitchFamily="34" charset="-122"/>
                <a:cs typeface="Helvetica Neue" pitchFamily="34" charset="-120"/>
              </a:rPr>
              <a:t>idle</a:t>
            </a:r>
            <a:endParaRPr lang="en-US" sz="950" dirty="0"/>
          </a:p>
        </p:txBody>
      </p:sp>
      <p:sp>
        <p:nvSpPr>
          <p:cNvPr id="25" name="Text 22"/>
          <p:cNvSpPr/>
          <p:nvPr/>
        </p:nvSpPr>
        <p:spPr>
          <a:xfrm>
            <a:off x="2194560" y="1901952"/>
            <a:ext cx="9418320" cy="320040"/>
          </a:xfrm>
          <a:prstGeom prst="rect">
            <a:avLst/>
          </a:prstGeom>
          <a:noFill/>
          <a:ln/>
        </p:spPr>
        <p:txBody>
          <a:bodyPr wrap="square" lIns="0" tIns="0" rIns="0" bIns="0" rtlCol="0" anchor="t"/>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the writer waits on the round trip between every transaction</a:t>
            </a:r>
            <a:endParaRPr lang="en-US" sz="1250" dirty="0"/>
          </a:p>
        </p:txBody>
      </p:sp>
      <p:sp>
        <p:nvSpPr>
          <p:cNvPr id="26" name="Text 23"/>
          <p:cNvSpPr/>
          <p:nvPr/>
        </p:nvSpPr>
        <p:spPr>
          <a:xfrm>
            <a:off x="548640" y="2743200"/>
            <a:ext cx="1828800" cy="320040"/>
          </a:xfrm>
          <a:prstGeom prst="rect">
            <a:avLst/>
          </a:prstGeom>
          <a:noFill/>
          <a:ln/>
        </p:spPr>
        <p:txBody>
          <a:bodyPr wrap="square" lIns="0" tIns="0" rIns="0" bIns="0" rtlCol="0" anchor="t"/>
          <a:lstStyle/>
          <a:p>
            <a:pPr indent="0" marL="0">
              <a:buNone/>
            </a:pPr>
            <a:r>
              <a:rPr lang="en-US" sz="1300" b="1" spc="100" kern="0" dirty="0">
                <a:solidFill>
                  <a:srgbClr val="3A2C1A"/>
                </a:solidFill>
                <a:latin typeface="Helvetica Neue" pitchFamily="34" charset="0"/>
                <a:ea typeface="Helvetica Neue" pitchFamily="34" charset="-122"/>
                <a:cs typeface="Helvetica Neue" pitchFamily="34" charset="-120"/>
              </a:rPr>
              <a:t>PIPELINED</a:t>
            </a:r>
            <a:endParaRPr lang="en-US" sz="1300" dirty="0"/>
          </a:p>
        </p:txBody>
      </p:sp>
      <p:sp>
        <p:nvSpPr>
          <p:cNvPr id="27" name="Shape 24"/>
          <p:cNvSpPr/>
          <p:nvPr/>
        </p:nvSpPr>
        <p:spPr>
          <a:xfrm>
            <a:off x="2194560" y="2697480"/>
            <a:ext cx="822960" cy="457200"/>
          </a:xfrm>
          <a:prstGeom prst="roundRect">
            <a:avLst>
              <a:gd name="adj" fmla="val 12000"/>
            </a:avLst>
          </a:prstGeom>
          <a:solidFill>
            <a:srgbClr val="DDE3CC"/>
          </a:solidFill>
          <a:ln w="15875">
            <a:solidFill>
              <a:srgbClr val="5F7A3A"/>
            </a:solidFill>
            <a:prstDash val="solid"/>
          </a:ln>
        </p:spPr>
      </p:sp>
      <p:sp>
        <p:nvSpPr>
          <p:cNvPr id="28" name="Text 25"/>
          <p:cNvSpPr/>
          <p:nvPr/>
        </p:nvSpPr>
        <p:spPr>
          <a:xfrm>
            <a:off x="22677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29" name="Shape 26"/>
          <p:cNvSpPr/>
          <p:nvPr/>
        </p:nvSpPr>
        <p:spPr>
          <a:xfrm>
            <a:off x="3108960" y="2697480"/>
            <a:ext cx="822960" cy="457200"/>
          </a:xfrm>
          <a:prstGeom prst="roundRect">
            <a:avLst>
              <a:gd name="adj" fmla="val 12000"/>
            </a:avLst>
          </a:prstGeom>
          <a:solidFill>
            <a:srgbClr val="DDE3CC"/>
          </a:solidFill>
          <a:ln w="15875">
            <a:solidFill>
              <a:srgbClr val="5F7A3A"/>
            </a:solidFill>
            <a:prstDash val="solid"/>
          </a:ln>
        </p:spPr>
      </p:sp>
      <p:sp>
        <p:nvSpPr>
          <p:cNvPr id="30" name="Text 27"/>
          <p:cNvSpPr/>
          <p:nvPr/>
        </p:nvSpPr>
        <p:spPr>
          <a:xfrm>
            <a:off x="31821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31" name="Shape 28"/>
          <p:cNvSpPr/>
          <p:nvPr/>
        </p:nvSpPr>
        <p:spPr>
          <a:xfrm>
            <a:off x="4023360" y="2697480"/>
            <a:ext cx="822960" cy="457200"/>
          </a:xfrm>
          <a:prstGeom prst="roundRect">
            <a:avLst>
              <a:gd name="adj" fmla="val 12000"/>
            </a:avLst>
          </a:prstGeom>
          <a:solidFill>
            <a:srgbClr val="DDE3CC"/>
          </a:solidFill>
          <a:ln w="15875">
            <a:solidFill>
              <a:srgbClr val="5F7A3A"/>
            </a:solidFill>
            <a:prstDash val="solid"/>
          </a:ln>
        </p:spPr>
      </p:sp>
      <p:sp>
        <p:nvSpPr>
          <p:cNvPr id="32" name="Text 29"/>
          <p:cNvSpPr/>
          <p:nvPr/>
        </p:nvSpPr>
        <p:spPr>
          <a:xfrm>
            <a:off x="40965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33" name="Shape 30"/>
          <p:cNvSpPr/>
          <p:nvPr/>
        </p:nvSpPr>
        <p:spPr>
          <a:xfrm>
            <a:off x="4937760" y="2697480"/>
            <a:ext cx="822960" cy="457200"/>
          </a:xfrm>
          <a:prstGeom prst="roundRect">
            <a:avLst>
              <a:gd name="adj" fmla="val 12000"/>
            </a:avLst>
          </a:prstGeom>
          <a:solidFill>
            <a:srgbClr val="DDE3CC"/>
          </a:solidFill>
          <a:ln w="15875">
            <a:solidFill>
              <a:srgbClr val="5F7A3A"/>
            </a:solidFill>
            <a:prstDash val="solid"/>
          </a:ln>
        </p:spPr>
      </p:sp>
      <p:sp>
        <p:nvSpPr>
          <p:cNvPr id="34" name="Text 31"/>
          <p:cNvSpPr/>
          <p:nvPr/>
        </p:nvSpPr>
        <p:spPr>
          <a:xfrm>
            <a:off x="50109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35" name="Shape 32"/>
          <p:cNvSpPr/>
          <p:nvPr/>
        </p:nvSpPr>
        <p:spPr>
          <a:xfrm>
            <a:off x="5852160" y="2697480"/>
            <a:ext cx="822960" cy="457200"/>
          </a:xfrm>
          <a:prstGeom prst="roundRect">
            <a:avLst>
              <a:gd name="adj" fmla="val 12000"/>
            </a:avLst>
          </a:prstGeom>
          <a:solidFill>
            <a:srgbClr val="DDE3CC"/>
          </a:solidFill>
          <a:ln w="15875">
            <a:solidFill>
              <a:srgbClr val="5F7A3A"/>
            </a:solidFill>
            <a:prstDash val="solid"/>
          </a:ln>
        </p:spPr>
      </p:sp>
      <p:sp>
        <p:nvSpPr>
          <p:cNvPr id="36" name="Text 33"/>
          <p:cNvSpPr/>
          <p:nvPr/>
        </p:nvSpPr>
        <p:spPr>
          <a:xfrm>
            <a:off x="59253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37" name="Shape 34"/>
          <p:cNvSpPr/>
          <p:nvPr/>
        </p:nvSpPr>
        <p:spPr>
          <a:xfrm>
            <a:off x="6766560" y="2697480"/>
            <a:ext cx="822960" cy="457200"/>
          </a:xfrm>
          <a:prstGeom prst="roundRect">
            <a:avLst>
              <a:gd name="adj" fmla="val 12000"/>
            </a:avLst>
          </a:prstGeom>
          <a:solidFill>
            <a:srgbClr val="DDE3CC"/>
          </a:solidFill>
          <a:ln w="15875">
            <a:solidFill>
              <a:srgbClr val="5F7A3A"/>
            </a:solidFill>
            <a:prstDash val="solid"/>
          </a:ln>
        </p:spPr>
      </p:sp>
      <p:sp>
        <p:nvSpPr>
          <p:cNvPr id="38" name="Text 35"/>
          <p:cNvSpPr/>
          <p:nvPr/>
        </p:nvSpPr>
        <p:spPr>
          <a:xfrm>
            <a:off x="68397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39" name="Shape 36"/>
          <p:cNvSpPr/>
          <p:nvPr/>
        </p:nvSpPr>
        <p:spPr>
          <a:xfrm>
            <a:off x="7680960" y="2697480"/>
            <a:ext cx="822960" cy="457200"/>
          </a:xfrm>
          <a:prstGeom prst="roundRect">
            <a:avLst>
              <a:gd name="adj" fmla="val 12000"/>
            </a:avLst>
          </a:prstGeom>
          <a:solidFill>
            <a:srgbClr val="DDE3CC"/>
          </a:solidFill>
          <a:ln w="15875">
            <a:solidFill>
              <a:srgbClr val="5F7A3A"/>
            </a:solidFill>
            <a:prstDash val="solid"/>
          </a:ln>
        </p:spPr>
      </p:sp>
      <p:sp>
        <p:nvSpPr>
          <p:cNvPr id="40" name="Text 37"/>
          <p:cNvSpPr/>
          <p:nvPr/>
        </p:nvSpPr>
        <p:spPr>
          <a:xfrm>
            <a:off x="77541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41" name="Shape 38"/>
          <p:cNvSpPr/>
          <p:nvPr/>
        </p:nvSpPr>
        <p:spPr>
          <a:xfrm>
            <a:off x="8595360" y="2697480"/>
            <a:ext cx="822960" cy="457200"/>
          </a:xfrm>
          <a:prstGeom prst="roundRect">
            <a:avLst>
              <a:gd name="adj" fmla="val 12000"/>
            </a:avLst>
          </a:prstGeom>
          <a:solidFill>
            <a:srgbClr val="DDE3CC"/>
          </a:solidFill>
          <a:ln w="15875">
            <a:solidFill>
              <a:srgbClr val="5F7A3A"/>
            </a:solidFill>
            <a:prstDash val="solid"/>
          </a:ln>
        </p:spPr>
      </p:sp>
      <p:sp>
        <p:nvSpPr>
          <p:cNvPr id="42" name="Text 39"/>
          <p:cNvSpPr/>
          <p:nvPr/>
        </p:nvSpPr>
        <p:spPr>
          <a:xfrm>
            <a:off x="8668512" y="2697480"/>
            <a:ext cx="676656" cy="457200"/>
          </a:xfrm>
          <a:prstGeom prst="rect">
            <a:avLst/>
          </a:prstGeom>
          <a:noFill/>
          <a:ln/>
        </p:spPr>
        <p:txBody>
          <a:bodyPr wrap="square" lIns="0" tIns="0" rIns="0" bIns="0" rtlCol="0" anchor="ctr">
            <a:normAutofit/>
          </a:bodyP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tx</a:t>
            </a:r>
            <a:endParaRPr lang="en-US" sz="1100" dirty="0"/>
          </a:p>
        </p:txBody>
      </p:sp>
      <p:sp>
        <p:nvSpPr>
          <p:cNvPr id="43" name="Text 40"/>
          <p:cNvSpPr/>
          <p:nvPr/>
        </p:nvSpPr>
        <p:spPr>
          <a:xfrm>
            <a:off x="2194560" y="3246120"/>
            <a:ext cx="9418320" cy="320040"/>
          </a:xfrm>
          <a:prstGeom prst="rect">
            <a:avLst/>
          </a:prstGeom>
          <a:noFill/>
          <a:ln/>
        </p:spPr>
        <p:txBody>
          <a:bodyPr wrap="square" lIns="0" tIns="0" rIns="0" bIns="0" rtlCol="0" anchor="t"/>
          <a:lstStyle/>
          <a:p>
            <a:pPr indent="0" marL="0">
              <a:buNone/>
            </a:pPr>
            <a:r>
              <a:rPr lang="en-US" sz="1250" i="1" dirty="0">
                <a:solidFill>
                  <a:srgbClr val="5F7A3A"/>
                </a:solidFill>
                <a:latin typeface="Helvetica Neue" pitchFamily="34" charset="0"/>
                <a:ea typeface="Helvetica Neue" pitchFamily="34" charset="-122"/>
                <a:cs typeface="Helvetica Neue" pitchFamily="34" charset="-120"/>
              </a:rPr>
              <a:t>8–16 in flight covers most of the benefit — unbounded trades latency for heap</a:t>
            </a:r>
            <a:endParaRPr lang="en-US" sz="1250" dirty="0"/>
          </a:p>
        </p:txBody>
      </p:sp>
      <p:sp>
        <p:nvSpPr>
          <p:cNvPr id="44" name="Shape 41"/>
          <p:cNvSpPr/>
          <p:nvPr/>
        </p:nvSpPr>
        <p:spPr>
          <a:xfrm>
            <a:off x="548640" y="3886200"/>
            <a:ext cx="11064240" cy="1234440"/>
          </a:xfrm>
          <a:prstGeom prst="roundRect">
            <a:avLst>
              <a:gd name="adj" fmla="val 5926"/>
            </a:avLst>
          </a:prstGeom>
          <a:solidFill>
            <a:srgbClr val="E6DFCE"/>
          </a:solidFill>
          <a:ln/>
        </p:spPr>
      </p:sp>
      <p:sp>
        <p:nvSpPr>
          <p:cNvPr id="45" name="Text 42"/>
          <p:cNvSpPr/>
          <p:nvPr/>
        </p:nvSpPr>
        <p:spPr>
          <a:xfrm>
            <a:off x="822960" y="4069080"/>
            <a:ext cx="10515600" cy="411480"/>
          </a:xfrm>
          <a:prstGeom prst="rect">
            <a:avLst/>
          </a:prstGeom>
          <a:noFill/>
          <a:ln/>
        </p:spPr>
        <p:txBody>
          <a:bodyPr wrap="square" lIns="0" tIns="0" rIns="0" bIns="0" rtlCol="0" anchor="t"/>
          <a:lstStyle/>
          <a:p>
            <a:pPr indent="0" marL="0">
              <a:buNone/>
            </a:pPr>
            <a:r>
              <a:rPr lang="en-US" sz="2100" dirty="0">
                <a:solidFill>
                  <a:srgbClr val="3A2C1A"/>
                </a:solidFill>
                <a:latin typeface="Georgia" pitchFamily="34" charset="0"/>
                <a:ea typeface="Georgia" pitchFamily="34" charset="-122"/>
                <a:cs typeface="Georgia" pitchFamily="34" charset="-120"/>
              </a:rPr>
              <a:t>Pipelining does not make the transactor faster.</a:t>
            </a:r>
            <a:endParaRPr lang="en-US" sz="2100" dirty="0"/>
          </a:p>
        </p:txBody>
      </p:sp>
      <p:sp>
        <p:nvSpPr>
          <p:cNvPr id="46" name="Text 43"/>
          <p:cNvSpPr/>
          <p:nvPr/>
        </p:nvSpPr>
        <p:spPr>
          <a:xfrm>
            <a:off x="822960" y="4526280"/>
            <a:ext cx="10515600" cy="457200"/>
          </a:xfrm>
          <a:prstGeom prst="rect">
            <a:avLst/>
          </a:prstGeom>
          <a:noFill/>
          <a:ln/>
        </p:spPr>
        <p:txBody>
          <a:bodyPr wrap="square" lIns="0" tIns="0" rIns="0" bIns="0" rtlCol="0" anchor="t"/>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It keeps it from idling between round trips. Whether that is worth anything depends entirely on how big the round trip is.</a:t>
            </a:r>
            <a:endParaRPr lang="en-US" sz="1400" dirty="0"/>
          </a:p>
        </p:txBody>
      </p:sp>
      <p:sp>
        <p:nvSpPr>
          <p:cNvPr id="47" name="Shape 44"/>
          <p:cNvSpPr/>
          <p:nvPr/>
        </p:nvSpPr>
        <p:spPr>
          <a:xfrm>
            <a:off x="548640" y="5349240"/>
            <a:ext cx="54864" cy="457200"/>
          </a:xfrm>
          <a:prstGeom prst="rect">
            <a:avLst/>
          </a:prstGeom>
          <a:solidFill>
            <a:srgbClr val="A8864A"/>
          </a:solidFill>
          <a:ln/>
        </p:spPr>
      </p:sp>
      <p:sp>
        <p:nvSpPr>
          <p:cNvPr id="48" name="Text 45"/>
          <p:cNvSpPr/>
          <p:nvPr/>
        </p:nvSpPr>
        <p:spPr>
          <a:xfrm>
            <a:off x="777240" y="53492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The benefit is proportional to the round trip you are hiding — so it is measured per environment.</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24</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Measured on mem: serial and pipelined are identical</a:t>
            </a:r>
            <a:endParaRPr lang="en-US" sz="2500" dirty="0"/>
          </a:p>
        </p:txBody>
      </p:sp>
      <p:sp>
        <p:nvSpPr>
          <p:cNvPr id="8" name="Shape 5"/>
          <p:cNvSpPr/>
          <p:nvPr/>
        </p:nvSpPr>
        <p:spPr>
          <a:xfrm>
            <a:off x="548640" y="1325880"/>
            <a:ext cx="5486400" cy="1005840"/>
          </a:xfrm>
          <a:prstGeom prst="roundRect">
            <a:avLst>
              <a:gd name="adj" fmla="val 7273"/>
            </a:avLst>
          </a:prstGeom>
          <a:solidFill>
            <a:srgbClr val="E6DFCE"/>
          </a:solidFill>
          <a:ln/>
        </p:spPr>
      </p:sp>
      <p:sp>
        <p:nvSpPr>
          <p:cNvPr id="9" name="Text 6"/>
          <p:cNvSpPr/>
          <p:nvPr/>
        </p:nvSpPr>
        <p:spPr>
          <a:xfrm>
            <a:off x="749808" y="1472184"/>
            <a:ext cx="5084064" cy="71323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[(serial! 500000) (pipeline! 600000)]</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=&gt; [24.69 24.31]        ms — no difference</a:t>
            </a:r>
            <a:endParaRPr lang="en-US" sz="1250" dirty="0"/>
          </a:p>
        </p:txBody>
      </p:sp>
      <p:sp>
        <p:nvSpPr>
          <p:cNvPr id="10" name="Text 7"/>
          <p:cNvSpPr/>
          <p:nvPr/>
        </p:nvSpPr>
        <p:spPr>
          <a:xfrm>
            <a:off x="6309360" y="1371600"/>
            <a:ext cx="146304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serial!</a:t>
            </a:r>
            <a:endParaRPr lang="en-US" sz="1250" dirty="0"/>
          </a:p>
        </p:txBody>
      </p:sp>
      <p:sp>
        <p:nvSpPr>
          <p:cNvPr id="11" name="Shape 8"/>
          <p:cNvSpPr/>
          <p:nvPr/>
        </p:nvSpPr>
        <p:spPr>
          <a:xfrm>
            <a:off x="7955280" y="1426464"/>
            <a:ext cx="2194560" cy="393192"/>
          </a:xfrm>
          <a:prstGeom prst="rect">
            <a:avLst/>
          </a:prstGeom>
          <a:solidFill>
            <a:srgbClr val="E6DFCE"/>
          </a:solidFill>
          <a:ln/>
        </p:spPr>
      </p:sp>
      <p:sp>
        <p:nvSpPr>
          <p:cNvPr id="12" name="Shape 9"/>
          <p:cNvSpPr/>
          <p:nvPr/>
        </p:nvSpPr>
        <p:spPr>
          <a:xfrm>
            <a:off x="7955280" y="1426464"/>
            <a:ext cx="2194560" cy="393192"/>
          </a:xfrm>
          <a:prstGeom prst="rect">
            <a:avLst/>
          </a:prstGeom>
          <a:solidFill>
            <a:srgbClr val="B5822B"/>
          </a:solidFill>
          <a:ln/>
        </p:spPr>
      </p:sp>
      <p:sp>
        <p:nvSpPr>
          <p:cNvPr id="13" name="Text 10"/>
          <p:cNvSpPr/>
          <p:nvPr/>
        </p:nvSpPr>
        <p:spPr>
          <a:xfrm>
            <a:off x="10241280" y="1371600"/>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24.69 ms</a:t>
            </a:r>
            <a:endParaRPr lang="en-US" sz="1250" dirty="0"/>
          </a:p>
        </p:txBody>
      </p:sp>
      <p:sp>
        <p:nvSpPr>
          <p:cNvPr id="14" name="Text 11"/>
          <p:cNvSpPr/>
          <p:nvPr/>
        </p:nvSpPr>
        <p:spPr>
          <a:xfrm>
            <a:off x="6309360" y="2039112"/>
            <a:ext cx="1463040" cy="50292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pipeline!</a:t>
            </a:r>
            <a:endParaRPr lang="en-US" sz="1250" dirty="0"/>
          </a:p>
        </p:txBody>
      </p:sp>
      <p:sp>
        <p:nvSpPr>
          <p:cNvPr id="15" name="Shape 12"/>
          <p:cNvSpPr/>
          <p:nvPr/>
        </p:nvSpPr>
        <p:spPr>
          <a:xfrm>
            <a:off x="7955280" y="2093976"/>
            <a:ext cx="2194560" cy="393192"/>
          </a:xfrm>
          <a:prstGeom prst="rect">
            <a:avLst/>
          </a:prstGeom>
          <a:solidFill>
            <a:srgbClr val="E6DFCE"/>
          </a:solidFill>
          <a:ln/>
        </p:spPr>
      </p:sp>
      <p:sp>
        <p:nvSpPr>
          <p:cNvPr id="16" name="Shape 13"/>
          <p:cNvSpPr/>
          <p:nvPr/>
        </p:nvSpPr>
        <p:spPr>
          <a:xfrm>
            <a:off x="7955280" y="2093976"/>
            <a:ext cx="2160784" cy="393192"/>
          </a:xfrm>
          <a:prstGeom prst="rect">
            <a:avLst/>
          </a:prstGeom>
          <a:solidFill>
            <a:srgbClr val="5F7A3A"/>
          </a:solidFill>
          <a:ln/>
        </p:spPr>
      </p:sp>
      <p:sp>
        <p:nvSpPr>
          <p:cNvPr id="17" name="Text 14"/>
          <p:cNvSpPr/>
          <p:nvPr/>
        </p:nvSpPr>
        <p:spPr>
          <a:xfrm>
            <a:off x="10241280" y="2039112"/>
            <a:ext cx="1371600" cy="50292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24.31 ms</a:t>
            </a:r>
            <a:endParaRPr lang="en-US" sz="1250" dirty="0"/>
          </a:p>
        </p:txBody>
      </p:sp>
      <p:sp>
        <p:nvSpPr>
          <p:cNvPr id="18" name="Text 15"/>
          <p:cNvSpPr/>
          <p:nvPr/>
        </p:nvSpPr>
        <p:spPr>
          <a:xfrm>
            <a:off x="6309360" y="2468880"/>
            <a:ext cx="5303520" cy="274320"/>
          </a:xfrm>
          <a:prstGeom prst="rect">
            <a:avLst/>
          </a:prstGeom>
          <a:noFill/>
          <a:ln/>
        </p:spPr>
        <p:txBody>
          <a:bodyPr wrap="square" lIns="0" tIns="0" rIns="0" bIns="0" rtlCol="0" anchor="t"/>
          <a:lstStyle/>
          <a:p>
            <a:pPr algn="ctr" indent="0" marL="0">
              <a:buNone/>
            </a:pPr>
            <a:r>
              <a:rPr lang="en-US" sz="1200" i="1" dirty="0">
                <a:solidFill>
                  <a:srgbClr val="9A8A72"/>
                </a:solidFill>
                <a:latin typeface="Helvetica Neue" pitchFamily="34" charset="0"/>
                <a:ea typeface="Helvetica Neue" pitchFamily="34" charset="-122"/>
                <a:cs typeface="Helvetica Neue" pitchFamily="34" charset="-120"/>
              </a:rPr>
              <a:t>identical — on purpose</a:t>
            </a:r>
            <a:endParaRPr lang="en-US" sz="1200" dirty="0"/>
          </a:p>
        </p:txBody>
      </p:sp>
      <p:sp>
        <p:nvSpPr>
          <p:cNvPr id="19" name="Shape 16"/>
          <p:cNvSpPr/>
          <p:nvPr/>
        </p:nvSpPr>
        <p:spPr>
          <a:xfrm>
            <a:off x="548640" y="2834640"/>
            <a:ext cx="5349240" cy="1737360"/>
          </a:xfrm>
          <a:prstGeom prst="roundRect">
            <a:avLst>
              <a:gd name="adj" fmla="val 3158"/>
            </a:avLst>
          </a:prstGeom>
          <a:solidFill>
            <a:srgbClr val="E6DFCE"/>
          </a:solidFill>
          <a:ln w="15875">
            <a:solidFill>
              <a:srgbClr val="C9BDA4"/>
            </a:solidFill>
            <a:prstDash val="solid"/>
          </a:ln>
        </p:spPr>
      </p:sp>
      <p:sp>
        <p:nvSpPr>
          <p:cNvPr id="20" name="Text 17"/>
          <p:cNvSpPr/>
          <p:nvPr/>
        </p:nvSpPr>
        <p:spPr>
          <a:xfrm>
            <a:off x="621792" y="3392424"/>
            <a:ext cx="5202936" cy="310896"/>
          </a:xfrm>
          <a:prstGeom prst="rect">
            <a:avLst/>
          </a:prstGeom>
          <a:noFill/>
          <a:ln/>
        </p:spPr>
        <p:txBody>
          <a:bodyPr wrap="square" lIns="0" tIns="0" rIns="0" bIns="0" rtlCol="0" anchor="b">
            <a:normAutofit/>
          </a:bodyPr>
          <a:lstStyle/>
          <a:p>
            <a:pPr algn="ctr" indent="0" marL="0">
              <a:buNone/>
            </a:pPr>
            <a:r>
              <a:rPr lang="en-US" sz="1600" b="1" dirty="0">
                <a:solidFill>
                  <a:srgbClr val="3A2C1A"/>
                </a:solidFill>
                <a:latin typeface="Helvetica Neue" pitchFamily="34" charset="0"/>
                <a:ea typeface="Helvetica Neue" pitchFamily="34" charset="-122"/>
                <a:cs typeface="Helvetica Neue" pitchFamily="34" charset="-120"/>
              </a:rPr>
              <a:t>datomic:mem://</a:t>
            </a:r>
            <a:endParaRPr lang="en-US" sz="1600" dirty="0"/>
          </a:p>
        </p:txBody>
      </p:sp>
      <p:sp>
        <p:nvSpPr>
          <p:cNvPr id="21" name="Text 18"/>
          <p:cNvSpPr/>
          <p:nvPr/>
        </p:nvSpPr>
        <p:spPr>
          <a:xfrm>
            <a:off x="621792" y="3685032"/>
            <a:ext cx="5202936" cy="868680"/>
          </a:xfrm>
          <a:prstGeom prst="rect">
            <a:avLst/>
          </a:prstGeom>
          <a:noFill/>
          <a:ln/>
        </p:spPr>
        <p:txBody>
          <a:bodyPr wrap="square" lIns="0" tIns="0" rIns="0" bIns="0" rtlCol="0" anchor="t">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transactor in the SAME JVM</a:t>
            </a:r>
            <a:endParaRPr lang="en-US" sz="1300" dirty="0"/>
          </a:p>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 no round trip to overlap</a:t>
            </a:r>
            <a:endParaRPr lang="en-US" sz="1300" dirty="0"/>
          </a:p>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 pipelining has nothing to do</a:t>
            </a:r>
            <a:endParaRPr lang="en-US" sz="1300" dirty="0"/>
          </a:p>
        </p:txBody>
      </p:sp>
      <p:sp>
        <p:nvSpPr>
          <p:cNvPr id="22" name="Shape 19"/>
          <p:cNvSpPr/>
          <p:nvPr/>
        </p:nvSpPr>
        <p:spPr>
          <a:xfrm>
            <a:off x="6263640" y="2834640"/>
            <a:ext cx="5349240" cy="1737360"/>
          </a:xfrm>
          <a:prstGeom prst="roundRect">
            <a:avLst>
              <a:gd name="adj" fmla="val 3158"/>
            </a:avLst>
          </a:prstGeom>
          <a:solidFill>
            <a:srgbClr val="D3DEE1"/>
          </a:solidFill>
          <a:ln w="15875">
            <a:solidFill>
              <a:srgbClr val="3F6470"/>
            </a:solidFill>
            <a:prstDash val="solid"/>
          </a:ln>
        </p:spPr>
      </p:sp>
      <p:sp>
        <p:nvSpPr>
          <p:cNvPr id="23" name="Text 20"/>
          <p:cNvSpPr/>
          <p:nvPr/>
        </p:nvSpPr>
        <p:spPr>
          <a:xfrm>
            <a:off x="6336792" y="3392424"/>
            <a:ext cx="5202936" cy="310896"/>
          </a:xfrm>
          <a:prstGeom prst="rect">
            <a:avLst/>
          </a:prstGeom>
          <a:noFill/>
          <a:ln/>
        </p:spPr>
        <p:txBody>
          <a:bodyPr wrap="square" lIns="0" tIns="0" rIns="0" bIns="0" rtlCol="0" anchor="b">
            <a:normAutofit/>
          </a:bodyPr>
          <a:lstStyle/>
          <a:p>
            <a:pPr algn="ctr" indent="0" marL="0">
              <a:buNone/>
            </a:pPr>
            <a:r>
              <a:rPr lang="en-US" sz="1600" b="1" dirty="0">
                <a:solidFill>
                  <a:srgbClr val="3A2C1A"/>
                </a:solidFill>
                <a:latin typeface="Helvetica Neue" pitchFamily="34" charset="0"/>
                <a:ea typeface="Helvetica Neue" pitchFamily="34" charset="-122"/>
                <a:cs typeface="Helvetica Neue" pitchFamily="34" charset="-120"/>
              </a:rPr>
              <a:t>transactor over a socket</a:t>
            </a:r>
            <a:endParaRPr lang="en-US" sz="1600" dirty="0"/>
          </a:p>
        </p:txBody>
      </p:sp>
      <p:sp>
        <p:nvSpPr>
          <p:cNvPr id="24" name="Text 21"/>
          <p:cNvSpPr/>
          <p:nvPr/>
        </p:nvSpPr>
        <p:spPr>
          <a:xfrm>
            <a:off x="6336792" y="3685032"/>
            <a:ext cx="5202936" cy="868680"/>
          </a:xfrm>
          <a:prstGeom prst="rect">
            <a:avLst/>
          </a:prstGeom>
          <a:noFill/>
          <a:ln/>
        </p:spPr>
        <p:txBody>
          <a:bodyPr wrap="square" lIns="0" tIns="0" rIns="0" bIns="0" rtlCol="0" anchor="t">
            <a:normAutofit/>
          </a:bodyPr>
          <a:lstStyle/>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a real round trip exists</a:t>
            </a:r>
            <a:endParaRPr lang="en-US" sz="1300" dirty="0"/>
          </a:p>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 the gap appears</a:t>
            </a:r>
            <a:endParaRPr lang="en-US" sz="1300" dirty="0"/>
          </a:p>
          <a:p>
            <a:pPr algn="ctr" indent="0" marL="0">
              <a:buNone/>
            </a:pPr>
            <a:r>
              <a:rPr lang="en-US" sz="1300" dirty="0">
                <a:solidFill>
                  <a:srgbClr val="6B5A44"/>
                </a:solidFill>
                <a:latin typeface="Helvetica Neue" pitchFamily="34" charset="0"/>
                <a:ea typeface="Helvetica Neue" pitchFamily="34" charset="-122"/>
                <a:cs typeface="Helvetica Neue" pitchFamily="34" charset="-120"/>
              </a:rPr>
              <a:t>→ proportional to that round trip</a:t>
            </a:r>
            <a:endParaRPr lang="en-US" sz="1300" dirty="0"/>
          </a:p>
        </p:txBody>
      </p:sp>
      <p:sp>
        <p:nvSpPr>
          <p:cNvPr id="25" name="Shape 22"/>
          <p:cNvSpPr/>
          <p:nvPr/>
        </p:nvSpPr>
        <p:spPr>
          <a:xfrm>
            <a:off x="548640" y="4754880"/>
            <a:ext cx="54864" cy="457200"/>
          </a:xfrm>
          <a:prstGeom prst="rect">
            <a:avLst/>
          </a:prstGeom>
          <a:solidFill>
            <a:srgbClr val="A8864A"/>
          </a:solidFill>
          <a:ln/>
        </p:spPr>
      </p:sp>
      <p:sp>
        <p:nvSpPr>
          <p:cNvPr id="26" name="Text 23"/>
          <p:cNvSpPr/>
          <p:nvPr/>
        </p:nvSpPr>
        <p:spPr>
          <a:xfrm>
            <a:off x="777240" y="475488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Pipelining hides round trips. On mem there was no round trip to hide, so there is no gap.</a:t>
            </a:r>
            <a:endParaRPr lang="en-US" sz="1450" dirty="0"/>
          </a:p>
        </p:txBody>
      </p:sp>
      <p:sp>
        <p:nvSpPr>
          <p:cNvPr id="27" name="Text 24"/>
          <p:cNvSpPr/>
          <p:nvPr/>
        </p:nvSpPr>
        <p:spPr>
          <a:xfrm>
            <a:off x="548640" y="544068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Unbounded pipelining trades latency for heap. In production, 8–16 transactions in flight covers most of the benefit.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25</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Parallel reads: slicing one index range across cores</a:t>
            </a:r>
            <a:endParaRPr lang="en-US" sz="2500" dirty="0"/>
          </a:p>
        </p:txBody>
      </p:sp>
      <p:sp>
        <p:nvSpPr>
          <p:cNvPr id="8" name="Text 5"/>
          <p:cNvSpPr/>
          <p:nvPr/>
        </p:nvSpPr>
        <p:spPr>
          <a:xfrm>
            <a:off x="548640" y="1280160"/>
            <a:ext cx="11064240" cy="274320"/>
          </a:xfrm>
          <a:prstGeom prst="rect">
            <a:avLst/>
          </a:prstGeom>
          <a:noFill/>
          <a:ln/>
        </p:spPr>
        <p:txBody>
          <a:bodyPr wrap="square" lIns="0" tIns="0" rIns="0" bIns="0" rtlCol="0" anchor="t"/>
          <a:lstStyle/>
          <a:p>
            <a:pPr indent="0" marL="0">
              <a:buNone/>
            </a:pPr>
            <a:r>
              <a:rPr lang="en-US" sz="1300" dirty="0">
                <a:solidFill>
                  <a:srgbClr val="9A8A72"/>
                </a:solidFill>
                <a:latin typeface="Helvetica Neue" pitchFamily="34" charset="0"/>
                <a:ea typeface="Helvetica Neue" pitchFamily="34" charset="-122"/>
                <a:cs typeface="Helvetica Neue" pitchFamily="34" charset="-120"/>
              </a:rPr>
              <a:t>d/index-range over 100,000 readings, cut into 8 slices</a:t>
            </a:r>
            <a:endParaRPr lang="en-US" sz="1300" dirty="0"/>
          </a:p>
        </p:txBody>
      </p:sp>
      <p:sp>
        <p:nvSpPr>
          <p:cNvPr id="9" name="Shape 6"/>
          <p:cNvSpPr/>
          <p:nvPr/>
        </p:nvSpPr>
        <p:spPr>
          <a:xfrm>
            <a:off x="548640" y="1600200"/>
            <a:ext cx="1280160" cy="566928"/>
          </a:xfrm>
          <a:prstGeom prst="roundRect">
            <a:avLst>
              <a:gd name="adj" fmla="val 12903"/>
            </a:avLst>
          </a:prstGeom>
          <a:solidFill>
            <a:srgbClr val="D3DEE1"/>
          </a:solidFill>
          <a:ln/>
        </p:spPr>
      </p:sp>
      <p:sp>
        <p:nvSpPr>
          <p:cNvPr id="10" name="Text 7"/>
          <p:cNvSpPr/>
          <p:nvPr/>
        </p:nvSpPr>
        <p:spPr>
          <a:xfrm>
            <a:off x="548640"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1</a:t>
            </a:r>
            <a:endParaRPr lang="en-US" sz="1150" dirty="0"/>
          </a:p>
        </p:txBody>
      </p:sp>
      <p:sp>
        <p:nvSpPr>
          <p:cNvPr id="11" name="Shape 8"/>
          <p:cNvSpPr/>
          <p:nvPr/>
        </p:nvSpPr>
        <p:spPr>
          <a:xfrm>
            <a:off x="1188720" y="2167128"/>
            <a:ext cx="0" cy="347472"/>
          </a:xfrm>
          <a:prstGeom prst="line">
            <a:avLst/>
          </a:prstGeom>
          <a:noFill/>
          <a:ln w="13970">
            <a:solidFill>
              <a:srgbClr val="3F6470"/>
            </a:solidFill>
            <a:prstDash val="solid"/>
            <a:headEnd type="none"/>
            <a:tailEnd type="triangle"/>
          </a:ln>
        </p:spPr>
      </p:sp>
      <p:sp>
        <p:nvSpPr>
          <p:cNvPr id="12" name="Shape 9"/>
          <p:cNvSpPr/>
          <p:nvPr/>
        </p:nvSpPr>
        <p:spPr>
          <a:xfrm>
            <a:off x="548640" y="2514600"/>
            <a:ext cx="1280160" cy="292608"/>
          </a:xfrm>
          <a:prstGeom prst="roundRect">
            <a:avLst>
              <a:gd name="adj" fmla="val 25000"/>
            </a:avLst>
          </a:prstGeom>
          <a:solidFill>
            <a:srgbClr val="3F6470"/>
          </a:solidFill>
          <a:ln/>
        </p:spPr>
      </p:sp>
      <p:sp>
        <p:nvSpPr>
          <p:cNvPr id="13" name="Text 10"/>
          <p:cNvSpPr/>
          <p:nvPr/>
        </p:nvSpPr>
        <p:spPr>
          <a:xfrm>
            <a:off x="548640"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14" name="Shape 11"/>
          <p:cNvSpPr/>
          <p:nvPr/>
        </p:nvSpPr>
        <p:spPr>
          <a:xfrm>
            <a:off x="1938528" y="1600200"/>
            <a:ext cx="1280160" cy="566928"/>
          </a:xfrm>
          <a:prstGeom prst="roundRect">
            <a:avLst>
              <a:gd name="adj" fmla="val 12903"/>
            </a:avLst>
          </a:prstGeom>
          <a:solidFill>
            <a:srgbClr val="D3DEE1"/>
          </a:solidFill>
          <a:ln/>
        </p:spPr>
      </p:sp>
      <p:sp>
        <p:nvSpPr>
          <p:cNvPr id="15" name="Text 12"/>
          <p:cNvSpPr/>
          <p:nvPr/>
        </p:nvSpPr>
        <p:spPr>
          <a:xfrm>
            <a:off x="1938528"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2</a:t>
            </a:r>
            <a:endParaRPr lang="en-US" sz="1150" dirty="0"/>
          </a:p>
        </p:txBody>
      </p:sp>
      <p:sp>
        <p:nvSpPr>
          <p:cNvPr id="16" name="Shape 13"/>
          <p:cNvSpPr/>
          <p:nvPr/>
        </p:nvSpPr>
        <p:spPr>
          <a:xfrm>
            <a:off x="2578608" y="2167128"/>
            <a:ext cx="0" cy="347472"/>
          </a:xfrm>
          <a:prstGeom prst="line">
            <a:avLst/>
          </a:prstGeom>
          <a:noFill/>
          <a:ln w="13970">
            <a:solidFill>
              <a:srgbClr val="3F6470"/>
            </a:solidFill>
            <a:prstDash val="solid"/>
            <a:headEnd type="none"/>
            <a:tailEnd type="triangle"/>
          </a:ln>
        </p:spPr>
      </p:sp>
      <p:sp>
        <p:nvSpPr>
          <p:cNvPr id="17" name="Shape 14"/>
          <p:cNvSpPr/>
          <p:nvPr/>
        </p:nvSpPr>
        <p:spPr>
          <a:xfrm>
            <a:off x="1938528" y="2514600"/>
            <a:ext cx="1280160" cy="292608"/>
          </a:xfrm>
          <a:prstGeom prst="roundRect">
            <a:avLst>
              <a:gd name="adj" fmla="val 25000"/>
            </a:avLst>
          </a:prstGeom>
          <a:solidFill>
            <a:srgbClr val="3F6470"/>
          </a:solidFill>
          <a:ln/>
        </p:spPr>
      </p:sp>
      <p:sp>
        <p:nvSpPr>
          <p:cNvPr id="18" name="Text 15"/>
          <p:cNvSpPr/>
          <p:nvPr/>
        </p:nvSpPr>
        <p:spPr>
          <a:xfrm>
            <a:off x="1938528"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19" name="Shape 16"/>
          <p:cNvSpPr/>
          <p:nvPr/>
        </p:nvSpPr>
        <p:spPr>
          <a:xfrm>
            <a:off x="3328416" y="1600200"/>
            <a:ext cx="1280160" cy="566928"/>
          </a:xfrm>
          <a:prstGeom prst="roundRect">
            <a:avLst>
              <a:gd name="adj" fmla="val 12903"/>
            </a:avLst>
          </a:prstGeom>
          <a:solidFill>
            <a:srgbClr val="D3DEE1"/>
          </a:solidFill>
          <a:ln/>
        </p:spPr>
      </p:sp>
      <p:sp>
        <p:nvSpPr>
          <p:cNvPr id="20" name="Text 17"/>
          <p:cNvSpPr/>
          <p:nvPr/>
        </p:nvSpPr>
        <p:spPr>
          <a:xfrm>
            <a:off x="3328416"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3</a:t>
            </a:r>
            <a:endParaRPr lang="en-US" sz="1150" dirty="0"/>
          </a:p>
        </p:txBody>
      </p:sp>
      <p:sp>
        <p:nvSpPr>
          <p:cNvPr id="21" name="Shape 18"/>
          <p:cNvSpPr/>
          <p:nvPr/>
        </p:nvSpPr>
        <p:spPr>
          <a:xfrm>
            <a:off x="3968496" y="2167128"/>
            <a:ext cx="0" cy="347472"/>
          </a:xfrm>
          <a:prstGeom prst="line">
            <a:avLst/>
          </a:prstGeom>
          <a:noFill/>
          <a:ln w="13970">
            <a:solidFill>
              <a:srgbClr val="3F6470"/>
            </a:solidFill>
            <a:prstDash val="solid"/>
            <a:headEnd type="none"/>
            <a:tailEnd type="triangle"/>
          </a:ln>
        </p:spPr>
      </p:sp>
      <p:sp>
        <p:nvSpPr>
          <p:cNvPr id="22" name="Shape 19"/>
          <p:cNvSpPr/>
          <p:nvPr/>
        </p:nvSpPr>
        <p:spPr>
          <a:xfrm>
            <a:off x="3328416" y="2514600"/>
            <a:ext cx="1280160" cy="292608"/>
          </a:xfrm>
          <a:prstGeom prst="roundRect">
            <a:avLst>
              <a:gd name="adj" fmla="val 25000"/>
            </a:avLst>
          </a:prstGeom>
          <a:solidFill>
            <a:srgbClr val="3F6470"/>
          </a:solidFill>
          <a:ln/>
        </p:spPr>
      </p:sp>
      <p:sp>
        <p:nvSpPr>
          <p:cNvPr id="23" name="Text 20"/>
          <p:cNvSpPr/>
          <p:nvPr/>
        </p:nvSpPr>
        <p:spPr>
          <a:xfrm>
            <a:off x="3328416"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24" name="Shape 21"/>
          <p:cNvSpPr/>
          <p:nvPr/>
        </p:nvSpPr>
        <p:spPr>
          <a:xfrm>
            <a:off x="4718304" y="1600200"/>
            <a:ext cx="1280160" cy="566928"/>
          </a:xfrm>
          <a:prstGeom prst="roundRect">
            <a:avLst>
              <a:gd name="adj" fmla="val 12903"/>
            </a:avLst>
          </a:prstGeom>
          <a:solidFill>
            <a:srgbClr val="D3DEE1"/>
          </a:solidFill>
          <a:ln/>
        </p:spPr>
      </p:sp>
      <p:sp>
        <p:nvSpPr>
          <p:cNvPr id="25" name="Text 22"/>
          <p:cNvSpPr/>
          <p:nvPr/>
        </p:nvSpPr>
        <p:spPr>
          <a:xfrm>
            <a:off x="4718304"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4</a:t>
            </a:r>
            <a:endParaRPr lang="en-US" sz="1150" dirty="0"/>
          </a:p>
        </p:txBody>
      </p:sp>
      <p:sp>
        <p:nvSpPr>
          <p:cNvPr id="26" name="Shape 23"/>
          <p:cNvSpPr/>
          <p:nvPr/>
        </p:nvSpPr>
        <p:spPr>
          <a:xfrm>
            <a:off x="5358384" y="2167128"/>
            <a:ext cx="0" cy="347472"/>
          </a:xfrm>
          <a:prstGeom prst="line">
            <a:avLst/>
          </a:prstGeom>
          <a:noFill/>
          <a:ln w="13970">
            <a:solidFill>
              <a:srgbClr val="3F6470"/>
            </a:solidFill>
            <a:prstDash val="solid"/>
            <a:headEnd type="none"/>
            <a:tailEnd type="triangle"/>
          </a:ln>
        </p:spPr>
      </p:sp>
      <p:sp>
        <p:nvSpPr>
          <p:cNvPr id="27" name="Shape 24"/>
          <p:cNvSpPr/>
          <p:nvPr/>
        </p:nvSpPr>
        <p:spPr>
          <a:xfrm>
            <a:off x="4718304" y="2514600"/>
            <a:ext cx="1280160" cy="292608"/>
          </a:xfrm>
          <a:prstGeom prst="roundRect">
            <a:avLst>
              <a:gd name="adj" fmla="val 25000"/>
            </a:avLst>
          </a:prstGeom>
          <a:solidFill>
            <a:srgbClr val="3F6470"/>
          </a:solidFill>
          <a:ln/>
        </p:spPr>
      </p:sp>
      <p:sp>
        <p:nvSpPr>
          <p:cNvPr id="28" name="Text 25"/>
          <p:cNvSpPr/>
          <p:nvPr/>
        </p:nvSpPr>
        <p:spPr>
          <a:xfrm>
            <a:off x="4718304"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29" name="Shape 26"/>
          <p:cNvSpPr/>
          <p:nvPr/>
        </p:nvSpPr>
        <p:spPr>
          <a:xfrm>
            <a:off x="6108192" y="1600200"/>
            <a:ext cx="1280160" cy="566928"/>
          </a:xfrm>
          <a:prstGeom prst="roundRect">
            <a:avLst>
              <a:gd name="adj" fmla="val 12903"/>
            </a:avLst>
          </a:prstGeom>
          <a:solidFill>
            <a:srgbClr val="D3DEE1"/>
          </a:solidFill>
          <a:ln/>
        </p:spPr>
      </p:sp>
      <p:sp>
        <p:nvSpPr>
          <p:cNvPr id="30" name="Text 27"/>
          <p:cNvSpPr/>
          <p:nvPr/>
        </p:nvSpPr>
        <p:spPr>
          <a:xfrm>
            <a:off x="6108192"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5</a:t>
            </a:r>
            <a:endParaRPr lang="en-US" sz="1150" dirty="0"/>
          </a:p>
        </p:txBody>
      </p:sp>
      <p:sp>
        <p:nvSpPr>
          <p:cNvPr id="31" name="Shape 28"/>
          <p:cNvSpPr/>
          <p:nvPr/>
        </p:nvSpPr>
        <p:spPr>
          <a:xfrm>
            <a:off x="6748272" y="2167128"/>
            <a:ext cx="0" cy="347472"/>
          </a:xfrm>
          <a:prstGeom prst="line">
            <a:avLst/>
          </a:prstGeom>
          <a:noFill/>
          <a:ln w="13970">
            <a:solidFill>
              <a:srgbClr val="3F6470"/>
            </a:solidFill>
            <a:prstDash val="solid"/>
            <a:headEnd type="none"/>
            <a:tailEnd type="triangle"/>
          </a:ln>
        </p:spPr>
      </p:sp>
      <p:sp>
        <p:nvSpPr>
          <p:cNvPr id="32" name="Shape 29"/>
          <p:cNvSpPr/>
          <p:nvPr/>
        </p:nvSpPr>
        <p:spPr>
          <a:xfrm>
            <a:off x="6108192" y="2514600"/>
            <a:ext cx="1280160" cy="292608"/>
          </a:xfrm>
          <a:prstGeom prst="roundRect">
            <a:avLst>
              <a:gd name="adj" fmla="val 25000"/>
            </a:avLst>
          </a:prstGeom>
          <a:solidFill>
            <a:srgbClr val="3F6470"/>
          </a:solidFill>
          <a:ln/>
        </p:spPr>
      </p:sp>
      <p:sp>
        <p:nvSpPr>
          <p:cNvPr id="33" name="Text 30"/>
          <p:cNvSpPr/>
          <p:nvPr/>
        </p:nvSpPr>
        <p:spPr>
          <a:xfrm>
            <a:off x="6108192"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34" name="Shape 31"/>
          <p:cNvSpPr/>
          <p:nvPr/>
        </p:nvSpPr>
        <p:spPr>
          <a:xfrm>
            <a:off x="7498080" y="1600200"/>
            <a:ext cx="1280160" cy="566928"/>
          </a:xfrm>
          <a:prstGeom prst="roundRect">
            <a:avLst>
              <a:gd name="adj" fmla="val 12903"/>
            </a:avLst>
          </a:prstGeom>
          <a:solidFill>
            <a:srgbClr val="D3DEE1"/>
          </a:solidFill>
          <a:ln/>
        </p:spPr>
      </p:sp>
      <p:sp>
        <p:nvSpPr>
          <p:cNvPr id="35" name="Text 32"/>
          <p:cNvSpPr/>
          <p:nvPr/>
        </p:nvSpPr>
        <p:spPr>
          <a:xfrm>
            <a:off x="7498080"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6</a:t>
            </a:r>
            <a:endParaRPr lang="en-US" sz="1150" dirty="0"/>
          </a:p>
        </p:txBody>
      </p:sp>
      <p:sp>
        <p:nvSpPr>
          <p:cNvPr id="36" name="Shape 33"/>
          <p:cNvSpPr/>
          <p:nvPr/>
        </p:nvSpPr>
        <p:spPr>
          <a:xfrm>
            <a:off x="8138160" y="2167128"/>
            <a:ext cx="0" cy="347472"/>
          </a:xfrm>
          <a:prstGeom prst="line">
            <a:avLst/>
          </a:prstGeom>
          <a:noFill/>
          <a:ln w="13970">
            <a:solidFill>
              <a:srgbClr val="3F6470"/>
            </a:solidFill>
            <a:prstDash val="solid"/>
            <a:headEnd type="none"/>
            <a:tailEnd type="triangle"/>
          </a:ln>
        </p:spPr>
      </p:sp>
      <p:sp>
        <p:nvSpPr>
          <p:cNvPr id="37" name="Shape 34"/>
          <p:cNvSpPr/>
          <p:nvPr/>
        </p:nvSpPr>
        <p:spPr>
          <a:xfrm>
            <a:off x="7498080" y="2514600"/>
            <a:ext cx="1280160" cy="292608"/>
          </a:xfrm>
          <a:prstGeom prst="roundRect">
            <a:avLst>
              <a:gd name="adj" fmla="val 25000"/>
            </a:avLst>
          </a:prstGeom>
          <a:solidFill>
            <a:srgbClr val="3F6470"/>
          </a:solidFill>
          <a:ln/>
        </p:spPr>
      </p:sp>
      <p:sp>
        <p:nvSpPr>
          <p:cNvPr id="38" name="Text 35"/>
          <p:cNvSpPr/>
          <p:nvPr/>
        </p:nvSpPr>
        <p:spPr>
          <a:xfrm>
            <a:off x="7498080"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39" name="Shape 36"/>
          <p:cNvSpPr/>
          <p:nvPr/>
        </p:nvSpPr>
        <p:spPr>
          <a:xfrm>
            <a:off x="8887968" y="1600200"/>
            <a:ext cx="1280160" cy="566928"/>
          </a:xfrm>
          <a:prstGeom prst="roundRect">
            <a:avLst>
              <a:gd name="adj" fmla="val 12903"/>
            </a:avLst>
          </a:prstGeom>
          <a:solidFill>
            <a:srgbClr val="D3DEE1"/>
          </a:solidFill>
          <a:ln/>
        </p:spPr>
      </p:sp>
      <p:sp>
        <p:nvSpPr>
          <p:cNvPr id="40" name="Text 37"/>
          <p:cNvSpPr/>
          <p:nvPr/>
        </p:nvSpPr>
        <p:spPr>
          <a:xfrm>
            <a:off x="8887968"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7</a:t>
            </a:r>
            <a:endParaRPr lang="en-US" sz="1150" dirty="0"/>
          </a:p>
        </p:txBody>
      </p:sp>
      <p:sp>
        <p:nvSpPr>
          <p:cNvPr id="41" name="Shape 38"/>
          <p:cNvSpPr/>
          <p:nvPr/>
        </p:nvSpPr>
        <p:spPr>
          <a:xfrm>
            <a:off x="9528048" y="2167128"/>
            <a:ext cx="0" cy="347472"/>
          </a:xfrm>
          <a:prstGeom prst="line">
            <a:avLst/>
          </a:prstGeom>
          <a:noFill/>
          <a:ln w="13970">
            <a:solidFill>
              <a:srgbClr val="3F6470"/>
            </a:solidFill>
            <a:prstDash val="solid"/>
            <a:headEnd type="none"/>
            <a:tailEnd type="triangle"/>
          </a:ln>
        </p:spPr>
      </p:sp>
      <p:sp>
        <p:nvSpPr>
          <p:cNvPr id="42" name="Shape 39"/>
          <p:cNvSpPr/>
          <p:nvPr/>
        </p:nvSpPr>
        <p:spPr>
          <a:xfrm>
            <a:off x="8887968" y="2514600"/>
            <a:ext cx="1280160" cy="292608"/>
          </a:xfrm>
          <a:prstGeom prst="roundRect">
            <a:avLst>
              <a:gd name="adj" fmla="val 25000"/>
            </a:avLst>
          </a:prstGeom>
          <a:solidFill>
            <a:srgbClr val="3F6470"/>
          </a:solidFill>
          <a:ln/>
        </p:spPr>
      </p:sp>
      <p:sp>
        <p:nvSpPr>
          <p:cNvPr id="43" name="Text 40"/>
          <p:cNvSpPr/>
          <p:nvPr/>
        </p:nvSpPr>
        <p:spPr>
          <a:xfrm>
            <a:off x="8887968"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44" name="Shape 41"/>
          <p:cNvSpPr/>
          <p:nvPr/>
        </p:nvSpPr>
        <p:spPr>
          <a:xfrm>
            <a:off x="10277856" y="1600200"/>
            <a:ext cx="1280160" cy="566928"/>
          </a:xfrm>
          <a:prstGeom prst="roundRect">
            <a:avLst>
              <a:gd name="adj" fmla="val 12903"/>
            </a:avLst>
          </a:prstGeom>
          <a:solidFill>
            <a:srgbClr val="D3DEE1"/>
          </a:solidFill>
          <a:ln/>
        </p:spPr>
      </p:sp>
      <p:sp>
        <p:nvSpPr>
          <p:cNvPr id="45" name="Text 42"/>
          <p:cNvSpPr/>
          <p:nvPr/>
        </p:nvSpPr>
        <p:spPr>
          <a:xfrm>
            <a:off x="10277856" y="1600200"/>
            <a:ext cx="1280160" cy="566928"/>
          </a:xfrm>
          <a:prstGeom prst="rect">
            <a:avLst/>
          </a:prstGeom>
          <a:noFill/>
          <a:ln/>
        </p:spPr>
        <p:txBody>
          <a:bodyPr wrap="square" lIns="0" tIns="0" rIns="0" bIns="0" rtlCol="0" anchor="ctr"/>
          <a:lstStyle/>
          <a:p>
            <a:pPr algn="ctr" indent="0" marL="0">
              <a:buNone/>
            </a:pPr>
            <a:r>
              <a:rPr lang="en-US" sz="1150" dirty="0">
                <a:solidFill>
                  <a:srgbClr val="3F6470"/>
                </a:solidFill>
                <a:latin typeface="Helvetica Neue" pitchFamily="34" charset="0"/>
                <a:ea typeface="Helvetica Neue" pitchFamily="34" charset="-122"/>
                <a:cs typeface="Helvetica Neue" pitchFamily="34" charset="-120"/>
              </a:rPr>
              <a:t>slice 8</a:t>
            </a:r>
            <a:endParaRPr lang="en-US" sz="1150" dirty="0"/>
          </a:p>
        </p:txBody>
      </p:sp>
      <p:sp>
        <p:nvSpPr>
          <p:cNvPr id="46" name="Shape 43"/>
          <p:cNvSpPr/>
          <p:nvPr/>
        </p:nvSpPr>
        <p:spPr>
          <a:xfrm>
            <a:off x="10917936" y="2167128"/>
            <a:ext cx="0" cy="347472"/>
          </a:xfrm>
          <a:prstGeom prst="line">
            <a:avLst/>
          </a:prstGeom>
          <a:noFill/>
          <a:ln w="13970">
            <a:solidFill>
              <a:srgbClr val="3F6470"/>
            </a:solidFill>
            <a:prstDash val="solid"/>
            <a:headEnd type="none"/>
            <a:tailEnd type="triangle"/>
          </a:ln>
        </p:spPr>
      </p:sp>
      <p:sp>
        <p:nvSpPr>
          <p:cNvPr id="47" name="Shape 44"/>
          <p:cNvSpPr/>
          <p:nvPr/>
        </p:nvSpPr>
        <p:spPr>
          <a:xfrm>
            <a:off x="10277856" y="2514600"/>
            <a:ext cx="1280160" cy="292608"/>
          </a:xfrm>
          <a:prstGeom prst="roundRect">
            <a:avLst>
              <a:gd name="adj" fmla="val 25000"/>
            </a:avLst>
          </a:prstGeom>
          <a:solidFill>
            <a:srgbClr val="3F6470"/>
          </a:solidFill>
          <a:ln/>
        </p:spPr>
      </p:sp>
      <p:sp>
        <p:nvSpPr>
          <p:cNvPr id="48" name="Text 45"/>
          <p:cNvSpPr/>
          <p:nvPr/>
        </p:nvSpPr>
        <p:spPr>
          <a:xfrm>
            <a:off x="10277856" y="2514600"/>
            <a:ext cx="1280160" cy="292608"/>
          </a:xfrm>
          <a:prstGeom prst="rect">
            <a:avLst/>
          </a:prstGeom>
          <a:noFill/>
          <a:ln/>
        </p:spPr>
        <p:txBody>
          <a:bodyPr wrap="square" lIns="0" tIns="0" rIns="0" bIns="0" rtlCol="0" anchor="ctr"/>
          <a:lstStyle/>
          <a:p>
            <a:pPr algn="ctr" indent="0" marL="0">
              <a:buNone/>
            </a:pPr>
            <a:r>
              <a:rPr lang="en-US" sz="1000" dirty="0">
                <a:solidFill>
                  <a:srgbClr val="FCFAF4"/>
                </a:solidFill>
                <a:latin typeface="Helvetica Neue" pitchFamily="34" charset="0"/>
                <a:ea typeface="Helvetica Neue" pitchFamily="34" charset="-122"/>
                <a:cs typeface="Helvetica Neue" pitchFamily="34" charset="-120"/>
              </a:rPr>
              <a:t>core</a:t>
            </a:r>
            <a:endParaRPr lang="en-US" sz="1000" dirty="0"/>
          </a:p>
        </p:txBody>
      </p:sp>
      <p:sp>
        <p:nvSpPr>
          <p:cNvPr id="49" name="Text 46"/>
          <p:cNvSpPr/>
          <p:nvPr/>
        </p:nvSpPr>
        <p:spPr>
          <a:xfrm>
            <a:off x="548640" y="2880360"/>
            <a:ext cx="11064240" cy="274320"/>
          </a:xfrm>
          <a:prstGeom prst="rect">
            <a:avLst/>
          </a:prstGeom>
          <a:noFill/>
          <a:ln/>
        </p:spPr>
        <p:txBody>
          <a:bodyPr wrap="square" lIns="0" tIns="0" rIns="0" bIns="0" rtlCol="0" anchor="t"/>
          <a:lstStyle/>
          <a:p>
            <a:pPr algn="ctr" indent="0" marL="0">
              <a:buNone/>
            </a:pPr>
            <a:r>
              <a:rPr lang="en-US" sz="1250" i="1" dirty="0">
                <a:solidFill>
                  <a:srgbClr val="3F6470"/>
                </a:solidFill>
                <a:latin typeface="Helvetica Neue" pitchFamily="34" charset="0"/>
                <a:ea typeface="Helvetica Neue" pitchFamily="34" charset="-122"/>
                <a:cs typeface="Helvetica Neue" pitchFamily="34" charset="-120"/>
              </a:rPr>
              <a:t>one immutable db value  ·  pmap across 10 cores</a:t>
            </a:r>
            <a:endParaRPr lang="en-US" sz="1250" dirty="0"/>
          </a:p>
        </p:txBody>
      </p:sp>
      <p:sp>
        <p:nvSpPr>
          <p:cNvPr id="50" name="Text 47"/>
          <p:cNvSpPr/>
          <p:nvPr/>
        </p:nvSpPr>
        <p:spPr>
          <a:xfrm>
            <a:off x="548640" y="3291840"/>
            <a:ext cx="1463040" cy="54864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serial</a:t>
            </a:r>
            <a:endParaRPr lang="en-US" sz="1250" dirty="0"/>
          </a:p>
        </p:txBody>
      </p:sp>
      <p:sp>
        <p:nvSpPr>
          <p:cNvPr id="51" name="Shape 48"/>
          <p:cNvSpPr/>
          <p:nvPr/>
        </p:nvSpPr>
        <p:spPr>
          <a:xfrm>
            <a:off x="2194560" y="3346704"/>
            <a:ext cx="3840480" cy="438912"/>
          </a:xfrm>
          <a:prstGeom prst="rect">
            <a:avLst/>
          </a:prstGeom>
          <a:solidFill>
            <a:srgbClr val="E6DFCE"/>
          </a:solidFill>
          <a:ln/>
        </p:spPr>
      </p:sp>
      <p:sp>
        <p:nvSpPr>
          <p:cNvPr id="52" name="Shape 49"/>
          <p:cNvSpPr/>
          <p:nvPr/>
        </p:nvSpPr>
        <p:spPr>
          <a:xfrm>
            <a:off x="2194560" y="3346704"/>
            <a:ext cx="3840480" cy="438912"/>
          </a:xfrm>
          <a:prstGeom prst="rect">
            <a:avLst/>
          </a:prstGeom>
          <a:solidFill>
            <a:srgbClr val="DFD6C0"/>
          </a:solidFill>
          <a:ln/>
        </p:spPr>
      </p:sp>
      <p:sp>
        <p:nvSpPr>
          <p:cNvPr id="53" name="Text 50"/>
          <p:cNvSpPr/>
          <p:nvPr/>
        </p:nvSpPr>
        <p:spPr>
          <a:xfrm>
            <a:off x="6126480" y="3291840"/>
            <a:ext cx="1371600" cy="54864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78.70 ms</a:t>
            </a:r>
            <a:endParaRPr lang="en-US" sz="1250" dirty="0"/>
          </a:p>
        </p:txBody>
      </p:sp>
      <p:sp>
        <p:nvSpPr>
          <p:cNvPr id="54" name="Text 51"/>
          <p:cNvSpPr/>
          <p:nvPr/>
        </p:nvSpPr>
        <p:spPr>
          <a:xfrm>
            <a:off x="548640" y="4005072"/>
            <a:ext cx="1463040" cy="548640"/>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pmap ×8</a:t>
            </a:r>
            <a:endParaRPr lang="en-US" sz="1250" dirty="0"/>
          </a:p>
        </p:txBody>
      </p:sp>
      <p:sp>
        <p:nvSpPr>
          <p:cNvPr id="55" name="Shape 52"/>
          <p:cNvSpPr/>
          <p:nvPr/>
        </p:nvSpPr>
        <p:spPr>
          <a:xfrm>
            <a:off x="2194560" y="4059936"/>
            <a:ext cx="3840480" cy="438912"/>
          </a:xfrm>
          <a:prstGeom prst="rect">
            <a:avLst/>
          </a:prstGeom>
          <a:solidFill>
            <a:srgbClr val="E6DFCE"/>
          </a:solidFill>
          <a:ln/>
        </p:spPr>
      </p:sp>
      <p:sp>
        <p:nvSpPr>
          <p:cNvPr id="56" name="Shape 53"/>
          <p:cNvSpPr/>
          <p:nvPr/>
        </p:nvSpPr>
        <p:spPr>
          <a:xfrm>
            <a:off x="2194560" y="4059936"/>
            <a:ext cx="1204359" cy="438912"/>
          </a:xfrm>
          <a:prstGeom prst="rect">
            <a:avLst/>
          </a:prstGeom>
          <a:solidFill>
            <a:srgbClr val="3F6470"/>
          </a:solidFill>
          <a:ln/>
        </p:spPr>
      </p:sp>
      <p:sp>
        <p:nvSpPr>
          <p:cNvPr id="57" name="Text 54"/>
          <p:cNvSpPr/>
          <p:nvPr/>
        </p:nvSpPr>
        <p:spPr>
          <a:xfrm>
            <a:off x="6126480" y="4005072"/>
            <a:ext cx="1371600" cy="54864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24.68 ms</a:t>
            </a:r>
            <a:endParaRPr lang="en-US" sz="1250" dirty="0"/>
          </a:p>
        </p:txBody>
      </p:sp>
      <p:sp>
        <p:nvSpPr>
          <p:cNvPr id="58" name="Shape 55"/>
          <p:cNvSpPr/>
          <p:nvPr/>
        </p:nvSpPr>
        <p:spPr>
          <a:xfrm>
            <a:off x="7772400" y="3291840"/>
            <a:ext cx="3840480" cy="1170432"/>
          </a:xfrm>
          <a:prstGeom prst="roundRect">
            <a:avLst>
              <a:gd name="adj" fmla="val 6250"/>
            </a:avLst>
          </a:prstGeom>
          <a:solidFill>
            <a:srgbClr val="D3DEE1"/>
          </a:solidFill>
          <a:ln/>
        </p:spPr>
      </p:sp>
      <p:sp>
        <p:nvSpPr>
          <p:cNvPr id="59" name="Text 56"/>
          <p:cNvSpPr/>
          <p:nvPr/>
        </p:nvSpPr>
        <p:spPr>
          <a:xfrm>
            <a:off x="7772400" y="3429000"/>
            <a:ext cx="3840480" cy="594360"/>
          </a:xfrm>
          <a:prstGeom prst="rect">
            <a:avLst/>
          </a:prstGeom>
          <a:noFill/>
          <a:ln/>
        </p:spPr>
        <p:txBody>
          <a:bodyPr wrap="square" lIns="0" tIns="0" rIns="0" bIns="0" rtlCol="0" anchor="t"/>
          <a:lstStyle/>
          <a:p>
            <a:pPr algn="ctr" indent="0" marL="0">
              <a:buNone/>
            </a:pPr>
            <a:r>
              <a:rPr lang="en-US" sz="3000" dirty="0">
                <a:solidFill>
                  <a:srgbClr val="3F6470"/>
                </a:solidFill>
                <a:latin typeface="Georgia" pitchFamily="34" charset="0"/>
                <a:ea typeface="Georgia" pitchFamily="34" charset="-122"/>
                <a:cs typeface="Georgia" pitchFamily="34" charset="-120"/>
              </a:rPr>
              <a:t>≈ 3.2×</a:t>
            </a:r>
            <a:endParaRPr lang="en-US" sz="3000" dirty="0"/>
          </a:p>
        </p:txBody>
      </p:sp>
      <p:sp>
        <p:nvSpPr>
          <p:cNvPr id="60" name="Text 57"/>
          <p:cNvSpPr/>
          <p:nvPr/>
        </p:nvSpPr>
        <p:spPr>
          <a:xfrm>
            <a:off x="7772400" y="4069080"/>
            <a:ext cx="3840480" cy="274320"/>
          </a:xfrm>
          <a:prstGeom prst="rect">
            <a:avLst/>
          </a:prstGeom>
          <a:noFill/>
          <a:ln/>
        </p:spPr>
        <p:txBody>
          <a:bodyPr wrap="square" lIns="0" tIns="0" rIns="0" bIns="0" rtlCol="0" anchor="t"/>
          <a:lstStyle/>
          <a:p>
            <a:pPr algn="ctr" indent="0" marL="0">
              <a:buNone/>
            </a:pPr>
            <a:r>
              <a:rPr lang="en-US" sz="1150" dirty="0">
                <a:solidFill>
                  <a:srgbClr val="9A8A72"/>
                </a:solidFill>
                <a:latin typeface="Helvetica Neue" pitchFamily="34" charset="0"/>
                <a:ea typeface="Helvetica Neue" pitchFamily="34" charset="-122"/>
                <a:cs typeface="Helvetica Neue" pitchFamily="34" charset="-120"/>
              </a:rPr>
              <a:t>median of five runs</a:t>
            </a:r>
            <a:endParaRPr lang="en-US" sz="1150" dirty="0"/>
          </a:p>
        </p:txBody>
      </p:sp>
      <p:sp>
        <p:nvSpPr>
          <p:cNvPr id="61" name="Shape 58"/>
          <p:cNvSpPr/>
          <p:nvPr/>
        </p:nvSpPr>
        <p:spPr>
          <a:xfrm>
            <a:off x="548640" y="4663440"/>
            <a:ext cx="5349240" cy="1143000"/>
          </a:xfrm>
          <a:prstGeom prst="roundRect">
            <a:avLst>
              <a:gd name="adj" fmla="val 4800"/>
            </a:avLst>
          </a:prstGeom>
          <a:solidFill>
            <a:srgbClr val="E6DFCE"/>
          </a:solidFill>
          <a:ln w="15875">
            <a:solidFill>
              <a:srgbClr val="C9BDA4"/>
            </a:solidFill>
            <a:prstDash val="solid"/>
          </a:ln>
        </p:spPr>
      </p:sp>
      <p:sp>
        <p:nvSpPr>
          <p:cNvPr id="62" name="Text 59"/>
          <p:cNvSpPr/>
          <p:nvPr/>
        </p:nvSpPr>
        <p:spPr>
          <a:xfrm>
            <a:off x="621792" y="4924044"/>
            <a:ext cx="5202936"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db is a VALUE</a:t>
            </a:r>
            <a:endParaRPr lang="en-US" sz="1400" dirty="0"/>
          </a:p>
        </p:txBody>
      </p:sp>
      <p:sp>
        <p:nvSpPr>
          <p:cNvPr id="63" name="Text 60"/>
          <p:cNvSpPr/>
          <p:nvPr/>
        </p:nvSpPr>
        <p:spPr>
          <a:xfrm>
            <a:off x="621792" y="5216652"/>
            <a:ext cx="5202936" cy="384048"/>
          </a:xfrm>
          <a:prstGeom prst="rect">
            <a:avLst/>
          </a:prstGeom>
          <a:noFill/>
          <a:ln/>
        </p:spPr>
        <p:txBody>
          <a:bodyPr wrap="square" lIns="0" tIns="0" rIns="0" bIns="0" rtlCol="0" anchor="t">
            <a:normAutofit/>
          </a:bodyPr>
          <a:lstStyle/>
          <a:p>
            <a:pPr algn="ctr" indent="0" marL="0">
              <a:buNone/>
            </a:pPr>
            <a:r>
              <a:rPr lang="en-US" sz="1150" dirty="0">
                <a:solidFill>
                  <a:srgbClr val="6B5A44"/>
                </a:solidFill>
                <a:latin typeface="Helvetica Neue" pitchFamily="34" charset="0"/>
                <a:ea typeface="Helvetica Neue" pitchFamily="34" charset="-122"/>
                <a:cs typeface="Helvetica Neue" pitchFamily="34" charset="-120"/>
              </a:rPr>
              <a:t>every slice reads the same immutable database —</a:t>
            </a:r>
            <a:endParaRPr lang="en-US" sz="1150" dirty="0"/>
          </a:p>
          <a:p>
            <a:pPr algn="ctr" indent="0" marL="0">
              <a:buNone/>
            </a:pPr>
            <a:r>
              <a:rPr lang="en-US" sz="1150" dirty="0">
                <a:solidFill>
                  <a:srgbClr val="6B5A44"/>
                </a:solidFill>
                <a:latin typeface="Helvetica Neue" pitchFamily="34" charset="0"/>
                <a:ea typeface="Helvetica Neue" pitchFamily="34" charset="-122"/>
                <a:cs typeface="Helvetica Neue" pitchFamily="34" charset="-120"/>
              </a:rPr>
              <a:t>no snapshot to hold open, no transaction to leak</a:t>
            </a:r>
            <a:endParaRPr lang="en-US" sz="1150" dirty="0"/>
          </a:p>
        </p:txBody>
      </p:sp>
      <p:sp>
        <p:nvSpPr>
          <p:cNvPr id="64" name="Shape 61"/>
          <p:cNvSpPr/>
          <p:nvPr/>
        </p:nvSpPr>
        <p:spPr>
          <a:xfrm>
            <a:off x="6263640" y="4663440"/>
            <a:ext cx="5349240" cy="1143000"/>
          </a:xfrm>
          <a:prstGeom prst="roundRect">
            <a:avLst>
              <a:gd name="adj" fmla="val 4800"/>
            </a:avLst>
          </a:prstGeom>
          <a:solidFill>
            <a:srgbClr val="E6DFCE"/>
          </a:solidFill>
          <a:ln w="15875">
            <a:solidFill>
              <a:srgbClr val="C9BDA4"/>
            </a:solidFill>
            <a:prstDash val="solid"/>
          </a:ln>
        </p:spPr>
      </p:sp>
      <p:sp>
        <p:nvSpPr>
          <p:cNvPr id="65" name="Text 62"/>
          <p:cNvSpPr/>
          <p:nvPr/>
        </p:nvSpPr>
        <p:spPr>
          <a:xfrm>
            <a:off x="6336792" y="4924044"/>
            <a:ext cx="5202936"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bounded by cache misses, not cores</a:t>
            </a:r>
            <a:endParaRPr lang="en-US" sz="1400" dirty="0"/>
          </a:p>
        </p:txBody>
      </p:sp>
      <p:sp>
        <p:nvSpPr>
          <p:cNvPr id="66" name="Text 63"/>
          <p:cNvSpPr/>
          <p:nvPr/>
        </p:nvSpPr>
        <p:spPr>
          <a:xfrm>
            <a:off x="6336792" y="5216652"/>
            <a:ext cx="5202936" cy="384048"/>
          </a:xfrm>
          <a:prstGeom prst="rect">
            <a:avLst/>
          </a:prstGeom>
          <a:noFill/>
          <a:ln/>
        </p:spPr>
        <p:txBody>
          <a:bodyPr wrap="square" lIns="0" tIns="0" rIns="0" bIns="0" rtlCol="0" anchor="t">
            <a:normAutofit/>
          </a:bodyPr>
          <a:lstStyle/>
          <a:p>
            <a:pPr algn="ctr" indent="0" marL="0">
              <a:buNone/>
            </a:pPr>
            <a:r>
              <a:rPr lang="en-US" sz="1150" dirty="0">
                <a:solidFill>
                  <a:srgbClr val="6B5A44"/>
                </a:solidFill>
                <a:latin typeface="Helvetica Neue" pitchFamily="34" charset="0"/>
                <a:ea typeface="Helvetica Neue" pitchFamily="34" charset="-122"/>
                <a:cs typeface="Helvetica Neue" pitchFamily="34" charset="-120"/>
              </a:rPr>
              <a:t>warm: you divide CPU work</a:t>
            </a:r>
            <a:endParaRPr lang="en-US" sz="1150" dirty="0"/>
          </a:p>
          <a:p>
            <a:pPr algn="ctr" indent="0" marL="0">
              <a:buNone/>
            </a:pPr>
            <a:r>
              <a:rPr lang="en-US" sz="1150" dirty="0">
                <a:solidFill>
                  <a:srgbClr val="6B5A44"/>
                </a:solidFill>
                <a:latin typeface="Helvetica Neue" pitchFamily="34" charset="0"/>
                <a:ea typeface="Helvetica Neue" pitchFamily="34" charset="-122"/>
                <a:cs typeface="Helvetica Neue" pitchFamily="34" charset="-120"/>
              </a:rPr>
              <a:t>cold: you overlap storage waits</a:t>
            </a:r>
            <a:endParaRPr lang="en-US" sz="1150" dirty="0"/>
          </a:p>
        </p:txBody>
      </p:sp>
      <p:sp>
        <p:nvSpPr>
          <p:cNvPr id="67" name="Text 64"/>
          <p:cNvSpPr/>
          <p:nvPr/>
        </p:nvSpPr>
        <p:spPr>
          <a:xfrm>
            <a:off x="548640" y="598932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No locks, no coordination, no transactor — slicing a read is a purely peer-local decision.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26</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There is a floor: re-cutting the same 100,000 readings</a:t>
            </a:r>
            <a:endParaRPr lang="en-US" sz="2500" dirty="0"/>
          </a:p>
        </p:txBody>
      </p:sp>
      <p:sp>
        <p:nvSpPr>
          <p:cNvPr id="8" name="Text 5"/>
          <p:cNvSpPr/>
          <p:nvPr/>
        </p:nvSpPr>
        <p:spPr>
          <a:xfrm>
            <a:off x="548640" y="1463040"/>
            <a:ext cx="2011680" cy="566928"/>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8 slices</a:t>
            </a:r>
            <a:endParaRPr lang="en-US" sz="1250" dirty="0"/>
          </a:p>
        </p:txBody>
      </p:sp>
      <p:sp>
        <p:nvSpPr>
          <p:cNvPr id="9" name="Shape 6"/>
          <p:cNvSpPr/>
          <p:nvPr/>
        </p:nvSpPr>
        <p:spPr>
          <a:xfrm>
            <a:off x="2743200" y="1517904"/>
            <a:ext cx="6400800" cy="457200"/>
          </a:xfrm>
          <a:prstGeom prst="rect">
            <a:avLst/>
          </a:prstGeom>
          <a:solidFill>
            <a:srgbClr val="E6DFCE"/>
          </a:solidFill>
          <a:ln/>
        </p:spPr>
      </p:sp>
      <p:sp>
        <p:nvSpPr>
          <p:cNvPr id="10" name="Shape 7"/>
          <p:cNvSpPr/>
          <p:nvPr/>
        </p:nvSpPr>
        <p:spPr>
          <a:xfrm>
            <a:off x="2743200" y="1517904"/>
            <a:ext cx="2007265" cy="457200"/>
          </a:xfrm>
          <a:prstGeom prst="rect">
            <a:avLst/>
          </a:prstGeom>
          <a:solidFill>
            <a:srgbClr val="3F6470"/>
          </a:solidFill>
          <a:ln/>
        </p:spPr>
      </p:sp>
      <p:sp>
        <p:nvSpPr>
          <p:cNvPr id="11" name="Text 8"/>
          <p:cNvSpPr/>
          <p:nvPr/>
        </p:nvSpPr>
        <p:spPr>
          <a:xfrm>
            <a:off x="9235440" y="1463040"/>
            <a:ext cx="1371600" cy="566928"/>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24.68 ms</a:t>
            </a:r>
            <a:endParaRPr lang="en-US" sz="1250" dirty="0"/>
          </a:p>
        </p:txBody>
      </p:sp>
      <p:sp>
        <p:nvSpPr>
          <p:cNvPr id="12" name="Text 9"/>
          <p:cNvSpPr/>
          <p:nvPr/>
        </p:nvSpPr>
        <p:spPr>
          <a:xfrm>
            <a:off x="548640" y="2231136"/>
            <a:ext cx="2011680" cy="566928"/>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100 slices</a:t>
            </a:r>
            <a:endParaRPr lang="en-US" sz="1250" dirty="0"/>
          </a:p>
        </p:txBody>
      </p:sp>
      <p:sp>
        <p:nvSpPr>
          <p:cNvPr id="13" name="Shape 10"/>
          <p:cNvSpPr/>
          <p:nvPr/>
        </p:nvSpPr>
        <p:spPr>
          <a:xfrm>
            <a:off x="2743200" y="2286000"/>
            <a:ext cx="6400800" cy="457200"/>
          </a:xfrm>
          <a:prstGeom prst="rect">
            <a:avLst/>
          </a:prstGeom>
          <a:solidFill>
            <a:srgbClr val="E6DFCE"/>
          </a:solidFill>
          <a:ln/>
        </p:spPr>
      </p:sp>
      <p:sp>
        <p:nvSpPr>
          <p:cNvPr id="14" name="Shape 11"/>
          <p:cNvSpPr/>
          <p:nvPr/>
        </p:nvSpPr>
        <p:spPr>
          <a:xfrm>
            <a:off x="2743200" y="2286000"/>
            <a:ext cx="2246380" cy="457200"/>
          </a:xfrm>
          <a:prstGeom prst="rect">
            <a:avLst/>
          </a:prstGeom>
          <a:solidFill>
            <a:srgbClr val="3F6470"/>
          </a:solidFill>
          <a:ln/>
        </p:spPr>
      </p:sp>
      <p:sp>
        <p:nvSpPr>
          <p:cNvPr id="15" name="Text 12"/>
          <p:cNvSpPr/>
          <p:nvPr/>
        </p:nvSpPr>
        <p:spPr>
          <a:xfrm>
            <a:off x="9235440" y="2231136"/>
            <a:ext cx="1371600" cy="566928"/>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27.62 ms</a:t>
            </a:r>
            <a:endParaRPr lang="en-US" sz="1250" dirty="0"/>
          </a:p>
        </p:txBody>
      </p:sp>
      <p:sp>
        <p:nvSpPr>
          <p:cNvPr id="16" name="Text 13"/>
          <p:cNvSpPr/>
          <p:nvPr/>
        </p:nvSpPr>
        <p:spPr>
          <a:xfrm>
            <a:off x="548640" y="2999232"/>
            <a:ext cx="2011680" cy="566928"/>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1000 slices</a:t>
            </a:r>
            <a:endParaRPr lang="en-US" sz="1250" dirty="0"/>
          </a:p>
        </p:txBody>
      </p:sp>
      <p:sp>
        <p:nvSpPr>
          <p:cNvPr id="17" name="Shape 14"/>
          <p:cNvSpPr/>
          <p:nvPr/>
        </p:nvSpPr>
        <p:spPr>
          <a:xfrm>
            <a:off x="2743200" y="3054096"/>
            <a:ext cx="6400800" cy="457200"/>
          </a:xfrm>
          <a:prstGeom prst="rect">
            <a:avLst/>
          </a:prstGeom>
          <a:solidFill>
            <a:srgbClr val="E6DFCE"/>
          </a:solidFill>
          <a:ln/>
        </p:spPr>
      </p:sp>
      <p:sp>
        <p:nvSpPr>
          <p:cNvPr id="18" name="Shape 15"/>
          <p:cNvSpPr/>
          <p:nvPr/>
        </p:nvSpPr>
        <p:spPr>
          <a:xfrm>
            <a:off x="2743200" y="3054096"/>
            <a:ext cx="2449709" cy="457200"/>
          </a:xfrm>
          <a:prstGeom prst="rect">
            <a:avLst/>
          </a:prstGeom>
          <a:solidFill>
            <a:srgbClr val="B5822B"/>
          </a:solidFill>
          <a:ln/>
        </p:spPr>
      </p:sp>
      <p:sp>
        <p:nvSpPr>
          <p:cNvPr id="19" name="Text 16"/>
          <p:cNvSpPr/>
          <p:nvPr/>
        </p:nvSpPr>
        <p:spPr>
          <a:xfrm>
            <a:off x="9235440" y="2999232"/>
            <a:ext cx="1371600" cy="566928"/>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30.12 ms</a:t>
            </a:r>
            <a:endParaRPr lang="en-US" sz="1250" dirty="0"/>
          </a:p>
        </p:txBody>
      </p:sp>
      <p:sp>
        <p:nvSpPr>
          <p:cNvPr id="20" name="Text 17"/>
          <p:cNvSpPr/>
          <p:nvPr/>
        </p:nvSpPr>
        <p:spPr>
          <a:xfrm>
            <a:off x="548640" y="3767328"/>
            <a:ext cx="2011680" cy="566928"/>
          </a:xfrm>
          <a:prstGeom prst="rect">
            <a:avLst/>
          </a:prstGeom>
          <a:noFill/>
          <a:ln/>
        </p:spPr>
        <p:txBody>
          <a:bodyPr wrap="square" lIns="0" tIns="0" rIns="0" bIns="0" rtlCol="0" anchor="ctr">
            <a:normAutofit/>
          </a:bodyPr>
          <a:lstStyle/>
          <a:p>
            <a:pPr algn="r" indent="0" marL="0">
              <a:buNone/>
            </a:pPr>
            <a:r>
              <a:rPr lang="en-US" sz="1250" dirty="0">
                <a:solidFill>
                  <a:srgbClr val="3A2C1A"/>
                </a:solidFill>
                <a:latin typeface="Helvetica Neue" pitchFamily="34" charset="0"/>
                <a:ea typeface="Helvetica Neue" pitchFamily="34" charset="-122"/>
                <a:cs typeface="Helvetica Neue" pitchFamily="34" charset="-120"/>
              </a:rPr>
              <a:t>10000 slices</a:t>
            </a:r>
            <a:endParaRPr lang="en-US" sz="1250" dirty="0"/>
          </a:p>
        </p:txBody>
      </p:sp>
      <p:sp>
        <p:nvSpPr>
          <p:cNvPr id="21" name="Shape 18"/>
          <p:cNvSpPr/>
          <p:nvPr/>
        </p:nvSpPr>
        <p:spPr>
          <a:xfrm>
            <a:off x="2743200" y="3822192"/>
            <a:ext cx="6400800" cy="457200"/>
          </a:xfrm>
          <a:prstGeom prst="rect">
            <a:avLst/>
          </a:prstGeom>
          <a:solidFill>
            <a:srgbClr val="E6DFCE"/>
          </a:solidFill>
          <a:ln/>
        </p:spPr>
      </p:sp>
      <p:sp>
        <p:nvSpPr>
          <p:cNvPr id="22" name="Shape 19"/>
          <p:cNvSpPr/>
          <p:nvPr/>
        </p:nvSpPr>
        <p:spPr>
          <a:xfrm>
            <a:off x="2743200" y="3822192"/>
            <a:ext cx="4425254" cy="457200"/>
          </a:xfrm>
          <a:prstGeom prst="rect">
            <a:avLst/>
          </a:prstGeom>
          <a:solidFill>
            <a:srgbClr val="9E4227"/>
          </a:solidFill>
          <a:ln/>
        </p:spPr>
      </p:sp>
      <p:sp>
        <p:nvSpPr>
          <p:cNvPr id="23" name="Text 20"/>
          <p:cNvSpPr/>
          <p:nvPr/>
        </p:nvSpPr>
        <p:spPr>
          <a:xfrm>
            <a:off x="9235440" y="3767328"/>
            <a:ext cx="1371600" cy="566928"/>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Courier New" pitchFamily="34" charset="0"/>
                <a:ea typeface="Courier New" pitchFamily="34" charset="-122"/>
                <a:cs typeface="Courier New" pitchFamily="34" charset="-120"/>
              </a:rPr>
              <a:t>54.41 ms</a:t>
            </a:r>
            <a:endParaRPr lang="en-US" sz="1250" dirty="0"/>
          </a:p>
        </p:txBody>
      </p:sp>
      <p:sp>
        <p:nvSpPr>
          <p:cNvPr id="24" name="Shape 21"/>
          <p:cNvSpPr/>
          <p:nvPr/>
        </p:nvSpPr>
        <p:spPr>
          <a:xfrm>
            <a:off x="9125712" y="1371600"/>
            <a:ext cx="36576" cy="3200400"/>
          </a:xfrm>
          <a:prstGeom prst="rect">
            <a:avLst/>
          </a:prstGeom>
          <a:solidFill>
            <a:srgbClr val="9E4227"/>
          </a:solidFill>
          <a:ln/>
        </p:spPr>
      </p:sp>
      <p:sp>
        <p:nvSpPr>
          <p:cNvPr id="25" name="Text 22"/>
          <p:cNvSpPr/>
          <p:nvPr/>
        </p:nvSpPr>
        <p:spPr>
          <a:xfrm>
            <a:off x="6126480" y="4617720"/>
            <a:ext cx="3108960" cy="320040"/>
          </a:xfrm>
          <a:prstGeom prst="rect">
            <a:avLst/>
          </a:prstGeom>
          <a:noFill/>
          <a:ln/>
        </p:spPr>
        <p:txBody>
          <a:bodyPr wrap="square" lIns="0" tIns="0" rIns="0" bIns="0" rtlCol="0" anchor="t"/>
          <a:lstStyle/>
          <a:p>
            <a:pPr algn="r" indent="0" marL="0">
              <a:buNone/>
            </a:pPr>
            <a:r>
              <a:rPr lang="en-US" sz="1200" b="1" dirty="0">
                <a:solidFill>
                  <a:srgbClr val="9E4227"/>
                </a:solidFill>
                <a:latin typeface="Helvetica Neue" pitchFamily="34" charset="0"/>
                <a:ea typeface="Helvetica Neue" pitchFamily="34" charset="-122"/>
                <a:cs typeface="Helvetica Neue" pitchFamily="34" charset="-120"/>
              </a:rPr>
              <a:t>serial baseline  78.70 ms</a:t>
            </a:r>
            <a:endParaRPr lang="en-US" sz="1200" dirty="0"/>
          </a:p>
        </p:txBody>
      </p:sp>
      <p:sp>
        <p:nvSpPr>
          <p:cNvPr id="26" name="Shape 23"/>
          <p:cNvSpPr/>
          <p:nvPr/>
        </p:nvSpPr>
        <p:spPr>
          <a:xfrm>
            <a:off x="548640" y="5029200"/>
            <a:ext cx="5349240" cy="868680"/>
          </a:xfrm>
          <a:prstGeom prst="roundRect">
            <a:avLst>
              <a:gd name="adj" fmla="val 8421"/>
            </a:avLst>
          </a:prstGeom>
          <a:solidFill>
            <a:srgbClr val="DDE3CC"/>
          </a:solidFill>
          <a:ln/>
        </p:spPr>
      </p:sp>
      <p:sp>
        <p:nvSpPr>
          <p:cNvPr id="27" name="Text 24"/>
          <p:cNvSpPr/>
          <p:nvPr/>
        </p:nvSpPr>
        <p:spPr>
          <a:xfrm>
            <a:off x="777240" y="5138928"/>
            <a:ext cx="493776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8 → 1000 slices costs ~22%</a:t>
            </a:r>
            <a:endParaRPr lang="en-US" sz="1400" dirty="0"/>
          </a:p>
        </p:txBody>
      </p:sp>
      <p:sp>
        <p:nvSpPr>
          <p:cNvPr id="28" name="Text 25"/>
          <p:cNvSpPr/>
          <p:nvPr/>
        </p:nvSpPr>
        <p:spPr>
          <a:xfrm>
            <a:off x="777240" y="5468112"/>
            <a:ext cx="4937760" cy="32004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a forgiving curve — no optimum to hunt for</a:t>
            </a:r>
            <a:endParaRPr lang="en-US" sz="1250" dirty="0"/>
          </a:p>
        </p:txBody>
      </p:sp>
      <p:sp>
        <p:nvSpPr>
          <p:cNvPr id="29" name="Shape 26"/>
          <p:cNvSpPr/>
          <p:nvPr/>
        </p:nvSpPr>
        <p:spPr>
          <a:xfrm>
            <a:off x="6263640" y="5029200"/>
            <a:ext cx="5349240" cy="868680"/>
          </a:xfrm>
          <a:prstGeom prst="roundRect">
            <a:avLst>
              <a:gd name="adj" fmla="val 8421"/>
            </a:avLst>
          </a:prstGeom>
          <a:solidFill>
            <a:srgbClr val="EDE0C4"/>
          </a:solidFill>
          <a:ln/>
        </p:spPr>
      </p:sp>
      <p:sp>
        <p:nvSpPr>
          <p:cNvPr id="30" name="Text 27"/>
          <p:cNvSpPr/>
          <p:nvPr/>
        </p:nvSpPr>
        <p:spPr>
          <a:xfrm>
            <a:off x="6492240" y="5138928"/>
            <a:ext cx="493776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even 10,000 slices beats serial</a:t>
            </a:r>
            <a:endParaRPr lang="en-US" sz="1400" dirty="0"/>
          </a:p>
        </p:txBody>
      </p:sp>
      <p:sp>
        <p:nvSpPr>
          <p:cNvPr id="31" name="Text 28"/>
          <p:cNvSpPr/>
          <p:nvPr/>
        </p:nvSpPr>
        <p:spPr>
          <a:xfrm>
            <a:off x="6492240" y="5468112"/>
            <a:ext cx="4937760" cy="32004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over-slicing degrades gradually</a:t>
            </a:r>
            <a:endParaRPr lang="en-US" sz="1250" dirty="0"/>
          </a:p>
        </p:txBody>
      </p:sp>
      <p:sp>
        <p:nvSpPr>
          <p:cNvPr id="32" name="Text 29"/>
          <p:cNvSpPr/>
          <p:nvPr/>
        </p:nvSpPr>
        <p:spPr>
          <a:xfrm>
            <a:off x="548640" y="603504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Slice to about the core count, or a small multiple of it.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27</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Parallel what-ifs: d/with branches a value</a:t>
            </a:r>
            <a:endParaRPr lang="en-US" sz="2500" dirty="0"/>
          </a:p>
        </p:txBody>
      </p:sp>
      <p:sp>
        <p:nvSpPr>
          <p:cNvPr id="8" name="Shape 5"/>
          <p:cNvSpPr/>
          <p:nvPr/>
        </p:nvSpPr>
        <p:spPr>
          <a:xfrm>
            <a:off x="548640" y="1371600"/>
            <a:ext cx="2377440" cy="914400"/>
          </a:xfrm>
          <a:prstGeom prst="roundRect">
            <a:avLst>
              <a:gd name="adj" fmla="val 6000"/>
            </a:avLst>
          </a:prstGeom>
          <a:solidFill>
            <a:srgbClr val="2C2416"/>
          </a:solidFill>
          <a:ln/>
        </p:spPr>
      </p:sp>
      <p:sp>
        <p:nvSpPr>
          <p:cNvPr id="9" name="Text 6"/>
          <p:cNvSpPr/>
          <p:nvPr/>
        </p:nvSpPr>
        <p:spPr>
          <a:xfrm>
            <a:off x="621792" y="1517904"/>
            <a:ext cx="2231136" cy="310896"/>
          </a:xfrm>
          <a:prstGeom prst="rect">
            <a:avLst/>
          </a:prstGeom>
          <a:noFill/>
          <a:ln/>
        </p:spPr>
        <p:txBody>
          <a:bodyPr wrap="square" lIns="0" tIns="0" rIns="0" bIns="0" rtlCol="0" anchor="b">
            <a:normAutofit/>
          </a:bodyPr>
          <a:lstStyle/>
          <a:p>
            <a:pPr algn="ctr" indent="0" marL="0">
              <a:buNone/>
            </a:pPr>
            <a:r>
              <a:rPr lang="en-US" sz="1800" b="1" dirty="0">
                <a:solidFill>
                  <a:srgbClr val="FCFAF4"/>
                </a:solidFill>
                <a:latin typeface="Helvetica Neue" pitchFamily="34" charset="0"/>
                <a:ea typeface="Helvetica Neue" pitchFamily="34" charset="-122"/>
                <a:cs typeface="Helvetica Neue" pitchFamily="34" charset="-120"/>
              </a:rPr>
              <a:t>db</a:t>
            </a:r>
            <a:endParaRPr lang="en-US" sz="1800" dirty="0"/>
          </a:p>
        </p:txBody>
      </p:sp>
      <p:sp>
        <p:nvSpPr>
          <p:cNvPr id="10" name="Text 7"/>
          <p:cNvSpPr/>
          <p:nvPr/>
        </p:nvSpPr>
        <p:spPr>
          <a:xfrm>
            <a:off x="621792" y="1810512"/>
            <a:ext cx="2231136" cy="384048"/>
          </a:xfrm>
          <a:prstGeom prst="rect">
            <a:avLst/>
          </a:prstGeom>
          <a:noFill/>
          <a:ln/>
        </p:spPr>
        <p:txBody>
          <a:bodyPr wrap="square" lIns="0" tIns="0" rIns="0" bIns="0" rtlCol="0" anchor="t">
            <a:normAutofit/>
          </a:bodyPr>
          <a:lstStyle/>
          <a:p>
            <a:pPr algn="ctr" indent="0" marL="0">
              <a:buNone/>
            </a:pPr>
            <a:r>
              <a:rPr lang="en-US" sz="1100" dirty="0">
                <a:solidFill>
                  <a:srgbClr val="C9BDA4"/>
                </a:solidFill>
                <a:latin typeface="Helvetica Neue" pitchFamily="34" charset="0"/>
                <a:ea typeface="Helvetica Neue" pitchFamily="34" charset="-122"/>
                <a:cs typeface="Helvetica Neue" pitchFamily="34" charset="-120"/>
              </a:rPr>
              <a:t>the base value</a:t>
            </a:r>
            <a:endParaRPr lang="en-US" sz="1100" dirty="0"/>
          </a:p>
        </p:txBody>
      </p:sp>
      <p:sp>
        <p:nvSpPr>
          <p:cNvPr id="11" name="Shape 8"/>
          <p:cNvSpPr/>
          <p:nvPr/>
        </p:nvSpPr>
        <p:spPr>
          <a:xfrm flipV="1">
            <a:off x="2926080" y="1645920"/>
            <a:ext cx="1280160" cy="182880"/>
          </a:xfrm>
          <a:prstGeom prst="line">
            <a:avLst/>
          </a:prstGeom>
          <a:noFill/>
          <a:ln w="19050">
            <a:solidFill>
              <a:srgbClr val="A8864A"/>
            </a:solidFill>
            <a:prstDash val="solid"/>
            <a:headEnd type="none"/>
            <a:tailEnd type="triangle"/>
          </a:ln>
        </p:spPr>
      </p:sp>
      <p:sp>
        <p:nvSpPr>
          <p:cNvPr id="12" name="Shape 9"/>
          <p:cNvSpPr/>
          <p:nvPr/>
        </p:nvSpPr>
        <p:spPr>
          <a:xfrm>
            <a:off x="4206240" y="1325880"/>
            <a:ext cx="3108960" cy="640080"/>
          </a:xfrm>
          <a:prstGeom prst="roundRect">
            <a:avLst>
              <a:gd name="adj" fmla="val 8571"/>
            </a:avLst>
          </a:prstGeom>
          <a:solidFill>
            <a:srgbClr val="E6DFCE"/>
          </a:solidFill>
          <a:ln w="15875">
            <a:solidFill>
              <a:srgbClr val="C9BDA4"/>
            </a:solidFill>
            <a:prstDash val="solid"/>
          </a:ln>
        </p:spPr>
      </p:sp>
      <p:sp>
        <p:nvSpPr>
          <p:cNvPr id="13" name="Text 10"/>
          <p:cNvSpPr/>
          <p:nvPr/>
        </p:nvSpPr>
        <p:spPr>
          <a:xfrm>
            <a:off x="4279392" y="1325880"/>
            <a:ext cx="296265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d/with scenario A</a:t>
            </a:r>
            <a:endParaRPr lang="en-US" sz="1250" dirty="0"/>
          </a:p>
        </p:txBody>
      </p:sp>
      <p:sp>
        <p:nvSpPr>
          <p:cNvPr id="14" name="Shape 11"/>
          <p:cNvSpPr/>
          <p:nvPr/>
        </p:nvSpPr>
        <p:spPr>
          <a:xfrm>
            <a:off x="7680960" y="1325880"/>
            <a:ext cx="3931920" cy="640080"/>
          </a:xfrm>
          <a:prstGeom prst="roundRect">
            <a:avLst>
              <a:gd name="adj" fmla="val 8571"/>
            </a:avLst>
          </a:prstGeom>
          <a:solidFill>
            <a:srgbClr val="D3DEE1"/>
          </a:solidFill>
          <a:ln w="15875">
            <a:solidFill>
              <a:srgbClr val="3F6470"/>
            </a:solidFill>
            <a:prstDash val="solid"/>
          </a:ln>
        </p:spPr>
      </p:sp>
      <p:sp>
        <p:nvSpPr>
          <p:cNvPr id="15" name="Text 12"/>
          <p:cNvSpPr/>
          <p:nvPr/>
        </p:nvSpPr>
        <p:spPr>
          <a:xfrm>
            <a:off x="7754112" y="1325880"/>
            <a:ext cx="378561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Courier New" pitchFamily="34" charset="0"/>
                <a:ea typeface="Courier New" pitchFamily="34" charset="-122"/>
                <a:cs typeface="Courier New" pitchFamily="34" charset="-120"/>
              </a:rPr>
              <a:t>→ [[105005]]</a:t>
            </a:r>
            <a:endParaRPr lang="en-US" sz="1250" dirty="0"/>
          </a:p>
        </p:txBody>
      </p:sp>
      <p:sp>
        <p:nvSpPr>
          <p:cNvPr id="16" name="Shape 13"/>
          <p:cNvSpPr/>
          <p:nvPr/>
        </p:nvSpPr>
        <p:spPr>
          <a:xfrm>
            <a:off x="2926080" y="1828800"/>
            <a:ext cx="1280160" cy="777240"/>
          </a:xfrm>
          <a:prstGeom prst="line">
            <a:avLst/>
          </a:prstGeom>
          <a:noFill/>
          <a:ln w="19050">
            <a:solidFill>
              <a:srgbClr val="A8864A"/>
            </a:solidFill>
            <a:prstDash val="solid"/>
            <a:headEnd type="none"/>
            <a:tailEnd type="triangle"/>
          </a:ln>
        </p:spPr>
      </p:sp>
      <p:sp>
        <p:nvSpPr>
          <p:cNvPr id="17" name="Shape 14"/>
          <p:cNvSpPr/>
          <p:nvPr/>
        </p:nvSpPr>
        <p:spPr>
          <a:xfrm>
            <a:off x="4206240" y="2286000"/>
            <a:ext cx="3108960" cy="640080"/>
          </a:xfrm>
          <a:prstGeom prst="roundRect">
            <a:avLst>
              <a:gd name="adj" fmla="val 8571"/>
            </a:avLst>
          </a:prstGeom>
          <a:solidFill>
            <a:srgbClr val="E6DFCE"/>
          </a:solidFill>
          <a:ln w="15875">
            <a:solidFill>
              <a:srgbClr val="C9BDA4"/>
            </a:solidFill>
            <a:prstDash val="solid"/>
          </a:ln>
        </p:spPr>
      </p:sp>
      <p:sp>
        <p:nvSpPr>
          <p:cNvPr id="18" name="Text 15"/>
          <p:cNvSpPr/>
          <p:nvPr/>
        </p:nvSpPr>
        <p:spPr>
          <a:xfrm>
            <a:off x="4279392" y="2286000"/>
            <a:ext cx="296265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d/with scenario B</a:t>
            </a:r>
            <a:endParaRPr lang="en-US" sz="1250" dirty="0"/>
          </a:p>
        </p:txBody>
      </p:sp>
      <p:sp>
        <p:nvSpPr>
          <p:cNvPr id="19" name="Shape 16"/>
          <p:cNvSpPr/>
          <p:nvPr/>
        </p:nvSpPr>
        <p:spPr>
          <a:xfrm>
            <a:off x="7680960" y="2286000"/>
            <a:ext cx="3931920" cy="640080"/>
          </a:xfrm>
          <a:prstGeom prst="roundRect">
            <a:avLst>
              <a:gd name="adj" fmla="val 8571"/>
            </a:avLst>
          </a:prstGeom>
          <a:solidFill>
            <a:srgbClr val="D3DEE1"/>
          </a:solidFill>
          <a:ln w="15875">
            <a:solidFill>
              <a:srgbClr val="3F6470"/>
            </a:solidFill>
            <a:prstDash val="solid"/>
          </a:ln>
        </p:spPr>
      </p:sp>
      <p:sp>
        <p:nvSpPr>
          <p:cNvPr id="20" name="Text 17"/>
          <p:cNvSpPr/>
          <p:nvPr/>
        </p:nvSpPr>
        <p:spPr>
          <a:xfrm>
            <a:off x="7754112" y="2286000"/>
            <a:ext cx="378561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Courier New" pitchFamily="34" charset="0"/>
                <a:ea typeface="Courier New" pitchFamily="34" charset="-122"/>
                <a:cs typeface="Courier New" pitchFamily="34" charset="-120"/>
              </a:rPr>
              <a:t>→ [[105005]]</a:t>
            </a:r>
            <a:endParaRPr lang="en-US" sz="1250" dirty="0"/>
          </a:p>
        </p:txBody>
      </p:sp>
      <p:sp>
        <p:nvSpPr>
          <p:cNvPr id="21" name="Shape 18"/>
          <p:cNvSpPr/>
          <p:nvPr/>
        </p:nvSpPr>
        <p:spPr>
          <a:xfrm>
            <a:off x="2926080" y="1828800"/>
            <a:ext cx="1280160" cy="1737360"/>
          </a:xfrm>
          <a:prstGeom prst="line">
            <a:avLst/>
          </a:prstGeom>
          <a:noFill/>
          <a:ln w="19050">
            <a:solidFill>
              <a:srgbClr val="A8864A"/>
            </a:solidFill>
            <a:prstDash val="solid"/>
            <a:headEnd type="none"/>
            <a:tailEnd type="triangle"/>
          </a:ln>
        </p:spPr>
      </p:sp>
      <p:sp>
        <p:nvSpPr>
          <p:cNvPr id="22" name="Shape 19"/>
          <p:cNvSpPr/>
          <p:nvPr/>
        </p:nvSpPr>
        <p:spPr>
          <a:xfrm>
            <a:off x="4206240" y="3246120"/>
            <a:ext cx="3108960" cy="640080"/>
          </a:xfrm>
          <a:prstGeom prst="roundRect">
            <a:avLst>
              <a:gd name="adj" fmla="val 8571"/>
            </a:avLst>
          </a:prstGeom>
          <a:solidFill>
            <a:srgbClr val="E6DFCE"/>
          </a:solidFill>
          <a:ln w="15875">
            <a:solidFill>
              <a:srgbClr val="C9BDA4"/>
            </a:solidFill>
            <a:prstDash val="solid"/>
          </a:ln>
        </p:spPr>
      </p:sp>
      <p:sp>
        <p:nvSpPr>
          <p:cNvPr id="23" name="Text 20"/>
          <p:cNvSpPr/>
          <p:nvPr/>
        </p:nvSpPr>
        <p:spPr>
          <a:xfrm>
            <a:off x="4279392" y="3246120"/>
            <a:ext cx="296265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Helvetica Neue" pitchFamily="34" charset="0"/>
                <a:ea typeface="Helvetica Neue" pitchFamily="34" charset="-122"/>
                <a:cs typeface="Helvetica Neue" pitchFamily="34" charset="-120"/>
              </a:rPr>
              <a:t>d/with scenario C</a:t>
            </a:r>
            <a:endParaRPr lang="en-US" sz="1250" dirty="0"/>
          </a:p>
        </p:txBody>
      </p:sp>
      <p:sp>
        <p:nvSpPr>
          <p:cNvPr id="24" name="Shape 21"/>
          <p:cNvSpPr/>
          <p:nvPr/>
        </p:nvSpPr>
        <p:spPr>
          <a:xfrm>
            <a:off x="7680960" y="3246120"/>
            <a:ext cx="3931920" cy="640080"/>
          </a:xfrm>
          <a:prstGeom prst="roundRect">
            <a:avLst>
              <a:gd name="adj" fmla="val 8571"/>
            </a:avLst>
          </a:prstGeom>
          <a:solidFill>
            <a:srgbClr val="D3DEE1"/>
          </a:solidFill>
          <a:ln w="15875">
            <a:solidFill>
              <a:srgbClr val="3F6470"/>
            </a:solidFill>
            <a:prstDash val="solid"/>
          </a:ln>
        </p:spPr>
      </p:sp>
      <p:sp>
        <p:nvSpPr>
          <p:cNvPr id="25" name="Text 22"/>
          <p:cNvSpPr/>
          <p:nvPr/>
        </p:nvSpPr>
        <p:spPr>
          <a:xfrm>
            <a:off x="7754112" y="3246120"/>
            <a:ext cx="3785616" cy="640080"/>
          </a:xfrm>
          <a:prstGeom prst="rect">
            <a:avLst/>
          </a:prstGeom>
          <a:noFill/>
          <a:ln/>
        </p:spPr>
        <p:txBody>
          <a:bodyPr wrap="square" lIns="0" tIns="0" rIns="0" bIns="0" rtlCol="0" anchor="ctr">
            <a:normAutofit/>
          </a:bodyPr>
          <a:lstStyle/>
          <a:p>
            <a:pPr algn="ctr" indent="0" marL="0">
              <a:buNone/>
            </a:pPr>
            <a:r>
              <a:rPr lang="en-US" sz="1250" b="1" dirty="0">
                <a:solidFill>
                  <a:srgbClr val="3A2C1A"/>
                </a:solidFill>
                <a:latin typeface="Courier New" pitchFamily="34" charset="0"/>
                <a:ea typeface="Courier New" pitchFamily="34" charset="-122"/>
                <a:cs typeface="Courier New" pitchFamily="34" charset="-120"/>
              </a:rPr>
              <a:t>→ [[105005]]</a:t>
            </a:r>
            <a:endParaRPr lang="en-US" sz="1250" dirty="0"/>
          </a:p>
        </p:txBody>
      </p:sp>
      <p:sp>
        <p:nvSpPr>
          <p:cNvPr id="26" name="Text 23"/>
          <p:cNvSpPr/>
          <p:nvPr/>
        </p:nvSpPr>
        <p:spPr>
          <a:xfrm>
            <a:off x="4206240" y="4160520"/>
            <a:ext cx="7406640" cy="274320"/>
          </a:xfrm>
          <a:prstGeom prst="rect">
            <a:avLst/>
          </a:prstGeom>
          <a:noFill/>
          <a:ln/>
        </p:spPr>
        <p:txBody>
          <a:bodyPr wrap="square" lIns="0" tIns="0" rIns="0" bIns="0" rtlCol="0" anchor="t"/>
          <a:lstStyle/>
          <a:p>
            <a:pPr algn="ctr" indent="0" marL="0">
              <a:buNone/>
            </a:pPr>
            <a:r>
              <a:rPr lang="en-US" sz="1250" i="1" dirty="0">
                <a:solidFill>
                  <a:srgbClr val="3F6470"/>
                </a:solidFill>
                <a:latin typeface="Helvetica Neue" pitchFamily="34" charset="0"/>
                <a:ea typeface="Helvetica Neue" pitchFamily="34" charset="-122"/>
                <a:cs typeface="Helvetica Neue" pitchFamily="34" charset="-120"/>
              </a:rPr>
              <a:t>no transactor · nothing durable · nothing shared</a:t>
            </a:r>
            <a:endParaRPr lang="en-US" sz="1250" dirty="0"/>
          </a:p>
        </p:txBody>
      </p:sp>
      <p:sp>
        <p:nvSpPr>
          <p:cNvPr id="27" name="Shape 24"/>
          <p:cNvSpPr/>
          <p:nvPr/>
        </p:nvSpPr>
        <p:spPr>
          <a:xfrm>
            <a:off x="548640" y="4572000"/>
            <a:ext cx="7315200" cy="1508760"/>
          </a:xfrm>
          <a:prstGeom prst="roundRect">
            <a:avLst>
              <a:gd name="adj" fmla="val 4848"/>
            </a:avLst>
          </a:prstGeom>
          <a:solidFill>
            <a:srgbClr val="E6DFCE"/>
          </a:solidFill>
          <a:ln/>
        </p:spPr>
      </p:sp>
      <p:sp>
        <p:nvSpPr>
          <p:cNvPr id="28" name="Text 25"/>
          <p:cNvSpPr/>
          <p:nvPr/>
        </p:nvSpPr>
        <p:spPr>
          <a:xfrm>
            <a:off x="749808" y="4718304"/>
            <a:ext cx="6912864" cy="121615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(doall (pmap #(d/q all-readings (:db-after (d/with db %))) scenarios))</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=&gt; ([[105005]] [[105005]] [[105005]])</a:t>
            </a:r>
            <a:endParaRPr lang="en-US" sz="1250" dirty="0"/>
          </a:p>
          <a:p>
            <a:pPr indent="0" marL="0">
              <a:buNone/>
            </a:pP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(d/q all-readings db)</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=&gt; [[105000]]          the base db is unchanged</a:t>
            </a:r>
            <a:endParaRPr lang="en-US" sz="1250" dirty="0"/>
          </a:p>
        </p:txBody>
      </p:sp>
      <p:sp>
        <p:nvSpPr>
          <p:cNvPr id="29" name="Shape 26"/>
          <p:cNvSpPr/>
          <p:nvPr/>
        </p:nvSpPr>
        <p:spPr>
          <a:xfrm>
            <a:off x="8138160" y="4572000"/>
            <a:ext cx="3474720" cy="1508760"/>
          </a:xfrm>
          <a:prstGeom prst="roundRect">
            <a:avLst>
              <a:gd name="adj" fmla="val 4848"/>
            </a:avLst>
          </a:prstGeom>
          <a:solidFill>
            <a:srgbClr val="E6DFCE"/>
          </a:solidFill>
          <a:ln/>
        </p:spPr>
      </p:sp>
      <p:sp>
        <p:nvSpPr>
          <p:cNvPr id="30" name="Text 27"/>
          <p:cNvSpPr/>
          <p:nvPr/>
        </p:nvSpPr>
        <p:spPr>
          <a:xfrm>
            <a:off x="8366760" y="4709160"/>
            <a:ext cx="3017520" cy="274320"/>
          </a:xfrm>
          <a:prstGeom prst="rect">
            <a:avLst/>
          </a:prstGeom>
          <a:noFill/>
          <a:ln/>
        </p:spPr>
        <p:txBody>
          <a:bodyPr wrap="square" lIns="0" tIns="0" rIns="0" bIns="0" rtlCol="0" anchor="t"/>
          <a:lstStyle/>
          <a:p>
            <a:pPr indent="0" marL="0">
              <a:buNone/>
            </a:pPr>
            <a:r>
              <a:rPr lang="en-US" sz="1100" b="1" spc="150" kern="0" dirty="0">
                <a:solidFill>
                  <a:srgbClr val="A8864A"/>
                </a:solidFill>
                <a:latin typeface="Helvetica Neue" pitchFamily="34" charset="0"/>
                <a:ea typeface="Helvetica Neue" pitchFamily="34" charset="-122"/>
                <a:cs typeface="Helvetica Neue" pitchFamily="34" charset="-120"/>
              </a:rPr>
              <a:t>USE FOR</a:t>
            </a:r>
            <a:endParaRPr lang="en-US" sz="1100" dirty="0"/>
          </a:p>
        </p:txBody>
      </p:sp>
      <p:sp>
        <p:nvSpPr>
          <p:cNvPr id="31" name="Text 28"/>
          <p:cNvSpPr/>
          <p:nvPr/>
        </p:nvSpPr>
        <p:spPr>
          <a:xfrm>
            <a:off x="8366760" y="5029200"/>
            <a:ext cx="3017520" cy="960120"/>
          </a:xfrm>
          <a:prstGeom prst="rect">
            <a:avLst/>
          </a:prstGeom>
          <a:noFill/>
          <a:ln/>
        </p:spPr>
        <p:txBody>
          <a:bodyPr wrap="square" lIns="0" tIns="0" rIns="0" bIns="0" rtlCol="0" anchor="t">
            <a:normAutofit/>
          </a:bodyPr>
          <a:lstStyle/>
          <a:p>
            <a:pPr marL="342900" indent="-342900">
              <a:spcAft>
                <a:spcPts val="400"/>
              </a:spcAft>
              <a:buSzPct val="100000"/>
              <a:buChar char="•"/>
            </a:pPr>
            <a:r>
              <a:rPr lang="en-US" sz="1250" dirty="0">
                <a:solidFill>
                  <a:srgbClr val="6B5A44"/>
                </a:solidFill>
                <a:latin typeface="Helvetica Neue" pitchFamily="34" charset="0"/>
                <a:ea typeface="Helvetica Neue" pitchFamily="34" charset="-122"/>
                <a:cs typeface="Helvetica Neue" pitchFamily="34" charset="-120"/>
              </a:rPr>
              <a:t>validation</a:t>
            </a:r>
            <a:endParaRPr lang="en-US" sz="1250" dirty="0"/>
          </a:p>
          <a:p>
            <a:pPr marL="342900" indent="-342900">
              <a:spcAft>
                <a:spcPts val="400"/>
              </a:spcAft>
              <a:buSzPct val="100000"/>
              <a:buChar char="•"/>
            </a:pPr>
            <a:r>
              <a:rPr lang="en-US" sz="1250" dirty="0">
                <a:solidFill>
                  <a:srgbClr val="6B5A44"/>
                </a:solidFill>
                <a:latin typeface="Helvetica Neue" pitchFamily="34" charset="0"/>
                <a:ea typeface="Helvetica Neue" pitchFamily="34" charset="-122"/>
                <a:cs typeface="Helvetica Neue" pitchFamily="34" charset="-120"/>
              </a:rPr>
              <a:t>scenario analysis</a:t>
            </a:r>
            <a:endParaRPr lang="en-US" sz="1250" dirty="0"/>
          </a:p>
          <a:p>
            <a:pPr marL="342900" indent="-342900">
              <a:spcAft>
                <a:spcPts val="400"/>
              </a:spcAft>
              <a:buSzPct val="100000"/>
              <a:buChar char="•"/>
            </a:pPr>
            <a:r>
              <a:rPr lang="en-US" sz="1250" dirty="0">
                <a:solidFill>
                  <a:srgbClr val="6B5A44"/>
                </a:solidFill>
                <a:latin typeface="Helvetica Neue" pitchFamily="34" charset="0"/>
                <a:ea typeface="Helvetica Neue" pitchFamily="34" charset="-122"/>
                <a:cs typeface="Helvetica Neue" pitchFamily="34" charset="-120"/>
              </a:rPr>
              <a:t>import dry runs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IV · PARALLELISM</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28</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Where parallelism does not apply</a:t>
            </a:r>
            <a:endParaRPr lang="en-US" sz="2500" dirty="0"/>
          </a:p>
        </p:txBody>
      </p:sp>
      <p:sp>
        <p:nvSpPr>
          <p:cNvPr id="8" name="Shape 5"/>
          <p:cNvSpPr/>
          <p:nvPr/>
        </p:nvSpPr>
        <p:spPr>
          <a:xfrm>
            <a:off x="548640" y="1463040"/>
            <a:ext cx="11064240" cy="1051560"/>
          </a:xfrm>
          <a:prstGeom prst="roundRect">
            <a:avLst>
              <a:gd name="adj" fmla="val 5217"/>
            </a:avLst>
          </a:prstGeom>
          <a:solidFill>
            <a:srgbClr val="EBD5CB"/>
          </a:solidFill>
          <a:ln w="15875">
            <a:solidFill>
              <a:srgbClr val="9E4227"/>
            </a:solidFill>
            <a:prstDash val="solid"/>
          </a:ln>
        </p:spPr>
      </p:sp>
      <p:sp>
        <p:nvSpPr>
          <p:cNvPr id="9" name="Text 6"/>
          <p:cNvSpPr/>
          <p:nvPr/>
        </p:nvSpPr>
        <p:spPr>
          <a:xfrm>
            <a:off x="621792" y="1463040"/>
            <a:ext cx="10917936" cy="1051560"/>
          </a:xfrm>
          <a:prstGeom prst="rect">
            <a:avLst/>
          </a:prstGeom>
          <a:noFill/>
          <a:ln/>
        </p:spPr>
        <p:txBody>
          <a:bodyPr wrap="square" lIns="0" tIns="0" rIns="0" bIns="0" rtlCol="0" anchor="ctr">
            <a:normAutofit/>
          </a:bodyPr>
          <a:lstStyle/>
          <a:p>
            <a:pPr algn="ctr" indent="0" marL="0">
              <a:buNone/>
            </a:pPr>
            <a:r>
              <a:rPr lang="en-US" sz="2000" b="1" dirty="0">
                <a:solidFill>
                  <a:srgbClr val="3A2C1A"/>
                </a:solidFill>
                <a:latin typeface="Helvetica Neue" pitchFamily="34" charset="0"/>
                <a:ea typeface="Helvetica Neue" pitchFamily="34" charset="-122"/>
                <a:cs typeface="Helvetica Neue" pitchFamily="34" charset="-120"/>
              </a:rPr>
              <a:t>a single (d/q …) is SINGLE-THREADED inside the peer</a:t>
            </a:r>
            <a:endParaRPr lang="en-US" sz="2000" dirty="0"/>
          </a:p>
        </p:txBody>
      </p:sp>
      <p:sp>
        <p:nvSpPr>
          <p:cNvPr id="10" name="Text 7"/>
          <p:cNvSpPr/>
          <p:nvPr/>
        </p:nvSpPr>
        <p:spPr>
          <a:xfrm>
            <a:off x="548640" y="2788920"/>
            <a:ext cx="11064240" cy="320040"/>
          </a:xfrm>
          <a:prstGeom prst="rect">
            <a:avLst/>
          </a:prstGeom>
          <a:noFill/>
          <a:ln/>
        </p:spPr>
        <p:txBody>
          <a:bodyPr wrap="square" lIns="0" tIns="0" rIns="0" bIns="0" rtlCol="0" anchor="t"/>
          <a:lstStyle/>
          <a:p>
            <a:pPr indent="0" marL="0">
              <a:buNone/>
            </a:pPr>
            <a:r>
              <a:rPr lang="en-US" sz="1400" b="1" dirty="0">
                <a:solidFill>
                  <a:srgbClr val="3A2C1A"/>
                </a:solidFill>
                <a:latin typeface="Helvetica Neue" pitchFamily="34" charset="0"/>
                <a:ea typeface="Helvetica Neue" pitchFamily="34" charset="-122"/>
                <a:cs typeface="Helvetica Neue" pitchFamily="34" charset="-120"/>
              </a:rPr>
              <a:t>So parallelism applies …</a:t>
            </a:r>
            <a:endParaRPr lang="en-US" sz="1400" dirty="0"/>
          </a:p>
        </p:txBody>
      </p:sp>
      <p:sp>
        <p:nvSpPr>
          <p:cNvPr id="11" name="Shape 8"/>
          <p:cNvSpPr/>
          <p:nvPr/>
        </p:nvSpPr>
        <p:spPr>
          <a:xfrm>
            <a:off x="548640" y="3200400"/>
            <a:ext cx="3538728" cy="1188720"/>
          </a:xfrm>
          <a:prstGeom prst="roundRect">
            <a:avLst>
              <a:gd name="adj" fmla="val 4615"/>
            </a:avLst>
          </a:prstGeom>
          <a:solidFill>
            <a:srgbClr val="DDE3CC"/>
          </a:solidFill>
          <a:ln w="15875">
            <a:solidFill>
              <a:srgbClr val="5F7A3A"/>
            </a:solidFill>
            <a:prstDash val="solid"/>
          </a:ln>
        </p:spPr>
      </p:sp>
      <p:sp>
        <p:nvSpPr>
          <p:cNvPr id="12" name="Text 9"/>
          <p:cNvSpPr/>
          <p:nvPr/>
        </p:nvSpPr>
        <p:spPr>
          <a:xfrm>
            <a:off x="621792" y="3483864"/>
            <a:ext cx="3392424"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  ACROSS queries</a:t>
            </a:r>
            <a:endParaRPr lang="en-US" sz="1400" dirty="0"/>
          </a:p>
        </p:txBody>
      </p:sp>
      <p:sp>
        <p:nvSpPr>
          <p:cNvPr id="13" name="Text 10"/>
          <p:cNvSpPr/>
          <p:nvPr/>
        </p:nvSpPr>
        <p:spPr>
          <a:xfrm>
            <a:off x="621792" y="3776472"/>
            <a:ext cx="3392424" cy="384048"/>
          </a:xfrm>
          <a:prstGeom prst="rect">
            <a:avLst/>
          </a:prstGeom>
          <a:noFill/>
          <a:ln/>
        </p:spPr>
        <p:txBody>
          <a:bodyPr wrap="square" lIns="0" tIns="0" rIns="0" bIns="0" rtlCol="0" anchor="t">
            <a:normAutofit/>
          </a:bodyPr>
          <a:lstStyle/>
          <a:p>
            <a:pPr algn="ctr" indent="0" marL="0">
              <a:buNone/>
            </a:pPr>
            <a:r>
              <a:rPr lang="en-US" sz="1200" dirty="0">
                <a:solidFill>
                  <a:srgbClr val="6B5A44"/>
                </a:solidFill>
                <a:latin typeface="Helvetica Neue" pitchFamily="34" charset="0"/>
                <a:ea typeface="Helvetica Neue" pitchFamily="34" charset="-122"/>
                <a:cs typeface="Helvetica Neue" pitchFamily="34" charset="-120"/>
              </a:rPr>
              <a:t>many requests, many cores</a:t>
            </a:r>
            <a:endParaRPr lang="en-US" sz="1200" dirty="0"/>
          </a:p>
        </p:txBody>
      </p:sp>
      <p:sp>
        <p:nvSpPr>
          <p:cNvPr id="14" name="Shape 11"/>
          <p:cNvSpPr/>
          <p:nvPr/>
        </p:nvSpPr>
        <p:spPr>
          <a:xfrm>
            <a:off x="4315968" y="3200400"/>
            <a:ext cx="3538728" cy="1188720"/>
          </a:xfrm>
          <a:prstGeom prst="roundRect">
            <a:avLst>
              <a:gd name="adj" fmla="val 4615"/>
            </a:avLst>
          </a:prstGeom>
          <a:solidFill>
            <a:srgbClr val="DDE3CC"/>
          </a:solidFill>
          <a:ln w="15875">
            <a:solidFill>
              <a:srgbClr val="5F7A3A"/>
            </a:solidFill>
            <a:prstDash val="solid"/>
          </a:ln>
        </p:spPr>
      </p:sp>
      <p:sp>
        <p:nvSpPr>
          <p:cNvPr id="15" name="Text 12"/>
          <p:cNvSpPr/>
          <p:nvPr/>
        </p:nvSpPr>
        <p:spPr>
          <a:xfrm>
            <a:off x="4389120" y="3483864"/>
            <a:ext cx="3392424"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  ACROSS slices</a:t>
            </a:r>
            <a:endParaRPr lang="en-US" sz="1400" dirty="0"/>
          </a:p>
        </p:txBody>
      </p:sp>
      <p:sp>
        <p:nvSpPr>
          <p:cNvPr id="16" name="Text 13"/>
          <p:cNvSpPr/>
          <p:nvPr/>
        </p:nvSpPr>
        <p:spPr>
          <a:xfrm>
            <a:off x="4389120" y="3776472"/>
            <a:ext cx="3392424" cy="384048"/>
          </a:xfrm>
          <a:prstGeom prst="rect">
            <a:avLst/>
          </a:prstGeom>
          <a:noFill/>
          <a:ln/>
        </p:spPr>
        <p:txBody>
          <a:bodyPr wrap="square" lIns="0" tIns="0" rIns="0" bIns="0" rtlCol="0" anchor="t">
            <a:normAutofit/>
          </a:bodyPr>
          <a:lstStyle/>
          <a:p>
            <a:pPr algn="ctr" indent="0" marL="0">
              <a:buNone/>
            </a:pPr>
            <a:r>
              <a:rPr lang="en-US" sz="1200" dirty="0">
                <a:solidFill>
                  <a:srgbClr val="6B5A44"/>
                </a:solidFill>
                <a:latin typeface="Helvetica Neue" pitchFamily="34" charset="0"/>
                <a:ea typeface="Helvetica Neue" pitchFamily="34" charset="-122"/>
                <a:cs typeface="Helvetica Neue" pitchFamily="34" charset="-120"/>
              </a:rPr>
              <a:t>cut by the caller, as on the last slide</a:t>
            </a:r>
            <a:endParaRPr lang="en-US" sz="1200" dirty="0"/>
          </a:p>
        </p:txBody>
      </p:sp>
      <p:sp>
        <p:nvSpPr>
          <p:cNvPr id="17" name="Shape 14"/>
          <p:cNvSpPr/>
          <p:nvPr/>
        </p:nvSpPr>
        <p:spPr>
          <a:xfrm>
            <a:off x="8083296" y="3200400"/>
            <a:ext cx="3538728" cy="1188720"/>
          </a:xfrm>
          <a:prstGeom prst="roundRect">
            <a:avLst>
              <a:gd name="adj" fmla="val 4615"/>
            </a:avLst>
          </a:prstGeom>
          <a:solidFill>
            <a:srgbClr val="EBD5CB"/>
          </a:solidFill>
          <a:ln w="15875">
            <a:solidFill>
              <a:srgbClr val="9E4227"/>
            </a:solidFill>
            <a:prstDash val="solid"/>
          </a:ln>
        </p:spPr>
      </p:sp>
      <p:sp>
        <p:nvSpPr>
          <p:cNvPr id="18" name="Text 15"/>
          <p:cNvSpPr/>
          <p:nvPr/>
        </p:nvSpPr>
        <p:spPr>
          <a:xfrm>
            <a:off x="8156448" y="3483864"/>
            <a:ext cx="3392424" cy="310896"/>
          </a:xfrm>
          <a:prstGeom prst="rect">
            <a:avLst/>
          </a:prstGeom>
          <a:noFill/>
          <a:ln/>
        </p:spPr>
        <p:txBody>
          <a:bodyPr wrap="square" lIns="0" tIns="0" rIns="0" bIns="0" rtlCol="0" anchor="b">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  WITHIN one query</a:t>
            </a:r>
            <a:endParaRPr lang="en-US" sz="1400" dirty="0"/>
          </a:p>
        </p:txBody>
      </p:sp>
      <p:sp>
        <p:nvSpPr>
          <p:cNvPr id="19" name="Text 16"/>
          <p:cNvSpPr/>
          <p:nvPr/>
        </p:nvSpPr>
        <p:spPr>
          <a:xfrm>
            <a:off x="8156448" y="3776472"/>
            <a:ext cx="3392424" cy="384048"/>
          </a:xfrm>
          <a:prstGeom prst="rect">
            <a:avLst/>
          </a:prstGeom>
          <a:noFill/>
          <a:ln/>
        </p:spPr>
        <p:txBody>
          <a:bodyPr wrap="square" lIns="0" tIns="0" rIns="0" bIns="0" rtlCol="0" anchor="t">
            <a:normAutofit/>
          </a:bodyPr>
          <a:lstStyle/>
          <a:p>
            <a:pPr algn="ctr" indent="0" marL="0">
              <a:buNone/>
            </a:pPr>
            <a:r>
              <a:rPr lang="en-US" sz="1200" dirty="0">
                <a:solidFill>
                  <a:srgbClr val="6B5A44"/>
                </a:solidFill>
                <a:latin typeface="Helvetica Neue" pitchFamily="34" charset="0"/>
                <a:ea typeface="Helvetica Neue" pitchFamily="34" charset="-122"/>
                <a:cs typeface="Helvetica Neue" pitchFamily="34" charset="-120"/>
              </a:rPr>
              <a:t>no knob exists, and none is coming</a:t>
            </a:r>
            <a:endParaRPr lang="en-US" sz="1200" dirty="0"/>
          </a:p>
        </p:txBody>
      </p:sp>
      <p:sp>
        <p:nvSpPr>
          <p:cNvPr id="20" name="Shape 17"/>
          <p:cNvSpPr/>
          <p:nvPr/>
        </p:nvSpPr>
        <p:spPr>
          <a:xfrm>
            <a:off x="548640" y="4617720"/>
            <a:ext cx="54864" cy="457200"/>
          </a:xfrm>
          <a:prstGeom prst="rect">
            <a:avLst/>
          </a:prstGeom>
          <a:solidFill>
            <a:srgbClr val="A8864A"/>
          </a:solidFill>
          <a:ln/>
        </p:spPr>
      </p:sp>
      <p:sp>
        <p:nvSpPr>
          <p:cNvPr id="21" name="Text 18"/>
          <p:cNvSpPr/>
          <p:nvPr/>
        </p:nvSpPr>
        <p:spPr>
          <a:xfrm>
            <a:off x="777240" y="46177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A slow single query is fixed by its shape or its cache — never by more cores.</a:t>
            </a:r>
            <a:endParaRPr lang="en-US" sz="1450" dirty="0"/>
          </a:p>
        </p:txBody>
      </p:sp>
      <p:sp>
        <p:nvSpPr>
          <p:cNvPr id="22" name="Shape 19"/>
          <p:cNvSpPr/>
          <p:nvPr/>
        </p:nvSpPr>
        <p:spPr>
          <a:xfrm>
            <a:off x="548640" y="5257800"/>
            <a:ext cx="11064240" cy="1143000"/>
          </a:xfrm>
          <a:prstGeom prst="roundRect">
            <a:avLst>
              <a:gd name="adj" fmla="val 6400"/>
            </a:avLst>
          </a:prstGeom>
          <a:solidFill>
            <a:srgbClr val="DFD6C0"/>
          </a:solidFill>
          <a:ln/>
        </p:spPr>
      </p:sp>
      <p:sp>
        <p:nvSpPr>
          <p:cNvPr id="23" name="Shape 20"/>
          <p:cNvSpPr/>
          <p:nvPr/>
        </p:nvSpPr>
        <p:spPr>
          <a:xfrm>
            <a:off x="548640" y="5257800"/>
            <a:ext cx="82296" cy="1143000"/>
          </a:xfrm>
          <a:prstGeom prst="rect">
            <a:avLst/>
          </a:prstGeom>
          <a:solidFill>
            <a:srgbClr val="A8864A"/>
          </a:solidFill>
          <a:ln/>
        </p:spPr>
      </p:sp>
      <p:sp>
        <p:nvSpPr>
          <p:cNvPr id="24" name="Text 21"/>
          <p:cNvSpPr/>
          <p:nvPr/>
        </p:nvSpPr>
        <p:spPr>
          <a:xfrm>
            <a:off x="822960" y="536752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§4</a:t>
            </a:r>
            <a:endParaRPr lang="en-US" sz="1300" dirty="0"/>
          </a:p>
        </p:txBody>
      </p:sp>
      <p:sp>
        <p:nvSpPr>
          <p:cNvPr id="25" name="Shape 22"/>
          <p:cNvSpPr/>
          <p:nvPr/>
        </p:nvSpPr>
        <p:spPr>
          <a:xfrm>
            <a:off x="10561320" y="5367528"/>
            <a:ext cx="777240" cy="292608"/>
          </a:xfrm>
          <a:prstGeom prst="roundRect">
            <a:avLst>
              <a:gd name="adj" fmla="val 25000"/>
            </a:avLst>
          </a:prstGeom>
          <a:solidFill>
            <a:srgbClr val="DDE3CC"/>
          </a:solidFill>
          <a:ln/>
        </p:spPr>
      </p:sp>
      <p:sp>
        <p:nvSpPr>
          <p:cNvPr id="26" name="Text 23"/>
          <p:cNvSpPr/>
          <p:nvPr/>
        </p:nvSpPr>
        <p:spPr>
          <a:xfrm>
            <a:off x="10561320" y="5367528"/>
            <a:ext cx="777240" cy="292608"/>
          </a:xfrm>
          <a:prstGeom prst="rect">
            <a:avLst/>
          </a:prstGeom>
          <a:noFill/>
          <a:ln/>
        </p:spPr>
        <p:txBody>
          <a:bodyPr wrap="square" lIns="0" tIns="0" rIns="0" bIns="0" rtlCol="0" anchor="ctr"/>
          <a:lstStyle/>
          <a:p>
            <a:pPr algn="ctr" indent="0" marL="0">
              <a:buNone/>
            </a:pPr>
            <a:r>
              <a:rPr lang="en-US" sz="1100" b="1" dirty="0">
                <a:solidFill>
                  <a:srgbClr val="5F7A3A"/>
                </a:solidFill>
                <a:latin typeface="Helvetica Neue" pitchFamily="34" charset="0"/>
                <a:ea typeface="Helvetica Neue" pitchFamily="34" charset="-122"/>
                <a:cs typeface="Helvetica Neue" pitchFamily="34" charset="-120"/>
              </a:rPr>
              <a:t>[MEM]</a:t>
            </a:r>
            <a:endParaRPr lang="en-US" sz="1100" dirty="0"/>
          </a:p>
        </p:txBody>
      </p:sp>
      <p:sp>
        <p:nvSpPr>
          <p:cNvPr id="27" name="Text 24"/>
          <p:cNvSpPr/>
          <p:nvPr/>
        </p:nvSpPr>
        <p:spPr>
          <a:xfrm>
            <a:off x="822960" y="5715000"/>
            <a:ext cx="10515600" cy="57607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All four experiments run in memory, including the one that shows no difference; that null result is the control.</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The two counter-intuitive results are pipelining on mem and the 10,000-slice floor.</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V</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Settings and signals</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The memory-index loop · the knobs · what to alert on</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30</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memory-index loop</a:t>
            </a:r>
            <a:endParaRPr lang="en-US" sz="2500" dirty="0"/>
          </a:p>
        </p:txBody>
      </p:sp>
      <p:sp>
        <p:nvSpPr>
          <p:cNvPr id="8" name="Shape 5"/>
          <p:cNvSpPr/>
          <p:nvPr/>
        </p:nvSpPr>
        <p:spPr>
          <a:xfrm>
            <a:off x="548640" y="1371600"/>
            <a:ext cx="2011680" cy="640080"/>
          </a:xfrm>
          <a:prstGeom prst="roundRect">
            <a:avLst>
              <a:gd name="adj" fmla="val 8571"/>
            </a:avLst>
          </a:prstGeom>
          <a:solidFill>
            <a:srgbClr val="DFD6C0"/>
          </a:solidFill>
          <a:ln/>
        </p:spPr>
      </p:sp>
      <p:sp>
        <p:nvSpPr>
          <p:cNvPr id="9" name="Text 6"/>
          <p:cNvSpPr/>
          <p:nvPr/>
        </p:nvSpPr>
        <p:spPr>
          <a:xfrm>
            <a:off x="621792" y="1371600"/>
            <a:ext cx="1865376" cy="640080"/>
          </a:xfrm>
          <a:prstGeom prst="rect">
            <a:avLst/>
          </a:prstGeom>
          <a:noFill/>
          <a:ln/>
        </p:spPr>
        <p:txBody>
          <a:bodyPr wrap="square" lIns="0" tIns="0" rIns="0" bIns="0" rtlCol="0" anchor="ctr">
            <a:normAutofit/>
          </a:bodyPr>
          <a:lstStyle/>
          <a:p>
            <a:pPr algn="ctr" indent="0" marL="0">
              <a:buNone/>
            </a:pPr>
            <a:r>
              <a:rPr lang="en-US" sz="1400" b="1" dirty="0">
                <a:solidFill>
                  <a:srgbClr val="3A2C1A"/>
                </a:solidFill>
                <a:latin typeface="Helvetica Neue" pitchFamily="34" charset="0"/>
                <a:ea typeface="Helvetica Neue" pitchFamily="34" charset="-122"/>
                <a:cs typeface="Helvetica Neue" pitchFamily="34" charset="-120"/>
              </a:rPr>
              <a:t>writes</a:t>
            </a:r>
            <a:endParaRPr lang="en-US" sz="1400" dirty="0"/>
          </a:p>
        </p:txBody>
      </p:sp>
      <p:sp>
        <p:nvSpPr>
          <p:cNvPr id="10" name="Shape 7"/>
          <p:cNvSpPr/>
          <p:nvPr/>
        </p:nvSpPr>
        <p:spPr>
          <a:xfrm>
            <a:off x="2560320" y="1691640"/>
            <a:ext cx="1097280" cy="0"/>
          </a:xfrm>
          <a:prstGeom prst="line">
            <a:avLst/>
          </a:prstGeom>
          <a:noFill/>
          <a:ln w="19050">
            <a:solidFill>
              <a:srgbClr val="A8864A"/>
            </a:solidFill>
            <a:prstDash val="solid"/>
            <a:headEnd type="none"/>
            <a:tailEnd type="triangle"/>
          </a:ln>
        </p:spPr>
      </p:sp>
      <p:sp>
        <p:nvSpPr>
          <p:cNvPr id="11" name="Shape 8"/>
          <p:cNvSpPr/>
          <p:nvPr/>
        </p:nvSpPr>
        <p:spPr>
          <a:xfrm>
            <a:off x="3657600" y="1371600"/>
            <a:ext cx="4023360" cy="640080"/>
          </a:xfrm>
          <a:prstGeom prst="roundRect">
            <a:avLst>
              <a:gd name="adj" fmla="val 8571"/>
            </a:avLst>
          </a:prstGeom>
          <a:solidFill>
            <a:srgbClr val="D3DEE1"/>
          </a:solidFill>
          <a:ln w="15875">
            <a:solidFill>
              <a:srgbClr val="3F6470"/>
            </a:solidFill>
            <a:prstDash val="solid"/>
          </a:ln>
        </p:spPr>
      </p:sp>
      <p:sp>
        <p:nvSpPr>
          <p:cNvPr id="12" name="Text 9"/>
          <p:cNvSpPr/>
          <p:nvPr/>
        </p:nvSpPr>
        <p:spPr>
          <a:xfrm>
            <a:off x="3730752" y="1371600"/>
            <a:ext cx="3877056" cy="640080"/>
          </a:xfrm>
          <a:prstGeom prst="rect">
            <a:avLst/>
          </a:prstGeom>
          <a:noFill/>
          <a:ln/>
        </p:spPr>
        <p:txBody>
          <a:bodyPr wrap="square" lIns="0" tIns="0" rIns="0" bIns="0" rtlCol="0" anchor="ctr">
            <a:normAutofit/>
          </a:bodyPr>
          <a:lstStyle/>
          <a:p>
            <a:pPr algn="ctr" indent="0" marL="0">
              <a:buNone/>
            </a:pPr>
            <a:r>
              <a:rPr lang="en-US" sz="1500" b="1" dirty="0">
                <a:solidFill>
                  <a:srgbClr val="3A2C1A"/>
                </a:solidFill>
                <a:latin typeface="Helvetica Neue" pitchFamily="34" charset="0"/>
                <a:ea typeface="Helvetica Neue" pitchFamily="34" charset="-122"/>
                <a:cs typeface="Helvetica Neue" pitchFamily="34" charset="-120"/>
              </a:rPr>
              <a:t>memory index</a:t>
            </a:r>
            <a:endParaRPr lang="en-US" sz="1500" dirty="0"/>
          </a:p>
        </p:txBody>
      </p:sp>
      <p:sp>
        <p:nvSpPr>
          <p:cNvPr id="13" name="Shape 10"/>
          <p:cNvSpPr/>
          <p:nvPr/>
        </p:nvSpPr>
        <p:spPr>
          <a:xfrm>
            <a:off x="7680960" y="1691640"/>
            <a:ext cx="1188720" cy="0"/>
          </a:xfrm>
          <a:prstGeom prst="line">
            <a:avLst/>
          </a:prstGeom>
          <a:noFill/>
          <a:ln w="19050">
            <a:solidFill>
              <a:srgbClr val="5F7A3A"/>
            </a:solidFill>
            <a:prstDash val="solid"/>
            <a:headEnd type="none"/>
            <a:tailEnd type="triangle"/>
          </a:ln>
        </p:spPr>
      </p:sp>
      <p:sp>
        <p:nvSpPr>
          <p:cNvPr id="14" name="Shape 11"/>
          <p:cNvSpPr/>
          <p:nvPr/>
        </p:nvSpPr>
        <p:spPr>
          <a:xfrm>
            <a:off x="8869680" y="1371600"/>
            <a:ext cx="2743200" cy="640080"/>
          </a:xfrm>
          <a:prstGeom prst="roundRect">
            <a:avLst>
              <a:gd name="adj" fmla="val 8571"/>
            </a:avLst>
          </a:prstGeom>
          <a:solidFill>
            <a:srgbClr val="DDE3CC"/>
          </a:solidFill>
          <a:ln w="15875">
            <a:solidFill>
              <a:srgbClr val="5F7A3A"/>
            </a:solidFill>
            <a:prstDash val="solid"/>
          </a:ln>
        </p:spPr>
      </p:sp>
      <p:sp>
        <p:nvSpPr>
          <p:cNvPr id="15" name="Text 12"/>
          <p:cNvSpPr/>
          <p:nvPr/>
        </p:nvSpPr>
        <p:spPr>
          <a:xfrm>
            <a:off x="8942832" y="1380744"/>
            <a:ext cx="259689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durable log</a:t>
            </a:r>
            <a:endParaRPr lang="en-US" sz="1300" dirty="0"/>
          </a:p>
        </p:txBody>
      </p:sp>
      <p:sp>
        <p:nvSpPr>
          <p:cNvPr id="16" name="Text 13"/>
          <p:cNvSpPr/>
          <p:nvPr/>
        </p:nvSpPr>
        <p:spPr>
          <a:xfrm>
            <a:off x="8942832" y="1673352"/>
            <a:ext cx="2596896" cy="384048"/>
          </a:xfrm>
          <a:prstGeom prst="rect">
            <a:avLst/>
          </a:prstGeom>
          <a:noFill/>
          <a:ln/>
        </p:spPr>
        <p:txBody>
          <a:bodyPr wrap="square" lIns="0" tIns="0" rIns="0" bIns="0" rtlCol="0" anchor="t">
            <a:normAutofit/>
          </a:bodyPr>
          <a:lstStyle/>
          <a:p>
            <a:pPr algn="ctr" indent="0" marL="0">
              <a:buNone/>
            </a:pPr>
            <a:r>
              <a:rPr lang="en-US" sz="1000" dirty="0">
                <a:solidFill>
                  <a:srgbClr val="5F7A3A"/>
                </a:solidFill>
                <a:latin typeface="Helvetica Neue" pitchFamily="34" charset="0"/>
                <a:ea typeface="Helvetica Neue" pitchFamily="34" charset="-122"/>
                <a:cs typeface="Helvetica Neue" pitchFamily="34" charset="-120"/>
              </a:rPr>
              <a:t>always, immediately</a:t>
            </a:r>
            <a:endParaRPr lang="en-US" sz="1000" dirty="0"/>
          </a:p>
        </p:txBody>
      </p:sp>
      <p:sp>
        <p:nvSpPr>
          <p:cNvPr id="17" name="Shape 14"/>
          <p:cNvSpPr/>
          <p:nvPr/>
        </p:nvSpPr>
        <p:spPr>
          <a:xfrm>
            <a:off x="5669280" y="2011680"/>
            <a:ext cx="0" cy="685800"/>
          </a:xfrm>
          <a:prstGeom prst="line">
            <a:avLst/>
          </a:prstGeom>
          <a:noFill/>
          <a:ln w="19050">
            <a:solidFill>
              <a:srgbClr val="A8864A"/>
            </a:solidFill>
            <a:prstDash val="solid"/>
            <a:headEnd type="none"/>
            <a:tailEnd type="triangle"/>
          </a:ln>
        </p:spPr>
      </p:sp>
      <p:sp>
        <p:nvSpPr>
          <p:cNvPr id="18" name="Text 15"/>
          <p:cNvSpPr/>
          <p:nvPr/>
        </p:nvSpPr>
        <p:spPr>
          <a:xfrm>
            <a:off x="5943600" y="2208276"/>
            <a:ext cx="3840480" cy="292608"/>
          </a:xfrm>
          <a:prstGeom prst="rect">
            <a:avLst/>
          </a:prstGeom>
          <a:noFill/>
          <a:ln/>
        </p:spPr>
        <p:txBody>
          <a:bodyPr wrap="square" lIns="0" tIns="0" rIns="0" bIns="0" rtlCol="0" anchor="ctr">
            <a:normAutofit/>
          </a:bodyPr>
          <a:lstStyle/>
          <a:p>
            <a:pPr algn="ctr" indent="0" marL="0">
              <a:buNone/>
            </a:pPr>
            <a:r>
              <a:rPr lang="en-US" sz="1100" dirty="0">
                <a:solidFill>
                  <a:srgbClr val="A8864A"/>
                </a:solidFill>
                <a:latin typeface="Helvetica Neue" pitchFamily="34" charset="0"/>
                <a:ea typeface="Helvetica Neue" pitchFamily="34" charset="-122"/>
                <a:cs typeface="Helvetica Neue" pitchFamily="34" charset="-120"/>
              </a:rPr>
              <a:t>past memory-index-threshold</a:t>
            </a:r>
            <a:endParaRPr lang="en-US" sz="1100" dirty="0"/>
          </a:p>
        </p:txBody>
      </p:sp>
      <p:sp>
        <p:nvSpPr>
          <p:cNvPr id="19" name="Shape 16"/>
          <p:cNvSpPr/>
          <p:nvPr/>
        </p:nvSpPr>
        <p:spPr>
          <a:xfrm>
            <a:off x="3657600" y="2697480"/>
            <a:ext cx="4023360" cy="640080"/>
          </a:xfrm>
          <a:prstGeom prst="roundRect">
            <a:avLst>
              <a:gd name="adj" fmla="val 8571"/>
            </a:avLst>
          </a:prstGeom>
          <a:solidFill>
            <a:srgbClr val="E6DFCE"/>
          </a:solidFill>
          <a:ln w="15875">
            <a:solidFill>
              <a:srgbClr val="C9BDA4"/>
            </a:solidFill>
            <a:prstDash val="solid"/>
          </a:ln>
        </p:spPr>
      </p:sp>
      <p:sp>
        <p:nvSpPr>
          <p:cNvPr id="20" name="Text 17"/>
          <p:cNvSpPr/>
          <p:nvPr/>
        </p:nvSpPr>
        <p:spPr>
          <a:xfrm>
            <a:off x="3730752" y="2697480"/>
            <a:ext cx="3877056" cy="640080"/>
          </a:xfrm>
          <a:prstGeom prst="rect">
            <a:avLst/>
          </a:prstGeom>
          <a:noFill/>
          <a:ln/>
        </p:spPr>
        <p:txBody>
          <a:bodyPr wrap="square" lIns="0" tIns="0" rIns="0" bIns="0" rtlCol="0" anchor="ctr">
            <a:normAutofit/>
          </a:bodyPr>
          <a:lstStyle/>
          <a:p>
            <a:pPr algn="ctr" indent="0" marL="0">
              <a:buNone/>
            </a:pPr>
            <a:r>
              <a:rPr lang="en-US" sz="1500" b="1" dirty="0">
                <a:solidFill>
                  <a:srgbClr val="3A2C1A"/>
                </a:solidFill>
                <a:latin typeface="Helvetica Neue" pitchFamily="34" charset="0"/>
                <a:ea typeface="Helvetica Neue" pitchFamily="34" charset="-122"/>
                <a:cs typeface="Helvetica Neue" pitchFamily="34" charset="-120"/>
              </a:rPr>
              <a:t>indexing job</a:t>
            </a:r>
            <a:endParaRPr lang="en-US" sz="1500" dirty="0"/>
          </a:p>
        </p:txBody>
      </p:sp>
      <p:sp>
        <p:nvSpPr>
          <p:cNvPr id="21" name="Shape 18"/>
          <p:cNvSpPr/>
          <p:nvPr/>
        </p:nvSpPr>
        <p:spPr>
          <a:xfrm>
            <a:off x="7680960" y="3017520"/>
            <a:ext cx="1188720" cy="0"/>
          </a:xfrm>
          <a:prstGeom prst="line">
            <a:avLst/>
          </a:prstGeom>
          <a:noFill/>
          <a:ln w="19050">
            <a:solidFill>
              <a:srgbClr val="C9BDA4"/>
            </a:solidFill>
            <a:prstDash val="solid"/>
            <a:headEnd type="none"/>
            <a:tailEnd type="triangle"/>
          </a:ln>
        </p:spPr>
      </p:sp>
      <p:sp>
        <p:nvSpPr>
          <p:cNvPr id="22" name="Shape 19"/>
          <p:cNvSpPr/>
          <p:nvPr/>
        </p:nvSpPr>
        <p:spPr>
          <a:xfrm>
            <a:off x="8869680" y="2697480"/>
            <a:ext cx="2743200" cy="640080"/>
          </a:xfrm>
          <a:prstGeom prst="roundRect">
            <a:avLst>
              <a:gd name="adj" fmla="val 8571"/>
            </a:avLst>
          </a:prstGeom>
          <a:solidFill>
            <a:srgbClr val="2C2416"/>
          </a:solidFill>
          <a:ln/>
        </p:spPr>
      </p:sp>
      <p:sp>
        <p:nvSpPr>
          <p:cNvPr id="23" name="Text 20"/>
          <p:cNvSpPr/>
          <p:nvPr/>
        </p:nvSpPr>
        <p:spPr>
          <a:xfrm>
            <a:off x="8942832" y="2697480"/>
            <a:ext cx="2596896" cy="640080"/>
          </a:xfrm>
          <a:prstGeom prst="rect">
            <a:avLst/>
          </a:prstGeom>
          <a:noFill/>
          <a:ln/>
        </p:spPr>
        <p:txBody>
          <a:bodyPr wrap="square" lIns="0" tIns="0" rIns="0" bIns="0" rtlCol="0" anchor="ctr">
            <a:normAutofit/>
          </a:bodyPr>
          <a:lstStyle/>
          <a:p>
            <a:pPr algn="ctr" indent="0" marL="0">
              <a:buNone/>
            </a:pPr>
            <a:r>
              <a:rPr lang="en-US" sz="1300" b="1" dirty="0">
                <a:solidFill>
                  <a:srgbClr val="FCFAF4"/>
                </a:solidFill>
                <a:latin typeface="Helvetica Neue" pitchFamily="34" charset="0"/>
                <a:ea typeface="Helvetica Neue" pitchFamily="34" charset="-122"/>
                <a:cs typeface="Helvetica Neue" pitchFamily="34" charset="-120"/>
              </a:rPr>
              <a:t>storage</a:t>
            </a:r>
            <a:endParaRPr lang="en-US" sz="1300" dirty="0"/>
          </a:p>
        </p:txBody>
      </p:sp>
      <p:sp>
        <p:nvSpPr>
          <p:cNvPr id="24" name="Shape 21"/>
          <p:cNvSpPr/>
          <p:nvPr/>
        </p:nvSpPr>
        <p:spPr>
          <a:xfrm>
            <a:off x="5669280" y="3337560"/>
            <a:ext cx="0" cy="685800"/>
          </a:xfrm>
          <a:prstGeom prst="line">
            <a:avLst/>
          </a:prstGeom>
          <a:noFill/>
          <a:ln w="19050">
            <a:solidFill>
              <a:srgbClr val="B5822B"/>
            </a:solidFill>
            <a:prstDash val="solid"/>
            <a:headEnd type="none"/>
            <a:tailEnd type="triangle"/>
          </a:ln>
        </p:spPr>
      </p:sp>
      <p:sp>
        <p:nvSpPr>
          <p:cNvPr id="25" name="Text 22"/>
          <p:cNvSpPr/>
          <p:nvPr/>
        </p:nvSpPr>
        <p:spPr>
          <a:xfrm>
            <a:off x="5943600" y="3534156"/>
            <a:ext cx="3840480" cy="292608"/>
          </a:xfrm>
          <a:prstGeom prst="rect">
            <a:avLst/>
          </a:prstGeom>
          <a:noFill/>
          <a:ln/>
        </p:spPr>
        <p:txBody>
          <a:bodyPr wrap="square" lIns="0" tIns="0" rIns="0" bIns="0" rtlCol="0" anchor="ctr">
            <a:normAutofit/>
          </a:bodyP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if writes keep outrunning it</a:t>
            </a:r>
            <a:endParaRPr lang="en-US" sz="1100" dirty="0"/>
          </a:p>
        </p:txBody>
      </p:sp>
      <p:sp>
        <p:nvSpPr>
          <p:cNvPr id="26" name="Shape 23"/>
          <p:cNvSpPr/>
          <p:nvPr/>
        </p:nvSpPr>
        <p:spPr>
          <a:xfrm>
            <a:off x="2926080" y="4023360"/>
            <a:ext cx="5486400" cy="1371600"/>
          </a:xfrm>
          <a:prstGeom prst="roundRect">
            <a:avLst>
              <a:gd name="adj" fmla="val 5333"/>
            </a:avLst>
          </a:prstGeom>
          <a:solidFill>
            <a:srgbClr val="EBD5CB"/>
          </a:solidFill>
          <a:ln/>
        </p:spPr>
      </p:sp>
      <p:sp>
        <p:nvSpPr>
          <p:cNvPr id="27" name="Text 24"/>
          <p:cNvSpPr/>
          <p:nvPr/>
        </p:nvSpPr>
        <p:spPr>
          <a:xfrm>
            <a:off x="3154680" y="4160520"/>
            <a:ext cx="5029200" cy="320040"/>
          </a:xfrm>
          <a:prstGeom prst="rect">
            <a:avLst/>
          </a:prstGeom>
          <a:noFill/>
          <a:ln/>
        </p:spPr>
        <p:txBody>
          <a:bodyPr wrap="square" lIns="0" tIns="0" rIns="0" bIns="0" rtlCol="0" anchor="t"/>
          <a:lstStyle/>
          <a:p>
            <a:pPr indent="0" marL="0">
              <a:buNone/>
            </a:pPr>
            <a:r>
              <a:rPr lang="en-US" sz="1350" b="1" dirty="0">
                <a:solidFill>
                  <a:srgbClr val="9E4227"/>
                </a:solidFill>
                <a:latin typeface="Courier New" pitchFamily="34" charset="0"/>
                <a:ea typeface="Courier New" pitchFamily="34" charset="-122"/>
                <a:cs typeface="Courier New" pitchFamily="34" charset="-120"/>
              </a:rPr>
              <a:t>memory-index-max reached</a:t>
            </a:r>
            <a:endParaRPr lang="en-US" sz="1350" dirty="0"/>
          </a:p>
        </p:txBody>
      </p:sp>
      <p:sp>
        <p:nvSpPr>
          <p:cNvPr id="28" name="Text 25"/>
          <p:cNvSpPr/>
          <p:nvPr/>
        </p:nvSpPr>
        <p:spPr>
          <a:xfrm>
            <a:off x="3154680" y="4526280"/>
            <a:ext cx="5029200" cy="731520"/>
          </a:xfrm>
          <a:prstGeom prst="rect">
            <a:avLst/>
          </a:prstGeom>
          <a:noFill/>
          <a:ln/>
        </p:spPr>
        <p:txBody>
          <a:bodyPr wrap="square" lIns="0" tIns="0" rIns="0" bIns="0" rtlCol="0" anchor="t"/>
          <a:lstStyle/>
          <a:p>
            <a:pPr indent="0" marL="0">
              <a:buNone/>
            </a:pPr>
            <a:r>
              <a:rPr lang="en-US" sz="1300" dirty="0">
                <a:solidFill>
                  <a:srgbClr val="3A2C1A"/>
                </a:solidFill>
                <a:latin typeface="Helvetica Neue" pitchFamily="34" charset="0"/>
                <a:ea typeface="Helvetica Neue" pitchFamily="34" charset="-122"/>
                <a:cs typeface="Helvetica Neue" pitchFamily="34" charset="-120"/>
              </a:rPr>
              <a:t>→  the transactor throttles writers</a:t>
            </a:r>
            <a:endParaRPr lang="en-US" sz="1300" dirty="0"/>
          </a:p>
          <a:p>
            <a:pPr indent="0" marL="0">
              <a:buNone/>
            </a:pPr>
            <a:r>
              <a:rPr lang="en-US" sz="1300" dirty="0">
                <a:solidFill>
                  <a:srgbClr val="3A2C1A"/>
                </a:solidFill>
                <a:latin typeface="Helvetica Neue" pitchFamily="34" charset="0"/>
                <a:ea typeface="Helvetica Neue" pitchFamily="34" charset="-122"/>
                <a:cs typeface="Helvetica Neue" pitchFamily="34" charset="-120"/>
              </a:rPr>
              <a:t>→  p99 write latency rises</a:t>
            </a:r>
            <a:endParaRPr lang="en-US" sz="1300" dirty="0"/>
          </a:p>
        </p:txBody>
      </p:sp>
      <p:sp>
        <p:nvSpPr>
          <p:cNvPr id="29" name="Shape 26"/>
          <p:cNvSpPr/>
          <p:nvPr/>
        </p:nvSpPr>
        <p:spPr>
          <a:xfrm>
            <a:off x="548640" y="5623560"/>
            <a:ext cx="11064240" cy="594360"/>
          </a:xfrm>
          <a:prstGeom prst="roundRect">
            <a:avLst>
              <a:gd name="adj" fmla="val 12308"/>
            </a:avLst>
          </a:prstGeom>
          <a:solidFill>
            <a:srgbClr val="E6DFCE"/>
          </a:solidFill>
          <a:ln/>
        </p:spPr>
      </p:sp>
      <p:sp>
        <p:nvSpPr>
          <p:cNvPr id="30" name="Text 27"/>
          <p:cNvSpPr/>
          <p:nvPr/>
        </p:nvSpPr>
        <p:spPr>
          <a:xfrm>
            <a:off x="777240" y="5623560"/>
            <a:ext cx="10607040" cy="594360"/>
          </a:xfrm>
          <a:prstGeom prst="rect">
            <a:avLst/>
          </a:prstGeom>
          <a:noFill/>
          <a:ln/>
        </p:spPr>
        <p:txBody>
          <a:bodyPr wrap="square" lIns="0" tIns="0" rIns="0" bIns="0" rtlCol="0" anchor="ctr">
            <a:normAutofit/>
          </a:bodyPr>
          <a:lstStyle/>
          <a:p>
            <a:pPr algn="ctr" indent="0" marL="0">
              <a:buNone/>
            </a:pPr>
            <a:r>
              <a:rPr lang="en-US" sz="1450" dirty="0">
                <a:solidFill>
                  <a:srgbClr val="3A2C1A"/>
                </a:solidFill>
                <a:latin typeface="Helvetica Neue" pitchFamily="34" charset="0"/>
                <a:ea typeface="Helvetica Neue" pitchFamily="34" charset="-122"/>
                <a:cs typeface="Helvetica Neue" pitchFamily="34" charset="-120"/>
              </a:rPr>
              <a:t>threshold  starts the indexing job          ·          max  starts the throttling</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31</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throttle is back-pressure, not a failure</a:t>
            </a:r>
            <a:endParaRPr lang="en-US" sz="2500" dirty="0"/>
          </a:p>
        </p:txBody>
      </p:sp>
      <p:sp>
        <p:nvSpPr>
          <p:cNvPr id="8" name="Text 5"/>
          <p:cNvSpPr/>
          <p:nvPr/>
        </p:nvSpPr>
        <p:spPr>
          <a:xfrm>
            <a:off x="548640" y="1737360"/>
            <a:ext cx="1828800" cy="457200"/>
          </a:xfrm>
          <a:prstGeom prst="rect">
            <a:avLst/>
          </a:prstGeom>
          <a:noFill/>
          <a:ln/>
        </p:spPr>
        <p:txBody>
          <a:bodyPr wrap="square" lIns="0" tIns="0" rIns="0" bIns="0" rtlCol="0" anchor="ctr"/>
          <a:lstStyle/>
          <a:p>
            <a:pPr indent="0" marL="0">
              <a:buNone/>
            </a:pPr>
            <a:r>
              <a:rPr lang="en-US" sz="1400" b="1" spc="100" kern="0" dirty="0">
                <a:solidFill>
                  <a:srgbClr val="5F7A3A"/>
                </a:solidFill>
                <a:latin typeface="Helvetica Neue" pitchFamily="34" charset="0"/>
                <a:ea typeface="Helvetica Neue" pitchFamily="34" charset="-122"/>
                <a:cs typeface="Helvetica Neue" pitchFamily="34" charset="-120"/>
              </a:rPr>
              <a:t>NORMAL</a:t>
            </a:r>
            <a:endParaRPr lang="en-US" sz="1400" dirty="0"/>
          </a:p>
        </p:txBody>
      </p:sp>
      <p:sp>
        <p:nvSpPr>
          <p:cNvPr id="9" name="Shape 6"/>
          <p:cNvSpPr/>
          <p:nvPr/>
        </p:nvSpPr>
        <p:spPr>
          <a:xfrm>
            <a:off x="2560320" y="1737360"/>
            <a:ext cx="6766560" cy="685800"/>
          </a:xfrm>
          <a:prstGeom prst="rect">
            <a:avLst/>
          </a:prstGeom>
          <a:solidFill>
            <a:srgbClr val="E6DFCE"/>
          </a:solidFill>
          <a:ln/>
        </p:spPr>
      </p:sp>
      <p:sp>
        <p:nvSpPr>
          <p:cNvPr id="10" name="Shape 7"/>
          <p:cNvSpPr/>
          <p:nvPr/>
        </p:nvSpPr>
        <p:spPr>
          <a:xfrm>
            <a:off x="2560320" y="1737360"/>
            <a:ext cx="2368296" cy="685800"/>
          </a:xfrm>
          <a:prstGeom prst="rect">
            <a:avLst/>
          </a:prstGeom>
          <a:solidFill>
            <a:srgbClr val="DDE3CC"/>
          </a:solidFill>
          <a:ln/>
        </p:spPr>
      </p:sp>
      <p:sp>
        <p:nvSpPr>
          <p:cNvPr id="11" name="Shape 8"/>
          <p:cNvSpPr/>
          <p:nvPr/>
        </p:nvSpPr>
        <p:spPr>
          <a:xfrm>
            <a:off x="6263640" y="1627632"/>
            <a:ext cx="36576" cy="905256"/>
          </a:xfrm>
          <a:prstGeom prst="rect">
            <a:avLst/>
          </a:prstGeom>
          <a:solidFill>
            <a:srgbClr val="B5822B"/>
          </a:solidFill>
          <a:ln/>
        </p:spPr>
      </p:sp>
      <p:sp>
        <p:nvSpPr>
          <p:cNvPr id="12" name="Shape 9"/>
          <p:cNvSpPr/>
          <p:nvPr/>
        </p:nvSpPr>
        <p:spPr>
          <a:xfrm>
            <a:off x="9290304" y="1627632"/>
            <a:ext cx="36576" cy="905256"/>
          </a:xfrm>
          <a:prstGeom prst="rect">
            <a:avLst/>
          </a:prstGeom>
          <a:solidFill>
            <a:srgbClr val="9E4227"/>
          </a:solidFill>
          <a:ln/>
        </p:spPr>
      </p:sp>
      <p:sp>
        <p:nvSpPr>
          <p:cNvPr id="13" name="Text 10"/>
          <p:cNvSpPr/>
          <p:nvPr/>
        </p:nvSpPr>
        <p:spPr>
          <a:xfrm>
            <a:off x="5458968" y="1325880"/>
            <a:ext cx="1645920" cy="274320"/>
          </a:xfrm>
          <a:prstGeom prst="rect">
            <a:avLst/>
          </a:prstGeom>
          <a:noFill/>
          <a:ln/>
        </p:spPr>
        <p:txBody>
          <a:bodyPr wrap="square" lIns="0" tIns="0" rIns="0" bIns="0" rtlCol="0" anchor="t"/>
          <a:lstStyle/>
          <a:p>
            <a:pPr algn="ctr" indent="0" marL="0">
              <a:buNone/>
            </a:pPr>
            <a:r>
              <a:rPr lang="en-US" sz="1050" dirty="0">
                <a:solidFill>
                  <a:srgbClr val="B5822B"/>
                </a:solidFill>
                <a:latin typeface="Helvetica Neue" pitchFamily="34" charset="0"/>
                <a:ea typeface="Helvetica Neue" pitchFamily="34" charset="-122"/>
                <a:cs typeface="Helvetica Neue" pitchFamily="34" charset="-120"/>
              </a:rPr>
              <a:t>threshold</a:t>
            </a:r>
            <a:endParaRPr lang="en-US" sz="1050" dirty="0"/>
          </a:p>
        </p:txBody>
      </p:sp>
      <p:sp>
        <p:nvSpPr>
          <p:cNvPr id="14" name="Text 11"/>
          <p:cNvSpPr/>
          <p:nvPr/>
        </p:nvSpPr>
        <p:spPr>
          <a:xfrm>
            <a:off x="8503920" y="1325880"/>
            <a:ext cx="1645920" cy="274320"/>
          </a:xfrm>
          <a:prstGeom prst="rect">
            <a:avLst/>
          </a:prstGeom>
          <a:noFill/>
          <a:ln/>
        </p:spPr>
        <p:txBody>
          <a:bodyPr wrap="square" lIns="0" tIns="0" rIns="0" bIns="0" rtlCol="0" anchor="t"/>
          <a:lstStyle/>
          <a:p>
            <a:pPr algn="ctr" indent="0" marL="0">
              <a:buNone/>
            </a:pPr>
            <a:r>
              <a:rPr lang="en-US" sz="1050" dirty="0">
                <a:solidFill>
                  <a:srgbClr val="9E4227"/>
                </a:solidFill>
                <a:latin typeface="Helvetica Neue" pitchFamily="34" charset="0"/>
                <a:ea typeface="Helvetica Neue" pitchFamily="34" charset="-122"/>
                <a:cs typeface="Helvetica Neue" pitchFamily="34" charset="-120"/>
              </a:rPr>
              <a:t>max</a:t>
            </a:r>
            <a:endParaRPr lang="en-US" sz="1050" dirty="0"/>
          </a:p>
        </p:txBody>
      </p:sp>
      <p:sp>
        <p:nvSpPr>
          <p:cNvPr id="15" name="Text 12"/>
          <p:cNvSpPr/>
          <p:nvPr/>
        </p:nvSpPr>
        <p:spPr>
          <a:xfrm>
            <a:off x="2560320" y="2468880"/>
            <a:ext cx="9052560" cy="36576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below threshold · no job running</a:t>
            </a:r>
            <a:endParaRPr lang="en-US" sz="1250" dirty="0"/>
          </a:p>
        </p:txBody>
      </p:sp>
      <p:sp>
        <p:nvSpPr>
          <p:cNvPr id="16" name="Shape 13"/>
          <p:cNvSpPr/>
          <p:nvPr/>
        </p:nvSpPr>
        <p:spPr>
          <a:xfrm>
            <a:off x="9601200" y="1737360"/>
            <a:ext cx="2011680" cy="685800"/>
          </a:xfrm>
          <a:prstGeom prst="roundRect">
            <a:avLst>
              <a:gd name="adj" fmla="val 10667"/>
            </a:avLst>
          </a:prstGeom>
          <a:solidFill>
            <a:srgbClr val="DDE3CC"/>
          </a:solidFill>
          <a:ln/>
        </p:spPr>
      </p:sp>
      <p:sp>
        <p:nvSpPr>
          <p:cNvPr id="17" name="Text 14"/>
          <p:cNvSpPr/>
          <p:nvPr/>
        </p:nvSpPr>
        <p:spPr>
          <a:xfrm>
            <a:off x="9601200" y="1737360"/>
            <a:ext cx="2011680" cy="685800"/>
          </a:xfrm>
          <a:prstGeom prst="rect">
            <a:avLst/>
          </a:prstGeom>
          <a:noFill/>
          <a:ln/>
        </p:spPr>
        <p:txBody>
          <a:bodyPr wrap="square" lIns="0" tIns="0" rIns="0" bIns="0" rtlCol="0" anchor="ctr"/>
          <a:lstStyle/>
          <a:p>
            <a:pPr algn="ctr" indent="0" marL="0">
              <a:buNone/>
            </a:pPr>
            <a:r>
              <a:rPr lang="en-US" sz="1250" b="1" dirty="0">
                <a:solidFill>
                  <a:srgbClr val="5F7A3A"/>
                </a:solidFill>
                <a:latin typeface="Helvetica Neue" pitchFamily="34" charset="0"/>
                <a:ea typeface="Helvetica Neue" pitchFamily="34" charset="-122"/>
                <a:cs typeface="Helvetica Neue" pitchFamily="34" charset="-120"/>
              </a:rPr>
              <a:t>p99 flat</a:t>
            </a:r>
            <a:endParaRPr lang="en-US" sz="1250" dirty="0"/>
          </a:p>
        </p:txBody>
      </p:sp>
      <p:sp>
        <p:nvSpPr>
          <p:cNvPr id="18" name="Text 15"/>
          <p:cNvSpPr/>
          <p:nvPr/>
        </p:nvSpPr>
        <p:spPr>
          <a:xfrm>
            <a:off x="548640" y="3108960"/>
            <a:ext cx="1828800" cy="457200"/>
          </a:xfrm>
          <a:prstGeom prst="rect">
            <a:avLst/>
          </a:prstGeom>
          <a:noFill/>
          <a:ln/>
        </p:spPr>
        <p:txBody>
          <a:bodyPr wrap="square" lIns="0" tIns="0" rIns="0" bIns="0" rtlCol="0" anchor="ctr"/>
          <a:lstStyle/>
          <a:p>
            <a:pPr indent="0" marL="0">
              <a:buNone/>
            </a:pPr>
            <a:r>
              <a:rPr lang="en-US" sz="1400" b="1" spc="100" kern="0" dirty="0">
                <a:solidFill>
                  <a:srgbClr val="B5822B"/>
                </a:solidFill>
                <a:latin typeface="Helvetica Neue" pitchFamily="34" charset="0"/>
                <a:ea typeface="Helvetica Neue" pitchFamily="34" charset="-122"/>
                <a:cs typeface="Helvetica Neue" pitchFamily="34" charset="-120"/>
              </a:rPr>
              <a:t>DRAINING</a:t>
            </a:r>
            <a:endParaRPr lang="en-US" sz="1400" dirty="0"/>
          </a:p>
        </p:txBody>
      </p:sp>
      <p:sp>
        <p:nvSpPr>
          <p:cNvPr id="19" name="Shape 16"/>
          <p:cNvSpPr/>
          <p:nvPr/>
        </p:nvSpPr>
        <p:spPr>
          <a:xfrm>
            <a:off x="2560320" y="3108960"/>
            <a:ext cx="6766560" cy="685800"/>
          </a:xfrm>
          <a:prstGeom prst="rect">
            <a:avLst/>
          </a:prstGeom>
          <a:solidFill>
            <a:srgbClr val="E6DFCE"/>
          </a:solidFill>
          <a:ln/>
        </p:spPr>
      </p:sp>
      <p:sp>
        <p:nvSpPr>
          <p:cNvPr id="20" name="Shape 17"/>
          <p:cNvSpPr/>
          <p:nvPr/>
        </p:nvSpPr>
        <p:spPr>
          <a:xfrm>
            <a:off x="2560320" y="3108960"/>
            <a:ext cx="4736592" cy="685800"/>
          </a:xfrm>
          <a:prstGeom prst="rect">
            <a:avLst/>
          </a:prstGeom>
          <a:solidFill>
            <a:srgbClr val="EDE0C4"/>
          </a:solidFill>
          <a:ln/>
        </p:spPr>
      </p:sp>
      <p:sp>
        <p:nvSpPr>
          <p:cNvPr id="21" name="Shape 18"/>
          <p:cNvSpPr/>
          <p:nvPr/>
        </p:nvSpPr>
        <p:spPr>
          <a:xfrm>
            <a:off x="6263640" y="2999232"/>
            <a:ext cx="36576" cy="905256"/>
          </a:xfrm>
          <a:prstGeom prst="rect">
            <a:avLst/>
          </a:prstGeom>
          <a:solidFill>
            <a:srgbClr val="B5822B"/>
          </a:solidFill>
          <a:ln/>
        </p:spPr>
      </p:sp>
      <p:sp>
        <p:nvSpPr>
          <p:cNvPr id="22" name="Shape 19"/>
          <p:cNvSpPr/>
          <p:nvPr/>
        </p:nvSpPr>
        <p:spPr>
          <a:xfrm>
            <a:off x="9290304" y="2999232"/>
            <a:ext cx="36576" cy="905256"/>
          </a:xfrm>
          <a:prstGeom prst="rect">
            <a:avLst/>
          </a:prstGeom>
          <a:solidFill>
            <a:srgbClr val="9E4227"/>
          </a:solidFill>
          <a:ln/>
        </p:spPr>
      </p:sp>
      <p:sp>
        <p:nvSpPr>
          <p:cNvPr id="23" name="Text 20"/>
          <p:cNvSpPr/>
          <p:nvPr/>
        </p:nvSpPr>
        <p:spPr>
          <a:xfrm>
            <a:off x="2560320" y="3840480"/>
            <a:ext cx="9052560" cy="36576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past threshold · indexing job running · writes at full speed</a:t>
            </a:r>
            <a:endParaRPr lang="en-US" sz="1250" dirty="0"/>
          </a:p>
        </p:txBody>
      </p:sp>
      <p:sp>
        <p:nvSpPr>
          <p:cNvPr id="24" name="Shape 21"/>
          <p:cNvSpPr/>
          <p:nvPr/>
        </p:nvSpPr>
        <p:spPr>
          <a:xfrm>
            <a:off x="9601200" y="3108960"/>
            <a:ext cx="2011680" cy="685800"/>
          </a:xfrm>
          <a:prstGeom prst="roundRect">
            <a:avLst>
              <a:gd name="adj" fmla="val 10667"/>
            </a:avLst>
          </a:prstGeom>
          <a:solidFill>
            <a:srgbClr val="EDE0C4"/>
          </a:solidFill>
          <a:ln/>
        </p:spPr>
      </p:sp>
      <p:sp>
        <p:nvSpPr>
          <p:cNvPr id="25" name="Text 22"/>
          <p:cNvSpPr/>
          <p:nvPr/>
        </p:nvSpPr>
        <p:spPr>
          <a:xfrm>
            <a:off x="9601200" y="3108960"/>
            <a:ext cx="2011680" cy="685800"/>
          </a:xfrm>
          <a:prstGeom prst="rect">
            <a:avLst/>
          </a:prstGeom>
          <a:noFill/>
          <a:ln/>
        </p:spPr>
        <p:txBody>
          <a:bodyPr wrap="square" lIns="0" tIns="0" rIns="0" bIns="0" rtlCol="0" anchor="ctr"/>
          <a:lstStyle/>
          <a:p>
            <a:pPr algn="ctr" indent="0" marL="0">
              <a:buNone/>
            </a:pPr>
            <a:r>
              <a:rPr lang="en-US" sz="1250" b="1" dirty="0">
                <a:solidFill>
                  <a:srgbClr val="B5822B"/>
                </a:solidFill>
                <a:latin typeface="Helvetica Neue" pitchFamily="34" charset="0"/>
                <a:ea typeface="Helvetica Neue" pitchFamily="34" charset="-122"/>
                <a:cs typeface="Helvetica Neue" pitchFamily="34" charset="-120"/>
              </a:rPr>
              <a:t>p99 flat</a:t>
            </a:r>
            <a:endParaRPr lang="en-US" sz="1250" dirty="0"/>
          </a:p>
        </p:txBody>
      </p:sp>
      <p:sp>
        <p:nvSpPr>
          <p:cNvPr id="26" name="Text 23"/>
          <p:cNvSpPr/>
          <p:nvPr/>
        </p:nvSpPr>
        <p:spPr>
          <a:xfrm>
            <a:off x="548640" y="4480560"/>
            <a:ext cx="1828800" cy="457200"/>
          </a:xfrm>
          <a:prstGeom prst="rect">
            <a:avLst/>
          </a:prstGeom>
          <a:noFill/>
          <a:ln/>
        </p:spPr>
        <p:txBody>
          <a:bodyPr wrap="square" lIns="0" tIns="0" rIns="0" bIns="0" rtlCol="0" anchor="ctr"/>
          <a:lstStyle/>
          <a:p>
            <a:pPr indent="0" marL="0">
              <a:buNone/>
            </a:pPr>
            <a:r>
              <a:rPr lang="en-US" sz="1400" b="1" spc="100" kern="0" dirty="0">
                <a:solidFill>
                  <a:srgbClr val="9E4227"/>
                </a:solidFill>
                <a:latin typeface="Helvetica Neue" pitchFamily="34" charset="0"/>
                <a:ea typeface="Helvetica Neue" pitchFamily="34" charset="-122"/>
                <a:cs typeface="Helvetica Neue" pitchFamily="34" charset="-120"/>
              </a:rPr>
              <a:t>THROTTLED</a:t>
            </a:r>
            <a:endParaRPr lang="en-US" sz="1400" dirty="0"/>
          </a:p>
        </p:txBody>
      </p:sp>
      <p:sp>
        <p:nvSpPr>
          <p:cNvPr id="27" name="Shape 24"/>
          <p:cNvSpPr/>
          <p:nvPr/>
        </p:nvSpPr>
        <p:spPr>
          <a:xfrm>
            <a:off x="2560320" y="4480560"/>
            <a:ext cx="6766560" cy="685800"/>
          </a:xfrm>
          <a:prstGeom prst="rect">
            <a:avLst/>
          </a:prstGeom>
          <a:solidFill>
            <a:srgbClr val="E6DFCE"/>
          </a:solidFill>
          <a:ln/>
        </p:spPr>
      </p:sp>
      <p:sp>
        <p:nvSpPr>
          <p:cNvPr id="28" name="Shape 25"/>
          <p:cNvSpPr/>
          <p:nvPr/>
        </p:nvSpPr>
        <p:spPr>
          <a:xfrm>
            <a:off x="2560320" y="4480560"/>
            <a:ext cx="6766560" cy="685800"/>
          </a:xfrm>
          <a:prstGeom prst="rect">
            <a:avLst/>
          </a:prstGeom>
          <a:solidFill>
            <a:srgbClr val="EBD5CB"/>
          </a:solidFill>
          <a:ln/>
        </p:spPr>
      </p:sp>
      <p:sp>
        <p:nvSpPr>
          <p:cNvPr id="29" name="Shape 26"/>
          <p:cNvSpPr/>
          <p:nvPr/>
        </p:nvSpPr>
        <p:spPr>
          <a:xfrm>
            <a:off x="6263640" y="4370832"/>
            <a:ext cx="36576" cy="905256"/>
          </a:xfrm>
          <a:prstGeom prst="rect">
            <a:avLst/>
          </a:prstGeom>
          <a:solidFill>
            <a:srgbClr val="B5822B"/>
          </a:solidFill>
          <a:ln/>
        </p:spPr>
      </p:sp>
      <p:sp>
        <p:nvSpPr>
          <p:cNvPr id="30" name="Shape 27"/>
          <p:cNvSpPr/>
          <p:nvPr/>
        </p:nvSpPr>
        <p:spPr>
          <a:xfrm>
            <a:off x="9290304" y="4370832"/>
            <a:ext cx="36576" cy="905256"/>
          </a:xfrm>
          <a:prstGeom prst="rect">
            <a:avLst/>
          </a:prstGeom>
          <a:solidFill>
            <a:srgbClr val="9E4227"/>
          </a:solidFill>
          <a:ln/>
        </p:spPr>
      </p:sp>
      <p:sp>
        <p:nvSpPr>
          <p:cNvPr id="31" name="Text 28"/>
          <p:cNvSpPr/>
          <p:nvPr/>
        </p:nvSpPr>
        <p:spPr>
          <a:xfrm>
            <a:off x="2560320" y="5212080"/>
            <a:ext cx="9052560" cy="36576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at max · transactor slows the writers on purpose</a:t>
            </a:r>
            <a:endParaRPr lang="en-US" sz="1250" dirty="0"/>
          </a:p>
        </p:txBody>
      </p:sp>
      <p:sp>
        <p:nvSpPr>
          <p:cNvPr id="32" name="Shape 29"/>
          <p:cNvSpPr/>
          <p:nvPr/>
        </p:nvSpPr>
        <p:spPr>
          <a:xfrm>
            <a:off x="9601200" y="4480560"/>
            <a:ext cx="2011680" cy="685800"/>
          </a:xfrm>
          <a:prstGeom prst="roundRect">
            <a:avLst>
              <a:gd name="adj" fmla="val 10667"/>
            </a:avLst>
          </a:prstGeom>
          <a:solidFill>
            <a:srgbClr val="EBD5CB"/>
          </a:solidFill>
          <a:ln/>
        </p:spPr>
      </p:sp>
      <p:sp>
        <p:nvSpPr>
          <p:cNvPr id="33" name="Text 30"/>
          <p:cNvSpPr/>
          <p:nvPr/>
        </p:nvSpPr>
        <p:spPr>
          <a:xfrm>
            <a:off x="9601200" y="4480560"/>
            <a:ext cx="2011680" cy="685800"/>
          </a:xfrm>
          <a:prstGeom prst="rect">
            <a:avLst/>
          </a:prstGeom>
          <a:noFill/>
          <a:ln/>
        </p:spPr>
        <p:txBody>
          <a:bodyPr wrap="square" lIns="0" tIns="0" rIns="0" bIns="0" rtlCol="0" anchor="ctr"/>
          <a:lstStyle/>
          <a:p>
            <a:pPr algn="ctr" indent="0" marL="0">
              <a:buNone/>
            </a:pPr>
            <a:r>
              <a:rPr lang="en-US" sz="1250" b="1" dirty="0">
                <a:solidFill>
                  <a:srgbClr val="9E4227"/>
                </a:solidFill>
                <a:latin typeface="Helvetica Neue" pitchFamily="34" charset="0"/>
                <a:ea typeface="Helvetica Neue" pitchFamily="34" charset="-122"/>
                <a:cs typeface="Helvetica Neue" pitchFamily="34" charset="-120"/>
              </a:rPr>
              <a:t>p99 rises</a:t>
            </a:r>
            <a:endParaRPr lang="en-US" sz="1250" dirty="0"/>
          </a:p>
        </p:txBody>
      </p:sp>
      <p:sp>
        <p:nvSpPr>
          <p:cNvPr id="34" name="Shape 31"/>
          <p:cNvSpPr/>
          <p:nvPr/>
        </p:nvSpPr>
        <p:spPr>
          <a:xfrm>
            <a:off x="548640" y="5760720"/>
            <a:ext cx="54864" cy="457200"/>
          </a:xfrm>
          <a:prstGeom prst="rect">
            <a:avLst/>
          </a:prstGeom>
          <a:solidFill>
            <a:srgbClr val="A8864A"/>
          </a:solidFill>
          <a:ln/>
        </p:spPr>
      </p:sp>
      <p:sp>
        <p:nvSpPr>
          <p:cNvPr id="35" name="Text 32"/>
          <p:cNvSpPr/>
          <p:nvPr/>
        </p:nvSpPr>
        <p:spPr>
          <a:xfrm>
            <a:off x="777240" y="57607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Throttled is not broken. Ask why the drain is slower than the write rate — usually storage.</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32</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Transactor settings — properties file</a:t>
            </a:r>
            <a:endParaRPr lang="en-US" sz="2500" dirty="0"/>
          </a:p>
        </p:txBody>
      </p:sp>
      <p:sp>
        <p:nvSpPr>
          <p:cNvPr id="8" name="Shape 5"/>
          <p:cNvSpPr/>
          <p:nvPr/>
        </p:nvSpPr>
        <p:spPr>
          <a:xfrm>
            <a:off x="548640" y="1325880"/>
            <a:ext cx="11064240" cy="457200"/>
          </a:xfrm>
          <a:prstGeom prst="rect">
            <a:avLst/>
          </a:prstGeom>
          <a:solidFill>
            <a:srgbClr val="2C2416"/>
          </a:solidFill>
          <a:ln/>
        </p:spPr>
      </p:sp>
      <p:sp>
        <p:nvSpPr>
          <p:cNvPr id="9" name="Text 6"/>
          <p:cNvSpPr/>
          <p:nvPr/>
        </p:nvSpPr>
        <p:spPr>
          <a:xfrm>
            <a:off x="777240" y="1325880"/>
            <a:ext cx="4114800" cy="457200"/>
          </a:xfrm>
          <a:prstGeom prst="rect">
            <a:avLst/>
          </a:prstGeom>
          <a:noFill/>
          <a:ln/>
        </p:spPr>
        <p:txBody>
          <a:bodyPr wrap="square" lIns="0" tIns="0" rIns="0" bIns="0" rtlCol="0" anchor="ctr"/>
          <a:lstStyle/>
          <a:p>
            <a:pPr indent="0" marL="0">
              <a:buNone/>
            </a:pPr>
            <a:r>
              <a:rPr lang="en-US" sz="1150" b="1" spc="150" kern="0" dirty="0">
                <a:solidFill>
                  <a:srgbClr val="C6A46A"/>
                </a:solidFill>
                <a:latin typeface="Helvetica Neue" pitchFamily="34" charset="0"/>
                <a:ea typeface="Helvetica Neue" pitchFamily="34" charset="-122"/>
                <a:cs typeface="Helvetica Neue" pitchFamily="34" charset="-120"/>
              </a:rPr>
              <a:t>SETTING</a:t>
            </a:r>
            <a:endParaRPr lang="en-US" sz="1150" dirty="0"/>
          </a:p>
        </p:txBody>
      </p:sp>
      <p:sp>
        <p:nvSpPr>
          <p:cNvPr id="10" name="Text 7"/>
          <p:cNvSpPr/>
          <p:nvPr/>
        </p:nvSpPr>
        <p:spPr>
          <a:xfrm>
            <a:off x="5029200" y="1325880"/>
            <a:ext cx="1645920" cy="457200"/>
          </a:xfrm>
          <a:prstGeom prst="rect">
            <a:avLst/>
          </a:prstGeom>
          <a:noFill/>
          <a:ln/>
        </p:spPr>
        <p:txBody>
          <a:bodyPr wrap="square" lIns="0" tIns="0" rIns="0" bIns="0" rtlCol="0" anchor="ctr"/>
          <a:lstStyle/>
          <a:p>
            <a:pPr indent="0" marL="0">
              <a:buNone/>
            </a:pPr>
            <a:r>
              <a:rPr lang="en-US" sz="1150" b="1" spc="150" kern="0" dirty="0">
                <a:solidFill>
                  <a:srgbClr val="C6A46A"/>
                </a:solidFill>
                <a:latin typeface="Helvetica Neue" pitchFamily="34" charset="0"/>
                <a:ea typeface="Helvetica Neue" pitchFamily="34" charset="-122"/>
                <a:cs typeface="Helvetica Neue" pitchFamily="34" charset="-120"/>
              </a:rPr>
              <a:t>IF</a:t>
            </a:r>
            <a:endParaRPr lang="en-US" sz="1150" dirty="0"/>
          </a:p>
        </p:txBody>
      </p:sp>
      <p:sp>
        <p:nvSpPr>
          <p:cNvPr id="11" name="Text 8"/>
          <p:cNvSpPr/>
          <p:nvPr/>
        </p:nvSpPr>
        <p:spPr>
          <a:xfrm>
            <a:off x="6858000" y="1325880"/>
            <a:ext cx="4572000" cy="457200"/>
          </a:xfrm>
          <a:prstGeom prst="rect">
            <a:avLst/>
          </a:prstGeom>
          <a:noFill/>
          <a:ln/>
        </p:spPr>
        <p:txBody>
          <a:bodyPr wrap="square" lIns="0" tIns="0" rIns="0" bIns="0" rtlCol="0" anchor="ctr"/>
          <a:lstStyle/>
          <a:p>
            <a:pPr indent="0" marL="0">
              <a:buNone/>
            </a:pPr>
            <a:r>
              <a:rPr lang="en-US" sz="1150" b="1" spc="150" kern="0" dirty="0">
                <a:solidFill>
                  <a:srgbClr val="C6A46A"/>
                </a:solidFill>
                <a:latin typeface="Helvetica Neue" pitchFamily="34" charset="0"/>
                <a:ea typeface="Helvetica Neue" pitchFamily="34" charset="-122"/>
                <a:cs typeface="Helvetica Neue" pitchFamily="34" charset="-120"/>
              </a:rPr>
              <a:t>EFFECT</a:t>
            </a:r>
            <a:endParaRPr lang="en-US" sz="1150" dirty="0"/>
          </a:p>
        </p:txBody>
      </p:sp>
      <p:sp>
        <p:nvSpPr>
          <p:cNvPr id="12" name="Shape 9"/>
          <p:cNvSpPr/>
          <p:nvPr/>
        </p:nvSpPr>
        <p:spPr>
          <a:xfrm>
            <a:off x="548640" y="1874520"/>
            <a:ext cx="11064240" cy="548640"/>
          </a:xfrm>
          <a:prstGeom prst="rect">
            <a:avLst/>
          </a:prstGeom>
          <a:solidFill>
            <a:srgbClr val="E6DFCE"/>
          </a:solidFill>
          <a:ln/>
        </p:spPr>
      </p:sp>
      <p:sp>
        <p:nvSpPr>
          <p:cNvPr id="13" name="Text 10"/>
          <p:cNvSpPr/>
          <p:nvPr/>
        </p:nvSpPr>
        <p:spPr>
          <a:xfrm>
            <a:off x="777240" y="1874520"/>
            <a:ext cx="4114800" cy="548640"/>
          </a:xfrm>
          <a:prstGeom prst="rect">
            <a:avLst/>
          </a:prstGeom>
          <a:noFill/>
          <a:ln/>
        </p:spPr>
        <p:txBody>
          <a:bodyPr wrap="square" lIns="0" tIns="0" rIns="0" bIns="0" rtlCol="0" anchor="ctr">
            <a:normAutofit/>
          </a:bodyPr>
          <a:lstStyle/>
          <a:p>
            <a:pPr indent="0" marL="0">
              <a:buNone/>
            </a:pPr>
            <a:r>
              <a:rPr lang="en-US" sz="1300" dirty="0">
                <a:solidFill>
                  <a:srgbClr val="3A2C1A"/>
                </a:solidFill>
                <a:latin typeface="Courier New" pitchFamily="34" charset="0"/>
                <a:ea typeface="Courier New" pitchFamily="34" charset="-122"/>
                <a:cs typeface="Courier New" pitchFamily="34" charset="-120"/>
              </a:rPr>
              <a:t>memory-index-threshold</a:t>
            </a:r>
            <a:endParaRPr lang="en-US" sz="1300" dirty="0"/>
          </a:p>
        </p:txBody>
      </p:sp>
      <p:sp>
        <p:nvSpPr>
          <p:cNvPr id="14" name="Shape 11"/>
          <p:cNvSpPr/>
          <p:nvPr/>
        </p:nvSpPr>
        <p:spPr>
          <a:xfrm>
            <a:off x="5029200" y="1993392"/>
            <a:ext cx="1371600" cy="310896"/>
          </a:xfrm>
          <a:prstGeom prst="roundRect">
            <a:avLst>
              <a:gd name="adj" fmla="val 23529"/>
            </a:avLst>
          </a:prstGeom>
          <a:solidFill>
            <a:srgbClr val="EDE0C4"/>
          </a:solidFill>
          <a:ln/>
        </p:spPr>
      </p:sp>
      <p:sp>
        <p:nvSpPr>
          <p:cNvPr id="15" name="Text 12"/>
          <p:cNvSpPr/>
          <p:nvPr/>
        </p:nvSpPr>
        <p:spPr>
          <a:xfrm>
            <a:off x="5029200" y="1993392"/>
            <a:ext cx="1371600" cy="310896"/>
          </a:xfrm>
          <a:prstGeom prst="rect">
            <a:avLst/>
          </a:prstGeom>
          <a:noFill/>
          <a:ln/>
        </p:spPr>
        <p:txBody>
          <a:bodyPr wrap="square" lIns="0" tIns="0" rIns="0" bIns="0" rtlCol="0" anchor="ct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too high</a:t>
            </a:r>
            <a:endParaRPr lang="en-US" sz="1100" dirty="0"/>
          </a:p>
        </p:txBody>
      </p:sp>
      <p:sp>
        <p:nvSpPr>
          <p:cNvPr id="16" name="Text 13"/>
          <p:cNvSpPr/>
          <p:nvPr/>
        </p:nvSpPr>
        <p:spPr>
          <a:xfrm>
            <a:off x="6858000" y="1874520"/>
            <a:ext cx="45720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long, bursty indexing jobs</a:t>
            </a:r>
            <a:endParaRPr lang="en-US" sz="1300" dirty="0"/>
          </a:p>
        </p:txBody>
      </p:sp>
      <p:sp>
        <p:nvSpPr>
          <p:cNvPr id="17" name="Shape 14"/>
          <p:cNvSpPr/>
          <p:nvPr/>
        </p:nvSpPr>
        <p:spPr>
          <a:xfrm>
            <a:off x="548640" y="2496312"/>
            <a:ext cx="11064240" cy="548640"/>
          </a:xfrm>
          <a:prstGeom prst="rect">
            <a:avLst/>
          </a:prstGeom>
          <a:solidFill>
            <a:srgbClr val="EFE9DD"/>
          </a:solidFill>
          <a:ln/>
        </p:spPr>
      </p:sp>
      <p:sp>
        <p:nvSpPr>
          <p:cNvPr id="18" name="Text 15"/>
          <p:cNvSpPr/>
          <p:nvPr/>
        </p:nvSpPr>
        <p:spPr>
          <a:xfrm>
            <a:off x="777240" y="2496312"/>
            <a:ext cx="4114800" cy="548640"/>
          </a:xfrm>
          <a:prstGeom prst="rect">
            <a:avLst/>
          </a:prstGeom>
          <a:noFill/>
          <a:ln/>
        </p:spPr>
        <p:txBody>
          <a:bodyPr wrap="square" lIns="0" tIns="0" rIns="0" bIns="0" rtlCol="0" anchor="ctr">
            <a:normAutofit/>
          </a:bodyPr>
          <a:lstStyle/>
          <a:p>
            <a:pPr indent="0" marL="0">
              <a:buNone/>
            </a:pPr>
            <a:r>
              <a:rPr lang="en-US" sz="1300" dirty="0">
                <a:solidFill>
                  <a:srgbClr val="3A2C1A"/>
                </a:solidFill>
                <a:latin typeface="Courier New" pitchFamily="34" charset="0"/>
                <a:ea typeface="Courier New" pitchFamily="34" charset="-122"/>
                <a:cs typeface="Courier New" pitchFamily="34" charset="-120"/>
              </a:rPr>
              <a:t>memory-index-max</a:t>
            </a:r>
            <a:endParaRPr lang="en-US" sz="1300" dirty="0"/>
          </a:p>
        </p:txBody>
      </p:sp>
      <p:sp>
        <p:nvSpPr>
          <p:cNvPr id="19" name="Shape 16"/>
          <p:cNvSpPr/>
          <p:nvPr/>
        </p:nvSpPr>
        <p:spPr>
          <a:xfrm>
            <a:off x="5029200" y="2615184"/>
            <a:ext cx="1371600" cy="310896"/>
          </a:xfrm>
          <a:prstGeom prst="roundRect">
            <a:avLst>
              <a:gd name="adj" fmla="val 23529"/>
            </a:avLst>
          </a:prstGeom>
          <a:solidFill>
            <a:srgbClr val="EDE0C4"/>
          </a:solidFill>
          <a:ln/>
        </p:spPr>
      </p:sp>
      <p:sp>
        <p:nvSpPr>
          <p:cNvPr id="20" name="Text 17"/>
          <p:cNvSpPr/>
          <p:nvPr/>
        </p:nvSpPr>
        <p:spPr>
          <a:xfrm>
            <a:off x="5029200" y="2615184"/>
            <a:ext cx="1371600" cy="310896"/>
          </a:xfrm>
          <a:prstGeom prst="rect">
            <a:avLst/>
          </a:prstGeom>
          <a:noFill/>
          <a:ln/>
        </p:spPr>
        <p:txBody>
          <a:bodyPr wrap="square" lIns="0" tIns="0" rIns="0" bIns="0" rtlCol="0" anchor="ct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too low</a:t>
            </a:r>
            <a:endParaRPr lang="en-US" sz="1100" dirty="0"/>
          </a:p>
        </p:txBody>
      </p:sp>
      <p:sp>
        <p:nvSpPr>
          <p:cNvPr id="21" name="Text 18"/>
          <p:cNvSpPr/>
          <p:nvPr/>
        </p:nvSpPr>
        <p:spPr>
          <a:xfrm>
            <a:off x="6858000" y="2496312"/>
            <a:ext cx="45720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early throttling under load</a:t>
            </a:r>
            <a:endParaRPr lang="en-US" sz="1300" dirty="0"/>
          </a:p>
        </p:txBody>
      </p:sp>
      <p:sp>
        <p:nvSpPr>
          <p:cNvPr id="22" name="Shape 19"/>
          <p:cNvSpPr/>
          <p:nvPr/>
        </p:nvSpPr>
        <p:spPr>
          <a:xfrm>
            <a:off x="548640" y="3118104"/>
            <a:ext cx="11064240" cy="548640"/>
          </a:xfrm>
          <a:prstGeom prst="rect">
            <a:avLst/>
          </a:prstGeom>
          <a:solidFill>
            <a:srgbClr val="E6DFCE"/>
          </a:solidFill>
          <a:ln/>
        </p:spPr>
      </p:sp>
      <p:sp>
        <p:nvSpPr>
          <p:cNvPr id="23" name="Text 20"/>
          <p:cNvSpPr/>
          <p:nvPr/>
        </p:nvSpPr>
        <p:spPr>
          <a:xfrm>
            <a:off x="777240" y="3118104"/>
            <a:ext cx="4114800" cy="548640"/>
          </a:xfrm>
          <a:prstGeom prst="rect">
            <a:avLst/>
          </a:prstGeom>
          <a:noFill/>
          <a:ln/>
        </p:spPr>
        <p:txBody>
          <a:bodyPr wrap="square" lIns="0" tIns="0" rIns="0" bIns="0" rtlCol="0" anchor="ctr">
            <a:normAutofit/>
          </a:bodyPr>
          <a:lstStyle/>
          <a:p>
            <a:pPr indent="0" marL="0">
              <a:buNone/>
            </a:pPr>
            <a:r>
              <a:rPr lang="en-US" sz="1300" dirty="0">
                <a:solidFill>
                  <a:srgbClr val="3A2C1A"/>
                </a:solidFill>
                <a:latin typeface="Courier New" pitchFamily="34" charset="0"/>
                <a:ea typeface="Courier New" pitchFamily="34" charset="-122"/>
                <a:cs typeface="Courier New" pitchFamily="34" charset="-120"/>
              </a:rPr>
              <a:t>object-cache-max</a:t>
            </a:r>
            <a:endParaRPr lang="en-US" sz="1300" dirty="0"/>
          </a:p>
        </p:txBody>
      </p:sp>
      <p:sp>
        <p:nvSpPr>
          <p:cNvPr id="24" name="Shape 21"/>
          <p:cNvSpPr/>
          <p:nvPr/>
        </p:nvSpPr>
        <p:spPr>
          <a:xfrm>
            <a:off x="5029200" y="3236976"/>
            <a:ext cx="1371600" cy="310896"/>
          </a:xfrm>
          <a:prstGeom prst="roundRect">
            <a:avLst>
              <a:gd name="adj" fmla="val 23529"/>
            </a:avLst>
          </a:prstGeom>
          <a:solidFill>
            <a:srgbClr val="EDE0C4"/>
          </a:solidFill>
          <a:ln/>
        </p:spPr>
      </p:sp>
      <p:sp>
        <p:nvSpPr>
          <p:cNvPr id="25" name="Text 22"/>
          <p:cNvSpPr/>
          <p:nvPr/>
        </p:nvSpPr>
        <p:spPr>
          <a:xfrm>
            <a:off x="5029200" y="3236976"/>
            <a:ext cx="1371600" cy="310896"/>
          </a:xfrm>
          <a:prstGeom prst="rect">
            <a:avLst/>
          </a:prstGeom>
          <a:noFill/>
          <a:ln/>
        </p:spPr>
        <p:txBody>
          <a:bodyPr wrap="square" lIns="0" tIns="0" rIns="0" bIns="0" rtlCol="0" anchor="ct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too low</a:t>
            </a:r>
            <a:endParaRPr lang="en-US" sz="1100" dirty="0"/>
          </a:p>
        </p:txBody>
      </p:sp>
      <p:sp>
        <p:nvSpPr>
          <p:cNvPr id="26" name="Text 23"/>
          <p:cNvSpPr/>
          <p:nvPr/>
        </p:nvSpPr>
        <p:spPr>
          <a:xfrm>
            <a:off x="6858000" y="3118104"/>
            <a:ext cx="45720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warm reads behave like cold ones</a:t>
            </a:r>
            <a:endParaRPr lang="en-US" sz="1300" dirty="0"/>
          </a:p>
        </p:txBody>
      </p:sp>
      <p:sp>
        <p:nvSpPr>
          <p:cNvPr id="27" name="Shape 24"/>
          <p:cNvSpPr/>
          <p:nvPr/>
        </p:nvSpPr>
        <p:spPr>
          <a:xfrm>
            <a:off x="548640" y="3739896"/>
            <a:ext cx="11064240" cy="548640"/>
          </a:xfrm>
          <a:prstGeom prst="rect">
            <a:avLst/>
          </a:prstGeom>
          <a:solidFill>
            <a:srgbClr val="EFE9DD"/>
          </a:solidFill>
          <a:ln/>
        </p:spPr>
      </p:sp>
      <p:sp>
        <p:nvSpPr>
          <p:cNvPr id="28" name="Text 25"/>
          <p:cNvSpPr/>
          <p:nvPr/>
        </p:nvSpPr>
        <p:spPr>
          <a:xfrm>
            <a:off x="777240" y="3739896"/>
            <a:ext cx="4114800" cy="548640"/>
          </a:xfrm>
          <a:prstGeom prst="rect">
            <a:avLst/>
          </a:prstGeom>
          <a:noFill/>
          <a:ln/>
        </p:spPr>
        <p:txBody>
          <a:bodyPr wrap="square" lIns="0" tIns="0" rIns="0" bIns="0" rtlCol="0" anchor="ctr">
            <a:normAutofit/>
          </a:bodyPr>
          <a:lstStyle/>
          <a:p>
            <a:pPr indent="0" marL="0">
              <a:buNone/>
            </a:pPr>
            <a:r>
              <a:rPr lang="en-US" sz="1300" dirty="0">
                <a:solidFill>
                  <a:srgbClr val="3A2C1A"/>
                </a:solidFill>
                <a:latin typeface="Courier New" pitchFamily="34" charset="0"/>
                <a:ea typeface="Courier New" pitchFamily="34" charset="-122"/>
                <a:cs typeface="Courier New" pitchFamily="34" charset="-120"/>
              </a:rPr>
              <a:t>memcached</a:t>
            </a:r>
            <a:endParaRPr lang="en-US" sz="1300" dirty="0"/>
          </a:p>
        </p:txBody>
      </p:sp>
      <p:sp>
        <p:nvSpPr>
          <p:cNvPr id="29" name="Shape 26"/>
          <p:cNvSpPr/>
          <p:nvPr/>
        </p:nvSpPr>
        <p:spPr>
          <a:xfrm>
            <a:off x="5029200" y="3858768"/>
            <a:ext cx="1371600" cy="310896"/>
          </a:xfrm>
          <a:prstGeom prst="roundRect">
            <a:avLst>
              <a:gd name="adj" fmla="val 23529"/>
            </a:avLst>
          </a:prstGeom>
          <a:solidFill>
            <a:srgbClr val="EDE0C4"/>
          </a:solidFill>
          <a:ln/>
        </p:spPr>
      </p:sp>
      <p:sp>
        <p:nvSpPr>
          <p:cNvPr id="30" name="Text 27"/>
          <p:cNvSpPr/>
          <p:nvPr/>
        </p:nvSpPr>
        <p:spPr>
          <a:xfrm>
            <a:off x="5029200" y="3858768"/>
            <a:ext cx="1371600" cy="310896"/>
          </a:xfrm>
          <a:prstGeom prst="rect">
            <a:avLst/>
          </a:prstGeom>
          <a:noFill/>
          <a:ln/>
        </p:spPr>
        <p:txBody>
          <a:bodyPr wrap="square" lIns="0" tIns="0" rIns="0" bIns="0" rtlCol="0" anchor="ct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unset</a:t>
            </a:r>
            <a:endParaRPr lang="en-US" sz="1100" dirty="0"/>
          </a:p>
        </p:txBody>
      </p:sp>
      <p:sp>
        <p:nvSpPr>
          <p:cNvPr id="31" name="Text 28"/>
          <p:cNvSpPr/>
          <p:nvPr/>
        </p:nvSpPr>
        <p:spPr>
          <a:xfrm>
            <a:off x="6858000" y="3739896"/>
            <a:ext cx="45720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each peer misses storage separately</a:t>
            </a:r>
            <a:endParaRPr lang="en-US" sz="1300" dirty="0"/>
          </a:p>
        </p:txBody>
      </p:sp>
      <p:sp>
        <p:nvSpPr>
          <p:cNvPr id="32" name="Shape 29"/>
          <p:cNvSpPr/>
          <p:nvPr/>
        </p:nvSpPr>
        <p:spPr>
          <a:xfrm>
            <a:off x="548640" y="4361688"/>
            <a:ext cx="11064240" cy="548640"/>
          </a:xfrm>
          <a:prstGeom prst="rect">
            <a:avLst/>
          </a:prstGeom>
          <a:solidFill>
            <a:srgbClr val="E6DFCE"/>
          </a:solidFill>
          <a:ln/>
        </p:spPr>
      </p:sp>
      <p:sp>
        <p:nvSpPr>
          <p:cNvPr id="33" name="Text 30"/>
          <p:cNvSpPr/>
          <p:nvPr/>
        </p:nvSpPr>
        <p:spPr>
          <a:xfrm>
            <a:off x="777240" y="4361688"/>
            <a:ext cx="4114800" cy="548640"/>
          </a:xfrm>
          <a:prstGeom prst="rect">
            <a:avLst/>
          </a:prstGeom>
          <a:noFill/>
          <a:ln/>
        </p:spPr>
        <p:txBody>
          <a:bodyPr wrap="square" lIns="0" tIns="0" rIns="0" bIns="0" rtlCol="0" anchor="ctr">
            <a:normAutofit/>
          </a:bodyPr>
          <a:lstStyle/>
          <a:p>
            <a:pPr indent="0" marL="0">
              <a:buNone/>
            </a:pPr>
            <a:r>
              <a:rPr lang="en-US" sz="1300" dirty="0">
                <a:solidFill>
                  <a:srgbClr val="3A2C1A"/>
                </a:solidFill>
                <a:latin typeface="Courier New" pitchFamily="34" charset="0"/>
                <a:ea typeface="Courier New" pitchFamily="34" charset="-122"/>
                <a:cs typeface="Courier New" pitchFamily="34" charset="-120"/>
              </a:rPr>
              <a:t>heartbeat-interval-msec</a:t>
            </a:r>
            <a:endParaRPr lang="en-US" sz="1300" dirty="0"/>
          </a:p>
        </p:txBody>
      </p:sp>
      <p:sp>
        <p:nvSpPr>
          <p:cNvPr id="34" name="Shape 31"/>
          <p:cNvSpPr/>
          <p:nvPr/>
        </p:nvSpPr>
        <p:spPr>
          <a:xfrm>
            <a:off x="5029200" y="4480560"/>
            <a:ext cx="1371600" cy="310896"/>
          </a:xfrm>
          <a:prstGeom prst="roundRect">
            <a:avLst>
              <a:gd name="adj" fmla="val 23529"/>
            </a:avLst>
          </a:prstGeom>
          <a:solidFill>
            <a:srgbClr val="EDE0C4"/>
          </a:solidFill>
          <a:ln/>
        </p:spPr>
      </p:sp>
      <p:sp>
        <p:nvSpPr>
          <p:cNvPr id="35" name="Text 32"/>
          <p:cNvSpPr/>
          <p:nvPr/>
        </p:nvSpPr>
        <p:spPr>
          <a:xfrm>
            <a:off x="5029200" y="4480560"/>
            <a:ext cx="1371600" cy="310896"/>
          </a:xfrm>
          <a:prstGeom prst="rect">
            <a:avLst/>
          </a:prstGeom>
          <a:noFill/>
          <a:ln/>
        </p:spPr>
        <p:txBody>
          <a:bodyPr wrap="square" lIns="0" tIns="0" rIns="0" bIns="0" rtlCol="0" anchor="ctr"/>
          <a:lstStyle/>
          <a:p>
            <a:pPr algn="ctr" indent="0" marL="0">
              <a:buNone/>
            </a:pPr>
            <a:r>
              <a:rPr lang="en-US" sz="1100" dirty="0">
                <a:solidFill>
                  <a:srgbClr val="B5822B"/>
                </a:solidFill>
                <a:latin typeface="Helvetica Neue" pitchFamily="34" charset="0"/>
                <a:ea typeface="Helvetica Neue" pitchFamily="34" charset="-122"/>
                <a:cs typeface="Helvetica Neue" pitchFamily="34" charset="-120"/>
              </a:rPr>
              <a:t>too high</a:t>
            </a:r>
            <a:endParaRPr lang="en-US" sz="1100" dirty="0"/>
          </a:p>
        </p:txBody>
      </p:sp>
      <p:sp>
        <p:nvSpPr>
          <p:cNvPr id="36" name="Text 33"/>
          <p:cNvSpPr/>
          <p:nvPr/>
        </p:nvSpPr>
        <p:spPr>
          <a:xfrm>
            <a:off x="6858000" y="4361688"/>
            <a:ext cx="45720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a longer Part II failover window</a:t>
            </a:r>
            <a:endParaRPr lang="en-US" sz="1300" dirty="0"/>
          </a:p>
        </p:txBody>
      </p:sp>
      <p:sp>
        <p:nvSpPr>
          <p:cNvPr id="37" name="Shape 34"/>
          <p:cNvSpPr/>
          <p:nvPr/>
        </p:nvSpPr>
        <p:spPr>
          <a:xfrm>
            <a:off x="548640" y="5120640"/>
            <a:ext cx="11064240" cy="1005840"/>
          </a:xfrm>
          <a:prstGeom prst="roundRect">
            <a:avLst>
              <a:gd name="adj" fmla="val 7273"/>
            </a:avLst>
          </a:prstGeom>
          <a:solidFill>
            <a:srgbClr val="EBD5CB"/>
          </a:solidFill>
          <a:ln/>
        </p:spPr>
      </p:sp>
      <p:sp>
        <p:nvSpPr>
          <p:cNvPr id="38" name="Shape 35"/>
          <p:cNvSpPr/>
          <p:nvPr/>
        </p:nvSpPr>
        <p:spPr>
          <a:xfrm>
            <a:off x="548640" y="5120640"/>
            <a:ext cx="82296" cy="1005840"/>
          </a:xfrm>
          <a:prstGeom prst="rect">
            <a:avLst/>
          </a:prstGeom>
          <a:solidFill>
            <a:srgbClr val="9E4227"/>
          </a:solidFill>
          <a:ln/>
        </p:spPr>
      </p:sp>
      <p:sp>
        <p:nvSpPr>
          <p:cNvPr id="39" name="Text 36"/>
          <p:cNvSpPr/>
          <p:nvPr/>
        </p:nvSpPr>
        <p:spPr>
          <a:xfrm>
            <a:off x="822960" y="5230368"/>
            <a:ext cx="10607040" cy="320040"/>
          </a:xfrm>
          <a:prstGeom prst="rect">
            <a:avLst/>
          </a:prstGeom>
          <a:noFill/>
          <a:ln/>
        </p:spPr>
        <p:txBody>
          <a:bodyPr wrap="square" lIns="0" tIns="0" rIns="0" bIns="0" rtlCol="0" anchor="t"/>
          <a:lstStyle/>
          <a:p>
            <a:pPr indent="0" marL="0">
              <a:buNone/>
            </a:pPr>
            <a:r>
              <a:rPr lang="en-US" sz="1400" b="1" dirty="0">
                <a:solidFill>
                  <a:srgbClr val="9E4227"/>
                </a:solidFill>
                <a:latin typeface="Helvetica Neue" pitchFamily="34" charset="0"/>
                <a:ea typeface="Helvetica Neue" pitchFamily="34" charset="-122"/>
                <a:cs typeface="Helvetica Neue" pitchFamily="34" charset="-120"/>
              </a:rPr>
              <a:t>⚠  Passing ANY JVM flag to bin/transactor makes it drop its own GC defaults.</a:t>
            </a:r>
            <a:endParaRPr lang="en-US" sz="1400" dirty="0"/>
          </a:p>
        </p:txBody>
      </p:sp>
      <p:sp>
        <p:nvSpPr>
          <p:cNvPr id="40" name="Text 37"/>
          <p:cNvSpPr/>
          <p:nvPr/>
        </p:nvSpPr>
        <p:spPr>
          <a:xfrm>
            <a:off x="822960" y="5596128"/>
            <a:ext cx="10607040" cy="365760"/>
          </a:xfrm>
          <a:prstGeom prst="rect">
            <a:avLst/>
          </a:prstGeom>
          <a:noFill/>
          <a:ln/>
        </p:spPr>
        <p:txBody>
          <a:bodyPr wrap="square" lIns="0" tIns="0" rIns="0" bIns="0" rtlCol="0" anchor="t"/>
          <a:lstStyle/>
          <a:p>
            <a:pPr indent="0" marL="0">
              <a:buNone/>
            </a:pPr>
            <a:r>
              <a:rPr lang="en-US" sz="1250" dirty="0">
                <a:solidFill>
                  <a:srgbClr val="3A2C1A"/>
                </a:solidFill>
                <a:latin typeface="Courier New" pitchFamily="34" charset="0"/>
                <a:ea typeface="Courier New" pitchFamily="34" charset="-122"/>
                <a:cs typeface="Courier New" pitchFamily="34" charset="-120"/>
              </a:rPr>
              <a:t>Re-specify  -XX:+UseG1GC  -XX:MaxGCPauseMillis=50  whenever you pass anything at all.</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33</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Peer flags — and where each one lands on the ladder</a:t>
            </a:r>
            <a:endParaRPr lang="en-US" sz="2500" dirty="0"/>
          </a:p>
        </p:txBody>
      </p:sp>
      <p:sp>
        <p:nvSpPr>
          <p:cNvPr id="8" name="Shape 5"/>
          <p:cNvSpPr/>
          <p:nvPr/>
        </p:nvSpPr>
        <p:spPr>
          <a:xfrm>
            <a:off x="548640" y="1371600"/>
            <a:ext cx="11064240" cy="658368"/>
          </a:xfrm>
          <a:prstGeom prst="rect">
            <a:avLst/>
          </a:prstGeom>
          <a:solidFill>
            <a:srgbClr val="E6DFCE"/>
          </a:solidFill>
          <a:ln/>
        </p:spPr>
      </p:sp>
      <p:sp>
        <p:nvSpPr>
          <p:cNvPr id="9" name="Text 6"/>
          <p:cNvSpPr/>
          <p:nvPr/>
        </p:nvSpPr>
        <p:spPr>
          <a:xfrm>
            <a:off x="777240" y="1371600"/>
            <a:ext cx="4572000" cy="658368"/>
          </a:xfrm>
          <a:prstGeom prst="rect">
            <a:avLst/>
          </a:prstGeom>
          <a:noFill/>
          <a:ln/>
        </p:spPr>
        <p:txBody>
          <a:bodyPr wrap="square" lIns="0" tIns="0" rIns="0" bIns="0" rtlCol="0" anchor="ctr">
            <a:normAutofit/>
          </a:bodyPr>
          <a:lstStyle/>
          <a:p>
            <a:pPr indent="0" marL="0">
              <a:buNone/>
            </a:pPr>
            <a:r>
              <a:rPr lang="en-US" sz="1350" dirty="0">
                <a:solidFill>
                  <a:srgbClr val="3A2C1A"/>
                </a:solidFill>
                <a:latin typeface="Courier New" pitchFamily="34" charset="0"/>
                <a:ea typeface="Courier New" pitchFamily="34" charset="-122"/>
                <a:cs typeface="Courier New" pitchFamily="34" charset="-120"/>
              </a:rPr>
              <a:t>-Ddatomic.objectCacheMax</a:t>
            </a:r>
            <a:endParaRPr lang="en-US" sz="1350" dirty="0"/>
          </a:p>
        </p:txBody>
      </p:sp>
      <p:sp>
        <p:nvSpPr>
          <p:cNvPr id="10" name="Text 7"/>
          <p:cNvSpPr/>
          <p:nvPr/>
        </p:nvSpPr>
        <p:spPr>
          <a:xfrm>
            <a:off x="5577840" y="1371600"/>
            <a:ext cx="4572000" cy="658368"/>
          </a:xfrm>
          <a:prstGeom prst="rect">
            <a:avLst/>
          </a:prstGeom>
          <a:noFill/>
          <a:ln/>
        </p:spPr>
        <p:txBody>
          <a:bodyPr wrap="square" lIns="0" tIns="0" rIns="0" bIns="0" rtlCol="0" anchor="ctr">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peer's own heap cache</a:t>
            </a:r>
            <a:endParaRPr lang="en-US" sz="1350" dirty="0"/>
          </a:p>
        </p:txBody>
      </p:sp>
      <p:sp>
        <p:nvSpPr>
          <p:cNvPr id="11" name="Shape 8"/>
          <p:cNvSpPr/>
          <p:nvPr/>
        </p:nvSpPr>
        <p:spPr>
          <a:xfrm>
            <a:off x="10378440" y="1517904"/>
            <a:ext cx="1234440" cy="365760"/>
          </a:xfrm>
          <a:prstGeom prst="roundRect">
            <a:avLst>
              <a:gd name="adj" fmla="val 20000"/>
            </a:avLst>
          </a:prstGeom>
          <a:solidFill>
            <a:srgbClr val="2C2416"/>
          </a:solidFill>
          <a:ln/>
        </p:spPr>
      </p:sp>
      <p:sp>
        <p:nvSpPr>
          <p:cNvPr id="12" name="Text 9"/>
          <p:cNvSpPr/>
          <p:nvPr/>
        </p:nvSpPr>
        <p:spPr>
          <a:xfrm>
            <a:off x="10378440" y="1517904"/>
            <a:ext cx="1234440" cy="365760"/>
          </a:xfrm>
          <a:prstGeom prst="rect">
            <a:avLst/>
          </a:prstGeom>
          <a:noFill/>
          <a:ln/>
        </p:spPr>
        <p:txBody>
          <a:bodyPr wrap="square" lIns="0" tIns="0" rIns="0" bIns="0" rtlCol="0" anchor="ctr"/>
          <a:lstStyle/>
          <a:p>
            <a:pPr algn="ctr" indent="0" marL="0">
              <a:buNone/>
            </a:pPr>
            <a:r>
              <a:rPr lang="en-US" sz="1100" b="1" dirty="0">
                <a:solidFill>
                  <a:srgbClr val="FCFAF4"/>
                </a:solidFill>
                <a:latin typeface="Helvetica Neue" pitchFamily="34" charset="0"/>
                <a:ea typeface="Helvetica Neue" pitchFamily="34" charset="-122"/>
                <a:cs typeface="Helvetica Neue" pitchFamily="34" charset="-120"/>
              </a:rPr>
              <a:t>tier 1</a:t>
            </a:r>
            <a:endParaRPr lang="en-US" sz="1100" dirty="0"/>
          </a:p>
        </p:txBody>
      </p:sp>
      <p:sp>
        <p:nvSpPr>
          <p:cNvPr id="13" name="Shape 10"/>
          <p:cNvSpPr/>
          <p:nvPr/>
        </p:nvSpPr>
        <p:spPr>
          <a:xfrm>
            <a:off x="548640" y="2148840"/>
            <a:ext cx="11064240" cy="658368"/>
          </a:xfrm>
          <a:prstGeom prst="rect">
            <a:avLst/>
          </a:prstGeom>
          <a:solidFill>
            <a:srgbClr val="EFE9DD"/>
          </a:solidFill>
          <a:ln/>
        </p:spPr>
      </p:sp>
      <p:sp>
        <p:nvSpPr>
          <p:cNvPr id="14" name="Text 11"/>
          <p:cNvSpPr/>
          <p:nvPr/>
        </p:nvSpPr>
        <p:spPr>
          <a:xfrm>
            <a:off x="777240" y="2148840"/>
            <a:ext cx="4572000" cy="658368"/>
          </a:xfrm>
          <a:prstGeom prst="rect">
            <a:avLst/>
          </a:prstGeom>
          <a:noFill/>
          <a:ln/>
        </p:spPr>
        <p:txBody>
          <a:bodyPr wrap="square" lIns="0" tIns="0" rIns="0" bIns="0" rtlCol="0" anchor="ctr">
            <a:normAutofit/>
          </a:bodyPr>
          <a:lstStyle/>
          <a:p>
            <a:pPr indent="0" marL="0">
              <a:buNone/>
            </a:pPr>
            <a:r>
              <a:rPr lang="en-US" sz="1350" dirty="0">
                <a:solidFill>
                  <a:srgbClr val="3A2C1A"/>
                </a:solidFill>
                <a:latin typeface="Courier New" pitchFamily="34" charset="0"/>
                <a:ea typeface="Courier New" pitchFamily="34" charset="-122"/>
                <a:cs typeface="Courier New" pitchFamily="34" charset="-120"/>
              </a:rPr>
              <a:t>-Ddatomic.memcachedServers</a:t>
            </a:r>
            <a:endParaRPr lang="en-US" sz="1350" dirty="0"/>
          </a:p>
        </p:txBody>
      </p:sp>
      <p:sp>
        <p:nvSpPr>
          <p:cNvPr id="15" name="Text 12"/>
          <p:cNvSpPr/>
          <p:nvPr/>
        </p:nvSpPr>
        <p:spPr>
          <a:xfrm>
            <a:off x="5577840" y="2148840"/>
            <a:ext cx="4572000" cy="658368"/>
          </a:xfrm>
          <a:prstGeom prst="rect">
            <a:avLst/>
          </a:prstGeom>
          <a:noFill/>
          <a:ln/>
        </p:spPr>
        <p:txBody>
          <a:bodyPr wrap="square" lIns="0" tIns="0" rIns="0" bIns="0" rtlCol="0" anchor="ctr">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join the shared tier</a:t>
            </a:r>
            <a:endParaRPr lang="en-US" sz="1350" dirty="0"/>
          </a:p>
        </p:txBody>
      </p:sp>
      <p:sp>
        <p:nvSpPr>
          <p:cNvPr id="16" name="Shape 13"/>
          <p:cNvSpPr/>
          <p:nvPr/>
        </p:nvSpPr>
        <p:spPr>
          <a:xfrm>
            <a:off x="10378440" y="2295144"/>
            <a:ext cx="1234440" cy="365760"/>
          </a:xfrm>
          <a:prstGeom prst="roundRect">
            <a:avLst>
              <a:gd name="adj" fmla="val 20000"/>
            </a:avLst>
          </a:prstGeom>
          <a:solidFill>
            <a:srgbClr val="DFD6C0"/>
          </a:solidFill>
          <a:ln/>
        </p:spPr>
      </p:sp>
      <p:sp>
        <p:nvSpPr>
          <p:cNvPr id="17" name="Text 14"/>
          <p:cNvSpPr/>
          <p:nvPr/>
        </p:nvSpPr>
        <p:spPr>
          <a:xfrm>
            <a:off x="10378440" y="2295144"/>
            <a:ext cx="1234440" cy="365760"/>
          </a:xfrm>
          <a:prstGeom prst="rect">
            <a:avLst/>
          </a:prstGeom>
          <a:noFill/>
          <a:ln/>
        </p:spPr>
        <p:txBody>
          <a:bodyPr wrap="square" lIns="0" tIns="0" rIns="0" bIns="0" rtlCol="0" anchor="ctr"/>
          <a:lstStyle/>
          <a:p>
            <a:pPr algn="ctr" indent="0" marL="0">
              <a:buNone/>
            </a:pPr>
            <a:r>
              <a:rPr lang="en-US" sz="1100" b="1" dirty="0">
                <a:solidFill>
                  <a:srgbClr val="3A2C1A"/>
                </a:solidFill>
                <a:latin typeface="Helvetica Neue" pitchFamily="34" charset="0"/>
                <a:ea typeface="Helvetica Neue" pitchFamily="34" charset="-122"/>
                <a:cs typeface="Helvetica Neue" pitchFamily="34" charset="-120"/>
              </a:rPr>
              <a:t>tier 3</a:t>
            </a:r>
            <a:endParaRPr lang="en-US" sz="1100" dirty="0"/>
          </a:p>
        </p:txBody>
      </p:sp>
      <p:sp>
        <p:nvSpPr>
          <p:cNvPr id="18" name="Shape 15"/>
          <p:cNvSpPr/>
          <p:nvPr/>
        </p:nvSpPr>
        <p:spPr>
          <a:xfrm>
            <a:off x="548640" y="2926080"/>
            <a:ext cx="11064240" cy="658368"/>
          </a:xfrm>
          <a:prstGeom prst="rect">
            <a:avLst/>
          </a:prstGeom>
          <a:solidFill>
            <a:srgbClr val="E6DFCE"/>
          </a:solidFill>
          <a:ln/>
        </p:spPr>
      </p:sp>
      <p:sp>
        <p:nvSpPr>
          <p:cNvPr id="19" name="Text 16"/>
          <p:cNvSpPr/>
          <p:nvPr/>
        </p:nvSpPr>
        <p:spPr>
          <a:xfrm>
            <a:off x="777240" y="2926080"/>
            <a:ext cx="4572000" cy="658368"/>
          </a:xfrm>
          <a:prstGeom prst="rect">
            <a:avLst/>
          </a:prstGeom>
          <a:noFill/>
          <a:ln/>
        </p:spPr>
        <p:txBody>
          <a:bodyPr wrap="square" lIns="0" tIns="0" rIns="0" bIns="0" rtlCol="0" anchor="ctr">
            <a:normAutofit/>
          </a:bodyPr>
          <a:lstStyle/>
          <a:p>
            <a:pPr indent="0" marL="0">
              <a:buNone/>
            </a:pPr>
            <a:r>
              <a:rPr lang="en-US" sz="1350" dirty="0">
                <a:solidFill>
                  <a:srgbClr val="3A2C1A"/>
                </a:solidFill>
                <a:latin typeface="Courier New" pitchFamily="34" charset="0"/>
                <a:ea typeface="Courier New" pitchFamily="34" charset="-122"/>
                <a:cs typeface="Courier New" pitchFamily="34" charset="-120"/>
              </a:rPr>
              <a:t>-Ddatomic.valcachePath</a:t>
            </a:r>
            <a:endParaRPr lang="en-US" sz="1350" dirty="0"/>
          </a:p>
        </p:txBody>
      </p:sp>
      <p:sp>
        <p:nvSpPr>
          <p:cNvPr id="20" name="Text 17"/>
          <p:cNvSpPr/>
          <p:nvPr/>
        </p:nvSpPr>
        <p:spPr>
          <a:xfrm>
            <a:off x="5577840" y="2926080"/>
            <a:ext cx="4572000" cy="658368"/>
          </a:xfrm>
          <a:prstGeom prst="rect">
            <a:avLst/>
          </a:prstGeom>
          <a:noFill/>
          <a:ln/>
        </p:spPr>
        <p:txBody>
          <a:bodyPr wrap="square" lIns="0" tIns="0" rIns="0" bIns="0" rtlCol="0" anchor="ctr">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SSD tier</a:t>
            </a:r>
            <a:endParaRPr lang="en-US" sz="1350" dirty="0"/>
          </a:p>
        </p:txBody>
      </p:sp>
      <p:sp>
        <p:nvSpPr>
          <p:cNvPr id="21" name="Shape 18"/>
          <p:cNvSpPr/>
          <p:nvPr/>
        </p:nvSpPr>
        <p:spPr>
          <a:xfrm>
            <a:off x="10378440" y="3072384"/>
            <a:ext cx="1234440" cy="365760"/>
          </a:xfrm>
          <a:prstGeom prst="roundRect">
            <a:avLst>
              <a:gd name="adj" fmla="val 20000"/>
            </a:avLst>
          </a:prstGeom>
          <a:solidFill>
            <a:srgbClr val="A8864A"/>
          </a:solidFill>
          <a:ln/>
        </p:spPr>
      </p:sp>
      <p:sp>
        <p:nvSpPr>
          <p:cNvPr id="22" name="Text 19"/>
          <p:cNvSpPr/>
          <p:nvPr/>
        </p:nvSpPr>
        <p:spPr>
          <a:xfrm>
            <a:off x="10378440" y="3072384"/>
            <a:ext cx="1234440" cy="365760"/>
          </a:xfrm>
          <a:prstGeom prst="rect">
            <a:avLst/>
          </a:prstGeom>
          <a:noFill/>
          <a:ln/>
        </p:spPr>
        <p:txBody>
          <a:bodyPr wrap="square" lIns="0" tIns="0" rIns="0" bIns="0" rtlCol="0" anchor="ctr"/>
          <a:lstStyle/>
          <a:p>
            <a:pPr algn="ctr" indent="0" marL="0">
              <a:buNone/>
            </a:pPr>
            <a:r>
              <a:rPr lang="en-US" sz="1100" b="1" dirty="0">
                <a:solidFill>
                  <a:srgbClr val="FCFAF4"/>
                </a:solidFill>
                <a:latin typeface="Helvetica Neue" pitchFamily="34" charset="0"/>
                <a:ea typeface="Helvetica Neue" pitchFamily="34" charset="-122"/>
                <a:cs typeface="Helvetica Neue" pitchFamily="34" charset="-120"/>
              </a:rPr>
              <a:t>tier 2</a:t>
            </a:r>
            <a:endParaRPr lang="en-US" sz="1100" dirty="0"/>
          </a:p>
        </p:txBody>
      </p:sp>
      <p:sp>
        <p:nvSpPr>
          <p:cNvPr id="23" name="Shape 20"/>
          <p:cNvSpPr/>
          <p:nvPr/>
        </p:nvSpPr>
        <p:spPr>
          <a:xfrm>
            <a:off x="548640" y="3703320"/>
            <a:ext cx="11064240" cy="658368"/>
          </a:xfrm>
          <a:prstGeom prst="rect">
            <a:avLst/>
          </a:prstGeom>
          <a:solidFill>
            <a:srgbClr val="EFE9DD"/>
          </a:solidFill>
          <a:ln/>
        </p:spPr>
      </p:sp>
      <p:sp>
        <p:nvSpPr>
          <p:cNvPr id="24" name="Text 21"/>
          <p:cNvSpPr/>
          <p:nvPr/>
        </p:nvSpPr>
        <p:spPr>
          <a:xfrm>
            <a:off x="777240" y="3703320"/>
            <a:ext cx="4572000" cy="658368"/>
          </a:xfrm>
          <a:prstGeom prst="rect">
            <a:avLst/>
          </a:prstGeom>
          <a:noFill/>
          <a:ln/>
        </p:spPr>
        <p:txBody>
          <a:bodyPr wrap="square" lIns="0" tIns="0" rIns="0" bIns="0" rtlCol="0" anchor="ctr">
            <a:normAutofit/>
          </a:bodyPr>
          <a:lstStyle/>
          <a:p>
            <a:pPr indent="0" marL="0">
              <a:buNone/>
            </a:pPr>
            <a:r>
              <a:rPr lang="en-US" sz="1350" dirty="0">
                <a:solidFill>
                  <a:srgbClr val="3A2C1A"/>
                </a:solidFill>
                <a:latin typeface="Courier New" pitchFamily="34" charset="0"/>
                <a:ea typeface="Courier New" pitchFamily="34" charset="-122"/>
                <a:cs typeface="Courier New" pitchFamily="34" charset="-120"/>
              </a:rPr>
              <a:t>-Ddatomic.valcacheMaxGb</a:t>
            </a:r>
            <a:endParaRPr lang="en-US" sz="1350" dirty="0"/>
          </a:p>
        </p:txBody>
      </p:sp>
      <p:sp>
        <p:nvSpPr>
          <p:cNvPr id="25" name="Text 22"/>
          <p:cNvSpPr/>
          <p:nvPr/>
        </p:nvSpPr>
        <p:spPr>
          <a:xfrm>
            <a:off x="5577840" y="3703320"/>
            <a:ext cx="4572000" cy="658368"/>
          </a:xfrm>
          <a:prstGeom prst="rect">
            <a:avLst/>
          </a:prstGeom>
          <a:noFill/>
          <a:ln/>
        </p:spPr>
        <p:txBody>
          <a:bodyPr wrap="square" lIns="0" tIns="0" rIns="0" bIns="0" rtlCol="0" anchor="ctr">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how much of that disk to use</a:t>
            </a:r>
            <a:endParaRPr lang="en-US" sz="1350" dirty="0"/>
          </a:p>
        </p:txBody>
      </p:sp>
      <p:sp>
        <p:nvSpPr>
          <p:cNvPr id="26" name="Shape 23"/>
          <p:cNvSpPr/>
          <p:nvPr/>
        </p:nvSpPr>
        <p:spPr>
          <a:xfrm>
            <a:off x="10378440" y="3849624"/>
            <a:ext cx="1234440" cy="365760"/>
          </a:xfrm>
          <a:prstGeom prst="roundRect">
            <a:avLst>
              <a:gd name="adj" fmla="val 20000"/>
            </a:avLst>
          </a:prstGeom>
          <a:solidFill>
            <a:srgbClr val="A8864A"/>
          </a:solidFill>
          <a:ln/>
        </p:spPr>
      </p:sp>
      <p:sp>
        <p:nvSpPr>
          <p:cNvPr id="27" name="Text 24"/>
          <p:cNvSpPr/>
          <p:nvPr/>
        </p:nvSpPr>
        <p:spPr>
          <a:xfrm>
            <a:off x="10378440" y="3849624"/>
            <a:ext cx="1234440" cy="365760"/>
          </a:xfrm>
          <a:prstGeom prst="rect">
            <a:avLst/>
          </a:prstGeom>
          <a:noFill/>
          <a:ln/>
        </p:spPr>
        <p:txBody>
          <a:bodyPr wrap="square" lIns="0" tIns="0" rIns="0" bIns="0" rtlCol="0" anchor="ctr"/>
          <a:lstStyle/>
          <a:p>
            <a:pPr algn="ctr" indent="0" marL="0">
              <a:buNone/>
            </a:pPr>
            <a:r>
              <a:rPr lang="en-US" sz="1100" b="1" dirty="0">
                <a:solidFill>
                  <a:srgbClr val="FCFAF4"/>
                </a:solidFill>
                <a:latin typeface="Helvetica Neue" pitchFamily="34" charset="0"/>
                <a:ea typeface="Helvetica Neue" pitchFamily="34" charset="-122"/>
                <a:cs typeface="Helvetica Neue" pitchFamily="34" charset="-120"/>
              </a:rPr>
              <a:t>tier 2</a:t>
            </a:r>
            <a:endParaRPr lang="en-US" sz="1100" dirty="0"/>
          </a:p>
        </p:txBody>
      </p:sp>
      <p:sp>
        <p:nvSpPr>
          <p:cNvPr id="28" name="Shape 25"/>
          <p:cNvSpPr/>
          <p:nvPr/>
        </p:nvSpPr>
        <p:spPr>
          <a:xfrm>
            <a:off x="548640" y="4480560"/>
            <a:ext cx="11064240" cy="658368"/>
          </a:xfrm>
          <a:prstGeom prst="rect">
            <a:avLst/>
          </a:prstGeom>
          <a:solidFill>
            <a:srgbClr val="E6DFCE"/>
          </a:solidFill>
          <a:ln/>
        </p:spPr>
      </p:sp>
      <p:sp>
        <p:nvSpPr>
          <p:cNvPr id="29" name="Text 26"/>
          <p:cNvSpPr/>
          <p:nvPr/>
        </p:nvSpPr>
        <p:spPr>
          <a:xfrm>
            <a:off x="777240" y="4480560"/>
            <a:ext cx="4572000" cy="658368"/>
          </a:xfrm>
          <a:prstGeom prst="rect">
            <a:avLst/>
          </a:prstGeom>
          <a:noFill/>
          <a:ln/>
        </p:spPr>
        <p:txBody>
          <a:bodyPr wrap="square" lIns="0" tIns="0" rIns="0" bIns="0" rtlCol="0" anchor="ctr">
            <a:normAutofit/>
          </a:bodyPr>
          <a:lstStyle/>
          <a:p>
            <a:pPr indent="0" marL="0">
              <a:buNone/>
            </a:pPr>
            <a:r>
              <a:rPr lang="en-US" sz="1350" dirty="0">
                <a:solidFill>
                  <a:srgbClr val="3A2C1A"/>
                </a:solidFill>
                <a:latin typeface="Courier New" pitchFamily="34" charset="0"/>
                <a:ea typeface="Courier New" pitchFamily="34" charset="-122"/>
                <a:cs typeface="Courier New" pitchFamily="34" charset="-120"/>
              </a:rPr>
              <a:t>-Ddatomic.txTimeoutMsec</a:t>
            </a:r>
            <a:endParaRPr lang="en-US" sz="1350" dirty="0"/>
          </a:p>
        </p:txBody>
      </p:sp>
      <p:sp>
        <p:nvSpPr>
          <p:cNvPr id="30" name="Text 27"/>
          <p:cNvSpPr/>
          <p:nvPr/>
        </p:nvSpPr>
        <p:spPr>
          <a:xfrm>
            <a:off x="5577840" y="4480560"/>
            <a:ext cx="4572000" cy="658368"/>
          </a:xfrm>
          <a:prstGeom prst="rect">
            <a:avLst/>
          </a:prstGeom>
          <a:noFill/>
          <a:ln/>
        </p:spPr>
        <p:txBody>
          <a:bodyPr wrap="square" lIns="0" tIns="0" rIns="0" bIns="0" rtlCol="0" anchor="ctr">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how long a write waits for a writer</a:t>
            </a:r>
            <a:endParaRPr lang="en-US" sz="1350" dirty="0"/>
          </a:p>
        </p:txBody>
      </p:sp>
      <p:sp>
        <p:nvSpPr>
          <p:cNvPr id="31" name="Shape 28"/>
          <p:cNvSpPr/>
          <p:nvPr/>
        </p:nvSpPr>
        <p:spPr>
          <a:xfrm>
            <a:off x="10378440" y="4626864"/>
            <a:ext cx="1234440" cy="365760"/>
          </a:xfrm>
          <a:prstGeom prst="roundRect">
            <a:avLst>
              <a:gd name="adj" fmla="val 20000"/>
            </a:avLst>
          </a:prstGeom>
          <a:solidFill>
            <a:srgbClr val="EDE0C4"/>
          </a:solidFill>
          <a:ln/>
        </p:spPr>
      </p:sp>
      <p:sp>
        <p:nvSpPr>
          <p:cNvPr id="32" name="Text 29"/>
          <p:cNvSpPr/>
          <p:nvPr/>
        </p:nvSpPr>
        <p:spPr>
          <a:xfrm>
            <a:off x="10378440" y="4626864"/>
            <a:ext cx="1234440" cy="365760"/>
          </a:xfrm>
          <a:prstGeom prst="rect">
            <a:avLst/>
          </a:prstGeom>
          <a:noFill/>
          <a:ln/>
        </p:spPr>
        <p:txBody>
          <a:bodyPr wrap="square" lIns="0" tIns="0" rIns="0" bIns="0" rtlCol="0" anchor="ctr"/>
          <a:lstStyle/>
          <a:p>
            <a:pPr algn="ctr" indent="0" marL="0">
              <a:buNone/>
            </a:pPr>
            <a:r>
              <a:rPr lang="en-US" sz="1100" b="1" dirty="0">
                <a:solidFill>
                  <a:srgbClr val="B5822B"/>
                </a:solidFill>
                <a:latin typeface="Helvetica Neue" pitchFamily="34" charset="0"/>
                <a:ea typeface="Helvetica Neue" pitchFamily="34" charset="-122"/>
                <a:cs typeface="Helvetica Neue" pitchFamily="34" charset="-120"/>
              </a:rPr>
              <a:t>Part II</a:t>
            </a:r>
            <a:endParaRPr lang="en-US" sz="1100" dirty="0"/>
          </a:p>
        </p:txBody>
      </p:sp>
      <p:sp>
        <p:nvSpPr>
          <p:cNvPr id="33" name="Shape 30"/>
          <p:cNvSpPr/>
          <p:nvPr/>
        </p:nvSpPr>
        <p:spPr>
          <a:xfrm>
            <a:off x="548640" y="5440680"/>
            <a:ext cx="54864" cy="457200"/>
          </a:xfrm>
          <a:prstGeom prst="rect">
            <a:avLst/>
          </a:prstGeom>
          <a:solidFill>
            <a:srgbClr val="A8864A"/>
          </a:solidFill>
          <a:ln/>
        </p:spPr>
      </p:sp>
      <p:sp>
        <p:nvSpPr>
          <p:cNvPr id="34" name="Text 31"/>
          <p:cNvSpPr/>
          <p:nvPr/>
        </p:nvSpPr>
        <p:spPr>
          <a:xfrm>
            <a:off x="777240" y="544068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Four of the five flags are just the cache ladder. The fifth is the failover dial.</a:t>
            </a:r>
            <a:endParaRPr lang="en-US" sz="1450" dirty="0"/>
          </a:p>
        </p:txBody>
      </p:sp>
      <p:sp>
        <p:nvSpPr>
          <p:cNvPr id="35" name="Text 32"/>
          <p:cNvSpPr/>
          <p:nvPr/>
        </p:nvSpPr>
        <p:spPr>
          <a:xfrm>
            <a:off x="548640" y="612648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Defaults change between releases — confirm against the distribution you run, not against this slide.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34</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Read the defaults from the distribution, not from a deck</a:t>
            </a:r>
            <a:endParaRPr lang="en-US" sz="2500" dirty="0"/>
          </a:p>
        </p:txBody>
      </p:sp>
      <p:sp>
        <p:nvSpPr>
          <p:cNvPr id="8" name="Shape 5"/>
          <p:cNvSpPr/>
          <p:nvPr/>
        </p:nvSpPr>
        <p:spPr>
          <a:xfrm>
            <a:off x="548640" y="1463040"/>
            <a:ext cx="11064240" cy="2103120"/>
          </a:xfrm>
          <a:prstGeom prst="roundRect">
            <a:avLst>
              <a:gd name="adj" fmla="val 3478"/>
            </a:avLst>
          </a:prstGeom>
          <a:solidFill>
            <a:srgbClr val="2C2416"/>
          </a:solidFill>
          <a:ln/>
        </p:spPr>
      </p:sp>
      <p:sp>
        <p:nvSpPr>
          <p:cNvPr id="9" name="Text 6"/>
          <p:cNvSpPr/>
          <p:nvPr/>
        </p:nvSpPr>
        <p:spPr>
          <a:xfrm>
            <a:off x="749808" y="1609344"/>
            <a:ext cx="10661904" cy="1810512"/>
          </a:xfrm>
          <a:prstGeom prst="rect">
            <a:avLst/>
          </a:prstGeom>
          <a:noFill/>
          <a:ln/>
        </p:spPr>
        <p:txBody>
          <a:bodyPr wrap="square" lIns="0" tIns="0" rIns="0" bIns="0" rtlCol="0" anchor="t">
            <a:normAutofit/>
          </a:bodyPr>
          <a:lstStyle/>
          <a:p>
            <a:pPr indent="0" marL="0">
              <a:buNone/>
            </a:pPr>
            <a:r>
              <a:rPr lang="en-US" sz="1500" dirty="0">
                <a:solidFill>
                  <a:srgbClr val="FCFAF4"/>
                </a:solidFill>
                <a:latin typeface="Courier New" pitchFamily="34" charset="0"/>
                <a:ea typeface="Courier New" pitchFamily="34" charset="-122"/>
                <a:cs typeface="Courier New" pitchFamily="34" charset="-120"/>
              </a:rPr>
              <a:t>ls $DATOMIC/config/samples/</a:t>
            </a:r>
            <a:endParaRPr lang="en-US" sz="1500" dirty="0"/>
          </a:p>
          <a:p>
            <a:pPr indent="0" marL="0">
              <a:buNone/>
            </a:pPr>
            <a:endParaRPr lang="en-US" sz="1500" dirty="0"/>
          </a:p>
          <a:p>
            <a:pPr indent="0" marL="0">
              <a:buNone/>
            </a:pPr>
            <a:r>
              <a:rPr lang="en-US" sz="1500" dirty="0">
                <a:solidFill>
                  <a:srgbClr val="FCFAF4"/>
                </a:solidFill>
                <a:latin typeface="Courier New" pitchFamily="34" charset="0"/>
                <a:ea typeface="Courier New" pitchFamily="34" charset="-122"/>
                <a:cs typeface="Courier New" pitchFamily="34" charset="-120"/>
              </a:rPr>
              <a:t>grep -vE '^\s*(#|$)' $DATOMIC/config/samples/sql-transactor-template.properties</a:t>
            </a:r>
            <a:endParaRPr lang="en-US" sz="1500" dirty="0"/>
          </a:p>
          <a:p>
            <a:pPr indent="0" marL="0">
              <a:buNone/>
            </a:pPr>
            <a:endParaRPr lang="en-US" sz="1500" dirty="0"/>
          </a:p>
          <a:p>
            <a:pPr indent="0" marL="0">
              <a:buNone/>
            </a:pPr>
            <a:r>
              <a:rPr lang="en-US" sz="1500" dirty="0">
                <a:solidFill>
                  <a:srgbClr val="FCFAF4"/>
                </a:solidFill>
                <a:latin typeface="Courier New" pitchFamily="34" charset="0"/>
                <a:ea typeface="Courier New" pitchFamily="34" charset="-122"/>
                <a:cs typeface="Courier New" pitchFamily="34" charset="-120"/>
              </a:rPr>
              <a:t>grep -rn "valcache" $DATOMIC/bin $DATOMIC/config</a:t>
            </a:r>
            <a:endParaRPr lang="en-US" sz="1500" dirty="0"/>
          </a:p>
        </p:txBody>
      </p:sp>
      <p:sp>
        <p:nvSpPr>
          <p:cNvPr id="10" name="Shape 7"/>
          <p:cNvSpPr/>
          <p:nvPr/>
        </p:nvSpPr>
        <p:spPr>
          <a:xfrm>
            <a:off x="548640" y="3840480"/>
            <a:ext cx="11064240" cy="548640"/>
          </a:xfrm>
          <a:prstGeom prst="rect">
            <a:avLst/>
          </a:prstGeom>
          <a:solidFill>
            <a:srgbClr val="E6DFCE"/>
          </a:solidFill>
          <a:ln/>
        </p:spPr>
      </p:sp>
      <p:sp>
        <p:nvSpPr>
          <p:cNvPr id="11" name="Text 8"/>
          <p:cNvSpPr/>
          <p:nvPr/>
        </p:nvSpPr>
        <p:spPr>
          <a:xfrm>
            <a:off x="777240" y="3840480"/>
            <a:ext cx="3108960" cy="548640"/>
          </a:xfrm>
          <a:prstGeom prst="rect">
            <a:avLst/>
          </a:prstGeom>
          <a:noFill/>
          <a:ln/>
        </p:spPr>
        <p:txBody>
          <a:bodyPr wrap="square" lIns="0" tIns="0" rIns="0" bIns="0" rtlCol="0" anchor="ctr"/>
          <a:lstStyle/>
          <a:p>
            <a:pPr indent="0" marL="0">
              <a:buNone/>
            </a:pPr>
            <a:r>
              <a:rPr lang="en-US" sz="1250" dirty="0">
                <a:solidFill>
                  <a:srgbClr val="A8864A"/>
                </a:solidFill>
                <a:latin typeface="Courier New" pitchFamily="34" charset="0"/>
                <a:ea typeface="Courier New" pitchFamily="34" charset="-122"/>
                <a:cs typeface="Courier New" pitchFamily="34" charset="-120"/>
              </a:rPr>
              <a:t>ls samples/</a:t>
            </a:r>
            <a:endParaRPr lang="en-US" sz="1250" dirty="0"/>
          </a:p>
        </p:txBody>
      </p:sp>
      <p:sp>
        <p:nvSpPr>
          <p:cNvPr id="12" name="Text 9"/>
          <p:cNvSpPr/>
          <p:nvPr/>
        </p:nvSpPr>
        <p:spPr>
          <a:xfrm>
            <a:off x="4114800" y="3840480"/>
            <a:ext cx="73152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the authoritative starting point for a properties file</a:t>
            </a:r>
            <a:endParaRPr lang="en-US" sz="1300" dirty="0"/>
          </a:p>
        </p:txBody>
      </p:sp>
      <p:sp>
        <p:nvSpPr>
          <p:cNvPr id="13" name="Shape 10"/>
          <p:cNvSpPr/>
          <p:nvPr/>
        </p:nvSpPr>
        <p:spPr>
          <a:xfrm>
            <a:off x="548640" y="4480560"/>
            <a:ext cx="11064240" cy="548640"/>
          </a:xfrm>
          <a:prstGeom prst="rect">
            <a:avLst/>
          </a:prstGeom>
          <a:solidFill>
            <a:srgbClr val="EFE9DD"/>
          </a:solidFill>
          <a:ln/>
        </p:spPr>
      </p:sp>
      <p:sp>
        <p:nvSpPr>
          <p:cNvPr id="14" name="Text 11"/>
          <p:cNvSpPr/>
          <p:nvPr/>
        </p:nvSpPr>
        <p:spPr>
          <a:xfrm>
            <a:off x="777240" y="4480560"/>
            <a:ext cx="3108960" cy="548640"/>
          </a:xfrm>
          <a:prstGeom prst="rect">
            <a:avLst/>
          </a:prstGeom>
          <a:noFill/>
          <a:ln/>
        </p:spPr>
        <p:txBody>
          <a:bodyPr wrap="square" lIns="0" tIns="0" rIns="0" bIns="0" rtlCol="0" anchor="ctr"/>
          <a:lstStyle/>
          <a:p>
            <a:pPr indent="0" marL="0">
              <a:buNone/>
            </a:pPr>
            <a:r>
              <a:rPr lang="en-US" sz="1250" dirty="0">
                <a:solidFill>
                  <a:srgbClr val="A8864A"/>
                </a:solidFill>
                <a:latin typeface="Courier New" pitchFamily="34" charset="0"/>
                <a:ea typeface="Courier New" pitchFamily="34" charset="-122"/>
                <a:cs typeface="Courier New" pitchFamily="34" charset="-120"/>
              </a:rPr>
              <a:t>grep -vE '#|$'</a:t>
            </a:r>
            <a:endParaRPr lang="en-US" sz="1250" dirty="0"/>
          </a:p>
        </p:txBody>
      </p:sp>
      <p:sp>
        <p:nvSpPr>
          <p:cNvPr id="15" name="Text 12"/>
          <p:cNvSpPr/>
          <p:nvPr/>
        </p:nvSpPr>
        <p:spPr>
          <a:xfrm>
            <a:off x="4114800" y="4480560"/>
            <a:ext cx="73152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shows only what is actually set, not the commentary</a:t>
            </a:r>
            <a:endParaRPr lang="en-US" sz="1300" dirty="0"/>
          </a:p>
        </p:txBody>
      </p:sp>
      <p:sp>
        <p:nvSpPr>
          <p:cNvPr id="16" name="Shape 13"/>
          <p:cNvSpPr/>
          <p:nvPr/>
        </p:nvSpPr>
        <p:spPr>
          <a:xfrm>
            <a:off x="548640" y="5120640"/>
            <a:ext cx="11064240" cy="548640"/>
          </a:xfrm>
          <a:prstGeom prst="rect">
            <a:avLst/>
          </a:prstGeom>
          <a:solidFill>
            <a:srgbClr val="E6DFCE"/>
          </a:solidFill>
          <a:ln/>
        </p:spPr>
      </p:sp>
      <p:sp>
        <p:nvSpPr>
          <p:cNvPr id="17" name="Text 14"/>
          <p:cNvSpPr/>
          <p:nvPr/>
        </p:nvSpPr>
        <p:spPr>
          <a:xfrm>
            <a:off x="777240" y="5120640"/>
            <a:ext cx="3108960" cy="548640"/>
          </a:xfrm>
          <a:prstGeom prst="rect">
            <a:avLst/>
          </a:prstGeom>
          <a:noFill/>
          <a:ln/>
        </p:spPr>
        <p:txBody>
          <a:bodyPr wrap="square" lIns="0" tIns="0" rIns="0" bIns="0" rtlCol="0" anchor="ctr"/>
          <a:lstStyle/>
          <a:p>
            <a:pPr indent="0" marL="0">
              <a:buNone/>
            </a:pPr>
            <a:r>
              <a:rPr lang="en-US" sz="1250" dirty="0">
                <a:solidFill>
                  <a:srgbClr val="A8864A"/>
                </a:solidFill>
                <a:latin typeface="Courier New" pitchFamily="34" charset="0"/>
                <a:ea typeface="Courier New" pitchFamily="34" charset="-122"/>
                <a:cs typeface="Courier New" pitchFamily="34" charset="-120"/>
              </a:rPr>
              <a:t>grep -rn valcache</a:t>
            </a:r>
            <a:endParaRPr lang="en-US" sz="1250" dirty="0"/>
          </a:p>
        </p:txBody>
      </p:sp>
      <p:sp>
        <p:nvSpPr>
          <p:cNvPr id="18" name="Text 15"/>
          <p:cNvSpPr/>
          <p:nvPr/>
        </p:nvSpPr>
        <p:spPr>
          <a:xfrm>
            <a:off x="4114800" y="5120640"/>
            <a:ext cx="7315200" cy="548640"/>
          </a:xfrm>
          <a:prstGeom prst="rect">
            <a:avLst/>
          </a:prstGeom>
          <a:noFill/>
          <a:ln/>
        </p:spPr>
        <p:txBody>
          <a:bodyPr wrap="square" lIns="0" tIns="0" rIns="0" bIns="0" rtlCol="0" anchor="ctr">
            <a:normAutofit/>
          </a:bodyPr>
          <a:lstStyle/>
          <a:p>
            <a:pPr indent="0" marL="0">
              <a:buNone/>
            </a:pPr>
            <a:r>
              <a:rPr lang="en-US" sz="1300" dirty="0">
                <a:solidFill>
                  <a:srgbClr val="6B5A44"/>
                </a:solidFill>
                <a:latin typeface="Helvetica Neue" pitchFamily="34" charset="0"/>
                <a:ea typeface="Helvetica Neue" pitchFamily="34" charset="-122"/>
                <a:cs typeface="Helvetica Neue" pitchFamily="34" charset="-120"/>
              </a:rPr>
              <a:t>finds where a feature is wired — flags move between releases</a:t>
            </a:r>
            <a:endParaRPr lang="en-US" sz="1300" dirty="0"/>
          </a:p>
        </p:txBody>
      </p:sp>
      <p:sp>
        <p:nvSpPr>
          <p:cNvPr id="19" name="Shape 16"/>
          <p:cNvSpPr/>
          <p:nvPr/>
        </p:nvSpPr>
        <p:spPr>
          <a:xfrm>
            <a:off x="548640" y="5852160"/>
            <a:ext cx="54864" cy="457200"/>
          </a:xfrm>
          <a:prstGeom prst="rect">
            <a:avLst/>
          </a:prstGeom>
          <a:solidFill>
            <a:srgbClr val="A8864A"/>
          </a:solidFill>
          <a:ln/>
        </p:spPr>
      </p:sp>
      <p:sp>
        <p:nvSpPr>
          <p:cNvPr id="20" name="Text 17"/>
          <p:cNvSpPr/>
          <p:nvPr/>
        </p:nvSpPr>
        <p:spPr>
          <a:xfrm>
            <a:off x="777240" y="585216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Where the distribution and this deck disagree, the distribution is current.</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 · SETTINGS AND SIGNALS</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35</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Two instruments the peer already provides</a:t>
            </a:r>
            <a:endParaRPr lang="en-US" sz="2500" dirty="0"/>
          </a:p>
        </p:txBody>
      </p:sp>
      <p:sp>
        <p:nvSpPr>
          <p:cNvPr id="8" name="Shape 5"/>
          <p:cNvSpPr/>
          <p:nvPr/>
        </p:nvSpPr>
        <p:spPr>
          <a:xfrm>
            <a:off x="548640" y="1325880"/>
            <a:ext cx="5349240" cy="2286000"/>
          </a:xfrm>
          <a:prstGeom prst="roundRect">
            <a:avLst>
              <a:gd name="adj" fmla="val 3200"/>
            </a:avLst>
          </a:prstGeom>
          <a:solidFill>
            <a:srgbClr val="E6DFCE"/>
          </a:solidFill>
          <a:ln/>
        </p:spPr>
      </p:sp>
      <p:sp>
        <p:nvSpPr>
          <p:cNvPr id="9" name="Shape 6"/>
          <p:cNvSpPr/>
          <p:nvPr/>
        </p:nvSpPr>
        <p:spPr>
          <a:xfrm>
            <a:off x="548640" y="1325880"/>
            <a:ext cx="5349240" cy="384048"/>
          </a:xfrm>
          <a:prstGeom prst="roundRect">
            <a:avLst>
              <a:gd name="adj" fmla="val 19048"/>
            </a:avLst>
          </a:prstGeom>
          <a:solidFill>
            <a:srgbClr val="DFD6C0"/>
          </a:solidFill>
          <a:ln/>
        </p:spPr>
      </p:sp>
      <p:sp>
        <p:nvSpPr>
          <p:cNvPr id="10" name="Text 7"/>
          <p:cNvSpPr/>
          <p:nvPr/>
        </p:nvSpPr>
        <p:spPr>
          <a:xfrm>
            <a:off x="749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d/sync  vs  d/sync-index</a:t>
            </a:r>
            <a:endParaRPr lang="en-US" sz="1250" dirty="0"/>
          </a:p>
        </p:txBody>
      </p:sp>
      <p:sp>
        <p:nvSpPr>
          <p:cNvPr id="11" name="Shape 8"/>
          <p:cNvSpPr/>
          <p:nvPr/>
        </p:nvSpPr>
        <p:spPr>
          <a:xfrm>
            <a:off x="822960" y="1920240"/>
            <a:ext cx="4800600" cy="594360"/>
          </a:xfrm>
          <a:prstGeom prst="roundRect">
            <a:avLst>
              <a:gd name="adj" fmla="val 9231"/>
            </a:avLst>
          </a:prstGeom>
          <a:solidFill>
            <a:srgbClr val="DFD6C0"/>
          </a:solidFill>
          <a:ln/>
        </p:spPr>
      </p:sp>
      <p:sp>
        <p:nvSpPr>
          <p:cNvPr id="12" name="Text 9"/>
          <p:cNvSpPr/>
          <p:nvPr/>
        </p:nvSpPr>
        <p:spPr>
          <a:xfrm>
            <a:off x="896112" y="1920240"/>
            <a:ext cx="4654296" cy="594360"/>
          </a:xfrm>
          <a:prstGeom prst="rect">
            <a:avLst/>
          </a:prstGeom>
          <a:noFill/>
          <a:ln/>
        </p:spPr>
        <p:txBody>
          <a:bodyPr wrap="square" lIns="0" tIns="0" rIns="0" bIns="0" rtlCol="0" anchor="ctr">
            <a:normAutofit/>
          </a:bodyPr>
          <a:lstStyle/>
          <a:p>
            <a:pPr algn="ctr" indent="0" marL="0">
              <a:buNone/>
            </a:pPr>
            <a:r>
              <a:rPr lang="en-US" sz="1350" b="1" dirty="0">
                <a:solidFill>
                  <a:srgbClr val="3A2C1A"/>
                </a:solidFill>
                <a:latin typeface="Courier New" pitchFamily="34" charset="0"/>
                <a:ea typeface="Courier New" pitchFamily="34" charset="-122"/>
                <a:cs typeface="Courier New" pitchFamily="34" charset="-120"/>
              </a:rPr>
              <a:t>d/sync  →  waits on the LOG</a:t>
            </a:r>
            <a:endParaRPr lang="en-US" sz="1350" dirty="0"/>
          </a:p>
        </p:txBody>
      </p:sp>
      <p:sp>
        <p:nvSpPr>
          <p:cNvPr id="13" name="Shape 10"/>
          <p:cNvSpPr/>
          <p:nvPr/>
        </p:nvSpPr>
        <p:spPr>
          <a:xfrm>
            <a:off x="822960" y="2651760"/>
            <a:ext cx="4800600" cy="594360"/>
          </a:xfrm>
          <a:prstGeom prst="roundRect">
            <a:avLst>
              <a:gd name="adj" fmla="val 9231"/>
            </a:avLst>
          </a:prstGeom>
          <a:solidFill>
            <a:srgbClr val="C6A46A"/>
          </a:solidFill>
          <a:ln/>
        </p:spPr>
      </p:sp>
      <p:sp>
        <p:nvSpPr>
          <p:cNvPr id="14" name="Text 11"/>
          <p:cNvSpPr/>
          <p:nvPr/>
        </p:nvSpPr>
        <p:spPr>
          <a:xfrm>
            <a:off x="896112" y="2651760"/>
            <a:ext cx="4654296" cy="594360"/>
          </a:xfrm>
          <a:prstGeom prst="rect">
            <a:avLst/>
          </a:prstGeom>
          <a:noFill/>
          <a:ln/>
        </p:spPr>
        <p:txBody>
          <a:bodyPr wrap="square" lIns="0" tIns="0" rIns="0" bIns="0" rtlCol="0" anchor="ctr">
            <a:normAutofit/>
          </a:bodyPr>
          <a:lstStyle/>
          <a:p>
            <a:pPr algn="ctr" indent="0" marL="0">
              <a:buNone/>
            </a:pPr>
            <a:r>
              <a:rPr lang="en-US" sz="1350" b="1" dirty="0">
                <a:solidFill>
                  <a:srgbClr val="3A2C1A"/>
                </a:solidFill>
                <a:latin typeface="Courier New" pitchFamily="34" charset="0"/>
                <a:ea typeface="Courier New" pitchFamily="34" charset="-122"/>
                <a:cs typeface="Courier New" pitchFamily="34" charset="-120"/>
              </a:rPr>
              <a:t>d/sync-index  →  waits on the INDEX</a:t>
            </a:r>
            <a:endParaRPr lang="en-US" sz="1350" dirty="0"/>
          </a:p>
        </p:txBody>
      </p:sp>
      <p:sp>
        <p:nvSpPr>
          <p:cNvPr id="15" name="Text 12"/>
          <p:cNvSpPr/>
          <p:nvPr/>
        </p:nvSpPr>
        <p:spPr>
          <a:xfrm>
            <a:off x="822960" y="3291840"/>
            <a:ext cx="4800600" cy="274320"/>
          </a:xfrm>
          <a:prstGeom prst="rect">
            <a:avLst/>
          </a:prstGeom>
          <a:noFill/>
          <a:ln/>
        </p:spPr>
        <p:txBody>
          <a:bodyPr wrap="square" lIns="0" tIns="0" rIns="0" bIns="0" rtlCol="0" anchor="t"/>
          <a:lstStyle/>
          <a:p>
            <a:pPr algn="ctr" indent="0" marL="0">
              <a:buNone/>
            </a:pPr>
            <a:r>
              <a:rPr lang="en-US" sz="1150" i="1" dirty="0">
                <a:solidFill>
                  <a:srgbClr val="9A8A72"/>
                </a:solidFill>
                <a:latin typeface="Helvetica Neue" pitchFamily="34" charset="0"/>
                <a:ea typeface="Helvetica Neue" pitchFamily="34" charset="-122"/>
                <a:cs typeface="Helvetica Neue" pitchFamily="34" charset="-120"/>
              </a:rPr>
              <a:t>identical under light load · they diverge under load</a:t>
            </a:r>
            <a:endParaRPr lang="en-US" sz="1150" dirty="0"/>
          </a:p>
        </p:txBody>
      </p:sp>
      <p:sp>
        <p:nvSpPr>
          <p:cNvPr id="16" name="Shape 13"/>
          <p:cNvSpPr/>
          <p:nvPr/>
        </p:nvSpPr>
        <p:spPr>
          <a:xfrm>
            <a:off x="6263640" y="1325880"/>
            <a:ext cx="5349240" cy="2286000"/>
          </a:xfrm>
          <a:prstGeom prst="roundRect">
            <a:avLst>
              <a:gd name="adj" fmla="val 3200"/>
            </a:avLst>
          </a:prstGeom>
          <a:solidFill>
            <a:srgbClr val="E6DFCE"/>
          </a:solidFill>
          <a:ln/>
        </p:spPr>
      </p:sp>
      <p:sp>
        <p:nvSpPr>
          <p:cNvPr id="17" name="Shape 14"/>
          <p:cNvSpPr/>
          <p:nvPr/>
        </p:nvSpPr>
        <p:spPr>
          <a:xfrm>
            <a:off x="6263640" y="1325880"/>
            <a:ext cx="5349240" cy="384048"/>
          </a:xfrm>
          <a:prstGeom prst="roundRect">
            <a:avLst>
              <a:gd name="adj" fmla="val 19048"/>
            </a:avLst>
          </a:prstGeom>
          <a:solidFill>
            <a:srgbClr val="DFD6C0"/>
          </a:solidFill>
          <a:ln/>
        </p:spPr>
      </p:sp>
      <p:sp>
        <p:nvSpPr>
          <p:cNvPr id="18" name="Text 15"/>
          <p:cNvSpPr/>
          <p:nvPr/>
        </p:nvSpPr>
        <p:spPr>
          <a:xfrm>
            <a:off x="6464808" y="1325880"/>
            <a:ext cx="4946904" cy="384048"/>
          </a:xfrm>
          <a:prstGeom prst="rect">
            <a:avLst/>
          </a:prstGeom>
          <a:noFill/>
          <a:ln/>
        </p:spPr>
        <p:txBody>
          <a:bodyPr wrap="square" lIns="0" tIns="0" rIns="0" bIns="0" rtlCol="0" anchor="ctr">
            <a:normAutofit/>
          </a:bodyPr>
          <a:lstStyle/>
          <a:p>
            <a:pPr indent="0" marL="0">
              <a:buNone/>
            </a:pPr>
            <a:r>
              <a:rPr lang="en-US" sz="1250" b="1" spc="100" kern="0" dirty="0">
                <a:solidFill>
                  <a:srgbClr val="A8864A"/>
                </a:solidFill>
                <a:latin typeface="Helvetica Neue" pitchFamily="34" charset="0"/>
                <a:ea typeface="Helvetica Neue" pitchFamily="34" charset="-122"/>
                <a:cs typeface="Helvetica Neue" pitchFamily="34" charset="-120"/>
              </a:rPr>
              <a:t>THE TX-REPORT QUEUE</a:t>
            </a:r>
            <a:endParaRPr lang="en-US" sz="1250" dirty="0"/>
          </a:p>
        </p:txBody>
      </p:sp>
      <p:sp>
        <p:nvSpPr>
          <p:cNvPr id="19" name="Shape 16"/>
          <p:cNvSpPr/>
          <p:nvPr/>
        </p:nvSpPr>
        <p:spPr>
          <a:xfrm>
            <a:off x="6492240" y="1874520"/>
            <a:ext cx="4892040" cy="777240"/>
          </a:xfrm>
          <a:prstGeom prst="roundRect">
            <a:avLst>
              <a:gd name="adj" fmla="val 9412"/>
            </a:avLst>
          </a:prstGeom>
          <a:solidFill>
            <a:srgbClr val="E6DFCE"/>
          </a:solidFill>
          <a:ln/>
        </p:spPr>
      </p:sp>
      <p:sp>
        <p:nvSpPr>
          <p:cNvPr id="20" name="Text 17"/>
          <p:cNvSpPr/>
          <p:nvPr/>
        </p:nvSpPr>
        <p:spPr>
          <a:xfrm>
            <a:off x="6693408" y="2020824"/>
            <a:ext cx="4489704" cy="48463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:t 1001  :datoms 401</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:t 1102  :datoms 401</a:t>
            </a:r>
            <a:endParaRPr lang="en-US" sz="1250" dirty="0"/>
          </a:p>
        </p:txBody>
      </p:sp>
      <p:sp>
        <p:nvSpPr>
          <p:cNvPr id="21" name="Text 18"/>
          <p:cNvSpPr/>
          <p:nvPr/>
        </p:nvSpPr>
        <p:spPr>
          <a:xfrm>
            <a:off x="6492240" y="2743200"/>
            <a:ext cx="4892040" cy="731520"/>
          </a:xfrm>
          <a:prstGeom prst="rect">
            <a:avLst/>
          </a:prstGeom>
          <a:noFill/>
          <a:ln/>
        </p:spPr>
        <p:txBody>
          <a:bodyPr wrap="square" lIns="0" tIns="0" rIns="0" bIns="0" rtlCol="0" anchor="t"/>
          <a:lstStyle/>
          <a:p>
            <a:pPr indent="0" marL="0">
              <a:buNone/>
            </a:pPr>
            <a:r>
              <a:rPr lang="en-US" sz="1200" dirty="0">
                <a:solidFill>
                  <a:srgbClr val="6B5A44"/>
                </a:solidFill>
                <a:latin typeface="Helvetica Neue" pitchFamily="34" charset="0"/>
                <a:ea typeface="Helvetica Neue" pitchFamily="34" charset="-122"/>
                <a:cs typeface="Helvetica Neue" pitchFamily="34" charset="-120"/>
              </a:rPr>
              <a:t>401 = 100 readings × 4 attrs + 1 :db/txInstant</a:t>
            </a:r>
            <a:endParaRPr lang="en-US" sz="1200" dirty="0"/>
          </a:p>
          <a:p>
            <a:pPr indent="0" marL="0">
              <a:buNone/>
            </a:pPr>
            <a:r>
              <a:rPr lang="en-US" sz="1200" dirty="0">
                <a:solidFill>
                  <a:srgbClr val="6B5A44"/>
                </a:solidFill>
                <a:latin typeface="Helvetica Neue" pitchFamily="34" charset="0"/>
                <a:ea typeface="Helvetica Neue" pitchFamily="34" charset="-122"/>
                <a:cs typeface="Helvetica Neue" pitchFamily="34" charset="-120"/>
              </a:rPr>
              <a:t>audit · cache invalidation · CDC · throughput monitor</a:t>
            </a:r>
            <a:endParaRPr lang="en-US" sz="1200" dirty="0"/>
          </a:p>
        </p:txBody>
      </p:sp>
      <p:sp>
        <p:nvSpPr>
          <p:cNvPr id="22" name="Text 19"/>
          <p:cNvSpPr/>
          <p:nvPr/>
        </p:nvSpPr>
        <p:spPr>
          <a:xfrm>
            <a:off x="548640" y="3794760"/>
            <a:ext cx="11064240" cy="320040"/>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SIGNALS TO ALERT ON — each one maps onto the loop</a:t>
            </a:r>
            <a:endParaRPr lang="en-US" sz="1300" dirty="0"/>
          </a:p>
        </p:txBody>
      </p:sp>
      <p:sp>
        <p:nvSpPr>
          <p:cNvPr id="23" name="Text 20"/>
          <p:cNvSpPr/>
          <p:nvPr/>
        </p:nvSpPr>
        <p:spPr>
          <a:xfrm>
            <a:off x="731520" y="4160520"/>
            <a:ext cx="4206240" cy="36576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  alarms of any kind</a:t>
            </a:r>
            <a:endParaRPr lang="en-US" sz="1250" dirty="0"/>
          </a:p>
        </p:txBody>
      </p:sp>
      <p:sp>
        <p:nvSpPr>
          <p:cNvPr id="24" name="Text 21"/>
          <p:cNvSpPr/>
          <p:nvPr/>
        </p:nvSpPr>
        <p:spPr>
          <a:xfrm>
            <a:off x="5120640" y="4160520"/>
            <a:ext cx="6309360" cy="36576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transactor is telling you directly</a:t>
            </a:r>
            <a:endParaRPr lang="en-US" sz="1250" dirty="0"/>
          </a:p>
        </p:txBody>
      </p:sp>
      <p:sp>
        <p:nvSpPr>
          <p:cNvPr id="25" name="Text 22"/>
          <p:cNvSpPr/>
          <p:nvPr/>
        </p:nvSpPr>
        <p:spPr>
          <a:xfrm>
            <a:off x="731520" y="4544568"/>
            <a:ext cx="4206240" cy="36576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  indexing job duration</a:t>
            </a:r>
            <a:endParaRPr lang="en-US" sz="1250" dirty="0"/>
          </a:p>
        </p:txBody>
      </p:sp>
      <p:sp>
        <p:nvSpPr>
          <p:cNvPr id="26" name="Text 23"/>
          <p:cNvSpPr/>
          <p:nvPr/>
        </p:nvSpPr>
        <p:spPr>
          <a:xfrm>
            <a:off x="5120640" y="4544568"/>
            <a:ext cx="6309360" cy="36576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drain is falling behind</a:t>
            </a:r>
            <a:endParaRPr lang="en-US" sz="1250" dirty="0"/>
          </a:p>
        </p:txBody>
      </p:sp>
      <p:sp>
        <p:nvSpPr>
          <p:cNvPr id="27" name="Text 24"/>
          <p:cNvSpPr/>
          <p:nvPr/>
        </p:nvSpPr>
        <p:spPr>
          <a:xfrm>
            <a:off x="731520" y="4928616"/>
            <a:ext cx="4206240" cy="36576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  transaction latency p99</a:t>
            </a:r>
            <a:endParaRPr lang="en-US" sz="1250" dirty="0"/>
          </a:p>
        </p:txBody>
      </p:sp>
      <p:sp>
        <p:nvSpPr>
          <p:cNvPr id="28" name="Text 25"/>
          <p:cNvSpPr/>
          <p:nvPr/>
        </p:nvSpPr>
        <p:spPr>
          <a:xfrm>
            <a:off x="5120640" y="4928616"/>
            <a:ext cx="6309360" cy="36576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throttling</a:t>
            </a:r>
            <a:endParaRPr lang="en-US" sz="1250" dirty="0"/>
          </a:p>
        </p:txBody>
      </p:sp>
      <p:sp>
        <p:nvSpPr>
          <p:cNvPr id="29" name="Text 26"/>
          <p:cNvSpPr/>
          <p:nvPr/>
        </p:nvSpPr>
        <p:spPr>
          <a:xfrm>
            <a:off x="731520" y="5312664"/>
            <a:ext cx="4206240" cy="36576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  storage read/write time</a:t>
            </a:r>
            <a:endParaRPr lang="en-US" sz="1250" dirty="0"/>
          </a:p>
        </p:txBody>
      </p:sp>
      <p:sp>
        <p:nvSpPr>
          <p:cNvPr id="30" name="Text 27"/>
          <p:cNvSpPr/>
          <p:nvPr/>
        </p:nvSpPr>
        <p:spPr>
          <a:xfrm>
            <a:off x="5120640" y="5312664"/>
            <a:ext cx="6309360" cy="36576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bottleneck is storage</a:t>
            </a:r>
            <a:endParaRPr lang="en-US" sz="1250" dirty="0"/>
          </a:p>
        </p:txBody>
      </p:sp>
      <p:sp>
        <p:nvSpPr>
          <p:cNvPr id="31" name="Text 28"/>
          <p:cNvSpPr/>
          <p:nvPr/>
        </p:nvSpPr>
        <p:spPr>
          <a:xfrm>
            <a:off x="731520" y="5696712"/>
            <a:ext cx="4206240" cy="365760"/>
          </a:xfrm>
          <a:prstGeom prst="rect">
            <a:avLst/>
          </a:prstGeom>
          <a:noFill/>
          <a:ln/>
        </p:spPr>
        <p:txBody>
          <a:bodyPr wrap="square" lIns="0" tIns="0" rIns="0" bIns="0" rtlCol="0" anchor="ctr">
            <a:normAutofit/>
          </a:bodyPr>
          <a:lstStyle/>
          <a:p>
            <a:pPr indent="0" marL="0">
              <a:buNone/>
            </a:pPr>
            <a:r>
              <a:rPr lang="en-US" sz="1250" dirty="0">
                <a:solidFill>
                  <a:srgbClr val="3A2C1A"/>
                </a:solidFill>
                <a:latin typeface="Helvetica Neue" pitchFamily="34" charset="0"/>
                <a:ea typeface="Helvetica Neue" pitchFamily="34" charset="-122"/>
                <a:cs typeface="Helvetica Neue" pitchFamily="34" charset="-120"/>
              </a:rPr>
              <a:t>▸  memcached hit ratio</a:t>
            </a:r>
            <a:endParaRPr lang="en-US" sz="1250" dirty="0"/>
          </a:p>
        </p:txBody>
      </p:sp>
      <p:sp>
        <p:nvSpPr>
          <p:cNvPr id="32" name="Text 29"/>
          <p:cNvSpPr/>
          <p:nvPr/>
        </p:nvSpPr>
        <p:spPr>
          <a:xfrm>
            <a:off x="5120640" y="5696712"/>
            <a:ext cx="6309360" cy="365760"/>
          </a:xfrm>
          <a:prstGeom prst="rect">
            <a:avLst/>
          </a:prstGeom>
          <a:noFill/>
          <a:ln/>
        </p:spPr>
        <p:txBody>
          <a:bodyPr wrap="square" lIns="0" tIns="0" rIns="0" bIns="0" rtlCol="0" anchor="ctr">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shared tier is not being shared</a:t>
            </a:r>
            <a:endParaRPr lang="en-US" sz="1250" dirty="0"/>
          </a:p>
        </p:txBody>
      </p:sp>
      <p:sp>
        <p:nvSpPr>
          <p:cNvPr id="33" name="Shape 30"/>
          <p:cNvSpPr/>
          <p:nvPr/>
        </p:nvSpPr>
        <p:spPr>
          <a:xfrm>
            <a:off x="548640" y="6126480"/>
            <a:ext cx="11064240" cy="685800"/>
          </a:xfrm>
          <a:prstGeom prst="roundRect">
            <a:avLst>
              <a:gd name="adj" fmla="val 10667"/>
            </a:avLst>
          </a:prstGeom>
          <a:solidFill>
            <a:srgbClr val="DFD6C0"/>
          </a:solidFill>
          <a:ln/>
        </p:spPr>
      </p:sp>
      <p:sp>
        <p:nvSpPr>
          <p:cNvPr id="34" name="Shape 31"/>
          <p:cNvSpPr/>
          <p:nvPr/>
        </p:nvSpPr>
        <p:spPr>
          <a:xfrm>
            <a:off x="548640" y="6126480"/>
            <a:ext cx="82296" cy="685800"/>
          </a:xfrm>
          <a:prstGeom prst="rect">
            <a:avLst/>
          </a:prstGeom>
          <a:solidFill>
            <a:srgbClr val="A8864A"/>
          </a:solidFill>
          <a:ln/>
        </p:spPr>
      </p:sp>
      <p:sp>
        <p:nvSpPr>
          <p:cNvPr id="35" name="Text 32"/>
          <p:cNvSpPr/>
          <p:nvPr/>
        </p:nvSpPr>
        <p:spPr>
          <a:xfrm>
            <a:off x="822960" y="623620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§5</a:t>
            </a:r>
            <a:endParaRPr lang="en-US" sz="1300" dirty="0"/>
          </a:p>
        </p:txBody>
      </p:sp>
      <p:sp>
        <p:nvSpPr>
          <p:cNvPr id="36" name="Shape 33"/>
          <p:cNvSpPr/>
          <p:nvPr/>
        </p:nvSpPr>
        <p:spPr>
          <a:xfrm>
            <a:off x="10561320" y="6236208"/>
            <a:ext cx="777240" cy="292608"/>
          </a:xfrm>
          <a:prstGeom prst="roundRect">
            <a:avLst>
              <a:gd name="adj" fmla="val 25000"/>
            </a:avLst>
          </a:prstGeom>
          <a:solidFill>
            <a:srgbClr val="DDE3CC"/>
          </a:solidFill>
          <a:ln/>
        </p:spPr>
      </p:sp>
      <p:sp>
        <p:nvSpPr>
          <p:cNvPr id="37" name="Text 34"/>
          <p:cNvSpPr/>
          <p:nvPr/>
        </p:nvSpPr>
        <p:spPr>
          <a:xfrm>
            <a:off x="10561320" y="6236208"/>
            <a:ext cx="777240" cy="292608"/>
          </a:xfrm>
          <a:prstGeom prst="rect">
            <a:avLst/>
          </a:prstGeom>
          <a:noFill/>
          <a:ln/>
        </p:spPr>
        <p:txBody>
          <a:bodyPr wrap="square" lIns="0" tIns="0" rIns="0" bIns="0" rtlCol="0" anchor="ctr"/>
          <a:lstStyle/>
          <a:p>
            <a:pPr algn="ctr" indent="0" marL="0">
              <a:buNone/>
            </a:pPr>
            <a:r>
              <a:rPr lang="en-US" sz="1100" b="1" dirty="0">
                <a:solidFill>
                  <a:srgbClr val="5F7A3A"/>
                </a:solidFill>
                <a:latin typeface="Helvetica Neue" pitchFamily="34" charset="0"/>
                <a:ea typeface="Helvetica Neue" pitchFamily="34" charset="-122"/>
                <a:cs typeface="Helvetica Neue" pitchFamily="34" charset="-120"/>
              </a:rPr>
              <a:t>[MEM]</a:t>
            </a:r>
            <a:endParaRPr lang="en-US" sz="1100" dirty="0"/>
          </a:p>
        </p:txBody>
      </p:sp>
      <p:sp>
        <p:nvSpPr>
          <p:cNvPr id="38" name="Text 35"/>
          <p:cNvSpPr/>
          <p:nvPr/>
        </p:nvSpPr>
        <p:spPr>
          <a:xfrm>
            <a:off x="822960" y="6583680"/>
            <a:ext cx="10515600" cy="11887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The memory-index demo is [MEM]; the metrics-callback contract is read from the distribution.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C2416"/>
          </a:solidFill>
          <a:ln/>
        </p:spPr>
      </p:sp>
      <p:sp>
        <p:nvSpPr>
          <p:cNvPr id="3" name="Shape 1"/>
          <p:cNvSpPr/>
          <p:nvPr/>
        </p:nvSpPr>
        <p:spPr>
          <a:xfrm>
            <a:off x="0" y="2011680"/>
            <a:ext cx="228600" cy="2011680"/>
          </a:xfrm>
          <a:prstGeom prst="rect">
            <a:avLst/>
          </a:prstGeom>
          <a:solidFill>
            <a:srgbClr val="A8864A"/>
          </a:solidFill>
          <a:ln/>
        </p:spPr>
      </p:sp>
      <p:sp>
        <p:nvSpPr>
          <p:cNvPr id="4" name="Text 2"/>
          <p:cNvSpPr/>
          <p:nvPr/>
        </p:nvSpPr>
        <p:spPr>
          <a:xfrm>
            <a:off x="822960" y="2103120"/>
            <a:ext cx="10515600" cy="365760"/>
          </a:xfrm>
          <a:prstGeom prst="rect">
            <a:avLst/>
          </a:prstGeom>
          <a:noFill/>
          <a:ln/>
        </p:spPr>
        <p:txBody>
          <a:bodyPr wrap="square" lIns="0" tIns="0" rIns="0" bIns="0" rtlCol="0" anchor="t"/>
          <a:lstStyle/>
          <a:p>
            <a:pPr indent="0" marL="0">
              <a:buNone/>
            </a:pPr>
            <a:r>
              <a:rPr lang="en-US" sz="1500" spc="300" kern="0" dirty="0">
                <a:solidFill>
                  <a:srgbClr val="C6A46A"/>
                </a:solidFill>
                <a:latin typeface="Helvetica Neue" pitchFamily="34" charset="0"/>
                <a:ea typeface="Helvetica Neue" pitchFamily="34" charset="-122"/>
                <a:cs typeface="Helvetica Neue" pitchFamily="34" charset="-120"/>
              </a:rPr>
              <a:t>PART VI</a:t>
            </a:r>
            <a:endParaRPr lang="en-US" sz="1500" dirty="0"/>
          </a:p>
        </p:txBody>
      </p:sp>
      <p:sp>
        <p:nvSpPr>
          <p:cNvPr id="5" name="Text 3"/>
          <p:cNvSpPr/>
          <p:nvPr/>
        </p:nvSpPr>
        <p:spPr>
          <a:xfrm>
            <a:off x="822960" y="2606040"/>
            <a:ext cx="10515600" cy="822960"/>
          </a:xfrm>
          <a:prstGeom prst="rect">
            <a:avLst/>
          </a:prstGeom>
          <a:noFill/>
          <a:ln/>
        </p:spPr>
        <p:txBody>
          <a:bodyPr wrap="square" lIns="0" tIns="0" rIns="0" bIns="0" rtlCol="0" anchor="t"/>
          <a:lstStyle/>
          <a:p>
            <a:pPr indent="0" marL="0">
              <a:buNone/>
            </a:pPr>
            <a:r>
              <a:rPr lang="en-US" sz="3400" dirty="0">
                <a:solidFill>
                  <a:srgbClr val="FCFAF4"/>
                </a:solidFill>
                <a:latin typeface="Georgia" pitchFamily="34" charset="0"/>
                <a:ea typeface="Georgia" pitchFamily="34" charset="-122"/>
                <a:cs typeface="Georgia" pitchFamily="34" charset="-120"/>
              </a:rPr>
              <a:t>Deployment</a:t>
            </a:r>
            <a:endParaRPr lang="en-US" sz="3400" dirty="0"/>
          </a:p>
        </p:txBody>
      </p:sp>
      <p:sp>
        <p:nvSpPr>
          <p:cNvPr id="6" name="Text 4"/>
          <p:cNvSpPr/>
          <p:nvPr/>
        </p:nvSpPr>
        <p:spPr>
          <a:xfrm>
            <a:off x="822960" y="3520440"/>
            <a:ext cx="10515600" cy="731520"/>
          </a:xfrm>
          <a:prstGeom prst="rect">
            <a:avLst/>
          </a:prstGeom>
          <a:noFill/>
          <a:ln/>
        </p:spPr>
        <p:txBody>
          <a:bodyPr wrap="square" lIns="0" tIns="0" rIns="0" bIns="0" rtlCol="0" anchor="t"/>
          <a:lstStyle/>
          <a:p>
            <a:pPr indent="0" marL="0">
              <a:buNone/>
            </a:pPr>
            <a:r>
              <a:rPr lang="en-US" sz="1600" dirty="0">
                <a:solidFill>
                  <a:srgbClr val="C9BDA4"/>
                </a:solidFill>
                <a:latin typeface="Helvetica Neue" pitchFamily="34" charset="0"/>
                <a:ea typeface="Helvetica Neue" pitchFamily="34" charset="-122"/>
                <a:cs typeface="Helvetica Neue" pitchFamily="34" charset="-120"/>
              </a:rPr>
              <a:t>A peer carries a cache — so shipping one is not like shipping a stateless service</a:t>
            </a:r>
            <a:endParaRPr lang="en-US" sz="1600" dirty="0"/>
          </a:p>
        </p:txBody>
      </p:sp>
      <p:sp>
        <p:nvSpPr>
          <p:cNvPr id="7" name="Text 5"/>
          <p:cNvSpPr/>
          <p:nvPr/>
        </p:nvSpPr>
        <p:spPr>
          <a:xfrm>
            <a:off x="11155680" y="6400800"/>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VI · DEPLOYMENT</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37</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"Up" and "ready" are not the same thing</a:t>
            </a:r>
            <a:endParaRPr lang="en-US" sz="2500" dirty="0"/>
          </a:p>
        </p:txBody>
      </p:sp>
      <p:sp>
        <p:nvSpPr>
          <p:cNvPr id="8" name="Shape 5"/>
          <p:cNvSpPr/>
          <p:nvPr/>
        </p:nvSpPr>
        <p:spPr>
          <a:xfrm>
            <a:off x="548640" y="1325880"/>
            <a:ext cx="5349240" cy="1737360"/>
          </a:xfrm>
          <a:prstGeom prst="roundRect">
            <a:avLst>
              <a:gd name="adj" fmla="val 3158"/>
            </a:avLst>
          </a:prstGeom>
          <a:solidFill>
            <a:srgbClr val="EBD5CB"/>
          </a:solidFill>
          <a:ln w="15875">
            <a:solidFill>
              <a:srgbClr val="9E4227"/>
            </a:solidFill>
            <a:prstDash val="solid"/>
          </a:ln>
        </p:spPr>
      </p:sp>
      <p:sp>
        <p:nvSpPr>
          <p:cNvPr id="9" name="Text 6"/>
          <p:cNvSpPr/>
          <p:nvPr/>
        </p:nvSpPr>
        <p:spPr>
          <a:xfrm>
            <a:off x="621792" y="1883664"/>
            <a:ext cx="5202936" cy="310896"/>
          </a:xfrm>
          <a:prstGeom prst="rect">
            <a:avLst/>
          </a:prstGeom>
          <a:noFill/>
          <a:ln/>
        </p:spPr>
        <p:txBody>
          <a:bodyPr wrap="square" lIns="0" tIns="0" rIns="0" bIns="0" rtlCol="0" anchor="b">
            <a:normAutofit/>
          </a:bodyPr>
          <a:lstStyle/>
          <a:p>
            <a:pPr algn="ctr" indent="0" marL="0">
              <a:buNone/>
            </a:pPr>
            <a:r>
              <a:rPr lang="en-US" sz="1600" b="1" dirty="0">
                <a:solidFill>
                  <a:srgbClr val="3A2C1A"/>
                </a:solidFill>
                <a:latin typeface="Helvetica Neue" pitchFamily="34" charset="0"/>
                <a:ea typeface="Helvetica Neue" pitchFamily="34" charset="-122"/>
                <a:cs typeface="Helvetica Neue" pitchFamily="34" charset="-120"/>
              </a:rPr>
              <a:t>process started  →  READY</a:t>
            </a:r>
            <a:endParaRPr lang="en-US" sz="1600" dirty="0"/>
          </a:p>
        </p:txBody>
      </p:sp>
      <p:sp>
        <p:nvSpPr>
          <p:cNvPr id="10" name="Text 7"/>
          <p:cNvSpPr/>
          <p:nvPr/>
        </p:nvSpPr>
        <p:spPr>
          <a:xfrm>
            <a:off x="621792" y="2176272"/>
            <a:ext cx="5202936" cy="384048"/>
          </a:xfrm>
          <a:prstGeom prst="rect">
            <a:avLst/>
          </a:prstGeom>
          <a:noFill/>
          <a:ln/>
        </p:spPr>
        <p:txBody>
          <a:bodyPr wrap="square" lIns="0" tIns="0" rIns="0" bIns="0" rtlCol="0" anchor="t">
            <a:normAutofit/>
          </a:bodyPr>
          <a:lstStyle/>
          <a:p>
            <a:pPr algn="ctr" indent="0" marL="0">
              <a:buNone/>
            </a:pPr>
            <a:r>
              <a:rPr lang="en-US" sz="1250" dirty="0">
                <a:solidFill>
                  <a:srgbClr val="6B5A44"/>
                </a:solidFill>
                <a:latin typeface="Helvetica Neue" pitchFamily="34" charset="0"/>
                <a:ea typeface="Helvetica Neue" pitchFamily="34" charset="-122"/>
                <a:cs typeface="Helvetica Neue" pitchFamily="34" charset="-120"/>
              </a:rPr>
              <a:t>cache empty · every read goes to storage · p99 in the seconds</a:t>
            </a:r>
            <a:endParaRPr lang="en-US" sz="1250" dirty="0"/>
          </a:p>
        </p:txBody>
      </p:sp>
      <p:sp>
        <p:nvSpPr>
          <p:cNvPr id="11" name="Shape 8"/>
          <p:cNvSpPr/>
          <p:nvPr/>
        </p:nvSpPr>
        <p:spPr>
          <a:xfrm>
            <a:off x="5989320" y="1874520"/>
            <a:ext cx="640080" cy="640080"/>
          </a:xfrm>
          <a:prstGeom prst="rightArrow">
            <a:avLst/>
          </a:prstGeom>
          <a:solidFill>
            <a:srgbClr val="C9BDA4"/>
          </a:solidFill>
          <a:ln/>
        </p:spPr>
      </p:sp>
      <p:sp>
        <p:nvSpPr>
          <p:cNvPr id="12" name="Shape 9"/>
          <p:cNvSpPr/>
          <p:nvPr/>
        </p:nvSpPr>
        <p:spPr>
          <a:xfrm>
            <a:off x="6766560" y="1325880"/>
            <a:ext cx="4846320" cy="1737360"/>
          </a:xfrm>
          <a:prstGeom prst="roundRect">
            <a:avLst>
              <a:gd name="adj" fmla="val 3158"/>
            </a:avLst>
          </a:prstGeom>
          <a:solidFill>
            <a:srgbClr val="DDE3CC"/>
          </a:solidFill>
          <a:ln w="15875">
            <a:solidFill>
              <a:srgbClr val="5F7A3A"/>
            </a:solidFill>
            <a:prstDash val="solid"/>
          </a:ln>
        </p:spPr>
      </p:sp>
      <p:sp>
        <p:nvSpPr>
          <p:cNvPr id="13" name="Text 10"/>
          <p:cNvSpPr/>
          <p:nvPr/>
        </p:nvSpPr>
        <p:spPr>
          <a:xfrm>
            <a:off x="6839712" y="1883664"/>
            <a:ext cx="4700016" cy="310896"/>
          </a:xfrm>
          <a:prstGeom prst="rect">
            <a:avLst/>
          </a:prstGeom>
          <a:noFill/>
          <a:ln/>
        </p:spPr>
        <p:txBody>
          <a:bodyPr wrap="square" lIns="0" tIns="0" rIns="0" bIns="0" rtlCol="0" anchor="b">
            <a:normAutofit/>
          </a:bodyPr>
          <a:lstStyle/>
          <a:p>
            <a:pPr algn="ctr" indent="0" marL="0">
              <a:buNone/>
            </a:pPr>
            <a:r>
              <a:rPr lang="en-US" sz="1600" b="1" dirty="0">
                <a:solidFill>
                  <a:srgbClr val="3A2C1A"/>
                </a:solidFill>
                <a:latin typeface="Helvetica Neue" pitchFamily="34" charset="0"/>
                <a:ea typeface="Helvetica Neue" pitchFamily="34" charset="-122"/>
                <a:cs typeface="Helvetica Neue" pitchFamily="34" charset="-120"/>
              </a:rPr>
              <a:t>warmed  →  READY</a:t>
            </a:r>
            <a:endParaRPr lang="en-US" sz="1600" dirty="0"/>
          </a:p>
        </p:txBody>
      </p:sp>
      <p:sp>
        <p:nvSpPr>
          <p:cNvPr id="14" name="Text 11"/>
          <p:cNvSpPr/>
          <p:nvPr/>
        </p:nvSpPr>
        <p:spPr>
          <a:xfrm>
            <a:off x="6839712" y="2176272"/>
            <a:ext cx="4700016" cy="566928"/>
          </a:xfrm>
          <a:prstGeom prst="rect">
            <a:avLst/>
          </a:prstGeom>
          <a:noFill/>
          <a:ln/>
        </p:spPr>
        <p:txBody>
          <a:bodyPr wrap="square" lIns="0" tIns="0" rIns="0" bIns="0" rtlCol="0" anchor="t">
            <a:normAutofit/>
          </a:bodyPr>
          <a:lstStyle/>
          <a:p>
            <a:pPr algn="ctr" indent="0" marL="0">
              <a:buNone/>
            </a:pPr>
            <a:r>
              <a:rPr lang="en-US" sz="1250" dirty="0">
                <a:solidFill>
                  <a:srgbClr val="6B5A44"/>
                </a:solidFill>
                <a:latin typeface="Helvetica Neue" pitchFamily="34" charset="0"/>
                <a:ea typeface="Helvetica Neue" pitchFamily="34" charset="-122"/>
                <a:cs typeface="Helvetica Neue" pitchFamily="34" charset="-120"/>
              </a:rPr>
              <a:t>segments resident · the first request is as fast as the hundredth</a:t>
            </a:r>
            <a:endParaRPr lang="en-US" sz="1250" dirty="0"/>
          </a:p>
        </p:txBody>
      </p:sp>
      <p:sp>
        <p:nvSpPr>
          <p:cNvPr id="15" name="Shape 12"/>
          <p:cNvSpPr/>
          <p:nvPr/>
        </p:nvSpPr>
        <p:spPr>
          <a:xfrm>
            <a:off x="548640" y="3246120"/>
            <a:ext cx="11064240" cy="1691640"/>
          </a:xfrm>
          <a:prstGeom prst="roundRect">
            <a:avLst>
              <a:gd name="adj" fmla="val 4324"/>
            </a:avLst>
          </a:prstGeom>
          <a:solidFill>
            <a:srgbClr val="E6DFCE"/>
          </a:solidFill>
          <a:ln/>
        </p:spPr>
      </p:sp>
      <p:sp>
        <p:nvSpPr>
          <p:cNvPr id="16" name="Text 13"/>
          <p:cNvSpPr/>
          <p:nvPr/>
        </p:nvSpPr>
        <p:spPr>
          <a:xfrm>
            <a:off x="749808" y="3392424"/>
            <a:ext cx="10661904" cy="139903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(defn warm! [conn]</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(let [db (d/db conn)]</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(doall (pmap (fn [[lo hi]] (count (seq (d/index-range db :reading/t lo hi))))</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(partition 2 1 (range 0 20001 2500))))</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{:ready? true :basis-t (d/basis-t db)}))</a:t>
            </a:r>
            <a:endParaRPr lang="en-US" sz="1250" dirty="0"/>
          </a:p>
        </p:txBody>
      </p:sp>
      <p:sp>
        <p:nvSpPr>
          <p:cNvPr id="17" name="Shape 14"/>
          <p:cNvSpPr/>
          <p:nvPr/>
        </p:nvSpPr>
        <p:spPr>
          <a:xfrm>
            <a:off x="548640" y="5074920"/>
            <a:ext cx="54864" cy="457200"/>
          </a:xfrm>
          <a:prstGeom prst="rect">
            <a:avLst/>
          </a:prstGeom>
          <a:solidFill>
            <a:srgbClr val="A8864A"/>
          </a:solidFill>
          <a:ln/>
        </p:spPr>
      </p:sp>
      <p:sp>
        <p:nvSpPr>
          <p:cNvPr id="18" name="Text 15"/>
          <p:cNvSpPr/>
          <p:nvPr/>
        </p:nvSpPr>
        <p:spPr>
          <a:xfrm>
            <a:off x="777240" y="50749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Warm the segments the service reads, then report ready. Readiness should mean warm, not alive.</a:t>
            </a:r>
            <a:endParaRPr lang="en-US" sz="1450" dirty="0"/>
          </a:p>
        </p:txBody>
      </p:sp>
      <p:sp>
        <p:nvSpPr>
          <p:cNvPr id="19" name="Shape 16"/>
          <p:cNvSpPr/>
          <p:nvPr/>
        </p:nvSpPr>
        <p:spPr>
          <a:xfrm>
            <a:off x="548640" y="5715000"/>
            <a:ext cx="11064240" cy="685800"/>
          </a:xfrm>
          <a:prstGeom prst="roundRect">
            <a:avLst>
              <a:gd name="adj" fmla="val 10667"/>
            </a:avLst>
          </a:prstGeom>
          <a:solidFill>
            <a:srgbClr val="DFD6C0"/>
          </a:solidFill>
          <a:ln/>
        </p:spPr>
      </p:sp>
      <p:sp>
        <p:nvSpPr>
          <p:cNvPr id="20" name="Shape 17"/>
          <p:cNvSpPr/>
          <p:nvPr/>
        </p:nvSpPr>
        <p:spPr>
          <a:xfrm>
            <a:off x="548640" y="5715000"/>
            <a:ext cx="82296" cy="685800"/>
          </a:xfrm>
          <a:prstGeom prst="rect">
            <a:avLst/>
          </a:prstGeom>
          <a:solidFill>
            <a:srgbClr val="A8864A"/>
          </a:solidFill>
          <a:ln/>
        </p:spPr>
      </p:sp>
      <p:sp>
        <p:nvSpPr>
          <p:cNvPr id="21" name="Text 18"/>
          <p:cNvSpPr/>
          <p:nvPr/>
        </p:nvSpPr>
        <p:spPr>
          <a:xfrm>
            <a:off x="822960" y="5824728"/>
            <a:ext cx="9052560" cy="292608"/>
          </a:xfrm>
          <a:prstGeom prst="rect">
            <a:avLst/>
          </a:prstGeom>
          <a:noFill/>
          <a:ln/>
        </p:spPr>
        <p:txBody>
          <a:bodyPr wrap="square" lIns="0" tIns="0" rIns="0" bIns="0" rtlCol="0" anchor="t"/>
          <a:lstStyle/>
          <a:p>
            <a:pPr indent="0" marL="0">
              <a:buNone/>
            </a:pPr>
            <a:r>
              <a:rPr lang="en-US" sz="1300" b="1" spc="100" kern="0" dirty="0">
                <a:solidFill>
                  <a:srgbClr val="A8864A"/>
                </a:solidFill>
                <a:latin typeface="Helvetica Neue" pitchFamily="34" charset="0"/>
                <a:ea typeface="Helvetica Neue" pitchFamily="34" charset="-122"/>
                <a:cs typeface="Helvetica Neue" pitchFamily="34" charset="-120"/>
              </a:rPr>
              <a:t>⚑  waypoint — labs §6</a:t>
            </a:r>
            <a:endParaRPr lang="en-US" sz="1300" dirty="0"/>
          </a:p>
        </p:txBody>
      </p:sp>
      <p:sp>
        <p:nvSpPr>
          <p:cNvPr id="22" name="Shape 19"/>
          <p:cNvSpPr/>
          <p:nvPr/>
        </p:nvSpPr>
        <p:spPr>
          <a:xfrm>
            <a:off x="10561320" y="5824728"/>
            <a:ext cx="777240" cy="292608"/>
          </a:xfrm>
          <a:prstGeom prst="roundRect">
            <a:avLst>
              <a:gd name="adj" fmla="val 25000"/>
            </a:avLst>
          </a:prstGeom>
          <a:solidFill>
            <a:srgbClr val="DDE3CC"/>
          </a:solidFill>
          <a:ln/>
        </p:spPr>
      </p:sp>
      <p:sp>
        <p:nvSpPr>
          <p:cNvPr id="23" name="Text 20"/>
          <p:cNvSpPr/>
          <p:nvPr/>
        </p:nvSpPr>
        <p:spPr>
          <a:xfrm>
            <a:off x="10561320" y="5824728"/>
            <a:ext cx="777240" cy="292608"/>
          </a:xfrm>
          <a:prstGeom prst="rect">
            <a:avLst/>
          </a:prstGeom>
          <a:noFill/>
          <a:ln/>
        </p:spPr>
        <p:txBody>
          <a:bodyPr wrap="square" lIns="0" tIns="0" rIns="0" bIns="0" rtlCol="0" anchor="ctr"/>
          <a:lstStyle/>
          <a:p>
            <a:pPr algn="ctr" indent="0" marL="0">
              <a:buNone/>
            </a:pPr>
            <a:r>
              <a:rPr lang="en-US" sz="1100" b="1" dirty="0">
                <a:solidFill>
                  <a:srgbClr val="5F7A3A"/>
                </a:solidFill>
                <a:latin typeface="Helvetica Neue" pitchFamily="34" charset="0"/>
                <a:ea typeface="Helvetica Neue" pitchFamily="34" charset="-122"/>
                <a:cs typeface="Helvetica Neue" pitchFamily="34" charset="-120"/>
              </a:rPr>
              <a:t>[MEM]</a:t>
            </a:r>
            <a:endParaRPr lang="en-US" sz="1100" dirty="0"/>
          </a:p>
        </p:txBody>
      </p:sp>
      <p:sp>
        <p:nvSpPr>
          <p:cNvPr id="24" name="Text 21"/>
          <p:cNvSpPr/>
          <p:nvPr/>
        </p:nvSpPr>
        <p:spPr>
          <a:xfrm>
            <a:off x="822960" y="6172200"/>
            <a:ext cx="10515600" cy="118872"/>
          </a:xfrm>
          <a:prstGeom prst="rect">
            <a:avLst/>
          </a:prstGeom>
          <a:noFill/>
          <a:ln/>
        </p:spPr>
        <p:txBody>
          <a:bodyPr wrap="square" lIns="0" tIns="0" rIns="0" bIns="0" rtlCol="0" anchor="t">
            <a:normAutofit/>
          </a:bodyPr>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Run (warm!), then the d/sync read-your-writes check on the next slide.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VI · DEPLOYMENT</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38</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Reading your own writes across a fleet of peers</a:t>
            </a:r>
            <a:endParaRPr lang="en-US" sz="2500" dirty="0"/>
          </a:p>
        </p:txBody>
      </p:sp>
      <p:sp>
        <p:nvSpPr>
          <p:cNvPr id="8" name="Text 5"/>
          <p:cNvSpPr/>
          <p:nvPr/>
        </p:nvSpPr>
        <p:spPr>
          <a:xfrm>
            <a:off x="548640" y="1280160"/>
            <a:ext cx="5349240" cy="320040"/>
          </a:xfrm>
          <a:prstGeom prst="rect">
            <a:avLst/>
          </a:prstGeom>
          <a:noFill/>
          <a:ln/>
        </p:spPr>
        <p:txBody>
          <a:bodyPr wrap="square" lIns="0" tIns="0" rIns="0" bIns="0" rtlCol="0" anchor="t"/>
          <a:lstStyle/>
          <a:p>
            <a:pPr indent="0" marL="0">
              <a:buNone/>
            </a:pPr>
            <a:r>
              <a:rPr lang="en-US" sz="1300" b="1" spc="100" kern="0" dirty="0">
                <a:solidFill>
                  <a:srgbClr val="9E4227"/>
                </a:solidFill>
                <a:latin typeface="Helvetica Neue" pitchFamily="34" charset="0"/>
                <a:ea typeface="Helvetica Neue" pitchFamily="34" charset="-122"/>
                <a:cs typeface="Helvetica Neue" pitchFamily="34" charset="-120"/>
              </a:rPr>
              <a:t>WITHOUT the contract</a:t>
            </a:r>
            <a:endParaRPr lang="en-US" sz="1300" dirty="0"/>
          </a:p>
        </p:txBody>
      </p:sp>
      <p:sp>
        <p:nvSpPr>
          <p:cNvPr id="9" name="Shape 6"/>
          <p:cNvSpPr/>
          <p:nvPr/>
        </p:nvSpPr>
        <p:spPr>
          <a:xfrm>
            <a:off x="548640" y="1645920"/>
            <a:ext cx="2468880" cy="640080"/>
          </a:xfrm>
          <a:prstGeom prst="roundRect">
            <a:avLst>
              <a:gd name="adj" fmla="val 8571"/>
            </a:avLst>
          </a:prstGeom>
          <a:solidFill>
            <a:srgbClr val="EDE0C4"/>
          </a:solidFill>
          <a:ln w="15875">
            <a:solidFill>
              <a:srgbClr val="B5822B"/>
            </a:solidFill>
            <a:prstDash val="solid"/>
          </a:ln>
        </p:spPr>
      </p:sp>
      <p:sp>
        <p:nvSpPr>
          <p:cNvPr id="10" name="Text 7"/>
          <p:cNvSpPr/>
          <p:nvPr/>
        </p:nvSpPr>
        <p:spPr>
          <a:xfrm>
            <a:off x="621792" y="1655064"/>
            <a:ext cx="232257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peer A</a:t>
            </a:r>
            <a:endParaRPr lang="en-US" sz="1300" dirty="0"/>
          </a:p>
        </p:txBody>
      </p:sp>
      <p:sp>
        <p:nvSpPr>
          <p:cNvPr id="11" name="Text 8"/>
          <p:cNvSpPr/>
          <p:nvPr/>
        </p:nvSpPr>
        <p:spPr>
          <a:xfrm>
            <a:off x="621792" y="1947672"/>
            <a:ext cx="2322576" cy="384048"/>
          </a:xfrm>
          <a:prstGeom prst="rect">
            <a:avLst/>
          </a:prstGeom>
          <a:noFill/>
          <a:ln/>
        </p:spPr>
        <p:txBody>
          <a:bodyPr wrap="square" lIns="0" tIns="0" rIns="0" bIns="0" rtlCol="0" anchor="t">
            <a:normAutofit/>
          </a:bodyPr>
          <a:lstStyle/>
          <a:p>
            <a:pPr algn="ctr" indent="0" marL="0">
              <a:buNone/>
            </a:pPr>
            <a:r>
              <a:rPr lang="en-US" sz="1050" dirty="0">
                <a:solidFill>
                  <a:srgbClr val="6B5A44"/>
                </a:solidFill>
                <a:latin typeface="Helvetica Neue" pitchFamily="34" charset="0"/>
                <a:ea typeface="Helvetica Neue" pitchFamily="34" charset="-122"/>
                <a:cs typeface="Helvetica Neue" pitchFamily="34" charset="-120"/>
              </a:rPr>
              <a:t>writes at t=21011</a:t>
            </a:r>
            <a:endParaRPr lang="en-US" sz="1050" dirty="0"/>
          </a:p>
        </p:txBody>
      </p:sp>
      <p:sp>
        <p:nvSpPr>
          <p:cNvPr id="12" name="Shape 9"/>
          <p:cNvSpPr/>
          <p:nvPr/>
        </p:nvSpPr>
        <p:spPr>
          <a:xfrm>
            <a:off x="3429000" y="1645920"/>
            <a:ext cx="2468880" cy="640080"/>
          </a:xfrm>
          <a:prstGeom prst="roundRect">
            <a:avLst>
              <a:gd name="adj" fmla="val 8571"/>
            </a:avLst>
          </a:prstGeom>
          <a:solidFill>
            <a:srgbClr val="EBD5CB"/>
          </a:solidFill>
          <a:ln w="15875">
            <a:solidFill>
              <a:srgbClr val="9E4227"/>
            </a:solidFill>
            <a:prstDash val="solid"/>
          </a:ln>
        </p:spPr>
      </p:sp>
      <p:sp>
        <p:nvSpPr>
          <p:cNvPr id="13" name="Text 10"/>
          <p:cNvSpPr/>
          <p:nvPr/>
        </p:nvSpPr>
        <p:spPr>
          <a:xfrm>
            <a:off x="3502152" y="1655064"/>
            <a:ext cx="232257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peer B</a:t>
            </a:r>
            <a:endParaRPr lang="en-US" sz="1300" dirty="0"/>
          </a:p>
        </p:txBody>
      </p:sp>
      <p:sp>
        <p:nvSpPr>
          <p:cNvPr id="14" name="Text 11"/>
          <p:cNvSpPr/>
          <p:nvPr/>
        </p:nvSpPr>
        <p:spPr>
          <a:xfrm>
            <a:off x="3502152" y="1947672"/>
            <a:ext cx="2322576" cy="384048"/>
          </a:xfrm>
          <a:prstGeom prst="rect">
            <a:avLst/>
          </a:prstGeom>
          <a:noFill/>
          <a:ln/>
        </p:spPr>
        <p:txBody>
          <a:bodyPr wrap="square" lIns="0" tIns="0" rIns="0" bIns="0" rtlCol="0" anchor="t">
            <a:normAutofit/>
          </a:bodyPr>
          <a:lstStyle/>
          <a:p>
            <a:pPr algn="ctr" indent="0" marL="0">
              <a:buNone/>
            </a:pPr>
            <a:r>
              <a:rPr lang="en-US" sz="1050" dirty="0">
                <a:solidFill>
                  <a:srgbClr val="6B5A44"/>
                </a:solidFill>
                <a:latin typeface="Helvetica Neue" pitchFamily="34" charset="0"/>
                <a:ea typeface="Helvetica Neue" pitchFamily="34" charset="-122"/>
                <a:cs typeface="Helvetica Neue" pitchFamily="34" charset="-120"/>
              </a:rPr>
              <a:t>still at t=20990</a:t>
            </a:r>
            <a:endParaRPr lang="en-US" sz="1050" dirty="0"/>
          </a:p>
        </p:txBody>
      </p:sp>
      <p:sp>
        <p:nvSpPr>
          <p:cNvPr id="15" name="Shape 12"/>
          <p:cNvSpPr/>
          <p:nvPr/>
        </p:nvSpPr>
        <p:spPr>
          <a:xfrm>
            <a:off x="822960" y="2377440"/>
            <a:ext cx="0" cy="502920"/>
          </a:xfrm>
          <a:prstGeom prst="line">
            <a:avLst/>
          </a:prstGeom>
          <a:noFill/>
          <a:ln w="19050">
            <a:solidFill>
              <a:srgbClr val="B5822B"/>
            </a:solidFill>
            <a:prstDash val="solid"/>
            <a:headEnd type="none"/>
            <a:tailEnd type="none"/>
          </a:ln>
        </p:spPr>
      </p:sp>
      <p:sp>
        <p:nvSpPr>
          <p:cNvPr id="16" name="Shape 13"/>
          <p:cNvSpPr/>
          <p:nvPr/>
        </p:nvSpPr>
        <p:spPr>
          <a:xfrm>
            <a:off x="3703320" y="2377440"/>
            <a:ext cx="0" cy="502920"/>
          </a:xfrm>
          <a:prstGeom prst="line">
            <a:avLst/>
          </a:prstGeom>
          <a:noFill/>
          <a:ln w="19050">
            <a:solidFill>
              <a:srgbClr val="9E4227"/>
            </a:solidFill>
            <a:prstDash val="solid"/>
            <a:headEnd type="none"/>
            <a:tailEnd type="none"/>
          </a:ln>
        </p:spPr>
      </p:sp>
      <p:sp>
        <p:nvSpPr>
          <p:cNvPr id="17" name="Shape 14"/>
          <p:cNvSpPr/>
          <p:nvPr/>
        </p:nvSpPr>
        <p:spPr>
          <a:xfrm>
            <a:off x="548640" y="2880360"/>
            <a:ext cx="5349240" cy="594360"/>
          </a:xfrm>
          <a:prstGeom prst="roundRect">
            <a:avLst>
              <a:gd name="adj" fmla="val 9231"/>
            </a:avLst>
          </a:prstGeom>
          <a:solidFill>
            <a:srgbClr val="EBD5CB"/>
          </a:solidFill>
          <a:ln w="15875">
            <a:solidFill>
              <a:srgbClr val="9E4227"/>
            </a:solidFill>
            <a:prstDash val="solid"/>
          </a:ln>
        </p:spPr>
      </p:sp>
      <p:sp>
        <p:nvSpPr>
          <p:cNvPr id="18" name="Text 15"/>
          <p:cNvSpPr/>
          <p:nvPr/>
        </p:nvSpPr>
        <p:spPr>
          <a:xfrm>
            <a:off x="621792" y="2880360"/>
            <a:ext cx="5202936" cy="594360"/>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the caller reads back … and the write is missing</a:t>
            </a:r>
            <a:endParaRPr lang="en-US" sz="1300" dirty="0"/>
          </a:p>
        </p:txBody>
      </p:sp>
      <p:sp>
        <p:nvSpPr>
          <p:cNvPr id="19" name="Text 16"/>
          <p:cNvSpPr/>
          <p:nvPr/>
        </p:nvSpPr>
        <p:spPr>
          <a:xfrm>
            <a:off x="6263640" y="1280160"/>
            <a:ext cx="5349240" cy="320040"/>
          </a:xfrm>
          <a:prstGeom prst="rect">
            <a:avLst/>
          </a:prstGeom>
          <a:noFill/>
          <a:ln/>
        </p:spPr>
        <p:txBody>
          <a:bodyPr wrap="square" lIns="0" tIns="0" rIns="0" bIns="0" rtlCol="0" anchor="t"/>
          <a:lstStyle/>
          <a:p>
            <a:pPr indent="0" marL="0">
              <a:buNone/>
            </a:pPr>
            <a:r>
              <a:rPr lang="en-US" sz="1300" b="1" spc="100" kern="0" dirty="0">
                <a:solidFill>
                  <a:srgbClr val="5F7A3A"/>
                </a:solidFill>
                <a:latin typeface="Helvetica Neue" pitchFamily="34" charset="0"/>
                <a:ea typeface="Helvetica Neue" pitchFamily="34" charset="-122"/>
                <a:cs typeface="Helvetica Neue" pitchFamily="34" charset="-120"/>
              </a:rPr>
              <a:t>WITH the contract</a:t>
            </a:r>
            <a:endParaRPr lang="en-US" sz="1300" dirty="0"/>
          </a:p>
        </p:txBody>
      </p:sp>
      <p:sp>
        <p:nvSpPr>
          <p:cNvPr id="20" name="Shape 17"/>
          <p:cNvSpPr/>
          <p:nvPr/>
        </p:nvSpPr>
        <p:spPr>
          <a:xfrm>
            <a:off x="6263640" y="1645920"/>
            <a:ext cx="2468880" cy="640080"/>
          </a:xfrm>
          <a:prstGeom prst="roundRect">
            <a:avLst>
              <a:gd name="adj" fmla="val 8571"/>
            </a:avLst>
          </a:prstGeom>
          <a:solidFill>
            <a:srgbClr val="EDE0C4"/>
          </a:solidFill>
          <a:ln w="15875">
            <a:solidFill>
              <a:srgbClr val="B5822B"/>
            </a:solidFill>
            <a:prstDash val="solid"/>
          </a:ln>
        </p:spPr>
      </p:sp>
      <p:sp>
        <p:nvSpPr>
          <p:cNvPr id="21" name="Text 18"/>
          <p:cNvSpPr/>
          <p:nvPr/>
        </p:nvSpPr>
        <p:spPr>
          <a:xfrm>
            <a:off x="6336792" y="1655064"/>
            <a:ext cx="232257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peer A</a:t>
            </a:r>
            <a:endParaRPr lang="en-US" sz="1300" dirty="0"/>
          </a:p>
        </p:txBody>
      </p:sp>
      <p:sp>
        <p:nvSpPr>
          <p:cNvPr id="22" name="Text 19"/>
          <p:cNvSpPr/>
          <p:nvPr/>
        </p:nvSpPr>
        <p:spPr>
          <a:xfrm>
            <a:off x="6336792" y="1947672"/>
            <a:ext cx="2322576" cy="384048"/>
          </a:xfrm>
          <a:prstGeom prst="rect">
            <a:avLst/>
          </a:prstGeom>
          <a:noFill/>
          <a:ln/>
        </p:spPr>
        <p:txBody>
          <a:bodyPr wrap="square" lIns="0" tIns="0" rIns="0" bIns="0" rtlCol="0" anchor="t">
            <a:normAutofit/>
          </a:bodyPr>
          <a:lstStyle/>
          <a:p>
            <a:pPr algn="ctr" indent="0" marL="0">
              <a:buNone/>
            </a:pPr>
            <a:r>
              <a:rPr lang="en-US" sz="1050" dirty="0">
                <a:solidFill>
                  <a:srgbClr val="6B5A44"/>
                </a:solidFill>
                <a:latin typeface="Helvetica Neue" pitchFamily="34" charset="0"/>
                <a:ea typeface="Helvetica Neue" pitchFamily="34" charset="-122"/>
                <a:cs typeface="Helvetica Neue" pitchFamily="34" charset="-120"/>
              </a:rPr>
              <a:t>writes, returns t</a:t>
            </a:r>
            <a:endParaRPr lang="en-US" sz="1050" dirty="0"/>
          </a:p>
        </p:txBody>
      </p:sp>
      <p:sp>
        <p:nvSpPr>
          <p:cNvPr id="23" name="Shape 20"/>
          <p:cNvSpPr/>
          <p:nvPr/>
        </p:nvSpPr>
        <p:spPr>
          <a:xfrm>
            <a:off x="9144000" y="1645920"/>
            <a:ext cx="2468880" cy="640080"/>
          </a:xfrm>
          <a:prstGeom prst="roundRect">
            <a:avLst>
              <a:gd name="adj" fmla="val 8571"/>
            </a:avLst>
          </a:prstGeom>
          <a:solidFill>
            <a:srgbClr val="DDE3CC"/>
          </a:solidFill>
          <a:ln w="15875">
            <a:solidFill>
              <a:srgbClr val="5F7A3A"/>
            </a:solidFill>
            <a:prstDash val="solid"/>
          </a:ln>
        </p:spPr>
      </p:sp>
      <p:sp>
        <p:nvSpPr>
          <p:cNvPr id="24" name="Text 21"/>
          <p:cNvSpPr/>
          <p:nvPr/>
        </p:nvSpPr>
        <p:spPr>
          <a:xfrm>
            <a:off x="9217152" y="1655064"/>
            <a:ext cx="2322576" cy="310896"/>
          </a:xfrm>
          <a:prstGeom prst="rect">
            <a:avLst/>
          </a:prstGeom>
          <a:noFill/>
          <a:ln/>
        </p:spPr>
        <p:txBody>
          <a:bodyPr wrap="square" lIns="0" tIns="0" rIns="0" bIns="0" rtlCol="0" anchor="b">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peer B</a:t>
            </a:r>
            <a:endParaRPr lang="en-US" sz="1300" dirty="0"/>
          </a:p>
        </p:txBody>
      </p:sp>
      <p:sp>
        <p:nvSpPr>
          <p:cNvPr id="25" name="Text 22"/>
          <p:cNvSpPr/>
          <p:nvPr/>
        </p:nvSpPr>
        <p:spPr>
          <a:xfrm>
            <a:off x="9217152" y="1947672"/>
            <a:ext cx="2322576" cy="384048"/>
          </a:xfrm>
          <a:prstGeom prst="rect">
            <a:avLst/>
          </a:prstGeom>
          <a:noFill/>
          <a:ln/>
        </p:spPr>
        <p:txBody>
          <a:bodyPr wrap="square" lIns="0" tIns="0" rIns="0" bIns="0" rtlCol="0" anchor="t">
            <a:normAutofit/>
          </a:bodyPr>
          <a:lstStyle/>
          <a:p>
            <a:pPr algn="ctr" indent="0" marL="0">
              <a:buNone/>
            </a:pPr>
            <a:r>
              <a:rPr lang="en-US" sz="1050" dirty="0">
                <a:solidFill>
                  <a:srgbClr val="6B5A44"/>
                </a:solidFill>
                <a:latin typeface="Helvetica Neue" pitchFamily="34" charset="0"/>
                <a:ea typeface="Helvetica Neue" pitchFamily="34" charset="-122"/>
                <a:cs typeface="Helvetica Neue" pitchFamily="34" charset="-120"/>
              </a:rPr>
              <a:t>d/sync to that t</a:t>
            </a:r>
            <a:endParaRPr lang="en-US" sz="1050" dirty="0"/>
          </a:p>
        </p:txBody>
      </p:sp>
      <p:sp>
        <p:nvSpPr>
          <p:cNvPr id="26" name="Shape 23"/>
          <p:cNvSpPr/>
          <p:nvPr/>
        </p:nvSpPr>
        <p:spPr>
          <a:xfrm>
            <a:off x="8732520" y="1965960"/>
            <a:ext cx="411480" cy="0"/>
          </a:xfrm>
          <a:prstGeom prst="line">
            <a:avLst/>
          </a:prstGeom>
          <a:noFill/>
          <a:ln w="19050">
            <a:solidFill>
              <a:srgbClr val="5F7A3A"/>
            </a:solidFill>
            <a:prstDash val="solid"/>
            <a:headEnd type="none"/>
            <a:tailEnd type="triangle"/>
          </a:ln>
        </p:spPr>
      </p:sp>
      <p:sp>
        <p:nvSpPr>
          <p:cNvPr id="27" name="Text 24"/>
          <p:cNvSpPr/>
          <p:nvPr/>
        </p:nvSpPr>
        <p:spPr>
          <a:xfrm>
            <a:off x="7566660" y="1499616"/>
            <a:ext cx="2743200" cy="292608"/>
          </a:xfrm>
          <a:prstGeom prst="rect">
            <a:avLst/>
          </a:prstGeom>
          <a:noFill/>
          <a:ln/>
        </p:spPr>
        <p:txBody>
          <a:bodyPr wrap="square" lIns="0" tIns="0" rIns="0" bIns="0" rtlCol="0" anchor="ctr">
            <a:normAutofit/>
          </a:bodyPr>
          <a:lstStyle/>
          <a:p>
            <a:pPr algn="ctr" indent="0" marL="0">
              <a:buNone/>
            </a:pPr>
            <a:r>
              <a:rPr lang="en-US" sz="1000" dirty="0">
                <a:solidFill>
                  <a:srgbClr val="9A8A72"/>
                </a:solidFill>
                <a:latin typeface="Helvetica Neue" pitchFamily="34" charset="0"/>
                <a:ea typeface="Helvetica Neue" pitchFamily="34" charset="-122"/>
                <a:cs typeface="Helvetica Neue" pitchFamily="34" charset="-120"/>
              </a:rPr>
              <a:t>t travels with the request</a:t>
            </a:r>
            <a:endParaRPr lang="en-US" sz="1000" dirty="0"/>
          </a:p>
        </p:txBody>
      </p:sp>
      <p:sp>
        <p:nvSpPr>
          <p:cNvPr id="28" name="Shape 25"/>
          <p:cNvSpPr/>
          <p:nvPr/>
        </p:nvSpPr>
        <p:spPr>
          <a:xfrm>
            <a:off x="6537960" y="2377440"/>
            <a:ext cx="0" cy="502920"/>
          </a:xfrm>
          <a:prstGeom prst="line">
            <a:avLst/>
          </a:prstGeom>
          <a:noFill/>
          <a:ln w="19050">
            <a:solidFill>
              <a:srgbClr val="5F7A3A"/>
            </a:solidFill>
            <a:prstDash val="solid"/>
            <a:headEnd type="none"/>
            <a:tailEnd type="none"/>
          </a:ln>
        </p:spPr>
      </p:sp>
      <p:sp>
        <p:nvSpPr>
          <p:cNvPr id="29" name="Shape 26"/>
          <p:cNvSpPr/>
          <p:nvPr/>
        </p:nvSpPr>
        <p:spPr>
          <a:xfrm>
            <a:off x="9418320" y="2377440"/>
            <a:ext cx="0" cy="502920"/>
          </a:xfrm>
          <a:prstGeom prst="line">
            <a:avLst/>
          </a:prstGeom>
          <a:noFill/>
          <a:ln w="19050">
            <a:solidFill>
              <a:srgbClr val="5F7A3A"/>
            </a:solidFill>
            <a:prstDash val="solid"/>
            <a:headEnd type="none"/>
            <a:tailEnd type="none"/>
          </a:ln>
        </p:spPr>
      </p:sp>
      <p:sp>
        <p:nvSpPr>
          <p:cNvPr id="30" name="Shape 27"/>
          <p:cNvSpPr/>
          <p:nvPr/>
        </p:nvSpPr>
        <p:spPr>
          <a:xfrm>
            <a:off x="6263640" y="2880360"/>
            <a:ext cx="5349240" cy="594360"/>
          </a:xfrm>
          <a:prstGeom prst="roundRect">
            <a:avLst>
              <a:gd name="adj" fmla="val 9231"/>
            </a:avLst>
          </a:prstGeom>
          <a:solidFill>
            <a:srgbClr val="DDE3CC"/>
          </a:solidFill>
          <a:ln w="15875">
            <a:solidFill>
              <a:srgbClr val="5F7A3A"/>
            </a:solidFill>
            <a:prstDash val="solid"/>
          </a:ln>
        </p:spPr>
      </p:sp>
      <p:sp>
        <p:nvSpPr>
          <p:cNvPr id="31" name="Text 28"/>
          <p:cNvSpPr/>
          <p:nvPr/>
        </p:nvSpPr>
        <p:spPr>
          <a:xfrm>
            <a:off x="6336792" y="2880360"/>
            <a:ext cx="5202936" cy="594360"/>
          </a:xfrm>
          <a:prstGeom prst="rect">
            <a:avLst/>
          </a:prstGeom>
          <a:noFill/>
          <a:ln/>
        </p:spPr>
        <p:txBody>
          <a:bodyPr wrap="square" lIns="0" tIns="0" rIns="0" bIns="0" rtlCol="0" anchor="ctr">
            <a:normAutofit/>
          </a:bodyPr>
          <a:lstStyle/>
          <a:p>
            <a:pPr algn="ctr" indent="0" marL="0">
              <a:buNone/>
            </a:pPr>
            <a:r>
              <a:rPr lang="en-US" sz="1300" b="1" dirty="0">
                <a:solidFill>
                  <a:srgbClr val="3A2C1A"/>
                </a:solidFill>
                <a:latin typeface="Helvetica Neue" pitchFamily="34" charset="0"/>
                <a:ea typeface="Helvetica Neue" pitchFamily="34" charset="-122"/>
                <a:cs typeface="Helvetica Neue" pitchFamily="34" charset="-120"/>
              </a:rPr>
              <a:t>the caller reads back … and sees the write</a:t>
            </a:r>
            <a:endParaRPr lang="en-US" sz="1300" dirty="0"/>
          </a:p>
        </p:txBody>
      </p:sp>
      <p:sp>
        <p:nvSpPr>
          <p:cNvPr id="32" name="Shape 29"/>
          <p:cNvSpPr/>
          <p:nvPr/>
        </p:nvSpPr>
        <p:spPr>
          <a:xfrm>
            <a:off x="548640" y="3749040"/>
            <a:ext cx="6766560" cy="1051560"/>
          </a:xfrm>
          <a:prstGeom prst="roundRect">
            <a:avLst>
              <a:gd name="adj" fmla="val 6957"/>
            </a:avLst>
          </a:prstGeom>
          <a:solidFill>
            <a:srgbClr val="E6DFCE"/>
          </a:solidFill>
          <a:ln/>
        </p:spPr>
      </p:sp>
      <p:sp>
        <p:nvSpPr>
          <p:cNvPr id="33" name="Text 30"/>
          <p:cNvSpPr/>
          <p:nvPr/>
        </p:nvSpPr>
        <p:spPr>
          <a:xfrm>
            <a:off x="749808" y="3895344"/>
            <a:ext cx="6364224" cy="758952"/>
          </a:xfrm>
          <a:prstGeom prst="rect">
            <a:avLst/>
          </a:prstGeom>
          <a:noFill/>
          <a:ln/>
        </p:spPr>
        <p:txBody>
          <a:bodyPr wrap="square" lIns="0" tIns="0" rIns="0" bIns="0" rtlCol="0" anchor="t">
            <a:normAutofit/>
          </a:bodyPr>
          <a:lstStyle/>
          <a:p>
            <a:pPr indent="0" marL="0">
              <a:buNone/>
            </a:pPr>
            <a:r>
              <a:rPr lang="en-US" sz="1250" dirty="0">
                <a:solidFill>
                  <a:srgbClr val="3A2C1A"/>
                </a:solidFill>
                <a:latin typeface="Courier New" pitchFamily="34" charset="0"/>
                <a:ea typeface="Courier New" pitchFamily="34" charset="-122"/>
                <a:cs typeface="Courier New" pitchFamily="34" charset="-120"/>
              </a:rPr>
              <a:t>(d/basis-t (deref (d/sync conn t) 5000 nil))</a:t>
            </a:r>
            <a:endParaRPr lang="en-US" sz="1250" dirty="0"/>
          </a:p>
          <a:p>
            <a:pPr indent="0" marL="0">
              <a:buNone/>
            </a:pPr>
            <a:r>
              <a:rPr lang="en-US" sz="1250" dirty="0">
                <a:solidFill>
                  <a:srgbClr val="3A2C1A"/>
                </a:solidFill>
                <a:latin typeface="Courier New" pitchFamily="34" charset="0"/>
                <a:ea typeface="Courier New" pitchFamily="34" charset="-122"/>
                <a:cs typeface="Courier New" pitchFamily="34" charset="-120"/>
              </a:rPr>
              <a:t>;; =&gt; 21011      the t that was written</a:t>
            </a:r>
            <a:endParaRPr lang="en-US" sz="1250" dirty="0"/>
          </a:p>
        </p:txBody>
      </p:sp>
      <p:sp>
        <p:nvSpPr>
          <p:cNvPr id="34" name="Shape 31"/>
          <p:cNvSpPr/>
          <p:nvPr/>
        </p:nvSpPr>
        <p:spPr>
          <a:xfrm>
            <a:off x="7498080" y="3749040"/>
            <a:ext cx="4114800" cy="1051560"/>
          </a:xfrm>
          <a:prstGeom prst="roundRect">
            <a:avLst>
              <a:gd name="adj" fmla="val 6957"/>
            </a:avLst>
          </a:prstGeom>
          <a:solidFill>
            <a:srgbClr val="E6DFCE"/>
          </a:solidFill>
          <a:ln/>
        </p:spPr>
      </p:sp>
      <p:sp>
        <p:nvSpPr>
          <p:cNvPr id="35" name="Text 32"/>
          <p:cNvSpPr/>
          <p:nvPr/>
        </p:nvSpPr>
        <p:spPr>
          <a:xfrm>
            <a:off x="7726680" y="3886200"/>
            <a:ext cx="3657600" cy="822960"/>
          </a:xfrm>
          <a:prstGeom prst="rect">
            <a:avLst/>
          </a:prstGeom>
          <a:noFill/>
          <a:ln/>
        </p:spPr>
        <p:txBody>
          <a:bodyPr wrap="square" lIns="0" tIns="0" rIns="0" bIns="0" rtlCol="0" anchor="t"/>
          <a:lstStyle/>
          <a:p>
            <a:pPr indent="0" marL="0">
              <a:buNone/>
            </a:pPr>
            <a:r>
              <a:rPr lang="en-US" sz="1250" dirty="0">
                <a:solidFill>
                  <a:srgbClr val="6B5A44"/>
                </a:solidFill>
                <a:latin typeface="Helvetica Neue" pitchFamily="34" charset="0"/>
                <a:ea typeface="Helvetica Neue" pitchFamily="34" charset="-122"/>
                <a:cs typeface="Helvetica Neue" pitchFamily="34" charset="-120"/>
              </a:rPr>
              <a:t>Pass the t with the request.</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For the index rather than the log:</a:t>
            </a:r>
            <a:endParaRPr lang="en-US" sz="1250" dirty="0"/>
          </a:p>
          <a:p>
            <a:pPr indent="0" marL="0">
              <a:buNone/>
            </a:pPr>
            <a:r>
              <a:rPr lang="en-US" sz="1250" dirty="0">
                <a:solidFill>
                  <a:srgbClr val="6B5A44"/>
                </a:solidFill>
                <a:latin typeface="Helvetica Neue" pitchFamily="34" charset="0"/>
                <a:ea typeface="Helvetica Neue" pitchFamily="34" charset="-122"/>
                <a:cs typeface="Helvetica Neue" pitchFamily="34" charset="-120"/>
              </a:rPr>
              <a:t>d/sync-index.</a:t>
            </a:r>
            <a:endParaRPr lang="en-US" sz="1250" dirty="0"/>
          </a:p>
        </p:txBody>
      </p:sp>
      <p:sp>
        <p:nvSpPr>
          <p:cNvPr id="36" name="Shape 33"/>
          <p:cNvSpPr/>
          <p:nvPr/>
        </p:nvSpPr>
        <p:spPr>
          <a:xfrm>
            <a:off x="548640" y="5074920"/>
            <a:ext cx="54864" cy="457200"/>
          </a:xfrm>
          <a:prstGeom prst="rect">
            <a:avLst/>
          </a:prstGeom>
          <a:solidFill>
            <a:srgbClr val="A8864A"/>
          </a:solidFill>
          <a:ln/>
        </p:spPr>
      </p:sp>
      <p:sp>
        <p:nvSpPr>
          <p:cNvPr id="37" name="Text 34"/>
          <p:cNvSpPr/>
          <p:nvPr/>
        </p:nvSpPr>
        <p:spPr>
          <a:xfrm>
            <a:off x="777240" y="507492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Passing the t with the request IS the consistency contract of a multi-peer deployment.</a:t>
            </a:r>
            <a:endParaRPr lang="en-US" sz="1450" dirty="0"/>
          </a:p>
        </p:txBody>
      </p:sp>
      <p:sp>
        <p:nvSpPr>
          <p:cNvPr id="38" name="Text 35"/>
          <p:cNvSpPr/>
          <p:nvPr/>
        </p:nvSpPr>
        <p:spPr>
          <a:xfrm>
            <a:off x="548640" y="5806440"/>
            <a:ext cx="11064240" cy="365760"/>
          </a:xfrm>
          <a:prstGeom prst="rect">
            <a:avLst/>
          </a:prstGeom>
          <a:noFill/>
          <a:ln/>
        </p:spPr>
        <p:txBody>
          <a:bodyPr wrap="square" lIns="0" tIns="0" rIns="0" bIns="0" rtlCol="0" anchor="t">
            <a:normAutofit/>
          </a:bodyPr>
          <a:lstStyle/>
          <a:p>
            <a:pPr indent="0" marL="0">
              <a:buNone/>
            </a:pPr>
            <a:r>
              <a:rPr lang="en-US" sz="1250" i="1" dirty="0">
                <a:solidFill>
                  <a:srgbClr val="9A8A72"/>
                </a:solidFill>
                <a:latin typeface="Helvetica Neue" pitchFamily="34" charset="0"/>
                <a:ea typeface="Helvetica Neue" pitchFamily="34" charset="-122"/>
                <a:cs typeface="Helvetica Neue" pitchFamily="34" charset="-120"/>
              </a:rPr>
              <a:t>Deref with a timeout: an unbounded sync is a stalled thread waiting on a transactor that may not exist.</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PART VI · DEPLOYMENT</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39</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Rollout order — and why it is safe in this order</a:t>
            </a:r>
            <a:endParaRPr lang="en-US" sz="2500" dirty="0"/>
          </a:p>
        </p:txBody>
      </p:sp>
      <p:sp>
        <p:nvSpPr>
          <p:cNvPr id="8" name="Shape 5"/>
          <p:cNvSpPr/>
          <p:nvPr/>
        </p:nvSpPr>
        <p:spPr>
          <a:xfrm>
            <a:off x="548640" y="1371600"/>
            <a:ext cx="11064240" cy="868680"/>
          </a:xfrm>
          <a:prstGeom prst="roundRect">
            <a:avLst>
              <a:gd name="adj" fmla="val 8421"/>
            </a:avLst>
          </a:prstGeom>
          <a:solidFill>
            <a:srgbClr val="E6DFCE"/>
          </a:solidFill>
          <a:ln/>
        </p:spPr>
      </p:sp>
      <p:sp>
        <p:nvSpPr>
          <p:cNvPr id="9" name="Shape 6"/>
          <p:cNvSpPr/>
          <p:nvPr/>
        </p:nvSpPr>
        <p:spPr>
          <a:xfrm>
            <a:off x="548640" y="1371600"/>
            <a:ext cx="777240" cy="868680"/>
          </a:xfrm>
          <a:prstGeom prst="roundRect">
            <a:avLst>
              <a:gd name="adj" fmla="val 9412"/>
            </a:avLst>
          </a:prstGeom>
          <a:solidFill>
            <a:srgbClr val="A8864A"/>
          </a:solidFill>
          <a:ln/>
        </p:spPr>
      </p:sp>
      <p:sp>
        <p:nvSpPr>
          <p:cNvPr id="10" name="Text 7"/>
          <p:cNvSpPr/>
          <p:nvPr/>
        </p:nvSpPr>
        <p:spPr>
          <a:xfrm>
            <a:off x="548640" y="1371600"/>
            <a:ext cx="777240" cy="868680"/>
          </a:xfrm>
          <a:prstGeom prst="rect">
            <a:avLst/>
          </a:prstGeom>
          <a:noFill/>
          <a:ln/>
        </p:spPr>
        <p:txBody>
          <a:bodyPr wrap="square" lIns="0" tIns="0" rIns="0" bIns="0" rtlCol="0" anchor="ctr"/>
          <a:lstStyle/>
          <a:p>
            <a:pPr algn="ctr" indent="0" marL="0">
              <a:buNone/>
            </a:pPr>
            <a:r>
              <a:rPr lang="en-US" sz="2600" dirty="0">
                <a:solidFill>
                  <a:srgbClr val="FCFAF4"/>
                </a:solidFill>
                <a:latin typeface="Georgia" pitchFamily="34" charset="0"/>
                <a:ea typeface="Georgia" pitchFamily="34" charset="-122"/>
                <a:cs typeface="Georgia" pitchFamily="34" charset="-120"/>
              </a:rPr>
              <a:t>1</a:t>
            </a:r>
            <a:endParaRPr lang="en-US" sz="2600" dirty="0"/>
          </a:p>
        </p:txBody>
      </p:sp>
      <p:sp>
        <p:nvSpPr>
          <p:cNvPr id="11" name="Text 8"/>
          <p:cNvSpPr/>
          <p:nvPr/>
        </p:nvSpPr>
        <p:spPr>
          <a:xfrm>
            <a:off x="1554480" y="1499616"/>
            <a:ext cx="4023360" cy="365760"/>
          </a:xfrm>
          <a:prstGeom prst="rect">
            <a:avLst/>
          </a:prstGeom>
          <a:noFill/>
          <a:ln/>
        </p:spPr>
        <p:txBody>
          <a:bodyPr wrap="square" lIns="0" tIns="0" rIns="0" bIns="0" rtlCol="0" anchor="t">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ship the SCHEMA</a:t>
            </a:r>
            <a:endParaRPr lang="en-US" sz="1600" dirty="0"/>
          </a:p>
        </p:txBody>
      </p:sp>
      <p:sp>
        <p:nvSpPr>
          <p:cNvPr id="12" name="Text 9"/>
          <p:cNvSpPr/>
          <p:nvPr/>
        </p:nvSpPr>
        <p:spPr>
          <a:xfrm>
            <a:off x="1554480" y="1865376"/>
            <a:ext cx="4023360" cy="292608"/>
          </a:xfrm>
          <a:prstGeom prst="rect">
            <a:avLst/>
          </a:prstGeom>
          <a:noFill/>
          <a:ln/>
        </p:spPr>
        <p:txBody>
          <a:bodyPr wrap="square" lIns="0" tIns="0" rIns="0" bIns="0" rtlCol="0" anchor="t"/>
          <a:lstStyle/>
          <a:p>
            <a:pPr indent="0" marL="0">
              <a:buNone/>
            </a:pPr>
            <a:r>
              <a:rPr lang="en-US" sz="1150" i="1" dirty="0">
                <a:solidFill>
                  <a:srgbClr val="9A8A72"/>
                </a:solidFill>
                <a:latin typeface="Helvetica Neue" pitchFamily="34" charset="0"/>
                <a:ea typeface="Helvetica Neue" pitchFamily="34" charset="-122"/>
                <a:cs typeface="Helvetica Neue" pitchFamily="34" charset="-120"/>
              </a:rPr>
              <a:t>no lock · no ALTER · no migration window</a:t>
            </a:r>
            <a:endParaRPr lang="en-US" sz="1150" dirty="0"/>
          </a:p>
        </p:txBody>
      </p:sp>
      <p:sp>
        <p:nvSpPr>
          <p:cNvPr id="13" name="Text 10"/>
          <p:cNvSpPr/>
          <p:nvPr/>
        </p:nvSpPr>
        <p:spPr>
          <a:xfrm>
            <a:off x="5852160" y="1371600"/>
            <a:ext cx="5577840" cy="868680"/>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additive → old peers ignore what's new</a:t>
            </a:r>
            <a:endParaRPr lang="en-US" sz="1400" dirty="0"/>
          </a:p>
        </p:txBody>
      </p:sp>
      <p:sp>
        <p:nvSpPr>
          <p:cNvPr id="14" name="Shape 11"/>
          <p:cNvSpPr/>
          <p:nvPr/>
        </p:nvSpPr>
        <p:spPr>
          <a:xfrm>
            <a:off x="932688" y="2240280"/>
            <a:ext cx="0" cy="155448"/>
          </a:xfrm>
          <a:prstGeom prst="line">
            <a:avLst/>
          </a:prstGeom>
          <a:noFill/>
          <a:ln w="15240">
            <a:solidFill>
              <a:srgbClr val="C9BDA4"/>
            </a:solidFill>
            <a:prstDash val="solid"/>
            <a:headEnd type="none"/>
            <a:tailEnd type="triangle"/>
          </a:ln>
        </p:spPr>
      </p:sp>
      <p:sp>
        <p:nvSpPr>
          <p:cNvPr id="15" name="Shape 12"/>
          <p:cNvSpPr/>
          <p:nvPr/>
        </p:nvSpPr>
        <p:spPr>
          <a:xfrm>
            <a:off x="548640" y="2395728"/>
            <a:ext cx="11064240" cy="868680"/>
          </a:xfrm>
          <a:prstGeom prst="roundRect">
            <a:avLst>
              <a:gd name="adj" fmla="val 8421"/>
            </a:avLst>
          </a:prstGeom>
          <a:solidFill>
            <a:srgbClr val="EFE9DD"/>
          </a:solidFill>
          <a:ln/>
        </p:spPr>
      </p:sp>
      <p:sp>
        <p:nvSpPr>
          <p:cNvPr id="16" name="Shape 13"/>
          <p:cNvSpPr/>
          <p:nvPr/>
        </p:nvSpPr>
        <p:spPr>
          <a:xfrm>
            <a:off x="548640" y="2395728"/>
            <a:ext cx="777240" cy="868680"/>
          </a:xfrm>
          <a:prstGeom prst="roundRect">
            <a:avLst>
              <a:gd name="adj" fmla="val 9412"/>
            </a:avLst>
          </a:prstGeom>
          <a:solidFill>
            <a:srgbClr val="A8864A"/>
          </a:solidFill>
          <a:ln/>
        </p:spPr>
      </p:sp>
      <p:sp>
        <p:nvSpPr>
          <p:cNvPr id="17" name="Text 14"/>
          <p:cNvSpPr/>
          <p:nvPr/>
        </p:nvSpPr>
        <p:spPr>
          <a:xfrm>
            <a:off x="548640" y="2395728"/>
            <a:ext cx="777240" cy="868680"/>
          </a:xfrm>
          <a:prstGeom prst="rect">
            <a:avLst/>
          </a:prstGeom>
          <a:noFill/>
          <a:ln/>
        </p:spPr>
        <p:txBody>
          <a:bodyPr wrap="square" lIns="0" tIns="0" rIns="0" bIns="0" rtlCol="0" anchor="ctr"/>
          <a:lstStyle/>
          <a:p>
            <a:pPr algn="ctr" indent="0" marL="0">
              <a:buNone/>
            </a:pPr>
            <a:r>
              <a:rPr lang="en-US" sz="2600" dirty="0">
                <a:solidFill>
                  <a:srgbClr val="FCFAF4"/>
                </a:solidFill>
                <a:latin typeface="Georgia" pitchFamily="34" charset="0"/>
                <a:ea typeface="Georgia" pitchFamily="34" charset="-122"/>
                <a:cs typeface="Georgia" pitchFamily="34" charset="-120"/>
              </a:rPr>
              <a:t>2</a:t>
            </a:r>
            <a:endParaRPr lang="en-US" sz="2600" dirty="0"/>
          </a:p>
        </p:txBody>
      </p:sp>
      <p:sp>
        <p:nvSpPr>
          <p:cNvPr id="18" name="Text 15"/>
          <p:cNvSpPr/>
          <p:nvPr/>
        </p:nvSpPr>
        <p:spPr>
          <a:xfrm>
            <a:off x="1554480" y="2523744"/>
            <a:ext cx="4023360" cy="365760"/>
          </a:xfrm>
          <a:prstGeom prst="rect">
            <a:avLst/>
          </a:prstGeom>
          <a:noFill/>
          <a:ln/>
        </p:spPr>
        <p:txBody>
          <a:bodyPr wrap="square" lIns="0" tIns="0" rIns="0" bIns="0" rtlCol="0" anchor="t">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roll peers in WAVES</a:t>
            </a:r>
            <a:endParaRPr lang="en-US" sz="1600" dirty="0"/>
          </a:p>
        </p:txBody>
      </p:sp>
      <p:sp>
        <p:nvSpPr>
          <p:cNvPr id="19" name="Text 16"/>
          <p:cNvSpPr/>
          <p:nvPr/>
        </p:nvSpPr>
        <p:spPr>
          <a:xfrm>
            <a:off x="1554480" y="2889504"/>
            <a:ext cx="4023360" cy="292608"/>
          </a:xfrm>
          <a:prstGeom prst="rect">
            <a:avLst/>
          </a:prstGeom>
          <a:noFill/>
          <a:ln/>
        </p:spPr>
        <p:txBody>
          <a:bodyPr wrap="square" lIns="0" tIns="0" rIns="0" bIns="0" rtlCol="0" anchor="t"/>
          <a:lstStyle/>
          <a:p>
            <a:pPr indent="0" marL="0">
              <a:buNone/>
            </a:pPr>
            <a:r>
              <a:rPr lang="en-US" sz="1150" i="1" dirty="0">
                <a:solidFill>
                  <a:srgbClr val="9A8A72"/>
                </a:solidFill>
                <a:latin typeface="Helvetica Neue" pitchFamily="34" charset="0"/>
                <a:ea typeface="Helvetica Neue" pitchFamily="34" charset="-122"/>
                <a:cs typeface="Helvetica Neue" pitchFamily="34" charset="-120"/>
              </a:rPr>
              <a:t>Part III, mitigation 3</a:t>
            </a:r>
            <a:endParaRPr lang="en-US" sz="1150" dirty="0"/>
          </a:p>
        </p:txBody>
      </p:sp>
      <p:sp>
        <p:nvSpPr>
          <p:cNvPr id="20" name="Text 17"/>
          <p:cNvSpPr/>
          <p:nvPr/>
        </p:nvSpPr>
        <p:spPr>
          <a:xfrm>
            <a:off x="5852160" y="2395728"/>
            <a:ext cx="5577840" cy="868680"/>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avoids the cold-cache burst</a:t>
            </a:r>
            <a:endParaRPr lang="en-US" sz="1400" dirty="0"/>
          </a:p>
        </p:txBody>
      </p:sp>
      <p:sp>
        <p:nvSpPr>
          <p:cNvPr id="21" name="Shape 18"/>
          <p:cNvSpPr/>
          <p:nvPr/>
        </p:nvSpPr>
        <p:spPr>
          <a:xfrm>
            <a:off x="932688" y="3264408"/>
            <a:ext cx="0" cy="155448"/>
          </a:xfrm>
          <a:prstGeom prst="line">
            <a:avLst/>
          </a:prstGeom>
          <a:noFill/>
          <a:ln w="15240">
            <a:solidFill>
              <a:srgbClr val="C9BDA4"/>
            </a:solidFill>
            <a:prstDash val="solid"/>
            <a:headEnd type="none"/>
            <a:tailEnd type="triangle"/>
          </a:ln>
        </p:spPr>
      </p:sp>
      <p:sp>
        <p:nvSpPr>
          <p:cNvPr id="22" name="Shape 19"/>
          <p:cNvSpPr/>
          <p:nvPr/>
        </p:nvSpPr>
        <p:spPr>
          <a:xfrm>
            <a:off x="548640" y="3419856"/>
            <a:ext cx="11064240" cy="868680"/>
          </a:xfrm>
          <a:prstGeom prst="roundRect">
            <a:avLst>
              <a:gd name="adj" fmla="val 8421"/>
            </a:avLst>
          </a:prstGeom>
          <a:solidFill>
            <a:srgbClr val="E6DFCE"/>
          </a:solidFill>
          <a:ln/>
        </p:spPr>
      </p:sp>
      <p:sp>
        <p:nvSpPr>
          <p:cNvPr id="23" name="Shape 20"/>
          <p:cNvSpPr/>
          <p:nvPr/>
        </p:nvSpPr>
        <p:spPr>
          <a:xfrm>
            <a:off x="548640" y="3419856"/>
            <a:ext cx="777240" cy="868680"/>
          </a:xfrm>
          <a:prstGeom prst="roundRect">
            <a:avLst>
              <a:gd name="adj" fmla="val 9412"/>
            </a:avLst>
          </a:prstGeom>
          <a:solidFill>
            <a:srgbClr val="A8864A"/>
          </a:solidFill>
          <a:ln/>
        </p:spPr>
      </p:sp>
      <p:sp>
        <p:nvSpPr>
          <p:cNvPr id="24" name="Text 21"/>
          <p:cNvSpPr/>
          <p:nvPr/>
        </p:nvSpPr>
        <p:spPr>
          <a:xfrm>
            <a:off x="548640" y="3419856"/>
            <a:ext cx="777240" cy="868680"/>
          </a:xfrm>
          <a:prstGeom prst="rect">
            <a:avLst/>
          </a:prstGeom>
          <a:noFill/>
          <a:ln/>
        </p:spPr>
        <p:txBody>
          <a:bodyPr wrap="square" lIns="0" tIns="0" rIns="0" bIns="0" rtlCol="0" anchor="ctr"/>
          <a:lstStyle/>
          <a:p>
            <a:pPr algn="ctr" indent="0" marL="0">
              <a:buNone/>
            </a:pPr>
            <a:r>
              <a:rPr lang="en-US" sz="2600" dirty="0">
                <a:solidFill>
                  <a:srgbClr val="FCFAF4"/>
                </a:solidFill>
                <a:latin typeface="Georgia" pitchFamily="34" charset="0"/>
                <a:ea typeface="Georgia" pitchFamily="34" charset="-122"/>
                <a:cs typeface="Georgia" pitchFamily="34" charset="-120"/>
              </a:rPr>
              <a:t>3</a:t>
            </a:r>
            <a:endParaRPr lang="en-US" sz="2600" dirty="0"/>
          </a:p>
        </p:txBody>
      </p:sp>
      <p:sp>
        <p:nvSpPr>
          <p:cNvPr id="25" name="Text 22"/>
          <p:cNvSpPr/>
          <p:nvPr/>
        </p:nvSpPr>
        <p:spPr>
          <a:xfrm>
            <a:off x="1554480" y="3547872"/>
            <a:ext cx="4023360" cy="365760"/>
          </a:xfrm>
          <a:prstGeom prst="rect">
            <a:avLst/>
          </a:prstGeom>
          <a:noFill/>
          <a:ln/>
        </p:spPr>
        <p:txBody>
          <a:bodyPr wrap="square" lIns="0" tIns="0" rIns="0" bIns="0" rtlCol="0" anchor="t">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WARM, then report ready</a:t>
            </a:r>
            <a:endParaRPr lang="en-US" sz="1600" dirty="0"/>
          </a:p>
        </p:txBody>
      </p:sp>
      <p:sp>
        <p:nvSpPr>
          <p:cNvPr id="26" name="Text 23"/>
          <p:cNvSpPr/>
          <p:nvPr/>
        </p:nvSpPr>
        <p:spPr>
          <a:xfrm>
            <a:off x="1554480" y="3913632"/>
            <a:ext cx="4023360" cy="292608"/>
          </a:xfrm>
          <a:prstGeom prst="rect">
            <a:avLst/>
          </a:prstGeom>
          <a:noFill/>
          <a:ln/>
        </p:spPr>
        <p:txBody>
          <a:bodyPr wrap="square" lIns="0" tIns="0" rIns="0" bIns="0" rtlCol="0" anchor="t"/>
          <a:lstStyle/>
          <a:p>
            <a:pPr indent="0" marL="0">
              <a:buNone/>
            </a:pPr>
            <a:r>
              <a:rPr lang="en-US" sz="1150" i="1" dirty="0">
                <a:solidFill>
                  <a:srgbClr val="9A8A72"/>
                </a:solidFill>
                <a:latin typeface="Helvetica Neue" pitchFamily="34" charset="0"/>
                <a:ea typeface="Helvetica Neue" pitchFamily="34" charset="-122"/>
                <a:cs typeface="Helvetica Neue" pitchFamily="34" charset="-120"/>
              </a:rPr>
              <a:t>the previous slide's warm!</a:t>
            </a:r>
            <a:endParaRPr lang="en-US" sz="1150" dirty="0"/>
          </a:p>
        </p:txBody>
      </p:sp>
      <p:sp>
        <p:nvSpPr>
          <p:cNvPr id="27" name="Text 24"/>
          <p:cNvSpPr/>
          <p:nvPr/>
        </p:nvSpPr>
        <p:spPr>
          <a:xfrm>
            <a:off x="5852160" y="3419856"/>
            <a:ext cx="5577840" cy="868680"/>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the cost moves ahead of the first request</a:t>
            </a:r>
            <a:endParaRPr lang="en-US" sz="1400" dirty="0"/>
          </a:p>
        </p:txBody>
      </p:sp>
      <p:sp>
        <p:nvSpPr>
          <p:cNvPr id="28" name="Shape 25"/>
          <p:cNvSpPr/>
          <p:nvPr/>
        </p:nvSpPr>
        <p:spPr>
          <a:xfrm>
            <a:off x="932688" y="4288536"/>
            <a:ext cx="0" cy="155448"/>
          </a:xfrm>
          <a:prstGeom prst="line">
            <a:avLst/>
          </a:prstGeom>
          <a:noFill/>
          <a:ln w="15240">
            <a:solidFill>
              <a:srgbClr val="C9BDA4"/>
            </a:solidFill>
            <a:prstDash val="solid"/>
            <a:headEnd type="none"/>
            <a:tailEnd type="triangle"/>
          </a:ln>
        </p:spPr>
      </p:sp>
      <p:sp>
        <p:nvSpPr>
          <p:cNvPr id="29" name="Shape 26"/>
          <p:cNvSpPr/>
          <p:nvPr/>
        </p:nvSpPr>
        <p:spPr>
          <a:xfrm>
            <a:off x="548640" y="4443984"/>
            <a:ext cx="11064240" cy="868680"/>
          </a:xfrm>
          <a:prstGeom prst="roundRect">
            <a:avLst>
              <a:gd name="adj" fmla="val 8421"/>
            </a:avLst>
          </a:prstGeom>
          <a:solidFill>
            <a:srgbClr val="EFE9DD"/>
          </a:solidFill>
          <a:ln/>
        </p:spPr>
      </p:sp>
      <p:sp>
        <p:nvSpPr>
          <p:cNvPr id="30" name="Shape 27"/>
          <p:cNvSpPr/>
          <p:nvPr/>
        </p:nvSpPr>
        <p:spPr>
          <a:xfrm>
            <a:off x="548640" y="4443984"/>
            <a:ext cx="777240" cy="868680"/>
          </a:xfrm>
          <a:prstGeom prst="roundRect">
            <a:avLst>
              <a:gd name="adj" fmla="val 9412"/>
            </a:avLst>
          </a:prstGeom>
          <a:solidFill>
            <a:srgbClr val="9E4227"/>
          </a:solidFill>
          <a:ln/>
        </p:spPr>
      </p:sp>
      <p:sp>
        <p:nvSpPr>
          <p:cNvPr id="31" name="Text 28"/>
          <p:cNvSpPr/>
          <p:nvPr/>
        </p:nvSpPr>
        <p:spPr>
          <a:xfrm>
            <a:off x="548640" y="4443984"/>
            <a:ext cx="777240" cy="868680"/>
          </a:xfrm>
          <a:prstGeom prst="rect">
            <a:avLst/>
          </a:prstGeom>
          <a:noFill/>
          <a:ln/>
        </p:spPr>
        <p:txBody>
          <a:bodyPr wrap="square" lIns="0" tIns="0" rIns="0" bIns="0" rtlCol="0" anchor="ctr"/>
          <a:lstStyle/>
          <a:p>
            <a:pPr algn="ctr" indent="0" marL="0">
              <a:buNone/>
            </a:pPr>
            <a:r>
              <a:rPr lang="en-US" sz="2600" dirty="0">
                <a:solidFill>
                  <a:srgbClr val="FCFAF4"/>
                </a:solidFill>
                <a:latin typeface="Georgia" pitchFamily="34" charset="0"/>
                <a:ea typeface="Georgia" pitchFamily="34" charset="-122"/>
                <a:cs typeface="Georgia" pitchFamily="34" charset="-120"/>
              </a:rPr>
              <a:t>4</a:t>
            </a:r>
            <a:endParaRPr lang="en-US" sz="2600" dirty="0"/>
          </a:p>
        </p:txBody>
      </p:sp>
      <p:sp>
        <p:nvSpPr>
          <p:cNvPr id="32" name="Text 29"/>
          <p:cNvSpPr/>
          <p:nvPr/>
        </p:nvSpPr>
        <p:spPr>
          <a:xfrm>
            <a:off x="1554480" y="4572000"/>
            <a:ext cx="4023360" cy="365760"/>
          </a:xfrm>
          <a:prstGeom prst="rect">
            <a:avLst/>
          </a:prstGeom>
          <a:noFill/>
          <a:ln/>
        </p:spPr>
        <p:txBody>
          <a:bodyPr wrap="square" lIns="0" tIns="0" rIns="0" bIns="0" rtlCol="0" anchor="t">
            <a:normAutofit/>
          </a:bodyPr>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roll the TRANSACTOR</a:t>
            </a:r>
            <a:endParaRPr lang="en-US" sz="1600" dirty="0"/>
          </a:p>
        </p:txBody>
      </p:sp>
      <p:sp>
        <p:nvSpPr>
          <p:cNvPr id="33" name="Text 30"/>
          <p:cNvSpPr/>
          <p:nvPr/>
        </p:nvSpPr>
        <p:spPr>
          <a:xfrm>
            <a:off x="1554480" y="4937760"/>
            <a:ext cx="4023360" cy="292608"/>
          </a:xfrm>
          <a:prstGeom prst="rect">
            <a:avLst/>
          </a:prstGeom>
          <a:noFill/>
          <a:ln/>
        </p:spPr>
        <p:txBody>
          <a:bodyPr wrap="square" lIns="0" tIns="0" rIns="0" bIns="0" rtlCol="0" anchor="t"/>
          <a:lstStyle/>
          <a:p>
            <a:pPr indent="0" marL="0">
              <a:buNone/>
            </a:pPr>
            <a:r>
              <a:rPr lang="en-US" sz="1150" i="1" dirty="0">
                <a:solidFill>
                  <a:srgbClr val="9A8A72"/>
                </a:solidFill>
                <a:latin typeface="Helvetica Neue" pitchFamily="34" charset="0"/>
                <a:ea typeface="Helvetica Neue" pitchFamily="34" charset="-122"/>
                <a:cs typeface="Helvetica Neue" pitchFamily="34" charset="-120"/>
              </a:rPr>
              <a:t>Part II's failover, deliberately</a:t>
            </a:r>
            <a:endParaRPr lang="en-US" sz="1150" dirty="0"/>
          </a:p>
        </p:txBody>
      </p:sp>
      <p:sp>
        <p:nvSpPr>
          <p:cNvPr id="34" name="Text 31"/>
          <p:cNvSpPr/>
          <p:nvPr/>
        </p:nvSpPr>
        <p:spPr>
          <a:xfrm>
            <a:off x="5852160" y="4443984"/>
            <a:ext cx="5577840" cy="868680"/>
          </a:xfrm>
          <a:prstGeom prst="rect">
            <a:avLst/>
          </a:prstGeom>
          <a:noFill/>
          <a:ln/>
        </p:spPr>
        <p:txBody>
          <a:bodyPr wrap="square" lIns="0" tIns="0" rIns="0" bIns="0" rtlCol="0" anchor="ctr">
            <a:normAutofit/>
          </a:bodyPr>
          <a:lstStyle/>
          <a:p>
            <a:pPr indent="0" marL="0">
              <a:buNone/>
            </a:pPr>
            <a:r>
              <a:rPr lang="en-US" sz="1400" dirty="0">
                <a:solidFill>
                  <a:srgbClr val="6B5A44"/>
                </a:solidFill>
                <a:latin typeface="Helvetica Neue" pitchFamily="34" charset="0"/>
                <a:ea typeface="Helvetica Neue" pitchFamily="34" charset="-122"/>
                <a:cs typeface="Helvetica Neue" pitchFamily="34" charset="-120"/>
              </a:rPr>
              <a:t>one bounded write pause, on purpose</a:t>
            </a:r>
            <a:endParaRPr lang="en-US" sz="1400" dirty="0"/>
          </a:p>
        </p:txBody>
      </p:sp>
      <p:sp>
        <p:nvSpPr>
          <p:cNvPr id="35" name="Shape 32"/>
          <p:cNvSpPr/>
          <p:nvPr/>
        </p:nvSpPr>
        <p:spPr>
          <a:xfrm>
            <a:off x="548640" y="5532120"/>
            <a:ext cx="11064240" cy="777240"/>
          </a:xfrm>
          <a:prstGeom prst="roundRect">
            <a:avLst>
              <a:gd name="adj" fmla="val 9412"/>
            </a:avLst>
          </a:prstGeom>
          <a:solidFill>
            <a:srgbClr val="DFD6C0"/>
          </a:solidFill>
          <a:ln/>
        </p:spPr>
      </p:sp>
      <p:sp>
        <p:nvSpPr>
          <p:cNvPr id="36" name="Text 33"/>
          <p:cNvSpPr/>
          <p:nvPr/>
        </p:nvSpPr>
        <p:spPr>
          <a:xfrm>
            <a:off x="822960" y="5532120"/>
            <a:ext cx="10607040" cy="77724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From a peer, a transactor upgrade and a transactor outage are indistinguishable — the same mechanism handles both.</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SUMMARY</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40</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The model the settings operate on</a:t>
            </a:r>
            <a:endParaRPr lang="en-US" sz="2500" dirty="0"/>
          </a:p>
        </p:txBody>
      </p:sp>
      <p:sp>
        <p:nvSpPr>
          <p:cNvPr id="8" name="Shape 5"/>
          <p:cNvSpPr/>
          <p:nvPr/>
        </p:nvSpPr>
        <p:spPr>
          <a:xfrm>
            <a:off x="548640" y="1463040"/>
            <a:ext cx="11064240" cy="914400"/>
          </a:xfrm>
          <a:prstGeom prst="roundRect">
            <a:avLst>
              <a:gd name="adj" fmla="val 8000"/>
            </a:avLst>
          </a:prstGeom>
          <a:solidFill>
            <a:srgbClr val="EBD5CB"/>
          </a:solidFill>
          <a:ln/>
        </p:spPr>
      </p:sp>
      <p:sp>
        <p:nvSpPr>
          <p:cNvPr id="9" name="Shape 6"/>
          <p:cNvSpPr/>
          <p:nvPr/>
        </p:nvSpPr>
        <p:spPr>
          <a:xfrm>
            <a:off x="548640" y="1463040"/>
            <a:ext cx="82296" cy="914400"/>
          </a:xfrm>
          <a:prstGeom prst="rect">
            <a:avLst/>
          </a:prstGeom>
          <a:solidFill>
            <a:srgbClr val="9E4227"/>
          </a:solidFill>
          <a:ln/>
        </p:spPr>
      </p:sp>
      <p:sp>
        <p:nvSpPr>
          <p:cNvPr id="10" name="Text 7"/>
          <p:cNvSpPr/>
          <p:nvPr/>
        </p:nvSpPr>
        <p:spPr>
          <a:xfrm>
            <a:off x="868680" y="1463040"/>
            <a:ext cx="2103120" cy="914400"/>
          </a:xfrm>
          <a:prstGeom prst="rect">
            <a:avLst/>
          </a:prstGeom>
          <a:noFill/>
          <a:ln/>
        </p:spPr>
        <p:txBody>
          <a:bodyPr wrap="square" lIns="0" tIns="0" rIns="0" bIns="0" rtlCol="0" anchor="ctr"/>
          <a:lstStyle/>
          <a:p>
            <a:pPr indent="0" marL="0">
              <a:buNone/>
            </a:pPr>
            <a:r>
              <a:rPr lang="en-US" sz="1600" b="1" spc="150" kern="0" dirty="0">
                <a:solidFill>
                  <a:srgbClr val="9E4227"/>
                </a:solidFill>
                <a:latin typeface="Helvetica Neue" pitchFamily="34" charset="0"/>
                <a:ea typeface="Helvetica Neue" pitchFamily="34" charset="-122"/>
                <a:cs typeface="Helvetica Neue" pitchFamily="34" charset="-120"/>
              </a:rPr>
              <a:t>FAILS</a:t>
            </a:r>
            <a:endParaRPr lang="en-US" sz="1600" dirty="0"/>
          </a:p>
        </p:txBody>
      </p:sp>
      <p:sp>
        <p:nvSpPr>
          <p:cNvPr id="11" name="Text 8"/>
          <p:cNvSpPr/>
          <p:nvPr/>
        </p:nvSpPr>
        <p:spPr>
          <a:xfrm>
            <a:off x="3108960" y="1463040"/>
            <a:ext cx="6675120" cy="914400"/>
          </a:xfrm>
          <a:prstGeom prst="rect">
            <a:avLst/>
          </a:prstGeom>
          <a:noFill/>
          <a:ln/>
        </p:spPr>
        <p:txBody>
          <a:bodyPr wrap="square" lIns="0" tIns="0" rIns="0" bIns="0" rtlCol="0" anchor="ctr">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storage totally  ·  transactor for writes  ·  peers locally</a:t>
            </a:r>
            <a:endParaRPr lang="en-US" sz="1500" dirty="0"/>
          </a:p>
        </p:txBody>
      </p:sp>
      <p:sp>
        <p:nvSpPr>
          <p:cNvPr id="12" name="Text 9"/>
          <p:cNvSpPr/>
          <p:nvPr/>
        </p:nvSpPr>
        <p:spPr>
          <a:xfrm>
            <a:off x="9875520" y="1463040"/>
            <a:ext cx="1554480" cy="914400"/>
          </a:xfrm>
          <a:prstGeom prst="rect">
            <a:avLst/>
          </a:prstGeom>
          <a:noFill/>
          <a:ln/>
        </p:spPr>
        <p:txBody>
          <a:bodyPr wrap="square" lIns="0" tIns="0" rIns="0" bIns="0" rtlCol="0" anchor="ctr"/>
          <a:lstStyle/>
          <a:p>
            <a:pPr algn="r" indent="0" marL="0">
              <a:buNone/>
            </a:pPr>
            <a:r>
              <a:rPr lang="en-US" sz="1150" dirty="0">
                <a:solidFill>
                  <a:srgbClr val="9A8A72"/>
                </a:solidFill>
                <a:latin typeface="Helvetica Neue" pitchFamily="34" charset="0"/>
                <a:ea typeface="Helvetica Neue" pitchFamily="34" charset="-122"/>
                <a:cs typeface="Helvetica Neue" pitchFamily="34" charset="-120"/>
              </a:rPr>
              <a:t>Parts I–II</a:t>
            </a:r>
            <a:endParaRPr lang="en-US" sz="1150" dirty="0"/>
          </a:p>
        </p:txBody>
      </p:sp>
      <p:sp>
        <p:nvSpPr>
          <p:cNvPr id="13" name="Shape 10"/>
          <p:cNvSpPr/>
          <p:nvPr/>
        </p:nvSpPr>
        <p:spPr>
          <a:xfrm>
            <a:off x="548640" y="2514600"/>
            <a:ext cx="11064240" cy="914400"/>
          </a:xfrm>
          <a:prstGeom prst="roundRect">
            <a:avLst>
              <a:gd name="adj" fmla="val 8000"/>
            </a:avLst>
          </a:prstGeom>
          <a:solidFill>
            <a:srgbClr val="EDE0C4"/>
          </a:solidFill>
          <a:ln/>
        </p:spPr>
      </p:sp>
      <p:sp>
        <p:nvSpPr>
          <p:cNvPr id="14" name="Shape 11"/>
          <p:cNvSpPr/>
          <p:nvPr/>
        </p:nvSpPr>
        <p:spPr>
          <a:xfrm>
            <a:off x="548640" y="2514600"/>
            <a:ext cx="82296" cy="914400"/>
          </a:xfrm>
          <a:prstGeom prst="rect">
            <a:avLst/>
          </a:prstGeom>
          <a:solidFill>
            <a:srgbClr val="B5822B"/>
          </a:solidFill>
          <a:ln/>
        </p:spPr>
      </p:sp>
      <p:sp>
        <p:nvSpPr>
          <p:cNvPr id="15" name="Text 12"/>
          <p:cNvSpPr/>
          <p:nvPr/>
        </p:nvSpPr>
        <p:spPr>
          <a:xfrm>
            <a:off x="868680" y="2514600"/>
            <a:ext cx="2103120" cy="914400"/>
          </a:xfrm>
          <a:prstGeom prst="rect">
            <a:avLst/>
          </a:prstGeom>
          <a:noFill/>
          <a:ln/>
        </p:spPr>
        <p:txBody>
          <a:bodyPr wrap="square" lIns="0" tIns="0" rIns="0" bIns="0" rtlCol="0" anchor="ctr"/>
          <a:lstStyle/>
          <a:p>
            <a:pPr indent="0" marL="0">
              <a:buNone/>
            </a:pPr>
            <a:r>
              <a:rPr lang="en-US" sz="1600" b="1" spc="150" kern="0" dirty="0">
                <a:solidFill>
                  <a:srgbClr val="B5822B"/>
                </a:solidFill>
                <a:latin typeface="Helvetica Neue" pitchFamily="34" charset="0"/>
                <a:ea typeface="Helvetica Neue" pitchFamily="34" charset="-122"/>
                <a:cs typeface="Helvetica Neue" pitchFamily="34" charset="-120"/>
              </a:rPr>
              <a:t>WAITS</a:t>
            </a:r>
            <a:endParaRPr lang="en-US" sz="1600" dirty="0"/>
          </a:p>
        </p:txBody>
      </p:sp>
      <p:sp>
        <p:nvSpPr>
          <p:cNvPr id="16" name="Text 13"/>
          <p:cNvSpPr/>
          <p:nvPr/>
        </p:nvSpPr>
        <p:spPr>
          <a:xfrm>
            <a:off x="3108960" y="2514600"/>
            <a:ext cx="6675120" cy="914400"/>
          </a:xfrm>
          <a:prstGeom prst="rect">
            <a:avLst/>
          </a:prstGeom>
          <a:noFill/>
          <a:ln/>
        </p:spPr>
        <p:txBody>
          <a:bodyPr wrap="square" lIns="0" tIns="0" rIns="0" bIns="0" rtlCol="0" anchor="ctr">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writers — during failover, and during throttling</a:t>
            </a:r>
            <a:endParaRPr lang="en-US" sz="1500" dirty="0"/>
          </a:p>
        </p:txBody>
      </p:sp>
      <p:sp>
        <p:nvSpPr>
          <p:cNvPr id="17" name="Text 14"/>
          <p:cNvSpPr/>
          <p:nvPr/>
        </p:nvSpPr>
        <p:spPr>
          <a:xfrm>
            <a:off x="9875520" y="2514600"/>
            <a:ext cx="1554480" cy="914400"/>
          </a:xfrm>
          <a:prstGeom prst="rect">
            <a:avLst/>
          </a:prstGeom>
          <a:noFill/>
          <a:ln/>
        </p:spPr>
        <p:txBody>
          <a:bodyPr wrap="square" lIns="0" tIns="0" rIns="0" bIns="0" rtlCol="0" anchor="ctr"/>
          <a:lstStyle/>
          <a:p>
            <a:pPr algn="r" indent="0" marL="0">
              <a:buNone/>
            </a:pPr>
            <a:r>
              <a:rPr lang="en-US" sz="1150" dirty="0">
                <a:solidFill>
                  <a:srgbClr val="9A8A72"/>
                </a:solidFill>
                <a:latin typeface="Helvetica Neue" pitchFamily="34" charset="0"/>
                <a:ea typeface="Helvetica Neue" pitchFamily="34" charset="-122"/>
                <a:cs typeface="Helvetica Neue" pitchFamily="34" charset="-120"/>
              </a:rPr>
              <a:t>Parts II &amp; V</a:t>
            </a:r>
            <a:endParaRPr lang="en-US" sz="1150" dirty="0"/>
          </a:p>
        </p:txBody>
      </p:sp>
      <p:sp>
        <p:nvSpPr>
          <p:cNvPr id="18" name="Shape 15"/>
          <p:cNvSpPr/>
          <p:nvPr/>
        </p:nvSpPr>
        <p:spPr>
          <a:xfrm>
            <a:off x="548640" y="3566160"/>
            <a:ext cx="11064240" cy="914400"/>
          </a:xfrm>
          <a:prstGeom prst="roundRect">
            <a:avLst>
              <a:gd name="adj" fmla="val 8000"/>
            </a:avLst>
          </a:prstGeom>
          <a:solidFill>
            <a:srgbClr val="DDE3CC"/>
          </a:solidFill>
          <a:ln/>
        </p:spPr>
      </p:sp>
      <p:sp>
        <p:nvSpPr>
          <p:cNvPr id="19" name="Shape 16"/>
          <p:cNvSpPr/>
          <p:nvPr/>
        </p:nvSpPr>
        <p:spPr>
          <a:xfrm>
            <a:off x="548640" y="3566160"/>
            <a:ext cx="82296" cy="914400"/>
          </a:xfrm>
          <a:prstGeom prst="rect">
            <a:avLst/>
          </a:prstGeom>
          <a:solidFill>
            <a:srgbClr val="5F7A3A"/>
          </a:solidFill>
          <a:ln/>
        </p:spPr>
      </p:sp>
      <p:sp>
        <p:nvSpPr>
          <p:cNvPr id="20" name="Text 17"/>
          <p:cNvSpPr/>
          <p:nvPr/>
        </p:nvSpPr>
        <p:spPr>
          <a:xfrm>
            <a:off x="868680" y="3566160"/>
            <a:ext cx="2103120" cy="914400"/>
          </a:xfrm>
          <a:prstGeom prst="rect">
            <a:avLst/>
          </a:prstGeom>
          <a:noFill/>
          <a:ln/>
        </p:spPr>
        <p:txBody>
          <a:bodyPr wrap="square" lIns="0" tIns="0" rIns="0" bIns="0" rtlCol="0" anchor="ctr"/>
          <a:lstStyle/>
          <a:p>
            <a:pPr indent="0" marL="0">
              <a:buNone/>
            </a:pPr>
            <a:r>
              <a:rPr lang="en-US" sz="1600" b="1" spc="150" kern="0" dirty="0">
                <a:solidFill>
                  <a:srgbClr val="5F7A3A"/>
                </a:solidFill>
                <a:latin typeface="Helvetica Neue" pitchFamily="34" charset="0"/>
                <a:ea typeface="Helvetica Neue" pitchFamily="34" charset="-122"/>
                <a:cs typeface="Helvetica Neue" pitchFamily="34" charset="-120"/>
              </a:rPr>
              <a:t>SCALES</a:t>
            </a:r>
            <a:endParaRPr lang="en-US" sz="1600" dirty="0"/>
          </a:p>
        </p:txBody>
      </p:sp>
      <p:sp>
        <p:nvSpPr>
          <p:cNvPr id="21" name="Text 18"/>
          <p:cNvSpPr/>
          <p:nvPr/>
        </p:nvSpPr>
        <p:spPr>
          <a:xfrm>
            <a:off x="3108960" y="3566160"/>
            <a:ext cx="6675120" cy="914400"/>
          </a:xfrm>
          <a:prstGeom prst="rect">
            <a:avLst/>
          </a:prstGeom>
          <a:noFill/>
          <a:ln/>
        </p:spPr>
        <p:txBody>
          <a:bodyPr wrap="square" lIns="0" tIns="0" rIns="0" bIns="0" rtlCol="0" anchor="ctr">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reads: peers × cores  ·  writes: by pipelining</a:t>
            </a:r>
            <a:endParaRPr lang="en-US" sz="1500" dirty="0"/>
          </a:p>
        </p:txBody>
      </p:sp>
      <p:sp>
        <p:nvSpPr>
          <p:cNvPr id="22" name="Text 19"/>
          <p:cNvSpPr/>
          <p:nvPr/>
        </p:nvSpPr>
        <p:spPr>
          <a:xfrm>
            <a:off x="9875520" y="3566160"/>
            <a:ext cx="1554480" cy="914400"/>
          </a:xfrm>
          <a:prstGeom prst="rect">
            <a:avLst/>
          </a:prstGeom>
          <a:noFill/>
          <a:ln/>
        </p:spPr>
        <p:txBody>
          <a:bodyPr wrap="square" lIns="0" tIns="0" rIns="0" bIns="0" rtlCol="0" anchor="ctr"/>
          <a:lstStyle/>
          <a:p>
            <a:pPr algn="r" indent="0" marL="0">
              <a:buNone/>
            </a:pPr>
            <a:r>
              <a:rPr lang="en-US" sz="1150" dirty="0">
                <a:solidFill>
                  <a:srgbClr val="9A8A72"/>
                </a:solidFill>
                <a:latin typeface="Helvetica Neue" pitchFamily="34" charset="0"/>
                <a:ea typeface="Helvetica Neue" pitchFamily="34" charset="-122"/>
                <a:cs typeface="Helvetica Neue" pitchFamily="34" charset="-120"/>
              </a:rPr>
              <a:t>Part IV</a:t>
            </a:r>
            <a:endParaRPr lang="en-US" sz="1150" dirty="0"/>
          </a:p>
        </p:txBody>
      </p:sp>
      <p:sp>
        <p:nvSpPr>
          <p:cNvPr id="23" name="Shape 20"/>
          <p:cNvSpPr/>
          <p:nvPr/>
        </p:nvSpPr>
        <p:spPr>
          <a:xfrm>
            <a:off x="548640" y="4617720"/>
            <a:ext cx="11064240" cy="914400"/>
          </a:xfrm>
          <a:prstGeom prst="roundRect">
            <a:avLst>
              <a:gd name="adj" fmla="val 8000"/>
            </a:avLst>
          </a:prstGeom>
          <a:solidFill>
            <a:srgbClr val="D3DEE1"/>
          </a:solidFill>
          <a:ln/>
        </p:spPr>
      </p:sp>
      <p:sp>
        <p:nvSpPr>
          <p:cNvPr id="24" name="Shape 21"/>
          <p:cNvSpPr/>
          <p:nvPr/>
        </p:nvSpPr>
        <p:spPr>
          <a:xfrm>
            <a:off x="548640" y="4617720"/>
            <a:ext cx="82296" cy="914400"/>
          </a:xfrm>
          <a:prstGeom prst="rect">
            <a:avLst/>
          </a:prstGeom>
          <a:solidFill>
            <a:srgbClr val="3F6470"/>
          </a:solidFill>
          <a:ln/>
        </p:spPr>
      </p:sp>
      <p:sp>
        <p:nvSpPr>
          <p:cNvPr id="25" name="Text 22"/>
          <p:cNvSpPr/>
          <p:nvPr/>
        </p:nvSpPr>
        <p:spPr>
          <a:xfrm>
            <a:off x="868680" y="4617720"/>
            <a:ext cx="2103120" cy="914400"/>
          </a:xfrm>
          <a:prstGeom prst="rect">
            <a:avLst/>
          </a:prstGeom>
          <a:noFill/>
          <a:ln/>
        </p:spPr>
        <p:txBody>
          <a:bodyPr wrap="square" lIns="0" tIns="0" rIns="0" bIns="0" rtlCol="0" anchor="ctr"/>
          <a:lstStyle/>
          <a:p>
            <a:pPr indent="0" marL="0">
              <a:buNone/>
            </a:pPr>
            <a:r>
              <a:rPr lang="en-US" sz="1600" b="1" spc="150" kern="0" dirty="0">
                <a:solidFill>
                  <a:srgbClr val="3F6470"/>
                </a:solidFill>
                <a:latin typeface="Helvetica Neue" pitchFamily="34" charset="0"/>
                <a:ea typeface="Helvetica Neue" pitchFamily="34" charset="-122"/>
                <a:cs typeface="Helvetica Neue" pitchFamily="34" charset="-120"/>
              </a:rPr>
              <a:t>COSTS</a:t>
            </a:r>
            <a:endParaRPr lang="en-US" sz="1600" dirty="0"/>
          </a:p>
        </p:txBody>
      </p:sp>
      <p:sp>
        <p:nvSpPr>
          <p:cNvPr id="26" name="Text 23"/>
          <p:cNvSpPr/>
          <p:nvPr/>
        </p:nvSpPr>
        <p:spPr>
          <a:xfrm>
            <a:off x="3108960" y="4617720"/>
            <a:ext cx="6675120" cy="914400"/>
          </a:xfrm>
          <a:prstGeom prst="rect">
            <a:avLst/>
          </a:prstGeom>
          <a:noFill/>
          <a:ln/>
        </p:spPr>
        <p:txBody>
          <a:bodyPr wrap="square" lIns="0" tIns="0" rIns="0" bIns="0" rtlCol="0" anchor="ctr">
            <a:normAutofit/>
          </a:bodyPr>
          <a:lstStyle/>
          <a:p>
            <a:pPr indent="0" marL="0">
              <a:buNone/>
            </a:pPr>
            <a:r>
              <a:rPr lang="en-US" sz="1500" dirty="0">
                <a:solidFill>
                  <a:srgbClr val="3A2C1A"/>
                </a:solidFill>
                <a:latin typeface="Helvetica Neue" pitchFamily="34" charset="0"/>
                <a:ea typeface="Helvetica Neue" pitchFamily="34" charset="-122"/>
                <a:cs typeface="Helvetica Neue" pitchFamily="34" charset="-120"/>
              </a:rPr>
              <a:t>storage, whenever a cache is cold</a:t>
            </a:r>
            <a:endParaRPr lang="en-US" sz="1500" dirty="0"/>
          </a:p>
        </p:txBody>
      </p:sp>
      <p:sp>
        <p:nvSpPr>
          <p:cNvPr id="27" name="Text 24"/>
          <p:cNvSpPr/>
          <p:nvPr/>
        </p:nvSpPr>
        <p:spPr>
          <a:xfrm>
            <a:off x="9875520" y="4617720"/>
            <a:ext cx="1554480" cy="914400"/>
          </a:xfrm>
          <a:prstGeom prst="rect">
            <a:avLst/>
          </a:prstGeom>
          <a:noFill/>
          <a:ln/>
        </p:spPr>
        <p:txBody>
          <a:bodyPr wrap="square" lIns="0" tIns="0" rIns="0" bIns="0" rtlCol="0" anchor="ctr"/>
          <a:lstStyle/>
          <a:p>
            <a:pPr algn="r" indent="0" marL="0">
              <a:buNone/>
            </a:pPr>
            <a:r>
              <a:rPr lang="en-US" sz="1150" dirty="0">
                <a:solidFill>
                  <a:srgbClr val="9A8A72"/>
                </a:solidFill>
                <a:latin typeface="Helvetica Neue" pitchFamily="34" charset="0"/>
                <a:ea typeface="Helvetica Neue" pitchFamily="34" charset="-122"/>
                <a:cs typeface="Helvetica Neue" pitchFamily="34" charset="-120"/>
              </a:rPr>
              <a:t>Parts III &amp; VI</a:t>
            </a:r>
            <a:endParaRPr lang="en-US" sz="1150" dirty="0"/>
          </a:p>
        </p:txBody>
      </p:sp>
      <p:sp>
        <p:nvSpPr>
          <p:cNvPr id="28" name="Shape 25"/>
          <p:cNvSpPr/>
          <p:nvPr/>
        </p:nvSpPr>
        <p:spPr>
          <a:xfrm>
            <a:off x="548640" y="5806440"/>
            <a:ext cx="54864" cy="457200"/>
          </a:xfrm>
          <a:prstGeom prst="rect">
            <a:avLst/>
          </a:prstGeom>
          <a:solidFill>
            <a:srgbClr val="A8864A"/>
          </a:solidFill>
          <a:ln/>
        </p:spPr>
      </p:sp>
      <p:sp>
        <p:nvSpPr>
          <p:cNvPr id="29" name="Text 26"/>
          <p:cNvSpPr/>
          <p:nvPr/>
        </p:nvSpPr>
        <p:spPr>
          <a:xfrm>
            <a:off x="777240" y="5806440"/>
            <a:ext cx="10835640" cy="457200"/>
          </a:xfrm>
          <a:prstGeom prst="rect">
            <a:avLst/>
          </a:prstGeom>
          <a:noFill/>
          <a:ln/>
        </p:spPr>
        <p:txBody>
          <a:bodyPr wrap="square" lIns="0" tIns="0" rIns="0" bIns="0" rtlCol="0" anchor="ctr">
            <a:normAutofit/>
          </a:bodyPr>
          <a:lstStyle/>
          <a:p>
            <a:pPr indent="0" marL="0">
              <a:buNone/>
            </a:pPr>
            <a:r>
              <a:rPr lang="en-US" sz="1450" dirty="0">
                <a:solidFill>
                  <a:srgbClr val="3A2C1A"/>
                </a:solidFill>
                <a:latin typeface="Helvetica Neue" pitchFamily="34" charset="0"/>
                <a:ea typeface="Helvetica Neue" pitchFamily="34" charset="-122"/>
                <a:cs typeface="Helvetica Neue" pitchFamily="34" charset="-120"/>
              </a:rPr>
              <a:t>The Part V settings are lookups. This table is the model they operate on.</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FE9DD"/>
          </a:solidFill>
          <a:ln/>
        </p:spPr>
      </p:sp>
      <p:sp>
        <p:nvSpPr>
          <p:cNvPr id="3" name="Text 1"/>
          <p:cNvSpPr/>
          <p:nvPr/>
        </p:nvSpPr>
        <p:spPr>
          <a:xfrm>
            <a:off x="548640" y="256032"/>
            <a:ext cx="9144000" cy="256032"/>
          </a:xfrm>
          <a:prstGeom prst="rect">
            <a:avLst/>
          </a:prstGeom>
          <a:noFill/>
          <a:ln/>
        </p:spPr>
        <p:txBody>
          <a:bodyPr wrap="square" lIns="0" tIns="0" rIns="0" bIns="0" rtlCol="0" anchor="t"/>
          <a:lstStyle/>
          <a:p>
            <a:pPr indent="0" marL="0">
              <a:buNone/>
            </a:pPr>
            <a:r>
              <a:rPr lang="en-US" sz="1100" spc="200" kern="0" dirty="0">
                <a:solidFill>
                  <a:srgbClr val="9A8A72"/>
                </a:solidFill>
                <a:latin typeface="Helvetica Neue" pitchFamily="34" charset="0"/>
                <a:ea typeface="Helvetica Neue" pitchFamily="34" charset="-122"/>
                <a:cs typeface="Helvetica Neue" pitchFamily="34" charset="-120"/>
              </a:rPr>
              <a:t>CLOSE</a:t>
            </a:r>
            <a:endParaRPr lang="en-US" sz="1100" dirty="0"/>
          </a:p>
        </p:txBody>
      </p:sp>
      <p:sp>
        <p:nvSpPr>
          <p:cNvPr id="4" name="Text 2"/>
          <p:cNvSpPr/>
          <p:nvPr/>
        </p:nvSpPr>
        <p:spPr>
          <a:xfrm>
            <a:off x="11155680" y="256032"/>
            <a:ext cx="640080" cy="256032"/>
          </a:xfrm>
          <a:prstGeom prst="rect">
            <a:avLst/>
          </a:prstGeom>
          <a:noFill/>
          <a:ln/>
        </p:spPr>
        <p:txBody>
          <a:bodyPr wrap="square" lIns="0" tIns="0" rIns="0" bIns="0" rtlCol="0" anchor="t"/>
          <a:lstStyle/>
          <a:p>
            <a:pPr algn="r" indent="0" marL="0">
              <a:buNone/>
            </a:pPr>
            <a:r>
              <a:rPr lang="en-US" sz="1100" dirty="0">
                <a:solidFill>
                  <a:srgbClr val="9A8A72"/>
                </a:solidFill>
                <a:latin typeface="Helvetica Neue" pitchFamily="34" charset="0"/>
                <a:ea typeface="Helvetica Neue" pitchFamily="34" charset="-122"/>
                <a:cs typeface="Helvetica Neue" pitchFamily="34" charset="-120"/>
              </a:rPr>
              <a:t>41</a:t>
            </a:r>
            <a:endParaRPr lang="en-US" sz="1100" dirty="0"/>
          </a:p>
        </p:txBody>
      </p:sp>
      <p:sp>
        <p:nvSpPr>
          <p:cNvPr id="5" name="Shape 3"/>
          <p:cNvSpPr/>
          <p:nvPr/>
        </p:nvSpPr>
        <p:spPr>
          <a:xfrm>
            <a:off x="548640" y="530352"/>
            <a:ext cx="11064240" cy="13716"/>
          </a:xfrm>
          <a:prstGeom prst="rect">
            <a:avLst/>
          </a:prstGeom>
          <a:solidFill>
            <a:srgbClr val="C6A46A"/>
          </a:solidFill>
          <a:ln/>
        </p:spPr>
      </p:sp>
      <p:sp>
        <p:nvSpPr>
          <p:cNvPr id="6" name="Text 4"/>
          <p:cNvSpPr/>
          <p:nvPr/>
        </p:nvSpPr>
        <p:spPr>
          <a:xfrm>
            <a:off x="548640" y="676656"/>
            <a:ext cx="11064240" cy="548640"/>
          </a:xfrm>
          <a:prstGeom prst="rect">
            <a:avLst/>
          </a:prstGeom>
          <a:noFill/>
          <a:ln/>
        </p:spPr>
        <p:txBody>
          <a:bodyPr wrap="square" lIns="0" tIns="0" rIns="0" bIns="0" rtlCol="0" anchor="t">
            <a:normAutofit/>
          </a:bodyPr>
          <a:lstStyle/>
          <a:p>
            <a:pPr indent="0" marL="0">
              <a:buNone/>
            </a:pPr>
            <a:r>
              <a:rPr lang="en-US" sz="2500" dirty="0">
                <a:solidFill>
                  <a:srgbClr val="3A2C1A"/>
                </a:solidFill>
                <a:latin typeface="Georgia" pitchFamily="34" charset="0"/>
                <a:ea typeface="Georgia" pitchFamily="34" charset="-122"/>
                <a:cs typeface="Georgia" pitchFamily="34" charset="-120"/>
              </a:rPr>
              <a:t>Where to go next</a:t>
            </a:r>
            <a:endParaRPr lang="en-US" sz="2500" dirty="0"/>
          </a:p>
        </p:txBody>
      </p:sp>
      <p:sp>
        <p:nvSpPr>
          <p:cNvPr id="8" name="Shape 5"/>
          <p:cNvSpPr/>
          <p:nvPr/>
        </p:nvSpPr>
        <p:spPr>
          <a:xfrm>
            <a:off x="548640" y="1371600"/>
            <a:ext cx="11064240" cy="1005840"/>
          </a:xfrm>
          <a:prstGeom prst="roundRect">
            <a:avLst>
              <a:gd name="adj" fmla="val 7273"/>
            </a:avLst>
          </a:prstGeom>
          <a:solidFill>
            <a:srgbClr val="E6DFCE"/>
          </a:solidFill>
          <a:ln/>
        </p:spPr>
      </p:sp>
      <p:sp>
        <p:nvSpPr>
          <p:cNvPr id="9" name="Text 6"/>
          <p:cNvSpPr/>
          <p:nvPr/>
        </p:nvSpPr>
        <p:spPr>
          <a:xfrm>
            <a:off x="822960" y="1499616"/>
            <a:ext cx="10515600" cy="347472"/>
          </a:xfrm>
          <a:prstGeom prst="rect">
            <a:avLst/>
          </a:prstGeom>
          <a:noFill/>
          <a:ln/>
        </p:spPr>
        <p:txBody>
          <a:bodyPr wrap="square" lIns="0" tIns="0" rIns="0" bIns="0" rtlCol="0" anchor="t"/>
          <a:lstStyle/>
          <a:p>
            <a:pPr indent="0" marL="0">
              <a:buNone/>
            </a:pPr>
            <a:r>
              <a:rPr lang="en-US" sz="1400" b="1" dirty="0">
                <a:solidFill>
                  <a:srgbClr val="A8864A"/>
                </a:solidFill>
                <a:latin typeface="Courier New" pitchFamily="34" charset="0"/>
                <a:ea typeface="Courier New" pitchFamily="34" charset="-122"/>
                <a:cs typeface="Courier New" pitchFamily="34" charset="-120"/>
              </a:rPr>
              <a:t>src/datomic_infra/labs.clj</a:t>
            </a:r>
            <a:endParaRPr lang="en-US" sz="1400" dirty="0"/>
          </a:p>
        </p:txBody>
      </p:sp>
      <p:sp>
        <p:nvSpPr>
          <p:cNvPr id="10" name="Text 7"/>
          <p:cNvSpPr/>
          <p:nvPr/>
        </p:nvSpPr>
        <p:spPr>
          <a:xfrm>
            <a:off x="822960" y="1874520"/>
            <a:ext cx="10515600" cy="457200"/>
          </a:xfrm>
          <a:prstGeom prst="rect">
            <a:avLst/>
          </a:prstGeom>
          <a:noFill/>
          <a:ln/>
        </p:spPr>
        <p:txBody>
          <a:bodyPr wrap="square" lIns="0" tIns="0" rIns="0" bIns="0" rtlCol="0" anchor="t">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Datomic in Production — the paths and storage layers this class assumed</a:t>
            </a:r>
            <a:endParaRPr lang="en-US" sz="1350" dirty="0"/>
          </a:p>
        </p:txBody>
      </p:sp>
      <p:sp>
        <p:nvSpPr>
          <p:cNvPr id="11" name="Shape 8"/>
          <p:cNvSpPr/>
          <p:nvPr/>
        </p:nvSpPr>
        <p:spPr>
          <a:xfrm>
            <a:off x="548640" y="2514600"/>
            <a:ext cx="11064240" cy="1005840"/>
          </a:xfrm>
          <a:prstGeom prst="roundRect">
            <a:avLst>
              <a:gd name="adj" fmla="val 7273"/>
            </a:avLst>
          </a:prstGeom>
          <a:solidFill>
            <a:srgbClr val="E6DFCE"/>
          </a:solidFill>
          <a:ln/>
        </p:spPr>
      </p:sp>
      <p:sp>
        <p:nvSpPr>
          <p:cNvPr id="12" name="Text 9"/>
          <p:cNvSpPr/>
          <p:nvPr/>
        </p:nvSpPr>
        <p:spPr>
          <a:xfrm>
            <a:off x="822960" y="2642616"/>
            <a:ext cx="10515600" cy="347472"/>
          </a:xfrm>
          <a:prstGeom prst="rect">
            <a:avLst/>
          </a:prstGeom>
          <a:noFill/>
          <a:ln/>
        </p:spPr>
        <p:txBody>
          <a:bodyPr wrap="square" lIns="0" tIns="0" rIns="0" bIns="0" rtlCol="0" anchor="t"/>
          <a:lstStyle/>
          <a:p>
            <a:pPr indent="0" marL="0">
              <a:buNone/>
            </a:pPr>
            <a:r>
              <a:rPr lang="en-US" sz="1400" b="1" dirty="0">
                <a:solidFill>
                  <a:srgbClr val="A8864A"/>
                </a:solidFill>
                <a:latin typeface="Courier New" pitchFamily="34" charset="0"/>
                <a:ea typeface="Courier New" pitchFamily="34" charset="-122"/>
                <a:cs typeface="Courier New" pitchFamily="34" charset="-120"/>
              </a:rPr>
              <a:t>infra/HA.md</a:t>
            </a:r>
            <a:endParaRPr lang="en-US" sz="1400" dirty="0"/>
          </a:p>
        </p:txBody>
      </p:sp>
      <p:sp>
        <p:nvSpPr>
          <p:cNvPr id="13" name="Text 10"/>
          <p:cNvSpPr/>
          <p:nvPr/>
        </p:nvSpPr>
        <p:spPr>
          <a:xfrm>
            <a:off x="822960" y="3017520"/>
            <a:ext cx="10515600" cy="457200"/>
          </a:xfrm>
          <a:prstGeom prst="rect">
            <a:avLst/>
          </a:prstGeom>
          <a:noFill/>
          <a:ln/>
        </p:spPr>
        <p:txBody>
          <a:bodyPr wrap="square" lIns="0" tIns="0" rIns="0" bIns="0" rtlCol="0" anchor="t">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two-transactor setup, if Part II was not run live</a:t>
            </a:r>
            <a:endParaRPr lang="en-US" sz="1350" dirty="0"/>
          </a:p>
        </p:txBody>
      </p:sp>
      <p:sp>
        <p:nvSpPr>
          <p:cNvPr id="14" name="Shape 11"/>
          <p:cNvSpPr/>
          <p:nvPr/>
        </p:nvSpPr>
        <p:spPr>
          <a:xfrm>
            <a:off x="548640" y="3657600"/>
            <a:ext cx="11064240" cy="1005840"/>
          </a:xfrm>
          <a:prstGeom prst="roundRect">
            <a:avLst>
              <a:gd name="adj" fmla="val 7273"/>
            </a:avLst>
          </a:prstGeom>
          <a:solidFill>
            <a:srgbClr val="D3DEE1"/>
          </a:solidFill>
          <a:ln/>
        </p:spPr>
      </p:sp>
      <p:sp>
        <p:nvSpPr>
          <p:cNvPr id="15" name="Text 12"/>
          <p:cNvSpPr/>
          <p:nvPr/>
        </p:nvSpPr>
        <p:spPr>
          <a:xfrm>
            <a:off x="822960" y="3785616"/>
            <a:ext cx="10515600" cy="347472"/>
          </a:xfrm>
          <a:prstGeom prst="rect">
            <a:avLst/>
          </a:prstGeom>
          <a:noFill/>
          <a:ln/>
        </p:spPr>
        <p:txBody>
          <a:bodyPr wrap="square" lIns="0" tIns="0" rIns="0" bIns="0" rtlCol="0" anchor="t"/>
          <a:lstStyle/>
          <a:p>
            <a:pPr indent="0" marL="0">
              <a:buNone/>
            </a:pPr>
            <a:r>
              <a:rPr lang="en-US" sz="1400" b="1" dirty="0">
                <a:solidFill>
                  <a:srgbClr val="A8864A"/>
                </a:solidFill>
                <a:latin typeface="Courier New" pitchFamily="34" charset="0"/>
                <a:ea typeface="Courier New" pitchFamily="34" charset="-122"/>
                <a:cs typeface="Courier New" pitchFamily="34" charset="-120"/>
              </a:rPr>
              <a:t>Datomic Cloud</a:t>
            </a:r>
            <a:endParaRPr lang="en-US" sz="1400" dirty="0"/>
          </a:p>
        </p:txBody>
      </p:sp>
      <p:sp>
        <p:nvSpPr>
          <p:cNvPr id="16" name="Text 13"/>
          <p:cNvSpPr/>
          <p:nvPr/>
        </p:nvSpPr>
        <p:spPr>
          <a:xfrm>
            <a:off x="822960" y="4160520"/>
            <a:ext cx="10515600" cy="457200"/>
          </a:xfrm>
          <a:prstGeom prst="rect">
            <a:avLst/>
          </a:prstGeom>
          <a:noFill/>
          <a:ln/>
        </p:spPr>
        <p:txBody>
          <a:bodyPr wrap="square" lIns="0" tIns="0" rIns="0" bIns="0" rtlCol="0" anchor="t">
            <a:normAutofit/>
          </a:bodyPr>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query groups = Part IV's read scaling as an autoscaling group; failover is managed by the platform. Same model, different operational surface.</a:t>
            </a:r>
            <a:endParaRPr lang="en-US" sz="1350" dirty="0"/>
          </a:p>
        </p:txBody>
      </p:sp>
      <p:sp>
        <p:nvSpPr>
          <p:cNvPr id="17" name="Shape 14"/>
          <p:cNvSpPr/>
          <p:nvPr/>
        </p:nvSpPr>
        <p:spPr>
          <a:xfrm>
            <a:off x="548640" y="4846320"/>
            <a:ext cx="11064240" cy="1051560"/>
          </a:xfrm>
          <a:prstGeom prst="roundRect">
            <a:avLst>
              <a:gd name="adj" fmla="val 6957"/>
            </a:avLst>
          </a:prstGeom>
          <a:solidFill>
            <a:srgbClr val="DDE3CC"/>
          </a:solidFill>
          <a:ln/>
        </p:spPr>
      </p:sp>
      <p:sp>
        <p:nvSpPr>
          <p:cNvPr id="18" name="Shape 15"/>
          <p:cNvSpPr/>
          <p:nvPr/>
        </p:nvSpPr>
        <p:spPr>
          <a:xfrm>
            <a:off x="548640" y="4846320"/>
            <a:ext cx="82296" cy="1051560"/>
          </a:xfrm>
          <a:prstGeom prst="rect">
            <a:avLst/>
          </a:prstGeom>
          <a:solidFill>
            <a:srgbClr val="5F7A3A"/>
          </a:solidFill>
          <a:ln/>
        </p:spPr>
      </p:sp>
      <p:sp>
        <p:nvSpPr>
          <p:cNvPr id="19" name="Text 16"/>
          <p:cNvSpPr/>
          <p:nvPr/>
        </p:nvSpPr>
        <p:spPr>
          <a:xfrm>
            <a:off x="868680" y="4983480"/>
            <a:ext cx="10515600" cy="365760"/>
          </a:xfrm>
          <a:prstGeom prst="rect">
            <a:avLst/>
          </a:prstGeom>
          <a:noFill/>
          <a:ln/>
        </p:spPr>
        <p:txBody>
          <a:bodyPr wrap="square" lIns="0" tIns="0" rIns="0" bIns="0" rtlCol="0" anchor="t"/>
          <a:lstStyle/>
          <a:p>
            <a:pPr indent="0" marL="0">
              <a:buNone/>
            </a:pPr>
            <a:r>
              <a:rPr lang="en-US" sz="1600" b="1" dirty="0">
                <a:solidFill>
                  <a:srgbClr val="3A2C1A"/>
                </a:solidFill>
                <a:latin typeface="Helvetica Neue" pitchFamily="34" charset="0"/>
                <a:ea typeface="Helvetica Neue" pitchFamily="34" charset="-122"/>
                <a:cs typeface="Helvetica Neue" pitchFamily="34" charset="-120"/>
              </a:rPr>
              <a:t>Repeat the failover drill on your own staging environment.</a:t>
            </a:r>
            <a:endParaRPr lang="en-US" sz="1600" dirty="0"/>
          </a:p>
        </p:txBody>
      </p:sp>
      <p:sp>
        <p:nvSpPr>
          <p:cNvPr id="20" name="Text 17"/>
          <p:cNvSpPr/>
          <p:nvPr/>
        </p:nvSpPr>
        <p:spPr>
          <a:xfrm>
            <a:off x="868680" y="5376672"/>
            <a:ext cx="10515600" cy="365760"/>
          </a:xfrm>
          <a:prstGeom prst="rect">
            <a:avLst/>
          </a:prstGeom>
          <a:noFill/>
          <a:ln/>
        </p:spPr>
        <p:txBody>
          <a:bodyPr wrap="square" lIns="0" tIns="0" rIns="0" bIns="0" rtlCol="0" anchor="t"/>
          <a:lstStyle/>
          <a:p>
            <a:pPr indent="0" marL="0">
              <a:buNone/>
            </a:pPr>
            <a:r>
              <a:rPr lang="en-US" sz="1350" dirty="0">
                <a:solidFill>
                  <a:srgbClr val="6B5A44"/>
                </a:solidFill>
                <a:latin typeface="Helvetica Neue" pitchFamily="34" charset="0"/>
                <a:ea typeface="Helvetica Neue" pitchFamily="34" charset="-122"/>
                <a:cs typeface="Helvetica Neue" pitchFamily="34" charset="-120"/>
              </a:rPr>
              <a:t>The window depends on that infrastructure — the only number worth quoting is the one you measured.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Datomic at Scale — Operations, Parallelism and the Cost of a Read</dc:title>
  <dc:subject>PptxGenJS Presentation</dc:subject>
  <dc:creator>Datomic Classes</dc:creator>
  <cp:lastModifiedBy>Datomic Classes</cp:lastModifiedBy>
  <cp:revision>1</cp:revision>
  <dcterms:created xsi:type="dcterms:W3CDTF">2026-08-27T21:06:23Z</dcterms:created>
  <dcterms:modified xsi:type="dcterms:W3CDTF">2026-08-27T21:06:23Z</dcterms:modified>
</cp:coreProperties>
</file>