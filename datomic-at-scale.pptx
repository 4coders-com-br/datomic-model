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class in the series. It continues from *Datomic in Production*: the deployment map, the write path, the read path and the backup/restore drill are covered there and are not repeated here.
The question this class answers: how does a Datomic system behave in production — what each component does when it fails, how failover works, what a read costs at each cache tier, where parallelism applies, which settings matter, and how peers are shipped.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carry the model and the diagrams. REPL work lives in src/datomic_ops/labs.clj (§0–§6) and is reached through waypoint boxes. The coupling is loose on purpose: a waypoint can be taken early, late, or skipped entirely without breaking the thread of the class.
Labs marked [MEM] run on datomic:mem:// with nothing installed. Labs marked [PRO] need Postgres, one or two transactors and $DATOMIC — see infra/HA.md. The exercise after the break is entirely [MEM], so it does not depend on what each laptop has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answers one operational question. The minute marks are a plan, not a contract — the failover drill in Part II and the parallelism measurements in Part IV are the two places where a class typically runs long, and both are worth the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part is structural, not procedural. In a single-server SQL deployment, everything that can die takes the application with it. In Datomic, three of the four things that can die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picture top to bottom.
Peers are libraries inside your JVM. The query engine runs there — not in a server. Each peer holds its own object cache of decoded segments.
Memcached is optional and shared: peers consult it before storage, so N cold peers cause one storage miss instead of N.
Storage is the source of truth AND the arbiter of who may write — that second role is what Part II is about.
Transactors: exactly one writes at a time. The standby is a parked process holding no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cards left to right, worst first.
Storage: a total outage, and reads go down too — but only once the caches miss. A peer with a warm object cache keeps answering queries it can answer from cache for as long as its working set holds.
Transactor: writes fail, reads continue. This is the failure people expect to be fatal and it is not.
One peer: that peer's traffic only. Siblings are unaffected because peers share nothing but storage.
Memcached: nothing fails. Storage load goes up, latency goes up, correctness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one process is the query engine, the writer, the cache and the durability boundary at once, so every failure is the same failure. On the right, those four responsibilities live in different processes and fail separately.
The rest of the class follows from the split: Part II protects the write path only, Part III accelerates the read path only, and Part IV finds that the two words for 'parallelism' mean different mechanisms on each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Reads are served by the peer itself, from caches and from storage. They are parallel and independent of the transactor — a peer whose transactor is dead still answers queries.
Writes are serialised through one process. That is what buys you ACID transactions with no coordination protocol, and it is the reason the write path needs HA while the read path needs caching.
Hold on to this diagram: Part II is the left arrow, Part III the right one, and Part IV shows that 'parallelism' names a different mechanism on each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reach for d/db-stats expecting a cache report. It is a database report: how many datoms exist, by attribute. It says nothing about what is resident in any cache.
There is no peer API that reports cache occupancy. Cache behaviour is observed one of two ways: through the metrics callback (Part V), or by timing the same query twice and comparing. Both appear later in this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of Datomic HA is one idea: the right to write is a lease, and the lease lives in storage. Everything else — no quorum, no consensus protocol, no split brain, no virtual IP, no failover controller — is a consequence of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identical transactor processes point at the same storage. One of them holds a lease; the other polls and waits.
Storage is the arbiter. That matters because the lease lives where the data lives — so 'who is the writer' and 'what is committed' are decided by the same system and cannot disagree. A split brain would require storage to disagree with itself.
There is no separate failover controller, no virtual IP, and nothing for you to operate between the two processes.
Operational note: a standby that is working correctly prints nothing after startup. A silent standby log is the expected state, not a symptom.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tracks, same wall clock.
The write track has a gap: from the moment A dies to the moment B has the lease, transactions fail. The read track has no gap at all — peers are reading storage and their own caches, and neither one noticed.
The peer reconnects on its own. No URI change, no restart, no load balancer entry to flip.
The width of that window depends on heartbeat-interval-msec, on storage latency, and on how warm the standby's JVM is. That is three environment-specific variables, so the width is a measured number from a given environment rather than a quoted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you get. The right column is what people assume they got and did not.
A standby is not a second copy of the data: both transactors write to the same storage, so storage loss loses everything either of them wrote. Data redundancy is storage replication's job — Postgres streaming replication, DynamoDB's own durability, whatever your storage offers.
A standby also does not protect you from a bad transaction. Once it is committed, it is committed; recovery is restore, covered in the Production class §4.
The rolling-upgrade line on the left is the one people undersell: the same mechanism that survives a crash lets you upgrade the transactor on purpose for the cost of one bounded write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failover window a write has to do something. datomic.txTimeoutMsec decides what: how long a peer's write waits for a writer to exist before giving up.
There is no correct value, only a choice about which failure your application handles better. A short timeout gives you fast, explicit failures and free threads — your callers see errors during the window. A long timeout gives you writes that survive the window — at the cost of threads parked in the peer, which under load is its own outage.
Pick the end of the dial your caller can actually handle, then measure the window (previous waypoint) and make sure a long timeout is actually longer than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read walks down a ladder until some tier answers. Knowing which tier answered is the whole skill: the same query is a hundred nanoseconds or ten milliseconds depending on nothing but residency.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ladder top to bottom, and read the right-hand column as orders of magnitude rather than as benchmark numbers.
Tier 1, the object cache, is on-heap and holds decoded segments — nothing to deserialise, which is why it is nanoseconds to microseconds.
Tier 2, valcache, is the addition in this class: local SSD, per peer. Its latency is not the interesting part. The interesting part is that it is the only tier that survives a process restart, which is exactly the event that empties the others.
Tier 3, memcached, is shared over the network. Its value is not its speed but its sharing: twenty cold peers cause one storage miss instead of twenty.
Tier 4 is storage, and storage is metered — in dollars on DynamoDB, in connections and IOPS on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sizing conversation. Four columns, four different reasons to add a tier.
The object cache is the only one that is always there, and it is the only one that is free. It is also the one most often left at its default.
Valcache buys restart survival. Memcached buys sharing across peers. Storage is the tier you are trying not to reach.
Note the last row: only memcached is shared. That is the whole reason it exists, and the reason its hit ratio is a signal worth alerting on in Part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 for one entity. The peer does not fetch one entity: it fetches the segment that entity's datoms live in, and neighbours in the index come along for free. The index-range call on the next line proves it — twenty readings, one segment, one storage hit.
The consequence for sizing is direct: the working set is measured in segments, not in entities. A workload that touches a thousand entities scattered across the index is expensive; a workload that touches ten thousand adjacent ones may be cheap. Cache sizing follows the segments a workload touches rather than the entities it names.
It also explains why sorted access patterns — index-range, reverse chronological scans — behave differently from random entity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peers restart together. Twenty object caches are empty at the same instant. Twenty peers ask storage the same questions in the same second.
On Postgres you watch it in pg_stat_database: blks_hit collapses and blks_read spikes. On DynamoDB you watch it on the bill, or in throttling.
Nothing is broken. Every peer is correct, every query returns, and p99 goes through the roof — which is why this shows up as a mysterious post-deploy latency incident rather than as an error.
The three mitigations are ordered by what they require. Rolling deploys require no infrastructure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marker. Parts I–III were the model: what fails, who takes over, what a read costs. Parts IV–VI are what you do with it: scale it, tune it, ship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halves of the system are described as parallel, and the word means something different on each side. On the write side it means pipelining: keeping one serial writer busy. On the read side it means actual concurrency: many cores over one immutable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Writes cannot be parallelised. One transactor, one serial order — that is what makes the transaction guarantees cheap. What writes can be is pipelined: send the next transaction before the previous one's result has come back, so the transactor never sits idle waiting on a round trip.
Reads are parallel in the ordinary sense. Every peer, every core, over an immutable database value. Once the segments are warm those reads cost storage nothing.
The levers therefore differ. On the left you are fighting idleness. On the right you are cutting work along the index. The two are separate mechanisms; only the read side involves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mechanism before showing the measurement, because the measurement is a null result and only makes sense once the mechanism is clear.
Serial: submit, wait for the round trip, get the result, submit the next. The transactor spends most of the wall clock idle, waiting on the network.
Pipelined: submit N transactions before collecting any of them. The transactor's work is the same; the idle gaps are gone.
So pipelining does not make the transactor faster. It stops it from waiting. That is exactly what the next slide's measurement isolates.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runs on datomic:mem://: 500,000 datoms serial, 600,000 pipelined. 24.69 ms and 24.31 ms. No difference.
That is not a failed experiment, it is a controlled one. datomic:mem:// runs the transactor inside the same JVM, so there is no round trip. Remove the round trip and pipelining has nothing to overlap — which confirms that overlapping the round trip is all it ever did.
Run the identical two lines against a transactor over a socket and a gap appears, proportional to that round trip. So the number is environment-specific: the gap equals the round trip being hidden, and a multiplier from a slide does not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:reading/t is indexed, so AVET can be sliced by value range. Each slice is an independent read — no locks, no coordination, and the transactor is not involved at all.
100,000 readings, 8 slices, pmap across 10 cores: 78.70 ms serial becomes 24.68 ms. About 3.2x, median of five runs.
Two constraints matter more than the multiplier.
First, db is a value. Every slice reads the same immutable database, so there is no snapshot to hold open, no read transaction to leak, and no possibility of slices disagreeing. This is the thing that is genuinely hard in a mutable database and free here.
Second, the speed-up is bounded by cache misses rather than by cores. On a warm peer you are dividing CPU work. On a cold peer you are overlapping storage waits — which is still a win, just a different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data, same cores, only the slice count changes. 8 slices: 24.68 ms. 100: 27.62. 1,000: 30.12. 10,000: 54.41.
Two things to notice.
The degradation is gradual. Going from 8 to 1,000 slices — a 125-fold increase in coordination — costs about 22%. The curve is flat enough that an optimal slice count is not required.
Only at 10,000 slices does the parallel version start approaching the 78.70 ms serial baseline, and even there it is still faster. Over-slicing degrades the result gradually rather than reversing it.
In practice: slice to roughly the core count, or a small multiple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d/with applies a transaction to a database value and hands back a new value. No transactor is involved, nothing is durable, and nothing is shared — so any number of them can run at once.
The second form is the important one: after three concurrent what-ifs each reporting 105,005 readings, the base db still reports 105,000. Immutability is what makes the concurrency safe without locking.
Uses in production: validation before submitting, scenario analysis, and import dry runs — checking that a large load would not violate an invariant before spending transactor time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d/q is single-threaded inside the peer. There is no query planner hint, no degree-of-parallelism setting, and no thread pool to grow.
So parallelism applies across queries, or across index slices that the caller cut — never within one query. If a single query is slow, the answer is its shape or its cache, not more cores.
Parallel SQL engines behave differently here, which is why the expectation is stated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are lookups. The loop they all act on is what makes a red dashboard readable — it identifies which knob is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Writes land in the memory index and, always and immediately, in the durable log. Durability never waits for indexing: the rest of the loop is an indexing path, not a write path.
When the memory index passes memory-index-threshold, an indexing job starts draining it into storage.
If writes keep outrunning that drain, the memory index reaches memory-index-max, and the transactor throttles the writers. p99 write latency rises.
The throttle is intentional back-pressure protecting the transactor's heap, not a failure. But it is what appears on your dashboard as a latency incident, so knowing the loop is what stops you from tuning at random when it happens.
Threshold starts the job. Max starts the throttling. Those two sentences describe the whole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gauge, three states. The third is the one commonly misread as a failure.
Normal: the memory index sits below threshold, no indexing job running.
Draining: past threshold, an indexing job is running, writes continue at full speed. This is the healthy steady state under sustained load, not a warning.
Throttled: at max. The transactor deliberately slows the writers so the memory index cannot grow past what its heap can hold. Nothing is lost, nothing errors, and p99 rises.
When you see the third state, the question is not 'how do I turn off throttling' — it is 'why is the drain slower than the write rate'. Usually that is storage write latency, or an indexing job competing with a heavy write burst.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table as a diagnosis aid rather than as a configuration guide: symptom on the right, knob on the left.
The first two are the loop from two slides ago. object-cache-max is the transactor's own read cache — a transactor reads while it indexes. memcached unset means every peer misses separately, which is Part III's thundering herd. heartbeat-interval-msec directly widens or narrows Part II's failover window.
The warning at the bottom: passing ANY JVM flag to bin/transactor makes it drop its own GC defaults. If you pass anything at all, re-specify the GC flags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peer flags map one-to-one onto Part III's tier ladder, which is the easiest way to remember them: the first four are tiers 1, 3, 2 and 2's size limit. The fifth is Part II's dial.
Defaults change between releases. Confirm the values against the distribution in use — the next slide is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commands, and they are the actual answer to 'what is the default for X'.
The samples directory is the authoritative starting point for a properties file. The grep strips comments and blank lines so you see only what is actually set. The third one finds where a feature is wired in the scripts — useful for valcache in particular, whose flags moved between releases.
Where the distribution and this deck disagree, the distribution is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ship with the peer library and cost nothing to adopt.
d/sync-index returns a database whose INDEX — not merely whose log — includes a given t. d/sync waits on the log alone. Under light load the two look identical; under load, when indexing lags behind the log, they diverge, and code that assumed d/sync was enough starts reading through the memory index instead of the index it expected.
The tx-report queue lets any peer observe transactions as they land. The datom count in the example decomposes: 401 = 100 readings × 4 attributes + 1 :db/txInstant. A count that does not decompose is a signal about transaction shape.
In production the queue is used for audit, cache invalidation and CDC. In class, as a throughput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part follows from one fact: a peer is not stateless. It carries a cache, and that cache is the difference between a 10 ms read and a 1,000 ms one. A deployment procedure that treats peers as interchangeable stateless containers reproduces the Part III cold-cache burst on every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readiness probe that succeeds at process start reports a peer that is up and cold. It will accept traffic and serve every one of the first requests from storage.
The fix is to make readiness mean warm. Warm the segments the service actually reads — index ranges over the attributes it queries — and only then report ready. That moves the cold-read cost ahead of the first request instead of onto it.
Note pmap in warm!: warming uses the parallel-slice pattern from Part IV for a different purpose. And note that it returns basis-t alongside :ready? — useful for the read-your-writes contract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fresh peer starts at whatever t storage gives it. So a request that arrives just after a write made through a DIFFERENT peer can legitimately be served a database value that does not include that write. Nothing is broken; the peer is simply behind.
The contract that fixes it is to pass the t along with the request and have the reading peer d/sync to it before answering. That is the consistency contract of a multi-peer deployment, and it belongs in the request envelope — a header or a field — rather than in a sleep.
If what you need is the index rather than the log, sync-index, per Part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and step 1 is the one that differs from SQL.
Datomic schema is additive. A new attribute is a new entity; an old peer simply never asks about it. So you ship schema first, with no lock, no ALTER, no migration window and no coordination with the code rollout. That is what makes the rest of the order safe: by the time new code arrives, the schema it needs is already there.
Step 2 is Part III's mitigation number 3. Step 3 is the previous slide's warm!. Step 4 is Part II's failover, this time on purpose: start the new-version standby, stop the old active, spend one bounded write pause.
From a peer's point of view, a rolling transactor upgrade and a transactor crash are indistinguishable. The same mechanism handles both, which is what makes the measured window from Part II the relevant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verbs. Every part of the class attaches to one of them.
Fails: storage totally, the transactor for writes only, peers locally.
Waits: writers wait — during failover, and during throttling. Those are the only two places anything waits.
Scales: reads by peers × cores, writes by pipelining, and nothing scales inside one query.
Costs: storage, whenever a cache is cold.
The settings tables in Part V are lookups. This table is the model they operate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src/datomic_ops/exercises.clj. The exercise is entirely [MEM], so it does not depend on what each laptop has set up. E3 applies the Part IV slicing pattern and takes the longest.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Production class covers the paths and storage layers this class assumed. infra/HA.md has the two-transactor setup if Part II was not run live.
On Cloud: the model is the same and the operational surface is different. Query groups are Part IV's read scaling packaged as an autoscaling group, and failover is managed by the platform rather than by you. Everything in Parts I, III, IV and V still applies.
The failover drill is worth repeating on your own staging environment: the window depends on that infrastructure, so the applicable number is the measured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822960" y="5120640"/>
            <a:ext cx="457200" cy="457200"/>
          </a:xfrm>
          <a:prstGeom prst="rect">
            <a:avLst/>
          </a:prstGeom>
          <a:solidFill>
            <a:srgbClr val="A8864A"/>
          </a:solidFill>
          <a:ln/>
        </p:spPr>
      </p:sp>
      <p:sp>
        <p:nvSpPr>
          <p:cNvPr id="4" name="Shape 2"/>
          <p:cNvSpPr/>
          <p:nvPr/>
        </p:nvSpPr>
        <p:spPr>
          <a:xfrm>
            <a:off x="1463040" y="5120640"/>
            <a:ext cx="457200" cy="777240"/>
          </a:xfrm>
          <a:prstGeom prst="rect">
            <a:avLst/>
          </a:prstGeom>
          <a:solidFill>
            <a:srgbClr val="C6A46A"/>
          </a:solidFill>
          <a:ln/>
        </p:spPr>
      </p:sp>
      <p:sp>
        <p:nvSpPr>
          <p:cNvPr id="5" name="Shape 3"/>
          <p:cNvSpPr/>
          <p:nvPr/>
        </p:nvSpPr>
        <p:spPr>
          <a:xfrm>
            <a:off x="2103120" y="5120640"/>
            <a:ext cx="457200" cy="1097280"/>
          </a:xfrm>
          <a:prstGeom prst="rect">
            <a:avLst/>
          </a:prstGeom>
          <a:solidFill>
            <a:srgbClr val="C9BDA4"/>
          </a:solidFill>
          <a:ln/>
        </p:spPr>
      </p:sp>
      <p:sp>
        <p:nvSpPr>
          <p:cNvPr id="6" name="Shape 4"/>
          <p:cNvSpPr/>
          <p:nvPr/>
        </p:nvSpPr>
        <p:spPr>
          <a:xfrm>
            <a:off x="2743200" y="5120640"/>
            <a:ext cx="457200" cy="1417320"/>
          </a:xfrm>
          <a:prstGeom prst="rect">
            <a:avLst/>
          </a:prstGeom>
          <a:solidFill>
            <a:srgbClr val="FCFAF4"/>
          </a:solidFill>
          <a:ln/>
        </p:spPr>
      </p:sp>
      <p:sp>
        <p:nvSpPr>
          <p:cNvPr id="7" name="Text 5"/>
          <p:cNvSpPr/>
          <p:nvPr/>
        </p:nvSpPr>
        <p:spPr>
          <a:xfrm>
            <a:off x="822960" y="1737360"/>
            <a:ext cx="10515600" cy="320040"/>
          </a:xfrm>
          <a:prstGeom prst="rect">
            <a:avLst/>
          </a:prstGeom>
          <a:noFill/>
          <a:ln/>
        </p:spPr>
        <p:txBody>
          <a:bodyPr wrap="square" lIns="0" tIns="0" rIns="0" bIns="0" rtlCol="0" anchor="t"/>
          <a:lstStyle/>
          <a:p>
            <a:pPr indent="0" marL="0">
              <a:buNone/>
            </a:pPr>
            <a:r>
              <a:rPr lang="en-US" sz="1300" spc="300" kern="0" dirty="0">
                <a:solidFill>
                  <a:srgbClr val="C6A46A"/>
                </a:solidFill>
                <a:latin typeface="Helvetica Neue" pitchFamily="34" charset="0"/>
                <a:ea typeface="Helvetica Neue" pitchFamily="34" charset="-122"/>
                <a:cs typeface="Helvetica Neue" pitchFamily="34" charset="-120"/>
              </a:rPr>
              <a:t>A 2-HOUR CLASS + A 45-MINUTE INCIDENT</a:t>
            </a:r>
            <a:endParaRPr lang="en-US" sz="1300" dirty="0"/>
          </a:p>
        </p:txBody>
      </p:sp>
      <p:sp>
        <p:nvSpPr>
          <p:cNvPr id="8" name="Text 6"/>
          <p:cNvSpPr/>
          <p:nvPr/>
        </p:nvSpPr>
        <p:spPr>
          <a:xfrm>
            <a:off x="822960" y="2194560"/>
            <a:ext cx="10515600" cy="1097280"/>
          </a:xfrm>
          <a:prstGeom prst="rect">
            <a:avLst/>
          </a:prstGeom>
          <a:noFill/>
          <a:ln/>
        </p:spPr>
        <p:txBody>
          <a:bodyPr wrap="square" lIns="0" tIns="0" rIns="0" bIns="0" rtlCol="0" anchor="t"/>
          <a:lstStyle/>
          <a:p>
            <a:pPr indent="0" marL="0">
              <a:buNone/>
            </a:pPr>
            <a:r>
              <a:rPr lang="en-US" sz="4000" b="1" dirty="0">
                <a:solidFill>
                  <a:srgbClr val="FCFAF4"/>
                </a:solidFill>
                <a:latin typeface="Georgia" pitchFamily="34" charset="0"/>
                <a:ea typeface="Georgia" pitchFamily="34" charset="-122"/>
                <a:cs typeface="Georgia" pitchFamily="34" charset="-120"/>
              </a:rPr>
              <a:t>Datomic at Scale</a:t>
            </a:r>
            <a:endParaRPr lang="en-US" sz="4000" dirty="0"/>
          </a:p>
        </p:txBody>
      </p:sp>
      <p:sp>
        <p:nvSpPr>
          <p:cNvPr id="9" name="Text 7"/>
          <p:cNvSpPr/>
          <p:nvPr/>
        </p:nvSpPr>
        <p:spPr>
          <a:xfrm>
            <a:off x="822960" y="347472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Operations, parallelism, and the cost of a read</a:t>
            </a:r>
            <a:endParaRPr lang="en-US" sz="1600" dirty="0"/>
          </a:p>
        </p:txBody>
      </p:sp>
      <p:sp>
        <p:nvSpPr>
          <p:cNvPr id="10" name="Text 8"/>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FRAME</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How this deck works</a:t>
            </a:r>
            <a:endParaRPr lang="en-US" sz="2500" dirty="0"/>
          </a:p>
        </p:txBody>
      </p:sp>
      <p:sp>
        <p:nvSpPr>
          <p:cNvPr id="8" name="Shape 5"/>
          <p:cNvSpPr/>
          <p:nvPr/>
        </p:nvSpPr>
        <p:spPr>
          <a:xfrm>
            <a:off x="548640" y="1325880"/>
            <a:ext cx="3520440" cy="2286000"/>
          </a:xfrm>
          <a:prstGeom prst="roundRect">
            <a:avLst>
              <a:gd name="adj" fmla="val 3200"/>
            </a:avLst>
          </a:prstGeom>
          <a:solidFill>
            <a:srgbClr val="E6DFCE"/>
          </a:solidFill>
          <a:ln/>
        </p:spPr>
      </p:sp>
      <p:sp>
        <p:nvSpPr>
          <p:cNvPr id="9" name="Shape 6"/>
          <p:cNvSpPr/>
          <p:nvPr/>
        </p:nvSpPr>
        <p:spPr>
          <a:xfrm>
            <a:off x="548640" y="1325880"/>
            <a:ext cx="3520440" cy="384048"/>
          </a:xfrm>
          <a:prstGeom prst="roundRect">
            <a:avLst>
              <a:gd name="adj" fmla="val 19048"/>
            </a:avLst>
          </a:prstGeom>
          <a:solidFill>
            <a:srgbClr val="DFD6C0"/>
          </a:solidFill>
          <a:ln/>
        </p:spPr>
      </p:sp>
      <p:sp>
        <p:nvSpPr>
          <p:cNvPr id="10" name="Text 7"/>
          <p:cNvSpPr/>
          <p:nvPr/>
        </p:nvSpPr>
        <p:spPr>
          <a:xfrm>
            <a:off x="749808" y="1325880"/>
            <a:ext cx="31181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SLIDES</a:t>
            </a:r>
            <a:endParaRPr lang="en-US" sz="1250" dirty="0"/>
          </a:p>
        </p:txBody>
      </p:sp>
      <p:sp>
        <p:nvSpPr>
          <p:cNvPr id="11" name="Text 8"/>
          <p:cNvSpPr/>
          <p:nvPr/>
        </p:nvSpPr>
        <p:spPr>
          <a:xfrm>
            <a:off x="777240" y="1874520"/>
            <a:ext cx="3063240" cy="155448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model and the diagrams.</a:t>
            </a:r>
            <a:endParaRPr lang="en-US" sz="1350" dirty="0"/>
          </a:p>
          <a:p>
            <a:pPr indent="0" marL="0">
              <a:buNone/>
            </a:pP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Everything you need to follow</a:t>
            </a: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the class is projected.</a:t>
            </a:r>
            <a:endParaRPr lang="en-US" sz="1350" dirty="0"/>
          </a:p>
        </p:txBody>
      </p:sp>
      <p:sp>
        <p:nvSpPr>
          <p:cNvPr id="12" name="Shape 9"/>
          <p:cNvSpPr/>
          <p:nvPr/>
        </p:nvSpPr>
        <p:spPr>
          <a:xfrm>
            <a:off x="4297680" y="1325880"/>
            <a:ext cx="3520440" cy="2286000"/>
          </a:xfrm>
          <a:prstGeom prst="roundRect">
            <a:avLst>
              <a:gd name="adj" fmla="val 3200"/>
            </a:avLst>
          </a:prstGeom>
          <a:solidFill>
            <a:srgbClr val="E6DFCE"/>
          </a:solidFill>
          <a:ln/>
        </p:spPr>
      </p:sp>
      <p:sp>
        <p:nvSpPr>
          <p:cNvPr id="13" name="Shape 10"/>
          <p:cNvSpPr/>
          <p:nvPr/>
        </p:nvSpPr>
        <p:spPr>
          <a:xfrm>
            <a:off x="4297680" y="1325880"/>
            <a:ext cx="3520440" cy="384048"/>
          </a:xfrm>
          <a:prstGeom prst="roundRect">
            <a:avLst>
              <a:gd name="adj" fmla="val 19048"/>
            </a:avLst>
          </a:prstGeom>
          <a:solidFill>
            <a:srgbClr val="DFD6C0"/>
          </a:solidFill>
          <a:ln/>
        </p:spPr>
      </p:sp>
      <p:sp>
        <p:nvSpPr>
          <p:cNvPr id="14" name="Text 11"/>
          <p:cNvSpPr/>
          <p:nvPr/>
        </p:nvSpPr>
        <p:spPr>
          <a:xfrm>
            <a:off x="4498848" y="1325880"/>
            <a:ext cx="31181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LABS · src/datomic_ops/labs.clj</a:t>
            </a:r>
            <a:endParaRPr lang="en-US" sz="1250" dirty="0"/>
          </a:p>
        </p:txBody>
      </p:sp>
      <p:sp>
        <p:nvSpPr>
          <p:cNvPr id="15" name="Text 12"/>
          <p:cNvSpPr/>
          <p:nvPr/>
        </p:nvSpPr>
        <p:spPr>
          <a:xfrm>
            <a:off x="4526280" y="1874520"/>
            <a:ext cx="3063240" cy="155448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§0–§6, reached from the ⚑</a:t>
            </a: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waypoint boxes.</a:t>
            </a:r>
            <a:endParaRPr lang="en-US" sz="1350" dirty="0"/>
          </a:p>
          <a:p>
            <a:pPr indent="0" marL="0">
              <a:buNone/>
            </a:pP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Loosely coupled: take one early,</a:t>
            </a: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late, or not at all.</a:t>
            </a:r>
            <a:endParaRPr lang="en-US" sz="1350" dirty="0"/>
          </a:p>
        </p:txBody>
      </p:sp>
      <p:sp>
        <p:nvSpPr>
          <p:cNvPr id="16" name="Shape 13"/>
          <p:cNvSpPr/>
          <p:nvPr/>
        </p:nvSpPr>
        <p:spPr>
          <a:xfrm>
            <a:off x="8046720" y="1325880"/>
            <a:ext cx="3566160" cy="2286000"/>
          </a:xfrm>
          <a:prstGeom prst="roundRect">
            <a:avLst>
              <a:gd name="adj" fmla="val 3200"/>
            </a:avLst>
          </a:prstGeom>
          <a:solidFill>
            <a:srgbClr val="E6DFCE"/>
          </a:solidFill>
          <a:ln/>
        </p:spPr>
      </p:sp>
      <p:sp>
        <p:nvSpPr>
          <p:cNvPr id="17" name="Shape 14"/>
          <p:cNvSpPr/>
          <p:nvPr/>
        </p:nvSpPr>
        <p:spPr>
          <a:xfrm>
            <a:off x="8046720" y="1325880"/>
            <a:ext cx="3566160" cy="384048"/>
          </a:xfrm>
          <a:prstGeom prst="roundRect">
            <a:avLst>
              <a:gd name="adj" fmla="val 19048"/>
            </a:avLst>
          </a:prstGeom>
          <a:solidFill>
            <a:srgbClr val="DFD6C0"/>
          </a:solidFill>
          <a:ln/>
        </p:spPr>
      </p:sp>
      <p:sp>
        <p:nvSpPr>
          <p:cNvPr id="18" name="Text 15"/>
          <p:cNvSpPr/>
          <p:nvPr/>
        </p:nvSpPr>
        <p:spPr>
          <a:xfrm>
            <a:off x="8247888" y="1325880"/>
            <a:ext cx="316382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EXERCISE · exercises.clj</a:t>
            </a:r>
            <a:endParaRPr lang="en-US" sz="1250" dirty="0"/>
          </a:p>
        </p:txBody>
      </p:sp>
      <p:sp>
        <p:nvSpPr>
          <p:cNvPr id="19" name="Text 16"/>
          <p:cNvSpPr/>
          <p:nvPr/>
        </p:nvSpPr>
        <p:spPr>
          <a:xfrm>
            <a:off x="8275320" y="1874520"/>
            <a:ext cx="3108960" cy="155448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Incident, E1–E4.</a:t>
            </a:r>
            <a:endParaRPr lang="en-US" sz="1350" dirty="0"/>
          </a:p>
          <a:p>
            <a:pPr indent="0" marL="0">
              <a:buNone/>
            </a:pP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After the break, ~45 min,</a:t>
            </a: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fill-the-gaps with solutions.</a:t>
            </a:r>
            <a:endParaRPr lang="en-US" sz="1350" dirty="0"/>
          </a:p>
        </p:txBody>
      </p:sp>
      <p:sp>
        <p:nvSpPr>
          <p:cNvPr id="20" name="Shape 17"/>
          <p:cNvSpPr/>
          <p:nvPr/>
        </p:nvSpPr>
        <p:spPr>
          <a:xfrm>
            <a:off x="548640" y="3886200"/>
            <a:ext cx="5440680" cy="960120"/>
          </a:xfrm>
          <a:prstGeom prst="roundRect">
            <a:avLst>
              <a:gd name="adj" fmla="val 7619"/>
            </a:avLst>
          </a:prstGeom>
          <a:solidFill>
            <a:srgbClr val="DDE3CC"/>
          </a:solidFill>
          <a:ln/>
        </p:spPr>
      </p:sp>
      <p:sp>
        <p:nvSpPr>
          <p:cNvPr id="21" name="Shape 18"/>
          <p:cNvSpPr/>
          <p:nvPr/>
        </p:nvSpPr>
        <p:spPr>
          <a:xfrm>
            <a:off x="777240" y="4114800"/>
            <a:ext cx="777240" cy="292608"/>
          </a:xfrm>
          <a:prstGeom prst="roundRect">
            <a:avLst>
              <a:gd name="adj" fmla="val 25000"/>
            </a:avLst>
          </a:prstGeom>
          <a:solidFill>
            <a:srgbClr val="5F7A3A"/>
          </a:solidFill>
          <a:ln/>
        </p:spPr>
      </p:sp>
      <p:sp>
        <p:nvSpPr>
          <p:cNvPr id="22" name="Text 19"/>
          <p:cNvSpPr/>
          <p:nvPr/>
        </p:nvSpPr>
        <p:spPr>
          <a:xfrm>
            <a:off x="777240" y="4114800"/>
            <a:ext cx="777240" cy="292608"/>
          </a:xfrm>
          <a:prstGeom prst="rect">
            <a:avLst/>
          </a:prstGeom>
          <a:noFill/>
          <a:ln/>
        </p:spPr>
        <p:txBody>
          <a:bodyPr wrap="square" lIns="0" tIns="0" rIns="0" bIns="0" rtlCol="0" anchor="ctr"/>
          <a:lstStyle/>
          <a:p>
            <a:pPr algn="ctr" indent="0" marL="0">
              <a:buNone/>
            </a:pPr>
            <a:r>
              <a:rPr lang="en-US" sz="1100" b="1" dirty="0">
                <a:solidFill>
                  <a:srgbClr val="FCFAF4"/>
                </a:solidFill>
                <a:latin typeface="Helvetica Neue" pitchFamily="34" charset="0"/>
                <a:ea typeface="Helvetica Neue" pitchFamily="34" charset="-122"/>
                <a:cs typeface="Helvetica Neue" pitchFamily="34" charset="-120"/>
              </a:rPr>
              <a:t>[MEM]</a:t>
            </a:r>
            <a:endParaRPr lang="en-US" sz="1100" dirty="0"/>
          </a:p>
        </p:txBody>
      </p:sp>
      <p:sp>
        <p:nvSpPr>
          <p:cNvPr id="23" name="Text 20"/>
          <p:cNvSpPr/>
          <p:nvPr/>
        </p:nvSpPr>
        <p:spPr>
          <a:xfrm>
            <a:off x="1783080" y="4114800"/>
            <a:ext cx="4023360" cy="54864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runs on datomic:mem:// — nothing installed, works on every laptop</a:t>
            </a:r>
            <a:endParaRPr lang="en-US" sz="1250" dirty="0"/>
          </a:p>
        </p:txBody>
      </p:sp>
      <p:sp>
        <p:nvSpPr>
          <p:cNvPr id="24" name="Shape 21"/>
          <p:cNvSpPr/>
          <p:nvPr/>
        </p:nvSpPr>
        <p:spPr>
          <a:xfrm>
            <a:off x="6172200" y="3886200"/>
            <a:ext cx="5440680" cy="960120"/>
          </a:xfrm>
          <a:prstGeom prst="roundRect">
            <a:avLst>
              <a:gd name="adj" fmla="val 7619"/>
            </a:avLst>
          </a:prstGeom>
          <a:solidFill>
            <a:srgbClr val="EBD5CB"/>
          </a:solidFill>
          <a:ln/>
        </p:spPr>
      </p:sp>
      <p:sp>
        <p:nvSpPr>
          <p:cNvPr id="25" name="Shape 22"/>
          <p:cNvSpPr/>
          <p:nvPr/>
        </p:nvSpPr>
        <p:spPr>
          <a:xfrm>
            <a:off x="6400800" y="4114800"/>
            <a:ext cx="777240" cy="292608"/>
          </a:xfrm>
          <a:prstGeom prst="roundRect">
            <a:avLst>
              <a:gd name="adj" fmla="val 25000"/>
            </a:avLst>
          </a:prstGeom>
          <a:solidFill>
            <a:srgbClr val="9E4227"/>
          </a:solidFill>
          <a:ln/>
        </p:spPr>
      </p:sp>
      <p:sp>
        <p:nvSpPr>
          <p:cNvPr id="26" name="Text 23"/>
          <p:cNvSpPr/>
          <p:nvPr/>
        </p:nvSpPr>
        <p:spPr>
          <a:xfrm>
            <a:off x="6400800" y="4114800"/>
            <a:ext cx="777240" cy="292608"/>
          </a:xfrm>
          <a:prstGeom prst="rect">
            <a:avLst/>
          </a:prstGeom>
          <a:noFill/>
          <a:ln/>
        </p:spPr>
        <p:txBody>
          <a:bodyPr wrap="square" lIns="0" tIns="0" rIns="0" bIns="0" rtlCol="0" anchor="ctr"/>
          <a:lstStyle/>
          <a:p>
            <a:pPr algn="ctr" indent="0" marL="0">
              <a:buNone/>
            </a:pPr>
            <a:r>
              <a:rPr lang="en-US" sz="1100" b="1" dirty="0">
                <a:solidFill>
                  <a:srgbClr val="FCFAF4"/>
                </a:solidFill>
                <a:latin typeface="Helvetica Neue" pitchFamily="34" charset="0"/>
                <a:ea typeface="Helvetica Neue" pitchFamily="34" charset="-122"/>
                <a:cs typeface="Helvetica Neue" pitchFamily="34" charset="-120"/>
              </a:rPr>
              <a:t>[PRO]</a:t>
            </a:r>
            <a:endParaRPr lang="en-US" sz="1100" dirty="0"/>
          </a:p>
        </p:txBody>
      </p:sp>
      <p:sp>
        <p:nvSpPr>
          <p:cNvPr id="27" name="Text 24"/>
          <p:cNvSpPr/>
          <p:nvPr/>
        </p:nvSpPr>
        <p:spPr>
          <a:xfrm>
            <a:off x="7406640" y="4114800"/>
            <a:ext cx="4023360" cy="54864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needs Postgres + transactor(s) + $DATOMIC — see infra/HA.md</a:t>
            </a:r>
            <a:endParaRPr lang="en-US" sz="1250" dirty="0"/>
          </a:p>
        </p:txBody>
      </p:sp>
      <p:sp>
        <p:nvSpPr>
          <p:cNvPr id="28" name="Shape 25"/>
          <p:cNvSpPr/>
          <p:nvPr/>
        </p:nvSpPr>
        <p:spPr>
          <a:xfrm>
            <a:off x="548640" y="5120640"/>
            <a:ext cx="54864" cy="457200"/>
          </a:xfrm>
          <a:prstGeom prst="rect">
            <a:avLst/>
          </a:prstGeom>
          <a:solidFill>
            <a:srgbClr val="A8864A"/>
          </a:solidFill>
          <a:ln/>
        </p:spPr>
      </p:sp>
      <p:sp>
        <p:nvSpPr>
          <p:cNvPr id="29" name="Text 26"/>
          <p:cNvSpPr/>
          <p:nvPr/>
        </p:nvSpPr>
        <p:spPr>
          <a:xfrm>
            <a:off x="777240" y="51206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Assumed: Datomic in Production. Not repeated here: deployment map, write path, read path, backup/restore.</a:t>
            </a:r>
            <a:endParaRPr lang="en-US" sz="1450" dirty="0"/>
          </a:p>
        </p:txBody>
      </p:sp>
      <p:sp>
        <p:nvSpPr>
          <p:cNvPr id="30" name="Text 27"/>
          <p:cNvSpPr/>
          <p:nvPr/>
        </p:nvSpPr>
        <p:spPr>
          <a:xfrm>
            <a:off x="548640" y="576072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Setup: clj -M:repl covers every [MEM] lab and the whole exercise.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FRAME</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Two hours, six questions</a:t>
            </a:r>
            <a:endParaRPr lang="en-US" sz="2500" dirty="0"/>
          </a:p>
        </p:txBody>
      </p:sp>
      <p:sp>
        <p:nvSpPr>
          <p:cNvPr id="8" name="Shape 5"/>
          <p:cNvSpPr/>
          <p:nvPr/>
        </p:nvSpPr>
        <p:spPr>
          <a:xfrm>
            <a:off x="548640" y="1371600"/>
            <a:ext cx="11064240" cy="512064"/>
          </a:xfrm>
          <a:prstGeom prst="rect">
            <a:avLst/>
          </a:prstGeom>
          <a:solidFill>
            <a:srgbClr val="E6DFCE"/>
          </a:solidFill>
          <a:ln/>
        </p:spPr>
      </p:sp>
      <p:sp>
        <p:nvSpPr>
          <p:cNvPr id="9" name="Text 6"/>
          <p:cNvSpPr/>
          <p:nvPr/>
        </p:nvSpPr>
        <p:spPr>
          <a:xfrm>
            <a:off x="731520" y="1371600"/>
            <a:ext cx="914400" cy="512064"/>
          </a:xfrm>
          <a:prstGeom prst="rect">
            <a:avLst/>
          </a:prstGeom>
          <a:noFill/>
          <a:ln/>
        </p:spPr>
        <p:txBody>
          <a:bodyPr wrap="square" lIns="0" tIns="0" rIns="0" bIns="0" rtlCol="0" anchor="ctr"/>
          <a:lstStyle/>
          <a:p>
            <a:pPr indent="0" marL="0">
              <a:buNone/>
            </a:pPr>
            <a:r>
              <a:rPr lang="en-US" sz="1400" dirty="0">
                <a:solidFill>
                  <a:srgbClr val="A8864A"/>
                </a:solidFill>
                <a:latin typeface="Courier New" pitchFamily="34" charset="0"/>
                <a:ea typeface="Courier New" pitchFamily="34" charset="-122"/>
                <a:cs typeface="Courier New" pitchFamily="34" charset="-120"/>
              </a:rPr>
              <a:t>0:00</a:t>
            </a:r>
            <a:endParaRPr lang="en-US" sz="1400" dirty="0"/>
          </a:p>
        </p:txBody>
      </p:sp>
      <p:sp>
        <p:nvSpPr>
          <p:cNvPr id="10" name="Text 7"/>
          <p:cNvSpPr/>
          <p:nvPr/>
        </p:nvSpPr>
        <p:spPr>
          <a:xfrm>
            <a:off x="1828800" y="1371600"/>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The failure map</a:t>
            </a:r>
            <a:endParaRPr lang="en-US" sz="1550" dirty="0"/>
          </a:p>
        </p:txBody>
      </p:sp>
      <p:sp>
        <p:nvSpPr>
          <p:cNvPr id="11" name="Text 8"/>
          <p:cNvSpPr/>
          <p:nvPr/>
        </p:nvSpPr>
        <p:spPr>
          <a:xfrm>
            <a:off x="6675120" y="1371600"/>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what breaks, and how?</a:t>
            </a:r>
            <a:endParaRPr lang="en-US" sz="1400" dirty="0"/>
          </a:p>
        </p:txBody>
      </p:sp>
      <p:sp>
        <p:nvSpPr>
          <p:cNvPr id="12" name="Text 9"/>
          <p:cNvSpPr/>
          <p:nvPr/>
        </p:nvSpPr>
        <p:spPr>
          <a:xfrm>
            <a:off x="731520" y="1938528"/>
            <a:ext cx="914400" cy="512064"/>
          </a:xfrm>
          <a:prstGeom prst="rect">
            <a:avLst/>
          </a:prstGeom>
          <a:noFill/>
          <a:ln/>
        </p:spPr>
        <p:txBody>
          <a:bodyPr wrap="square" lIns="0" tIns="0" rIns="0" bIns="0" rtlCol="0" anchor="ctr"/>
          <a:lstStyle/>
          <a:p>
            <a:pPr indent="0" marL="0">
              <a:buNone/>
            </a:pPr>
            <a:r>
              <a:rPr lang="en-US" sz="1400" dirty="0">
                <a:solidFill>
                  <a:srgbClr val="A8864A"/>
                </a:solidFill>
                <a:latin typeface="Courier New" pitchFamily="34" charset="0"/>
                <a:ea typeface="Courier New" pitchFamily="34" charset="-122"/>
                <a:cs typeface="Courier New" pitchFamily="34" charset="-120"/>
              </a:rPr>
              <a:t>0:12</a:t>
            </a:r>
            <a:endParaRPr lang="en-US" sz="1400" dirty="0"/>
          </a:p>
        </p:txBody>
      </p:sp>
      <p:sp>
        <p:nvSpPr>
          <p:cNvPr id="13" name="Text 10"/>
          <p:cNvSpPr/>
          <p:nvPr/>
        </p:nvSpPr>
        <p:spPr>
          <a:xfrm>
            <a:off x="1828800" y="1938528"/>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High availability</a:t>
            </a:r>
            <a:endParaRPr lang="en-US" sz="1550" dirty="0"/>
          </a:p>
        </p:txBody>
      </p:sp>
      <p:sp>
        <p:nvSpPr>
          <p:cNvPr id="14" name="Text 11"/>
          <p:cNvSpPr/>
          <p:nvPr/>
        </p:nvSpPr>
        <p:spPr>
          <a:xfrm>
            <a:off x="6675120" y="1938528"/>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who takes over, and how fast?</a:t>
            </a:r>
            <a:endParaRPr lang="en-US" sz="1400" dirty="0"/>
          </a:p>
        </p:txBody>
      </p:sp>
      <p:sp>
        <p:nvSpPr>
          <p:cNvPr id="15" name="Shape 12"/>
          <p:cNvSpPr/>
          <p:nvPr/>
        </p:nvSpPr>
        <p:spPr>
          <a:xfrm>
            <a:off x="548640" y="2505456"/>
            <a:ext cx="11064240" cy="512064"/>
          </a:xfrm>
          <a:prstGeom prst="rect">
            <a:avLst/>
          </a:prstGeom>
          <a:solidFill>
            <a:srgbClr val="E6DFCE"/>
          </a:solidFill>
          <a:ln/>
        </p:spPr>
      </p:sp>
      <p:sp>
        <p:nvSpPr>
          <p:cNvPr id="16" name="Text 13"/>
          <p:cNvSpPr/>
          <p:nvPr/>
        </p:nvSpPr>
        <p:spPr>
          <a:xfrm>
            <a:off x="731520" y="2505456"/>
            <a:ext cx="914400" cy="512064"/>
          </a:xfrm>
          <a:prstGeom prst="rect">
            <a:avLst/>
          </a:prstGeom>
          <a:noFill/>
          <a:ln/>
        </p:spPr>
        <p:txBody>
          <a:bodyPr wrap="square" lIns="0" tIns="0" rIns="0" bIns="0" rtlCol="0" anchor="ctr"/>
          <a:lstStyle/>
          <a:p>
            <a:pPr indent="0" marL="0">
              <a:buNone/>
            </a:pPr>
            <a:r>
              <a:rPr lang="en-US" sz="1400" dirty="0">
                <a:solidFill>
                  <a:srgbClr val="A8864A"/>
                </a:solidFill>
                <a:latin typeface="Courier New" pitchFamily="34" charset="0"/>
                <a:ea typeface="Courier New" pitchFamily="34" charset="-122"/>
                <a:cs typeface="Courier New" pitchFamily="34" charset="-120"/>
              </a:rPr>
              <a:t>0:38</a:t>
            </a:r>
            <a:endParaRPr lang="en-US" sz="1400" dirty="0"/>
          </a:p>
        </p:txBody>
      </p:sp>
      <p:sp>
        <p:nvSpPr>
          <p:cNvPr id="17" name="Text 14"/>
          <p:cNvSpPr/>
          <p:nvPr/>
        </p:nvSpPr>
        <p:spPr>
          <a:xfrm>
            <a:off x="1828800" y="2505456"/>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The cost of a read</a:t>
            </a:r>
            <a:endParaRPr lang="en-US" sz="1550" dirty="0"/>
          </a:p>
        </p:txBody>
      </p:sp>
      <p:sp>
        <p:nvSpPr>
          <p:cNvPr id="18" name="Text 15"/>
          <p:cNvSpPr/>
          <p:nvPr/>
        </p:nvSpPr>
        <p:spPr>
          <a:xfrm>
            <a:off x="6675120" y="2505456"/>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which tier answered?</a:t>
            </a:r>
            <a:endParaRPr lang="en-US" sz="1400" dirty="0"/>
          </a:p>
        </p:txBody>
      </p:sp>
      <p:sp>
        <p:nvSpPr>
          <p:cNvPr id="19" name="Text 16"/>
          <p:cNvSpPr/>
          <p:nvPr/>
        </p:nvSpPr>
        <p:spPr>
          <a:xfrm>
            <a:off x="731520" y="3072384"/>
            <a:ext cx="914400" cy="512064"/>
          </a:xfrm>
          <a:prstGeom prst="rect">
            <a:avLst/>
          </a:prstGeom>
          <a:noFill/>
          <a:ln/>
        </p:spPr>
        <p:txBody>
          <a:bodyPr wrap="square" lIns="0" tIns="0" rIns="0" bIns="0" rtlCol="0" anchor="ctr"/>
          <a:lstStyle/>
          <a:p>
            <a:pPr indent="0" marL="0">
              <a:buNone/>
            </a:pPr>
            <a:r>
              <a:rPr lang="en-US" sz="1400" dirty="0">
                <a:solidFill>
                  <a:srgbClr val="9A8A72"/>
                </a:solidFill>
                <a:latin typeface="Courier New" pitchFamily="34" charset="0"/>
                <a:ea typeface="Courier New" pitchFamily="34" charset="-122"/>
                <a:cs typeface="Courier New" pitchFamily="34" charset="-120"/>
              </a:rPr>
              <a:t>1:02</a:t>
            </a:r>
            <a:endParaRPr lang="en-US" sz="1400" dirty="0"/>
          </a:p>
        </p:txBody>
      </p:sp>
      <p:sp>
        <p:nvSpPr>
          <p:cNvPr id="20" name="Text 17"/>
          <p:cNvSpPr/>
          <p:nvPr/>
        </p:nvSpPr>
        <p:spPr>
          <a:xfrm>
            <a:off x="1828800" y="3072384"/>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 Break — 10 min</a:t>
            </a:r>
            <a:endParaRPr lang="en-US" sz="1550" dirty="0"/>
          </a:p>
        </p:txBody>
      </p:sp>
      <p:sp>
        <p:nvSpPr>
          <p:cNvPr id="21" name="Text 18"/>
          <p:cNvSpPr/>
          <p:nvPr/>
        </p:nvSpPr>
        <p:spPr>
          <a:xfrm>
            <a:off x="6675120" y="3072384"/>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a:t>
            </a:r>
            <a:endParaRPr lang="en-US" sz="1400" dirty="0"/>
          </a:p>
        </p:txBody>
      </p:sp>
      <p:sp>
        <p:nvSpPr>
          <p:cNvPr id="22" name="Shape 19"/>
          <p:cNvSpPr/>
          <p:nvPr/>
        </p:nvSpPr>
        <p:spPr>
          <a:xfrm>
            <a:off x="548640" y="3639312"/>
            <a:ext cx="11064240" cy="512064"/>
          </a:xfrm>
          <a:prstGeom prst="rect">
            <a:avLst/>
          </a:prstGeom>
          <a:solidFill>
            <a:srgbClr val="E6DFCE"/>
          </a:solidFill>
          <a:ln/>
        </p:spPr>
      </p:sp>
      <p:sp>
        <p:nvSpPr>
          <p:cNvPr id="23" name="Text 20"/>
          <p:cNvSpPr/>
          <p:nvPr/>
        </p:nvSpPr>
        <p:spPr>
          <a:xfrm>
            <a:off x="731520" y="3639312"/>
            <a:ext cx="914400" cy="512064"/>
          </a:xfrm>
          <a:prstGeom prst="rect">
            <a:avLst/>
          </a:prstGeom>
          <a:noFill/>
          <a:ln/>
        </p:spPr>
        <p:txBody>
          <a:bodyPr wrap="square" lIns="0" tIns="0" rIns="0" bIns="0" rtlCol="0" anchor="ctr"/>
          <a:lstStyle/>
          <a:p>
            <a:pPr indent="0" marL="0">
              <a:buNone/>
            </a:pPr>
            <a:r>
              <a:rPr lang="en-US" sz="1400" dirty="0">
                <a:solidFill>
                  <a:srgbClr val="A8864A"/>
                </a:solidFill>
                <a:latin typeface="Courier New" pitchFamily="34" charset="0"/>
                <a:ea typeface="Courier New" pitchFamily="34" charset="-122"/>
                <a:cs typeface="Courier New" pitchFamily="34" charset="-120"/>
              </a:rPr>
              <a:t>1:12</a:t>
            </a:r>
            <a:endParaRPr lang="en-US" sz="1400" dirty="0"/>
          </a:p>
        </p:txBody>
      </p:sp>
      <p:sp>
        <p:nvSpPr>
          <p:cNvPr id="24" name="Text 21"/>
          <p:cNvSpPr/>
          <p:nvPr/>
        </p:nvSpPr>
        <p:spPr>
          <a:xfrm>
            <a:off x="1828800" y="3639312"/>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Parallelism</a:t>
            </a:r>
            <a:endParaRPr lang="en-US" sz="1550" dirty="0"/>
          </a:p>
        </p:txBody>
      </p:sp>
      <p:sp>
        <p:nvSpPr>
          <p:cNvPr id="25" name="Text 22"/>
          <p:cNvSpPr/>
          <p:nvPr/>
        </p:nvSpPr>
        <p:spPr>
          <a:xfrm>
            <a:off x="6675120" y="3639312"/>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what scales, and what does not?</a:t>
            </a:r>
            <a:endParaRPr lang="en-US" sz="1400" dirty="0"/>
          </a:p>
        </p:txBody>
      </p:sp>
      <p:sp>
        <p:nvSpPr>
          <p:cNvPr id="26" name="Text 23"/>
          <p:cNvSpPr/>
          <p:nvPr/>
        </p:nvSpPr>
        <p:spPr>
          <a:xfrm>
            <a:off x="731520" y="4206240"/>
            <a:ext cx="914400" cy="512064"/>
          </a:xfrm>
          <a:prstGeom prst="rect">
            <a:avLst/>
          </a:prstGeom>
          <a:noFill/>
          <a:ln/>
        </p:spPr>
        <p:txBody>
          <a:bodyPr wrap="square" lIns="0" tIns="0" rIns="0" bIns="0" rtlCol="0" anchor="ctr"/>
          <a:lstStyle/>
          <a:p>
            <a:pPr indent="0" marL="0">
              <a:buNone/>
            </a:pPr>
            <a:r>
              <a:rPr lang="en-US" sz="1400" dirty="0">
                <a:solidFill>
                  <a:srgbClr val="A8864A"/>
                </a:solidFill>
                <a:latin typeface="Courier New" pitchFamily="34" charset="0"/>
                <a:ea typeface="Courier New" pitchFamily="34" charset="-122"/>
                <a:cs typeface="Courier New" pitchFamily="34" charset="-120"/>
              </a:rPr>
              <a:t>1:38</a:t>
            </a:r>
            <a:endParaRPr lang="en-US" sz="1400" dirty="0"/>
          </a:p>
        </p:txBody>
      </p:sp>
      <p:sp>
        <p:nvSpPr>
          <p:cNvPr id="27" name="Text 24"/>
          <p:cNvSpPr/>
          <p:nvPr/>
        </p:nvSpPr>
        <p:spPr>
          <a:xfrm>
            <a:off x="1828800" y="4206240"/>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Settings &amp; signals</a:t>
            </a:r>
            <a:endParaRPr lang="en-US" sz="1550" dirty="0"/>
          </a:p>
        </p:txBody>
      </p:sp>
      <p:sp>
        <p:nvSpPr>
          <p:cNvPr id="28" name="Text 25"/>
          <p:cNvSpPr/>
          <p:nvPr/>
        </p:nvSpPr>
        <p:spPr>
          <a:xfrm>
            <a:off x="6675120" y="4206240"/>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which knob, and what does it affect?</a:t>
            </a:r>
            <a:endParaRPr lang="en-US" sz="1400" dirty="0"/>
          </a:p>
        </p:txBody>
      </p:sp>
      <p:sp>
        <p:nvSpPr>
          <p:cNvPr id="29" name="Shape 26"/>
          <p:cNvSpPr/>
          <p:nvPr/>
        </p:nvSpPr>
        <p:spPr>
          <a:xfrm>
            <a:off x="548640" y="4773168"/>
            <a:ext cx="11064240" cy="512064"/>
          </a:xfrm>
          <a:prstGeom prst="rect">
            <a:avLst/>
          </a:prstGeom>
          <a:solidFill>
            <a:srgbClr val="E6DFCE"/>
          </a:solidFill>
          <a:ln/>
        </p:spPr>
      </p:sp>
      <p:sp>
        <p:nvSpPr>
          <p:cNvPr id="30" name="Text 27"/>
          <p:cNvSpPr/>
          <p:nvPr/>
        </p:nvSpPr>
        <p:spPr>
          <a:xfrm>
            <a:off x="731520" y="4773168"/>
            <a:ext cx="914400" cy="512064"/>
          </a:xfrm>
          <a:prstGeom prst="rect">
            <a:avLst/>
          </a:prstGeom>
          <a:noFill/>
          <a:ln/>
        </p:spPr>
        <p:txBody>
          <a:bodyPr wrap="square" lIns="0" tIns="0" rIns="0" bIns="0" rtlCol="0" anchor="ctr"/>
          <a:lstStyle/>
          <a:p>
            <a:pPr indent="0" marL="0">
              <a:buNone/>
            </a:pPr>
            <a:r>
              <a:rPr lang="en-US" sz="1400" dirty="0">
                <a:solidFill>
                  <a:srgbClr val="A8864A"/>
                </a:solidFill>
                <a:latin typeface="Courier New" pitchFamily="34" charset="0"/>
                <a:ea typeface="Courier New" pitchFamily="34" charset="-122"/>
                <a:cs typeface="Courier New" pitchFamily="34" charset="-120"/>
              </a:rPr>
              <a:t>1:52</a:t>
            </a:r>
            <a:endParaRPr lang="en-US" sz="1400" dirty="0"/>
          </a:p>
        </p:txBody>
      </p:sp>
      <p:sp>
        <p:nvSpPr>
          <p:cNvPr id="31" name="Text 28"/>
          <p:cNvSpPr/>
          <p:nvPr/>
        </p:nvSpPr>
        <p:spPr>
          <a:xfrm>
            <a:off x="1828800" y="4773168"/>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Deployment</a:t>
            </a:r>
            <a:endParaRPr lang="en-US" sz="1550" dirty="0"/>
          </a:p>
        </p:txBody>
      </p:sp>
      <p:sp>
        <p:nvSpPr>
          <p:cNvPr id="32" name="Text 29"/>
          <p:cNvSpPr/>
          <p:nvPr/>
        </p:nvSpPr>
        <p:spPr>
          <a:xfrm>
            <a:off x="6675120" y="4773168"/>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how are peers shipped?</a:t>
            </a:r>
            <a:endParaRPr lang="en-US" sz="1400" dirty="0"/>
          </a:p>
        </p:txBody>
      </p:sp>
      <p:sp>
        <p:nvSpPr>
          <p:cNvPr id="33" name="Text 30"/>
          <p:cNvSpPr/>
          <p:nvPr/>
        </p:nvSpPr>
        <p:spPr>
          <a:xfrm>
            <a:off x="731520" y="5340096"/>
            <a:ext cx="914400" cy="512064"/>
          </a:xfrm>
          <a:prstGeom prst="rect">
            <a:avLst/>
          </a:prstGeom>
          <a:noFill/>
          <a:ln/>
        </p:spPr>
        <p:txBody>
          <a:bodyPr wrap="square" lIns="0" tIns="0" rIns="0" bIns="0" rtlCol="0" anchor="ctr"/>
          <a:lstStyle/>
          <a:p>
            <a:pPr indent="0" marL="0">
              <a:buNone/>
            </a:pPr>
            <a:r>
              <a:rPr lang="en-US" sz="1400" dirty="0">
                <a:solidFill>
                  <a:srgbClr val="9E4227"/>
                </a:solidFill>
                <a:latin typeface="Courier New" pitchFamily="34" charset="0"/>
                <a:ea typeface="Courier New" pitchFamily="34" charset="-122"/>
                <a:cs typeface="Courier New" pitchFamily="34" charset="-120"/>
              </a:rPr>
              <a:t>2:00</a:t>
            </a:r>
            <a:endParaRPr lang="en-US" sz="1400" dirty="0"/>
          </a:p>
        </p:txBody>
      </p:sp>
      <p:sp>
        <p:nvSpPr>
          <p:cNvPr id="34" name="Text 31"/>
          <p:cNvSpPr/>
          <p:nvPr/>
        </p:nvSpPr>
        <p:spPr>
          <a:xfrm>
            <a:off x="1828800" y="5340096"/>
            <a:ext cx="4754880" cy="512064"/>
          </a:xfrm>
          <a:prstGeom prst="rect">
            <a:avLst/>
          </a:prstGeom>
          <a:noFill/>
          <a:ln/>
        </p:spPr>
        <p:txBody>
          <a:bodyPr wrap="square" lIns="0" tIns="0" rIns="0" bIns="0" rtlCol="0" anchor="ctr">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 The Incident (E1–E4)</a:t>
            </a:r>
            <a:endParaRPr lang="en-US" sz="1550" dirty="0"/>
          </a:p>
        </p:txBody>
      </p:sp>
      <p:sp>
        <p:nvSpPr>
          <p:cNvPr id="35" name="Text 32"/>
          <p:cNvSpPr/>
          <p:nvPr/>
        </p:nvSpPr>
        <p:spPr>
          <a:xfrm>
            <a:off x="6675120" y="5340096"/>
            <a:ext cx="4754880" cy="512064"/>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~45 min, continues past the hour</a:t>
            </a:r>
            <a:endParaRPr lang="en-US" sz="1400" dirty="0"/>
          </a:p>
        </p:txBody>
      </p:sp>
      <p:sp>
        <p:nvSpPr>
          <p:cNvPr id="36" name="Text 33"/>
          <p:cNvSpPr/>
          <p:nvPr/>
        </p:nvSpPr>
        <p:spPr>
          <a:xfrm>
            <a:off x="548640" y="603504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Setup: infra/HA.md for the live Part II lab. Otherwise clj -M:repl covers the [MEM] labs and the whole exercise.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The failure map</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Four components · four different failures · one of them an outage</a:t>
            </a:r>
            <a:endParaRPr lang="en-US" sz="1600" dirty="0"/>
          </a:p>
        </p:txBody>
      </p:sp>
      <p:sp>
        <p:nvSpPr>
          <p:cNvPr id="7" name="Text 5"/>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THE FAILURE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5</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Four components, and where the work happens</a:t>
            </a:r>
            <a:endParaRPr lang="en-US" sz="2500" dirty="0"/>
          </a:p>
        </p:txBody>
      </p:sp>
      <p:sp>
        <p:nvSpPr>
          <p:cNvPr id="8" name="Shape 5"/>
          <p:cNvSpPr/>
          <p:nvPr/>
        </p:nvSpPr>
        <p:spPr>
          <a:xfrm>
            <a:off x="2194560" y="1316736"/>
            <a:ext cx="1737360" cy="658368"/>
          </a:xfrm>
          <a:prstGeom prst="roundRect">
            <a:avLst>
              <a:gd name="adj" fmla="val 8333"/>
            </a:avLst>
          </a:prstGeom>
          <a:solidFill>
            <a:srgbClr val="D3DEE1"/>
          </a:solidFill>
          <a:ln w="15875">
            <a:solidFill>
              <a:srgbClr val="3F6470"/>
            </a:solidFill>
            <a:prstDash val="solid"/>
          </a:ln>
        </p:spPr>
      </p:sp>
      <p:sp>
        <p:nvSpPr>
          <p:cNvPr id="9" name="Text 6"/>
          <p:cNvSpPr/>
          <p:nvPr/>
        </p:nvSpPr>
        <p:spPr>
          <a:xfrm>
            <a:off x="2267712" y="1316736"/>
            <a:ext cx="1591056" cy="658368"/>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peer</a:t>
            </a:r>
            <a:endParaRPr lang="en-US" sz="1400" dirty="0"/>
          </a:p>
        </p:txBody>
      </p:sp>
      <p:sp>
        <p:nvSpPr>
          <p:cNvPr id="10" name="Shape 7"/>
          <p:cNvSpPr/>
          <p:nvPr/>
        </p:nvSpPr>
        <p:spPr>
          <a:xfrm>
            <a:off x="3063240" y="1975104"/>
            <a:ext cx="0" cy="512064"/>
          </a:xfrm>
          <a:prstGeom prst="line">
            <a:avLst/>
          </a:prstGeom>
          <a:noFill/>
          <a:ln w="19050">
            <a:solidFill>
              <a:srgbClr val="3F6470"/>
            </a:solidFill>
            <a:prstDash val="solid"/>
            <a:headEnd type="none"/>
            <a:tailEnd type="none"/>
          </a:ln>
        </p:spPr>
      </p:sp>
      <p:sp>
        <p:nvSpPr>
          <p:cNvPr id="11" name="Shape 8"/>
          <p:cNvSpPr/>
          <p:nvPr/>
        </p:nvSpPr>
        <p:spPr>
          <a:xfrm>
            <a:off x="3063240" y="2816352"/>
            <a:ext cx="0" cy="704088"/>
          </a:xfrm>
          <a:prstGeom prst="line">
            <a:avLst/>
          </a:prstGeom>
          <a:noFill/>
          <a:ln w="19050">
            <a:solidFill>
              <a:srgbClr val="3F6470"/>
            </a:solidFill>
            <a:prstDash val="solid"/>
            <a:headEnd type="none"/>
            <a:tailEnd type="triangle"/>
          </a:ln>
        </p:spPr>
      </p:sp>
      <p:sp>
        <p:nvSpPr>
          <p:cNvPr id="12" name="Shape 9"/>
          <p:cNvSpPr/>
          <p:nvPr/>
        </p:nvSpPr>
        <p:spPr>
          <a:xfrm>
            <a:off x="4572000" y="1316736"/>
            <a:ext cx="1737360" cy="658368"/>
          </a:xfrm>
          <a:prstGeom prst="roundRect">
            <a:avLst>
              <a:gd name="adj" fmla="val 8333"/>
            </a:avLst>
          </a:prstGeom>
          <a:solidFill>
            <a:srgbClr val="D3DEE1"/>
          </a:solidFill>
          <a:ln w="15875">
            <a:solidFill>
              <a:srgbClr val="3F6470"/>
            </a:solidFill>
            <a:prstDash val="solid"/>
          </a:ln>
        </p:spPr>
      </p:sp>
      <p:sp>
        <p:nvSpPr>
          <p:cNvPr id="13" name="Text 10"/>
          <p:cNvSpPr/>
          <p:nvPr/>
        </p:nvSpPr>
        <p:spPr>
          <a:xfrm>
            <a:off x="4645152" y="1316736"/>
            <a:ext cx="1591056" cy="658368"/>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peer</a:t>
            </a:r>
            <a:endParaRPr lang="en-US" sz="1400" dirty="0"/>
          </a:p>
        </p:txBody>
      </p:sp>
      <p:sp>
        <p:nvSpPr>
          <p:cNvPr id="14" name="Shape 11"/>
          <p:cNvSpPr/>
          <p:nvPr/>
        </p:nvSpPr>
        <p:spPr>
          <a:xfrm>
            <a:off x="5440680" y="1975104"/>
            <a:ext cx="0" cy="512064"/>
          </a:xfrm>
          <a:prstGeom prst="line">
            <a:avLst/>
          </a:prstGeom>
          <a:noFill/>
          <a:ln w="19050">
            <a:solidFill>
              <a:srgbClr val="3F6470"/>
            </a:solidFill>
            <a:prstDash val="solid"/>
            <a:headEnd type="none"/>
            <a:tailEnd type="none"/>
          </a:ln>
        </p:spPr>
      </p:sp>
      <p:sp>
        <p:nvSpPr>
          <p:cNvPr id="15" name="Shape 12"/>
          <p:cNvSpPr/>
          <p:nvPr/>
        </p:nvSpPr>
        <p:spPr>
          <a:xfrm>
            <a:off x="5440680" y="2816352"/>
            <a:ext cx="0" cy="704088"/>
          </a:xfrm>
          <a:prstGeom prst="line">
            <a:avLst/>
          </a:prstGeom>
          <a:noFill/>
          <a:ln w="19050">
            <a:solidFill>
              <a:srgbClr val="3F6470"/>
            </a:solidFill>
            <a:prstDash val="solid"/>
            <a:headEnd type="none"/>
            <a:tailEnd type="triangle"/>
          </a:ln>
        </p:spPr>
      </p:sp>
      <p:sp>
        <p:nvSpPr>
          <p:cNvPr id="16" name="Shape 13"/>
          <p:cNvSpPr/>
          <p:nvPr/>
        </p:nvSpPr>
        <p:spPr>
          <a:xfrm>
            <a:off x="6949440" y="1316736"/>
            <a:ext cx="1737360" cy="658368"/>
          </a:xfrm>
          <a:prstGeom prst="roundRect">
            <a:avLst>
              <a:gd name="adj" fmla="val 8333"/>
            </a:avLst>
          </a:prstGeom>
          <a:solidFill>
            <a:srgbClr val="D3DEE1"/>
          </a:solidFill>
          <a:ln w="15875">
            <a:solidFill>
              <a:srgbClr val="3F6470"/>
            </a:solidFill>
            <a:prstDash val="solid"/>
          </a:ln>
        </p:spPr>
      </p:sp>
      <p:sp>
        <p:nvSpPr>
          <p:cNvPr id="17" name="Text 14"/>
          <p:cNvSpPr/>
          <p:nvPr/>
        </p:nvSpPr>
        <p:spPr>
          <a:xfrm>
            <a:off x="7022592" y="1316736"/>
            <a:ext cx="1591056" cy="658368"/>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peer</a:t>
            </a:r>
            <a:endParaRPr lang="en-US" sz="1400" dirty="0"/>
          </a:p>
        </p:txBody>
      </p:sp>
      <p:sp>
        <p:nvSpPr>
          <p:cNvPr id="18" name="Shape 15"/>
          <p:cNvSpPr/>
          <p:nvPr/>
        </p:nvSpPr>
        <p:spPr>
          <a:xfrm>
            <a:off x="7818120" y="1975104"/>
            <a:ext cx="0" cy="512064"/>
          </a:xfrm>
          <a:prstGeom prst="line">
            <a:avLst/>
          </a:prstGeom>
          <a:noFill/>
          <a:ln w="19050">
            <a:solidFill>
              <a:srgbClr val="3F6470"/>
            </a:solidFill>
            <a:prstDash val="solid"/>
            <a:headEnd type="none"/>
            <a:tailEnd type="none"/>
          </a:ln>
        </p:spPr>
      </p:sp>
      <p:sp>
        <p:nvSpPr>
          <p:cNvPr id="19" name="Shape 16"/>
          <p:cNvSpPr/>
          <p:nvPr/>
        </p:nvSpPr>
        <p:spPr>
          <a:xfrm>
            <a:off x="7818120" y="2816352"/>
            <a:ext cx="0" cy="704088"/>
          </a:xfrm>
          <a:prstGeom prst="line">
            <a:avLst/>
          </a:prstGeom>
          <a:noFill/>
          <a:ln w="19050">
            <a:solidFill>
              <a:srgbClr val="3F6470"/>
            </a:solidFill>
            <a:prstDash val="solid"/>
            <a:headEnd type="none"/>
            <a:tailEnd type="triangle"/>
          </a:ln>
        </p:spPr>
      </p:sp>
      <p:sp>
        <p:nvSpPr>
          <p:cNvPr id="20" name="Text 17"/>
          <p:cNvSpPr/>
          <p:nvPr/>
        </p:nvSpPr>
        <p:spPr>
          <a:xfrm>
            <a:off x="8138160" y="1316736"/>
            <a:ext cx="3291840" cy="731520"/>
          </a:xfrm>
          <a:prstGeom prst="rect">
            <a:avLst/>
          </a:prstGeom>
          <a:noFill/>
          <a:ln/>
        </p:spPr>
        <p:txBody>
          <a:bodyPr wrap="square" lIns="0" tIns="0" rIns="0" bIns="0" rtlCol="0" anchor="t"/>
          <a:lstStyle/>
          <a:p>
            <a:pPr indent="0" marL="0">
              <a:buNone/>
            </a:pPr>
            <a:r>
              <a:rPr lang="en-US" sz="1300" b="1" dirty="0">
                <a:solidFill>
                  <a:srgbClr val="3F6470"/>
                </a:solidFill>
                <a:latin typeface="Helvetica Neue" pitchFamily="34" charset="0"/>
                <a:ea typeface="Helvetica Neue" pitchFamily="34" charset="-122"/>
                <a:cs typeface="Helvetica Neue" pitchFamily="34" charset="-120"/>
              </a:rPr>
              <a:t>query runs HERE</a:t>
            </a:r>
            <a:endParaRPr lang="en-US" sz="1300" dirty="0"/>
          </a:p>
          <a:p>
            <a:pPr indent="0" marL="0">
              <a:buNone/>
            </a:pPr>
            <a:r>
              <a:rPr lang="en-US" sz="1300" b="1" dirty="0">
                <a:solidFill>
                  <a:srgbClr val="3F6470"/>
                </a:solidFill>
                <a:latin typeface="Helvetica Neue" pitchFamily="34" charset="0"/>
                <a:ea typeface="Helvetica Neue" pitchFamily="34" charset="-122"/>
                <a:cs typeface="Helvetica Neue" pitchFamily="34" charset="-120"/>
              </a:rPr>
              <a:t>(your JVM)</a:t>
            </a:r>
            <a:endParaRPr lang="en-US" sz="1300" dirty="0"/>
          </a:p>
        </p:txBody>
      </p:sp>
      <p:sp>
        <p:nvSpPr>
          <p:cNvPr id="21" name="Shape 18"/>
          <p:cNvSpPr/>
          <p:nvPr/>
        </p:nvSpPr>
        <p:spPr>
          <a:xfrm>
            <a:off x="3977640" y="2487168"/>
            <a:ext cx="4206240" cy="566928"/>
          </a:xfrm>
          <a:prstGeom prst="roundRect">
            <a:avLst>
              <a:gd name="adj" fmla="val 9677"/>
            </a:avLst>
          </a:prstGeom>
          <a:solidFill>
            <a:srgbClr val="DFD6C0"/>
          </a:solidFill>
          <a:ln w="15875">
            <a:solidFill>
              <a:srgbClr val="C9BDA4"/>
            </a:solidFill>
            <a:prstDash val="solid"/>
          </a:ln>
        </p:spPr>
      </p:sp>
      <p:sp>
        <p:nvSpPr>
          <p:cNvPr id="22" name="Text 19"/>
          <p:cNvSpPr/>
          <p:nvPr/>
        </p:nvSpPr>
        <p:spPr>
          <a:xfrm>
            <a:off x="4050792" y="2487168"/>
            <a:ext cx="4059936" cy="56692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memcached</a:t>
            </a:r>
            <a:endParaRPr lang="en-US" sz="1300" dirty="0"/>
          </a:p>
        </p:txBody>
      </p:sp>
      <p:sp>
        <p:nvSpPr>
          <p:cNvPr id="23" name="Text 20"/>
          <p:cNvSpPr/>
          <p:nvPr/>
        </p:nvSpPr>
        <p:spPr>
          <a:xfrm>
            <a:off x="8138160" y="2542032"/>
            <a:ext cx="3291840" cy="365760"/>
          </a:xfrm>
          <a:prstGeom prst="rect">
            <a:avLst/>
          </a:prstGeom>
          <a:noFill/>
          <a:ln/>
        </p:spPr>
        <p:txBody>
          <a:bodyPr wrap="square" lIns="0" tIns="0" rIns="0" bIns="0" rtlCol="0" anchor="t"/>
          <a:lstStyle/>
          <a:p>
            <a:pPr indent="0" marL="0">
              <a:buNone/>
            </a:pPr>
            <a:r>
              <a:rPr lang="en-US" sz="1250" dirty="0">
                <a:solidFill>
                  <a:srgbClr val="9A8A72"/>
                </a:solidFill>
                <a:latin typeface="Helvetica Neue" pitchFamily="34" charset="0"/>
                <a:ea typeface="Helvetica Neue" pitchFamily="34" charset="-122"/>
                <a:cs typeface="Helvetica Neue" pitchFamily="34" charset="-120"/>
              </a:rPr>
              <a:t>optional · shared</a:t>
            </a:r>
            <a:endParaRPr lang="en-US" sz="1250" dirty="0"/>
          </a:p>
        </p:txBody>
      </p:sp>
      <p:sp>
        <p:nvSpPr>
          <p:cNvPr id="24" name="Shape 21"/>
          <p:cNvSpPr/>
          <p:nvPr/>
        </p:nvSpPr>
        <p:spPr>
          <a:xfrm>
            <a:off x="2194560" y="3520440"/>
            <a:ext cx="5943600" cy="777240"/>
          </a:xfrm>
          <a:prstGeom prst="roundRect">
            <a:avLst>
              <a:gd name="adj" fmla="val 7059"/>
            </a:avLst>
          </a:prstGeom>
          <a:solidFill>
            <a:srgbClr val="2C2416"/>
          </a:solidFill>
          <a:ln/>
        </p:spPr>
      </p:sp>
      <p:sp>
        <p:nvSpPr>
          <p:cNvPr id="25" name="Text 22"/>
          <p:cNvSpPr/>
          <p:nvPr/>
        </p:nvSpPr>
        <p:spPr>
          <a:xfrm>
            <a:off x="2267712" y="3520440"/>
            <a:ext cx="5797296" cy="777240"/>
          </a:xfrm>
          <a:prstGeom prst="rect">
            <a:avLst/>
          </a:prstGeom>
          <a:noFill/>
          <a:ln/>
        </p:spPr>
        <p:txBody>
          <a:bodyPr wrap="square" lIns="0" tIns="0" rIns="0" bIns="0" rtlCol="0" anchor="ctr">
            <a:normAutofit/>
          </a:bodyPr>
          <a:lstStyle/>
          <a:p>
            <a:pPr algn="ctr" indent="0" marL="0">
              <a:buNone/>
            </a:pPr>
            <a:r>
              <a:rPr lang="en-US" sz="1600" b="1" dirty="0">
                <a:solidFill>
                  <a:srgbClr val="FCFAF4"/>
                </a:solidFill>
                <a:latin typeface="Helvetica Neue" pitchFamily="34" charset="0"/>
                <a:ea typeface="Helvetica Neue" pitchFamily="34" charset="-122"/>
                <a:cs typeface="Helvetica Neue" pitchFamily="34" charset="-120"/>
              </a:rPr>
              <a:t>STORAGE</a:t>
            </a:r>
            <a:endParaRPr lang="en-US" sz="1600" dirty="0"/>
          </a:p>
        </p:txBody>
      </p:sp>
      <p:sp>
        <p:nvSpPr>
          <p:cNvPr id="26" name="Text 23"/>
          <p:cNvSpPr/>
          <p:nvPr/>
        </p:nvSpPr>
        <p:spPr>
          <a:xfrm>
            <a:off x="8138160" y="3520440"/>
            <a:ext cx="3291840" cy="731520"/>
          </a:xfrm>
          <a:prstGeom prst="rect">
            <a:avLst/>
          </a:prstGeom>
          <a:noFill/>
          <a:ln/>
        </p:spPr>
        <p:txBody>
          <a:bodyPr wrap="square" lIns="0" tIns="0" rIns="0" bIns="0" rtlCol="0" anchor="t"/>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source of truth</a:t>
            </a:r>
            <a:endParaRPr lang="en-US" sz="1300" dirty="0"/>
          </a:p>
          <a:p>
            <a:pPr indent="0" marL="0">
              <a:buNone/>
            </a:pPr>
            <a:r>
              <a:rPr lang="en-US" sz="1300" b="1" dirty="0">
                <a:solidFill>
                  <a:srgbClr val="3A2C1A"/>
                </a:solidFill>
                <a:latin typeface="Helvetica Neue" pitchFamily="34" charset="0"/>
                <a:ea typeface="Helvetica Neue" pitchFamily="34" charset="-122"/>
                <a:cs typeface="Helvetica Neue" pitchFamily="34" charset="-120"/>
              </a:rPr>
              <a:t>…and the arbiter</a:t>
            </a:r>
            <a:endParaRPr lang="en-US" sz="1300" dirty="0"/>
          </a:p>
        </p:txBody>
      </p:sp>
      <p:sp>
        <p:nvSpPr>
          <p:cNvPr id="27" name="Shape 24"/>
          <p:cNvSpPr/>
          <p:nvPr/>
        </p:nvSpPr>
        <p:spPr>
          <a:xfrm>
            <a:off x="2834640" y="5029200"/>
            <a:ext cx="2103120" cy="731520"/>
          </a:xfrm>
          <a:prstGeom prst="roundRect">
            <a:avLst>
              <a:gd name="adj" fmla="val 7500"/>
            </a:avLst>
          </a:prstGeom>
          <a:solidFill>
            <a:srgbClr val="DDE3CC"/>
          </a:solidFill>
          <a:ln w="15875">
            <a:solidFill>
              <a:srgbClr val="5F7A3A"/>
            </a:solidFill>
            <a:prstDash val="solid"/>
          </a:ln>
        </p:spPr>
      </p:sp>
      <p:sp>
        <p:nvSpPr>
          <p:cNvPr id="28" name="Text 25"/>
          <p:cNvSpPr/>
          <p:nvPr/>
        </p:nvSpPr>
        <p:spPr>
          <a:xfrm>
            <a:off x="2907792" y="5084064"/>
            <a:ext cx="195681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transactor</a:t>
            </a:r>
            <a:endParaRPr lang="en-US" sz="1300" dirty="0"/>
          </a:p>
        </p:txBody>
      </p:sp>
      <p:sp>
        <p:nvSpPr>
          <p:cNvPr id="29" name="Text 26"/>
          <p:cNvSpPr/>
          <p:nvPr/>
        </p:nvSpPr>
        <p:spPr>
          <a:xfrm>
            <a:off x="2907792" y="5376672"/>
            <a:ext cx="1956816" cy="384048"/>
          </a:xfrm>
          <a:prstGeom prst="rect">
            <a:avLst/>
          </a:prstGeom>
          <a:noFill/>
          <a:ln/>
        </p:spPr>
        <p:txBody>
          <a:bodyPr wrap="square" lIns="0" tIns="0" rIns="0" bIns="0" rtlCol="0" anchor="t">
            <a:normAutofit/>
          </a:bodyPr>
          <a:lstStyle/>
          <a:p>
            <a:pPr algn="ctr" indent="0" marL="0">
              <a:buNone/>
            </a:pPr>
            <a:r>
              <a:rPr lang="en-US" sz="950" dirty="0">
                <a:solidFill>
                  <a:srgbClr val="5F7A3A"/>
                </a:solidFill>
                <a:latin typeface="Helvetica Neue" pitchFamily="34" charset="0"/>
                <a:ea typeface="Helvetica Neue" pitchFamily="34" charset="-122"/>
                <a:cs typeface="Helvetica Neue" pitchFamily="34" charset="-120"/>
              </a:rPr>
              <a:t>ACTIVE — holds the lease</a:t>
            </a:r>
            <a:endParaRPr lang="en-US" sz="950" dirty="0"/>
          </a:p>
        </p:txBody>
      </p:sp>
      <p:sp>
        <p:nvSpPr>
          <p:cNvPr id="30" name="Shape 27"/>
          <p:cNvSpPr/>
          <p:nvPr/>
        </p:nvSpPr>
        <p:spPr>
          <a:xfrm>
            <a:off x="5394960" y="5029200"/>
            <a:ext cx="2103120" cy="731520"/>
          </a:xfrm>
          <a:prstGeom prst="roundRect">
            <a:avLst>
              <a:gd name="adj" fmla="val 7500"/>
            </a:avLst>
          </a:prstGeom>
          <a:solidFill>
            <a:srgbClr val="E6DFCE"/>
          </a:solidFill>
          <a:ln w="15875">
            <a:solidFill>
              <a:srgbClr val="C9BDA4"/>
            </a:solidFill>
            <a:prstDash val="solid"/>
          </a:ln>
        </p:spPr>
      </p:sp>
      <p:sp>
        <p:nvSpPr>
          <p:cNvPr id="31" name="Text 28"/>
          <p:cNvSpPr/>
          <p:nvPr/>
        </p:nvSpPr>
        <p:spPr>
          <a:xfrm>
            <a:off x="5468112" y="5084064"/>
            <a:ext cx="195681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standby</a:t>
            </a:r>
            <a:endParaRPr lang="en-US" sz="1300" dirty="0"/>
          </a:p>
        </p:txBody>
      </p:sp>
      <p:sp>
        <p:nvSpPr>
          <p:cNvPr id="32" name="Text 29"/>
          <p:cNvSpPr/>
          <p:nvPr/>
        </p:nvSpPr>
        <p:spPr>
          <a:xfrm>
            <a:off x="5468112" y="5376672"/>
            <a:ext cx="1956816" cy="384048"/>
          </a:xfrm>
          <a:prstGeom prst="rect">
            <a:avLst/>
          </a:prstGeom>
          <a:noFill/>
          <a:ln/>
        </p:spPr>
        <p:txBody>
          <a:bodyPr wrap="square" lIns="0" tIns="0" rIns="0" bIns="0" rtlCol="0" anchor="t">
            <a:normAutofit/>
          </a:bodyPr>
          <a:lstStyle/>
          <a:p>
            <a:pPr algn="ctr" indent="0" marL="0">
              <a:buNone/>
            </a:pPr>
            <a:r>
              <a:rPr lang="en-US" sz="950" dirty="0">
                <a:solidFill>
                  <a:srgbClr val="6B5A44"/>
                </a:solidFill>
                <a:latin typeface="Helvetica Neue" pitchFamily="34" charset="0"/>
                <a:ea typeface="Helvetica Neue" pitchFamily="34" charset="-122"/>
                <a:cs typeface="Helvetica Neue" pitchFamily="34" charset="-120"/>
              </a:rPr>
              <a:t>parked — no lease</a:t>
            </a:r>
            <a:endParaRPr lang="en-US" sz="950" dirty="0"/>
          </a:p>
        </p:txBody>
      </p:sp>
      <p:sp>
        <p:nvSpPr>
          <p:cNvPr id="33" name="Shape 30"/>
          <p:cNvSpPr/>
          <p:nvPr/>
        </p:nvSpPr>
        <p:spPr>
          <a:xfrm flipV="1">
            <a:off x="3886200" y="4297680"/>
            <a:ext cx="0" cy="731520"/>
          </a:xfrm>
          <a:prstGeom prst="line">
            <a:avLst/>
          </a:prstGeom>
          <a:noFill/>
          <a:ln w="19050">
            <a:solidFill>
              <a:srgbClr val="5F7A3A"/>
            </a:solidFill>
            <a:prstDash val="solid"/>
            <a:headEnd type="none"/>
            <a:tailEnd type="triangle"/>
          </a:ln>
        </p:spPr>
      </p:sp>
      <p:sp>
        <p:nvSpPr>
          <p:cNvPr id="34" name="Shape 31"/>
          <p:cNvSpPr/>
          <p:nvPr/>
        </p:nvSpPr>
        <p:spPr>
          <a:xfrm flipV="1">
            <a:off x="6446520" y="4297680"/>
            <a:ext cx="0" cy="731520"/>
          </a:xfrm>
          <a:prstGeom prst="line">
            <a:avLst/>
          </a:prstGeom>
          <a:noFill/>
          <a:ln w="19050">
            <a:solidFill>
              <a:srgbClr val="C9BDA4"/>
            </a:solidFill>
            <a:prstDash val="dash"/>
            <a:headEnd type="none"/>
            <a:tailEnd type="triangle"/>
          </a:ln>
        </p:spPr>
      </p:sp>
      <p:sp>
        <p:nvSpPr>
          <p:cNvPr id="35" name="Text 32"/>
          <p:cNvSpPr/>
          <p:nvPr/>
        </p:nvSpPr>
        <p:spPr>
          <a:xfrm>
            <a:off x="8138160" y="5120640"/>
            <a:ext cx="3291840" cy="365760"/>
          </a:xfrm>
          <a:prstGeom prst="rect">
            <a:avLst/>
          </a:prstGeom>
          <a:noFill/>
          <a:ln/>
        </p:spPr>
        <p:txBody>
          <a:bodyPr wrap="square" lIns="0" tIns="0" rIns="0" bIns="0" rtlCol="0" anchor="t"/>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exactly ONE writes</a:t>
            </a:r>
            <a:endParaRPr lang="en-US" sz="1300" dirty="0"/>
          </a:p>
        </p:txBody>
      </p:sp>
      <p:sp>
        <p:nvSpPr>
          <p:cNvPr id="36" name="Text 33"/>
          <p:cNvSpPr/>
          <p:nvPr/>
        </p:nvSpPr>
        <p:spPr>
          <a:xfrm>
            <a:off x="548640" y="608076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Arrows point the way data is read. Only the active transactor writes.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THE FAILURE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6</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What each failure actually costs you</a:t>
            </a:r>
            <a:endParaRPr lang="en-US" sz="2500" dirty="0"/>
          </a:p>
        </p:txBody>
      </p:sp>
      <p:sp>
        <p:nvSpPr>
          <p:cNvPr id="8" name="Shape 5"/>
          <p:cNvSpPr/>
          <p:nvPr/>
        </p:nvSpPr>
        <p:spPr>
          <a:xfrm>
            <a:off x="548640" y="1325880"/>
            <a:ext cx="2651760" cy="3200400"/>
          </a:xfrm>
          <a:prstGeom prst="roundRect">
            <a:avLst>
              <a:gd name="adj" fmla="val 2759"/>
            </a:avLst>
          </a:prstGeom>
          <a:solidFill>
            <a:srgbClr val="EBD5CB"/>
          </a:solidFill>
          <a:ln/>
        </p:spPr>
      </p:sp>
      <p:sp>
        <p:nvSpPr>
          <p:cNvPr id="9" name="Shape 6"/>
          <p:cNvSpPr/>
          <p:nvPr/>
        </p:nvSpPr>
        <p:spPr>
          <a:xfrm>
            <a:off x="548640" y="1325880"/>
            <a:ext cx="2651760" cy="109728"/>
          </a:xfrm>
          <a:prstGeom prst="roundRect">
            <a:avLst>
              <a:gd name="adj" fmla="val 66667"/>
            </a:avLst>
          </a:prstGeom>
          <a:solidFill>
            <a:srgbClr val="9E4227"/>
          </a:solidFill>
          <a:ln/>
        </p:spPr>
      </p:sp>
      <p:sp>
        <p:nvSpPr>
          <p:cNvPr id="10" name="Text 7"/>
          <p:cNvSpPr/>
          <p:nvPr/>
        </p:nvSpPr>
        <p:spPr>
          <a:xfrm>
            <a:off x="777240" y="1600200"/>
            <a:ext cx="2194560" cy="320040"/>
          </a:xfrm>
          <a:prstGeom prst="rect">
            <a:avLst/>
          </a:prstGeom>
          <a:noFill/>
          <a:ln/>
        </p:spPr>
        <p:txBody>
          <a:bodyPr wrap="square" lIns="0" tIns="0" rIns="0" bIns="0" rtlCol="0" anchor="t"/>
          <a:lstStyle/>
          <a:p>
            <a:pPr indent="0" marL="0">
              <a:buNone/>
            </a:pPr>
            <a:r>
              <a:rPr lang="en-US" sz="1300" b="1" spc="150" kern="0" dirty="0">
                <a:solidFill>
                  <a:srgbClr val="9E4227"/>
                </a:solidFill>
                <a:latin typeface="Helvetica Neue" pitchFamily="34" charset="0"/>
                <a:ea typeface="Helvetica Neue" pitchFamily="34" charset="-122"/>
                <a:cs typeface="Helvetica Neue" pitchFamily="34" charset="-120"/>
              </a:rPr>
              <a:t>STORAGE</a:t>
            </a:r>
            <a:endParaRPr lang="en-US" sz="1300" dirty="0"/>
          </a:p>
        </p:txBody>
      </p:sp>
      <p:sp>
        <p:nvSpPr>
          <p:cNvPr id="11" name="Text 8"/>
          <p:cNvSpPr/>
          <p:nvPr/>
        </p:nvSpPr>
        <p:spPr>
          <a:xfrm>
            <a:off x="777240" y="2057400"/>
            <a:ext cx="2194560" cy="822960"/>
          </a:xfrm>
          <a:prstGeom prst="rect">
            <a:avLst/>
          </a:prstGeom>
          <a:noFill/>
          <a:ln/>
        </p:spPr>
        <p:txBody>
          <a:bodyPr wrap="square" lIns="0" tIns="0" rIns="0" bIns="0" rtlCol="0" anchor="t">
            <a:normAutofit/>
          </a:bodyPr>
          <a:lstStyle/>
          <a:p>
            <a:pPr indent="0" marL="0">
              <a:buNone/>
            </a:pPr>
            <a:r>
              <a:rPr lang="en-US" sz="2100" dirty="0">
                <a:solidFill>
                  <a:srgbClr val="3A2C1A"/>
                </a:solidFill>
                <a:latin typeface="Georgia" pitchFamily="34" charset="0"/>
                <a:ea typeface="Georgia" pitchFamily="34" charset="-122"/>
                <a:cs typeface="Georgia" pitchFamily="34" charset="-120"/>
              </a:rPr>
              <a:t>total outage</a:t>
            </a:r>
            <a:endParaRPr lang="en-US" sz="2100" dirty="0"/>
          </a:p>
        </p:txBody>
      </p:sp>
      <p:sp>
        <p:nvSpPr>
          <p:cNvPr id="12" name="Text 9"/>
          <p:cNvSpPr/>
          <p:nvPr/>
        </p:nvSpPr>
        <p:spPr>
          <a:xfrm>
            <a:off x="777240" y="2971800"/>
            <a:ext cx="2194560" cy="82296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reads too, once the caches miss</a:t>
            </a:r>
            <a:endParaRPr lang="en-US" sz="1300" dirty="0"/>
          </a:p>
        </p:txBody>
      </p:sp>
      <p:sp>
        <p:nvSpPr>
          <p:cNvPr id="13" name="Shape 10"/>
          <p:cNvSpPr/>
          <p:nvPr/>
        </p:nvSpPr>
        <p:spPr>
          <a:xfrm>
            <a:off x="777240" y="4069080"/>
            <a:ext cx="310896" cy="146304"/>
          </a:xfrm>
          <a:prstGeom prst="rect">
            <a:avLst/>
          </a:prstGeom>
          <a:solidFill>
            <a:srgbClr val="9E4227"/>
          </a:solidFill>
          <a:ln/>
        </p:spPr>
      </p:sp>
      <p:sp>
        <p:nvSpPr>
          <p:cNvPr id="14" name="Shape 11"/>
          <p:cNvSpPr/>
          <p:nvPr/>
        </p:nvSpPr>
        <p:spPr>
          <a:xfrm>
            <a:off x="1161288" y="4069080"/>
            <a:ext cx="310896" cy="146304"/>
          </a:xfrm>
          <a:prstGeom prst="rect">
            <a:avLst/>
          </a:prstGeom>
          <a:solidFill>
            <a:srgbClr val="9E4227"/>
          </a:solidFill>
          <a:ln/>
        </p:spPr>
      </p:sp>
      <p:sp>
        <p:nvSpPr>
          <p:cNvPr id="15" name="Shape 12"/>
          <p:cNvSpPr/>
          <p:nvPr/>
        </p:nvSpPr>
        <p:spPr>
          <a:xfrm>
            <a:off x="1545336" y="4069080"/>
            <a:ext cx="310896" cy="146304"/>
          </a:xfrm>
          <a:prstGeom prst="rect">
            <a:avLst/>
          </a:prstGeom>
          <a:solidFill>
            <a:srgbClr val="9E4227"/>
          </a:solidFill>
          <a:ln/>
        </p:spPr>
      </p:sp>
      <p:sp>
        <p:nvSpPr>
          <p:cNvPr id="16" name="Shape 13"/>
          <p:cNvSpPr/>
          <p:nvPr/>
        </p:nvSpPr>
        <p:spPr>
          <a:xfrm>
            <a:off x="1929384" y="4069080"/>
            <a:ext cx="310896" cy="146304"/>
          </a:xfrm>
          <a:prstGeom prst="rect">
            <a:avLst/>
          </a:prstGeom>
          <a:solidFill>
            <a:srgbClr val="9E4227"/>
          </a:solidFill>
          <a:ln/>
        </p:spPr>
      </p:sp>
      <p:sp>
        <p:nvSpPr>
          <p:cNvPr id="17" name="Text 14"/>
          <p:cNvSpPr/>
          <p:nvPr/>
        </p:nvSpPr>
        <p:spPr>
          <a:xfrm>
            <a:off x="777240" y="4251960"/>
            <a:ext cx="2194560" cy="228600"/>
          </a:xfrm>
          <a:prstGeom prst="rect">
            <a:avLst/>
          </a:prstGeom>
          <a:noFill/>
          <a:ln/>
        </p:spPr>
        <p:txBody>
          <a:bodyPr wrap="square" lIns="0" tIns="0" rIns="0" bIns="0" rtlCol="0" anchor="t"/>
          <a:lstStyle/>
          <a:p>
            <a:pPr indent="0" marL="0">
              <a:buNone/>
            </a:pPr>
            <a:r>
              <a:rPr lang="en-US" sz="1000" dirty="0">
                <a:solidFill>
                  <a:srgbClr val="9A8A72"/>
                </a:solidFill>
                <a:latin typeface="Helvetica Neue" pitchFamily="34" charset="0"/>
                <a:ea typeface="Helvetica Neue" pitchFamily="34" charset="-122"/>
                <a:cs typeface="Helvetica Neue" pitchFamily="34" charset="-120"/>
              </a:rPr>
              <a:t>blast radius</a:t>
            </a:r>
            <a:endParaRPr lang="en-US" sz="1000" dirty="0"/>
          </a:p>
        </p:txBody>
      </p:sp>
      <p:sp>
        <p:nvSpPr>
          <p:cNvPr id="18" name="Shape 15"/>
          <p:cNvSpPr/>
          <p:nvPr/>
        </p:nvSpPr>
        <p:spPr>
          <a:xfrm>
            <a:off x="3383280" y="1325880"/>
            <a:ext cx="2651760" cy="3200400"/>
          </a:xfrm>
          <a:prstGeom prst="roundRect">
            <a:avLst>
              <a:gd name="adj" fmla="val 2759"/>
            </a:avLst>
          </a:prstGeom>
          <a:solidFill>
            <a:srgbClr val="EDE0C4"/>
          </a:solidFill>
          <a:ln/>
        </p:spPr>
      </p:sp>
      <p:sp>
        <p:nvSpPr>
          <p:cNvPr id="19" name="Shape 16"/>
          <p:cNvSpPr/>
          <p:nvPr/>
        </p:nvSpPr>
        <p:spPr>
          <a:xfrm>
            <a:off x="3383280" y="1325880"/>
            <a:ext cx="2651760" cy="109728"/>
          </a:xfrm>
          <a:prstGeom prst="roundRect">
            <a:avLst>
              <a:gd name="adj" fmla="val 66667"/>
            </a:avLst>
          </a:prstGeom>
          <a:solidFill>
            <a:srgbClr val="B5822B"/>
          </a:solidFill>
          <a:ln/>
        </p:spPr>
      </p:sp>
      <p:sp>
        <p:nvSpPr>
          <p:cNvPr id="20" name="Text 17"/>
          <p:cNvSpPr/>
          <p:nvPr/>
        </p:nvSpPr>
        <p:spPr>
          <a:xfrm>
            <a:off x="3611880" y="1600200"/>
            <a:ext cx="2194560" cy="320040"/>
          </a:xfrm>
          <a:prstGeom prst="rect">
            <a:avLst/>
          </a:prstGeom>
          <a:noFill/>
          <a:ln/>
        </p:spPr>
        <p:txBody>
          <a:bodyPr wrap="square" lIns="0" tIns="0" rIns="0" bIns="0" rtlCol="0" anchor="t"/>
          <a:lstStyle/>
          <a:p>
            <a:pPr indent="0" marL="0">
              <a:buNone/>
            </a:pPr>
            <a:r>
              <a:rPr lang="en-US" sz="1300" b="1" spc="150" kern="0" dirty="0">
                <a:solidFill>
                  <a:srgbClr val="B5822B"/>
                </a:solidFill>
                <a:latin typeface="Helvetica Neue" pitchFamily="34" charset="0"/>
                <a:ea typeface="Helvetica Neue" pitchFamily="34" charset="-122"/>
                <a:cs typeface="Helvetica Neue" pitchFamily="34" charset="-120"/>
              </a:rPr>
              <a:t>TRANSACTOR</a:t>
            </a:r>
            <a:endParaRPr lang="en-US" sz="1300" dirty="0"/>
          </a:p>
        </p:txBody>
      </p:sp>
      <p:sp>
        <p:nvSpPr>
          <p:cNvPr id="21" name="Text 18"/>
          <p:cNvSpPr/>
          <p:nvPr/>
        </p:nvSpPr>
        <p:spPr>
          <a:xfrm>
            <a:off x="3611880" y="2057400"/>
            <a:ext cx="2194560" cy="822960"/>
          </a:xfrm>
          <a:prstGeom prst="rect">
            <a:avLst/>
          </a:prstGeom>
          <a:noFill/>
          <a:ln/>
        </p:spPr>
        <p:txBody>
          <a:bodyPr wrap="square" lIns="0" tIns="0" rIns="0" bIns="0" rtlCol="0" anchor="t">
            <a:normAutofit/>
          </a:bodyPr>
          <a:lstStyle/>
          <a:p>
            <a:pPr indent="0" marL="0">
              <a:buNone/>
            </a:pPr>
            <a:r>
              <a:rPr lang="en-US" sz="2100" dirty="0">
                <a:solidFill>
                  <a:srgbClr val="3A2C1A"/>
                </a:solidFill>
                <a:latin typeface="Georgia" pitchFamily="34" charset="0"/>
                <a:ea typeface="Georgia" pitchFamily="34" charset="-122"/>
                <a:cs typeface="Georgia" pitchFamily="34" charset="-120"/>
              </a:rPr>
              <a:t>writes fail</a:t>
            </a:r>
            <a:endParaRPr lang="en-US" sz="2100" dirty="0"/>
          </a:p>
        </p:txBody>
      </p:sp>
      <p:sp>
        <p:nvSpPr>
          <p:cNvPr id="22" name="Text 19"/>
          <p:cNvSpPr/>
          <p:nvPr/>
        </p:nvSpPr>
        <p:spPr>
          <a:xfrm>
            <a:off x="3611880" y="2971800"/>
            <a:ext cx="2194560" cy="82296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reads continue, unaffected</a:t>
            </a:r>
            <a:endParaRPr lang="en-US" sz="1300" dirty="0"/>
          </a:p>
        </p:txBody>
      </p:sp>
      <p:sp>
        <p:nvSpPr>
          <p:cNvPr id="23" name="Shape 20"/>
          <p:cNvSpPr/>
          <p:nvPr/>
        </p:nvSpPr>
        <p:spPr>
          <a:xfrm>
            <a:off x="3611880" y="4069080"/>
            <a:ext cx="310896" cy="146304"/>
          </a:xfrm>
          <a:prstGeom prst="rect">
            <a:avLst/>
          </a:prstGeom>
          <a:solidFill>
            <a:srgbClr val="B5822B"/>
          </a:solidFill>
          <a:ln/>
        </p:spPr>
      </p:sp>
      <p:sp>
        <p:nvSpPr>
          <p:cNvPr id="24" name="Shape 21"/>
          <p:cNvSpPr/>
          <p:nvPr/>
        </p:nvSpPr>
        <p:spPr>
          <a:xfrm>
            <a:off x="3995928" y="4069080"/>
            <a:ext cx="310896" cy="146304"/>
          </a:xfrm>
          <a:prstGeom prst="rect">
            <a:avLst/>
          </a:prstGeom>
          <a:solidFill>
            <a:srgbClr val="B5822B"/>
          </a:solidFill>
          <a:ln/>
        </p:spPr>
      </p:sp>
      <p:sp>
        <p:nvSpPr>
          <p:cNvPr id="25" name="Shape 22"/>
          <p:cNvSpPr/>
          <p:nvPr/>
        </p:nvSpPr>
        <p:spPr>
          <a:xfrm>
            <a:off x="4379976" y="4069080"/>
            <a:ext cx="310896" cy="146304"/>
          </a:xfrm>
          <a:prstGeom prst="rect">
            <a:avLst/>
          </a:prstGeom>
          <a:solidFill>
            <a:srgbClr val="DFD6C0"/>
          </a:solidFill>
          <a:ln/>
        </p:spPr>
      </p:sp>
      <p:sp>
        <p:nvSpPr>
          <p:cNvPr id="26" name="Shape 23"/>
          <p:cNvSpPr/>
          <p:nvPr/>
        </p:nvSpPr>
        <p:spPr>
          <a:xfrm>
            <a:off x="4764024" y="4069080"/>
            <a:ext cx="310896" cy="146304"/>
          </a:xfrm>
          <a:prstGeom prst="rect">
            <a:avLst/>
          </a:prstGeom>
          <a:solidFill>
            <a:srgbClr val="DFD6C0"/>
          </a:solidFill>
          <a:ln/>
        </p:spPr>
      </p:sp>
      <p:sp>
        <p:nvSpPr>
          <p:cNvPr id="27" name="Text 24"/>
          <p:cNvSpPr/>
          <p:nvPr/>
        </p:nvSpPr>
        <p:spPr>
          <a:xfrm>
            <a:off x="3611880" y="4251960"/>
            <a:ext cx="2194560" cy="228600"/>
          </a:xfrm>
          <a:prstGeom prst="rect">
            <a:avLst/>
          </a:prstGeom>
          <a:noFill/>
          <a:ln/>
        </p:spPr>
        <p:txBody>
          <a:bodyPr wrap="square" lIns="0" tIns="0" rIns="0" bIns="0" rtlCol="0" anchor="t"/>
          <a:lstStyle/>
          <a:p>
            <a:pPr indent="0" marL="0">
              <a:buNone/>
            </a:pPr>
            <a:r>
              <a:rPr lang="en-US" sz="1000" dirty="0">
                <a:solidFill>
                  <a:srgbClr val="9A8A72"/>
                </a:solidFill>
                <a:latin typeface="Helvetica Neue" pitchFamily="34" charset="0"/>
                <a:ea typeface="Helvetica Neue" pitchFamily="34" charset="-122"/>
                <a:cs typeface="Helvetica Neue" pitchFamily="34" charset="-120"/>
              </a:rPr>
              <a:t>blast radius</a:t>
            </a:r>
            <a:endParaRPr lang="en-US" sz="1000" dirty="0"/>
          </a:p>
        </p:txBody>
      </p:sp>
      <p:sp>
        <p:nvSpPr>
          <p:cNvPr id="28" name="Shape 25"/>
          <p:cNvSpPr/>
          <p:nvPr/>
        </p:nvSpPr>
        <p:spPr>
          <a:xfrm>
            <a:off x="6217920" y="1325880"/>
            <a:ext cx="2651760" cy="3200400"/>
          </a:xfrm>
          <a:prstGeom prst="roundRect">
            <a:avLst>
              <a:gd name="adj" fmla="val 2759"/>
            </a:avLst>
          </a:prstGeom>
          <a:solidFill>
            <a:srgbClr val="DDE3CC"/>
          </a:solidFill>
          <a:ln/>
        </p:spPr>
      </p:sp>
      <p:sp>
        <p:nvSpPr>
          <p:cNvPr id="29" name="Shape 26"/>
          <p:cNvSpPr/>
          <p:nvPr/>
        </p:nvSpPr>
        <p:spPr>
          <a:xfrm>
            <a:off x="6217920" y="1325880"/>
            <a:ext cx="2651760" cy="109728"/>
          </a:xfrm>
          <a:prstGeom prst="roundRect">
            <a:avLst>
              <a:gd name="adj" fmla="val 66667"/>
            </a:avLst>
          </a:prstGeom>
          <a:solidFill>
            <a:srgbClr val="5F7A3A"/>
          </a:solidFill>
          <a:ln/>
        </p:spPr>
      </p:sp>
      <p:sp>
        <p:nvSpPr>
          <p:cNvPr id="30" name="Text 27"/>
          <p:cNvSpPr/>
          <p:nvPr/>
        </p:nvSpPr>
        <p:spPr>
          <a:xfrm>
            <a:off x="6446520" y="1600200"/>
            <a:ext cx="2194560" cy="320040"/>
          </a:xfrm>
          <a:prstGeom prst="rect">
            <a:avLst/>
          </a:prstGeom>
          <a:noFill/>
          <a:ln/>
        </p:spPr>
        <p:txBody>
          <a:bodyPr wrap="square" lIns="0" tIns="0" rIns="0" bIns="0" rtlCol="0" anchor="t"/>
          <a:lstStyle/>
          <a:p>
            <a:pPr indent="0" marL="0">
              <a:buNone/>
            </a:pPr>
            <a:r>
              <a:rPr lang="en-US" sz="1300" b="1" spc="150" kern="0" dirty="0">
                <a:solidFill>
                  <a:srgbClr val="5F7A3A"/>
                </a:solidFill>
                <a:latin typeface="Helvetica Neue" pitchFamily="34" charset="0"/>
                <a:ea typeface="Helvetica Neue" pitchFamily="34" charset="-122"/>
                <a:cs typeface="Helvetica Neue" pitchFamily="34" charset="-120"/>
              </a:rPr>
              <a:t>ONE PEER</a:t>
            </a:r>
            <a:endParaRPr lang="en-US" sz="1300" dirty="0"/>
          </a:p>
        </p:txBody>
      </p:sp>
      <p:sp>
        <p:nvSpPr>
          <p:cNvPr id="31" name="Text 28"/>
          <p:cNvSpPr/>
          <p:nvPr/>
        </p:nvSpPr>
        <p:spPr>
          <a:xfrm>
            <a:off x="6446520" y="2057400"/>
            <a:ext cx="2194560" cy="822960"/>
          </a:xfrm>
          <a:prstGeom prst="rect">
            <a:avLst/>
          </a:prstGeom>
          <a:noFill/>
          <a:ln/>
        </p:spPr>
        <p:txBody>
          <a:bodyPr wrap="square" lIns="0" tIns="0" rIns="0" bIns="0" rtlCol="0" anchor="t">
            <a:normAutofit/>
          </a:bodyPr>
          <a:lstStyle/>
          <a:p>
            <a:pPr indent="0" marL="0">
              <a:buNone/>
            </a:pPr>
            <a:r>
              <a:rPr lang="en-US" sz="2100" dirty="0">
                <a:solidFill>
                  <a:srgbClr val="3A2C1A"/>
                </a:solidFill>
                <a:latin typeface="Georgia" pitchFamily="34" charset="0"/>
                <a:ea typeface="Georgia" pitchFamily="34" charset="-122"/>
                <a:cs typeface="Georgia" pitchFamily="34" charset="-120"/>
              </a:rPr>
              <a:t>that peer only</a:t>
            </a:r>
            <a:endParaRPr lang="en-US" sz="2100" dirty="0"/>
          </a:p>
        </p:txBody>
      </p:sp>
      <p:sp>
        <p:nvSpPr>
          <p:cNvPr id="32" name="Text 29"/>
          <p:cNvSpPr/>
          <p:nvPr/>
        </p:nvSpPr>
        <p:spPr>
          <a:xfrm>
            <a:off x="6446520" y="2971800"/>
            <a:ext cx="2194560" cy="82296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siblings unaffected</a:t>
            </a:r>
            <a:endParaRPr lang="en-US" sz="1300" dirty="0"/>
          </a:p>
        </p:txBody>
      </p:sp>
      <p:sp>
        <p:nvSpPr>
          <p:cNvPr id="33" name="Shape 30"/>
          <p:cNvSpPr/>
          <p:nvPr/>
        </p:nvSpPr>
        <p:spPr>
          <a:xfrm>
            <a:off x="6446520" y="4069080"/>
            <a:ext cx="310896" cy="146304"/>
          </a:xfrm>
          <a:prstGeom prst="rect">
            <a:avLst/>
          </a:prstGeom>
          <a:solidFill>
            <a:srgbClr val="5F7A3A"/>
          </a:solidFill>
          <a:ln/>
        </p:spPr>
      </p:sp>
      <p:sp>
        <p:nvSpPr>
          <p:cNvPr id="34" name="Shape 31"/>
          <p:cNvSpPr/>
          <p:nvPr/>
        </p:nvSpPr>
        <p:spPr>
          <a:xfrm>
            <a:off x="6830568" y="4069080"/>
            <a:ext cx="310896" cy="146304"/>
          </a:xfrm>
          <a:prstGeom prst="rect">
            <a:avLst/>
          </a:prstGeom>
          <a:solidFill>
            <a:srgbClr val="DFD6C0"/>
          </a:solidFill>
          <a:ln/>
        </p:spPr>
      </p:sp>
      <p:sp>
        <p:nvSpPr>
          <p:cNvPr id="35" name="Shape 32"/>
          <p:cNvSpPr/>
          <p:nvPr/>
        </p:nvSpPr>
        <p:spPr>
          <a:xfrm>
            <a:off x="7214616" y="4069080"/>
            <a:ext cx="310896" cy="146304"/>
          </a:xfrm>
          <a:prstGeom prst="rect">
            <a:avLst/>
          </a:prstGeom>
          <a:solidFill>
            <a:srgbClr val="DFD6C0"/>
          </a:solidFill>
          <a:ln/>
        </p:spPr>
      </p:sp>
      <p:sp>
        <p:nvSpPr>
          <p:cNvPr id="36" name="Shape 33"/>
          <p:cNvSpPr/>
          <p:nvPr/>
        </p:nvSpPr>
        <p:spPr>
          <a:xfrm>
            <a:off x="7598664" y="4069080"/>
            <a:ext cx="310896" cy="146304"/>
          </a:xfrm>
          <a:prstGeom prst="rect">
            <a:avLst/>
          </a:prstGeom>
          <a:solidFill>
            <a:srgbClr val="DFD6C0"/>
          </a:solidFill>
          <a:ln/>
        </p:spPr>
      </p:sp>
      <p:sp>
        <p:nvSpPr>
          <p:cNvPr id="37" name="Text 34"/>
          <p:cNvSpPr/>
          <p:nvPr/>
        </p:nvSpPr>
        <p:spPr>
          <a:xfrm>
            <a:off x="6446520" y="4251960"/>
            <a:ext cx="2194560" cy="228600"/>
          </a:xfrm>
          <a:prstGeom prst="rect">
            <a:avLst/>
          </a:prstGeom>
          <a:noFill/>
          <a:ln/>
        </p:spPr>
        <p:txBody>
          <a:bodyPr wrap="square" lIns="0" tIns="0" rIns="0" bIns="0" rtlCol="0" anchor="t"/>
          <a:lstStyle/>
          <a:p>
            <a:pPr indent="0" marL="0">
              <a:buNone/>
            </a:pPr>
            <a:r>
              <a:rPr lang="en-US" sz="1000" dirty="0">
                <a:solidFill>
                  <a:srgbClr val="9A8A72"/>
                </a:solidFill>
                <a:latin typeface="Helvetica Neue" pitchFamily="34" charset="0"/>
                <a:ea typeface="Helvetica Neue" pitchFamily="34" charset="-122"/>
                <a:cs typeface="Helvetica Neue" pitchFamily="34" charset="-120"/>
              </a:rPr>
              <a:t>blast radius</a:t>
            </a:r>
            <a:endParaRPr lang="en-US" sz="1000" dirty="0"/>
          </a:p>
        </p:txBody>
      </p:sp>
      <p:sp>
        <p:nvSpPr>
          <p:cNvPr id="38" name="Shape 35"/>
          <p:cNvSpPr/>
          <p:nvPr/>
        </p:nvSpPr>
        <p:spPr>
          <a:xfrm>
            <a:off x="9052560" y="1325880"/>
            <a:ext cx="2651760" cy="3200400"/>
          </a:xfrm>
          <a:prstGeom prst="roundRect">
            <a:avLst>
              <a:gd name="adj" fmla="val 2759"/>
            </a:avLst>
          </a:prstGeom>
          <a:solidFill>
            <a:srgbClr val="DDE3CC"/>
          </a:solidFill>
          <a:ln/>
        </p:spPr>
      </p:sp>
      <p:sp>
        <p:nvSpPr>
          <p:cNvPr id="39" name="Shape 36"/>
          <p:cNvSpPr/>
          <p:nvPr/>
        </p:nvSpPr>
        <p:spPr>
          <a:xfrm>
            <a:off x="9052560" y="1325880"/>
            <a:ext cx="2651760" cy="109728"/>
          </a:xfrm>
          <a:prstGeom prst="roundRect">
            <a:avLst>
              <a:gd name="adj" fmla="val 66667"/>
            </a:avLst>
          </a:prstGeom>
          <a:solidFill>
            <a:srgbClr val="5F7A3A"/>
          </a:solidFill>
          <a:ln/>
        </p:spPr>
      </p:sp>
      <p:sp>
        <p:nvSpPr>
          <p:cNvPr id="40" name="Text 37"/>
          <p:cNvSpPr/>
          <p:nvPr/>
        </p:nvSpPr>
        <p:spPr>
          <a:xfrm>
            <a:off x="9281160" y="1600200"/>
            <a:ext cx="2194560" cy="320040"/>
          </a:xfrm>
          <a:prstGeom prst="rect">
            <a:avLst/>
          </a:prstGeom>
          <a:noFill/>
          <a:ln/>
        </p:spPr>
        <p:txBody>
          <a:bodyPr wrap="square" lIns="0" tIns="0" rIns="0" bIns="0" rtlCol="0" anchor="t"/>
          <a:lstStyle/>
          <a:p>
            <a:pPr indent="0" marL="0">
              <a:buNone/>
            </a:pPr>
            <a:r>
              <a:rPr lang="en-US" sz="1300" b="1" spc="150" kern="0" dirty="0">
                <a:solidFill>
                  <a:srgbClr val="5F7A3A"/>
                </a:solidFill>
                <a:latin typeface="Helvetica Neue" pitchFamily="34" charset="0"/>
                <a:ea typeface="Helvetica Neue" pitchFamily="34" charset="-122"/>
                <a:cs typeface="Helvetica Neue" pitchFamily="34" charset="-120"/>
              </a:rPr>
              <a:t>MEMCACHED</a:t>
            </a:r>
            <a:endParaRPr lang="en-US" sz="1300" dirty="0"/>
          </a:p>
        </p:txBody>
      </p:sp>
      <p:sp>
        <p:nvSpPr>
          <p:cNvPr id="41" name="Text 38"/>
          <p:cNvSpPr/>
          <p:nvPr/>
        </p:nvSpPr>
        <p:spPr>
          <a:xfrm>
            <a:off x="9281160" y="2057400"/>
            <a:ext cx="2194560" cy="822960"/>
          </a:xfrm>
          <a:prstGeom prst="rect">
            <a:avLst/>
          </a:prstGeom>
          <a:noFill/>
          <a:ln/>
        </p:spPr>
        <p:txBody>
          <a:bodyPr wrap="square" lIns="0" tIns="0" rIns="0" bIns="0" rtlCol="0" anchor="t">
            <a:normAutofit/>
          </a:bodyPr>
          <a:lstStyle/>
          <a:p>
            <a:pPr indent="0" marL="0">
              <a:buNone/>
            </a:pPr>
            <a:r>
              <a:rPr lang="en-US" sz="2100" dirty="0">
                <a:solidFill>
                  <a:srgbClr val="3A2C1A"/>
                </a:solidFill>
                <a:latin typeface="Georgia" pitchFamily="34" charset="0"/>
                <a:ea typeface="Georgia" pitchFamily="34" charset="-122"/>
                <a:cs typeface="Georgia" pitchFamily="34" charset="-120"/>
              </a:rPr>
              <a:t>nothing fails</a:t>
            </a:r>
            <a:endParaRPr lang="en-US" sz="2100" dirty="0"/>
          </a:p>
        </p:txBody>
      </p:sp>
      <p:sp>
        <p:nvSpPr>
          <p:cNvPr id="42" name="Text 39"/>
          <p:cNvSpPr/>
          <p:nvPr/>
        </p:nvSpPr>
        <p:spPr>
          <a:xfrm>
            <a:off x="9281160" y="2971800"/>
            <a:ext cx="2194560" cy="82296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storage load increases</a:t>
            </a:r>
            <a:endParaRPr lang="en-US" sz="1300" dirty="0"/>
          </a:p>
        </p:txBody>
      </p:sp>
      <p:sp>
        <p:nvSpPr>
          <p:cNvPr id="43" name="Shape 40"/>
          <p:cNvSpPr/>
          <p:nvPr/>
        </p:nvSpPr>
        <p:spPr>
          <a:xfrm>
            <a:off x="9281160" y="4069080"/>
            <a:ext cx="310896" cy="146304"/>
          </a:xfrm>
          <a:prstGeom prst="rect">
            <a:avLst/>
          </a:prstGeom>
          <a:solidFill>
            <a:srgbClr val="5F7A3A"/>
          </a:solidFill>
          <a:ln/>
        </p:spPr>
      </p:sp>
      <p:sp>
        <p:nvSpPr>
          <p:cNvPr id="44" name="Shape 41"/>
          <p:cNvSpPr/>
          <p:nvPr/>
        </p:nvSpPr>
        <p:spPr>
          <a:xfrm>
            <a:off x="9665208" y="4069080"/>
            <a:ext cx="310896" cy="146304"/>
          </a:xfrm>
          <a:prstGeom prst="rect">
            <a:avLst/>
          </a:prstGeom>
          <a:solidFill>
            <a:srgbClr val="DFD6C0"/>
          </a:solidFill>
          <a:ln/>
        </p:spPr>
      </p:sp>
      <p:sp>
        <p:nvSpPr>
          <p:cNvPr id="45" name="Shape 42"/>
          <p:cNvSpPr/>
          <p:nvPr/>
        </p:nvSpPr>
        <p:spPr>
          <a:xfrm>
            <a:off x="10049256" y="4069080"/>
            <a:ext cx="310896" cy="146304"/>
          </a:xfrm>
          <a:prstGeom prst="rect">
            <a:avLst/>
          </a:prstGeom>
          <a:solidFill>
            <a:srgbClr val="DFD6C0"/>
          </a:solidFill>
          <a:ln/>
        </p:spPr>
      </p:sp>
      <p:sp>
        <p:nvSpPr>
          <p:cNvPr id="46" name="Shape 43"/>
          <p:cNvSpPr/>
          <p:nvPr/>
        </p:nvSpPr>
        <p:spPr>
          <a:xfrm>
            <a:off x="10433304" y="4069080"/>
            <a:ext cx="310896" cy="146304"/>
          </a:xfrm>
          <a:prstGeom prst="rect">
            <a:avLst/>
          </a:prstGeom>
          <a:solidFill>
            <a:srgbClr val="DFD6C0"/>
          </a:solidFill>
          <a:ln/>
        </p:spPr>
      </p:sp>
      <p:sp>
        <p:nvSpPr>
          <p:cNvPr id="47" name="Text 44"/>
          <p:cNvSpPr/>
          <p:nvPr/>
        </p:nvSpPr>
        <p:spPr>
          <a:xfrm>
            <a:off x="9281160" y="4251960"/>
            <a:ext cx="2194560" cy="228600"/>
          </a:xfrm>
          <a:prstGeom prst="rect">
            <a:avLst/>
          </a:prstGeom>
          <a:noFill/>
          <a:ln/>
        </p:spPr>
        <p:txBody>
          <a:bodyPr wrap="square" lIns="0" tIns="0" rIns="0" bIns="0" rtlCol="0" anchor="t"/>
          <a:lstStyle/>
          <a:p>
            <a:pPr indent="0" marL="0">
              <a:buNone/>
            </a:pPr>
            <a:r>
              <a:rPr lang="en-US" sz="1000" dirty="0">
                <a:solidFill>
                  <a:srgbClr val="9A8A72"/>
                </a:solidFill>
                <a:latin typeface="Helvetica Neue" pitchFamily="34" charset="0"/>
                <a:ea typeface="Helvetica Neue" pitchFamily="34" charset="-122"/>
                <a:cs typeface="Helvetica Neue" pitchFamily="34" charset="-120"/>
              </a:rPr>
              <a:t>blast radius</a:t>
            </a:r>
            <a:endParaRPr lang="en-US" sz="1000" dirty="0"/>
          </a:p>
        </p:txBody>
      </p:sp>
      <p:sp>
        <p:nvSpPr>
          <p:cNvPr id="48" name="Shape 45"/>
          <p:cNvSpPr/>
          <p:nvPr/>
        </p:nvSpPr>
        <p:spPr>
          <a:xfrm>
            <a:off x="548640" y="4892040"/>
            <a:ext cx="54864" cy="457200"/>
          </a:xfrm>
          <a:prstGeom prst="rect">
            <a:avLst/>
          </a:prstGeom>
          <a:solidFill>
            <a:srgbClr val="A8864A"/>
          </a:solidFill>
          <a:ln/>
        </p:spPr>
      </p:sp>
      <p:sp>
        <p:nvSpPr>
          <p:cNvPr id="49" name="Text 46"/>
          <p:cNvSpPr/>
          <p:nvPr/>
        </p:nvSpPr>
        <p:spPr>
          <a:xfrm>
            <a:off x="777240" y="48920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Three of the four are not outages — that is the structural difference from a single-server SQL deployment.</a:t>
            </a:r>
            <a:endParaRPr lang="en-US" sz="1450" dirty="0"/>
          </a:p>
        </p:txBody>
      </p:sp>
      <p:sp>
        <p:nvSpPr>
          <p:cNvPr id="50" name="Shape 47"/>
          <p:cNvSpPr/>
          <p:nvPr/>
        </p:nvSpPr>
        <p:spPr>
          <a:xfrm>
            <a:off x="548640" y="5532120"/>
            <a:ext cx="11064240" cy="1051560"/>
          </a:xfrm>
          <a:prstGeom prst="roundRect">
            <a:avLst>
              <a:gd name="adj" fmla="val 6957"/>
            </a:avLst>
          </a:prstGeom>
          <a:solidFill>
            <a:srgbClr val="DFD6C0"/>
          </a:solidFill>
          <a:ln/>
        </p:spPr>
      </p:sp>
      <p:sp>
        <p:nvSpPr>
          <p:cNvPr id="51" name="Shape 48"/>
          <p:cNvSpPr/>
          <p:nvPr/>
        </p:nvSpPr>
        <p:spPr>
          <a:xfrm>
            <a:off x="548640" y="5532120"/>
            <a:ext cx="82296" cy="1051560"/>
          </a:xfrm>
          <a:prstGeom prst="rect">
            <a:avLst/>
          </a:prstGeom>
          <a:solidFill>
            <a:srgbClr val="A8864A"/>
          </a:solidFill>
          <a:ln/>
        </p:spPr>
      </p:sp>
      <p:sp>
        <p:nvSpPr>
          <p:cNvPr id="52" name="Text 49"/>
          <p:cNvSpPr/>
          <p:nvPr/>
        </p:nvSpPr>
        <p:spPr>
          <a:xfrm>
            <a:off x="822960" y="564184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§1</a:t>
            </a:r>
            <a:endParaRPr lang="en-US" sz="1300" dirty="0"/>
          </a:p>
        </p:txBody>
      </p:sp>
      <p:sp>
        <p:nvSpPr>
          <p:cNvPr id="53" name="Shape 50"/>
          <p:cNvSpPr/>
          <p:nvPr/>
        </p:nvSpPr>
        <p:spPr>
          <a:xfrm>
            <a:off x="10561320" y="5641848"/>
            <a:ext cx="777240" cy="292608"/>
          </a:xfrm>
          <a:prstGeom prst="roundRect">
            <a:avLst>
              <a:gd name="adj" fmla="val 25000"/>
            </a:avLst>
          </a:prstGeom>
          <a:solidFill>
            <a:srgbClr val="DDE3CC"/>
          </a:solidFill>
          <a:ln/>
        </p:spPr>
      </p:sp>
      <p:sp>
        <p:nvSpPr>
          <p:cNvPr id="54" name="Text 51"/>
          <p:cNvSpPr/>
          <p:nvPr/>
        </p:nvSpPr>
        <p:spPr>
          <a:xfrm>
            <a:off x="10561320" y="5641848"/>
            <a:ext cx="777240" cy="292608"/>
          </a:xfrm>
          <a:prstGeom prst="rect">
            <a:avLst/>
          </a:prstGeom>
          <a:noFill/>
          <a:ln/>
        </p:spPr>
        <p:txBody>
          <a:bodyPr wrap="square" lIns="0" tIns="0" rIns="0" bIns="0" rtlCol="0" anchor="ctr"/>
          <a:lstStyle/>
          <a:p>
            <a:pPr algn="ctr" indent="0" marL="0">
              <a:buNone/>
            </a:pPr>
            <a:r>
              <a:rPr lang="en-US" sz="1100" b="1" dirty="0">
                <a:solidFill>
                  <a:srgbClr val="5F7A3A"/>
                </a:solidFill>
                <a:latin typeface="Helvetica Neue" pitchFamily="34" charset="0"/>
                <a:ea typeface="Helvetica Neue" pitchFamily="34" charset="-122"/>
                <a:cs typeface="Helvetica Neue" pitchFamily="34" charset="-120"/>
              </a:rPr>
              <a:t>[MEM]</a:t>
            </a:r>
            <a:endParaRPr lang="en-US" sz="1100" dirty="0"/>
          </a:p>
        </p:txBody>
      </p:sp>
      <p:sp>
        <p:nvSpPr>
          <p:cNvPr id="55" name="Text 52"/>
          <p:cNvSpPr/>
          <p:nvPr/>
        </p:nvSpPr>
        <p:spPr>
          <a:xfrm>
            <a:off x="822960" y="5989320"/>
            <a:ext cx="10515600" cy="48463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(d/basis-t (d/db conn))  ·  (d/q all-readings (d/db conn))  ·  (:datoms (d/db-stats (d/db conn)))</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A peer's position in time, its data, and its size — the three things you check first on any peer.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THE FAILURE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Why that is different from one SQL server</a:t>
            </a:r>
            <a:endParaRPr lang="en-US" sz="2500" dirty="0"/>
          </a:p>
        </p:txBody>
      </p:sp>
      <p:sp>
        <p:nvSpPr>
          <p:cNvPr id="8" name="Shape 5"/>
          <p:cNvSpPr/>
          <p:nvPr/>
        </p:nvSpPr>
        <p:spPr>
          <a:xfrm>
            <a:off x="548640" y="1325880"/>
            <a:ext cx="5349240" cy="3657600"/>
          </a:xfrm>
          <a:prstGeom prst="roundRect">
            <a:avLst>
              <a:gd name="adj" fmla="val 2000"/>
            </a:avLst>
          </a:prstGeom>
          <a:solidFill>
            <a:srgbClr val="E6DFCE"/>
          </a:solidFill>
          <a:ln/>
        </p:spPr>
      </p:sp>
      <p:sp>
        <p:nvSpPr>
          <p:cNvPr id="9" name="Shape 6"/>
          <p:cNvSpPr/>
          <p:nvPr/>
        </p:nvSpPr>
        <p:spPr>
          <a:xfrm>
            <a:off x="548640" y="1325880"/>
            <a:ext cx="5349240" cy="384048"/>
          </a:xfrm>
          <a:prstGeom prst="roundRect">
            <a:avLst>
              <a:gd name="adj" fmla="val 19048"/>
            </a:avLst>
          </a:prstGeom>
          <a:solidFill>
            <a:srgbClr val="EBD5CB"/>
          </a:solidFill>
          <a:ln/>
        </p:spPr>
      </p:sp>
      <p:sp>
        <p:nvSpPr>
          <p:cNvPr id="10" name="Text 7"/>
          <p:cNvSpPr/>
          <p:nvPr/>
        </p:nvSpPr>
        <p:spPr>
          <a:xfrm>
            <a:off x="749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9E4227"/>
                </a:solidFill>
                <a:latin typeface="Helvetica Neue" pitchFamily="34" charset="0"/>
                <a:ea typeface="Helvetica Neue" pitchFamily="34" charset="-122"/>
                <a:cs typeface="Helvetica Neue" pitchFamily="34" charset="-120"/>
              </a:rPr>
              <a:t>ONE SQL SERVER</a:t>
            </a:r>
            <a:endParaRPr lang="en-US" sz="1250" dirty="0"/>
          </a:p>
        </p:txBody>
      </p:sp>
      <p:sp>
        <p:nvSpPr>
          <p:cNvPr id="11" name="Shape 8"/>
          <p:cNvSpPr/>
          <p:nvPr/>
        </p:nvSpPr>
        <p:spPr>
          <a:xfrm>
            <a:off x="1463040" y="2011680"/>
            <a:ext cx="3520440" cy="2377440"/>
          </a:xfrm>
          <a:prstGeom prst="roundRect">
            <a:avLst>
              <a:gd name="adj" fmla="val 2308"/>
            </a:avLst>
          </a:prstGeom>
          <a:solidFill>
            <a:srgbClr val="EBD5CB"/>
          </a:solidFill>
          <a:ln w="15875">
            <a:solidFill>
              <a:srgbClr val="9E4227"/>
            </a:solidFill>
            <a:prstDash val="solid"/>
          </a:ln>
        </p:spPr>
      </p:sp>
      <p:sp>
        <p:nvSpPr>
          <p:cNvPr id="12" name="Text 9"/>
          <p:cNvSpPr/>
          <p:nvPr/>
        </p:nvSpPr>
        <p:spPr>
          <a:xfrm>
            <a:off x="1536192" y="2889504"/>
            <a:ext cx="3374136" cy="310896"/>
          </a:xfrm>
          <a:prstGeom prst="rect">
            <a:avLst/>
          </a:prstGeom>
          <a:noFill/>
          <a:ln/>
        </p:spPr>
        <p:txBody>
          <a:bodyPr wrap="square" lIns="0" tIns="0" rIns="0" bIns="0" rtlCol="0" anchor="b">
            <a:normAutofit/>
          </a:bodyPr>
          <a:lstStyle/>
          <a:p>
            <a:pPr algn="ctr" indent="0" marL="0">
              <a:buNone/>
            </a:pPr>
            <a:r>
              <a:rPr lang="en-US" sz="1600" b="1" dirty="0">
                <a:solidFill>
                  <a:srgbClr val="3A2C1A"/>
                </a:solidFill>
                <a:latin typeface="Helvetica Neue" pitchFamily="34" charset="0"/>
                <a:ea typeface="Helvetica Neue" pitchFamily="34" charset="-122"/>
                <a:cs typeface="Helvetica Neue" pitchFamily="34" charset="-120"/>
              </a:rPr>
              <a:t>the server</a:t>
            </a:r>
            <a:endParaRPr lang="en-US" sz="1600" dirty="0"/>
          </a:p>
        </p:txBody>
      </p:sp>
      <p:sp>
        <p:nvSpPr>
          <p:cNvPr id="13" name="Text 10"/>
          <p:cNvSpPr/>
          <p:nvPr/>
        </p:nvSpPr>
        <p:spPr>
          <a:xfrm>
            <a:off x="1536192" y="3182112"/>
            <a:ext cx="3374136" cy="384048"/>
          </a:xfrm>
          <a:prstGeom prst="rect">
            <a:avLst/>
          </a:prstGeom>
          <a:noFill/>
          <a:ln/>
        </p:spPr>
        <p:txBody>
          <a:bodyPr wrap="square" lIns="0" tIns="0" rIns="0" bIns="0" rtlCol="0" anchor="t">
            <a:normAutofit/>
          </a:bodyPr>
          <a:lstStyle/>
          <a:p>
            <a:pPr algn="ctr" indent="0" marL="0">
              <a:buNone/>
            </a:pPr>
            <a:r>
              <a:rPr lang="en-US" sz="1100" dirty="0">
                <a:solidFill>
                  <a:srgbClr val="6B5A44"/>
                </a:solidFill>
                <a:latin typeface="Helvetica Neue" pitchFamily="34" charset="0"/>
                <a:ea typeface="Helvetica Neue" pitchFamily="34" charset="-122"/>
                <a:cs typeface="Helvetica Neue" pitchFamily="34" charset="-120"/>
              </a:rPr>
              <a:t>query engine + writer + cache + durability</a:t>
            </a:r>
            <a:endParaRPr lang="en-US" sz="1100" dirty="0"/>
          </a:p>
        </p:txBody>
      </p:sp>
      <p:sp>
        <p:nvSpPr>
          <p:cNvPr id="14" name="Text 11"/>
          <p:cNvSpPr/>
          <p:nvPr/>
        </p:nvSpPr>
        <p:spPr>
          <a:xfrm>
            <a:off x="1463040" y="4526280"/>
            <a:ext cx="3520440" cy="457200"/>
          </a:xfrm>
          <a:prstGeom prst="rect">
            <a:avLst/>
          </a:prstGeom>
          <a:noFill/>
          <a:ln/>
        </p:spPr>
        <p:txBody>
          <a:bodyPr wrap="square" lIns="0" tIns="0" rIns="0" bIns="0" rtlCol="0" anchor="t"/>
          <a:lstStyle/>
          <a:p>
            <a:pPr algn="ctr" indent="0" marL="0">
              <a:buNone/>
            </a:pPr>
            <a:r>
              <a:rPr lang="en-US" sz="1300" dirty="0">
                <a:solidFill>
                  <a:srgbClr val="9E4227"/>
                </a:solidFill>
                <a:latin typeface="Helvetica Neue" pitchFamily="34" charset="0"/>
                <a:ea typeface="Helvetica Neue" pitchFamily="34" charset="-122"/>
                <a:cs typeface="Helvetica Neue" pitchFamily="34" charset="-120"/>
              </a:rPr>
              <a:t>one process, four responsibilities</a:t>
            </a:r>
            <a:endParaRPr lang="en-US" sz="1300" dirty="0"/>
          </a:p>
          <a:p>
            <a:pPr algn="ctr" indent="0" marL="0">
              <a:buNone/>
            </a:pPr>
            <a:r>
              <a:rPr lang="en-US" sz="1300" dirty="0">
                <a:solidFill>
                  <a:srgbClr val="9E4227"/>
                </a:solidFill>
                <a:latin typeface="Helvetica Neue" pitchFamily="34" charset="0"/>
                <a:ea typeface="Helvetica Neue" pitchFamily="34" charset="-122"/>
                <a:cs typeface="Helvetica Neue" pitchFamily="34" charset="-120"/>
              </a:rPr>
              <a:t>→ one failure mode</a:t>
            </a:r>
            <a:endParaRPr lang="en-US" sz="1300" dirty="0"/>
          </a:p>
        </p:txBody>
      </p:sp>
      <p:sp>
        <p:nvSpPr>
          <p:cNvPr id="15" name="Shape 12"/>
          <p:cNvSpPr/>
          <p:nvPr/>
        </p:nvSpPr>
        <p:spPr>
          <a:xfrm>
            <a:off x="6263640" y="1325880"/>
            <a:ext cx="5349240" cy="3657600"/>
          </a:xfrm>
          <a:prstGeom prst="roundRect">
            <a:avLst>
              <a:gd name="adj" fmla="val 2000"/>
            </a:avLst>
          </a:prstGeom>
          <a:solidFill>
            <a:srgbClr val="E6DFCE"/>
          </a:solidFill>
          <a:ln/>
        </p:spPr>
      </p:sp>
      <p:sp>
        <p:nvSpPr>
          <p:cNvPr id="16" name="Shape 13"/>
          <p:cNvSpPr/>
          <p:nvPr/>
        </p:nvSpPr>
        <p:spPr>
          <a:xfrm>
            <a:off x="6263640" y="1325880"/>
            <a:ext cx="5349240" cy="384048"/>
          </a:xfrm>
          <a:prstGeom prst="roundRect">
            <a:avLst>
              <a:gd name="adj" fmla="val 19048"/>
            </a:avLst>
          </a:prstGeom>
          <a:solidFill>
            <a:srgbClr val="DDE3CC"/>
          </a:solidFill>
          <a:ln/>
        </p:spPr>
      </p:sp>
      <p:sp>
        <p:nvSpPr>
          <p:cNvPr id="17" name="Text 14"/>
          <p:cNvSpPr/>
          <p:nvPr/>
        </p:nvSpPr>
        <p:spPr>
          <a:xfrm>
            <a:off x="6464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5F7A3A"/>
                </a:solidFill>
                <a:latin typeface="Helvetica Neue" pitchFamily="34" charset="0"/>
                <a:ea typeface="Helvetica Neue" pitchFamily="34" charset="-122"/>
                <a:cs typeface="Helvetica Neue" pitchFamily="34" charset="-120"/>
              </a:rPr>
              <a:t>DATOMIC</a:t>
            </a:r>
            <a:endParaRPr lang="en-US" sz="1250" dirty="0"/>
          </a:p>
        </p:txBody>
      </p:sp>
      <p:sp>
        <p:nvSpPr>
          <p:cNvPr id="18" name="Shape 15"/>
          <p:cNvSpPr/>
          <p:nvPr/>
        </p:nvSpPr>
        <p:spPr>
          <a:xfrm>
            <a:off x="6537960" y="1920240"/>
            <a:ext cx="4800600" cy="548640"/>
          </a:xfrm>
          <a:prstGeom prst="roundRect">
            <a:avLst>
              <a:gd name="adj" fmla="val 10000"/>
            </a:avLst>
          </a:prstGeom>
          <a:solidFill>
            <a:srgbClr val="D3DEE1"/>
          </a:solidFill>
          <a:ln w="15875">
            <a:solidFill>
              <a:srgbClr val="3F6470"/>
            </a:solidFill>
            <a:prstDash val="solid"/>
          </a:ln>
        </p:spPr>
      </p:sp>
      <p:sp>
        <p:nvSpPr>
          <p:cNvPr id="19" name="Text 16"/>
          <p:cNvSpPr/>
          <p:nvPr/>
        </p:nvSpPr>
        <p:spPr>
          <a:xfrm>
            <a:off x="6611112" y="1920240"/>
            <a:ext cx="4654296" cy="548640"/>
          </a:xfrm>
          <a:prstGeom prst="rect">
            <a:avLst/>
          </a:prstGeom>
          <a:noFill/>
          <a:ln/>
        </p:spPr>
        <p:txBody>
          <a:bodyPr wrap="square" lIns="0" tIns="0" rIns="0" bIns="0" rtlCol="0" anchor="ctr">
            <a:normAutofit/>
          </a:bodyPr>
          <a:lstStyle/>
          <a:p>
            <a:pPr algn="l" indent="0" marL="0">
              <a:buNone/>
            </a:pPr>
            <a:r>
              <a:rPr lang="en-US" sz="1300" b="1" dirty="0">
                <a:solidFill>
                  <a:srgbClr val="3A2C1A"/>
                </a:solidFill>
                <a:latin typeface="Helvetica Neue" pitchFamily="34" charset="0"/>
                <a:ea typeface="Helvetica Neue" pitchFamily="34" charset="-122"/>
                <a:cs typeface="Helvetica Neue" pitchFamily="34" charset="-120"/>
              </a:rPr>
              <a:t>query engine</a:t>
            </a:r>
            <a:endParaRPr lang="en-US" sz="1300" dirty="0"/>
          </a:p>
        </p:txBody>
      </p:sp>
      <p:sp>
        <p:nvSpPr>
          <p:cNvPr id="20" name="Text 17"/>
          <p:cNvSpPr/>
          <p:nvPr/>
        </p:nvSpPr>
        <p:spPr>
          <a:xfrm>
            <a:off x="8778240" y="1920240"/>
            <a:ext cx="2423160" cy="548640"/>
          </a:xfrm>
          <a:prstGeom prst="rect">
            <a:avLst/>
          </a:prstGeom>
          <a:noFill/>
          <a:ln/>
        </p:spPr>
        <p:txBody>
          <a:bodyPr wrap="square" lIns="0" tIns="0" rIns="0" bIns="0" rtlCol="0" anchor="ctr"/>
          <a:lstStyle/>
          <a:p>
            <a:pPr algn="r" indent="0" marL="0">
              <a:buNone/>
            </a:pPr>
            <a:r>
              <a:rPr lang="en-US" sz="1150" dirty="0">
                <a:solidFill>
                  <a:srgbClr val="6B5A44"/>
                </a:solidFill>
                <a:latin typeface="Helvetica Neue" pitchFamily="34" charset="0"/>
                <a:ea typeface="Helvetica Neue" pitchFamily="34" charset="-122"/>
                <a:cs typeface="Helvetica Neue" pitchFamily="34" charset="-120"/>
              </a:rPr>
              <a:t>peer — local</a:t>
            </a:r>
            <a:endParaRPr lang="en-US" sz="1150" dirty="0"/>
          </a:p>
        </p:txBody>
      </p:sp>
      <p:sp>
        <p:nvSpPr>
          <p:cNvPr id="21" name="Shape 18"/>
          <p:cNvSpPr/>
          <p:nvPr/>
        </p:nvSpPr>
        <p:spPr>
          <a:xfrm>
            <a:off x="6537960" y="2578608"/>
            <a:ext cx="4800600" cy="548640"/>
          </a:xfrm>
          <a:prstGeom prst="roundRect">
            <a:avLst>
              <a:gd name="adj" fmla="val 10000"/>
            </a:avLst>
          </a:prstGeom>
          <a:solidFill>
            <a:srgbClr val="DDE3CC"/>
          </a:solidFill>
          <a:ln w="15875">
            <a:solidFill>
              <a:srgbClr val="5F7A3A"/>
            </a:solidFill>
            <a:prstDash val="solid"/>
          </a:ln>
        </p:spPr>
      </p:sp>
      <p:sp>
        <p:nvSpPr>
          <p:cNvPr id="22" name="Text 19"/>
          <p:cNvSpPr/>
          <p:nvPr/>
        </p:nvSpPr>
        <p:spPr>
          <a:xfrm>
            <a:off x="6611112" y="2578608"/>
            <a:ext cx="4654296" cy="548640"/>
          </a:xfrm>
          <a:prstGeom prst="rect">
            <a:avLst/>
          </a:prstGeom>
          <a:noFill/>
          <a:ln/>
        </p:spPr>
        <p:txBody>
          <a:bodyPr wrap="square" lIns="0" tIns="0" rIns="0" bIns="0" rtlCol="0" anchor="ctr">
            <a:normAutofit/>
          </a:bodyPr>
          <a:lstStyle/>
          <a:p>
            <a:pPr algn="l" indent="0" marL="0">
              <a:buNone/>
            </a:pPr>
            <a:r>
              <a:rPr lang="en-US" sz="1300" b="1" dirty="0">
                <a:solidFill>
                  <a:srgbClr val="3A2C1A"/>
                </a:solidFill>
                <a:latin typeface="Helvetica Neue" pitchFamily="34" charset="0"/>
                <a:ea typeface="Helvetica Neue" pitchFamily="34" charset="-122"/>
                <a:cs typeface="Helvetica Neue" pitchFamily="34" charset="-120"/>
              </a:rPr>
              <a:t>writer</a:t>
            </a:r>
            <a:endParaRPr lang="en-US" sz="1300" dirty="0"/>
          </a:p>
        </p:txBody>
      </p:sp>
      <p:sp>
        <p:nvSpPr>
          <p:cNvPr id="23" name="Text 20"/>
          <p:cNvSpPr/>
          <p:nvPr/>
        </p:nvSpPr>
        <p:spPr>
          <a:xfrm>
            <a:off x="8778240" y="2578608"/>
            <a:ext cx="2423160" cy="548640"/>
          </a:xfrm>
          <a:prstGeom prst="rect">
            <a:avLst/>
          </a:prstGeom>
          <a:noFill/>
          <a:ln/>
        </p:spPr>
        <p:txBody>
          <a:bodyPr wrap="square" lIns="0" tIns="0" rIns="0" bIns="0" rtlCol="0" anchor="ctr"/>
          <a:lstStyle/>
          <a:p>
            <a:pPr algn="r" indent="0" marL="0">
              <a:buNone/>
            </a:pPr>
            <a:r>
              <a:rPr lang="en-US" sz="1150" dirty="0">
                <a:solidFill>
                  <a:srgbClr val="6B5A44"/>
                </a:solidFill>
                <a:latin typeface="Helvetica Neue" pitchFamily="34" charset="0"/>
                <a:ea typeface="Helvetica Neue" pitchFamily="34" charset="-122"/>
                <a:cs typeface="Helvetica Neue" pitchFamily="34" charset="-120"/>
              </a:rPr>
              <a:t>transactor — HA</a:t>
            </a:r>
            <a:endParaRPr lang="en-US" sz="1150" dirty="0"/>
          </a:p>
        </p:txBody>
      </p:sp>
      <p:sp>
        <p:nvSpPr>
          <p:cNvPr id="24" name="Shape 21"/>
          <p:cNvSpPr/>
          <p:nvPr/>
        </p:nvSpPr>
        <p:spPr>
          <a:xfrm>
            <a:off x="6537960" y="3236976"/>
            <a:ext cx="4800600" cy="548640"/>
          </a:xfrm>
          <a:prstGeom prst="roundRect">
            <a:avLst>
              <a:gd name="adj" fmla="val 10000"/>
            </a:avLst>
          </a:prstGeom>
          <a:solidFill>
            <a:srgbClr val="E6DFCE"/>
          </a:solidFill>
          <a:ln w="15875">
            <a:solidFill>
              <a:srgbClr val="C9BDA4"/>
            </a:solidFill>
            <a:prstDash val="solid"/>
          </a:ln>
        </p:spPr>
      </p:sp>
      <p:sp>
        <p:nvSpPr>
          <p:cNvPr id="25" name="Text 22"/>
          <p:cNvSpPr/>
          <p:nvPr/>
        </p:nvSpPr>
        <p:spPr>
          <a:xfrm>
            <a:off x="6611112" y="3236976"/>
            <a:ext cx="4654296" cy="548640"/>
          </a:xfrm>
          <a:prstGeom prst="rect">
            <a:avLst/>
          </a:prstGeom>
          <a:noFill/>
          <a:ln/>
        </p:spPr>
        <p:txBody>
          <a:bodyPr wrap="square" lIns="0" tIns="0" rIns="0" bIns="0" rtlCol="0" anchor="ctr">
            <a:normAutofit/>
          </a:bodyPr>
          <a:lstStyle/>
          <a:p>
            <a:pPr algn="l" indent="0" marL="0">
              <a:buNone/>
            </a:pPr>
            <a:r>
              <a:rPr lang="en-US" sz="1300" b="1" dirty="0">
                <a:solidFill>
                  <a:srgbClr val="3A2C1A"/>
                </a:solidFill>
                <a:latin typeface="Helvetica Neue" pitchFamily="34" charset="0"/>
                <a:ea typeface="Helvetica Neue" pitchFamily="34" charset="-122"/>
                <a:cs typeface="Helvetica Neue" pitchFamily="34" charset="-120"/>
              </a:rPr>
              <a:t>cache</a:t>
            </a:r>
            <a:endParaRPr lang="en-US" sz="1300" dirty="0"/>
          </a:p>
        </p:txBody>
      </p:sp>
      <p:sp>
        <p:nvSpPr>
          <p:cNvPr id="26" name="Text 23"/>
          <p:cNvSpPr/>
          <p:nvPr/>
        </p:nvSpPr>
        <p:spPr>
          <a:xfrm>
            <a:off x="8778240" y="3236976"/>
            <a:ext cx="2423160" cy="548640"/>
          </a:xfrm>
          <a:prstGeom prst="rect">
            <a:avLst/>
          </a:prstGeom>
          <a:noFill/>
          <a:ln/>
        </p:spPr>
        <p:txBody>
          <a:bodyPr wrap="square" lIns="0" tIns="0" rIns="0" bIns="0" rtlCol="0" anchor="ctr"/>
          <a:lstStyle/>
          <a:p>
            <a:pPr algn="r" indent="0" marL="0">
              <a:buNone/>
            </a:pPr>
            <a:r>
              <a:rPr lang="en-US" sz="1150" dirty="0">
                <a:solidFill>
                  <a:srgbClr val="6B5A44"/>
                </a:solidFill>
                <a:latin typeface="Helvetica Neue" pitchFamily="34" charset="0"/>
                <a:ea typeface="Helvetica Neue" pitchFamily="34" charset="-122"/>
                <a:cs typeface="Helvetica Neue" pitchFamily="34" charset="-120"/>
              </a:rPr>
              <a:t>4 tiers — Part III</a:t>
            </a:r>
            <a:endParaRPr lang="en-US" sz="1150" dirty="0"/>
          </a:p>
        </p:txBody>
      </p:sp>
      <p:sp>
        <p:nvSpPr>
          <p:cNvPr id="27" name="Shape 24"/>
          <p:cNvSpPr/>
          <p:nvPr/>
        </p:nvSpPr>
        <p:spPr>
          <a:xfrm>
            <a:off x="6537960" y="3895344"/>
            <a:ext cx="4800600" cy="548640"/>
          </a:xfrm>
          <a:prstGeom prst="roundRect">
            <a:avLst>
              <a:gd name="adj" fmla="val 10000"/>
            </a:avLst>
          </a:prstGeom>
          <a:solidFill>
            <a:srgbClr val="DFD6C0"/>
          </a:solidFill>
          <a:ln w="15875">
            <a:solidFill>
              <a:srgbClr val="9A8A72"/>
            </a:solidFill>
            <a:prstDash val="solid"/>
          </a:ln>
        </p:spPr>
      </p:sp>
      <p:sp>
        <p:nvSpPr>
          <p:cNvPr id="28" name="Text 25"/>
          <p:cNvSpPr/>
          <p:nvPr/>
        </p:nvSpPr>
        <p:spPr>
          <a:xfrm>
            <a:off x="6611112" y="3895344"/>
            <a:ext cx="4654296" cy="548640"/>
          </a:xfrm>
          <a:prstGeom prst="rect">
            <a:avLst/>
          </a:prstGeom>
          <a:noFill/>
          <a:ln/>
        </p:spPr>
        <p:txBody>
          <a:bodyPr wrap="square" lIns="0" tIns="0" rIns="0" bIns="0" rtlCol="0" anchor="ctr">
            <a:normAutofit/>
          </a:bodyPr>
          <a:lstStyle/>
          <a:p>
            <a:pPr algn="l" indent="0" marL="0">
              <a:buNone/>
            </a:pPr>
            <a:r>
              <a:rPr lang="en-US" sz="1300" b="1" dirty="0">
                <a:solidFill>
                  <a:srgbClr val="3A2C1A"/>
                </a:solidFill>
                <a:latin typeface="Helvetica Neue" pitchFamily="34" charset="0"/>
                <a:ea typeface="Helvetica Neue" pitchFamily="34" charset="-122"/>
                <a:cs typeface="Helvetica Neue" pitchFamily="34" charset="-120"/>
              </a:rPr>
              <a:t>durability</a:t>
            </a:r>
            <a:endParaRPr lang="en-US" sz="1300" dirty="0"/>
          </a:p>
        </p:txBody>
      </p:sp>
      <p:sp>
        <p:nvSpPr>
          <p:cNvPr id="29" name="Text 26"/>
          <p:cNvSpPr/>
          <p:nvPr/>
        </p:nvSpPr>
        <p:spPr>
          <a:xfrm>
            <a:off x="8778240" y="3895344"/>
            <a:ext cx="2423160" cy="548640"/>
          </a:xfrm>
          <a:prstGeom prst="rect">
            <a:avLst/>
          </a:prstGeom>
          <a:noFill/>
          <a:ln/>
        </p:spPr>
        <p:txBody>
          <a:bodyPr wrap="square" lIns="0" tIns="0" rIns="0" bIns="0" rtlCol="0" anchor="ctr"/>
          <a:lstStyle/>
          <a:p>
            <a:pPr algn="r" indent="0" marL="0">
              <a:buNone/>
            </a:pPr>
            <a:r>
              <a:rPr lang="en-US" sz="1150" dirty="0">
                <a:solidFill>
                  <a:srgbClr val="6B5A44"/>
                </a:solidFill>
                <a:latin typeface="Helvetica Neue" pitchFamily="34" charset="0"/>
                <a:ea typeface="Helvetica Neue" pitchFamily="34" charset="-122"/>
                <a:cs typeface="Helvetica Neue" pitchFamily="34" charset="-120"/>
              </a:rPr>
              <a:t>storage — replicate it</a:t>
            </a:r>
            <a:endParaRPr lang="en-US" sz="1150" dirty="0"/>
          </a:p>
        </p:txBody>
      </p:sp>
      <p:sp>
        <p:nvSpPr>
          <p:cNvPr id="30" name="Text 27"/>
          <p:cNvSpPr/>
          <p:nvPr/>
        </p:nvSpPr>
        <p:spPr>
          <a:xfrm>
            <a:off x="6537960" y="4526280"/>
            <a:ext cx="4800600" cy="457200"/>
          </a:xfrm>
          <a:prstGeom prst="rect">
            <a:avLst/>
          </a:prstGeom>
          <a:noFill/>
          <a:ln/>
        </p:spPr>
        <p:txBody>
          <a:bodyPr wrap="square" lIns="0" tIns="0" rIns="0" bIns="0" rtlCol="0" anchor="t"/>
          <a:lstStyle/>
          <a:p>
            <a:pPr algn="ctr" indent="0" marL="0">
              <a:buNone/>
            </a:pPr>
            <a:r>
              <a:rPr lang="en-US" sz="1300" dirty="0">
                <a:solidFill>
                  <a:srgbClr val="5F7A3A"/>
                </a:solidFill>
                <a:latin typeface="Helvetica Neue" pitchFamily="34" charset="0"/>
                <a:ea typeface="Helvetica Neue" pitchFamily="34" charset="-122"/>
                <a:cs typeface="Helvetica Neue" pitchFamily="34" charset="-120"/>
              </a:rPr>
              <a:t>four processes, four failure modes</a:t>
            </a:r>
            <a:endParaRPr lang="en-US" sz="1300" dirty="0"/>
          </a:p>
          <a:p>
            <a:pPr algn="ctr" indent="0" marL="0">
              <a:buNone/>
            </a:pPr>
            <a:r>
              <a:rPr lang="en-US" sz="1300" dirty="0">
                <a:solidFill>
                  <a:srgbClr val="5F7A3A"/>
                </a:solidFill>
                <a:latin typeface="Helvetica Neue" pitchFamily="34" charset="0"/>
                <a:ea typeface="Helvetica Neue" pitchFamily="34" charset="-122"/>
                <a:cs typeface="Helvetica Neue" pitchFamily="34" charset="-120"/>
              </a:rPr>
              <a:t>→ three of them survivable</a:t>
            </a:r>
            <a:endParaRPr lang="en-US" sz="1300" dirty="0"/>
          </a:p>
        </p:txBody>
      </p:sp>
      <p:sp>
        <p:nvSpPr>
          <p:cNvPr id="31" name="Shape 28"/>
          <p:cNvSpPr/>
          <p:nvPr/>
        </p:nvSpPr>
        <p:spPr>
          <a:xfrm>
            <a:off x="548640" y="5257800"/>
            <a:ext cx="54864" cy="457200"/>
          </a:xfrm>
          <a:prstGeom prst="rect">
            <a:avLst/>
          </a:prstGeom>
          <a:solidFill>
            <a:srgbClr val="A8864A"/>
          </a:solidFill>
          <a:ln/>
        </p:spPr>
      </p:sp>
      <p:sp>
        <p:nvSpPr>
          <p:cNvPr id="32" name="Text 29"/>
          <p:cNvSpPr/>
          <p:nvPr/>
        </p:nvSpPr>
        <p:spPr>
          <a:xfrm>
            <a:off x="777240" y="52578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Separate processes fail separately. That is the whole operational thesis of this class.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THE FAILURE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8</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asymmetry: reads fan out, writes funnel in</a:t>
            </a:r>
            <a:endParaRPr lang="en-US" sz="2500" dirty="0"/>
          </a:p>
        </p:txBody>
      </p:sp>
      <p:sp>
        <p:nvSpPr>
          <p:cNvPr id="8" name="Shape 5"/>
          <p:cNvSpPr/>
          <p:nvPr/>
        </p:nvSpPr>
        <p:spPr>
          <a:xfrm>
            <a:off x="548640" y="1325880"/>
            <a:ext cx="5349240" cy="3931920"/>
          </a:xfrm>
          <a:prstGeom prst="roundRect">
            <a:avLst>
              <a:gd name="adj" fmla="val 1860"/>
            </a:avLst>
          </a:prstGeom>
          <a:solidFill>
            <a:srgbClr val="E6DFCE"/>
          </a:solidFill>
          <a:ln/>
        </p:spPr>
      </p:sp>
      <p:sp>
        <p:nvSpPr>
          <p:cNvPr id="9" name="Shape 6"/>
          <p:cNvSpPr/>
          <p:nvPr/>
        </p:nvSpPr>
        <p:spPr>
          <a:xfrm>
            <a:off x="548640" y="1325880"/>
            <a:ext cx="5349240" cy="384048"/>
          </a:xfrm>
          <a:prstGeom prst="roundRect">
            <a:avLst>
              <a:gd name="adj" fmla="val 19048"/>
            </a:avLst>
          </a:prstGeom>
          <a:solidFill>
            <a:srgbClr val="DFD6C0"/>
          </a:solidFill>
          <a:ln/>
        </p:spPr>
      </p:sp>
      <p:sp>
        <p:nvSpPr>
          <p:cNvPr id="10" name="Text 7"/>
          <p:cNvSpPr/>
          <p:nvPr/>
        </p:nvSpPr>
        <p:spPr>
          <a:xfrm>
            <a:off x="749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READS  —  fan out</a:t>
            </a:r>
            <a:endParaRPr lang="en-US" sz="1250" dirty="0"/>
          </a:p>
        </p:txBody>
      </p:sp>
      <p:sp>
        <p:nvSpPr>
          <p:cNvPr id="11" name="Shape 8"/>
          <p:cNvSpPr/>
          <p:nvPr/>
        </p:nvSpPr>
        <p:spPr>
          <a:xfrm>
            <a:off x="2331720" y="1874520"/>
            <a:ext cx="1783080" cy="566928"/>
          </a:xfrm>
          <a:prstGeom prst="roundRect">
            <a:avLst>
              <a:gd name="adj" fmla="val 9677"/>
            </a:avLst>
          </a:prstGeom>
          <a:solidFill>
            <a:srgbClr val="DFD6C0"/>
          </a:solidFill>
          <a:ln/>
        </p:spPr>
      </p:sp>
      <p:sp>
        <p:nvSpPr>
          <p:cNvPr id="12" name="Text 9"/>
          <p:cNvSpPr/>
          <p:nvPr/>
        </p:nvSpPr>
        <p:spPr>
          <a:xfrm>
            <a:off x="2404872" y="1874520"/>
            <a:ext cx="1636776" cy="56692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clients</a:t>
            </a:r>
            <a:endParaRPr lang="en-US" sz="1300" dirty="0"/>
          </a:p>
        </p:txBody>
      </p:sp>
      <p:sp>
        <p:nvSpPr>
          <p:cNvPr id="13" name="Shape 10"/>
          <p:cNvSpPr/>
          <p:nvPr/>
        </p:nvSpPr>
        <p:spPr>
          <a:xfrm flipH="1">
            <a:off x="1554480" y="2441448"/>
            <a:ext cx="1645920" cy="484632"/>
          </a:xfrm>
          <a:prstGeom prst="line">
            <a:avLst/>
          </a:prstGeom>
          <a:noFill/>
          <a:ln w="19050">
            <a:solidFill>
              <a:srgbClr val="3F6470"/>
            </a:solidFill>
            <a:prstDash val="solid"/>
            <a:headEnd type="none"/>
            <a:tailEnd type="triangle"/>
          </a:ln>
        </p:spPr>
      </p:sp>
      <p:sp>
        <p:nvSpPr>
          <p:cNvPr id="14" name="Shape 11"/>
          <p:cNvSpPr/>
          <p:nvPr/>
        </p:nvSpPr>
        <p:spPr>
          <a:xfrm>
            <a:off x="868680" y="2926080"/>
            <a:ext cx="1371600" cy="566928"/>
          </a:xfrm>
          <a:prstGeom prst="roundRect">
            <a:avLst>
              <a:gd name="adj" fmla="val 9677"/>
            </a:avLst>
          </a:prstGeom>
          <a:solidFill>
            <a:srgbClr val="D3DEE1"/>
          </a:solidFill>
          <a:ln w="15875">
            <a:solidFill>
              <a:srgbClr val="3F6470"/>
            </a:solidFill>
            <a:prstDash val="solid"/>
          </a:ln>
        </p:spPr>
      </p:sp>
      <p:sp>
        <p:nvSpPr>
          <p:cNvPr id="15" name="Text 12"/>
          <p:cNvSpPr/>
          <p:nvPr/>
        </p:nvSpPr>
        <p:spPr>
          <a:xfrm>
            <a:off x="941832" y="2926080"/>
            <a:ext cx="1225296" cy="566928"/>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16" name="Shape 13"/>
          <p:cNvSpPr/>
          <p:nvPr/>
        </p:nvSpPr>
        <p:spPr>
          <a:xfrm>
            <a:off x="1554480" y="3493008"/>
            <a:ext cx="0" cy="576072"/>
          </a:xfrm>
          <a:prstGeom prst="line">
            <a:avLst/>
          </a:prstGeom>
          <a:noFill/>
          <a:ln w="19050">
            <a:solidFill>
              <a:srgbClr val="3F6470"/>
            </a:solidFill>
            <a:prstDash val="dash"/>
            <a:headEnd type="none"/>
            <a:tailEnd type="triangle"/>
          </a:ln>
        </p:spPr>
      </p:sp>
      <p:sp>
        <p:nvSpPr>
          <p:cNvPr id="17" name="Shape 14"/>
          <p:cNvSpPr/>
          <p:nvPr/>
        </p:nvSpPr>
        <p:spPr>
          <a:xfrm>
            <a:off x="3200400" y="2441448"/>
            <a:ext cx="45720" cy="484632"/>
          </a:xfrm>
          <a:prstGeom prst="line">
            <a:avLst/>
          </a:prstGeom>
          <a:noFill/>
          <a:ln w="19050">
            <a:solidFill>
              <a:srgbClr val="3F6470"/>
            </a:solidFill>
            <a:prstDash val="solid"/>
            <a:headEnd type="none"/>
            <a:tailEnd type="triangle"/>
          </a:ln>
        </p:spPr>
      </p:sp>
      <p:sp>
        <p:nvSpPr>
          <p:cNvPr id="18" name="Shape 15"/>
          <p:cNvSpPr/>
          <p:nvPr/>
        </p:nvSpPr>
        <p:spPr>
          <a:xfrm>
            <a:off x="2560320" y="2926080"/>
            <a:ext cx="1371600" cy="566928"/>
          </a:xfrm>
          <a:prstGeom prst="roundRect">
            <a:avLst>
              <a:gd name="adj" fmla="val 9677"/>
            </a:avLst>
          </a:prstGeom>
          <a:solidFill>
            <a:srgbClr val="D3DEE1"/>
          </a:solidFill>
          <a:ln w="15875">
            <a:solidFill>
              <a:srgbClr val="3F6470"/>
            </a:solidFill>
            <a:prstDash val="solid"/>
          </a:ln>
        </p:spPr>
      </p:sp>
      <p:sp>
        <p:nvSpPr>
          <p:cNvPr id="19" name="Text 16"/>
          <p:cNvSpPr/>
          <p:nvPr/>
        </p:nvSpPr>
        <p:spPr>
          <a:xfrm>
            <a:off x="2633472" y="2926080"/>
            <a:ext cx="1225296" cy="566928"/>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20" name="Shape 17"/>
          <p:cNvSpPr/>
          <p:nvPr/>
        </p:nvSpPr>
        <p:spPr>
          <a:xfrm>
            <a:off x="3246120" y="3493008"/>
            <a:ext cx="0" cy="576072"/>
          </a:xfrm>
          <a:prstGeom prst="line">
            <a:avLst/>
          </a:prstGeom>
          <a:noFill/>
          <a:ln w="19050">
            <a:solidFill>
              <a:srgbClr val="3F6470"/>
            </a:solidFill>
            <a:prstDash val="dash"/>
            <a:headEnd type="none"/>
            <a:tailEnd type="triangle"/>
          </a:ln>
        </p:spPr>
      </p:sp>
      <p:sp>
        <p:nvSpPr>
          <p:cNvPr id="21" name="Shape 18"/>
          <p:cNvSpPr/>
          <p:nvPr/>
        </p:nvSpPr>
        <p:spPr>
          <a:xfrm>
            <a:off x="3200400" y="2441448"/>
            <a:ext cx="1737360" cy="484632"/>
          </a:xfrm>
          <a:prstGeom prst="line">
            <a:avLst/>
          </a:prstGeom>
          <a:noFill/>
          <a:ln w="19050">
            <a:solidFill>
              <a:srgbClr val="3F6470"/>
            </a:solidFill>
            <a:prstDash val="solid"/>
            <a:headEnd type="none"/>
            <a:tailEnd type="triangle"/>
          </a:ln>
        </p:spPr>
      </p:sp>
      <p:sp>
        <p:nvSpPr>
          <p:cNvPr id="22" name="Shape 19"/>
          <p:cNvSpPr/>
          <p:nvPr/>
        </p:nvSpPr>
        <p:spPr>
          <a:xfrm>
            <a:off x="4251960" y="2926080"/>
            <a:ext cx="1371600" cy="566928"/>
          </a:xfrm>
          <a:prstGeom prst="roundRect">
            <a:avLst>
              <a:gd name="adj" fmla="val 9677"/>
            </a:avLst>
          </a:prstGeom>
          <a:solidFill>
            <a:srgbClr val="D3DEE1"/>
          </a:solidFill>
          <a:ln w="15875">
            <a:solidFill>
              <a:srgbClr val="3F6470"/>
            </a:solidFill>
            <a:prstDash val="solid"/>
          </a:ln>
        </p:spPr>
      </p:sp>
      <p:sp>
        <p:nvSpPr>
          <p:cNvPr id="23" name="Text 20"/>
          <p:cNvSpPr/>
          <p:nvPr/>
        </p:nvSpPr>
        <p:spPr>
          <a:xfrm>
            <a:off x="4325112" y="2926080"/>
            <a:ext cx="1225296" cy="566928"/>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24" name="Shape 21"/>
          <p:cNvSpPr/>
          <p:nvPr/>
        </p:nvSpPr>
        <p:spPr>
          <a:xfrm>
            <a:off x="4937760" y="3493008"/>
            <a:ext cx="0" cy="576072"/>
          </a:xfrm>
          <a:prstGeom prst="line">
            <a:avLst/>
          </a:prstGeom>
          <a:noFill/>
          <a:ln w="19050">
            <a:solidFill>
              <a:srgbClr val="3F6470"/>
            </a:solidFill>
            <a:prstDash val="dash"/>
            <a:headEnd type="none"/>
            <a:tailEnd type="triangle"/>
          </a:ln>
        </p:spPr>
      </p:sp>
      <p:sp>
        <p:nvSpPr>
          <p:cNvPr id="25" name="Shape 22"/>
          <p:cNvSpPr/>
          <p:nvPr/>
        </p:nvSpPr>
        <p:spPr>
          <a:xfrm>
            <a:off x="868680" y="4069080"/>
            <a:ext cx="4709160" cy="548640"/>
          </a:xfrm>
          <a:prstGeom prst="roundRect">
            <a:avLst>
              <a:gd name="adj" fmla="val 10000"/>
            </a:avLst>
          </a:prstGeom>
          <a:solidFill>
            <a:srgbClr val="2C2416"/>
          </a:solidFill>
          <a:ln/>
        </p:spPr>
      </p:sp>
      <p:sp>
        <p:nvSpPr>
          <p:cNvPr id="26" name="Text 23"/>
          <p:cNvSpPr/>
          <p:nvPr/>
        </p:nvSpPr>
        <p:spPr>
          <a:xfrm>
            <a:off x="941832" y="4069080"/>
            <a:ext cx="4562856" cy="548640"/>
          </a:xfrm>
          <a:prstGeom prst="rect">
            <a:avLst/>
          </a:prstGeom>
          <a:noFill/>
          <a:ln/>
        </p:spPr>
        <p:txBody>
          <a:bodyPr wrap="square" lIns="0" tIns="0" rIns="0" bIns="0" rtlCol="0" anchor="ctr">
            <a:normAutofit/>
          </a:bodyPr>
          <a:lstStyle/>
          <a:p>
            <a:pPr algn="ctr" indent="0" marL="0">
              <a:buNone/>
            </a:pPr>
            <a:r>
              <a:rPr lang="en-US" sz="1200" b="1" dirty="0">
                <a:solidFill>
                  <a:srgbClr val="FCFAF4"/>
                </a:solidFill>
                <a:latin typeface="Helvetica Neue" pitchFamily="34" charset="0"/>
                <a:ea typeface="Helvetica Neue" pitchFamily="34" charset="-122"/>
                <a:cs typeface="Helvetica Neue" pitchFamily="34" charset="-120"/>
              </a:rPr>
              <a:t>caches, then storage</a:t>
            </a:r>
            <a:endParaRPr lang="en-US" sz="1200" dirty="0"/>
          </a:p>
        </p:txBody>
      </p:sp>
      <p:sp>
        <p:nvSpPr>
          <p:cNvPr id="27" name="Text 24"/>
          <p:cNvSpPr/>
          <p:nvPr/>
        </p:nvSpPr>
        <p:spPr>
          <a:xfrm>
            <a:off x="868680" y="4709160"/>
            <a:ext cx="4709160" cy="365760"/>
          </a:xfrm>
          <a:prstGeom prst="rect">
            <a:avLst/>
          </a:prstGeom>
          <a:noFill/>
          <a:ln/>
        </p:spPr>
        <p:txBody>
          <a:bodyPr wrap="square" lIns="0" tIns="0" rIns="0" bIns="0" rtlCol="0" anchor="t"/>
          <a:lstStyle/>
          <a:p>
            <a:pPr algn="ctr" indent="0" marL="0">
              <a:buNone/>
            </a:pPr>
            <a:r>
              <a:rPr lang="en-US" sz="1250" b="1" dirty="0">
                <a:solidFill>
                  <a:srgbClr val="3F6470"/>
                </a:solidFill>
                <a:latin typeface="Helvetica Neue" pitchFamily="34" charset="0"/>
                <a:ea typeface="Helvetica Neue" pitchFamily="34" charset="-122"/>
                <a:cs typeface="Helvetica Neue" pitchFamily="34" charset="-120"/>
              </a:rPr>
              <a:t>parallel · independent of the transactor</a:t>
            </a:r>
            <a:endParaRPr lang="en-US" sz="1250" dirty="0"/>
          </a:p>
        </p:txBody>
      </p:sp>
      <p:sp>
        <p:nvSpPr>
          <p:cNvPr id="28" name="Shape 25"/>
          <p:cNvSpPr/>
          <p:nvPr/>
        </p:nvSpPr>
        <p:spPr>
          <a:xfrm>
            <a:off x="6263640" y="1325880"/>
            <a:ext cx="5349240" cy="3931920"/>
          </a:xfrm>
          <a:prstGeom prst="roundRect">
            <a:avLst>
              <a:gd name="adj" fmla="val 1860"/>
            </a:avLst>
          </a:prstGeom>
          <a:solidFill>
            <a:srgbClr val="E6DFCE"/>
          </a:solidFill>
          <a:ln/>
        </p:spPr>
      </p:sp>
      <p:sp>
        <p:nvSpPr>
          <p:cNvPr id="29" name="Shape 26"/>
          <p:cNvSpPr/>
          <p:nvPr/>
        </p:nvSpPr>
        <p:spPr>
          <a:xfrm>
            <a:off x="6263640" y="1325880"/>
            <a:ext cx="5349240" cy="384048"/>
          </a:xfrm>
          <a:prstGeom prst="roundRect">
            <a:avLst>
              <a:gd name="adj" fmla="val 19048"/>
            </a:avLst>
          </a:prstGeom>
          <a:solidFill>
            <a:srgbClr val="DFD6C0"/>
          </a:solidFill>
          <a:ln/>
        </p:spPr>
      </p:sp>
      <p:sp>
        <p:nvSpPr>
          <p:cNvPr id="30" name="Text 27"/>
          <p:cNvSpPr/>
          <p:nvPr/>
        </p:nvSpPr>
        <p:spPr>
          <a:xfrm>
            <a:off x="6464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WRITES  —  funnel in</a:t>
            </a:r>
            <a:endParaRPr lang="en-US" sz="1250" dirty="0"/>
          </a:p>
        </p:txBody>
      </p:sp>
      <p:sp>
        <p:nvSpPr>
          <p:cNvPr id="31" name="Shape 28"/>
          <p:cNvSpPr/>
          <p:nvPr/>
        </p:nvSpPr>
        <p:spPr>
          <a:xfrm>
            <a:off x="6583680" y="1874520"/>
            <a:ext cx="1371600" cy="566928"/>
          </a:xfrm>
          <a:prstGeom prst="roundRect">
            <a:avLst>
              <a:gd name="adj" fmla="val 9677"/>
            </a:avLst>
          </a:prstGeom>
          <a:solidFill>
            <a:srgbClr val="E6DFCE"/>
          </a:solidFill>
          <a:ln w="15875">
            <a:solidFill>
              <a:srgbClr val="C9BDA4"/>
            </a:solidFill>
            <a:prstDash val="solid"/>
          </a:ln>
        </p:spPr>
      </p:sp>
      <p:sp>
        <p:nvSpPr>
          <p:cNvPr id="32" name="Text 29"/>
          <p:cNvSpPr/>
          <p:nvPr/>
        </p:nvSpPr>
        <p:spPr>
          <a:xfrm>
            <a:off x="6656832" y="1874520"/>
            <a:ext cx="1225296" cy="566928"/>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33" name="Shape 30"/>
          <p:cNvSpPr/>
          <p:nvPr/>
        </p:nvSpPr>
        <p:spPr>
          <a:xfrm>
            <a:off x="7269480" y="2441448"/>
            <a:ext cx="1673352" cy="484632"/>
          </a:xfrm>
          <a:prstGeom prst="line">
            <a:avLst/>
          </a:prstGeom>
          <a:noFill/>
          <a:ln w="19050">
            <a:solidFill>
              <a:srgbClr val="B5822B"/>
            </a:solidFill>
            <a:prstDash val="solid"/>
            <a:headEnd type="none"/>
            <a:tailEnd type="triangle"/>
          </a:ln>
        </p:spPr>
      </p:sp>
      <p:sp>
        <p:nvSpPr>
          <p:cNvPr id="34" name="Shape 31"/>
          <p:cNvSpPr/>
          <p:nvPr/>
        </p:nvSpPr>
        <p:spPr>
          <a:xfrm>
            <a:off x="8275320" y="1874520"/>
            <a:ext cx="1371600" cy="566928"/>
          </a:xfrm>
          <a:prstGeom prst="roundRect">
            <a:avLst>
              <a:gd name="adj" fmla="val 9677"/>
            </a:avLst>
          </a:prstGeom>
          <a:solidFill>
            <a:srgbClr val="E6DFCE"/>
          </a:solidFill>
          <a:ln w="15875">
            <a:solidFill>
              <a:srgbClr val="C9BDA4"/>
            </a:solidFill>
            <a:prstDash val="solid"/>
          </a:ln>
        </p:spPr>
      </p:sp>
      <p:sp>
        <p:nvSpPr>
          <p:cNvPr id="35" name="Text 32"/>
          <p:cNvSpPr/>
          <p:nvPr/>
        </p:nvSpPr>
        <p:spPr>
          <a:xfrm>
            <a:off x="8348472" y="1874520"/>
            <a:ext cx="1225296" cy="566928"/>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36" name="Shape 33"/>
          <p:cNvSpPr/>
          <p:nvPr/>
        </p:nvSpPr>
        <p:spPr>
          <a:xfrm flipH="1">
            <a:off x="8942832" y="2441448"/>
            <a:ext cx="18288" cy="484632"/>
          </a:xfrm>
          <a:prstGeom prst="line">
            <a:avLst/>
          </a:prstGeom>
          <a:noFill/>
          <a:ln w="19050">
            <a:solidFill>
              <a:srgbClr val="B5822B"/>
            </a:solidFill>
            <a:prstDash val="solid"/>
            <a:headEnd type="none"/>
            <a:tailEnd type="triangle"/>
          </a:ln>
        </p:spPr>
      </p:sp>
      <p:sp>
        <p:nvSpPr>
          <p:cNvPr id="37" name="Shape 34"/>
          <p:cNvSpPr/>
          <p:nvPr/>
        </p:nvSpPr>
        <p:spPr>
          <a:xfrm>
            <a:off x="9966960" y="1874520"/>
            <a:ext cx="1371600" cy="566928"/>
          </a:xfrm>
          <a:prstGeom prst="roundRect">
            <a:avLst>
              <a:gd name="adj" fmla="val 9677"/>
            </a:avLst>
          </a:prstGeom>
          <a:solidFill>
            <a:srgbClr val="E6DFCE"/>
          </a:solidFill>
          <a:ln w="15875">
            <a:solidFill>
              <a:srgbClr val="C9BDA4"/>
            </a:solidFill>
            <a:prstDash val="solid"/>
          </a:ln>
        </p:spPr>
      </p:sp>
      <p:sp>
        <p:nvSpPr>
          <p:cNvPr id="38" name="Text 35"/>
          <p:cNvSpPr/>
          <p:nvPr/>
        </p:nvSpPr>
        <p:spPr>
          <a:xfrm>
            <a:off x="10040112" y="1874520"/>
            <a:ext cx="1225296" cy="566928"/>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39" name="Shape 36"/>
          <p:cNvSpPr/>
          <p:nvPr/>
        </p:nvSpPr>
        <p:spPr>
          <a:xfrm flipH="1">
            <a:off x="8942832" y="2441448"/>
            <a:ext cx="1709928" cy="484632"/>
          </a:xfrm>
          <a:prstGeom prst="line">
            <a:avLst/>
          </a:prstGeom>
          <a:noFill/>
          <a:ln w="19050">
            <a:solidFill>
              <a:srgbClr val="B5822B"/>
            </a:solidFill>
            <a:prstDash val="solid"/>
            <a:headEnd type="none"/>
            <a:tailEnd type="triangle"/>
          </a:ln>
        </p:spPr>
      </p:sp>
      <p:sp>
        <p:nvSpPr>
          <p:cNvPr id="40" name="Shape 37"/>
          <p:cNvSpPr/>
          <p:nvPr/>
        </p:nvSpPr>
        <p:spPr>
          <a:xfrm>
            <a:off x="7772400" y="2926080"/>
            <a:ext cx="2331720" cy="566928"/>
          </a:xfrm>
          <a:prstGeom prst="roundRect">
            <a:avLst>
              <a:gd name="adj" fmla="val 9677"/>
            </a:avLst>
          </a:prstGeom>
          <a:solidFill>
            <a:srgbClr val="EDE0C4"/>
          </a:solidFill>
          <a:ln w="15875">
            <a:solidFill>
              <a:srgbClr val="B5822B"/>
            </a:solidFill>
            <a:prstDash val="solid"/>
          </a:ln>
        </p:spPr>
      </p:sp>
      <p:sp>
        <p:nvSpPr>
          <p:cNvPr id="41" name="Text 38"/>
          <p:cNvSpPr/>
          <p:nvPr/>
        </p:nvSpPr>
        <p:spPr>
          <a:xfrm>
            <a:off x="7845552" y="2926080"/>
            <a:ext cx="2185416" cy="56692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ONE transactor</a:t>
            </a:r>
            <a:endParaRPr lang="en-US" sz="1300" dirty="0"/>
          </a:p>
        </p:txBody>
      </p:sp>
      <p:sp>
        <p:nvSpPr>
          <p:cNvPr id="42" name="Shape 39"/>
          <p:cNvSpPr/>
          <p:nvPr/>
        </p:nvSpPr>
        <p:spPr>
          <a:xfrm>
            <a:off x="8942832" y="3493008"/>
            <a:ext cx="0" cy="576072"/>
          </a:xfrm>
          <a:prstGeom prst="line">
            <a:avLst/>
          </a:prstGeom>
          <a:noFill/>
          <a:ln w="19050">
            <a:solidFill>
              <a:srgbClr val="B5822B"/>
            </a:solidFill>
            <a:prstDash val="solid"/>
            <a:headEnd type="none"/>
            <a:tailEnd type="triangle"/>
          </a:ln>
        </p:spPr>
      </p:sp>
      <p:sp>
        <p:nvSpPr>
          <p:cNvPr id="43" name="Shape 40"/>
          <p:cNvSpPr/>
          <p:nvPr/>
        </p:nvSpPr>
        <p:spPr>
          <a:xfrm>
            <a:off x="6583680" y="4069080"/>
            <a:ext cx="4709160" cy="548640"/>
          </a:xfrm>
          <a:prstGeom prst="roundRect">
            <a:avLst>
              <a:gd name="adj" fmla="val 10000"/>
            </a:avLst>
          </a:prstGeom>
          <a:solidFill>
            <a:srgbClr val="2C2416"/>
          </a:solidFill>
          <a:ln/>
        </p:spPr>
      </p:sp>
      <p:sp>
        <p:nvSpPr>
          <p:cNvPr id="44" name="Text 41"/>
          <p:cNvSpPr/>
          <p:nvPr/>
        </p:nvSpPr>
        <p:spPr>
          <a:xfrm>
            <a:off x="6656832" y="4069080"/>
            <a:ext cx="4562856" cy="548640"/>
          </a:xfrm>
          <a:prstGeom prst="rect">
            <a:avLst/>
          </a:prstGeom>
          <a:noFill/>
          <a:ln/>
        </p:spPr>
        <p:txBody>
          <a:bodyPr wrap="square" lIns="0" tIns="0" rIns="0" bIns="0" rtlCol="0" anchor="ctr">
            <a:normAutofit/>
          </a:bodyPr>
          <a:lstStyle/>
          <a:p>
            <a:pPr algn="ctr" indent="0" marL="0">
              <a:buNone/>
            </a:pPr>
            <a:r>
              <a:rPr lang="en-US" sz="1200" b="1" dirty="0">
                <a:solidFill>
                  <a:srgbClr val="FCFAF4"/>
                </a:solidFill>
                <a:latin typeface="Helvetica Neue" pitchFamily="34" charset="0"/>
                <a:ea typeface="Helvetica Neue" pitchFamily="34" charset="-122"/>
                <a:cs typeface="Helvetica Neue" pitchFamily="34" charset="-120"/>
              </a:rPr>
              <a:t>log, then indexes</a:t>
            </a:r>
            <a:endParaRPr lang="en-US" sz="1200" dirty="0"/>
          </a:p>
        </p:txBody>
      </p:sp>
      <p:sp>
        <p:nvSpPr>
          <p:cNvPr id="45" name="Text 42"/>
          <p:cNvSpPr/>
          <p:nvPr/>
        </p:nvSpPr>
        <p:spPr>
          <a:xfrm>
            <a:off x="6583680" y="4709160"/>
            <a:ext cx="4709160" cy="365760"/>
          </a:xfrm>
          <a:prstGeom prst="rect">
            <a:avLst/>
          </a:prstGeom>
          <a:noFill/>
          <a:ln/>
        </p:spPr>
        <p:txBody>
          <a:bodyPr wrap="square" lIns="0" tIns="0" rIns="0" bIns="0" rtlCol="0" anchor="t"/>
          <a:lstStyle/>
          <a:p>
            <a:pPr algn="ctr" indent="0" marL="0">
              <a:buNone/>
            </a:pPr>
            <a:r>
              <a:rPr lang="en-US" sz="1250" b="1" dirty="0">
                <a:solidFill>
                  <a:srgbClr val="B5822B"/>
                </a:solidFill>
                <a:latin typeface="Helvetica Neue" pitchFamily="34" charset="0"/>
                <a:ea typeface="Helvetica Neue" pitchFamily="34" charset="-122"/>
                <a:cs typeface="Helvetica Neue" pitchFamily="34" charset="-120"/>
              </a:rPr>
              <a:t>serialised · ordered · transactional</a:t>
            </a:r>
            <a:endParaRPr lang="en-US" sz="1250" dirty="0"/>
          </a:p>
        </p:txBody>
      </p:sp>
      <p:sp>
        <p:nvSpPr>
          <p:cNvPr id="46" name="Shape 43"/>
          <p:cNvSpPr/>
          <p:nvPr/>
        </p:nvSpPr>
        <p:spPr>
          <a:xfrm>
            <a:off x="548640" y="5486400"/>
            <a:ext cx="54864" cy="457200"/>
          </a:xfrm>
          <a:prstGeom prst="rect">
            <a:avLst/>
          </a:prstGeom>
          <a:solidFill>
            <a:srgbClr val="A8864A"/>
          </a:solidFill>
          <a:ln/>
        </p:spPr>
      </p:sp>
      <p:sp>
        <p:nvSpPr>
          <p:cNvPr id="47" name="Text 44"/>
          <p:cNvSpPr/>
          <p:nvPr/>
        </p:nvSpPr>
        <p:spPr>
          <a:xfrm>
            <a:off x="777240" y="54864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HA protects the write path. Caching accelerates the read path. Neither one helps the other.</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THE FAILURE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9</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One clarification before anyone tunes anything</a:t>
            </a:r>
            <a:endParaRPr lang="en-US" sz="2500" dirty="0"/>
          </a:p>
        </p:txBody>
      </p:sp>
      <p:sp>
        <p:nvSpPr>
          <p:cNvPr id="8" name="Shape 5"/>
          <p:cNvSpPr/>
          <p:nvPr/>
        </p:nvSpPr>
        <p:spPr>
          <a:xfrm>
            <a:off x="548640" y="1325880"/>
            <a:ext cx="5349240" cy="2377440"/>
          </a:xfrm>
          <a:prstGeom prst="roundRect">
            <a:avLst>
              <a:gd name="adj" fmla="val 3077"/>
            </a:avLst>
          </a:prstGeom>
          <a:solidFill>
            <a:srgbClr val="E6DFCE"/>
          </a:solidFill>
          <a:ln/>
        </p:spPr>
      </p:sp>
      <p:sp>
        <p:nvSpPr>
          <p:cNvPr id="9" name="Shape 6"/>
          <p:cNvSpPr/>
          <p:nvPr/>
        </p:nvSpPr>
        <p:spPr>
          <a:xfrm>
            <a:off x="548640" y="1325880"/>
            <a:ext cx="5349240" cy="384048"/>
          </a:xfrm>
          <a:prstGeom prst="roundRect">
            <a:avLst>
              <a:gd name="adj" fmla="val 19048"/>
            </a:avLst>
          </a:prstGeom>
          <a:solidFill>
            <a:srgbClr val="DFD6C0"/>
          </a:solidFill>
          <a:ln/>
        </p:spPr>
      </p:sp>
      <p:sp>
        <p:nvSpPr>
          <p:cNvPr id="10" name="Text 7"/>
          <p:cNvSpPr/>
          <p:nvPr/>
        </p:nvSpPr>
        <p:spPr>
          <a:xfrm>
            <a:off x="749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WHAT d/db-stats TELLS YOU</a:t>
            </a:r>
            <a:endParaRPr lang="en-US" sz="1250" dirty="0"/>
          </a:p>
        </p:txBody>
      </p:sp>
      <p:sp>
        <p:nvSpPr>
          <p:cNvPr id="11" name="Shape 8"/>
          <p:cNvSpPr/>
          <p:nvPr/>
        </p:nvSpPr>
        <p:spPr>
          <a:xfrm>
            <a:off x="777240" y="1874520"/>
            <a:ext cx="4892040" cy="914400"/>
          </a:xfrm>
          <a:prstGeom prst="roundRect">
            <a:avLst>
              <a:gd name="adj" fmla="val 8000"/>
            </a:avLst>
          </a:prstGeom>
          <a:solidFill>
            <a:srgbClr val="E6DFCE"/>
          </a:solidFill>
          <a:ln/>
        </p:spPr>
      </p:sp>
      <p:sp>
        <p:nvSpPr>
          <p:cNvPr id="12" name="Text 9"/>
          <p:cNvSpPr/>
          <p:nvPr/>
        </p:nvSpPr>
        <p:spPr>
          <a:xfrm>
            <a:off x="978408" y="2020824"/>
            <a:ext cx="4489704" cy="62179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(:datoms (d/db-stats (d/db conn)))</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=&gt; 20301</a:t>
            </a:r>
            <a:endParaRPr lang="en-US" sz="1250" dirty="0"/>
          </a:p>
        </p:txBody>
      </p:sp>
      <p:sp>
        <p:nvSpPr>
          <p:cNvPr id="13" name="Text 10"/>
          <p:cNvSpPr/>
          <p:nvPr/>
        </p:nvSpPr>
        <p:spPr>
          <a:xfrm>
            <a:off x="777240" y="2926080"/>
            <a:ext cx="4892040" cy="64008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size of the DATABASE — how many</a:t>
            </a: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datoms exist, and by which attribute.</a:t>
            </a:r>
            <a:endParaRPr lang="en-US" sz="1350" dirty="0"/>
          </a:p>
        </p:txBody>
      </p:sp>
      <p:sp>
        <p:nvSpPr>
          <p:cNvPr id="14" name="Shape 11"/>
          <p:cNvSpPr/>
          <p:nvPr/>
        </p:nvSpPr>
        <p:spPr>
          <a:xfrm>
            <a:off x="6263640" y="1325880"/>
            <a:ext cx="5349240" cy="2377440"/>
          </a:xfrm>
          <a:prstGeom prst="roundRect">
            <a:avLst>
              <a:gd name="adj" fmla="val 3077"/>
            </a:avLst>
          </a:prstGeom>
          <a:solidFill>
            <a:srgbClr val="E6DFCE"/>
          </a:solidFill>
          <a:ln/>
        </p:spPr>
      </p:sp>
      <p:sp>
        <p:nvSpPr>
          <p:cNvPr id="15" name="Shape 12"/>
          <p:cNvSpPr/>
          <p:nvPr/>
        </p:nvSpPr>
        <p:spPr>
          <a:xfrm>
            <a:off x="6263640" y="1325880"/>
            <a:ext cx="5349240" cy="384048"/>
          </a:xfrm>
          <a:prstGeom prst="roundRect">
            <a:avLst>
              <a:gd name="adj" fmla="val 19048"/>
            </a:avLst>
          </a:prstGeom>
          <a:solidFill>
            <a:srgbClr val="EBD5CB"/>
          </a:solidFill>
          <a:ln/>
        </p:spPr>
      </p:sp>
      <p:sp>
        <p:nvSpPr>
          <p:cNvPr id="16" name="Text 13"/>
          <p:cNvSpPr/>
          <p:nvPr/>
        </p:nvSpPr>
        <p:spPr>
          <a:xfrm>
            <a:off x="6464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9E4227"/>
                </a:solidFill>
                <a:latin typeface="Helvetica Neue" pitchFamily="34" charset="0"/>
                <a:ea typeface="Helvetica Neue" pitchFamily="34" charset="-122"/>
                <a:cs typeface="Helvetica Neue" pitchFamily="34" charset="-120"/>
              </a:rPr>
              <a:t>WHAT NO API TELLS YOU</a:t>
            </a:r>
            <a:endParaRPr lang="en-US" sz="1250" dirty="0"/>
          </a:p>
        </p:txBody>
      </p:sp>
      <p:sp>
        <p:nvSpPr>
          <p:cNvPr id="17" name="Shape 14"/>
          <p:cNvSpPr/>
          <p:nvPr/>
        </p:nvSpPr>
        <p:spPr>
          <a:xfrm>
            <a:off x="6492240" y="1874520"/>
            <a:ext cx="4892040" cy="914400"/>
          </a:xfrm>
          <a:prstGeom prst="roundRect">
            <a:avLst>
              <a:gd name="adj" fmla="val 6000"/>
            </a:avLst>
          </a:prstGeom>
          <a:solidFill>
            <a:srgbClr val="EBD5CB"/>
          </a:solidFill>
          <a:ln w="15875">
            <a:solidFill>
              <a:srgbClr val="9E4227"/>
            </a:solidFill>
            <a:prstDash val="solid"/>
          </a:ln>
        </p:spPr>
      </p:sp>
      <p:sp>
        <p:nvSpPr>
          <p:cNvPr id="18" name="Text 15"/>
          <p:cNvSpPr/>
          <p:nvPr/>
        </p:nvSpPr>
        <p:spPr>
          <a:xfrm>
            <a:off x="6565392" y="2020824"/>
            <a:ext cx="4745736" cy="310896"/>
          </a:xfrm>
          <a:prstGeom prst="rect">
            <a:avLst/>
          </a:prstGeom>
          <a:noFill/>
          <a:ln/>
        </p:spPr>
        <p:txBody>
          <a:bodyPr wrap="square" lIns="0" tIns="0" rIns="0" bIns="0" rtlCol="0" anchor="b">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cache occupancy</a:t>
            </a:r>
            <a:endParaRPr lang="en-US" sz="1500" dirty="0"/>
          </a:p>
        </p:txBody>
      </p:sp>
      <p:sp>
        <p:nvSpPr>
          <p:cNvPr id="19" name="Text 16"/>
          <p:cNvSpPr/>
          <p:nvPr/>
        </p:nvSpPr>
        <p:spPr>
          <a:xfrm>
            <a:off x="6565392" y="2313432"/>
            <a:ext cx="4745736" cy="384048"/>
          </a:xfrm>
          <a:prstGeom prst="rect">
            <a:avLst/>
          </a:prstGeom>
          <a:noFill/>
          <a:ln/>
        </p:spPr>
        <p:txBody>
          <a:bodyPr wrap="square" lIns="0" tIns="0" rIns="0" bIns="0" rtlCol="0" anchor="t">
            <a:normAutofit/>
          </a:bodyPr>
          <a:lstStyle/>
          <a:p>
            <a:pPr algn="ctr" indent="0" marL="0">
              <a:buNone/>
            </a:pPr>
            <a:r>
              <a:rPr lang="en-US" sz="1150" dirty="0">
                <a:solidFill>
                  <a:srgbClr val="9E4227"/>
                </a:solidFill>
                <a:latin typeface="Helvetica Neue" pitchFamily="34" charset="0"/>
                <a:ea typeface="Helvetica Neue" pitchFamily="34" charset="-122"/>
                <a:cs typeface="Helvetica Neue" pitchFamily="34" charset="-120"/>
              </a:rPr>
              <a:t>not reported by any peer API</a:t>
            </a:r>
            <a:endParaRPr lang="en-US" sz="1150" dirty="0"/>
          </a:p>
        </p:txBody>
      </p:sp>
      <p:sp>
        <p:nvSpPr>
          <p:cNvPr id="20" name="Text 17"/>
          <p:cNvSpPr/>
          <p:nvPr/>
        </p:nvSpPr>
        <p:spPr>
          <a:xfrm>
            <a:off x="6492240" y="2926080"/>
            <a:ext cx="4892040" cy="64008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How much of the working set is resident,</a:t>
            </a:r>
            <a:endParaRPr lang="en-US" sz="1350" dirty="0"/>
          </a:p>
          <a:p>
            <a:pPr indent="0" marL="0">
              <a:buNone/>
            </a:pPr>
            <a:r>
              <a:rPr lang="en-US" sz="1350" dirty="0">
                <a:solidFill>
                  <a:srgbClr val="6B5A44"/>
                </a:solidFill>
                <a:latin typeface="Helvetica Neue" pitchFamily="34" charset="0"/>
                <a:ea typeface="Helvetica Neue" pitchFamily="34" charset="-122"/>
                <a:cs typeface="Helvetica Neue" pitchFamily="34" charset="-120"/>
              </a:rPr>
              <a:t>and in which tier.</a:t>
            </a:r>
            <a:endParaRPr lang="en-US" sz="1350" dirty="0"/>
          </a:p>
        </p:txBody>
      </p:sp>
      <p:sp>
        <p:nvSpPr>
          <p:cNvPr id="21" name="Text 18"/>
          <p:cNvSpPr/>
          <p:nvPr/>
        </p:nvSpPr>
        <p:spPr>
          <a:xfrm>
            <a:off x="548640" y="3977640"/>
            <a:ext cx="11064240" cy="36576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So cache behaviour is OBSERVED, not queried:</a:t>
            </a:r>
            <a:endParaRPr lang="en-US" sz="1400" dirty="0"/>
          </a:p>
        </p:txBody>
      </p:sp>
      <p:sp>
        <p:nvSpPr>
          <p:cNvPr id="22" name="Shape 19"/>
          <p:cNvSpPr/>
          <p:nvPr/>
        </p:nvSpPr>
        <p:spPr>
          <a:xfrm>
            <a:off x="548640" y="4434840"/>
            <a:ext cx="5349240" cy="777240"/>
          </a:xfrm>
          <a:prstGeom prst="roundRect">
            <a:avLst>
              <a:gd name="adj" fmla="val 7059"/>
            </a:avLst>
          </a:prstGeom>
          <a:solidFill>
            <a:srgbClr val="E6DFCE"/>
          </a:solidFill>
          <a:ln w="15875">
            <a:solidFill>
              <a:srgbClr val="C9BDA4"/>
            </a:solidFill>
            <a:prstDash val="solid"/>
          </a:ln>
        </p:spPr>
      </p:sp>
      <p:sp>
        <p:nvSpPr>
          <p:cNvPr id="23" name="Text 20"/>
          <p:cNvSpPr/>
          <p:nvPr/>
        </p:nvSpPr>
        <p:spPr>
          <a:xfrm>
            <a:off x="621792" y="4434840"/>
            <a:ext cx="5202936" cy="77724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metrics callback  →  Part V</a:t>
            </a:r>
            <a:endParaRPr lang="en-US" sz="1400" dirty="0"/>
          </a:p>
        </p:txBody>
      </p:sp>
      <p:sp>
        <p:nvSpPr>
          <p:cNvPr id="24" name="Shape 21"/>
          <p:cNvSpPr/>
          <p:nvPr/>
        </p:nvSpPr>
        <p:spPr>
          <a:xfrm>
            <a:off x="6263640" y="4434840"/>
            <a:ext cx="5349240" cy="777240"/>
          </a:xfrm>
          <a:prstGeom prst="roundRect">
            <a:avLst>
              <a:gd name="adj" fmla="val 7059"/>
            </a:avLst>
          </a:prstGeom>
          <a:solidFill>
            <a:srgbClr val="E6DFCE"/>
          </a:solidFill>
          <a:ln w="15875">
            <a:solidFill>
              <a:srgbClr val="C9BDA4"/>
            </a:solidFill>
            <a:prstDash val="solid"/>
          </a:ln>
        </p:spPr>
      </p:sp>
      <p:sp>
        <p:nvSpPr>
          <p:cNvPr id="25" name="Text 22"/>
          <p:cNvSpPr/>
          <p:nvPr/>
        </p:nvSpPr>
        <p:spPr>
          <a:xfrm>
            <a:off x="6336792" y="4434840"/>
            <a:ext cx="5202936" cy="77724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time the same query twice</a:t>
            </a:r>
            <a:endParaRPr lang="en-US" sz="1400" dirty="0"/>
          </a:p>
        </p:txBody>
      </p:sp>
      <p:sp>
        <p:nvSpPr>
          <p:cNvPr id="26" name="Shape 23"/>
          <p:cNvSpPr/>
          <p:nvPr/>
        </p:nvSpPr>
        <p:spPr>
          <a:xfrm>
            <a:off x="548640" y="5577840"/>
            <a:ext cx="54864" cy="457200"/>
          </a:xfrm>
          <a:prstGeom prst="rect">
            <a:avLst/>
          </a:prstGeom>
          <a:solidFill>
            <a:srgbClr val="A8864A"/>
          </a:solidFill>
          <a:ln/>
        </p:spPr>
      </p:sp>
      <p:sp>
        <p:nvSpPr>
          <p:cNvPr id="27" name="Text 24"/>
          <p:cNvSpPr/>
          <p:nvPr/>
        </p:nvSpPr>
        <p:spPr>
          <a:xfrm>
            <a:off x="777240" y="55778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d/db-stats measures the database. Timing and metrics measure the cache.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High availability</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Two transactors · one lease · storage as the arbiter</a:t>
            </a:r>
            <a:endParaRPr lang="en-US" sz="1600" dirty="0"/>
          </a:p>
        </p:txBody>
      </p:sp>
      <p:sp>
        <p:nvSpPr>
          <p:cNvPr id="7" name="Text 5"/>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HIGH AVAILABILITY</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11</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Datomic HA is a lease, not a cluster</a:t>
            </a:r>
            <a:endParaRPr lang="en-US" sz="2500" dirty="0"/>
          </a:p>
        </p:txBody>
      </p:sp>
      <p:sp>
        <p:nvSpPr>
          <p:cNvPr id="8" name="Shape 5"/>
          <p:cNvSpPr/>
          <p:nvPr/>
        </p:nvSpPr>
        <p:spPr>
          <a:xfrm>
            <a:off x="914400" y="1645920"/>
            <a:ext cx="2377440" cy="822960"/>
          </a:xfrm>
          <a:prstGeom prst="roundRect">
            <a:avLst>
              <a:gd name="adj" fmla="val 6667"/>
            </a:avLst>
          </a:prstGeom>
          <a:solidFill>
            <a:srgbClr val="DDE3CC"/>
          </a:solidFill>
          <a:ln w="15875">
            <a:solidFill>
              <a:srgbClr val="5F7A3A"/>
            </a:solidFill>
            <a:prstDash val="solid"/>
          </a:ln>
        </p:spPr>
      </p:sp>
      <p:sp>
        <p:nvSpPr>
          <p:cNvPr id="9" name="Text 6"/>
          <p:cNvSpPr/>
          <p:nvPr/>
        </p:nvSpPr>
        <p:spPr>
          <a:xfrm>
            <a:off x="987552" y="1746504"/>
            <a:ext cx="22311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transactor A</a:t>
            </a:r>
            <a:endParaRPr lang="en-US" sz="1400" dirty="0"/>
          </a:p>
        </p:txBody>
      </p:sp>
      <p:sp>
        <p:nvSpPr>
          <p:cNvPr id="10" name="Text 7"/>
          <p:cNvSpPr/>
          <p:nvPr/>
        </p:nvSpPr>
        <p:spPr>
          <a:xfrm>
            <a:off x="987552" y="2039112"/>
            <a:ext cx="2231136" cy="384048"/>
          </a:xfrm>
          <a:prstGeom prst="rect">
            <a:avLst/>
          </a:prstGeom>
          <a:noFill/>
          <a:ln/>
        </p:spPr>
        <p:txBody>
          <a:bodyPr wrap="square" lIns="0" tIns="0" rIns="0" bIns="0" rtlCol="0" anchor="t">
            <a:normAutofit/>
          </a:bodyPr>
          <a:lstStyle/>
          <a:p>
            <a:pPr algn="ctr" indent="0" marL="0">
              <a:buNone/>
            </a:pPr>
            <a:r>
              <a:rPr lang="en-US" sz="1100" dirty="0">
                <a:solidFill>
                  <a:srgbClr val="5F7A3A"/>
                </a:solidFill>
                <a:latin typeface="Helvetica Neue" pitchFamily="34" charset="0"/>
                <a:ea typeface="Helvetica Neue" pitchFamily="34" charset="-122"/>
                <a:cs typeface="Helvetica Neue" pitchFamily="34" charset="-120"/>
              </a:rPr>
              <a:t>holds the lease</a:t>
            </a:r>
            <a:endParaRPr lang="en-US" sz="1100" dirty="0"/>
          </a:p>
        </p:txBody>
      </p:sp>
      <p:sp>
        <p:nvSpPr>
          <p:cNvPr id="11" name="Shape 8"/>
          <p:cNvSpPr/>
          <p:nvPr/>
        </p:nvSpPr>
        <p:spPr>
          <a:xfrm>
            <a:off x="914400" y="3931920"/>
            <a:ext cx="2377440" cy="822960"/>
          </a:xfrm>
          <a:prstGeom prst="roundRect">
            <a:avLst>
              <a:gd name="adj" fmla="val 6667"/>
            </a:avLst>
          </a:prstGeom>
          <a:solidFill>
            <a:srgbClr val="E6DFCE"/>
          </a:solidFill>
          <a:ln w="15875">
            <a:solidFill>
              <a:srgbClr val="C9BDA4"/>
            </a:solidFill>
            <a:prstDash val="solid"/>
          </a:ln>
        </p:spPr>
      </p:sp>
      <p:sp>
        <p:nvSpPr>
          <p:cNvPr id="12" name="Text 9"/>
          <p:cNvSpPr/>
          <p:nvPr/>
        </p:nvSpPr>
        <p:spPr>
          <a:xfrm>
            <a:off x="987552" y="4032504"/>
            <a:ext cx="22311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transactor B</a:t>
            </a:r>
            <a:endParaRPr lang="en-US" sz="1400" dirty="0"/>
          </a:p>
        </p:txBody>
      </p:sp>
      <p:sp>
        <p:nvSpPr>
          <p:cNvPr id="13" name="Text 10"/>
          <p:cNvSpPr/>
          <p:nvPr/>
        </p:nvSpPr>
        <p:spPr>
          <a:xfrm>
            <a:off x="987552" y="4325112"/>
            <a:ext cx="2231136" cy="384048"/>
          </a:xfrm>
          <a:prstGeom prst="rect">
            <a:avLst/>
          </a:prstGeom>
          <a:noFill/>
          <a:ln/>
        </p:spPr>
        <p:txBody>
          <a:bodyPr wrap="square" lIns="0" tIns="0" rIns="0" bIns="0" rtlCol="0" anchor="t">
            <a:normAutofit/>
          </a:bodyPr>
          <a:lstStyle/>
          <a:p>
            <a:pPr algn="ctr" indent="0" marL="0">
              <a:buNone/>
            </a:pPr>
            <a:r>
              <a:rPr lang="en-US" sz="1100" dirty="0">
                <a:solidFill>
                  <a:srgbClr val="6B5A44"/>
                </a:solidFill>
                <a:latin typeface="Helvetica Neue" pitchFamily="34" charset="0"/>
                <a:ea typeface="Helvetica Neue" pitchFamily="34" charset="-122"/>
                <a:cs typeface="Helvetica Neue" pitchFamily="34" charset="-120"/>
              </a:rPr>
              <a:t>waits</a:t>
            </a:r>
            <a:endParaRPr lang="en-US" sz="1100" dirty="0"/>
          </a:p>
        </p:txBody>
      </p:sp>
      <p:sp>
        <p:nvSpPr>
          <p:cNvPr id="14" name="Shape 11"/>
          <p:cNvSpPr/>
          <p:nvPr/>
        </p:nvSpPr>
        <p:spPr>
          <a:xfrm>
            <a:off x="4663440" y="2468880"/>
            <a:ext cx="2926080" cy="1463040"/>
          </a:xfrm>
          <a:prstGeom prst="roundRect">
            <a:avLst>
              <a:gd name="adj" fmla="val 3750"/>
            </a:avLst>
          </a:prstGeom>
          <a:solidFill>
            <a:srgbClr val="2C2416"/>
          </a:solidFill>
          <a:ln/>
        </p:spPr>
      </p:sp>
      <p:sp>
        <p:nvSpPr>
          <p:cNvPr id="15" name="Text 12"/>
          <p:cNvSpPr/>
          <p:nvPr/>
        </p:nvSpPr>
        <p:spPr>
          <a:xfrm>
            <a:off x="4736592" y="2889504"/>
            <a:ext cx="2779776" cy="310896"/>
          </a:xfrm>
          <a:prstGeom prst="rect">
            <a:avLst/>
          </a:prstGeom>
          <a:noFill/>
          <a:ln/>
        </p:spPr>
        <p:txBody>
          <a:bodyPr wrap="square" lIns="0" tIns="0" rIns="0" bIns="0" rtlCol="0" anchor="b">
            <a:normAutofit/>
          </a:bodyPr>
          <a:lstStyle/>
          <a:p>
            <a:pPr algn="ctr" indent="0" marL="0">
              <a:buNone/>
            </a:pPr>
            <a:r>
              <a:rPr lang="en-US" sz="1800" b="1" dirty="0">
                <a:solidFill>
                  <a:srgbClr val="FCFAF4"/>
                </a:solidFill>
                <a:latin typeface="Helvetica Neue" pitchFamily="34" charset="0"/>
                <a:ea typeface="Helvetica Neue" pitchFamily="34" charset="-122"/>
                <a:cs typeface="Helvetica Neue" pitchFamily="34" charset="-120"/>
              </a:rPr>
              <a:t>STORAGE</a:t>
            </a:r>
            <a:endParaRPr lang="en-US" sz="1800" dirty="0"/>
          </a:p>
        </p:txBody>
      </p:sp>
      <p:sp>
        <p:nvSpPr>
          <p:cNvPr id="16" name="Text 13"/>
          <p:cNvSpPr/>
          <p:nvPr/>
        </p:nvSpPr>
        <p:spPr>
          <a:xfrm>
            <a:off x="4736592" y="3182112"/>
            <a:ext cx="2779776" cy="384048"/>
          </a:xfrm>
          <a:prstGeom prst="rect">
            <a:avLst/>
          </a:prstGeom>
          <a:noFill/>
          <a:ln/>
        </p:spPr>
        <p:txBody>
          <a:bodyPr wrap="square" lIns="0" tIns="0" rIns="0" bIns="0" rtlCol="0" anchor="t">
            <a:normAutofit/>
          </a:bodyPr>
          <a:lstStyle/>
          <a:p>
            <a:pPr algn="ctr" indent="0" marL="0">
              <a:buNone/>
            </a:pPr>
            <a:r>
              <a:rPr lang="en-US" sz="1200" dirty="0">
                <a:solidFill>
                  <a:srgbClr val="C6A46A"/>
                </a:solidFill>
                <a:latin typeface="Helvetica Neue" pitchFamily="34" charset="0"/>
                <a:ea typeface="Helvetica Neue" pitchFamily="34" charset="-122"/>
                <a:cs typeface="Helvetica Neue" pitchFamily="34" charset="-120"/>
              </a:rPr>
              <a:t>the lease lives here</a:t>
            </a:r>
            <a:endParaRPr lang="en-US" sz="1200" dirty="0"/>
          </a:p>
        </p:txBody>
      </p:sp>
      <p:sp>
        <p:nvSpPr>
          <p:cNvPr id="17" name="Shape 14"/>
          <p:cNvSpPr/>
          <p:nvPr/>
        </p:nvSpPr>
        <p:spPr>
          <a:xfrm>
            <a:off x="3291840" y="2057400"/>
            <a:ext cx="1371600" cy="777240"/>
          </a:xfrm>
          <a:prstGeom prst="line">
            <a:avLst/>
          </a:prstGeom>
          <a:noFill/>
          <a:ln w="19050">
            <a:solidFill>
              <a:srgbClr val="5F7A3A"/>
            </a:solidFill>
            <a:prstDash val="solid"/>
            <a:headEnd type="none"/>
            <a:tailEnd type="triangle"/>
          </a:ln>
        </p:spPr>
      </p:sp>
      <p:sp>
        <p:nvSpPr>
          <p:cNvPr id="18" name="Text 15"/>
          <p:cNvSpPr/>
          <p:nvPr/>
        </p:nvSpPr>
        <p:spPr>
          <a:xfrm>
            <a:off x="3337560" y="2098548"/>
            <a:ext cx="1280160" cy="292608"/>
          </a:xfrm>
          <a:prstGeom prst="rect">
            <a:avLst/>
          </a:prstGeom>
          <a:noFill/>
          <a:ln/>
        </p:spPr>
        <p:txBody>
          <a:bodyPr wrap="square" lIns="0" tIns="0" rIns="0" bIns="0" rtlCol="0" anchor="ctr">
            <a:normAutofit/>
          </a:bodyPr>
          <a:lstStyle/>
          <a:p>
            <a:pPr algn="ctr" indent="0" marL="0">
              <a:buNone/>
            </a:pPr>
            <a:r>
              <a:rPr lang="en-US" sz="1000" dirty="0">
                <a:solidFill>
                  <a:srgbClr val="9A8A72"/>
                </a:solidFill>
                <a:latin typeface="Helvetica Neue" pitchFamily="34" charset="0"/>
                <a:ea typeface="Helvetica Neue" pitchFamily="34" charset="-122"/>
                <a:cs typeface="Helvetica Neue" pitchFamily="34" charset="-120"/>
              </a:rPr>
              <a:t>writes</a:t>
            </a:r>
            <a:endParaRPr lang="en-US" sz="1000" dirty="0"/>
          </a:p>
        </p:txBody>
      </p:sp>
      <p:sp>
        <p:nvSpPr>
          <p:cNvPr id="19" name="Shape 16"/>
          <p:cNvSpPr/>
          <p:nvPr/>
        </p:nvSpPr>
        <p:spPr>
          <a:xfrm flipV="1">
            <a:off x="3291840" y="3611880"/>
            <a:ext cx="1371600" cy="731520"/>
          </a:xfrm>
          <a:prstGeom prst="line">
            <a:avLst/>
          </a:prstGeom>
          <a:noFill/>
          <a:ln w="19050">
            <a:solidFill>
              <a:srgbClr val="C9BDA4"/>
            </a:solidFill>
            <a:prstDash val="dash"/>
            <a:headEnd type="none"/>
            <a:tailEnd type="triangle"/>
          </a:ln>
        </p:spPr>
      </p:sp>
      <p:sp>
        <p:nvSpPr>
          <p:cNvPr id="20" name="Text 17"/>
          <p:cNvSpPr/>
          <p:nvPr/>
        </p:nvSpPr>
        <p:spPr>
          <a:xfrm>
            <a:off x="3337560" y="4032504"/>
            <a:ext cx="1280160" cy="292608"/>
          </a:xfrm>
          <a:prstGeom prst="rect">
            <a:avLst/>
          </a:prstGeom>
          <a:noFill/>
          <a:ln/>
        </p:spPr>
        <p:txBody>
          <a:bodyPr wrap="square" lIns="0" tIns="0" rIns="0" bIns="0" rtlCol="0" anchor="ctr">
            <a:normAutofit/>
          </a:bodyPr>
          <a:lstStyle/>
          <a:p>
            <a:pPr algn="ctr" indent="0" marL="0">
              <a:buNone/>
            </a:pPr>
            <a:r>
              <a:rPr lang="en-US" sz="1000" dirty="0">
                <a:solidFill>
                  <a:srgbClr val="9A8A72"/>
                </a:solidFill>
                <a:latin typeface="Helvetica Neue" pitchFamily="34" charset="0"/>
                <a:ea typeface="Helvetica Neue" pitchFamily="34" charset="-122"/>
                <a:cs typeface="Helvetica Neue" pitchFamily="34" charset="-120"/>
              </a:rPr>
              <a:t>polls</a:t>
            </a:r>
            <a:endParaRPr lang="en-US" sz="1000" dirty="0"/>
          </a:p>
        </p:txBody>
      </p:sp>
      <p:sp>
        <p:nvSpPr>
          <p:cNvPr id="21" name="Shape 18"/>
          <p:cNvSpPr/>
          <p:nvPr/>
        </p:nvSpPr>
        <p:spPr>
          <a:xfrm>
            <a:off x="9144000" y="1645920"/>
            <a:ext cx="1463040" cy="548640"/>
          </a:xfrm>
          <a:prstGeom prst="roundRect">
            <a:avLst>
              <a:gd name="adj" fmla="val 10000"/>
            </a:avLst>
          </a:prstGeom>
          <a:solidFill>
            <a:srgbClr val="D3DEE1"/>
          </a:solidFill>
          <a:ln w="15875">
            <a:solidFill>
              <a:srgbClr val="3F6470"/>
            </a:solidFill>
            <a:prstDash val="solid"/>
          </a:ln>
        </p:spPr>
      </p:sp>
      <p:sp>
        <p:nvSpPr>
          <p:cNvPr id="22" name="Text 19"/>
          <p:cNvSpPr/>
          <p:nvPr/>
        </p:nvSpPr>
        <p:spPr>
          <a:xfrm>
            <a:off x="9217152" y="1645920"/>
            <a:ext cx="1316736" cy="548640"/>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23" name="Shape 20"/>
          <p:cNvSpPr/>
          <p:nvPr/>
        </p:nvSpPr>
        <p:spPr>
          <a:xfrm flipH="1">
            <a:off x="7589520" y="1920240"/>
            <a:ext cx="1554480" cy="1005840"/>
          </a:xfrm>
          <a:prstGeom prst="line">
            <a:avLst/>
          </a:prstGeom>
          <a:noFill/>
          <a:ln w="19050">
            <a:solidFill>
              <a:srgbClr val="3F6470"/>
            </a:solidFill>
            <a:prstDash val="solid"/>
            <a:headEnd type="none"/>
            <a:tailEnd type="none"/>
          </a:ln>
        </p:spPr>
      </p:sp>
      <p:sp>
        <p:nvSpPr>
          <p:cNvPr id="24" name="Shape 21"/>
          <p:cNvSpPr/>
          <p:nvPr/>
        </p:nvSpPr>
        <p:spPr>
          <a:xfrm>
            <a:off x="9144000" y="2331720"/>
            <a:ext cx="1463040" cy="548640"/>
          </a:xfrm>
          <a:prstGeom prst="roundRect">
            <a:avLst>
              <a:gd name="adj" fmla="val 10000"/>
            </a:avLst>
          </a:prstGeom>
          <a:solidFill>
            <a:srgbClr val="D3DEE1"/>
          </a:solidFill>
          <a:ln w="15875">
            <a:solidFill>
              <a:srgbClr val="3F6470"/>
            </a:solidFill>
            <a:prstDash val="solid"/>
          </a:ln>
        </p:spPr>
      </p:sp>
      <p:sp>
        <p:nvSpPr>
          <p:cNvPr id="25" name="Text 22"/>
          <p:cNvSpPr/>
          <p:nvPr/>
        </p:nvSpPr>
        <p:spPr>
          <a:xfrm>
            <a:off x="9217152" y="2331720"/>
            <a:ext cx="1316736" cy="548640"/>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26" name="Shape 23"/>
          <p:cNvSpPr/>
          <p:nvPr/>
        </p:nvSpPr>
        <p:spPr>
          <a:xfrm flipH="1">
            <a:off x="7589520" y="2606040"/>
            <a:ext cx="1554480" cy="320040"/>
          </a:xfrm>
          <a:prstGeom prst="line">
            <a:avLst/>
          </a:prstGeom>
          <a:noFill/>
          <a:ln w="19050">
            <a:solidFill>
              <a:srgbClr val="3F6470"/>
            </a:solidFill>
            <a:prstDash val="solid"/>
            <a:headEnd type="none"/>
            <a:tailEnd type="none"/>
          </a:ln>
        </p:spPr>
      </p:sp>
      <p:sp>
        <p:nvSpPr>
          <p:cNvPr id="27" name="Shape 24"/>
          <p:cNvSpPr/>
          <p:nvPr/>
        </p:nvSpPr>
        <p:spPr>
          <a:xfrm>
            <a:off x="9144000" y="3017520"/>
            <a:ext cx="1463040" cy="548640"/>
          </a:xfrm>
          <a:prstGeom prst="roundRect">
            <a:avLst>
              <a:gd name="adj" fmla="val 10000"/>
            </a:avLst>
          </a:prstGeom>
          <a:solidFill>
            <a:srgbClr val="D3DEE1"/>
          </a:solidFill>
          <a:ln w="15875">
            <a:solidFill>
              <a:srgbClr val="3F6470"/>
            </a:solidFill>
            <a:prstDash val="solid"/>
          </a:ln>
        </p:spPr>
      </p:sp>
      <p:sp>
        <p:nvSpPr>
          <p:cNvPr id="28" name="Text 25"/>
          <p:cNvSpPr/>
          <p:nvPr/>
        </p:nvSpPr>
        <p:spPr>
          <a:xfrm>
            <a:off x="9217152" y="3017520"/>
            <a:ext cx="1316736" cy="548640"/>
          </a:xfrm>
          <a:prstGeom prst="rect">
            <a:avLst/>
          </a:prstGeom>
          <a:noFill/>
          <a:ln/>
        </p:spPr>
        <p:txBody>
          <a:bodyPr wrap="square" lIns="0" tIns="0" rIns="0" bIns="0" rtlCol="0" anchor="ctr">
            <a:normAutofit/>
          </a:bodyPr>
          <a:lstStyle/>
          <a:p>
            <a:pPr algn="ctr" indent="0" marL="0">
              <a:buNone/>
            </a:pPr>
            <a:r>
              <a:rPr lang="en-US" sz="1200" b="1" dirty="0">
                <a:solidFill>
                  <a:srgbClr val="3A2C1A"/>
                </a:solidFill>
                <a:latin typeface="Helvetica Neue" pitchFamily="34" charset="0"/>
                <a:ea typeface="Helvetica Neue" pitchFamily="34" charset="-122"/>
                <a:cs typeface="Helvetica Neue" pitchFamily="34" charset="-120"/>
              </a:rPr>
              <a:t>peer</a:t>
            </a:r>
            <a:endParaRPr lang="en-US" sz="1200" dirty="0"/>
          </a:p>
        </p:txBody>
      </p:sp>
      <p:sp>
        <p:nvSpPr>
          <p:cNvPr id="29" name="Shape 26"/>
          <p:cNvSpPr/>
          <p:nvPr/>
        </p:nvSpPr>
        <p:spPr>
          <a:xfrm flipH="1" flipV="1">
            <a:off x="7589520" y="2926080"/>
            <a:ext cx="1554480" cy="365760"/>
          </a:xfrm>
          <a:prstGeom prst="line">
            <a:avLst/>
          </a:prstGeom>
          <a:noFill/>
          <a:ln w="19050">
            <a:solidFill>
              <a:srgbClr val="3F6470"/>
            </a:solidFill>
            <a:prstDash val="solid"/>
            <a:headEnd type="none"/>
            <a:tailEnd type="none"/>
          </a:ln>
        </p:spPr>
      </p:sp>
      <p:sp>
        <p:nvSpPr>
          <p:cNvPr id="30" name="Text 27"/>
          <p:cNvSpPr/>
          <p:nvPr/>
        </p:nvSpPr>
        <p:spPr>
          <a:xfrm>
            <a:off x="7955280" y="4069080"/>
            <a:ext cx="3657600" cy="640080"/>
          </a:xfrm>
          <a:prstGeom prst="rect">
            <a:avLst/>
          </a:prstGeom>
          <a:noFill/>
          <a:ln/>
        </p:spPr>
        <p:txBody>
          <a:bodyPr wrap="square" lIns="0" tIns="0" rIns="0" bIns="0" rtlCol="0" anchor="t"/>
          <a:lstStyle/>
          <a:p>
            <a:pPr algn="ctr" indent="0" marL="0">
              <a:buNone/>
            </a:pPr>
            <a:r>
              <a:rPr lang="en-US" sz="1300" b="1" dirty="0">
                <a:solidFill>
                  <a:srgbClr val="3F6470"/>
                </a:solidFill>
                <a:latin typeface="Helvetica Neue" pitchFamily="34" charset="0"/>
                <a:ea typeface="Helvetica Neue" pitchFamily="34" charset="-122"/>
                <a:cs typeface="Helvetica Neue" pitchFamily="34" charset="-120"/>
              </a:rPr>
              <a:t>peers find the active</a:t>
            </a:r>
            <a:endParaRPr lang="en-US" sz="1300" dirty="0"/>
          </a:p>
          <a:p>
            <a:pPr algn="ctr" indent="0" marL="0">
              <a:buNone/>
            </a:pPr>
            <a:r>
              <a:rPr lang="en-US" sz="1300" b="1" dirty="0">
                <a:solidFill>
                  <a:srgbClr val="3F6470"/>
                </a:solidFill>
                <a:latin typeface="Helvetica Neue" pitchFamily="34" charset="0"/>
                <a:ea typeface="Helvetica Neue" pitchFamily="34" charset="-122"/>
                <a:cs typeface="Helvetica Neue" pitchFamily="34" charset="-120"/>
              </a:rPr>
              <a:t>transactor HERE</a:t>
            </a:r>
            <a:endParaRPr lang="en-US" sz="1300" dirty="0"/>
          </a:p>
        </p:txBody>
      </p:sp>
      <p:sp>
        <p:nvSpPr>
          <p:cNvPr id="31" name="Shape 28"/>
          <p:cNvSpPr/>
          <p:nvPr/>
        </p:nvSpPr>
        <p:spPr>
          <a:xfrm>
            <a:off x="548640" y="5074920"/>
            <a:ext cx="2651760" cy="457200"/>
          </a:xfrm>
          <a:prstGeom prst="roundRect">
            <a:avLst>
              <a:gd name="adj" fmla="val 16000"/>
            </a:avLst>
          </a:prstGeom>
          <a:solidFill>
            <a:srgbClr val="DFD6C0"/>
          </a:solidFill>
          <a:ln/>
        </p:spPr>
      </p:sp>
      <p:sp>
        <p:nvSpPr>
          <p:cNvPr id="32" name="Text 29"/>
          <p:cNvSpPr/>
          <p:nvPr/>
        </p:nvSpPr>
        <p:spPr>
          <a:xfrm>
            <a:off x="548640" y="5074920"/>
            <a:ext cx="2651760" cy="457200"/>
          </a:xfrm>
          <a:prstGeom prst="rect">
            <a:avLst/>
          </a:prstGeom>
          <a:noFill/>
          <a:ln/>
        </p:spPr>
        <p:txBody>
          <a:bodyPr wrap="square" lIns="0" tIns="0" rIns="0" bIns="0" rtlCol="0" anchor="ctr"/>
          <a:lstStyle/>
          <a:p>
            <a:pPr algn="ctr" indent="0" marL="0">
              <a:buNone/>
            </a:pPr>
            <a:r>
              <a:rPr lang="en-US" sz="1300" dirty="0">
                <a:solidFill>
                  <a:srgbClr val="9A8A72"/>
                </a:solidFill>
                <a:latin typeface="Helvetica Neue" pitchFamily="34" charset="0"/>
                <a:ea typeface="Helvetica Neue" pitchFamily="34" charset="-122"/>
                <a:cs typeface="Helvetica Neue" pitchFamily="34" charset="-120"/>
              </a:rPr>
              <a:t>✕  no quorum</a:t>
            </a:r>
            <a:endParaRPr lang="en-US" sz="1300" dirty="0"/>
          </a:p>
        </p:txBody>
      </p:sp>
      <p:sp>
        <p:nvSpPr>
          <p:cNvPr id="33" name="Shape 30"/>
          <p:cNvSpPr/>
          <p:nvPr/>
        </p:nvSpPr>
        <p:spPr>
          <a:xfrm>
            <a:off x="3383280" y="5074920"/>
            <a:ext cx="2651760" cy="457200"/>
          </a:xfrm>
          <a:prstGeom prst="roundRect">
            <a:avLst>
              <a:gd name="adj" fmla="val 16000"/>
            </a:avLst>
          </a:prstGeom>
          <a:solidFill>
            <a:srgbClr val="DFD6C0"/>
          </a:solidFill>
          <a:ln/>
        </p:spPr>
      </p:sp>
      <p:sp>
        <p:nvSpPr>
          <p:cNvPr id="34" name="Text 31"/>
          <p:cNvSpPr/>
          <p:nvPr/>
        </p:nvSpPr>
        <p:spPr>
          <a:xfrm>
            <a:off x="3383280" y="5074920"/>
            <a:ext cx="2651760" cy="457200"/>
          </a:xfrm>
          <a:prstGeom prst="rect">
            <a:avLst/>
          </a:prstGeom>
          <a:noFill/>
          <a:ln/>
        </p:spPr>
        <p:txBody>
          <a:bodyPr wrap="square" lIns="0" tIns="0" rIns="0" bIns="0" rtlCol="0" anchor="ctr"/>
          <a:lstStyle/>
          <a:p>
            <a:pPr algn="ctr" indent="0" marL="0">
              <a:buNone/>
            </a:pPr>
            <a:r>
              <a:rPr lang="en-US" sz="1300" dirty="0">
                <a:solidFill>
                  <a:srgbClr val="9A8A72"/>
                </a:solidFill>
                <a:latin typeface="Helvetica Neue" pitchFamily="34" charset="0"/>
                <a:ea typeface="Helvetica Neue" pitchFamily="34" charset="-122"/>
                <a:cs typeface="Helvetica Neue" pitchFamily="34" charset="-120"/>
              </a:rPr>
              <a:t>✕  no consensus protocol</a:t>
            </a:r>
            <a:endParaRPr lang="en-US" sz="1300" dirty="0"/>
          </a:p>
        </p:txBody>
      </p:sp>
      <p:sp>
        <p:nvSpPr>
          <p:cNvPr id="35" name="Shape 32"/>
          <p:cNvSpPr/>
          <p:nvPr/>
        </p:nvSpPr>
        <p:spPr>
          <a:xfrm>
            <a:off x="6217920" y="5074920"/>
            <a:ext cx="2651760" cy="457200"/>
          </a:xfrm>
          <a:prstGeom prst="roundRect">
            <a:avLst>
              <a:gd name="adj" fmla="val 16000"/>
            </a:avLst>
          </a:prstGeom>
          <a:solidFill>
            <a:srgbClr val="DFD6C0"/>
          </a:solidFill>
          <a:ln/>
        </p:spPr>
      </p:sp>
      <p:sp>
        <p:nvSpPr>
          <p:cNvPr id="36" name="Text 33"/>
          <p:cNvSpPr/>
          <p:nvPr/>
        </p:nvSpPr>
        <p:spPr>
          <a:xfrm>
            <a:off x="6217920" y="5074920"/>
            <a:ext cx="2651760" cy="457200"/>
          </a:xfrm>
          <a:prstGeom prst="rect">
            <a:avLst/>
          </a:prstGeom>
          <a:noFill/>
          <a:ln/>
        </p:spPr>
        <p:txBody>
          <a:bodyPr wrap="square" lIns="0" tIns="0" rIns="0" bIns="0" rtlCol="0" anchor="ctr"/>
          <a:lstStyle/>
          <a:p>
            <a:pPr algn="ctr" indent="0" marL="0">
              <a:buNone/>
            </a:pPr>
            <a:r>
              <a:rPr lang="en-US" sz="1300" dirty="0">
                <a:solidFill>
                  <a:srgbClr val="9A8A72"/>
                </a:solidFill>
                <a:latin typeface="Helvetica Neue" pitchFamily="34" charset="0"/>
                <a:ea typeface="Helvetica Neue" pitchFamily="34" charset="-122"/>
                <a:cs typeface="Helvetica Neue" pitchFamily="34" charset="-120"/>
              </a:rPr>
              <a:t>✕  no split brain</a:t>
            </a:r>
            <a:endParaRPr lang="en-US" sz="1300" dirty="0"/>
          </a:p>
        </p:txBody>
      </p:sp>
      <p:sp>
        <p:nvSpPr>
          <p:cNvPr id="37" name="Shape 34"/>
          <p:cNvSpPr/>
          <p:nvPr/>
        </p:nvSpPr>
        <p:spPr>
          <a:xfrm>
            <a:off x="9052560" y="5074920"/>
            <a:ext cx="2651760" cy="457200"/>
          </a:xfrm>
          <a:prstGeom prst="roundRect">
            <a:avLst>
              <a:gd name="adj" fmla="val 16000"/>
            </a:avLst>
          </a:prstGeom>
          <a:solidFill>
            <a:srgbClr val="DFD6C0"/>
          </a:solidFill>
          <a:ln/>
        </p:spPr>
      </p:sp>
      <p:sp>
        <p:nvSpPr>
          <p:cNvPr id="38" name="Text 35"/>
          <p:cNvSpPr/>
          <p:nvPr/>
        </p:nvSpPr>
        <p:spPr>
          <a:xfrm>
            <a:off x="9052560" y="5074920"/>
            <a:ext cx="2651760" cy="457200"/>
          </a:xfrm>
          <a:prstGeom prst="rect">
            <a:avLst/>
          </a:prstGeom>
          <a:noFill/>
          <a:ln/>
        </p:spPr>
        <p:txBody>
          <a:bodyPr wrap="square" lIns="0" tIns="0" rIns="0" bIns="0" rtlCol="0" anchor="ctr"/>
          <a:lstStyle/>
          <a:p>
            <a:pPr algn="ctr" indent="0" marL="0">
              <a:buNone/>
            </a:pPr>
            <a:r>
              <a:rPr lang="en-US" sz="1300" dirty="0">
                <a:solidFill>
                  <a:srgbClr val="9A8A72"/>
                </a:solidFill>
                <a:latin typeface="Helvetica Neue" pitchFamily="34" charset="0"/>
                <a:ea typeface="Helvetica Neue" pitchFamily="34" charset="-122"/>
                <a:cs typeface="Helvetica Neue" pitchFamily="34" charset="-120"/>
              </a:rPr>
              <a:t>✕  no virtual IP</a:t>
            </a:r>
            <a:endParaRPr lang="en-US" sz="1300" dirty="0"/>
          </a:p>
        </p:txBody>
      </p:sp>
      <p:sp>
        <p:nvSpPr>
          <p:cNvPr id="39" name="Shape 36"/>
          <p:cNvSpPr/>
          <p:nvPr/>
        </p:nvSpPr>
        <p:spPr>
          <a:xfrm>
            <a:off x="548640" y="5715000"/>
            <a:ext cx="54864" cy="457200"/>
          </a:xfrm>
          <a:prstGeom prst="rect">
            <a:avLst/>
          </a:prstGeom>
          <a:solidFill>
            <a:srgbClr val="A8864A"/>
          </a:solidFill>
          <a:ln/>
        </p:spPr>
      </p:sp>
      <p:sp>
        <p:nvSpPr>
          <p:cNvPr id="40" name="Text 37"/>
          <p:cNvSpPr/>
          <p:nvPr/>
        </p:nvSpPr>
        <p:spPr>
          <a:xfrm>
            <a:off x="777240" y="57150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The lease lives where the data lives, so the writer and the commit log cannot disagree.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HIGH AVAILABILITY</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What a failover looks like from outside</a:t>
            </a:r>
            <a:endParaRPr lang="en-US" sz="2500" dirty="0"/>
          </a:p>
        </p:txBody>
      </p:sp>
      <p:sp>
        <p:nvSpPr>
          <p:cNvPr id="8" name="Text 5"/>
          <p:cNvSpPr/>
          <p:nvPr/>
        </p:nvSpPr>
        <p:spPr>
          <a:xfrm>
            <a:off x="548640" y="1691640"/>
            <a:ext cx="1280160" cy="365760"/>
          </a:xfrm>
          <a:prstGeom prst="rect">
            <a:avLst/>
          </a:prstGeom>
          <a:noFill/>
          <a:ln/>
        </p:spPr>
        <p:txBody>
          <a:bodyPr wrap="square" lIns="0" tIns="0" rIns="0" bIns="0" rtlCol="0" anchor="t"/>
          <a:lstStyle/>
          <a:p>
            <a:pPr indent="0" marL="0">
              <a:buNone/>
            </a:pPr>
            <a:r>
              <a:rPr lang="en-US" sz="1300" b="1" spc="100" kern="0" dirty="0">
                <a:solidFill>
                  <a:srgbClr val="3A2C1A"/>
                </a:solidFill>
                <a:latin typeface="Helvetica Neue" pitchFamily="34" charset="0"/>
                <a:ea typeface="Helvetica Neue" pitchFamily="34" charset="-122"/>
                <a:cs typeface="Helvetica Neue" pitchFamily="34" charset="-120"/>
              </a:rPr>
              <a:t>WRITES</a:t>
            </a:r>
            <a:endParaRPr lang="en-US" sz="1300" dirty="0"/>
          </a:p>
        </p:txBody>
      </p:sp>
      <p:sp>
        <p:nvSpPr>
          <p:cNvPr id="9" name="Shape 6"/>
          <p:cNvSpPr/>
          <p:nvPr/>
        </p:nvSpPr>
        <p:spPr>
          <a:xfrm>
            <a:off x="2011680" y="1645920"/>
            <a:ext cx="411480" cy="457200"/>
          </a:xfrm>
          <a:prstGeom prst="roundRect">
            <a:avLst>
              <a:gd name="adj" fmla="val 17778"/>
            </a:avLst>
          </a:prstGeom>
          <a:solidFill>
            <a:srgbClr val="5F7A3A"/>
          </a:solidFill>
          <a:ln/>
        </p:spPr>
      </p:sp>
      <p:sp>
        <p:nvSpPr>
          <p:cNvPr id="10" name="Shape 7"/>
          <p:cNvSpPr/>
          <p:nvPr/>
        </p:nvSpPr>
        <p:spPr>
          <a:xfrm>
            <a:off x="2478024" y="1645920"/>
            <a:ext cx="411480" cy="457200"/>
          </a:xfrm>
          <a:prstGeom prst="roundRect">
            <a:avLst>
              <a:gd name="adj" fmla="val 17778"/>
            </a:avLst>
          </a:prstGeom>
          <a:solidFill>
            <a:srgbClr val="5F7A3A"/>
          </a:solidFill>
          <a:ln/>
        </p:spPr>
      </p:sp>
      <p:sp>
        <p:nvSpPr>
          <p:cNvPr id="11" name="Shape 8"/>
          <p:cNvSpPr/>
          <p:nvPr/>
        </p:nvSpPr>
        <p:spPr>
          <a:xfrm>
            <a:off x="2944368" y="1645920"/>
            <a:ext cx="411480" cy="457200"/>
          </a:xfrm>
          <a:prstGeom prst="roundRect">
            <a:avLst>
              <a:gd name="adj" fmla="val 17778"/>
            </a:avLst>
          </a:prstGeom>
          <a:solidFill>
            <a:srgbClr val="5F7A3A"/>
          </a:solidFill>
          <a:ln/>
        </p:spPr>
      </p:sp>
      <p:sp>
        <p:nvSpPr>
          <p:cNvPr id="12" name="Shape 9"/>
          <p:cNvSpPr/>
          <p:nvPr/>
        </p:nvSpPr>
        <p:spPr>
          <a:xfrm>
            <a:off x="3410712" y="1645920"/>
            <a:ext cx="411480" cy="457200"/>
          </a:xfrm>
          <a:prstGeom prst="roundRect">
            <a:avLst>
              <a:gd name="adj" fmla="val 17778"/>
            </a:avLst>
          </a:prstGeom>
          <a:solidFill>
            <a:srgbClr val="5F7A3A"/>
          </a:solidFill>
          <a:ln/>
        </p:spPr>
      </p:sp>
      <p:sp>
        <p:nvSpPr>
          <p:cNvPr id="13" name="Shape 10"/>
          <p:cNvSpPr/>
          <p:nvPr/>
        </p:nvSpPr>
        <p:spPr>
          <a:xfrm>
            <a:off x="3877056" y="1645920"/>
            <a:ext cx="411480" cy="457200"/>
          </a:xfrm>
          <a:prstGeom prst="roundRect">
            <a:avLst>
              <a:gd name="adj" fmla="val 17778"/>
            </a:avLst>
          </a:prstGeom>
          <a:solidFill>
            <a:srgbClr val="5F7A3A"/>
          </a:solidFill>
          <a:ln/>
        </p:spPr>
      </p:sp>
      <p:sp>
        <p:nvSpPr>
          <p:cNvPr id="14" name="Shape 11"/>
          <p:cNvSpPr/>
          <p:nvPr/>
        </p:nvSpPr>
        <p:spPr>
          <a:xfrm>
            <a:off x="4343400" y="1645920"/>
            <a:ext cx="411480" cy="457200"/>
          </a:xfrm>
          <a:prstGeom prst="roundRect">
            <a:avLst>
              <a:gd name="adj" fmla="val 17778"/>
            </a:avLst>
          </a:prstGeom>
          <a:solidFill>
            <a:srgbClr val="5F7A3A"/>
          </a:solidFill>
          <a:ln/>
        </p:spPr>
      </p:sp>
      <p:sp>
        <p:nvSpPr>
          <p:cNvPr id="15" name="Shape 12"/>
          <p:cNvSpPr/>
          <p:nvPr/>
        </p:nvSpPr>
        <p:spPr>
          <a:xfrm>
            <a:off x="4809744" y="1645920"/>
            <a:ext cx="411480" cy="457200"/>
          </a:xfrm>
          <a:prstGeom prst="roundRect">
            <a:avLst>
              <a:gd name="adj" fmla="val 17778"/>
            </a:avLst>
          </a:prstGeom>
          <a:solidFill>
            <a:srgbClr val="5F7A3A"/>
          </a:solidFill>
          <a:ln/>
        </p:spPr>
      </p:sp>
      <p:sp>
        <p:nvSpPr>
          <p:cNvPr id="16" name="Shape 13"/>
          <p:cNvSpPr/>
          <p:nvPr/>
        </p:nvSpPr>
        <p:spPr>
          <a:xfrm>
            <a:off x="5276088" y="1645920"/>
            <a:ext cx="411480" cy="457200"/>
          </a:xfrm>
          <a:prstGeom prst="roundRect">
            <a:avLst>
              <a:gd name="adj" fmla="val 17778"/>
            </a:avLst>
          </a:prstGeom>
          <a:solidFill>
            <a:srgbClr val="9E4227"/>
          </a:solidFill>
          <a:ln/>
        </p:spPr>
      </p:sp>
      <p:sp>
        <p:nvSpPr>
          <p:cNvPr id="17" name="Shape 14"/>
          <p:cNvSpPr/>
          <p:nvPr/>
        </p:nvSpPr>
        <p:spPr>
          <a:xfrm>
            <a:off x="5742432" y="1645920"/>
            <a:ext cx="411480" cy="457200"/>
          </a:xfrm>
          <a:prstGeom prst="roundRect">
            <a:avLst>
              <a:gd name="adj" fmla="val 17778"/>
            </a:avLst>
          </a:prstGeom>
          <a:solidFill>
            <a:srgbClr val="9E4227"/>
          </a:solidFill>
          <a:ln/>
        </p:spPr>
      </p:sp>
      <p:sp>
        <p:nvSpPr>
          <p:cNvPr id="18" name="Shape 15"/>
          <p:cNvSpPr/>
          <p:nvPr/>
        </p:nvSpPr>
        <p:spPr>
          <a:xfrm>
            <a:off x="6208776" y="1645920"/>
            <a:ext cx="411480" cy="457200"/>
          </a:xfrm>
          <a:prstGeom prst="roundRect">
            <a:avLst>
              <a:gd name="adj" fmla="val 17778"/>
            </a:avLst>
          </a:prstGeom>
          <a:solidFill>
            <a:srgbClr val="9E4227"/>
          </a:solidFill>
          <a:ln/>
        </p:spPr>
      </p:sp>
      <p:sp>
        <p:nvSpPr>
          <p:cNvPr id="19" name="Shape 16"/>
          <p:cNvSpPr/>
          <p:nvPr/>
        </p:nvSpPr>
        <p:spPr>
          <a:xfrm>
            <a:off x="6675120" y="1645920"/>
            <a:ext cx="411480" cy="457200"/>
          </a:xfrm>
          <a:prstGeom prst="roundRect">
            <a:avLst>
              <a:gd name="adj" fmla="val 17778"/>
            </a:avLst>
          </a:prstGeom>
          <a:solidFill>
            <a:srgbClr val="9E4227"/>
          </a:solidFill>
          <a:ln/>
        </p:spPr>
      </p:sp>
      <p:sp>
        <p:nvSpPr>
          <p:cNvPr id="20" name="Shape 17"/>
          <p:cNvSpPr/>
          <p:nvPr/>
        </p:nvSpPr>
        <p:spPr>
          <a:xfrm>
            <a:off x="7141464" y="1645920"/>
            <a:ext cx="411480" cy="457200"/>
          </a:xfrm>
          <a:prstGeom prst="roundRect">
            <a:avLst>
              <a:gd name="adj" fmla="val 17778"/>
            </a:avLst>
          </a:prstGeom>
          <a:solidFill>
            <a:srgbClr val="9E4227"/>
          </a:solidFill>
          <a:ln/>
        </p:spPr>
      </p:sp>
      <p:sp>
        <p:nvSpPr>
          <p:cNvPr id="21" name="Shape 18"/>
          <p:cNvSpPr/>
          <p:nvPr/>
        </p:nvSpPr>
        <p:spPr>
          <a:xfrm>
            <a:off x="7607808" y="1645920"/>
            <a:ext cx="411480" cy="457200"/>
          </a:xfrm>
          <a:prstGeom prst="roundRect">
            <a:avLst>
              <a:gd name="adj" fmla="val 17778"/>
            </a:avLst>
          </a:prstGeom>
          <a:solidFill>
            <a:srgbClr val="5F7A3A"/>
          </a:solidFill>
          <a:ln/>
        </p:spPr>
      </p:sp>
      <p:sp>
        <p:nvSpPr>
          <p:cNvPr id="22" name="Shape 19"/>
          <p:cNvSpPr/>
          <p:nvPr/>
        </p:nvSpPr>
        <p:spPr>
          <a:xfrm>
            <a:off x="8074152" y="1645920"/>
            <a:ext cx="411480" cy="457200"/>
          </a:xfrm>
          <a:prstGeom prst="roundRect">
            <a:avLst>
              <a:gd name="adj" fmla="val 17778"/>
            </a:avLst>
          </a:prstGeom>
          <a:solidFill>
            <a:srgbClr val="5F7A3A"/>
          </a:solidFill>
          <a:ln/>
        </p:spPr>
      </p:sp>
      <p:sp>
        <p:nvSpPr>
          <p:cNvPr id="23" name="Shape 20"/>
          <p:cNvSpPr/>
          <p:nvPr/>
        </p:nvSpPr>
        <p:spPr>
          <a:xfrm>
            <a:off x="8540496" y="1645920"/>
            <a:ext cx="411480" cy="457200"/>
          </a:xfrm>
          <a:prstGeom prst="roundRect">
            <a:avLst>
              <a:gd name="adj" fmla="val 17778"/>
            </a:avLst>
          </a:prstGeom>
          <a:solidFill>
            <a:srgbClr val="5F7A3A"/>
          </a:solidFill>
          <a:ln/>
        </p:spPr>
      </p:sp>
      <p:sp>
        <p:nvSpPr>
          <p:cNvPr id="24" name="Shape 21"/>
          <p:cNvSpPr/>
          <p:nvPr/>
        </p:nvSpPr>
        <p:spPr>
          <a:xfrm>
            <a:off x="9006840" y="1645920"/>
            <a:ext cx="411480" cy="457200"/>
          </a:xfrm>
          <a:prstGeom prst="roundRect">
            <a:avLst>
              <a:gd name="adj" fmla="val 17778"/>
            </a:avLst>
          </a:prstGeom>
          <a:solidFill>
            <a:srgbClr val="5F7A3A"/>
          </a:solidFill>
          <a:ln/>
        </p:spPr>
      </p:sp>
      <p:sp>
        <p:nvSpPr>
          <p:cNvPr id="25" name="Shape 22"/>
          <p:cNvSpPr/>
          <p:nvPr/>
        </p:nvSpPr>
        <p:spPr>
          <a:xfrm>
            <a:off x="9473184" y="1645920"/>
            <a:ext cx="411480" cy="457200"/>
          </a:xfrm>
          <a:prstGeom prst="roundRect">
            <a:avLst>
              <a:gd name="adj" fmla="val 17778"/>
            </a:avLst>
          </a:prstGeom>
          <a:solidFill>
            <a:srgbClr val="5F7A3A"/>
          </a:solidFill>
          <a:ln/>
        </p:spPr>
      </p:sp>
      <p:sp>
        <p:nvSpPr>
          <p:cNvPr id="26" name="Shape 23"/>
          <p:cNvSpPr/>
          <p:nvPr/>
        </p:nvSpPr>
        <p:spPr>
          <a:xfrm>
            <a:off x="9939528" y="1645920"/>
            <a:ext cx="411480" cy="457200"/>
          </a:xfrm>
          <a:prstGeom prst="roundRect">
            <a:avLst>
              <a:gd name="adj" fmla="val 17778"/>
            </a:avLst>
          </a:prstGeom>
          <a:solidFill>
            <a:srgbClr val="5F7A3A"/>
          </a:solidFill>
          <a:ln/>
        </p:spPr>
      </p:sp>
      <p:sp>
        <p:nvSpPr>
          <p:cNvPr id="27" name="Shape 24"/>
          <p:cNvSpPr/>
          <p:nvPr/>
        </p:nvSpPr>
        <p:spPr>
          <a:xfrm>
            <a:off x="10405872" y="1645920"/>
            <a:ext cx="411480" cy="457200"/>
          </a:xfrm>
          <a:prstGeom prst="roundRect">
            <a:avLst>
              <a:gd name="adj" fmla="val 17778"/>
            </a:avLst>
          </a:prstGeom>
          <a:solidFill>
            <a:srgbClr val="5F7A3A"/>
          </a:solidFill>
          <a:ln/>
        </p:spPr>
      </p:sp>
      <p:sp>
        <p:nvSpPr>
          <p:cNvPr id="28" name="Shape 25"/>
          <p:cNvSpPr/>
          <p:nvPr/>
        </p:nvSpPr>
        <p:spPr>
          <a:xfrm>
            <a:off x="10872216" y="1645920"/>
            <a:ext cx="411480" cy="457200"/>
          </a:xfrm>
          <a:prstGeom prst="roundRect">
            <a:avLst>
              <a:gd name="adj" fmla="val 17778"/>
            </a:avLst>
          </a:prstGeom>
          <a:solidFill>
            <a:srgbClr val="5F7A3A"/>
          </a:solidFill>
          <a:ln/>
        </p:spPr>
      </p:sp>
      <p:sp>
        <p:nvSpPr>
          <p:cNvPr id="29" name="Shape 26"/>
          <p:cNvSpPr/>
          <p:nvPr/>
        </p:nvSpPr>
        <p:spPr>
          <a:xfrm>
            <a:off x="5276088" y="2194560"/>
            <a:ext cx="2276856" cy="91440"/>
          </a:xfrm>
          <a:prstGeom prst="rect">
            <a:avLst/>
          </a:prstGeom>
          <a:solidFill>
            <a:srgbClr val="9E4227"/>
          </a:solidFill>
          <a:ln/>
        </p:spPr>
      </p:sp>
      <p:sp>
        <p:nvSpPr>
          <p:cNvPr id="30" name="Text 27"/>
          <p:cNvSpPr/>
          <p:nvPr/>
        </p:nvSpPr>
        <p:spPr>
          <a:xfrm>
            <a:off x="4996282" y="2331720"/>
            <a:ext cx="3108960" cy="320040"/>
          </a:xfrm>
          <a:prstGeom prst="rect">
            <a:avLst/>
          </a:prstGeom>
          <a:noFill/>
          <a:ln/>
        </p:spPr>
        <p:txBody>
          <a:bodyPr wrap="square" lIns="0" tIns="0" rIns="0" bIns="0" rtlCol="0" anchor="t"/>
          <a:lstStyle/>
          <a:p>
            <a:pPr algn="ctr" indent="0" marL="0">
              <a:buNone/>
            </a:pPr>
            <a:r>
              <a:rPr lang="en-US" sz="1250" b="1" dirty="0">
                <a:solidFill>
                  <a:srgbClr val="9E4227"/>
                </a:solidFill>
                <a:latin typeface="Helvetica Neue" pitchFamily="34" charset="0"/>
                <a:ea typeface="Helvetica Neue" pitchFamily="34" charset="-122"/>
                <a:cs typeface="Helvetica Neue" pitchFamily="34" charset="-120"/>
              </a:rPr>
              <a:t>the window — writes fail</a:t>
            </a:r>
            <a:endParaRPr lang="en-US" sz="1250" dirty="0"/>
          </a:p>
        </p:txBody>
      </p:sp>
      <p:sp>
        <p:nvSpPr>
          <p:cNvPr id="31" name="Text 28"/>
          <p:cNvSpPr/>
          <p:nvPr/>
        </p:nvSpPr>
        <p:spPr>
          <a:xfrm>
            <a:off x="4623206" y="1325880"/>
            <a:ext cx="1463040" cy="320040"/>
          </a:xfrm>
          <a:prstGeom prst="rect">
            <a:avLst/>
          </a:prstGeom>
          <a:noFill/>
          <a:ln/>
        </p:spPr>
        <p:txBody>
          <a:bodyPr wrap="square" lIns="0" tIns="0" rIns="0" bIns="0" rtlCol="0" anchor="t"/>
          <a:lstStyle/>
          <a:p>
            <a:pPr algn="ctr" indent="0" marL="0">
              <a:buNone/>
            </a:pPr>
            <a:r>
              <a:rPr lang="en-US" sz="1200" dirty="0">
                <a:solidFill>
                  <a:srgbClr val="9E4227"/>
                </a:solidFill>
                <a:latin typeface="Helvetica Neue" pitchFamily="34" charset="0"/>
                <a:ea typeface="Helvetica Neue" pitchFamily="34" charset="-122"/>
                <a:cs typeface="Helvetica Neue" pitchFamily="34" charset="-120"/>
              </a:rPr>
              <a:t>A dies</a:t>
            </a:r>
            <a:endParaRPr lang="en-US" sz="1200" dirty="0"/>
          </a:p>
        </p:txBody>
      </p:sp>
      <p:sp>
        <p:nvSpPr>
          <p:cNvPr id="32" name="Text 29"/>
          <p:cNvSpPr/>
          <p:nvPr/>
        </p:nvSpPr>
        <p:spPr>
          <a:xfrm>
            <a:off x="6861658" y="1325880"/>
            <a:ext cx="2194560" cy="320040"/>
          </a:xfrm>
          <a:prstGeom prst="rect">
            <a:avLst/>
          </a:prstGeom>
          <a:noFill/>
          <a:ln/>
        </p:spPr>
        <p:txBody>
          <a:bodyPr wrap="square" lIns="0" tIns="0" rIns="0" bIns="0" rtlCol="0" anchor="t"/>
          <a:lstStyle/>
          <a:p>
            <a:pPr algn="ctr" indent="0" marL="0">
              <a:buNone/>
            </a:pPr>
            <a:r>
              <a:rPr lang="en-US" sz="1200" dirty="0">
                <a:solidFill>
                  <a:srgbClr val="5F7A3A"/>
                </a:solidFill>
                <a:latin typeface="Helvetica Neue" pitchFamily="34" charset="0"/>
                <a:ea typeface="Helvetica Neue" pitchFamily="34" charset="-122"/>
                <a:cs typeface="Helvetica Neue" pitchFamily="34" charset="-120"/>
              </a:rPr>
              <a:t>B has the lease</a:t>
            </a:r>
            <a:endParaRPr lang="en-US" sz="1200" dirty="0"/>
          </a:p>
        </p:txBody>
      </p:sp>
      <p:sp>
        <p:nvSpPr>
          <p:cNvPr id="33" name="Text 30"/>
          <p:cNvSpPr/>
          <p:nvPr/>
        </p:nvSpPr>
        <p:spPr>
          <a:xfrm>
            <a:off x="548640" y="2788920"/>
            <a:ext cx="1280160" cy="365760"/>
          </a:xfrm>
          <a:prstGeom prst="rect">
            <a:avLst/>
          </a:prstGeom>
          <a:noFill/>
          <a:ln/>
        </p:spPr>
        <p:txBody>
          <a:bodyPr wrap="square" lIns="0" tIns="0" rIns="0" bIns="0" rtlCol="0" anchor="t"/>
          <a:lstStyle/>
          <a:p>
            <a:pPr indent="0" marL="0">
              <a:buNone/>
            </a:pPr>
            <a:r>
              <a:rPr lang="en-US" sz="1300" b="1" spc="100" kern="0" dirty="0">
                <a:solidFill>
                  <a:srgbClr val="3A2C1A"/>
                </a:solidFill>
                <a:latin typeface="Helvetica Neue" pitchFamily="34" charset="0"/>
                <a:ea typeface="Helvetica Neue" pitchFamily="34" charset="-122"/>
                <a:cs typeface="Helvetica Neue" pitchFamily="34" charset="-120"/>
              </a:rPr>
              <a:t>READS</a:t>
            </a:r>
            <a:endParaRPr lang="en-US" sz="1300" dirty="0"/>
          </a:p>
        </p:txBody>
      </p:sp>
      <p:sp>
        <p:nvSpPr>
          <p:cNvPr id="34" name="Shape 31"/>
          <p:cNvSpPr/>
          <p:nvPr/>
        </p:nvSpPr>
        <p:spPr>
          <a:xfrm>
            <a:off x="2011680" y="2743200"/>
            <a:ext cx="411480" cy="457200"/>
          </a:xfrm>
          <a:prstGeom prst="roundRect">
            <a:avLst>
              <a:gd name="adj" fmla="val 17778"/>
            </a:avLst>
          </a:prstGeom>
          <a:solidFill>
            <a:srgbClr val="3F6470"/>
          </a:solidFill>
          <a:ln/>
        </p:spPr>
      </p:sp>
      <p:sp>
        <p:nvSpPr>
          <p:cNvPr id="35" name="Shape 32"/>
          <p:cNvSpPr/>
          <p:nvPr/>
        </p:nvSpPr>
        <p:spPr>
          <a:xfrm>
            <a:off x="2478024" y="2743200"/>
            <a:ext cx="411480" cy="457200"/>
          </a:xfrm>
          <a:prstGeom prst="roundRect">
            <a:avLst>
              <a:gd name="adj" fmla="val 17778"/>
            </a:avLst>
          </a:prstGeom>
          <a:solidFill>
            <a:srgbClr val="3F6470"/>
          </a:solidFill>
          <a:ln/>
        </p:spPr>
      </p:sp>
      <p:sp>
        <p:nvSpPr>
          <p:cNvPr id="36" name="Shape 33"/>
          <p:cNvSpPr/>
          <p:nvPr/>
        </p:nvSpPr>
        <p:spPr>
          <a:xfrm>
            <a:off x="2944368" y="2743200"/>
            <a:ext cx="411480" cy="457200"/>
          </a:xfrm>
          <a:prstGeom prst="roundRect">
            <a:avLst>
              <a:gd name="adj" fmla="val 17778"/>
            </a:avLst>
          </a:prstGeom>
          <a:solidFill>
            <a:srgbClr val="3F6470"/>
          </a:solidFill>
          <a:ln/>
        </p:spPr>
      </p:sp>
      <p:sp>
        <p:nvSpPr>
          <p:cNvPr id="37" name="Shape 34"/>
          <p:cNvSpPr/>
          <p:nvPr/>
        </p:nvSpPr>
        <p:spPr>
          <a:xfrm>
            <a:off x="3410712" y="2743200"/>
            <a:ext cx="411480" cy="457200"/>
          </a:xfrm>
          <a:prstGeom prst="roundRect">
            <a:avLst>
              <a:gd name="adj" fmla="val 17778"/>
            </a:avLst>
          </a:prstGeom>
          <a:solidFill>
            <a:srgbClr val="3F6470"/>
          </a:solidFill>
          <a:ln/>
        </p:spPr>
      </p:sp>
      <p:sp>
        <p:nvSpPr>
          <p:cNvPr id="38" name="Shape 35"/>
          <p:cNvSpPr/>
          <p:nvPr/>
        </p:nvSpPr>
        <p:spPr>
          <a:xfrm>
            <a:off x="3877056" y="2743200"/>
            <a:ext cx="411480" cy="457200"/>
          </a:xfrm>
          <a:prstGeom prst="roundRect">
            <a:avLst>
              <a:gd name="adj" fmla="val 17778"/>
            </a:avLst>
          </a:prstGeom>
          <a:solidFill>
            <a:srgbClr val="3F6470"/>
          </a:solidFill>
          <a:ln/>
        </p:spPr>
      </p:sp>
      <p:sp>
        <p:nvSpPr>
          <p:cNvPr id="39" name="Shape 36"/>
          <p:cNvSpPr/>
          <p:nvPr/>
        </p:nvSpPr>
        <p:spPr>
          <a:xfrm>
            <a:off x="4343400" y="2743200"/>
            <a:ext cx="411480" cy="457200"/>
          </a:xfrm>
          <a:prstGeom prst="roundRect">
            <a:avLst>
              <a:gd name="adj" fmla="val 17778"/>
            </a:avLst>
          </a:prstGeom>
          <a:solidFill>
            <a:srgbClr val="3F6470"/>
          </a:solidFill>
          <a:ln/>
        </p:spPr>
      </p:sp>
      <p:sp>
        <p:nvSpPr>
          <p:cNvPr id="40" name="Shape 37"/>
          <p:cNvSpPr/>
          <p:nvPr/>
        </p:nvSpPr>
        <p:spPr>
          <a:xfrm>
            <a:off x="4809744" y="2743200"/>
            <a:ext cx="411480" cy="457200"/>
          </a:xfrm>
          <a:prstGeom prst="roundRect">
            <a:avLst>
              <a:gd name="adj" fmla="val 17778"/>
            </a:avLst>
          </a:prstGeom>
          <a:solidFill>
            <a:srgbClr val="3F6470"/>
          </a:solidFill>
          <a:ln/>
        </p:spPr>
      </p:sp>
      <p:sp>
        <p:nvSpPr>
          <p:cNvPr id="41" name="Shape 38"/>
          <p:cNvSpPr/>
          <p:nvPr/>
        </p:nvSpPr>
        <p:spPr>
          <a:xfrm>
            <a:off x="5276088" y="2743200"/>
            <a:ext cx="411480" cy="457200"/>
          </a:xfrm>
          <a:prstGeom prst="roundRect">
            <a:avLst>
              <a:gd name="adj" fmla="val 17778"/>
            </a:avLst>
          </a:prstGeom>
          <a:solidFill>
            <a:srgbClr val="3F6470"/>
          </a:solidFill>
          <a:ln/>
        </p:spPr>
      </p:sp>
      <p:sp>
        <p:nvSpPr>
          <p:cNvPr id="42" name="Shape 39"/>
          <p:cNvSpPr/>
          <p:nvPr/>
        </p:nvSpPr>
        <p:spPr>
          <a:xfrm>
            <a:off x="5742432" y="2743200"/>
            <a:ext cx="411480" cy="457200"/>
          </a:xfrm>
          <a:prstGeom prst="roundRect">
            <a:avLst>
              <a:gd name="adj" fmla="val 17778"/>
            </a:avLst>
          </a:prstGeom>
          <a:solidFill>
            <a:srgbClr val="3F6470"/>
          </a:solidFill>
          <a:ln/>
        </p:spPr>
      </p:sp>
      <p:sp>
        <p:nvSpPr>
          <p:cNvPr id="43" name="Shape 40"/>
          <p:cNvSpPr/>
          <p:nvPr/>
        </p:nvSpPr>
        <p:spPr>
          <a:xfrm>
            <a:off x="6208776" y="2743200"/>
            <a:ext cx="411480" cy="457200"/>
          </a:xfrm>
          <a:prstGeom prst="roundRect">
            <a:avLst>
              <a:gd name="adj" fmla="val 17778"/>
            </a:avLst>
          </a:prstGeom>
          <a:solidFill>
            <a:srgbClr val="3F6470"/>
          </a:solidFill>
          <a:ln/>
        </p:spPr>
      </p:sp>
      <p:sp>
        <p:nvSpPr>
          <p:cNvPr id="44" name="Shape 41"/>
          <p:cNvSpPr/>
          <p:nvPr/>
        </p:nvSpPr>
        <p:spPr>
          <a:xfrm>
            <a:off x="6675120" y="2743200"/>
            <a:ext cx="411480" cy="457200"/>
          </a:xfrm>
          <a:prstGeom prst="roundRect">
            <a:avLst>
              <a:gd name="adj" fmla="val 17778"/>
            </a:avLst>
          </a:prstGeom>
          <a:solidFill>
            <a:srgbClr val="3F6470"/>
          </a:solidFill>
          <a:ln/>
        </p:spPr>
      </p:sp>
      <p:sp>
        <p:nvSpPr>
          <p:cNvPr id="45" name="Shape 42"/>
          <p:cNvSpPr/>
          <p:nvPr/>
        </p:nvSpPr>
        <p:spPr>
          <a:xfrm>
            <a:off x="7141464" y="2743200"/>
            <a:ext cx="411480" cy="457200"/>
          </a:xfrm>
          <a:prstGeom prst="roundRect">
            <a:avLst>
              <a:gd name="adj" fmla="val 17778"/>
            </a:avLst>
          </a:prstGeom>
          <a:solidFill>
            <a:srgbClr val="3F6470"/>
          </a:solidFill>
          <a:ln/>
        </p:spPr>
      </p:sp>
      <p:sp>
        <p:nvSpPr>
          <p:cNvPr id="46" name="Shape 43"/>
          <p:cNvSpPr/>
          <p:nvPr/>
        </p:nvSpPr>
        <p:spPr>
          <a:xfrm>
            <a:off x="7607808" y="2743200"/>
            <a:ext cx="411480" cy="457200"/>
          </a:xfrm>
          <a:prstGeom prst="roundRect">
            <a:avLst>
              <a:gd name="adj" fmla="val 17778"/>
            </a:avLst>
          </a:prstGeom>
          <a:solidFill>
            <a:srgbClr val="3F6470"/>
          </a:solidFill>
          <a:ln/>
        </p:spPr>
      </p:sp>
      <p:sp>
        <p:nvSpPr>
          <p:cNvPr id="47" name="Shape 44"/>
          <p:cNvSpPr/>
          <p:nvPr/>
        </p:nvSpPr>
        <p:spPr>
          <a:xfrm>
            <a:off x="8074152" y="2743200"/>
            <a:ext cx="411480" cy="457200"/>
          </a:xfrm>
          <a:prstGeom prst="roundRect">
            <a:avLst>
              <a:gd name="adj" fmla="val 17778"/>
            </a:avLst>
          </a:prstGeom>
          <a:solidFill>
            <a:srgbClr val="3F6470"/>
          </a:solidFill>
          <a:ln/>
        </p:spPr>
      </p:sp>
      <p:sp>
        <p:nvSpPr>
          <p:cNvPr id="48" name="Shape 45"/>
          <p:cNvSpPr/>
          <p:nvPr/>
        </p:nvSpPr>
        <p:spPr>
          <a:xfrm>
            <a:off x="8540496" y="2743200"/>
            <a:ext cx="411480" cy="457200"/>
          </a:xfrm>
          <a:prstGeom prst="roundRect">
            <a:avLst>
              <a:gd name="adj" fmla="val 17778"/>
            </a:avLst>
          </a:prstGeom>
          <a:solidFill>
            <a:srgbClr val="3F6470"/>
          </a:solidFill>
          <a:ln/>
        </p:spPr>
      </p:sp>
      <p:sp>
        <p:nvSpPr>
          <p:cNvPr id="49" name="Shape 46"/>
          <p:cNvSpPr/>
          <p:nvPr/>
        </p:nvSpPr>
        <p:spPr>
          <a:xfrm>
            <a:off x="9006840" y="2743200"/>
            <a:ext cx="411480" cy="457200"/>
          </a:xfrm>
          <a:prstGeom prst="roundRect">
            <a:avLst>
              <a:gd name="adj" fmla="val 17778"/>
            </a:avLst>
          </a:prstGeom>
          <a:solidFill>
            <a:srgbClr val="3F6470"/>
          </a:solidFill>
          <a:ln/>
        </p:spPr>
      </p:sp>
      <p:sp>
        <p:nvSpPr>
          <p:cNvPr id="50" name="Shape 47"/>
          <p:cNvSpPr/>
          <p:nvPr/>
        </p:nvSpPr>
        <p:spPr>
          <a:xfrm>
            <a:off x="9473184" y="2743200"/>
            <a:ext cx="411480" cy="457200"/>
          </a:xfrm>
          <a:prstGeom prst="roundRect">
            <a:avLst>
              <a:gd name="adj" fmla="val 17778"/>
            </a:avLst>
          </a:prstGeom>
          <a:solidFill>
            <a:srgbClr val="3F6470"/>
          </a:solidFill>
          <a:ln/>
        </p:spPr>
      </p:sp>
      <p:sp>
        <p:nvSpPr>
          <p:cNvPr id="51" name="Shape 48"/>
          <p:cNvSpPr/>
          <p:nvPr/>
        </p:nvSpPr>
        <p:spPr>
          <a:xfrm>
            <a:off x="9939528" y="2743200"/>
            <a:ext cx="411480" cy="457200"/>
          </a:xfrm>
          <a:prstGeom prst="roundRect">
            <a:avLst>
              <a:gd name="adj" fmla="val 17778"/>
            </a:avLst>
          </a:prstGeom>
          <a:solidFill>
            <a:srgbClr val="3F6470"/>
          </a:solidFill>
          <a:ln/>
        </p:spPr>
      </p:sp>
      <p:sp>
        <p:nvSpPr>
          <p:cNvPr id="52" name="Shape 49"/>
          <p:cNvSpPr/>
          <p:nvPr/>
        </p:nvSpPr>
        <p:spPr>
          <a:xfrm>
            <a:off x="10405872" y="2743200"/>
            <a:ext cx="411480" cy="457200"/>
          </a:xfrm>
          <a:prstGeom prst="roundRect">
            <a:avLst>
              <a:gd name="adj" fmla="val 17778"/>
            </a:avLst>
          </a:prstGeom>
          <a:solidFill>
            <a:srgbClr val="3F6470"/>
          </a:solidFill>
          <a:ln/>
        </p:spPr>
      </p:sp>
      <p:sp>
        <p:nvSpPr>
          <p:cNvPr id="53" name="Shape 50"/>
          <p:cNvSpPr/>
          <p:nvPr/>
        </p:nvSpPr>
        <p:spPr>
          <a:xfrm>
            <a:off x="10872216" y="2743200"/>
            <a:ext cx="411480" cy="457200"/>
          </a:xfrm>
          <a:prstGeom prst="roundRect">
            <a:avLst>
              <a:gd name="adj" fmla="val 17778"/>
            </a:avLst>
          </a:prstGeom>
          <a:solidFill>
            <a:srgbClr val="3F6470"/>
          </a:solidFill>
          <a:ln/>
        </p:spPr>
      </p:sp>
      <p:sp>
        <p:nvSpPr>
          <p:cNvPr id="54" name="Text 51"/>
          <p:cNvSpPr/>
          <p:nvPr/>
        </p:nvSpPr>
        <p:spPr>
          <a:xfrm>
            <a:off x="2011680" y="3291840"/>
            <a:ext cx="9326880" cy="320040"/>
          </a:xfrm>
          <a:prstGeom prst="rect">
            <a:avLst/>
          </a:prstGeom>
          <a:noFill/>
          <a:ln/>
        </p:spPr>
        <p:txBody>
          <a:bodyPr wrap="square" lIns="0" tIns="0" rIns="0" bIns="0" rtlCol="0" anchor="t"/>
          <a:lstStyle/>
          <a:p>
            <a:pPr indent="0" marL="0">
              <a:buNone/>
            </a:pPr>
            <a:r>
              <a:rPr lang="en-US" sz="1250" dirty="0">
                <a:solidFill>
                  <a:srgbClr val="3F6470"/>
                </a:solidFill>
                <a:latin typeface="Helvetica Neue" pitchFamily="34" charset="0"/>
                <a:ea typeface="Helvetica Neue" pitchFamily="34" charset="-122"/>
                <a:cs typeface="Helvetica Neue" pitchFamily="34" charset="-120"/>
              </a:rPr>
              <a:t>uninterrupted — peers never asked the transactor anything</a:t>
            </a:r>
            <a:endParaRPr lang="en-US" sz="1250" dirty="0"/>
          </a:p>
        </p:txBody>
      </p:sp>
      <p:sp>
        <p:nvSpPr>
          <p:cNvPr id="55" name="Text 52"/>
          <p:cNvSpPr/>
          <p:nvPr/>
        </p:nvSpPr>
        <p:spPr>
          <a:xfrm>
            <a:off x="548640" y="3794760"/>
            <a:ext cx="1106424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The peer reconnects by itself:</a:t>
            </a:r>
            <a:endParaRPr lang="en-US" sz="1400" dirty="0"/>
          </a:p>
        </p:txBody>
      </p:sp>
      <p:sp>
        <p:nvSpPr>
          <p:cNvPr id="56" name="Shape 53"/>
          <p:cNvSpPr/>
          <p:nvPr/>
        </p:nvSpPr>
        <p:spPr>
          <a:xfrm>
            <a:off x="548640" y="4160520"/>
            <a:ext cx="3520440" cy="502920"/>
          </a:xfrm>
          <a:prstGeom prst="roundRect">
            <a:avLst>
              <a:gd name="adj" fmla="val 10909"/>
            </a:avLst>
          </a:prstGeom>
          <a:solidFill>
            <a:srgbClr val="DDE3CC"/>
          </a:solidFill>
          <a:ln w="15875">
            <a:solidFill>
              <a:srgbClr val="5F7A3A"/>
            </a:solidFill>
            <a:prstDash val="solid"/>
          </a:ln>
        </p:spPr>
      </p:sp>
      <p:sp>
        <p:nvSpPr>
          <p:cNvPr id="57" name="Text 54"/>
          <p:cNvSpPr/>
          <p:nvPr/>
        </p:nvSpPr>
        <p:spPr>
          <a:xfrm>
            <a:off x="621792" y="4160520"/>
            <a:ext cx="3374136" cy="502920"/>
          </a:xfrm>
          <a:prstGeom prst="rect">
            <a:avLst/>
          </a:prstGeom>
          <a:noFill/>
          <a:ln/>
        </p:spPr>
        <p:txBody>
          <a:bodyPr wrap="square" lIns="0" tIns="0" rIns="0" bIns="0" rtlCol="0" anchor="ctr">
            <a:normAutofit/>
          </a:bodyPr>
          <a:lstStyle/>
          <a:p>
            <a:pPr algn="ctr" indent="0" marL="0">
              <a:buNone/>
            </a:pPr>
            <a:r>
              <a:rPr lang="en-US" sz="1300" b="1" dirty="0">
                <a:solidFill>
                  <a:srgbClr val="5F7A3A"/>
                </a:solidFill>
                <a:latin typeface="Helvetica Neue" pitchFamily="34" charset="0"/>
                <a:ea typeface="Helvetica Neue" pitchFamily="34" charset="-122"/>
                <a:cs typeface="Helvetica Neue" pitchFamily="34" charset="-120"/>
              </a:rPr>
              <a:t>✓  no URI change</a:t>
            </a:r>
            <a:endParaRPr lang="en-US" sz="1300" dirty="0"/>
          </a:p>
        </p:txBody>
      </p:sp>
      <p:sp>
        <p:nvSpPr>
          <p:cNvPr id="58" name="Shape 55"/>
          <p:cNvSpPr/>
          <p:nvPr/>
        </p:nvSpPr>
        <p:spPr>
          <a:xfrm>
            <a:off x="4251960" y="4160520"/>
            <a:ext cx="3520440" cy="502920"/>
          </a:xfrm>
          <a:prstGeom prst="roundRect">
            <a:avLst>
              <a:gd name="adj" fmla="val 10909"/>
            </a:avLst>
          </a:prstGeom>
          <a:solidFill>
            <a:srgbClr val="DDE3CC"/>
          </a:solidFill>
          <a:ln w="15875">
            <a:solidFill>
              <a:srgbClr val="5F7A3A"/>
            </a:solidFill>
            <a:prstDash val="solid"/>
          </a:ln>
        </p:spPr>
      </p:sp>
      <p:sp>
        <p:nvSpPr>
          <p:cNvPr id="59" name="Text 56"/>
          <p:cNvSpPr/>
          <p:nvPr/>
        </p:nvSpPr>
        <p:spPr>
          <a:xfrm>
            <a:off x="4325112" y="4160520"/>
            <a:ext cx="3374136" cy="502920"/>
          </a:xfrm>
          <a:prstGeom prst="rect">
            <a:avLst/>
          </a:prstGeom>
          <a:noFill/>
          <a:ln/>
        </p:spPr>
        <p:txBody>
          <a:bodyPr wrap="square" lIns="0" tIns="0" rIns="0" bIns="0" rtlCol="0" anchor="ctr">
            <a:normAutofit/>
          </a:bodyPr>
          <a:lstStyle/>
          <a:p>
            <a:pPr algn="ctr" indent="0" marL="0">
              <a:buNone/>
            </a:pPr>
            <a:r>
              <a:rPr lang="en-US" sz="1300" b="1" dirty="0">
                <a:solidFill>
                  <a:srgbClr val="5F7A3A"/>
                </a:solidFill>
                <a:latin typeface="Helvetica Neue" pitchFamily="34" charset="0"/>
                <a:ea typeface="Helvetica Neue" pitchFamily="34" charset="-122"/>
                <a:cs typeface="Helvetica Neue" pitchFamily="34" charset="-120"/>
              </a:rPr>
              <a:t>✓  no peer restart</a:t>
            </a:r>
            <a:endParaRPr lang="en-US" sz="1300" dirty="0"/>
          </a:p>
        </p:txBody>
      </p:sp>
      <p:sp>
        <p:nvSpPr>
          <p:cNvPr id="60" name="Shape 57"/>
          <p:cNvSpPr/>
          <p:nvPr/>
        </p:nvSpPr>
        <p:spPr>
          <a:xfrm>
            <a:off x="7955280" y="4160520"/>
            <a:ext cx="3520440" cy="502920"/>
          </a:xfrm>
          <a:prstGeom prst="roundRect">
            <a:avLst>
              <a:gd name="adj" fmla="val 10909"/>
            </a:avLst>
          </a:prstGeom>
          <a:solidFill>
            <a:srgbClr val="DDE3CC"/>
          </a:solidFill>
          <a:ln w="15875">
            <a:solidFill>
              <a:srgbClr val="5F7A3A"/>
            </a:solidFill>
            <a:prstDash val="solid"/>
          </a:ln>
        </p:spPr>
      </p:sp>
      <p:sp>
        <p:nvSpPr>
          <p:cNvPr id="61" name="Text 58"/>
          <p:cNvSpPr/>
          <p:nvPr/>
        </p:nvSpPr>
        <p:spPr>
          <a:xfrm>
            <a:off x="8028432" y="4160520"/>
            <a:ext cx="3374136" cy="502920"/>
          </a:xfrm>
          <a:prstGeom prst="rect">
            <a:avLst/>
          </a:prstGeom>
          <a:noFill/>
          <a:ln/>
        </p:spPr>
        <p:txBody>
          <a:bodyPr wrap="square" lIns="0" tIns="0" rIns="0" bIns="0" rtlCol="0" anchor="ctr">
            <a:normAutofit/>
          </a:bodyPr>
          <a:lstStyle/>
          <a:p>
            <a:pPr algn="ctr" indent="0" marL="0">
              <a:buNone/>
            </a:pPr>
            <a:r>
              <a:rPr lang="en-US" sz="1300" b="1" dirty="0">
                <a:solidFill>
                  <a:srgbClr val="5F7A3A"/>
                </a:solidFill>
                <a:latin typeface="Helvetica Neue" pitchFamily="34" charset="0"/>
                <a:ea typeface="Helvetica Neue" pitchFamily="34" charset="-122"/>
                <a:cs typeface="Helvetica Neue" pitchFamily="34" charset="-120"/>
              </a:rPr>
              <a:t>✓  no load balancer</a:t>
            </a:r>
            <a:endParaRPr lang="en-US" sz="1300" dirty="0"/>
          </a:p>
        </p:txBody>
      </p:sp>
      <p:sp>
        <p:nvSpPr>
          <p:cNvPr id="62" name="Shape 59"/>
          <p:cNvSpPr/>
          <p:nvPr/>
        </p:nvSpPr>
        <p:spPr>
          <a:xfrm>
            <a:off x="548640" y="4892040"/>
            <a:ext cx="11064240" cy="1097280"/>
          </a:xfrm>
          <a:prstGeom prst="roundRect">
            <a:avLst>
              <a:gd name="adj" fmla="val 6667"/>
            </a:avLst>
          </a:prstGeom>
          <a:solidFill>
            <a:srgbClr val="DFD6C0"/>
          </a:solidFill>
          <a:ln/>
        </p:spPr>
      </p:sp>
      <p:sp>
        <p:nvSpPr>
          <p:cNvPr id="63" name="Shape 60"/>
          <p:cNvSpPr/>
          <p:nvPr/>
        </p:nvSpPr>
        <p:spPr>
          <a:xfrm>
            <a:off x="548640" y="4892040"/>
            <a:ext cx="82296" cy="1097280"/>
          </a:xfrm>
          <a:prstGeom prst="rect">
            <a:avLst/>
          </a:prstGeom>
          <a:solidFill>
            <a:srgbClr val="A8864A"/>
          </a:solidFill>
          <a:ln/>
        </p:spPr>
      </p:sp>
      <p:sp>
        <p:nvSpPr>
          <p:cNvPr id="64" name="Text 61"/>
          <p:cNvSpPr/>
          <p:nvPr/>
        </p:nvSpPr>
        <p:spPr>
          <a:xfrm>
            <a:off x="822960" y="500176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§2</a:t>
            </a:r>
            <a:endParaRPr lang="en-US" sz="1300" dirty="0"/>
          </a:p>
        </p:txBody>
      </p:sp>
      <p:sp>
        <p:nvSpPr>
          <p:cNvPr id="65" name="Shape 62"/>
          <p:cNvSpPr/>
          <p:nvPr/>
        </p:nvSpPr>
        <p:spPr>
          <a:xfrm>
            <a:off x="10561320" y="5001768"/>
            <a:ext cx="777240" cy="292608"/>
          </a:xfrm>
          <a:prstGeom prst="roundRect">
            <a:avLst>
              <a:gd name="adj" fmla="val 25000"/>
            </a:avLst>
          </a:prstGeom>
          <a:solidFill>
            <a:srgbClr val="EBD5CB"/>
          </a:solidFill>
          <a:ln/>
        </p:spPr>
      </p:sp>
      <p:sp>
        <p:nvSpPr>
          <p:cNvPr id="66" name="Text 63"/>
          <p:cNvSpPr/>
          <p:nvPr/>
        </p:nvSpPr>
        <p:spPr>
          <a:xfrm>
            <a:off x="10561320" y="5001768"/>
            <a:ext cx="777240" cy="292608"/>
          </a:xfrm>
          <a:prstGeom prst="rect">
            <a:avLst/>
          </a:prstGeom>
          <a:noFill/>
          <a:ln/>
        </p:spPr>
        <p:txBody>
          <a:bodyPr wrap="square" lIns="0" tIns="0" rIns="0" bIns="0" rtlCol="0" anchor="ctr"/>
          <a:lstStyle/>
          <a:p>
            <a:pPr algn="ctr" indent="0" marL="0">
              <a:buNone/>
            </a:pPr>
            <a:r>
              <a:rPr lang="en-US" sz="1100" b="1" dirty="0">
                <a:solidFill>
                  <a:srgbClr val="9E4227"/>
                </a:solidFill>
                <a:latin typeface="Helvetica Neue" pitchFamily="34" charset="0"/>
                <a:ea typeface="Helvetica Neue" pitchFamily="34" charset="-122"/>
                <a:cs typeface="Helvetica Neue" pitchFamily="34" charset="-120"/>
              </a:rPr>
              <a:t>[PRO]</a:t>
            </a:r>
            <a:endParaRPr lang="en-US" sz="1100" dirty="0"/>
          </a:p>
        </p:txBody>
      </p:sp>
      <p:sp>
        <p:nvSpPr>
          <p:cNvPr id="67" name="Text 64"/>
          <p:cNvSpPr/>
          <p:nvPr/>
        </p:nvSpPr>
        <p:spPr>
          <a:xfrm>
            <a:off x="822960" y="5349240"/>
            <a:ext cx="10515600" cy="53035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Start (writer-loop!), then  pkill -f pg-transactor.properties, then read (failover-report @timeline).</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That number is the write-availability SLO for this environment.</a:t>
            </a:r>
            <a:endParaRPr lang="en-US" sz="1250" dirty="0"/>
          </a:p>
        </p:txBody>
      </p:sp>
      <p:sp>
        <p:nvSpPr>
          <p:cNvPr id="68" name="Text 65"/>
          <p:cNvSpPr/>
          <p:nvPr/>
        </p:nvSpPr>
        <p:spPr>
          <a:xfrm>
            <a:off x="548640" y="612648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The window depends on heartbeat-interval-msec, storage latency, and standby JVM warmth. Measure it where you run it.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HIGH AVAILABILITY</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What a standby covers — and what it does not</a:t>
            </a:r>
            <a:endParaRPr lang="en-US" sz="2500" dirty="0"/>
          </a:p>
        </p:txBody>
      </p:sp>
      <p:sp>
        <p:nvSpPr>
          <p:cNvPr id="8" name="Shape 5"/>
          <p:cNvSpPr/>
          <p:nvPr/>
        </p:nvSpPr>
        <p:spPr>
          <a:xfrm>
            <a:off x="548640" y="1325880"/>
            <a:ext cx="5349240" cy="3291840"/>
          </a:xfrm>
          <a:prstGeom prst="roundRect">
            <a:avLst>
              <a:gd name="adj" fmla="val 2222"/>
            </a:avLst>
          </a:prstGeom>
          <a:solidFill>
            <a:srgbClr val="E6DFCE"/>
          </a:solidFill>
          <a:ln/>
        </p:spPr>
      </p:sp>
      <p:sp>
        <p:nvSpPr>
          <p:cNvPr id="9" name="Shape 6"/>
          <p:cNvSpPr/>
          <p:nvPr/>
        </p:nvSpPr>
        <p:spPr>
          <a:xfrm>
            <a:off x="548640" y="1325880"/>
            <a:ext cx="5349240" cy="384048"/>
          </a:xfrm>
          <a:prstGeom prst="roundRect">
            <a:avLst>
              <a:gd name="adj" fmla="val 19048"/>
            </a:avLst>
          </a:prstGeom>
          <a:solidFill>
            <a:srgbClr val="DDE3CC"/>
          </a:solidFill>
          <a:ln/>
        </p:spPr>
      </p:sp>
      <p:sp>
        <p:nvSpPr>
          <p:cNvPr id="10" name="Text 7"/>
          <p:cNvSpPr/>
          <p:nvPr/>
        </p:nvSpPr>
        <p:spPr>
          <a:xfrm>
            <a:off x="749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5F7A3A"/>
                </a:solidFill>
                <a:latin typeface="Helvetica Neue" pitchFamily="34" charset="0"/>
                <a:ea typeface="Helvetica Neue" pitchFamily="34" charset="-122"/>
                <a:cs typeface="Helvetica Neue" pitchFamily="34" charset="-120"/>
              </a:rPr>
              <a:t>COVERS</a:t>
            </a:r>
            <a:endParaRPr lang="en-US" sz="1250" dirty="0"/>
          </a:p>
        </p:txBody>
      </p:sp>
      <p:sp>
        <p:nvSpPr>
          <p:cNvPr id="11" name="Shape 8"/>
          <p:cNvSpPr/>
          <p:nvPr/>
        </p:nvSpPr>
        <p:spPr>
          <a:xfrm>
            <a:off x="777240" y="1874520"/>
            <a:ext cx="4892040" cy="731520"/>
          </a:xfrm>
          <a:prstGeom prst="roundRect">
            <a:avLst>
              <a:gd name="adj" fmla="val 7500"/>
            </a:avLst>
          </a:prstGeom>
          <a:solidFill>
            <a:srgbClr val="DDE3CC"/>
          </a:solidFill>
          <a:ln w="15875">
            <a:solidFill>
              <a:srgbClr val="5F7A3A"/>
            </a:solidFill>
            <a:prstDash val="solid"/>
          </a:ln>
        </p:spPr>
      </p:sp>
      <p:sp>
        <p:nvSpPr>
          <p:cNvPr id="12" name="Text 9"/>
          <p:cNvSpPr/>
          <p:nvPr/>
        </p:nvSpPr>
        <p:spPr>
          <a:xfrm>
            <a:off x="850392" y="1929384"/>
            <a:ext cx="4745736" cy="310896"/>
          </a:xfrm>
          <a:prstGeom prst="rect">
            <a:avLst/>
          </a:prstGeom>
          <a:noFill/>
          <a:ln/>
        </p:spPr>
        <p:txBody>
          <a:bodyPr wrap="square" lIns="0" tIns="0" rIns="0" bIns="0" rtlCol="0" anchor="b">
            <a:normAutofit/>
          </a:bodyPr>
          <a:lstStyle/>
          <a:p>
            <a:pPr algn="l" indent="0" marL="0">
              <a:buNone/>
            </a:pPr>
            <a:r>
              <a:rPr lang="en-US" sz="1400" b="1" dirty="0">
                <a:solidFill>
                  <a:srgbClr val="3A2C1A"/>
                </a:solidFill>
                <a:latin typeface="Helvetica Neue" pitchFamily="34" charset="0"/>
                <a:ea typeface="Helvetica Neue" pitchFamily="34" charset="-122"/>
                <a:cs typeface="Helvetica Neue" pitchFamily="34" charset="-120"/>
              </a:rPr>
              <a:t>✓  a bounded write pause</a:t>
            </a:r>
            <a:endParaRPr lang="en-US" sz="1400" dirty="0"/>
          </a:p>
        </p:txBody>
      </p:sp>
      <p:sp>
        <p:nvSpPr>
          <p:cNvPr id="13" name="Text 10"/>
          <p:cNvSpPr/>
          <p:nvPr/>
        </p:nvSpPr>
        <p:spPr>
          <a:xfrm>
            <a:off x="850392" y="2221992"/>
            <a:ext cx="4745736" cy="384048"/>
          </a:xfrm>
          <a:prstGeom prst="rect">
            <a:avLst/>
          </a:prstGeom>
          <a:noFill/>
          <a:ln/>
        </p:spPr>
        <p:txBody>
          <a:bodyPr wrap="square" lIns="0" tIns="0" rIns="0" bIns="0" rtlCol="0" anchor="t">
            <a:normAutofit/>
          </a:bodyPr>
          <a:lstStyle/>
          <a:p>
            <a:pPr algn="l" indent="0" marL="0">
              <a:buNone/>
            </a:pPr>
            <a:r>
              <a:rPr lang="en-US" sz="1100" dirty="0">
                <a:solidFill>
                  <a:srgbClr val="6B5A44"/>
                </a:solidFill>
                <a:latin typeface="Helvetica Neue" pitchFamily="34" charset="0"/>
                <a:ea typeface="Helvetica Neue" pitchFamily="34" charset="-122"/>
                <a:cs typeface="Helvetica Neue" pitchFamily="34" charset="-120"/>
              </a:rPr>
              <a:t>measured, not unbounded</a:t>
            </a:r>
            <a:endParaRPr lang="en-US" sz="1100" dirty="0"/>
          </a:p>
        </p:txBody>
      </p:sp>
      <p:sp>
        <p:nvSpPr>
          <p:cNvPr id="14" name="Shape 11"/>
          <p:cNvSpPr/>
          <p:nvPr/>
        </p:nvSpPr>
        <p:spPr>
          <a:xfrm>
            <a:off x="777240" y="2743200"/>
            <a:ext cx="4892040" cy="731520"/>
          </a:xfrm>
          <a:prstGeom prst="roundRect">
            <a:avLst>
              <a:gd name="adj" fmla="val 7500"/>
            </a:avLst>
          </a:prstGeom>
          <a:solidFill>
            <a:srgbClr val="DDE3CC"/>
          </a:solidFill>
          <a:ln w="15875">
            <a:solidFill>
              <a:srgbClr val="5F7A3A"/>
            </a:solidFill>
            <a:prstDash val="solid"/>
          </a:ln>
        </p:spPr>
      </p:sp>
      <p:sp>
        <p:nvSpPr>
          <p:cNvPr id="15" name="Text 12"/>
          <p:cNvSpPr/>
          <p:nvPr/>
        </p:nvSpPr>
        <p:spPr>
          <a:xfrm>
            <a:off x="850392" y="2798064"/>
            <a:ext cx="4745736" cy="310896"/>
          </a:xfrm>
          <a:prstGeom prst="rect">
            <a:avLst/>
          </a:prstGeom>
          <a:noFill/>
          <a:ln/>
        </p:spPr>
        <p:txBody>
          <a:bodyPr wrap="square" lIns="0" tIns="0" rIns="0" bIns="0" rtlCol="0" anchor="b">
            <a:normAutofit/>
          </a:bodyPr>
          <a:lstStyle/>
          <a:p>
            <a:pPr algn="l" indent="0" marL="0">
              <a:buNone/>
            </a:pPr>
            <a:r>
              <a:rPr lang="en-US" sz="1400" b="1" dirty="0">
                <a:solidFill>
                  <a:srgbClr val="3A2C1A"/>
                </a:solidFill>
                <a:latin typeface="Helvetica Neue" pitchFamily="34" charset="0"/>
                <a:ea typeface="Helvetica Neue" pitchFamily="34" charset="-122"/>
                <a:cs typeface="Helvetica Neue" pitchFamily="34" charset="-120"/>
              </a:rPr>
              <a:t>✓  unattended recovery</a:t>
            </a:r>
            <a:endParaRPr lang="en-US" sz="1400" dirty="0"/>
          </a:p>
        </p:txBody>
      </p:sp>
      <p:sp>
        <p:nvSpPr>
          <p:cNvPr id="16" name="Text 13"/>
          <p:cNvSpPr/>
          <p:nvPr/>
        </p:nvSpPr>
        <p:spPr>
          <a:xfrm>
            <a:off x="850392" y="3090672"/>
            <a:ext cx="4745736" cy="384048"/>
          </a:xfrm>
          <a:prstGeom prst="rect">
            <a:avLst/>
          </a:prstGeom>
          <a:noFill/>
          <a:ln/>
        </p:spPr>
        <p:txBody>
          <a:bodyPr wrap="square" lIns="0" tIns="0" rIns="0" bIns="0" rtlCol="0" anchor="t">
            <a:normAutofit/>
          </a:bodyPr>
          <a:lstStyle/>
          <a:p>
            <a:pPr algn="l" indent="0" marL="0">
              <a:buNone/>
            </a:pPr>
            <a:r>
              <a:rPr lang="en-US" sz="1100" dirty="0">
                <a:solidFill>
                  <a:srgbClr val="6B5A44"/>
                </a:solidFill>
                <a:latin typeface="Helvetica Neue" pitchFamily="34" charset="0"/>
                <a:ea typeface="Helvetica Neue" pitchFamily="34" charset="-122"/>
                <a:cs typeface="Helvetica Neue" pitchFamily="34" charset="-120"/>
              </a:rPr>
              <a:t>no operator in the loop</a:t>
            </a:r>
            <a:endParaRPr lang="en-US" sz="1100" dirty="0"/>
          </a:p>
        </p:txBody>
      </p:sp>
      <p:sp>
        <p:nvSpPr>
          <p:cNvPr id="17" name="Shape 14"/>
          <p:cNvSpPr/>
          <p:nvPr/>
        </p:nvSpPr>
        <p:spPr>
          <a:xfrm>
            <a:off x="777240" y="3611880"/>
            <a:ext cx="4892040" cy="731520"/>
          </a:xfrm>
          <a:prstGeom prst="roundRect">
            <a:avLst>
              <a:gd name="adj" fmla="val 7500"/>
            </a:avLst>
          </a:prstGeom>
          <a:solidFill>
            <a:srgbClr val="DDE3CC"/>
          </a:solidFill>
          <a:ln w="15875">
            <a:solidFill>
              <a:srgbClr val="5F7A3A"/>
            </a:solidFill>
            <a:prstDash val="solid"/>
          </a:ln>
        </p:spPr>
      </p:sp>
      <p:sp>
        <p:nvSpPr>
          <p:cNvPr id="18" name="Text 15"/>
          <p:cNvSpPr/>
          <p:nvPr/>
        </p:nvSpPr>
        <p:spPr>
          <a:xfrm>
            <a:off x="850392" y="3666744"/>
            <a:ext cx="4745736" cy="310896"/>
          </a:xfrm>
          <a:prstGeom prst="rect">
            <a:avLst/>
          </a:prstGeom>
          <a:noFill/>
          <a:ln/>
        </p:spPr>
        <p:txBody>
          <a:bodyPr wrap="square" lIns="0" tIns="0" rIns="0" bIns="0" rtlCol="0" anchor="b">
            <a:normAutofit/>
          </a:bodyPr>
          <a:lstStyle/>
          <a:p>
            <a:pPr algn="l" indent="0" marL="0">
              <a:buNone/>
            </a:pPr>
            <a:r>
              <a:rPr lang="en-US" sz="1400" b="1" dirty="0">
                <a:solidFill>
                  <a:srgbClr val="3A2C1A"/>
                </a:solidFill>
                <a:latin typeface="Helvetica Neue" pitchFamily="34" charset="0"/>
                <a:ea typeface="Helvetica Neue" pitchFamily="34" charset="-122"/>
                <a:cs typeface="Helvetica Neue" pitchFamily="34" charset="-120"/>
              </a:rPr>
              <a:t>✓  rolling transactor upgrades</a:t>
            </a:r>
            <a:endParaRPr lang="en-US" sz="1400" dirty="0"/>
          </a:p>
        </p:txBody>
      </p:sp>
      <p:sp>
        <p:nvSpPr>
          <p:cNvPr id="19" name="Text 16"/>
          <p:cNvSpPr/>
          <p:nvPr/>
        </p:nvSpPr>
        <p:spPr>
          <a:xfrm>
            <a:off x="850392" y="3959352"/>
            <a:ext cx="4745736" cy="384048"/>
          </a:xfrm>
          <a:prstGeom prst="rect">
            <a:avLst/>
          </a:prstGeom>
          <a:noFill/>
          <a:ln/>
        </p:spPr>
        <p:txBody>
          <a:bodyPr wrap="square" lIns="0" tIns="0" rIns="0" bIns="0" rtlCol="0" anchor="t">
            <a:normAutofit/>
          </a:bodyPr>
          <a:lstStyle/>
          <a:p>
            <a:pPr algn="l" indent="0" marL="0">
              <a:buNone/>
            </a:pPr>
            <a:r>
              <a:rPr lang="en-US" sz="1100" dirty="0">
                <a:solidFill>
                  <a:srgbClr val="6B5A44"/>
                </a:solidFill>
                <a:latin typeface="Helvetica Neue" pitchFamily="34" charset="0"/>
                <a:ea typeface="Helvetica Neue" pitchFamily="34" charset="-122"/>
                <a:cs typeface="Helvetica Neue" pitchFamily="34" charset="-120"/>
              </a:rPr>
              <a:t>on purpose, same mechanism</a:t>
            </a:r>
            <a:endParaRPr lang="en-US" sz="1100" dirty="0"/>
          </a:p>
        </p:txBody>
      </p:sp>
      <p:sp>
        <p:nvSpPr>
          <p:cNvPr id="20" name="Shape 17"/>
          <p:cNvSpPr/>
          <p:nvPr/>
        </p:nvSpPr>
        <p:spPr>
          <a:xfrm>
            <a:off x="6263640" y="1325880"/>
            <a:ext cx="5349240" cy="3291840"/>
          </a:xfrm>
          <a:prstGeom prst="roundRect">
            <a:avLst>
              <a:gd name="adj" fmla="val 2222"/>
            </a:avLst>
          </a:prstGeom>
          <a:solidFill>
            <a:srgbClr val="E6DFCE"/>
          </a:solidFill>
          <a:ln/>
        </p:spPr>
      </p:sp>
      <p:sp>
        <p:nvSpPr>
          <p:cNvPr id="21" name="Shape 18"/>
          <p:cNvSpPr/>
          <p:nvPr/>
        </p:nvSpPr>
        <p:spPr>
          <a:xfrm>
            <a:off x="6263640" y="1325880"/>
            <a:ext cx="5349240" cy="384048"/>
          </a:xfrm>
          <a:prstGeom prst="roundRect">
            <a:avLst>
              <a:gd name="adj" fmla="val 19048"/>
            </a:avLst>
          </a:prstGeom>
          <a:solidFill>
            <a:srgbClr val="EBD5CB"/>
          </a:solidFill>
          <a:ln/>
        </p:spPr>
      </p:sp>
      <p:sp>
        <p:nvSpPr>
          <p:cNvPr id="22" name="Text 19"/>
          <p:cNvSpPr/>
          <p:nvPr/>
        </p:nvSpPr>
        <p:spPr>
          <a:xfrm>
            <a:off x="6464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9E4227"/>
                </a:solidFill>
                <a:latin typeface="Helvetica Neue" pitchFamily="34" charset="0"/>
                <a:ea typeface="Helvetica Neue" pitchFamily="34" charset="-122"/>
                <a:cs typeface="Helvetica Neue" pitchFamily="34" charset="-120"/>
              </a:rPr>
              <a:t>DOES NOT COVER</a:t>
            </a:r>
            <a:endParaRPr lang="en-US" sz="1250" dirty="0"/>
          </a:p>
        </p:txBody>
      </p:sp>
      <p:sp>
        <p:nvSpPr>
          <p:cNvPr id="23" name="Shape 20"/>
          <p:cNvSpPr/>
          <p:nvPr/>
        </p:nvSpPr>
        <p:spPr>
          <a:xfrm>
            <a:off x="6492240" y="1874520"/>
            <a:ext cx="4892040" cy="731520"/>
          </a:xfrm>
          <a:prstGeom prst="roundRect">
            <a:avLst>
              <a:gd name="adj" fmla="val 7500"/>
            </a:avLst>
          </a:prstGeom>
          <a:solidFill>
            <a:srgbClr val="EBD5CB"/>
          </a:solidFill>
          <a:ln w="15875">
            <a:solidFill>
              <a:srgbClr val="9E4227"/>
            </a:solidFill>
            <a:prstDash val="solid"/>
          </a:ln>
        </p:spPr>
      </p:sp>
      <p:sp>
        <p:nvSpPr>
          <p:cNvPr id="24" name="Text 21"/>
          <p:cNvSpPr/>
          <p:nvPr/>
        </p:nvSpPr>
        <p:spPr>
          <a:xfrm>
            <a:off x="6565392" y="1929384"/>
            <a:ext cx="4745736" cy="310896"/>
          </a:xfrm>
          <a:prstGeom prst="rect">
            <a:avLst/>
          </a:prstGeom>
          <a:noFill/>
          <a:ln/>
        </p:spPr>
        <p:txBody>
          <a:bodyPr wrap="square" lIns="0" tIns="0" rIns="0" bIns="0" rtlCol="0" anchor="b">
            <a:normAutofit/>
          </a:bodyPr>
          <a:lstStyle/>
          <a:p>
            <a:pPr algn="l" indent="0" marL="0">
              <a:buNone/>
            </a:pPr>
            <a:r>
              <a:rPr lang="en-US" sz="1400" b="1" dirty="0">
                <a:solidFill>
                  <a:srgbClr val="3A2C1A"/>
                </a:solidFill>
                <a:latin typeface="Helvetica Neue" pitchFamily="34" charset="0"/>
                <a:ea typeface="Helvetica Neue" pitchFamily="34" charset="-122"/>
                <a:cs typeface="Helvetica Neue" pitchFamily="34" charset="-120"/>
              </a:rPr>
              <a:t>✕  a second copy of the data</a:t>
            </a:r>
            <a:endParaRPr lang="en-US" sz="1400" dirty="0"/>
          </a:p>
        </p:txBody>
      </p:sp>
      <p:sp>
        <p:nvSpPr>
          <p:cNvPr id="25" name="Text 22"/>
          <p:cNvSpPr/>
          <p:nvPr/>
        </p:nvSpPr>
        <p:spPr>
          <a:xfrm>
            <a:off x="6565392" y="2221992"/>
            <a:ext cx="4745736" cy="384048"/>
          </a:xfrm>
          <a:prstGeom prst="rect">
            <a:avLst/>
          </a:prstGeom>
          <a:noFill/>
          <a:ln/>
        </p:spPr>
        <p:txBody>
          <a:bodyPr wrap="square" lIns="0" tIns="0" rIns="0" bIns="0" rtlCol="0" anchor="t">
            <a:normAutofit/>
          </a:bodyPr>
          <a:lstStyle/>
          <a:p>
            <a:pPr algn="l" indent="0" marL="0">
              <a:buNone/>
            </a:pPr>
            <a:r>
              <a:rPr lang="en-US" sz="1100" dirty="0">
                <a:solidFill>
                  <a:srgbClr val="6B5A44"/>
                </a:solidFill>
                <a:latin typeface="Helvetica Neue" pitchFamily="34" charset="0"/>
                <a:ea typeface="Helvetica Neue" pitchFamily="34" charset="-122"/>
                <a:cs typeface="Helvetica Neue" pitchFamily="34" charset="-120"/>
              </a:rPr>
              <a:t>both write the same storage</a:t>
            </a:r>
            <a:endParaRPr lang="en-US" sz="1100" dirty="0"/>
          </a:p>
        </p:txBody>
      </p:sp>
      <p:sp>
        <p:nvSpPr>
          <p:cNvPr id="26" name="Shape 23"/>
          <p:cNvSpPr/>
          <p:nvPr/>
        </p:nvSpPr>
        <p:spPr>
          <a:xfrm>
            <a:off x="6492240" y="2743200"/>
            <a:ext cx="4892040" cy="731520"/>
          </a:xfrm>
          <a:prstGeom prst="roundRect">
            <a:avLst>
              <a:gd name="adj" fmla="val 7500"/>
            </a:avLst>
          </a:prstGeom>
          <a:solidFill>
            <a:srgbClr val="EBD5CB"/>
          </a:solidFill>
          <a:ln w="15875">
            <a:solidFill>
              <a:srgbClr val="9E4227"/>
            </a:solidFill>
            <a:prstDash val="solid"/>
          </a:ln>
        </p:spPr>
      </p:sp>
      <p:sp>
        <p:nvSpPr>
          <p:cNvPr id="27" name="Text 24"/>
          <p:cNvSpPr/>
          <p:nvPr/>
        </p:nvSpPr>
        <p:spPr>
          <a:xfrm>
            <a:off x="6565392" y="2798064"/>
            <a:ext cx="4745736" cy="310896"/>
          </a:xfrm>
          <a:prstGeom prst="rect">
            <a:avLst/>
          </a:prstGeom>
          <a:noFill/>
          <a:ln/>
        </p:spPr>
        <p:txBody>
          <a:bodyPr wrap="square" lIns="0" tIns="0" rIns="0" bIns="0" rtlCol="0" anchor="b">
            <a:normAutofit/>
          </a:bodyPr>
          <a:lstStyle/>
          <a:p>
            <a:pPr algn="l" indent="0" marL="0">
              <a:buNone/>
            </a:pPr>
            <a:r>
              <a:rPr lang="en-US" sz="1400" b="1" dirty="0">
                <a:solidFill>
                  <a:srgbClr val="3A2C1A"/>
                </a:solidFill>
                <a:latin typeface="Helvetica Neue" pitchFamily="34" charset="0"/>
                <a:ea typeface="Helvetica Neue" pitchFamily="34" charset="-122"/>
                <a:cs typeface="Helvetica Neue" pitchFamily="34" charset="-120"/>
              </a:rPr>
              <a:t>✕  storage loss</a:t>
            </a:r>
            <a:endParaRPr lang="en-US" sz="1400" dirty="0"/>
          </a:p>
        </p:txBody>
      </p:sp>
      <p:sp>
        <p:nvSpPr>
          <p:cNvPr id="28" name="Text 25"/>
          <p:cNvSpPr/>
          <p:nvPr/>
        </p:nvSpPr>
        <p:spPr>
          <a:xfrm>
            <a:off x="6565392" y="3090672"/>
            <a:ext cx="4745736" cy="384048"/>
          </a:xfrm>
          <a:prstGeom prst="rect">
            <a:avLst/>
          </a:prstGeom>
          <a:noFill/>
          <a:ln/>
        </p:spPr>
        <p:txBody>
          <a:bodyPr wrap="square" lIns="0" tIns="0" rIns="0" bIns="0" rtlCol="0" anchor="t">
            <a:normAutofit/>
          </a:bodyPr>
          <a:lstStyle/>
          <a:p>
            <a:pPr algn="l" indent="0" marL="0">
              <a:buNone/>
            </a:pPr>
            <a:r>
              <a:rPr lang="en-US" sz="1100" dirty="0">
                <a:solidFill>
                  <a:srgbClr val="6B5A44"/>
                </a:solidFill>
                <a:latin typeface="Helvetica Neue" pitchFamily="34" charset="0"/>
                <a:ea typeface="Helvetica Neue" pitchFamily="34" charset="-122"/>
                <a:cs typeface="Helvetica Neue" pitchFamily="34" charset="-120"/>
              </a:rPr>
              <a:t>storage replication's job</a:t>
            </a:r>
            <a:endParaRPr lang="en-US" sz="1100" dirty="0"/>
          </a:p>
        </p:txBody>
      </p:sp>
      <p:sp>
        <p:nvSpPr>
          <p:cNvPr id="29" name="Shape 26"/>
          <p:cNvSpPr/>
          <p:nvPr/>
        </p:nvSpPr>
        <p:spPr>
          <a:xfrm>
            <a:off x="6492240" y="3611880"/>
            <a:ext cx="4892040" cy="731520"/>
          </a:xfrm>
          <a:prstGeom prst="roundRect">
            <a:avLst>
              <a:gd name="adj" fmla="val 7500"/>
            </a:avLst>
          </a:prstGeom>
          <a:solidFill>
            <a:srgbClr val="EBD5CB"/>
          </a:solidFill>
          <a:ln w="15875">
            <a:solidFill>
              <a:srgbClr val="9E4227"/>
            </a:solidFill>
            <a:prstDash val="solid"/>
          </a:ln>
        </p:spPr>
      </p:sp>
      <p:sp>
        <p:nvSpPr>
          <p:cNvPr id="30" name="Text 27"/>
          <p:cNvSpPr/>
          <p:nvPr/>
        </p:nvSpPr>
        <p:spPr>
          <a:xfrm>
            <a:off x="6565392" y="3666744"/>
            <a:ext cx="4745736" cy="310896"/>
          </a:xfrm>
          <a:prstGeom prst="rect">
            <a:avLst/>
          </a:prstGeom>
          <a:noFill/>
          <a:ln/>
        </p:spPr>
        <p:txBody>
          <a:bodyPr wrap="square" lIns="0" tIns="0" rIns="0" bIns="0" rtlCol="0" anchor="b">
            <a:normAutofit/>
          </a:bodyPr>
          <a:lstStyle/>
          <a:p>
            <a:pPr algn="l" indent="0" marL="0">
              <a:buNone/>
            </a:pPr>
            <a:r>
              <a:rPr lang="en-US" sz="1400" b="1" dirty="0">
                <a:solidFill>
                  <a:srgbClr val="3A2C1A"/>
                </a:solidFill>
                <a:latin typeface="Helvetica Neue" pitchFamily="34" charset="0"/>
                <a:ea typeface="Helvetica Neue" pitchFamily="34" charset="-122"/>
                <a:cs typeface="Helvetica Neue" pitchFamily="34" charset="-120"/>
              </a:rPr>
              <a:t>✕  a bad transaction</a:t>
            </a:r>
            <a:endParaRPr lang="en-US" sz="1400" dirty="0"/>
          </a:p>
        </p:txBody>
      </p:sp>
      <p:sp>
        <p:nvSpPr>
          <p:cNvPr id="31" name="Text 28"/>
          <p:cNvSpPr/>
          <p:nvPr/>
        </p:nvSpPr>
        <p:spPr>
          <a:xfrm>
            <a:off x="6565392" y="3959352"/>
            <a:ext cx="4745736" cy="384048"/>
          </a:xfrm>
          <a:prstGeom prst="rect">
            <a:avLst/>
          </a:prstGeom>
          <a:noFill/>
          <a:ln/>
        </p:spPr>
        <p:txBody>
          <a:bodyPr wrap="square" lIns="0" tIns="0" rIns="0" bIns="0" rtlCol="0" anchor="t">
            <a:normAutofit/>
          </a:bodyPr>
          <a:lstStyle/>
          <a:p>
            <a:pPr algn="l" indent="0" marL="0">
              <a:buNone/>
            </a:pPr>
            <a:r>
              <a:rPr lang="en-US" sz="1100" dirty="0">
                <a:solidFill>
                  <a:srgbClr val="6B5A44"/>
                </a:solidFill>
                <a:latin typeface="Helvetica Neue" pitchFamily="34" charset="0"/>
                <a:ea typeface="Helvetica Neue" pitchFamily="34" charset="-122"/>
                <a:cs typeface="Helvetica Neue" pitchFamily="34" charset="-120"/>
              </a:rPr>
              <a:t>restore — Production class §4</a:t>
            </a:r>
            <a:endParaRPr lang="en-US" sz="1100" dirty="0"/>
          </a:p>
        </p:txBody>
      </p:sp>
      <p:sp>
        <p:nvSpPr>
          <p:cNvPr id="32" name="Shape 29"/>
          <p:cNvSpPr/>
          <p:nvPr/>
        </p:nvSpPr>
        <p:spPr>
          <a:xfrm>
            <a:off x="548640" y="4892040"/>
            <a:ext cx="54864" cy="457200"/>
          </a:xfrm>
          <a:prstGeom prst="rect">
            <a:avLst/>
          </a:prstGeom>
          <a:solidFill>
            <a:srgbClr val="A8864A"/>
          </a:solidFill>
          <a:ln/>
        </p:spPr>
      </p:sp>
      <p:sp>
        <p:nvSpPr>
          <p:cNvPr id="33" name="Text 30"/>
          <p:cNvSpPr/>
          <p:nvPr/>
        </p:nvSpPr>
        <p:spPr>
          <a:xfrm>
            <a:off x="777240" y="48920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HA buys you a bounded pause. Durability is bought separately, from your storage.</a:t>
            </a:r>
            <a:endParaRPr lang="en-US" sz="1450" dirty="0"/>
          </a:p>
        </p:txBody>
      </p:sp>
      <p:sp>
        <p:nvSpPr>
          <p:cNvPr id="34" name="Text 31"/>
          <p:cNvSpPr/>
          <p:nvPr/>
        </p:nvSpPr>
        <p:spPr>
          <a:xfrm>
            <a:off x="548640" y="562356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Both transactors write the same storage — that is the point of the lease, and the limit of the guarantee.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HIGH AVAILABILITY</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14</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peer-side dial that shapes the pause</a:t>
            </a:r>
            <a:endParaRPr lang="en-US" sz="2500" dirty="0"/>
          </a:p>
        </p:txBody>
      </p:sp>
      <p:sp>
        <p:nvSpPr>
          <p:cNvPr id="8" name="Shape 5"/>
          <p:cNvSpPr/>
          <p:nvPr/>
        </p:nvSpPr>
        <p:spPr>
          <a:xfrm>
            <a:off x="548640" y="1325880"/>
            <a:ext cx="11064240" cy="566928"/>
          </a:xfrm>
          <a:prstGeom prst="roundRect">
            <a:avLst>
              <a:gd name="adj" fmla="val 12903"/>
            </a:avLst>
          </a:prstGeom>
          <a:solidFill>
            <a:srgbClr val="E6DFCE"/>
          </a:solidFill>
          <a:ln/>
        </p:spPr>
      </p:sp>
      <p:sp>
        <p:nvSpPr>
          <p:cNvPr id="9" name="Text 6"/>
          <p:cNvSpPr/>
          <p:nvPr/>
        </p:nvSpPr>
        <p:spPr>
          <a:xfrm>
            <a:off x="749808" y="1472184"/>
            <a:ext cx="10661904" cy="274320"/>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-Ddatomic.txTimeoutMsec=&lt;ms&gt;       ;; how long a write waits for a writer to exist</a:t>
            </a:r>
            <a:endParaRPr lang="en-US" sz="1250" dirty="0"/>
          </a:p>
        </p:txBody>
      </p:sp>
      <p:sp>
        <p:nvSpPr>
          <p:cNvPr id="10" name="Shape 7"/>
          <p:cNvSpPr/>
          <p:nvPr/>
        </p:nvSpPr>
        <p:spPr>
          <a:xfrm>
            <a:off x="1828800" y="2651760"/>
            <a:ext cx="8503920" cy="146304"/>
          </a:xfrm>
          <a:prstGeom prst="rect">
            <a:avLst/>
          </a:prstGeom>
          <a:solidFill>
            <a:srgbClr val="DFD6C0"/>
          </a:solidFill>
          <a:ln/>
        </p:spPr>
      </p:sp>
      <p:sp>
        <p:nvSpPr>
          <p:cNvPr id="11" name="Shape 8"/>
          <p:cNvSpPr/>
          <p:nvPr/>
        </p:nvSpPr>
        <p:spPr>
          <a:xfrm>
            <a:off x="1828800" y="2724912"/>
            <a:ext cx="8503920" cy="0"/>
          </a:xfrm>
          <a:prstGeom prst="line">
            <a:avLst/>
          </a:prstGeom>
          <a:noFill/>
          <a:ln w="19050">
            <a:solidFill>
              <a:srgbClr val="C9BDA4"/>
            </a:solidFill>
            <a:prstDash val="solid"/>
            <a:headEnd type="none"/>
            <a:tailEnd type="none"/>
          </a:ln>
        </p:spPr>
      </p:sp>
      <p:sp>
        <p:nvSpPr>
          <p:cNvPr id="12" name="Shape 9"/>
          <p:cNvSpPr/>
          <p:nvPr/>
        </p:nvSpPr>
        <p:spPr>
          <a:xfrm>
            <a:off x="1188720" y="2286000"/>
            <a:ext cx="1280160" cy="868680"/>
          </a:xfrm>
          <a:prstGeom prst="roundRect">
            <a:avLst>
              <a:gd name="adj" fmla="val 6316"/>
            </a:avLst>
          </a:prstGeom>
          <a:solidFill>
            <a:srgbClr val="EDE0C4"/>
          </a:solidFill>
          <a:ln w="15875">
            <a:solidFill>
              <a:srgbClr val="B5822B"/>
            </a:solidFill>
            <a:prstDash val="solid"/>
          </a:ln>
        </p:spPr>
      </p:sp>
      <p:sp>
        <p:nvSpPr>
          <p:cNvPr id="13" name="Text 10"/>
          <p:cNvSpPr/>
          <p:nvPr/>
        </p:nvSpPr>
        <p:spPr>
          <a:xfrm>
            <a:off x="1261872" y="2286000"/>
            <a:ext cx="1133856" cy="868680"/>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SHORT</a:t>
            </a:r>
            <a:endParaRPr lang="en-US" sz="1300" dirty="0"/>
          </a:p>
        </p:txBody>
      </p:sp>
      <p:sp>
        <p:nvSpPr>
          <p:cNvPr id="14" name="Shape 11"/>
          <p:cNvSpPr/>
          <p:nvPr/>
        </p:nvSpPr>
        <p:spPr>
          <a:xfrm>
            <a:off x="9692640" y="2286000"/>
            <a:ext cx="1280160" cy="868680"/>
          </a:xfrm>
          <a:prstGeom prst="roundRect">
            <a:avLst>
              <a:gd name="adj" fmla="val 6316"/>
            </a:avLst>
          </a:prstGeom>
          <a:solidFill>
            <a:srgbClr val="D3DEE1"/>
          </a:solidFill>
          <a:ln w="15875">
            <a:solidFill>
              <a:srgbClr val="3F6470"/>
            </a:solidFill>
            <a:prstDash val="solid"/>
          </a:ln>
        </p:spPr>
      </p:sp>
      <p:sp>
        <p:nvSpPr>
          <p:cNvPr id="15" name="Text 12"/>
          <p:cNvSpPr/>
          <p:nvPr/>
        </p:nvSpPr>
        <p:spPr>
          <a:xfrm>
            <a:off x="9765792" y="2286000"/>
            <a:ext cx="1133856" cy="868680"/>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LONG</a:t>
            </a:r>
            <a:endParaRPr lang="en-US" sz="1300" dirty="0"/>
          </a:p>
        </p:txBody>
      </p:sp>
      <p:sp>
        <p:nvSpPr>
          <p:cNvPr id="16" name="Shape 13"/>
          <p:cNvSpPr/>
          <p:nvPr/>
        </p:nvSpPr>
        <p:spPr>
          <a:xfrm>
            <a:off x="1188720" y="3429000"/>
            <a:ext cx="4663440" cy="2011680"/>
          </a:xfrm>
          <a:prstGeom prst="roundRect">
            <a:avLst>
              <a:gd name="adj" fmla="val 3636"/>
            </a:avLst>
          </a:prstGeom>
          <a:solidFill>
            <a:srgbClr val="E6DFCE"/>
          </a:solidFill>
          <a:ln/>
        </p:spPr>
      </p:sp>
      <p:sp>
        <p:nvSpPr>
          <p:cNvPr id="17" name="Shape 14"/>
          <p:cNvSpPr/>
          <p:nvPr/>
        </p:nvSpPr>
        <p:spPr>
          <a:xfrm>
            <a:off x="1188720" y="3429000"/>
            <a:ext cx="4663440" cy="384048"/>
          </a:xfrm>
          <a:prstGeom prst="roundRect">
            <a:avLst>
              <a:gd name="adj" fmla="val 19048"/>
            </a:avLst>
          </a:prstGeom>
          <a:solidFill>
            <a:srgbClr val="EDE0C4"/>
          </a:solidFill>
          <a:ln/>
        </p:spPr>
      </p:sp>
      <p:sp>
        <p:nvSpPr>
          <p:cNvPr id="18" name="Text 15"/>
          <p:cNvSpPr/>
          <p:nvPr/>
        </p:nvSpPr>
        <p:spPr>
          <a:xfrm>
            <a:off x="1389888" y="3429000"/>
            <a:ext cx="4261104" cy="384048"/>
          </a:xfrm>
          <a:prstGeom prst="rect">
            <a:avLst/>
          </a:prstGeom>
          <a:noFill/>
          <a:ln/>
        </p:spPr>
        <p:txBody>
          <a:bodyPr wrap="square" lIns="0" tIns="0" rIns="0" bIns="0" rtlCol="0" anchor="ctr">
            <a:normAutofit/>
          </a:bodyPr>
          <a:lstStyle/>
          <a:p>
            <a:pPr indent="0" marL="0">
              <a:buNone/>
            </a:pPr>
            <a:r>
              <a:rPr lang="en-US" sz="1250" b="1" spc="100" kern="0" dirty="0">
                <a:solidFill>
                  <a:srgbClr val="B5822B"/>
                </a:solidFill>
                <a:latin typeface="Helvetica Neue" pitchFamily="34" charset="0"/>
                <a:ea typeface="Helvetica Neue" pitchFamily="34" charset="-122"/>
                <a:cs typeface="Helvetica Neue" pitchFamily="34" charset="-120"/>
              </a:rPr>
              <a:t>IF SHORT</a:t>
            </a:r>
            <a:endParaRPr lang="en-US" sz="1250" dirty="0"/>
          </a:p>
        </p:txBody>
      </p:sp>
      <p:sp>
        <p:nvSpPr>
          <p:cNvPr id="19" name="Text 16"/>
          <p:cNvSpPr/>
          <p:nvPr/>
        </p:nvSpPr>
        <p:spPr>
          <a:xfrm>
            <a:off x="1417320" y="3931920"/>
            <a:ext cx="420624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more failed writes, visible to the caller</a:t>
            </a:r>
            <a:endParaRPr lang="en-US" sz="1300" dirty="0"/>
          </a:p>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fewer stalled peer threads</a:t>
            </a:r>
            <a:endParaRPr lang="en-US" sz="1300" dirty="0"/>
          </a:p>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the window becomes an error rate</a:t>
            </a:r>
            <a:endParaRPr lang="en-US" sz="1300" dirty="0"/>
          </a:p>
        </p:txBody>
      </p:sp>
      <p:sp>
        <p:nvSpPr>
          <p:cNvPr id="20" name="Shape 17"/>
          <p:cNvSpPr/>
          <p:nvPr/>
        </p:nvSpPr>
        <p:spPr>
          <a:xfrm>
            <a:off x="6309360" y="3429000"/>
            <a:ext cx="4663440" cy="2011680"/>
          </a:xfrm>
          <a:prstGeom prst="roundRect">
            <a:avLst>
              <a:gd name="adj" fmla="val 3636"/>
            </a:avLst>
          </a:prstGeom>
          <a:solidFill>
            <a:srgbClr val="E6DFCE"/>
          </a:solidFill>
          <a:ln/>
        </p:spPr>
      </p:sp>
      <p:sp>
        <p:nvSpPr>
          <p:cNvPr id="21" name="Shape 18"/>
          <p:cNvSpPr/>
          <p:nvPr/>
        </p:nvSpPr>
        <p:spPr>
          <a:xfrm>
            <a:off x="6309360" y="3429000"/>
            <a:ext cx="4663440" cy="384048"/>
          </a:xfrm>
          <a:prstGeom prst="roundRect">
            <a:avLst>
              <a:gd name="adj" fmla="val 19048"/>
            </a:avLst>
          </a:prstGeom>
          <a:solidFill>
            <a:srgbClr val="D3DEE1"/>
          </a:solidFill>
          <a:ln/>
        </p:spPr>
      </p:sp>
      <p:sp>
        <p:nvSpPr>
          <p:cNvPr id="22" name="Text 19"/>
          <p:cNvSpPr/>
          <p:nvPr/>
        </p:nvSpPr>
        <p:spPr>
          <a:xfrm>
            <a:off x="6510528" y="3429000"/>
            <a:ext cx="4261104" cy="384048"/>
          </a:xfrm>
          <a:prstGeom prst="rect">
            <a:avLst/>
          </a:prstGeom>
          <a:noFill/>
          <a:ln/>
        </p:spPr>
        <p:txBody>
          <a:bodyPr wrap="square" lIns="0" tIns="0" rIns="0" bIns="0" rtlCol="0" anchor="ctr">
            <a:normAutofit/>
          </a:bodyPr>
          <a:lstStyle/>
          <a:p>
            <a:pPr indent="0" marL="0">
              <a:buNone/>
            </a:pPr>
            <a:r>
              <a:rPr lang="en-US" sz="1250" b="1" spc="100" kern="0" dirty="0">
                <a:solidFill>
                  <a:srgbClr val="3F6470"/>
                </a:solidFill>
                <a:latin typeface="Helvetica Neue" pitchFamily="34" charset="0"/>
                <a:ea typeface="Helvetica Neue" pitchFamily="34" charset="-122"/>
                <a:cs typeface="Helvetica Neue" pitchFamily="34" charset="-120"/>
              </a:rPr>
              <a:t>IF LONG</a:t>
            </a:r>
            <a:endParaRPr lang="en-US" sz="1250" dirty="0"/>
          </a:p>
        </p:txBody>
      </p:sp>
      <p:sp>
        <p:nvSpPr>
          <p:cNvPr id="23" name="Text 20"/>
          <p:cNvSpPr/>
          <p:nvPr/>
        </p:nvSpPr>
        <p:spPr>
          <a:xfrm>
            <a:off x="6537960" y="3931920"/>
            <a:ext cx="420624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writes survive the window</a:t>
            </a:r>
            <a:endParaRPr lang="en-US" sz="1300" dirty="0"/>
          </a:p>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threads park in the peer</a:t>
            </a:r>
            <a:endParaRPr lang="en-US" sz="1300" dirty="0"/>
          </a:p>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the window becomes a latency spike</a:t>
            </a:r>
            <a:endParaRPr lang="en-US" sz="1300" dirty="0"/>
          </a:p>
        </p:txBody>
      </p:sp>
      <p:sp>
        <p:nvSpPr>
          <p:cNvPr id="24" name="Shape 21"/>
          <p:cNvSpPr/>
          <p:nvPr/>
        </p:nvSpPr>
        <p:spPr>
          <a:xfrm>
            <a:off x="548640" y="5669280"/>
            <a:ext cx="54864" cy="457200"/>
          </a:xfrm>
          <a:prstGeom prst="rect">
            <a:avLst/>
          </a:prstGeom>
          <a:solidFill>
            <a:srgbClr val="A8864A"/>
          </a:solidFill>
          <a:ln/>
        </p:spPr>
      </p:sp>
      <p:sp>
        <p:nvSpPr>
          <p:cNvPr id="25" name="Text 22"/>
          <p:cNvSpPr/>
          <p:nvPr/>
        </p:nvSpPr>
        <p:spPr>
          <a:xfrm>
            <a:off x="777240" y="56692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Tuning this is choosing which failure your callers handle better — not finding a right value.</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III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The cost of a read</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Four tiers · the segment · and the cold peer after a deploy</a:t>
            </a:r>
            <a:endParaRPr lang="en-US" sz="1600" dirty="0"/>
          </a:p>
        </p:txBody>
      </p:sp>
      <p:sp>
        <p:nvSpPr>
          <p:cNvPr id="7" name="Text 5"/>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THE COST OF A READ</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16</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Four tiers — a read walks down until one answers</a:t>
            </a:r>
            <a:endParaRPr lang="en-US" sz="2500" dirty="0"/>
          </a:p>
        </p:txBody>
      </p:sp>
      <p:sp>
        <p:nvSpPr>
          <p:cNvPr id="8" name="Shape 5"/>
          <p:cNvSpPr/>
          <p:nvPr/>
        </p:nvSpPr>
        <p:spPr>
          <a:xfrm>
            <a:off x="1371600" y="1371600"/>
            <a:ext cx="7498080" cy="777240"/>
          </a:xfrm>
          <a:prstGeom prst="roundRect">
            <a:avLst>
              <a:gd name="adj" fmla="val 9412"/>
            </a:avLst>
          </a:prstGeom>
          <a:solidFill>
            <a:srgbClr val="2C2416"/>
          </a:solidFill>
          <a:ln/>
        </p:spPr>
      </p:sp>
      <p:sp>
        <p:nvSpPr>
          <p:cNvPr id="9" name="Text 6"/>
          <p:cNvSpPr/>
          <p:nvPr/>
        </p:nvSpPr>
        <p:spPr>
          <a:xfrm>
            <a:off x="1600200" y="1371600"/>
            <a:ext cx="457200" cy="777240"/>
          </a:xfrm>
          <a:prstGeom prst="rect">
            <a:avLst/>
          </a:prstGeom>
          <a:noFill/>
          <a:ln/>
        </p:spPr>
        <p:txBody>
          <a:bodyPr wrap="square" lIns="0" tIns="0" rIns="0" bIns="0" rtlCol="0" anchor="ctr"/>
          <a:lstStyle/>
          <a:p>
            <a:pPr indent="0" marL="0">
              <a:buNone/>
            </a:pPr>
            <a:r>
              <a:rPr lang="en-US" sz="2000" dirty="0">
                <a:solidFill>
                  <a:srgbClr val="FCFAF4"/>
                </a:solidFill>
                <a:latin typeface="Georgia" pitchFamily="34" charset="0"/>
                <a:ea typeface="Georgia" pitchFamily="34" charset="-122"/>
                <a:cs typeface="Georgia" pitchFamily="34" charset="-120"/>
              </a:rPr>
              <a:t>1</a:t>
            </a:r>
            <a:endParaRPr lang="en-US" sz="2000" dirty="0"/>
          </a:p>
        </p:txBody>
      </p:sp>
      <p:sp>
        <p:nvSpPr>
          <p:cNvPr id="10" name="Text 7"/>
          <p:cNvSpPr/>
          <p:nvPr/>
        </p:nvSpPr>
        <p:spPr>
          <a:xfrm>
            <a:off x="2148840" y="1371600"/>
            <a:ext cx="2651760" cy="777240"/>
          </a:xfrm>
          <a:prstGeom prst="rect">
            <a:avLst/>
          </a:prstGeom>
          <a:noFill/>
          <a:ln/>
        </p:spPr>
        <p:txBody>
          <a:bodyPr wrap="square" lIns="0" tIns="0" rIns="0" bIns="0" rtlCol="0" anchor="ctr">
            <a:normAutofit/>
          </a:bodyPr>
          <a:lstStyle/>
          <a:p>
            <a:pPr indent="0" marL="0">
              <a:buNone/>
            </a:pPr>
            <a:r>
              <a:rPr lang="en-US" sz="1600" b="1" dirty="0">
                <a:solidFill>
                  <a:srgbClr val="FCFAF4"/>
                </a:solidFill>
                <a:latin typeface="Helvetica Neue" pitchFamily="34" charset="0"/>
                <a:ea typeface="Helvetica Neue" pitchFamily="34" charset="-122"/>
                <a:cs typeface="Helvetica Neue" pitchFamily="34" charset="-120"/>
              </a:rPr>
              <a:t>object cache</a:t>
            </a:r>
            <a:endParaRPr lang="en-US" sz="1600" dirty="0"/>
          </a:p>
        </p:txBody>
      </p:sp>
      <p:sp>
        <p:nvSpPr>
          <p:cNvPr id="11" name="Text 8"/>
          <p:cNvSpPr/>
          <p:nvPr/>
        </p:nvSpPr>
        <p:spPr>
          <a:xfrm>
            <a:off x="4846320" y="1371600"/>
            <a:ext cx="3931920" cy="777240"/>
          </a:xfrm>
          <a:prstGeom prst="rect">
            <a:avLst/>
          </a:prstGeom>
          <a:noFill/>
          <a:ln/>
        </p:spPr>
        <p:txBody>
          <a:bodyPr wrap="square" lIns="0" tIns="0" rIns="0" bIns="0" rtlCol="0" anchor="ctr">
            <a:normAutofit/>
          </a:bodyPr>
          <a:lstStyle/>
          <a:p>
            <a:pPr indent="0" marL="0">
              <a:buNone/>
            </a:pPr>
            <a:r>
              <a:rPr lang="en-US" sz="1250" dirty="0">
                <a:solidFill>
                  <a:srgbClr val="C9BDA4"/>
                </a:solidFill>
                <a:latin typeface="Helvetica Neue" pitchFamily="34" charset="0"/>
                <a:ea typeface="Helvetica Neue" pitchFamily="34" charset="-122"/>
                <a:cs typeface="Helvetica Neue" pitchFamily="34" charset="-120"/>
              </a:rPr>
              <a:t>on-heap, decoded segments</a:t>
            </a:r>
            <a:endParaRPr lang="en-US" sz="1250" dirty="0"/>
          </a:p>
        </p:txBody>
      </p:sp>
      <p:sp>
        <p:nvSpPr>
          <p:cNvPr id="12" name="Text 9"/>
          <p:cNvSpPr/>
          <p:nvPr/>
        </p:nvSpPr>
        <p:spPr>
          <a:xfrm>
            <a:off x="9144000" y="1371600"/>
            <a:ext cx="2468880" cy="777240"/>
          </a:xfrm>
          <a:prstGeom prst="rect">
            <a:avLst/>
          </a:prstGeom>
          <a:noFill/>
          <a:ln/>
        </p:spPr>
        <p:txBody>
          <a:bodyPr wrap="square" lIns="0" tIns="0" rIns="0" bIns="0" rtlCol="0" anchor="ctr"/>
          <a:lstStyle/>
          <a:p>
            <a:pPr algn="r" indent="0" marL="0">
              <a:buNone/>
            </a:pPr>
            <a:r>
              <a:rPr lang="en-US" sz="1400" dirty="0">
                <a:solidFill>
                  <a:srgbClr val="3A2C1A"/>
                </a:solidFill>
                <a:latin typeface="Courier New" pitchFamily="34" charset="0"/>
                <a:ea typeface="Courier New" pitchFamily="34" charset="-122"/>
                <a:cs typeface="Courier New" pitchFamily="34" charset="-120"/>
              </a:rPr>
              <a:t>ns … µs</a:t>
            </a:r>
            <a:endParaRPr lang="en-US" sz="1400" dirty="0"/>
          </a:p>
        </p:txBody>
      </p:sp>
      <p:sp>
        <p:nvSpPr>
          <p:cNvPr id="13" name="Shape 10"/>
          <p:cNvSpPr/>
          <p:nvPr/>
        </p:nvSpPr>
        <p:spPr>
          <a:xfrm>
            <a:off x="1051560" y="2148840"/>
            <a:ext cx="0" cy="182880"/>
          </a:xfrm>
          <a:prstGeom prst="line">
            <a:avLst/>
          </a:prstGeom>
          <a:noFill/>
          <a:ln w="15240">
            <a:solidFill>
              <a:srgbClr val="A8864A"/>
            </a:solidFill>
            <a:prstDash val="solid"/>
            <a:headEnd type="none"/>
            <a:tailEnd type="triangle"/>
          </a:ln>
        </p:spPr>
      </p:sp>
      <p:sp>
        <p:nvSpPr>
          <p:cNvPr id="14" name="Shape 11"/>
          <p:cNvSpPr/>
          <p:nvPr/>
        </p:nvSpPr>
        <p:spPr>
          <a:xfrm>
            <a:off x="1691640" y="2331720"/>
            <a:ext cx="7178040" cy="777240"/>
          </a:xfrm>
          <a:prstGeom prst="roundRect">
            <a:avLst>
              <a:gd name="adj" fmla="val 9412"/>
            </a:avLst>
          </a:prstGeom>
          <a:solidFill>
            <a:srgbClr val="A8864A"/>
          </a:solidFill>
          <a:ln/>
        </p:spPr>
      </p:sp>
      <p:sp>
        <p:nvSpPr>
          <p:cNvPr id="15" name="Text 12"/>
          <p:cNvSpPr/>
          <p:nvPr/>
        </p:nvSpPr>
        <p:spPr>
          <a:xfrm>
            <a:off x="1920240" y="2331720"/>
            <a:ext cx="457200" cy="777240"/>
          </a:xfrm>
          <a:prstGeom prst="rect">
            <a:avLst/>
          </a:prstGeom>
          <a:noFill/>
          <a:ln/>
        </p:spPr>
        <p:txBody>
          <a:bodyPr wrap="square" lIns="0" tIns="0" rIns="0" bIns="0" rtlCol="0" anchor="ctr"/>
          <a:lstStyle/>
          <a:p>
            <a:pPr indent="0" marL="0">
              <a:buNone/>
            </a:pPr>
            <a:r>
              <a:rPr lang="en-US" sz="2000" dirty="0">
                <a:solidFill>
                  <a:srgbClr val="FCFAF4"/>
                </a:solidFill>
                <a:latin typeface="Georgia" pitchFamily="34" charset="0"/>
                <a:ea typeface="Georgia" pitchFamily="34" charset="-122"/>
                <a:cs typeface="Georgia" pitchFamily="34" charset="-120"/>
              </a:rPr>
              <a:t>2</a:t>
            </a:r>
            <a:endParaRPr lang="en-US" sz="2000" dirty="0"/>
          </a:p>
        </p:txBody>
      </p:sp>
      <p:sp>
        <p:nvSpPr>
          <p:cNvPr id="16" name="Text 13"/>
          <p:cNvSpPr/>
          <p:nvPr/>
        </p:nvSpPr>
        <p:spPr>
          <a:xfrm>
            <a:off x="2468880" y="2331720"/>
            <a:ext cx="2651760" cy="777240"/>
          </a:xfrm>
          <a:prstGeom prst="rect">
            <a:avLst/>
          </a:prstGeom>
          <a:noFill/>
          <a:ln/>
        </p:spPr>
        <p:txBody>
          <a:bodyPr wrap="square" lIns="0" tIns="0" rIns="0" bIns="0" rtlCol="0" anchor="ctr">
            <a:normAutofit/>
          </a:bodyPr>
          <a:lstStyle/>
          <a:p>
            <a:pPr indent="0" marL="0">
              <a:buNone/>
            </a:pPr>
            <a:r>
              <a:rPr lang="en-US" sz="1600" b="1" dirty="0">
                <a:solidFill>
                  <a:srgbClr val="FCFAF4"/>
                </a:solidFill>
                <a:latin typeface="Helvetica Neue" pitchFamily="34" charset="0"/>
                <a:ea typeface="Helvetica Neue" pitchFamily="34" charset="-122"/>
                <a:cs typeface="Helvetica Neue" pitchFamily="34" charset="-120"/>
              </a:rPr>
              <a:t>valcache</a:t>
            </a:r>
            <a:endParaRPr lang="en-US" sz="1600" dirty="0"/>
          </a:p>
        </p:txBody>
      </p:sp>
      <p:sp>
        <p:nvSpPr>
          <p:cNvPr id="17" name="Text 14"/>
          <p:cNvSpPr/>
          <p:nvPr/>
        </p:nvSpPr>
        <p:spPr>
          <a:xfrm>
            <a:off x="4846320" y="2331720"/>
            <a:ext cx="3931920" cy="777240"/>
          </a:xfrm>
          <a:prstGeom prst="rect">
            <a:avLst/>
          </a:prstGeom>
          <a:noFill/>
          <a:ln/>
        </p:spPr>
        <p:txBody>
          <a:bodyPr wrap="square" lIns="0" tIns="0" rIns="0" bIns="0" rtlCol="0" anchor="ctr">
            <a:normAutofit/>
          </a:bodyPr>
          <a:lstStyle/>
          <a:p>
            <a:pPr indent="0" marL="0">
              <a:buNone/>
            </a:pPr>
            <a:r>
              <a:rPr lang="en-US" sz="1250" dirty="0">
                <a:solidFill>
                  <a:srgbClr val="C9BDA4"/>
                </a:solidFill>
                <a:latin typeface="Helvetica Neue" pitchFamily="34" charset="0"/>
                <a:ea typeface="Helvetica Neue" pitchFamily="34" charset="-122"/>
                <a:cs typeface="Helvetica Neue" pitchFamily="34" charset="-120"/>
              </a:rPr>
              <a:t>local SSD, per peer</a:t>
            </a:r>
            <a:endParaRPr lang="en-US" sz="1250" dirty="0"/>
          </a:p>
        </p:txBody>
      </p:sp>
      <p:sp>
        <p:nvSpPr>
          <p:cNvPr id="18" name="Text 15"/>
          <p:cNvSpPr/>
          <p:nvPr/>
        </p:nvSpPr>
        <p:spPr>
          <a:xfrm>
            <a:off x="9144000" y="2331720"/>
            <a:ext cx="2468880" cy="777240"/>
          </a:xfrm>
          <a:prstGeom prst="rect">
            <a:avLst/>
          </a:prstGeom>
          <a:noFill/>
          <a:ln/>
        </p:spPr>
        <p:txBody>
          <a:bodyPr wrap="square" lIns="0" tIns="0" rIns="0" bIns="0" rtlCol="0" anchor="ctr"/>
          <a:lstStyle/>
          <a:p>
            <a:pPr algn="r" indent="0" marL="0">
              <a:buNone/>
            </a:pPr>
            <a:r>
              <a:rPr lang="en-US" sz="1400" dirty="0">
                <a:solidFill>
                  <a:srgbClr val="3A2C1A"/>
                </a:solidFill>
                <a:latin typeface="Courier New" pitchFamily="34" charset="0"/>
                <a:ea typeface="Courier New" pitchFamily="34" charset="-122"/>
                <a:cs typeface="Courier New" pitchFamily="34" charset="-120"/>
              </a:rPr>
              <a:t>~100s of µs</a:t>
            </a:r>
            <a:endParaRPr lang="en-US" sz="1400" dirty="0"/>
          </a:p>
        </p:txBody>
      </p:sp>
      <p:sp>
        <p:nvSpPr>
          <p:cNvPr id="19" name="Shape 16"/>
          <p:cNvSpPr/>
          <p:nvPr/>
        </p:nvSpPr>
        <p:spPr>
          <a:xfrm>
            <a:off x="1051560" y="3108960"/>
            <a:ext cx="0" cy="182880"/>
          </a:xfrm>
          <a:prstGeom prst="line">
            <a:avLst/>
          </a:prstGeom>
          <a:noFill/>
          <a:ln w="15240">
            <a:solidFill>
              <a:srgbClr val="A8864A"/>
            </a:solidFill>
            <a:prstDash val="solid"/>
            <a:headEnd type="none"/>
            <a:tailEnd type="triangle"/>
          </a:ln>
        </p:spPr>
      </p:sp>
      <p:sp>
        <p:nvSpPr>
          <p:cNvPr id="20" name="Shape 17"/>
          <p:cNvSpPr/>
          <p:nvPr/>
        </p:nvSpPr>
        <p:spPr>
          <a:xfrm>
            <a:off x="2011680" y="3291840"/>
            <a:ext cx="6858000" cy="777240"/>
          </a:xfrm>
          <a:prstGeom prst="roundRect">
            <a:avLst>
              <a:gd name="adj" fmla="val 9412"/>
            </a:avLst>
          </a:prstGeom>
          <a:solidFill>
            <a:srgbClr val="DFD6C0"/>
          </a:solidFill>
          <a:ln/>
        </p:spPr>
      </p:sp>
      <p:sp>
        <p:nvSpPr>
          <p:cNvPr id="21" name="Text 18"/>
          <p:cNvSpPr/>
          <p:nvPr/>
        </p:nvSpPr>
        <p:spPr>
          <a:xfrm>
            <a:off x="2240280" y="3291840"/>
            <a:ext cx="457200" cy="777240"/>
          </a:xfrm>
          <a:prstGeom prst="rect">
            <a:avLst/>
          </a:prstGeom>
          <a:noFill/>
          <a:ln/>
        </p:spPr>
        <p:txBody>
          <a:bodyPr wrap="square" lIns="0" tIns="0" rIns="0" bIns="0" rtlCol="0" anchor="ctr"/>
          <a:lstStyle/>
          <a:p>
            <a:pPr indent="0" marL="0">
              <a:buNone/>
            </a:pPr>
            <a:r>
              <a:rPr lang="en-US" sz="2000" dirty="0">
                <a:solidFill>
                  <a:srgbClr val="3A2C1A"/>
                </a:solidFill>
                <a:latin typeface="Georgia" pitchFamily="34" charset="0"/>
                <a:ea typeface="Georgia" pitchFamily="34" charset="-122"/>
                <a:cs typeface="Georgia" pitchFamily="34" charset="-120"/>
              </a:rPr>
              <a:t>3</a:t>
            </a:r>
            <a:endParaRPr lang="en-US" sz="2000" dirty="0"/>
          </a:p>
        </p:txBody>
      </p:sp>
      <p:sp>
        <p:nvSpPr>
          <p:cNvPr id="22" name="Text 19"/>
          <p:cNvSpPr/>
          <p:nvPr/>
        </p:nvSpPr>
        <p:spPr>
          <a:xfrm>
            <a:off x="2788920" y="3291840"/>
            <a:ext cx="2651760" cy="777240"/>
          </a:xfrm>
          <a:prstGeom prst="rect">
            <a:avLst/>
          </a:prstGeom>
          <a:noFill/>
          <a:ln/>
        </p:spPr>
        <p:txBody>
          <a:bodyPr wrap="square" lIns="0" tIns="0" rIns="0" bIns="0" rtlCol="0" anchor="ctr">
            <a:normAutofit/>
          </a:bodyPr>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memcached</a:t>
            </a:r>
            <a:endParaRPr lang="en-US" sz="1600" dirty="0"/>
          </a:p>
        </p:txBody>
      </p:sp>
      <p:sp>
        <p:nvSpPr>
          <p:cNvPr id="23" name="Text 20"/>
          <p:cNvSpPr/>
          <p:nvPr/>
        </p:nvSpPr>
        <p:spPr>
          <a:xfrm>
            <a:off x="4846320" y="3291840"/>
            <a:ext cx="3931920" cy="7772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shared, over the network</a:t>
            </a:r>
            <a:endParaRPr lang="en-US" sz="1250" dirty="0"/>
          </a:p>
        </p:txBody>
      </p:sp>
      <p:sp>
        <p:nvSpPr>
          <p:cNvPr id="24" name="Text 21"/>
          <p:cNvSpPr/>
          <p:nvPr/>
        </p:nvSpPr>
        <p:spPr>
          <a:xfrm>
            <a:off x="9144000" y="3291840"/>
            <a:ext cx="2468880" cy="777240"/>
          </a:xfrm>
          <a:prstGeom prst="rect">
            <a:avLst/>
          </a:prstGeom>
          <a:noFill/>
          <a:ln/>
        </p:spPr>
        <p:txBody>
          <a:bodyPr wrap="square" lIns="0" tIns="0" rIns="0" bIns="0" rtlCol="0" anchor="ctr"/>
          <a:lstStyle/>
          <a:p>
            <a:pPr algn="r" indent="0" marL="0">
              <a:buNone/>
            </a:pPr>
            <a:r>
              <a:rPr lang="en-US" sz="1400" dirty="0">
                <a:solidFill>
                  <a:srgbClr val="3A2C1A"/>
                </a:solidFill>
                <a:latin typeface="Courier New" pitchFamily="34" charset="0"/>
                <a:ea typeface="Courier New" pitchFamily="34" charset="-122"/>
                <a:cs typeface="Courier New" pitchFamily="34" charset="-120"/>
              </a:rPr>
              <a:t>~1 ms</a:t>
            </a:r>
            <a:endParaRPr lang="en-US" sz="1400" dirty="0"/>
          </a:p>
        </p:txBody>
      </p:sp>
      <p:sp>
        <p:nvSpPr>
          <p:cNvPr id="25" name="Shape 22"/>
          <p:cNvSpPr/>
          <p:nvPr/>
        </p:nvSpPr>
        <p:spPr>
          <a:xfrm>
            <a:off x="1051560" y="4069080"/>
            <a:ext cx="0" cy="182880"/>
          </a:xfrm>
          <a:prstGeom prst="line">
            <a:avLst/>
          </a:prstGeom>
          <a:noFill/>
          <a:ln w="15240">
            <a:solidFill>
              <a:srgbClr val="A8864A"/>
            </a:solidFill>
            <a:prstDash val="solid"/>
            <a:headEnd type="none"/>
            <a:tailEnd type="triangle"/>
          </a:ln>
        </p:spPr>
      </p:sp>
      <p:sp>
        <p:nvSpPr>
          <p:cNvPr id="26" name="Shape 23"/>
          <p:cNvSpPr/>
          <p:nvPr/>
        </p:nvSpPr>
        <p:spPr>
          <a:xfrm>
            <a:off x="2331720" y="4251960"/>
            <a:ext cx="6537960" cy="777240"/>
          </a:xfrm>
          <a:prstGeom prst="roundRect">
            <a:avLst>
              <a:gd name="adj" fmla="val 9412"/>
            </a:avLst>
          </a:prstGeom>
          <a:solidFill>
            <a:srgbClr val="E6DFCE"/>
          </a:solidFill>
          <a:ln/>
        </p:spPr>
      </p:sp>
      <p:sp>
        <p:nvSpPr>
          <p:cNvPr id="27" name="Text 24"/>
          <p:cNvSpPr/>
          <p:nvPr/>
        </p:nvSpPr>
        <p:spPr>
          <a:xfrm>
            <a:off x="2560320" y="4251960"/>
            <a:ext cx="457200" cy="777240"/>
          </a:xfrm>
          <a:prstGeom prst="rect">
            <a:avLst/>
          </a:prstGeom>
          <a:noFill/>
          <a:ln/>
        </p:spPr>
        <p:txBody>
          <a:bodyPr wrap="square" lIns="0" tIns="0" rIns="0" bIns="0" rtlCol="0" anchor="ctr"/>
          <a:lstStyle/>
          <a:p>
            <a:pPr indent="0" marL="0">
              <a:buNone/>
            </a:pPr>
            <a:r>
              <a:rPr lang="en-US" sz="2000" dirty="0">
                <a:solidFill>
                  <a:srgbClr val="3A2C1A"/>
                </a:solidFill>
                <a:latin typeface="Georgia" pitchFamily="34" charset="0"/>
                <a:ea typeface="Georgia" pitchFamily="34" charset="-122"/>
                <a:cs typeface="Georgia" pitchFamily="34" charset="-120"/>
              </a:rPr>
              <a:t>4</a:t>
            </a:r>
            <a:endParaRPr lang="en-US" sz="2000" dirty="0"/>
          </a:p>
        </p:txBody>
      </p:sp>
      <p:sp>
        <p:nvSpPr>
          <p:cNvPr id="28" name="Text 25"/>
          <p:cNvSpPr/>
          <p:nvPr/>
        </p:nvSpPr>
        <p:spPr>
          <a:xfrm>
            <a:off x="3108960" y="4251960"/>
            <a:ext cx="2651760" cy="777240"/>
          </a:xfrm>
          <a:prstGeom prst="rect">
            <a:avLst/>
          </a:prstGeom>
          <a:noFill/>
          <a:ln/>
        </p:spPr>
        <p:txBody>
          <a:bodyPr wrap="square" lIns="0" tIns="0" rIns="0" bIns="0" rtlCol="0" anchor="ctr">
            <a:normAutofit/>
          </a:bodyPr>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storage</a:t>
            </a:r>
            <a:endParaRPr lang="en-US" sz="1600" dirty="0"/>
          </a:p>
        </p:txBody>
      </p:sp>
      <p:sp>
        <p:nvSpPr>
          <p:cNvPr id="29" name="Text 26"/>
          <p:cNvSpPr/>
          <p:nvPr/>
        </p:nvSpPr>
        <p:spPr>
          <a:xfrm>
            <a:off x="4846320" y="4251960"/>
            <a:ext cx="3931920" cy="7772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Postgres / DynamoDB / S3</a:t>
            </a:r>
            <a:endParaRPr lang="en-US" sz="1250" dirty="0"/>
          </a:p>
        </p:txBody>
      </p:sp>
      <p:sp>
        <p:nvSpPr>
          <p:cNvPr id="30" name="Text 27"/>
          <p:cNvSpPr/>
          <p:nvPr/>
        </p:nvSpPr>
        <p:spPr>
          <a:xfrm>
            <a:off x="9144000" y="4251960"/>
            <a:ext cx="2468880" cy="777240"/>
          </a:xfrm>
          <a:prstGeom prst="rect">
            <a:avLst/>
          </a:prstGeom>
          <a:noFill/>
          <a:ln/>
        </p:spPr>
        <p:txBody>
          <a:bodyPr wrap="square" lIns="0" tIns="0" rIns="0" bIns="0" rtlCol="0" anchor="ctr"/>
          <a:lstStyle/>
          <a:p>
            <a:pPr algn="r" indent="0" marL="0">
              <a:buNone/>
            </a:pPr>
            <a:r>
              <a:rPr lang="en-US" sz="1400" dirty="0">
                <a:solidFill>
                  <a:srgbClr val="3A2C1A"/>
                </a:solidFill>
                <a:latin typeface="Courier New" pitchFamily="34" charset="0"/>
                <a:ea typeface="Courier New" pitchFamily="34" charset="-122"/>
                <a:cs typeface="Courier New" pitchFamily="34" charset="-120"/>
              </a:rPr>
              <a:t>ms, and metered</a:t>
            </a:r>
            <a:endParaRPr lang="en-US" sz="1400" dirty="0"/>
          </a:p>
        </p:txBody>
      </p:sp>
      <p:sp>
        <p:nvSpPr>
          <p:cNvPr id="31" name="Text 28"/>
          <p:cNvSpPr/>
          <p:nvPr/>
        </p:nvSpPr>
        <p:spPr>
          <a:xfrm>
            <a:off x="502920" y="2743200"/>
            <a:ext cx="548640" cy="640080"/>
          </a:xfrm>
          <a:prstGeom prst="rect">
            <a:avLst/>
          </a:prstGeom>
          <a:noFill/>
          <a:ln/>
        </p:spPr>
        <p:txBody>
          <a:bodyPr wrap="square" lIns="0" tIns="0" rIns="0" bIns="0" rtlCol="0" anchor="t"/>
          <a:lstStyle/>
          <a:p>
            <a:pPr algn="ctr" indent="0" marL="0">
              <a:buNone/>
            </a:pPr>
            <a:r>
              <a:rPr lang="en-US" sz="1100" dirty="0">
                <a:solidFill>
                  <a:srgbClr val="A8864A"/>
                </a:solidFill>
                <a:latin typeface="Helvetica Neue" pitchFamily="34" charset="0"/>
                <a:ea typeface="Helvetica Neue" pitchFamily="34" charset="-122"/>
                <a:cs typeface="Helvetica Neue" pitchFamily="34" charset="-120"/>
              </a:rPr>
              <a:t>miss</a:t>
            </a:r>
            <a:endParaRPr lang="en-US" sz="1100" dirty="0"/>
          </a:p>
          <a:p>
            <a:pPr algn="ctr" indent="0" marL="0">
              <a:buNone/>
            </a:pPr>
            <a:r>
              <a:rPr lang="en-US" sz="1100" dirty="0">
                <a:solidFill>
                  <a:srgbClr val="A8864A"/>
                </a:solidFill>
                <a:latin typeface="Helvetica Neue" pitchFamily="34" charset="0"/>
                <a:ea typeface="Helvetica Neue" pitchFamily="34" charset="-122"/>
                <a:cs typeface="Helvetica Neue" pitchFamily="34" charset="-120"/>
              </a:rPr>
              <a:t>↓</a:t>
            </a:r>
            <a:endParaRPr lang="en-US" sz="1100" dirty="0"/>
          </a:p>
        </p:txBody>
      </p:sp>
      <p:sp>
        <p:nvSpPr>
          <p:cNvPr id="32" name="Shape 29"/>
          <p:cNvSpPr/>
          <p:nvPr/>
        </p:nvSpPr>
        <p:spPr>
          <a:xfrm>
            <a:off x="1691640" y="4846320"/>
            <a:ext cx="7772400" cy="502920"/>
          </a:xfrm>
          <a:prstGeom prst="roundRect">
            <a:avLst>
              <a:gd name="adj" fmla="val 14545"/>
            </a:avLst>
          </a:prstGeom>
          <a:solidFill>
            <a:srgbClr val="D3DEE1"/>
          </a:solidFill>
          <a:ln/>
        </p:spPr>
      </p:sp>
      <p:sp>
        <p:nvSpPr>
          <p:cNvPr id="33" name="Text 30"/>
          <p:cNvSpPr/>
          <p:nvPr/>
        </p:nvSpPr>
        <p:spPr>
          <a:xfrm>
            <a:off x="1874520" y="4846320"/>
            <a:ext cx="7406640" cy="502920"/>
          </a:xfrm>
          <a:prstGeom prst="rect">
            <a:avLst/>
          </a:prstGeom>
          <a:noFill/>
          <a:ln/>
        </p:spPr>
        <p:txBody>
          <a:bodyPr wrap="square" lIns="0" tIns="0" rIns="0" bIns="0" rtlCol="0" anchor="ctr">
            <a:normAutofit/>
          </a:bodyPr>
          <a:lstStyle/>
          <a:p>
            <a:pPr indent="0" marL="0">
              <a:buNone/>
            </a:pPr>
            <a:r>
              <a:rPr lang="en-US" sz="1300" b="1" dirty="0">
                <a:solidFill>
                  <a:srgbClr val="3F6470"/>
                </a:solidFill>
                <a:latin typeface="Helvetica Neue" pitchFamily="34" charset="0"/>
                <a:ea typeface="Helvetica Neue" pitchFamily="34" charset="-122"/>
                <a:cs typeface="Helvetica Neue" pitchFamily="34" charset="-120"/>
              </a:rPr>
              <a:t>Tier 2 is the addition in this class — and it is the only tier that survives a process restart.</a:t>
            </a:r>
            <a:endParaRPr lang="en-US" sz="1300" dirty="0"/>
          </a:p>
        </p:txBody>
      </p:sp>
      <p:sp>
        <p:nvSpPr>
          <p:cNvPr id="34" name="Shape 31"/>
          <p:cNvSpPr/>
          <p:nvPr/>
        </p:nvSpPr>
        <p:spPr>
          <a:xfrm>
            <a:off x="548640" y="5623560"/>
            <a:ext cx="54864" cy="457200"/>
          </a:xfrm>
          <a:prstGeom prst="rect">
            <a:avLst/>
          </a:prstGeom>
          <a:solidFill>
            <a:srgbClr val="A8864A"/>
          </a:solidFill>
          <a:ln/>
        </p:spPr>
      </p:sp>
      <p:sp>
        <p:nvSpPr>
          <p:cNvPr id="35" name="Text 32"/>
          <p:cNvSpPr/>
          <p:nvPr/>
        </p:nvSpPr>
        <p:spPr>
          <a:xfrm>
            <a:off x="777240" y="562356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Latency is not a property of the query. It is a property of which tier had the segment.</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THE COST OF A READ</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Choosing tiers: what each one actually buys</a:t>
            </a:r>
            <a:endParaRPr lang="en-US" sz="2500" dirty="0"/>
          </a:p>
        </p:txBody>
      </p:sp>
      <p:sp>
        <p:nvSpPr>
          <p:cNvPr id="8" name="Shape 5"/>
          <p:cNvSpPr/>
          <p:nvPr/>
        </p:nvSpPr>
        <p:spPr>
          <a:xfrm>
            <a:off x="3108960" y="1325880"/>
            <a:ext cx="2039112" cy="502920"/>
          </a:xfrm>
          <a:prstGeom prst="roundRect">
            <a:avLst>
              <a:gd name="adj" fmla="val 14545"/>
            </a:avLst>
          </a:prstGeom>
          <a:solidFill>
            <a:srgbClr val="2C2416"/>
          </a:solidFill>
          <a:ln/>
        </p:spPr>
      </p:sp>
      <p:sp>
        <p:nvSpPr>
          <p:cNvPr id="9" name="Text 6"/>
          <p:cNvSpPr/>
          <p:nvPr/>
        </p:nvSpPr>
        <p:spPr>
          <a:xfrm>
            <a:off x="3108960" y="1325880"/>
            <a:ext cx="2039112" cy="502920"/>
          </a:xfrm>
          <a:prstGeom prst="rect">
            <a:avLst/>
          </a:prstGeom>
          <a:noFill/>
          <a:ln/>
        </p:spPr>
        <p:txBody>
          <a:bodyPr wrap="square" lIns="0" tIns="0" rIns="0" bIns="0" rtlCol="0" anchor="ctr">
            <a:normAutofit/>
          </a:bodyPr>
          <a:lstStyle/>
          <a:p>
            <a:pPr algn="ctr" indent="0" marL="0">
              <a:buNone/>
            </a:pPr>
            <a:r>
              <a:rPr lang="en-US" sz="1250" b="1" dirty="0">
                <a:solidFill>
                  <a:srgbClr val="FCFAF4"/>
                </a:solidFill>
                <a:latin typeface="Helvetica Neue" pitchFamily="34" charset="0"/>
                <a:ea typeface="Helvetica Neue" pitchFamily="34" charset="-122"/>
                <a:cs typeface="Helvetica Neue" pitchFamily="34" charset="-120"/>
              </a:rPr>
              <a:t>object cache</a:t>
            </a:r>
            <a:endParaRPr lang="en-US" sz="1250" dirty="0"/>
          </a:p>
        </p:txBody>
      </p:sp>
      <p:sp>
        <p:nvSpPr>
          <p:cNvPr id="10" name="Shape 7"/>
          <p:cNvSpPr/>
          <p:nvPr/>
        </p:nvSpPr>
        <p:spPr>
          <a:xfrm>
            <a:off x="5257800" y="1325880"/>
            <a:ext cx="2039112" cy="502920"/>
          </a:xfrm>
          <a:prstGeom prst="roundRect">
            <a:avLst>
              <a:gd name="adj" fmla="val 14545"/>
            </a:avLst>
          </a:prstGeom>
          <a:solidFill>
            <a:srgbClr val="DFD6C0"/>
          </a:solidFill>
          <a:ln/>
        </p:spPr>
      </p:sp>
      <p:sp>
        <p:nvSpPr>
          <p:cNvPr id="11" name="Text 8"/>
          <p:cNvSpPr/>
          <p:nvPr/>
        </p:nvSpPr>
        <p:spPr>
          <a:xfrm>
            <a:off x="5257800" y="1325880"/>
            <a:ext cx="2039112" cy="50292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valcache</a:t>
            </a:r>
            <a:endParaRPr lang="en-US" sz="1250" dirty="0"/>
          </a:p>
        </p:txBody>
      </p:sp>
      <p:sp>
        <p:nvSpPr>
          <p:cNvPr id="12" name="Shape 9"/>
          <p:cNvSpPr/>
          <p:nvPr/>
        </p:nvSpPr>
        <p:spPr>
          <a:xfrm>
            <a:off x="7406640" y="1325880"/>
            <a:ext cx="2039112" cy="502920"/>
          </a:xfrm>
          <a:prstGeom prst="roundRect">
            <a:avLst>
              <a:gd name="adj" fmla="val 14545"/>
            </a:avLst>
          </a:prstGeom>
          <a:solidFill>
            <a:srgbClr val="DFD6C0"/>
          </a:solidFill>
          <a:ln/>
        </p:spPr>
      </p:sp>
      <p:sp>
        <p:nvSpPr>
          <p:cNvPr id="13" name="Text 10"/>
          <p:cNvSpPr/>
          <p:nvPr/>
        </p:nvSpPr>
        <p:spPr>
          <a:xfrm>
            <a:off x="7406640" y="1325880"/>
            <a:ext cx="2039112" cy="50292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memcached</a:t>
            </a:r>
            <a:endParaRPr lang="en-US" sz="1250" dirty="0"/>
          </a:p>
        </p:txBody>
      </p:sp>
      <p:sp>
        <p:nvSpPr>
          <p:cNvPr id="14" name="Shape 11"/>
          <p:cNvSpPr/>
          <p:nvPr/>
        </p:nvSpPr>
        <p:spPr>
          <a:xfrm>
            <a:off x="9555480" y="1325880"/>
            <a:ext cx="2039112" cy="502920"/>
          </a:xfrm>
          <a:prstGeom prst="roundRect">
            <a:avLst>
              <a:gd name="adj" fmla="val 14545"/>
            </a:avLst>
          </a:prstGeom>
          <a:solidFill>
            <a:srgbClr val="DFD6C0"/>
          </a:solidFill>
          <a:ln/>
        </p:spPr>
      </p:sp>
      <p:sp>
        <p:nvSpPr>
          <p:cNvPr id="15" name="Text 12"/>
          <p:cNvSpPr/>
          <p:nvPr/>
        </p:nvSpPr>
        <p:spPr>
          <a:xfrm>
            <a:off x="9555480" y="1325880"/>
            <a:ext cx="2039112" cy="50292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storage</a:t>
            </a:r>
            <a:endParaRPr lang="en-US" sz="1250" dirty="0"/>
          </a:p>
        </p:txBody>
      </p:sp>
      <p:sp>
        <p:nvSpPr>
          <p:cNvPr id="16" name="Shape 13"/>
          <p:cNvSpPr/>
          <p:nvPr/>
        </p:nvSpPr>
        <p:spPr>
          <a:xfrm>
            <a:off x="548640" y="1965960"/>
            <a:ext cx="11064240" cy="566928"/>
          </a:xfrm>
          <a:prstGeom prst="rect">
            <a:avLst/>
          </a:prstGeom>
          <a:solidFill>
            <a:srgbClr val="E6DFCE"/>
          </a:solidFill>
          <a:ln/>
        </p:spPr>
      </p:sp>
      <p:sp>
        <p:nvSpPr>
          <p:cNvPr id="17" name="Text 14"/>
          <p:cNvSpPr/>
          <p:nvPr/>
        </p:nvSpPr>
        <p:spPr>
          <a:xfrm>
            <a:off x="731520" y="1965960"/>
            <a:ext cx="2286000" cy="566928"/>
          </a:xfrm>
          <a:prstGeom prst="rect">
            <a:avLst/>
          </a:prstGeom>
          <a:noFill/>
          <a:ln/>
        </p:spPr>
        <p:txBody>
          <a:bodyPr wrap="square" lIns="0" tIns="0" rIns="0" bIns="0" rtlCol="0" anchor="ctr">
            <a:normAutofit/>
          </a:bodyPr>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where</a:t>
            </a:r>
            <a:endParaRPr lang="en-US" sz="1300" dirty="0"/>
          </a:p>
        </p:txBody>
      </p:sp>
      <p:sp>
        <p:nvSpPr>
          <p:cNvPr id="18" name="Text 15"/>
          <p:cNvSpPr/>
          <p:nvPr/>
        </p:nvSpPr>
        <p:spPr>
          <a:xfrm>
            <a:off x="3108960" y="1965960"/>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JVM heap</a:t>
            </a:r>
            <a:endParaRPr lang="en-US" sz="1300" dirty="0"/>
          </a:p>
        </p:txBody>
      </p:sp>
      <p:sp>
        <p:nvSpPr>
          <p:cNvPr id="19" name="Text 16"/>
          <p:cNvSpPr/>
          <p:nvPr/>
        </p:nvSpPr>
        <p:spPr>
          <a:xfrm>
            <a:off x="5257800" y="1965960"/>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local SSD</a:t>
            </a:r>
            <a:endParaRPr lang="en-US" sz="1300" dirty="0"/>
          </a:p>
        </p:txBody>
      </p:sp>
      <p:sp>
        <p:nvSpPr>
          <p:cNvPr id="20" name="Text 17"/>
          <p:cNvSpPr/>
          <p:nvPr/>
        </p:nvSpPr>
        <p:spPr>
          <a:xfrm>
            <a:off x="7406640" y="1965960"/>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network</a:t>
            </a:r>
            <a:endParaRPr lang="en-US" sz="1300" dirty="0"/>
          </a:p>
        </p:txBody>
      </p:sp>
      <p:sp>
        <p:nvSpPr>
          <p:cNvPr id="21" name="Text 18"/>
          <p:cNvSpPr/>
          <p:nvPr/>
        </p:nvSpPr>
        <p:spPr>
          <a:xfrm>
            <a:off x="9555480" y="1965960"/>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the database</a:t>
            </a:r>
            <a:endParaRPr lang="en-US" sz="1300" dirty="0"/>
          </a:p>
        </p:txBody>
      </p:sp>
      <p:sp>
        <p:nvSpPr>
          <p:cNvPr id="22" name="Shape 19"/>
          <p:cNvSpPr/>
          <p:nvPr/>
        </p:nvSpPr>
        <p:spPr>
          <a:xfrm>
            <a:off x="548640" y="2624328"/>
            <a:ext cx="11064240" cy="566928"/>
          </a:xfrm>
          <a:prstGeom prst="rect">
            <a:avLst/>
          </a:prstGeom>
          <a:solidFill>
            <a:srgbClr val="EFE9DD"/>
          </a:solidFill>
          <a:ln/>
        </p:spPr>
      </p:sp>
      <p:sp>
        <p:nvSpPr>
          <p:cNvPr id="23" name="Text 20"/>
          <p:cNvSpPr/>
          <p:nvPr/>
        </p:nvSpPr>
        <p:spPr>
          <a:xfrm>
            <a:off x="731520" y="2624328"/>
            <a:ext cx="2286000" cy="566928"/>
          </a:xfrm>
          <a:prstGeom prst="rect">
            <a:avLst/>
          </a:prstGeom>
          <a:noFill/>
          <a:ln/>
        </p:spPr>
        <p:txBody>
          <a:bodyPr wrap="square" lIns="0" tIns="0" rIns="0" bIns="0" rtlCol="0" anchor="ctr">
            <a:normAutofit/>
          </a:bodyPr>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survives restart?</a:t>
            </a:r>
            <a:endParaRPr lang="en-US" sz="1300" dirty="0"/>
          </a:p>
        </p:txBody>
      </p:sp>
      <p:sp>
        <p:nvSpPr>
          <p:cNvPr id="24" name="Text 21"/>
          <p:cNvSpPr/>
          <p:nvPr/>
        </p:nvSpPr>
        <p:spPr>
          <a:xfrm>
            <a:off x="3108960" y="2624328"/>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no</a:t>
            </a:r>
            <a:endParaRPr lang="en-US" sz="1300" dirty="0"/>
          </a:p>
        </p:txBody>
      </p:sp>
      <p:sp>
        <p:nvSpPr>
          <p:cNvPr id="25" name="Text 22"/>
          <p:cNvSpPr/>
          <p:nvPr/>
        </p:nvSpPr>
        <p:spPr>
          <a:xfrm>
            <a:off x="5257800" y="2624328"/>
            <a:ext cx="2039112" cy="566928"/>
          </a:xfrm>
          <a:prstGeom prst="rect">
            <a:avLst/>
          </a:prstGeom>
          <a:noFill/>
          <a:ln/>
        </p:spPr>
        <p:txBody>
          <a:bodyPr wrap="square" lIns="0" tIns="0" rIns="0" bIns="0" rtlCol="0" anchor="ctr">
            <a:normAutofit/>
          </a:bodyPr>
          <a:lstStyle/>
          <a:p>
            <a:pPr algn="ctr" indent="0" marL="0">
              <a:buNone/>
            </a:pPr>
            <a:r>
              <a:rPr lang="en-US" sz="1300" b="1" dirty="0">
                <a:solidFill>
                  <a:srgbClr val="5F7A3A"/>
                </a:solidFill>
                <a:latin typeface="Helvetica Neue" pitchFamily="34" charset="0"/>
                <a:ea typeface="Helvetica Neue" pitchFamily="34" charset="-122"/>
                <a:cs typeface="Helvetica Neue" pitchFamily="34" charset="-120"/>
              </a:rPr>
              <a:t>YES</a:t>
            </a:r>
            <a:endParaRPr lang="en-US" sz="1300" dirty="0"/>
          </a:p>
        </p:txBody>
      </p:sp>
      <p:sp>
        <p:nvSpPr>
          <p:cNvPr id="26" name="Text 23"/>
          <p:cNvSpPr/>
          <p:nvPr/>
        </p:nvSpPr>
        <p:spPr>
          <a:xfrm>
            <a:off x="7406640" y="2624328"/>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yes (shared)</a:t>
            </a:r>
            <a:endParaRPr lang="en-US" sz="1300" dirty="0"/>
          </a:p>
        </p:txBody>
      </p:sp>
      <p:sp>
        <p:nvSpPr>
          <p:cNvPr id="27" name="Text 24"/>
          <p:cNvSpPr/>
          <p:nvPr/>
        </p:nvSpPr>
        <p:spPr>
          <a:xfrm>
            <a:off x="9555480" y="2624328"/>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n/a</a:t>
            </a:r>
            <a:endParaRPr lang="en-US" sz="1300" dirty="0"/>
          </a:p>
        </p:txBody>
      </p:sp>
      <p:sp>
        <p:nvSpPr>
          <p:cNvPr id="28" name="Shape 25"/>
          <p:cNvSpPr/>
          <p:nvPr/>
        </p:nvSpPr>
        <p:spPr>
          <a:xfrm>
            <a:off x="548640" y="3282696"/>
            <a:ext cx="11064240" cy="566928"/>
          </a:xfrm>
          <a:prstGeom prst="rect">
            <a:avLst/>
          </a:prstGeom>
          <a:solidFill>
            <a:srgbClr val="E6DFCE"/>
          </a:solidFill>
          <a:ln/>
        </p:spPr>
      </p:sp>
      <p:sp>
        <p:nvSpPr>
          <p:cNvPr id="29" name="Text 26"/>
          <p:cNvSpPr/>
          <p:nvPr/>
        </p:nvSpPr>
        <p:spPr>
          <a:xfrm>
            <a:off x="731520" y="3282696"/>
            <a:ext cx="2286000" cy="566928"/>
          </a:xfrm>
          <a:prstGeom prst="rect">
            <a:avLst/>
          </a:prstGeom>
          <a:noFill/>
          <a:ln/>
        </p:spPr>
        <p:txBody>
          <a:bodyPr wrap="square" lIns="0" tIns="0" rIns="0" bIns="0" rtlCol="0" anchor="ctr">
            <a:normAutofit/>
          </a:bodyPr>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shared across peers?</a:t>
            </a:r>
            <a:endParaRPr lang="en-US" sz="1300" dirty="0"/>
          </a:p>
        </p:txBody>
      </p:sp>
      <p:sp>
        <p:nvSpPr>
          <p:cNvPr id="30" name="Text 27"/>
          <p:cNvSpPr/>
          <p:nvPr/>
        </p:nvSpPr>
        <p:spPr>
          <a:xfrm>
            <a:off x="3108960" y="3282696"/>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no</a:t>
            </a:r>
            <a:endParaRPr lang="en-US" sz="1300" dirty="0"/>
          </a:p>
        </p:txBody>
      </p:sp>
      <p:sp>
        <p:nvSpPr>
          <p:cNvPr id="31" name="Text 28"/>
          <p:cNvSpPr/>
          <p:nvPr/>
        </p:nvSpPr>
        <p:spPr>
          <a:xfrm>
            <a:off x="5257800" y="3282696"/>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no</a:t>
            </a:r>
            <a:endParaRPr lang="en-US" sz="1300" dirty="0"/>
          </a:p>
        </p:txBody>
      </p:sp>
      <p:sp>
        <p:nvSpPr>
          <p:cNvPr id="32" name="Text 29"/>
          <p:cNvSpPr/>
          <p:nvPr/>
        </p:nvSpPr>
        <p:spPr>
          <a:xfrm>
            <a:off x="7406640" y="3282696"/>
            <a:ext cx="2039112" cy="566928"/>
          </a:xfrm>
          <a:prstGeom prst="rect">
            <a:avLst/>
          </a:prstGeom>
          <a:noFill/>
          <a:ln/>
        </p:spPr>
        <p:txBody>
          <a:bodyPr wrap="square" lIns="0" tIns="0" rIns="0" bIns="0" rtlCol="0" anchor="ctr">
            <a:normAutofit/>
          </a:bodyPr>
          <a:lstStyle/>
          <a:p>
            <a:pPr algn="ctr" indent="0" marL="0">
              <a:buNone/>
            </a:pPr>
            <a:r>
              <a:rPr lang="en-US" sz="1300" b="1" dirty="0">
                <a:solidFill>
                  <a:srgbClr val="5F7A3A"/>
                </a:solidFill>
                <a:latin typeface="Helvetica Neue" pitchFamily="34" charset="0"/>
                <a:ea typeface="Helvetica Neue" pitchFamily="34" charset="-122"/>
                <a:cs typeface="Helvetica Neue" pitchFamily="34" charset="-120"/>
              </a:rPr>
              <a:t>YES</a:t>
            </a:r>
            <a:endParaRPr lang="en-US" sz="1300" dirty="0"/>
          </a:p>
        </p:txBody>
      </p:sp>
      <p:sp>
        <p:nvSpPr>
          <p:cNvPr id="33" name="Text 30"/>
          <p:cNvSpPr/>
          <p:nvPr/>
        </p:nvSpPr>
        <p:spPr>
          <a:xfrm>
            <a:off x="9555480" y="3282696"/>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yes</a:t>
            </a:r>
            <a:endParaRPr lang="en-US" sz="1300" dirty="0"/>
          </a:p>
        </p:txBody>
      </p:sp>
      <p:sp>
        <p:nvSpPr>
          <p:cNvPr id="34" name="Shape 31"/>
          <p:cNvSpPr/>
          <p:nvPr/>
        </p:nvSpPr>
        <p:spPr>
          <a:xfrm>
            <a:off x="548640" y="3941064"/>
            <a:ext cx="11064240" cy="566928"/>
          </a:xfrm>
          <a:prstGeom prst="rect">
            <a:avLst/>
          </a:prstGeom>
          <a:solidFill>
            <a:srgbClr val="EFE9DD"/>
          </a:solidFill>
          <a:ln/>
        </p:spPr>
      </p:sp>
      <p:sp>
        <p:nvSpPr>
          <p:cNvPr id="35" name="Text 32"/>
          <p:cNvSpPr/>
          <p:nvPr/>
        </p:nvSpPr>
        <p:spPr>
          <a:xfrm>
            <a:off x="731520" y="3941064"/>
            <a:ext cx="2286000" cy="566928"/>
          </a:xfrm>
          <a:prstGeom prst="rect">
            <a:avLst/>
          </a:prstGeom>
          <a:noFill/>
          <a:ln/>
        </p:spPr>
        <p:txBody>
          <a:bodyPr wrap="square" lIns="0" tIns="0" rIns="0" bIns="0" rtlCol="0" anchor="ctr">
            <a:normAutofit/>
          </a:bodyPr>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costs</a:t>
            </a:r>
            <a:endParaRPr lang="en-US" sz="1300" dirty="0"/>
          </a:p>
        </p:txBody>
      </p:sp>
      <p:sp>
        <p:nvSpPr>
          <p:cNvPr id="36" name="Text 33"/>
          <p:cNvSpPr/>
          <p:nvPr/>
        </p:nvSpPr>
        <p:spPr>
          <a:xfrm>
            <a:off x="3108960" y="3941064"/>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heap</a:t>
            </a:r>
            <a:endParaRPr lang="en-US" sz="1300" dirty="0"/>
          </a:p>
        </p:txBody>
      </p:sp>
      <p:sp>
        <p:nvSpPr>
          <p:cNvPr id="37" name="Text 34"/>
          <p:cNvSpPr/>
          <p:nvPr/>
        </p:nvSpPr>
        <p:spPr>
          <a:xfrm>
            <a:off x="5257800" y="3941064"/>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disk</a:t>
            </a:r>
            <a:endParaRPr lang="en-US" sz="1300" dirty="0"/>
          </a:p>
        </p:txBody>
      </p:sp>
      <p:sp>
        <p:nvSpPr>
          <p:cNvPr id="38" name="Text 35"/>
          <p:cNvSpPr/>
          <p:nvPr/>
        </p:nvSpPr>
        <p:spPr>
          <a:xfrm>
            <a:off x="7406640" y="3941064"/>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a server</a:t>
            </a:r>
            <a:endParaRPr lang="en-US" sz="1300" dirty="0"/>
          </a:p>
        </p:txBody>
      </p:sp>
      <p:sp>
        <p:nvSpPr>
          <p:cNvPr id="39" name="Text 36"/>
          <p:cNvSpPr/>
          <p:nvPr/>
        </p:nvSpPr>
        <p:spPr>
          <a:xfrm>
            <a:off x="9555480" y="3941064"/>
            <a:ext cx="2039112" cy="566928"/>
          </a:xfrm>
          <a:prstGeom prst="rect">
            <a:avLst/>
          </a:prstGeom>
          <a:noFill/>
          <a:ln/>
        </p:spPr>
        <p:txBody>
          <a:bodyPr wrap="square" lIns="0" tIns="0" rIns="0" bIns="0" rtlCol="0" anchor="ctr">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money / IOPS</a:t>
            </a:r>
            <a:endParaRPr lang="en-US" sz="1300" dirty="0"/>
          </a:p>
        </p:txBody>
      </p:sp>
      <p:sp>
        <p:nvSpPr>
          <p:cNvPr id="40" name="Shape 37"/>
          <p:cNvSpPr/>
          <p:nvPr/>
        </p:nvSpPr>
        <p:spPr>
          <a:xfrm>
            <a:off x="548640" y="4599432"/>
            <a:ext cx="11064240" cy="566928"/>
          </a:xfrm>
          <a:prstGeom prst="rect">
            <a:avLst/>
          </a:prstGeom>
          <a:solidFill>
            <a:srgbClr val="E6DFCE"/>
          </a:solidFill>
          <a:ln/>
        </p:spPr>
      </p:sp>
      <p:sp>
        <p:nvSpPr>
          <p:cNvPr id="41" name="Text 38"/>
          <p:cNvSpPr/>
          <p:nvPr/>
        </p:nvSpPr>
        <p:spPr>
          <a:xfrm>
            <a:off x="731520" y="4599432"/>
            <a:ext cx="2286000" cy="566928"/>
          </a:xfrm>
          <a:prstGeom prst="rect">
            <a:avLst/>
          </a:prstGeom>
          <a:noFill/>
          <a:ln/>
        </p:spPr>
        <p:txBody>
          <a:bodyPr wrap="square" lIns="0" tIns="0" rIns="0" bIns="0" rtlCol="0" anchor="ctr">
            <a:normAutofit/>
          </a:bodyPr>
          <a:lstStyle/>
          <a:p>
            <a:pPr indent="0" marL="0">
              <a:buNone/>
            </a:pPr>
            <a:r>
              <a:rPr lang="en-US" sz="1300" b="1" dirty="0">
                <a:solidFill>
                  <a:srgbClr val="3A2C1A"/>
                </a:solidFill>
                <a:latin typeface="Helvetica Neue" pitchFamily="34" charset="0"/>
                <a:ea typeface="Helvetica Neue" pitchFamily="34" charset="-122"/>
                <a:cs typeface="Helvetica Neue" pitchFamily="34" charset="-120"/>
              </a:rPr>
              <a:t>turned on by</a:t>
            </a:r>
            <a:endParaRPr lang="en-US" sz="1300" dirty="0"/>
          </a:p>
        </p:txBody>
      </p:sp>
      <p:sp>
        <p:nvSpPr>
          <p:cNvPr id="42" name="Text 39"/>
          <p:cNvSpPr/>
          <p:nvPr/>
        </p:nvSpPr>
        <p:spPr>
          <a:xfrm>
            <a:off x="3108960" y="4599432"/>
            <a:ext cx="2039112" cy="566928"/>
          </a:xfrm>
          <a:prstGeom prst="rect">
            <a:avLst/>
          </a:prstGeom>
          <a:noFill/>
          <a:ln/>
        </p:spPr>
        <p:txBody>
          <a:bodyPr wrap="square" lIns="0" tIns="0" rIns="0" bIns="0" rtlCol="0" anchor="ctr">
            <a:normAutofit/>
          </a:bodyPr>
          <a:lstStyle/>
          <a:p>
            <a:pPr algn="ctr" indent="0" marL="0">
              <a:buNone/>
            </a:pPr>
            <a:r>
              <a:rPr lang="en-US" sz="1100" dirty="0">
                <a:solidFill>
                  <a:srgbClr val="6B5A44"/>
                </a:solidFill>
                <a:latin typeface="Courier New" pitchFamily="34" charset="0"/>
                <a:ea typeface="Courier New" pitchFamily="34" charset="-122"/>
                <a:cs typeface="Courier New" pitchFamily="34" charset="-120"/>
              </a:rPr>
              <a:t>objectCacheMax</a:t>
            </a:r>
            <a:endParaRPr lang="en-US" sz="1100" dirty="0"/>
          </a:p>
        </p:txBody>
      </p:sp>
      <p:sp>
        <p:nvSpPr>
          <p:cNvPr id="43" name="Text 40"/>
          <p:cNvSpPr/>
          <p:nvPr/>
        </p:nvSpPr>
        <p:spPr>
          <a:xfrm>
            <a:off x="5257800" y="4599432"/>
            <a:ext cx="2039112" cy="566928"/>
          </a:xfrm>
          <a:prstGeom prst="rect">
            <a:avLst/>
          </a:prstGeom>
          <a:noFill/>
          <a:ln/>
        </p:spPr>
        <p:txBody>
          <a:bodyPr wrap="square" lIns="0" tIns="0" rIns="0" bIns="0" rtlCol="0" anchor="ctr">
            <a:normAutofit/>
          </a:bodyPr>
          <a:lstStyle/>
          <a:p>
            <a:pPr algn="ctr" indent="0" marL="0">
              <a:buNone/>
            </a:pPr>
            <a:r>
              <a:rPr lang="en-US" sz="1100" dirty="0">
                <a:solidFill>
                  <a:srgbClr val="6B5A44"/>
                </a:solidFill>
                <a:latin typeface="Courier New" pitchFamily="34" charset="0"/>
                <a:ea typeface="Courier New" pitchFamily="34" charset="-122"/>
                <a:cs typeface="Courier New" pitchFamily="34" charset="-120"/>
              </a:rPr>
              <a:t>valcachePath</a:t>
            </a:r>
            <a:endParaRPr lang="en-US" sz="1100" dirty="0"/>
          </a:p>
        </p:txBody>
      </p:sp>
      <p:sp>
        <p:nvSpPr>
          <p:cNvPr id="44" name="Text 41"/>
          <p:cNvSpPr/>
          <p:nvPr/>
        </p:nvSpPr>
        <p:spPr>
          <a:xfrm>
            <a:off x="7406640" y="4599432"/>
            <a:ext cx="2039112" cy="566928"/>
          </a:xfrm>
          <a:prstGeom prst="rect">
            <a:avLst/>
          </a:prstGeom>
          <a:noFill/>
          <a:ln/>
        </p:spPr>
        <p:txBody>
          <a:bodyPr wrap="square" lIns="0" tIns="0" rIns="0" bIns="0" rtlCol="0" anchor="ctr">
            <a:normAutofit/>
          </a:bodyPr>
          <a:lstStyle/>
          <a:p>
            <a:pPr algn="ctr" indent="0" marL="0">
              <a:buNone/>
            </a:pPr>
            <a:r>
              <a:rPr lang="en-US" sz="1100" dirty="0">
                <a:solidFill>
                  <a:srgbClr val="6B5A44"/>
                </a:solidFill>
                <a:latin typeface="Courier New" pitchFamily="34" charset="0"/>
                <a:ea typeface="Courier New" pitchFamily="34" charset="-122"/>
                <a:cs typeface="Courier New" pitchFamily="34" charset="-120"/>
              </a:rPr>
              <a:t>memcachedServers</a:t>
            </a:r>
            <a:endParaRPr lang="en-US" sz="1100" dirty="0"/>
          </a:p>
        </p:txBody>
      </p:sp>
      <p:sp>
        <p:nvSpPr>
          <p:cNvPr id="45" name="Text 42"/>
          <p:cNvSpPr/>
          <p:nvPr/>
        </p:nvSpPr>
        <p:spPr>
          <a:xfrm>
            <a:off x="9555480" y="4599432"/>
            <a:ext cx="2039112" cy="566928"/>
          </a:xfrm>
          <a:prstGeom prst="rect">
            <a:avLst/>
          </a:prstGeom>
          <a:noFill/>
          <a:ln/>
        </p:spPr>
        <p:txBody>
          <a:bodyPr wrap="square" lIns="0" tIns="0" rIns="0" bIns="0" rtlCol="0" anchor="ctr">
            <a:normAutofit/>
          </a:bodyPr>
          <a:lstStyle/>
          <a:p>
            <a:pPr algn="ctr" indent="0" marL="0">
              <a:buNone/>
            </a:pPr>
            <a:r>
              <a:rPr lang="en-US" sz="1100" dirty="0">
                <a:solidFill>
                  <a:srgbClr val="6B5A44"/>
                </a:solidFill>
                <a:latin typeface="Courier New" pitchFamily="34" charset="0"/>
                <a:ea typeface="Courier New" pitchFamily="34" charset="-122"/>
                <a:cs typeface="Courier New" pitchFamily="34" charset="-120"/>
              </a:rPr>
              <a:t>always on</a:t>
            </a:r>
            <a:endParaRPr lang="en-US" sz="1100" dirty="0"/>
          </a:p>
        </p:txBody>
      </p:sp>
      <p:sp>
        <p:nvSpPr>
          <p:cNvPr id="46" name="Shape 43"/>
          <p:cNvSpPr/>
          <p:nvPr/>
        </p:nvSpPr>
        <p:spPr>
          <a:xfrm>
            <a:off x="548640" y="5532120"/>
            <a:ext cx="54864" cy="457200"/>
          </a:xfrm>
          <a:prstGeom prst="rect">
            <a:avLst/>
          </a:prstGeom>
          <a:solidFill>
            <a:srgbClr val="A8864A"/>
          </a:solidFill>
          <a:ln/>
        </p:spPr>
      </p:sp>
      <p:sp>
        <p:nvSpPr>
          <p:cNvPr id="47" name="Text 44"/>
          <p:cNvSpPr/>
          <p:nvPr/>
        </p:nvSpPr>
        <p:spPr>
          <a:xfrm>
            <a:off x="777240" y="553212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Size the object cache first — it is free. Add valcache for restarts, memcached for fleets.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THE COST OF A READ</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18</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unit of caching is a segment — not an entity, not a row</a:t>
            </a:r>
            <a:endParaRPr lang="en-US" sz="2500" dirty="0"/>
          </a:p>
        </p:txBody>
      </p:sp>
      <p:sp>
        <p:nvSpPr>
          <p:cNvPr id="8" name="Text 5"/>
          <p:cNvSpPr/>
          <p:nvPr/>
        </p:nvSpPr>
        <p:spPr>
          <a:xfrm>
            <a:off x="548640" y="1280160"/>
            <a:ext cx="530352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You ask for one entity …</a:t>
            </a:r>
            <a:endParaRPr lang="en-US" sz="1400" dirty="0"/>
          </a:p>
        </p:txBody>
      </p:sp>
      <p:sp>
        <p:nvSpPr>
          <p:cNvPr id="9" name="Shape 6"/>
          <p:cNvSpPr/>
          <p:nvPr/>
        </p:nvSpPr>
        <p:spPr>
          <a:xfrm>
            <a:off x="548640" y="1645920"/>
            <a:ext cx="5303520" cy="548640"/>
          </a:xfrm>
          <a:prstGeom prst="roundRect">
            <a:avLst>
              <a:gd name="adj" fmla="val 13333"/>
            </a:avLst>
          </a:prstGeom>
          <a:solidFill>
            <a:srgbClr val="E6DFCE"/>
          </a:solidFill>
          <a:ln/>
        </p:spPr>
      </p:sp>
      <p:sp>
        <p:nvSpPr>
          <p:cNvPr id="10" name="Text 7"/>
          <p:cNvSpPr/>
          <p:nvPr/>
        </p:nvSpPr>
        <p:spPr>
          <a:xfrm>
            <a:off x="749808" y="1792224"/>
            <a:ext cx="4901184" cy="25603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(d/pull db '[*] some-e)</a:t>
            </a:r>
            <a:endParaRPr lang="en-US" sz="1250" dirty="0"/>
          </a:p>
        </p:txBody>
      </p:sp>
      <p:sp>
        <p:nvSpPr>
          <p:cNvPr id="11" name="Text 8"/>
          <p:cNvSpPr/>
          <p:nvPr/>
        </p:nvSpPr>
        <p:spPr>
          <a:xfrm>
            <a:off x="6309360" y="1280160"/>
            <a:ext cx="530352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 the peer fetches the segment it lives in.</a:t>
            </a:r>
            <a:endParaRPr lang="en-US" sz="1400" dirty="0"/>
          </a:p>
        </p:txBody>
      </p:sp>
      <p:sp>
        <p:nvSpPr>
          <p:cNvPr id="12" name="Shape 9"/>
          <p:cNvSpPr/>
          <p:nvPr/>
        </p:nvSpPr>
        <p:spPr>
          <a:xfrm>
            <a:off x="6309360" y="1645920"/>
            <a:ext cx="5303520" cy="777240"/>
          </a:xfrm>
          <a:prstGeom prst="roundRect">
            <a:avLst>
              <a:gd name="adj" fmla="val 9412"/>
            </a:avLst>
          </a:prstGeom>
          <a:solidFill>
            <a:srgbClr val="E6DFCE"/>
          </a:solidFill>
          <a:ln/>
        </p:spPr>
      </p:sp>
      <p:sp>
        <p:nvSpPr>
          <p:cNvPr id="13" name="Text 10"/>
          <p:cNvSpPr/>
          <p:nvPr/>
        </p:nvSpPr>
        <p:spPr>
          <a:xfrm>
            <a:off x="6510528" y="1792224"/>
            <a:ext cx="4901184" cy="48463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(count (seq (d/index-range db</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:reading/t 4240 4260)))   ;; =&gt; 20</a:t>
            </a:r>
            <a:endParaRPr lang="en-US" sz="1250" dirty="0"/>
          </a:p>
        </p:txBody>
      </p:sp>
      <p:sp>
        <p:nvSpPr>
          <p:cNvPr id="14" name="Text 11"/>
          <p:cNvSpPr/>
          <p:nvPr/>
        </p:nvSpPr>
        <p:spPr>
          <a:xfrm>
            <a:off x="548640" y="2743200"/>
            <a:ext cx="5486400" cy="274320"/>
          </a:xfrm>
          <a:prstGeom prst="rect">
            <a:avLst/>
          </a:prstGeom>
          <a:noFill/>
          <a:ln/>
        </p:spPr>
        <p:txBody>
          <a:bodyPr wrap="square" lIns="0" tIns="0" rIns="0" bIns="0" rtlCol="0" anchor="t"/>
          <a:lstStyle/>
          <a:p>
            <a:pPr indent="0" marL="0">
              <a:buNone/>
            </a:pPr>
            <a:r>
              <a:rPr lang="en-US" sz="1200" dirty="0">
                <a:solidFill>
                  <a:srgbClr val="9A8A72"/>
                </a:solidFill>
                <a:latin typeface="Helvetica Neue" pitchFamily="34" charset="0"/>
                <a:ea typeface="Helvetica Neue" pitchFamily="34" charset="-122"/>
                <a:cs typeface="Helvetica Neue" pitchFamily="34" charset="-120"/>
              </a:rPr>
              <a:t>AVET index, ordered by :reading/t</a:t>
            </a:r>
            <a:endParaRPr lang="en-US" sz="1200" dirty="0"/>
          </a:p>
        </p:txBody>
      </p:sp>
      <p:sp>
        <p:nvSpPr>
          <p:cNvPr id="15" name="Shape 12"/>
          <p:cNvSpPr/>
          <p:nvPr/>
        </p:nvSpPr>
        <p:spPr>
          <a:xfrm>
            <a:off x="548640" y="3063240"/>
            <a:ext cx="2029968" cy="1051560"/>
          </a:xfrm>
          <a:prstGeom prst="roundRect">
            <a:avLst>
              <a:gd name="adj" fmla="val 6957"/>
            </a:avLst>
          </a:prstGeom>
          <a:solidFill>
            <a:srgbClr val="E6DFCE"/>
          </a:solidFill>
          <a:ln/>
        </p:spPr>
      </p:sp>
      <p:sp>
        <p:nvSpPr>
          <p:cNvPr id="16" name="Text 13"/>
          <p:cNvSpPr/>
          <p:nvPr/>
        </p:nvSpPr>
        <p:spPr>
          <a:xfrm>
            <a:off x="548640" y="3127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segment 1</a:t>
            </a:r>
            <a:endParaRPr lang="en-US" sz="1100" dirty="0"/>
          </a:p>
        </p:txBody>
      </p:sp>
      <p:sp>
        <p:nvSpPr>
          <p:cNvPr id="17" name="Shape 14"/>
          <p:cNvSpPr/>
          <p:nvPr/>
        </p:nvSpPr>
        <p:spPr>
          <a:xfrm>
            <a:off x="713232" y="3520440"/>
            <a:ext cx="274320" cy="411480"/>
          </a:xfrm>
          <a:prstGeom prst="rect">
            <a:avLst/>
          </a:prstGeom>
          <a:solidFill>
            <a:srgbClr val="DFD6C0"/>
          </a:solidFill>
          <a:ln/>
        </p:spPr>
      </p:sp>
      <p:sp>
        <p:nvSpPr>
          <p:cNvPr id="18" name="Shape 15"/>
          <p:cNvSpPr/>
          <p:nvPr/>
        </p:nvSpPr>
        <p:spPr>
          <a:xfrm>
            <a:off x="1078992" y="3520440"/>
            <a:ext cx="274320" cy="411480"/>
          </a:xfrm>
          <a:prstGeom prst="rect">
            <a:avLst/>
          </a:prstGeom>
          <a:solidFill>
            <a:srgbClr val="DFD6C0"/>
          </a:solidFill>
          <a:ln/>
        </p:spPr>
      </p:sp>
      <p:sp>
        <p:nvSpPr>
          <p:cNvPr id="19" name="Shape 16"/>
          <p:cNvSpPr/>
          <p:nvPr/>
        </p:nvSpPr>
        <p:spPr>
          <a:xfrm>
            <a:off x="1444752" y="3520440"/>
            <a:ext cx="274320" cy="411480"/>
          </a:xfrm>
          <a:prstGeom prst="rect">
            <a:avLst/>
          </a:prstGeom>
          <a:solidFill>
            <a:srgbClr val="DFD6C0"/>
          </a:solidFill>
          <a:ln/>
        </p:spPr>
      </p:sp>
      <p:sp>
        <p:nvSpPr>
          <p:cNvPr id="20" name="Shape 17"/>
          <p:cNvSpPr/>
          <p:nvPr/>
        </p:nvSpPr>
        <p:spPr>
          <a:xfrm>
            <a:off x="1810512" y="3520440"/>
            <a:ext cx="274320" cy="411480"/>
          </a:xfrm>
          <a:prstGeom prst="rect">
            <a:avLst/>
          </a:prstGeom>
          <a:solidFill>
            <a:srgbClr val="DFD6C0"/>
          </a:solidFill>
          <a:ln/>
        </p:spPr>
      </p:sp>
      <p:sp>
        <p:nvSpPr>
          <p:cNvPr id="21" name="Shape 18"/>
          <p:cNvSpPr/>
          <p:nvPr/>
        </p:nvSpPr>
        <p:spPr>
          <a:xfrm>
            <a:off x="2176272" y="3520440"/>
            <a:ext cx="274320" cy="411480"/>
          </a:xfrm>
          <a:prstGeom prst="rect">
            <a:avLst/>
          </a:prstGeom>
          <a:solidFill>
            <a:srgbClr val="DFD6C0"/>
          </a:solidFill>
          <a:ln/>
        </p:spPr>
      </p:sp>
      <p:sp>
        <p:nvSpPr>
          <p:cNvPr id="22" name="Shape 19"/>
          <p:cNvSpPr/>
          <p:nvPr/>
        </p:nvSpPr>
        <p:spPr>
          <a:xfrm>
            <a:off x="2688336" y="3063240"/>
            <a:ext cx="2029968" cy="1051560"/>
          </a:xfrm>
          <a:prstGeom prst="roundRect">
            <a:avLst>
              <a:gd name="adj" fmla="val 6957"/>
            </a:avLst>
          </a:prstGeom>
          <a:solidFill>
            <a:srgbClr val="E6DFCE"/>
          </a:solidFill>
          <a:ln/>
        </p:spPr>
      </p:sp>
      <p:sp>
        <p:nvSpPr>
          <p:cNvPr id="23" name="Text 20"/>
          <p:cNvSpPr/>
          <p:nvPr/>
        </p:nvSpPr>
        <p:spPr>
          <a:xfrm>
            <a:off x="2688336" y="3127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segment 2</a:t>
            </a:r>
            <a:endParaRPr lang="en-US" sz="1100" dirty="0"/>
          </a:p>
        </p:txBody>
      </p:sp>
      <p:sp>
        <p:nvSpPr>
          <p:cNvPr id="24" name="Shape 21"/>
          <p:cNvSpPr/>
          <p:nvPr/>
        </p:nvSpPr>
        <p:spPr>
          <a:xfrm>
            <a:off x="2852928" y="3520440"/>
            <a:ext cx="274320" cy="411480"/>
          </a:xfrm>
          <a:prstGeom prst="rect">
            <a:avLst/>
          </a:prstGeom>
          <a:solidFill>
            <a:srgbClr val="DFD6C0"/>
          </a:solidFill>
          <a:ln/>
        </p:spPr>
      </p:sp>
      <p:sp>
        <p:nvSpPr>
          <p:cNvPr id="25" name="Shape 22"/>
          <p:cNvSpPr/>
          <p:nvPr/>
        </p:nvSpPr>
        <p:spPr>
          <a:xfrm>
            <a:off x="3218688" y="3520440"/>
            <a:ext cx="274320" cy="411480"/>
          </a:xfrm>
          <a:prstGeom prst="rect">
            <a:avLst/>
          </a:prstGeom>
          <a:solidFill>
            <a:srgbClr val="DFD6C0"/>
          </a:solidFill>
          <a:ln/>
        </p:spPr>
      </p:sp>
      <p:sp>
        <p:nvSpPr>
          <p:cNvPr id="26" name="Shape 23"/>
          <p:cNvSpPr/>
          <p:nvPr/>
        </p:nvSpPr>
        <p:spPr>
          <a:xfrm>
            <a:off x="3584448" y="3520440"/>
            <a:ext cx="274320" cy="411480"/>
          </a:xfrm>
          <a:prstGeom prst="rect">
            <a:avLst/>
          </a:prstGeom>
          <a:solidFill>
            <a:srgbClr val="DFD6C0"/>
          </a:solidFill>
          <a:ln/>
        </p:spPr>
      </p:sp>
      <p:sp>
        <p:nvSpPr>
          <p:cNvPr id="27" name="Shape 24"/>
          <p:cNvSpPr/>
          <p:nvPr/>
        </p:nvSpPr>
        <p:spPr>
          <a:xfrm>
            <a:off x="3950208" y="3520440"/>
            <a:ext cx="274320" cy="411480"/>
          </a:xfrm>
          <a:prstGeom prst="rect">
            <a:avLst/>
          </a:prstGeom>
          <a:solidFill>
            <a:srgbClr val="DFD6C0"/>
          </a:solidFill>
          <a:ln/>
        </p:spPr>
      </p:sp>
      <p:sp>
        <p:nvSpPr>
          <p:cNvPr id="28" name="Shape 25"/>
          <p:cNvSpPr/>
          <p:nvPr/>
        </p:nvSpPr>
        <p:spPr>
          <a:xfrm>
            <a:off x="4315968" y="3520440"/>
            <a:ext cx="274320" cy="411480"/>
          </a:xfrm>
          <a:prstGeom prst="rect">
            <a:avLst/>
          </a:prstGeom>
          <a:solidFill>
            <a:srgbClr val="DFD6C0"/>
          </a:solidFill>
          <a:ln/>
        </p:spPr>
      </p:sp>
      <p:sp>
        <p:nvSpPr>
          <p:cNvPr id="29" name="Shape 26"/>
          <p:cNvSpPr/>
          <p:nvPr/>
        </p:nvSpPr>
        <p:spPr>
          <a:xfrm>
            <a:off x="4828032" y="3063240"/>
            <a:ext cx="2029968" cy="1051560"/>
          </a:xfrm>
          <a:prstGeom prst="roundRect">
            <a:avLst>
              <a:gd name="adj" fmla="val 6957"/>
            </a:avLst>
          </a:prstGeom>
          <a:solidFill>
            <a:srgbClr val="C6A46A"/>
          </a:solidFill>
          <a:ln/>
        </p:spPr>
      </p:sp>
      <p:sp>
        <p:nvSpPr>
          <p:cNvPr id="30" name="Text 27"/>
          <p:cNvSpPr/>
          <p:nvPr/>
        </p:nvSpPr>
        <p:spPr>
          <a:xfrm>
            <a:off x="4828032" y="3127248"/>
            <a:ext cx="2029968" cy="274320"/>
          </a:xfrm>
          <a:prstGeom prst="rect">
            <a:avLst/>
          </a:prstGeom>
          <a:noFill/>
          <a:ln/>
        </p:spPr>
        <p:txBody>
          <a:bodyPr wrap="square" lIns="0" tIns="0" rIns="0" bIns="0" rtlCol="0" anchor="t"/>
          <a:lstStyle/>
          <a:p>
            <a:pPr algn="ctr" indent="0" marL="0">
              <a:buNone/>
            </a:pPr>
            <a:r>
              <a:rPr lang="en-US" sz="1100" dirty="0">
                <a:solidFill>
                  <a:srgbClr val="2C2416"/>
                </a:solidFill>
                <a:latin typeface="Helvetica Neue" pitchFamily="34" charset="0"/>
                <a:ea typeface="Helvetica Neue" pitchFamily="34" charset="-122"/>
                <a:cs typeface="Helvetica Neue" pitchFamily="34" charset="-120"/>
              </a:rPr>
              <a:t>segment 3</a:t>
            </a:r>
            <a:endParaRPr lang="en-US" sz="1100" dirty="0"/>
          </a:p>
        </p:txBody>
      </p:sp>
      <p:sp>
        <p:nvSpPr>
          <p:cNvPr id="31" name="Shape 28"/>
          <p:cNvSpPr/>
          <p:nvPr/>
        </p:nvSpPr>
        <p:spPr>
          <a:xfrm>
            <a:off x="4992624" y="3520440"/>
            <a:ext cx="274320" cy="411480"/>
          </a:xfrm>
          <a:prstGeom prst="rect">
            <a:avLst/>
          </a:prstGeom>
          <a:solidFill>
            <a:srgbClr val="2C2416"/>
          </a:solidFill>
          <a:ln/>
        </p:spPr>
      </p:sp>
      <p:sp>
        <p:nvSpPr>
          <p:cNvPr id="32" name="Shape 29"/>
          <p:cNvSpPr/>
          <p:nvPr/>
        </p:nvSpPr>
        <p:spPr>
          <a:xfrm>
            <a:off x="5358384" y="3520440"/>
            <a:ext cx="274320" cy="411480"/>
          </a:xfrm>
          <a:prstGeom prst="rect">
            <a:avLst/>
          </a:prstGeom>
          <a:solidFill>
            <a:srgbClr val="2C2416"/>
          </a:solidFill>
          <a:ln/>
        </p:spPr>
      </p:sp>
      <p:sp>
        <p:nvSpPr>
          <p:cNvPr id="33" name="Shape 30"/>
          <p:cNvSpPr/>
          <p:nvPr/>
        </p:nvSpPr>
        <p:spPr>
          <a:xfrm>
            <a:off x="5724144" y="3520440"/>
            <a:ext cx="274320" cy="411480"/>
          </a:xfrm>
          <a:prstGeom prst="rect">
            <a:avLst/>
          </a:prstGeom>
          <a:solidFill>
            <a:srgbClr val="2C2416"/>
          </a:solidFill>
          <a:ln/>
        </p:spPr>
      </p:sp>
      <p:sp>
        <p:nvSpPr>
          <p:cNvPr id="34" name="Shape 31"/>
          <p:cNvSpPr/>
          <p:nvPr/>
        </p:nvSpPr>
        <p:spPr>
          <a:xfrm>
            <a:off x="6089904" y="3520440"/>
            <a:ext cx="274320" cy="411480"/>
          </a:xfrm>
          <a:prstGeom prst="rect">
            <a:avLst/>
          </a:prstGeom>
          <a:solidFill>
            <a:srgbClr val="2C2416"/>
          </a:solidFill>
          <a:ln/>
        </p:spPr>
      </p:sp>
      <p:sp>
        <p:nvSpPr>
          <p:cNvPr id="35" name="Shape 32"/>
          <p:cNvSpPr/>
          <p:nvPr/>
        </p:nvSpPr>
        <p:spPr>
          <a:xfrm>
            <a:off x="6455664" y="3520440"/>
            <a:ext cx="274320" cy="411480"/>
          </a:xfrm>
          <a:prstGeom prst="rect">
            <a:avLst/>
          </a:prstGeom>
          <a:solidFill>
            <a:srgbClr val="2C2416"/>
          </a:solidFill>
          <a:ln/>
        </p:spPr>
      </p:sp>
      <p:sp>
        <p:nvSpPr>
          <p:cNvPr id="36" name="Shape 33"/>
          <p:cNvSpPr/>
          <p:nvPr/>
        </p:nvSpPr>
        <p:spPr>
          <a:xfrm>
            <a:off x="6967728" y="3063240"/>
            <a:ext cx="2029968" cy="1051560"/>
          </a:xfrm>
          <a:prstGeom prst="roundRect">
            <a:avLst>
              <a:gd name="adj" fmla="val 6957"/>
            </a:avLst>
          </a:prstGeom>
          <a:solidFill>
            <a:srgbClr val="E6DFCE"/>
          </a:solidFill>
          <a:ln/>
        </p:spPr>
      </p:sp>
      <p:sp>
        <p:nvSpPr>
          <p:cNvPr id="37" name="Text 34"/>
          <p:cNvSpPr/>
          <p:nvPr/>
        </p:nvSpPr>
        <p:spPr>
          <a:xfrm>
            <a:off x="6967728" y="3127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segment 4</a:t>
            </a:r>
            <a:endParaRPr lang="en-US" sz="1100" dirty="0"/>
          </a:p>
        </p:txBody>
      </p:sp>
      <p:sp>
        <p:nvSpPr>
          <p:cNvPr id="38" name="Shape 35"/>
          <p:cNvSpPr/>
          <p:nvPr/>
        </p:nvSpPr>
        <p:spPr>
          <a:xfrm>
            <a:off x="7132320" y="3520440"/>
            <a:ext cx="274320" cy="411480"/>
          </a:xfrm>
          <a:prstGeom prst="rect">
            <a:avLst/>
          </a:prstGeom>
          <a:solidFill>
            <a:srgbClr val="DFD6C0"/>
          </a:solidFill>
          <a:ln/>
        </p:spPr>
      </p:sp>
      <p:sp>
        <p:nvSpPr>
          <p:cNvPr id="39" name="Shape 36"/>
          <p:cNvSpPr/>
          <p:nvPr/>
        </p:nvSpPr>
        <p:spPr>
          <a:xfrm>
            <a:off x="7498080" y="3520440"/>
            <a:ext cx="274320" cy="411480"/>
          </a:xfrm>
          <a:prstGeom prst="rect">
            <a:avLst/>
          </a:prstGeom>
          <a:solidFill>
            <a:srgbClr val="DFD6C0"/>
          </a:solidFill>
          <a:ln/>
        </p:spPr>
      </p:sp>
      <p:sp>
        <p:nvSpPr>
          <p:cNvPr id="40" name="Shape 37"/>
          <p:cNvSpPr/>
          <p:nvPr/>
        </p:nvSpPr>
        <p:spPr>
          <a:xfrm>
            <a:off x="7863840" y="3520440"/>
            <a:ext cx="274320" cy="411480"/>
          </a:xfrm>
          <a:prstGeom prst="rect">
            <a:avLst/>
          </a:prstGeom>
          <a:solidFill>
            <a:srgbClr val="DFD6C0"/>
          </a:solidFill>
          <a:ln/>
        </p:spPr>
      </p:sp>
      <p:sp>
        <p:nvSpPr>
          <p:cNvPr id="41" name="Shape 38"/>
          <p:cNvSpPr/>
          <p:nvPr/>
        </p:nvSpPr>
        <p:spPr>
          <a:xfrm>
            <a:off x="8229600" y="3520440"/>
            <a:ext cx="274320" cy="411480"/>
          </a:xfrm>
          <a:prstGeom prst="rect">
            <a:avLst/>
          </a:prstGeom>
          <a:solidFill>
            <a:srgbClr val="DFD6C0"/>
          </a:solidFill>
          <a:ln/>
        </p:spPr>
      </p:sp>
      <p:sp>
        <p:nvSpPr>
          <p:cNvPr id="42" name="Shape 39"/>
          <p:cNvSpPr/>
          <p:nvPr/>
        </p:nvSpPr>
        <p:spPr>
          <a:xfrm>
            <a:off x="8595360" y="3520440"/>
            <a:ext cx="274320" cy="411480"/>
          </a:xfrm>
          <a:prstGeom prst="rect">
            <a:avLst/>
          </a:prstGeom>
          <a:solidFill>
            <a:srgbClr val="DFD6C0"/>
          </a:solidFill>
          <a:ln/>
        </p:spPr>
      </p:sp>
      <p:sp>
        <p:nvSpPr>
          <p:cNvPr id="43" name="Shape 40"/>
          <p:cNvSpPr/>
          <p:nvPr/>
        </p:nvSpPr>
        <p:spPr>
          <a:xfrm>
            <a:off x="9107424" y="3063240"/>
            <a:ext cx="2029968" cy="1051560"/>
          </a:xfrm>
          <a:prstGeom prst="roundRect">
            <a:avLst>
              <a:gd name="adj" fmla="val 6957"/>
            </a:avLst>
          </a:prstGeom>
          <a:solidFill>
            <a:srgbClr val="E6DFCE"/>
          </a:solidFill>
          <a:ln/>
        </p:spPr>
      </p:sp>
      <p:sp>
        <p:nvSpPr>
          <p:cNvPr id="44" name="Text 41"/>
          <p:cNvSpPr/>
          <p:nvPr/>
        </p:nvSpPr>
        <p:spPr>
          <a:xfrm>
            <a:off x="9107424" y="3127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segment 5</a:t>
            </a:r>
            <a:endParaRPr lang="en-US" sz="1100" dirty="0"/>
          </a:p>
        </p:txBody>
      </p:sp>
      <p:sp>
        <p:nvSpPr>
          <p:cNvPr id="45" name="Shape 42"/>
          <p:cNvSpPr/>
          <p:nvPr/>
        </p:nvSpPr>
        <p:spPr>
          <a:xfrm>
            <a:off x="9272016" y="3520440"/>
            <a:ext cx="274320" cy="411480"/>
          </a:xfrm>
          <a:prstGeom prst="rect">
            <a:avLst/>
          </a:prstGeom>
          <a:solidFill>
            <a:srgbClr val="DFD6C0"/>
          </a:solidFill>
          <a:ln/>
        </p:spPr>
      </p:sp>
      <p:sp>
        <p:nvSpPr>
          <p:cNvPr id="46" name="Shape 43"/>
          <p:cNvSpPr/>
          <p:nvPr/>
        </p:nvSpPr>
        <p:spPr>
          <a:xfrm>
            <a:off x="9637776" y="3520440"/>
            <a:ext cx="274320" cy="411480"/>
          </a:xfrm>
          <a:prstGeom prst="rect">
            <a:avLst/>
          </a:prstGeom>
          <a:solidFill>
            <a:srgbClr val="DFD6C0"/>
          </a:solidFill>
          <a:ln/>
        </p:spPr>
      </p:sp>
      <p:sp>
        <p:nvSpPr>
          <p:cNvPr id="47" name="Shape 44"/>
          <p:cNvSpPr/>
          <p:nvPr/>
        </p:nvSpPr>
        <p:spPr>
          <a:xfrm>
            <a:off x="10003536" y="3520440"/>
            <a:ext cx="274320" cy="411480"/>
          </a:xfrm>
          <a:prstGeom prst="rect">
            <a:avLst/>
          </a:prstGeom>
          <a:solidFill>
            <a:srgbClr val="DFD6C0"/>
          </a:solidFill>
          <a:ln/>
        </p:spPr>
      </p:sp>
      <p:sp>
        <p:nvSpPr>
          <p:cNvPr id="48" name="Shape 45"/>
          <p:cNvSpPr/>
          <p:nvPr/>
        </p:nvSpPr>
        <p:spPr>
          <a:xfrm>
            <a:off x="10369296" y="3520440"/>
            <a:ext cx="274320" cy="411480"/>
          </a:xfrm>
          <a:prstGeom prst="rect">
            <a:avLst/>
          </a:prstGeom>
          <a:solidFill>
            <a:srgbClr val="DFD6C0"/>
          </a:solidFill>
          <a:ln/>
        </p:spPr>
      </p:sp>
      <p:sp>
        <p:nvSpPr>
          <p:cNvPr id="49" name="Shape 46"/>
          <p:cNvSpPr/>
          <p:nvPr/>
        </p:nvSpPr>
        <p:spPr>
          <a:xfrm>
            <a:off x="10735056" y="3520440"/>
            <a:ext cx="274320" cy="411480"/>
          </a:xfrm>
          <a:prstGeom prst="rect">
            <a:avLst/>
          </a:prstGeom>
          <a:solidFill>
            <a:srgbClr val="DFD6C0"/>
          </a:solidFill>
          <a:ln/>
        </p:spPr>
      </p:sp>
      <p:sp>
        <p:nvSpPr>
          <p:cNvPr id="50" name="Shape 47"/>
          <p:cNvSpPr/>
          <p:nvPr/>
        </p:nvSpPr>
        <p:spPr>
          <a:xfrm>
            <a:off x="2834640" y="2331720"/>
            <a:ext cx="0" cy="685800"/>
          </a:xfrm>
          <a:prstGeom prst="line">
            <a:avLst/>
          </a:prstGeom>
          <a:noFill/>
          <a:ln w="19050">
            <a:solidFill>
              <a:srgbClr val="A8864A"/>
            </a:solidFill>
            <a:prstDash val="solid"/>
            <a:headEnd type="none"/>
            <a:tailEnd type="triangle"/>
          </a:ln>
        </p:spPr>
      </p:sp>
      <p:sp>
        <p:nvSpPr>
          <p:cNvPr id="51" name="Text 48"/>
          <p:cNvSpPr/>
          <p:nvPr/>
        </p:nvSpPr>
        <p:spPr>
          <a:xfrm>
            <a:off x="274320" y="2528316"/>
            <a:ext cx="2377440" cy="292608"/>
          </a:xfrm>
          <a:prstGeom prst="rect">
            <a:avLst/>
          </a:prstGeom>
          <a:noFill/>
          <a:ln/>
        </p:spPr>
        <p:txBody>
          <a:bodyPr wrap="square" lIns="0" tIns="0" rIns="0" bIns="0" rtlCol="0" anchor="ctr">
            <a:normAutofit/>
          </a:bodyPr>
          <a:lstStyle/>
          <a:p>
            <a:pPr algn="ctr" indent="0" marL="0">
              <a:buNone/>
            </a:pPr>
            <a:r>
              <a:rPr lang="en-US" sz="1000" dirty="0">
                <a:solidFill>
                  <a:srgbClr val="9A8A72"/>
                </a:solidFill>
                <a:latin typeface="Helvetica Neue" pitchFamily="34" charset="0"/>
                <a:ea typeface="Helvetica Neue" pitchFamily="34" charset="-122"/>
                <a:cs typeface="Helvetica Neue" pitchFamily="34" charset="-120"/>
              </a:rPr>
              <a:t>asked for one datom</a:t>
            </a:r>
            <a:endParaRPr lang="en-US" sz="1000" dirty="0"/>
          </a:p>
        </p:txBody>
      </p:sp>
      <p:sp>
        <p:nvSpPr>
          <p:cNvPr id="52" name="Shape 49"/>
          <p:cNvSpPr/>
          <p:nvPr/>
        </p:nvSpPr>
        <p:spPr>
          <a:xfrm>
            <a:off x="4828032" y="4206240"/>
            <a:ext cx="2029968" cy="91440"/>
          </a:xfrm>
          <a:prstGeom prst="rect">
            <a:avLst/>
          </a:prstGeom>
          <a:solidFill>
            <a:srgbClr val="A8864A"/>
          </a:solidFill>
          <a:ln/>
        </p:spPr>
      </p:sp>
      <p:sp>
        <p:nvSpPr>
          <p:cNvPr id="53" name="Text 50"/>
          <p:cNvSpPr/>
          <p:nvPr/>
        </p:nvSpPr>
        <p:spPr>
          <a:xfrm>
            <a:off x="3931920" y="4343400"/>
            <a:ext cx="5486400" cy="320040"/>
          </a:xfrm>
          <a:prstGeom prst="rect">
            <a:avLst/>
          </a:prstGeom>
          <a:noFill/>
          <a:ln/>
        </p:spPr>
        <p:txBody>
          <a:bodyPr wrap="square" lIns="0" tIns="0" rIns="0" bIns="0" rtlCol="0" anchor="t"/>
          <a:lstStyle/>
          <a:p>
            <a:pPr algn="ctr" indent="0" marL="0">
              <a:buNone/>
            </a:pPr>
            <a:r>
              <a:rPr lang="en-US" sz="1300" b="1" dirty="0">
                <a:solidFill>
                  <a:srgbClr val="A8864A"/>
                </a:solidFill>
                <a:latin typeface="Helvetica Neue" pitchFamily="34" charset="0"/>
                <a:ea typeface="Helvetica Neue" pitchFamily="34" charset="-122"/>
                <a:cs typeface="Helvetica Neue" pitchFamily="34" charset="-120"/>
              </a:rPr>
              <a:t>one segment loaded — 20 neighbours came along free</a:t>
            </a:r>
            <a:endParaRPr lang="en-US" sz="1300" dirty="0"/>
          </a:p>
        </p:txBody>
      </p:sp>
      <p:sp>
        <p:nvSpPr>
          <p:cNvPr id="54" name="Shape 51"/>
          <p:cNvSpPr/>
          <p:nvPr/>
        </p:nvSpPr>
        <p:spPr>
          <a:xfrm>
            <a:off x="548640" y="4800600"/>
            <a:ext cx="54864" cy="457200"/>
          </a:xfrm>
          <a:prstGeom prst="rect">
            <a:avLst/>
          </a:prstGeom>
          <a:solidFill>
            <a:srgbClr val="A8864A"/>
          </a:solidFill>
          <a:ln/>
        </p:spPr>
      </p:sp>
      <p:sp>
        <p:nvSpPr>
          <p:cNvPr id="55" name="Text 52"/>
          <p:cNvSpPr/>
          <p:nvPr/>
        </p:nvSpPr>
        <p:spPr>
          <a:xfrm>
            <a:off x="777240" y="48006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Working sets are measured in segments. Size caches for the segments a workload touches, not the entities it names.</a:t>
            </a:r>
            <a:endParaRPr lang="en-US" sz="1450" dirty="0"/>
          </a:p>
        </p:txBody>
      </p:sp>
      <p:sp>
        <p:nvSpPr>
          <p:cNvPr id="56" name="Shape 53"/>
          <p:cNvSpPr/>
          <p:nvPr/>
        </p:nvSpPr>
        <p:spPr>
          <a:xfrm>
            <a:off x="548640" y="5440680"/>
            <a:ext cx="11064240" cy="1097280"/>
          </a:xfrm>
          <a:prstGeom prst="roundRect">
            <a:avLst>
              <a:gd name="adj" fmla="val 6667"/>
            </a:avLst>
          </a:prstGeom>
          <a:solidFill>
            <a:srgbClr val="DFD6C0"/>
          </a:solidFill>
          <a:ln/>
        </p:spPr>
      </p:sp>
      <p:sp>
        <p:nvSpPr>
          <p:cNvPr id="57" name="Shape 54"/>
          <p:cNvSpPr/>
          <p:nvPr/>
        </p:nvSpPr>
        <p:spPr>
          <a:xfrm>
            <a:off x="548640" y="5440680"/>
            <a:ext cx="82296" cy="1097280"/>
          </a:xfrm>
          <a:prstGeom prst="rect">
            <a:avLst/>
          </a:prstGeom>
          <a:solidFill>
            <a:srgbClr val="A8864A"/>
          </a:solidFill>
          <a:ln/>
        </p:spPr>
      </p:sp>
      <p:sp>
        <p:nvSpPr>
          <p:cNvPr id="58" name="Text 55"/>
          <p:cNvSpPr/>
          <p:nvPr/>
        </p:nvSpPr>
        <p:spPr>
          <a:xfrm>
            <a:off x="822960" y="555040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§3</a:t>
            </a:r>
            <a:endParaRPr lang="en-US" sz="1300" dirty="0"/>
          </a:p>
        </p:txBody>
      </p:sp>
      <p:sp>
        <p:nvSpPr>
          <p:cNvPr id="59" name="Shape 56"/>
          <p:cNvSpPr/>
          <p:nvPr/>
        </p:nvSpPr>
        <p:spPr>
          <a:xfrm>
            <a:off x="10561320" y="5550408"/>
            <a:ext cx="777240" cy="292608"/>
          </a:xfrm>
          <a:prstGeom prst="roundRect">
            <a:avLst>
              <a:gd name="adj" fmla="val 25000"/>
            </a:avLst>
          </a:prstGeom>
          <a:solidFill>
            <a:srgbClr val="DDE3CC"/>
          </a:solidFill>
          <a:ln/>
        </p:spPr>
      </p:sp>
      <p:sp>
        <p:nvSpPr>
          <p:cNvPr id="60" name="Text 57"/>
          <p:cNvSpPr/>
          <p:nvPr/>
        </p:nvSpPr>
        <p:spPr>
          <a:xfrm>
            <a:off x="10561320" y="5550408"/>
            <a:ext cx="777240" cy="292608"/>
          </a:xfrm>
          <a:prstGeom prst="rect">
            <a:avLst/>
          </a:prstGeom>
          <a:noFill/>
          <a:ln/>
        </p:spPr>
        <p:txBody>
          <a:bodyPr wrap="square" lIns="0" tIns="0" rIns="0" bIns="0" rtlCol="0" anchor="ctr"/>
          <a:lstStyle/>
          <a:p>
            <a:pPr algn="ctr" indent="0" marL="0">
              <a:buNone/>
            </a:pPr>
            <a:r>
              <a:rPr lang="en-US" sz="1100" b="1" dirty="0">
                <a:solidFill>
                  <a:srgbClr val="5F7A3A"/>
                </a:solidFill>
                <a:latin typeface="Helvetica Neue" pitchFamily="34" charset="0"/>
                <a:ea typeface="Helvetica Neue" pitchFamily="34" charset="-122"/>
                <a:cs typeface="Helvetica Neue" pitchFamily="34" charset="-120"/>
              </a:rPr>
              <a:t>[MEM]</a:t>
            </a:r>
            <a:endParaRPr lang="en-US" sz="1100" dirty="0"/>
          </a:p>
        </p:txBody>
      </p:sp>
      <p:sp>
        <p:nvSpPr>
          <p:cNvPr id="61" name="Text 58"/>
          <p:cNvSpPr/>
          <p:nvPr/>
        </p:nvSpPr>
        <p:spPr>
          <a:xfrm>
            <a:off x="822960" y="5897880"/>
            <a:ext cx="10515600" cy="53035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The segment demo needs no infrastructure — segmentation is a property of the index, not of the cache.</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Run it before adding any tier — a scattered access pattern is not fixed by a cache tier.</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THE COST OF A READ</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19</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cold-peer thundering herd, right after a deploy</a:t>
            </a:r>
            <a:endParaRPr lang="en-US" sz="2500" dirty="0"/>
          </a:p>
        </p:txBody>
      </p:sp>
      <p:sp>
        <p:nvSpPr>
          <p:cNvPr id="8" name="Text 5"/>
          <p:cNvSpPr/>
          <p:nvPr/>
        </p:nvSpPr>
        <p:spPr>
          <a:xfrm>
            <a:off x="1097280" y="1325880"/>
            <a:ext cx="4572000" cy="320040"/>
          </a:xfrm>
          <a:prstGeom prst="rect">
            <a:avLst/>
          </a:prstGeom>
          <a:noFill/>
          <a:ln/>
        </p:spPr>
        <p:txBody>
          <a:bodyPr wrap="square" lIns="0" tIns="0" rIns="0" bIns="0" rtlCol="0" anchor="t"/>
          <a:lstStyle/>
          <a:p>
            <a:pPr indent="0" marL="0">
              <a:buNone/>
            </a:pPr>
            <a:r>
              <a:rPr lang="en-US" sz="1300" b="1" spc="100" kern="0" dirty="0">
                <a:solidFill>
                  <a:srgbClr val="5F7A3A"/>
                </a:solidFill>
                <a:latin typeface="Helvetica Neue" pitchFamily="34" charset="0"/>
                <a:ea typeface="Helvetica Neue" pitchFamily="34" charset="-122"/>
                <a:cs typeface="Helvetica Neue" pitchFamily="34" charset="-120"/>
              </a:rPr>
              <a:t>BEFORE DEPLOY</a:t>
            </a:r>
            <a:endParaRPr lang="en-US" sz="1300" dirty="0"/>
          </a:p>
        </p:txBody>
      </p:sp>
      <p:sp>
        <p:nvSpPr>
          <p:cNvPr id="9" name="Text 6"/>
          <p:cNvSpPr/>
          <p:nvPr/>
        </p:nvSpPr>
        <p:spPr>
          <a:xfrm>
            <a:off x="1097280" y="1737360"/>
            <a:ext cx="1371600" cy="50292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blks_hit</a:t>
            </a:r>
            <a:endParaRPr lang="en-US" sz="1250" dirty="0"/>
          </a:p>
        </p:txBody>
      </p:sp>
      <p:sp>
        <p:nvSpPr>
          <p:cNvPr id="10" name="Shape 7"/>
          <p:cNvSpPr/>
          <p:nvPr/>
        </p:nvSpPr>
        <p:spPr>
          <a:xfrm>
            <a:off x="2651760" y="1792224"/>
            <a:ext cx="1554480" cy="393192"/>
          </a:xfrm>
          <a:prstGeom prst="rect">
            <a:avLst/>
          </a:prstGeom>
          <a:solidFill>
            <a:srgbClr val="E6DFCE"/>
          </a:solidFill>
          <a:ln/>
        </p:spPr>
      </p:sp>
      <p:sp>
        <p:nvSpPr>
          <p:cNvPr id="11" name="Shape 8"/>
          <p:cNvSpPr/>
          <p:nvPr/>
        </p:nvSpPr>
        <p:spPr>
          <a:xfrm>
            <a:off x="2651760" y="1792224"/>
            <a:ext cx="1554480" cy="393192"/>
          </a:xfrm>
          <a:prstGeom prst="rect">
            <a:avLst/>
          </a:prstGeom>
          <a:solidFill>
            <a:srgbClr val="5F7A3A"/>
          </a:solidFill>
          <a:ln/>
        </p:spPr>
      </p:sp>
      <p:sp>
        <p:nvSpPr>
          <p:cNvPr id="12" name="Text 9"/>
          <p:cNvSpPr/>
          <p:nvPr/>
        </p:nvSpPr>
        <p:spPr>
          <a:xfrm>
            <a:off x="4297680" y="1737360"/>
            <a:ext cx="1371600" cy="50292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warm</a:t>
            </a:r>
            <a:endParaRPr lang="en-US" sz="1250" dirty="0"/>
          </a:p>
        </p:txBody>
      </p:sp>
      <p:sp>
        <p:nvSpPr>
          <p:cNvPr id="13" name="Text 10"/>
          <p:cNvSpPr/>
          <p:nvPr/>
        </p:nvSpPr>
        <p:spPr>
          <a:xfrm>
            <a:off x="1097280" y="2404872"/>
            <a:ext cx="1371600" cy="50292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blks_read</a:t>
            </a:r>
            <a:endParaRPr lang="en-US" sz="1250" dirty="0"/>
          </a:p>
        </p:txBody>
      </p:sp>
      <p:sp>
        <p:nvSpPr>
          <p:cNvPr id="14" name="Shape 11"/>
          <p:cNvSpPr/>
          <p:nvPr/>
        </p:nvSpPr>
        <p:spPr>
          <a:xfrm>
            <a:off x="2651760" y="2459736"/>
            <a:ext cx="1554480" cy="393192"/>
          </a:xfrm>
          <a:prstGeom prst="rect">
            <a:avLst/>
          </a:prstGeom>
          <a:solidFill>
            <a:srgbClr val="E6DFCE"/>
          </a:solidFill>
          <a:ln/>
        </p:spPr>
      </p:sp>
      <p:sp>
        <p:nvSpPr>
          <p:cNvPr id="15" name="Shape 12"/>
          <p:cNvSpPr/>
          <p:nvPr/>
        </p:nvSpPr>
        <p:spPr>
          <a:xfrm>
            <a:off x="2651760" y="2459736"/>
            <a:ext cx="172720" cy="393192"/>
          </a:xfrm>
          <a:prstGeom prst="rect">
            <a:avLst/>
          </a:prstGeom>
          <a:solidFill>
            <a:srgbClr val="DFD6C0"/>
          </a:solidFill>
          <a:ln/>
        </p:spPr>
      </p:sp>
      <p:sp>
        <p:nvSpPr>
          <p:cNvPr id="16" name="Text 13"/>
          <p:cNvSpPr/>
          <p:nvPr/>
        </p:nvSpPr>
        <p:spPr>
          <a:xfrm>
            <a:off x="4297680" y="2404872"/>
            <a:ext cx="1371600" cy="50292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few</a:t>
            </a:r>
            <a:endParaRPr lang="en-US" sz="1250" dirty="0"/>
          </a:p>
        </p:txBody>
      </p:sp>
      <p:sp>
        <p:nvSpPr>
          <p:cNvPr id="17" name="Text 14"/>
          <p:cNvSpPr/>
          <p:nvPr/>
        </p:nvSpPr>
        <p:spPr>
          <a:xfrm>
            <a:off x="6583680" y="1325880"/>
            <a:ext cx="4572000" cy="320040"/>
          </a:xfrm>
          <a:prstGeom prst="rect">
            <a:avLst/>
          </a:prstGeom>
          <a:noFill/>
          <a:ln/>
        </p:spPr>
        <p:txBody>
          <a:bodyPr wrap="square" lIns="0" tIns="0" rIns="0" bIns="0" rtlCol="0" anchor="t"/>
          <a:lstStyle/>
          <a:p>
            <a:pPr indent="0" marL="0">
              <a:buNone/>
            </a:pPr>
            <a:r>
              <a:rPr lang="en-US" sz="1300" b="1" spc="100" kern="0" dirty="0">
                <a:solidFill>
                  <a:srgbClr val="9E4227"/>
                </a:solidFill>
                <a:latin typeface="Helvetica Neue" pitchFamily="34" charset="0"/>
                <a:ea typeface="Helvetica Neue" pitchFamily="34" charset="-122"/>
                <a:cs typeface="Helvetica Neue" pitchFamily="34" charset="-120"/>
              </a:rPr>
              <a:t>AFTER DEPLOY</a:t>
            </a:r>
            <a:endParaRPr lang="en-US" sz="1300" dirty="0"/>
          </a:p>
        </p:txBody>
      </p:sp>
      <p:sp>
        <p:nvSpPr>
          <p:cNvPr id="18" name="Text 15"/>
          <p:cNvSpPr/>
          <p:nvPr/>
        </p:nvSpPr>
        <p:spPr>
          <a:xfrm>
            <a:off x="6583680" y="1737360"/>
            <a:ext cx="1371600" cy="50292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blks_hit</a:t>
            </a:r>
            <a:endParaRPr lang="en-US" sz="1250" dirty="0"/>
          </a:p>
        </p:txBody>
      </p:sp>
      <p:sp>
        <p:nvSpPr>
          <p:cNvPr id="19" name="Shape 16"/>
          <p:cNvSpPr/>
          <p:nvPr/>
        </p:nvSpPr>
        <p:spPr>
          <a:xfrm>
            <a:off x="8138160" y="1792224"/>
            <a:ext cx="1554480" cy="393192"/>
          </a:xfrm>
          <a:prstGeom prst="rect">
            <a:avLst/>
          </a:prstGeom>
          <a:solidFill>
            <a:srgbClr val="E6DFCE"/>
          </a:solidFill>
          <a:ln/>
        </p:spPr>
      </p:sp>
      <p:sp>
        <p:nvSpPr>
          <p:cNvPr id="20" name="Shape 17"/>
          <p:cNvSpPr/>
          <p:nvPr/>
        </p:nvSpPr>
        <p:spPr>
          <a:xfrm>
            <a:off x="8138160" y="1792224"/>
            <a:ext cx="186538" cy="393192"/>
          </a:xfrm>
          <a:prstGeom prst="rect">
            <a:avLst/>
          </a:prstGeom>
          <a:solidFill>
            <a:srgbClr val="DFD6C0"/>
          </a:solidFill>
          <a:ln/>
        </p:spPr>
      </p:sp>
      <p:sp>
        <p:nvSpPr>
          <p:cNvPr id="21" name="Text 18"/>
          <p:cNvSpPr/>
          <p:nvPr/>
        </p:nvSpPr>
        <p:spPr>
          <a:xfrm>
            <a:off x="9784080" y="1737360"/>
            <a:ext cx="1371600" cy="50292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cold</a:t>
            </a:r>
            <a:endParaRPr lang="en-US" sz="1250" dirty="0"/>
          </a:p>
        </p:txBody>
      </p:sp>
      <p:sp>
        <p:nvSpPr>
          <p:cNvPr id="22" name="Text 19"/>
          <p:cNvSpPr/>
          <p:nvPr/>
        </p:nvSpPr>
        <p:spPr>
          <a:xfrm>
            <a:off x="6583680" y="2404872"/>
            <a:ext cx="1371600" cy="50292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blks_read</a:t>
            </a:r>
            <a:endParaRPr lang="en-US" sz="1250" dirty="0"/>
          </a:p>
        </p:txBody>
      </p:sp>
      <p:sp>
        <p:nvSpPr>
          <p:cNvPr id="23" name="Shape 20"/>
          <p:cNvSpPr/>
          <p:nvPr/>
        </p:nvSpPr>
        <p:spPr>
          <a:xfrm>
            <a:off x="8138160" y="2459736"/>
            <a:ext cx="1554480" cy="393192"/>
          </a:xfrm>
          <a:prstGeom prst="rect">
            <a:avLst/>
          </a:prstGeom>
          <a:solidFill>
            <a:srgbClr val="E6DFCE"/>
          </a:solidFill>
          <a:ln/>
        </p:spPr>
      </p:sp>
      <p:sp>
        <p:nvSpPr>
          <p:cNvPr id="24" name="Shape 21"/>
          <p:cNvSpPr/>
          <p:nvPr/>
        </p:nvSpPr>
        <p:spPr>
          <a:xfrm>
            <a:off x="8138160" y="2459736"/>
            <a:ext cx="1554480" cy="393192"/>
          </a:xfrm>
          <a:prstGeom prst="rect">
            <a:avLst/>
          </a:prstGeom>
          <a:solidFill>
            <a:srgbClr val="9E4227"/>
          </a:solidFill>
          <a:ln/>
        </p:spPr>
      </p:sp>
      <p:sp>
        <p:nvSpPr>
          <p:cNvPr id="25" name="Text 22"/>
          <p:cNvSpPr/>
          <p:nvPr/>
        </p:nvSpPr>
        <p:spPr>
          <a:xfrm>
            <a:off x="9784080" y="2404872"/>
            <a:ext cx="1371600" cy="50292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spike</a:t>
            </a:r>
            <a:endParaRPr lang="en-US" sz="1250" dirty="0"/>
          </a:p>
        </p:txBody>
      </p:sp>
      <p:sp>
        <p:nvSpPr>
          <p:cNvPr id="26" name="Shape 23"/>
          <p:cNvSpPr/>
          <p:nvPr/>
        </p:nvSpPr>
        <p:spPr>
          <a:xfrm>
            <a:off x="5760720" y="1920240"/>
            <a:ext cx="685800" cy="640080"/>
          </a:xfrm>
          <a:prstGeom prst="rightArrow">
            <a:avLst/>
          </a:prstGeom>
          <a:solidFill>
            <a:srgbClr val="C9BDA4"/>
          </a:solidFill>
          <a:ln/>
        </p:spPr>
      </p:sp>
      <p:sp>
        <p:nvSpPr>
          <p:cNvPr id="27" name="Text 24"/>
          <p:cNvSpPr/>
          <p:nvPr/>
        </p:nvSpPr>
        <p:spPr>
          <a:xfrm>
            <a:off x="548640" y="2880360"/>
            <a:ext cx="11064240" cy="320040"/>
          </a:xfrm>
          <a:prstGeom prst="rect">
            <a:avLst/>
          </a:prstGeom>
          <a:noFill/>
          <a:ln/>
        </p:spPr>
        <p:txBody>
          <a:bodyPr wrap="square" lIns="0" tIns="0" rIns="0" bIns="0" rtlCol="0" anchor="t"/>
          <a:lstStyle/>
          <a:p>
            <a:pPr algn="ctr" indent="0" marL="0">
              <a:buNone/>
            </a:pPr>
            <a:r>
              <a:rPr lang="en-US" sz="1350" i="1" dirty="0">
                <a:solidFill>
                  <a:srgbClr val="3A2C1A"/>
                </a:solidFill>
                <a:latin typeface="Helvetica Neue" pitchFamily="34" charset="0"/>
                <a:ea typeface="Helvetica Neue" pitchFamily="34" charset="-122"/>
                <a:cs typeface="Helvetica Neue" pitchFamily="34" charset="-120"/>
              </a:rPr>
              <a:t>every peer, cold, simultaneously — nothing is broken, and p99 triples</a:t>
            </a:r>
            <a:endParaRPr lang="en-US" sz="1350" dirty="0"/>
          </a:p>
        </p:txBody>
      </p:sp>
      <p:sp>
        <p:nvSpPr>
          <p:cNvPr id="28" name="Shape 25"/>
          <p:cNvSpPr/>
          <p:nvPr/>
        </p:nvSpPr>
        <p:spPr>
          <a:xfrm>
            <a:off x="548640" y="3337560"/>
            <a:ext cx="3538728" cy="1417320"/>
          </a:xfrm>
          <a:prstGeom prst="roundRect">
            <a:avLst>
              <a:gd name="adj" fmla="val 5161"/>
            </a:avLst>
          </a:prstGeom>
          <a:solidFill>
            <a:srgbClr val="D3DEE1"/>
          </a:solidFill>
          <a:ln/>
        </p:spPr>
      </p:sp>
      <p:sp>
        <p:nvSpPr>
          <p:cNvPr id="29" name="Text 26"/>
          <p:cNvSpPr/>
          <p:nvPr/>
        </p:nvSpPr>
        <p:spPr>
          <a:xfrm>
            <a:off x="731520" y="3456432"/>
            <a:ext cx="365760" cy="320040"/>
          </a:xfrm>
          <a:prstGeom prst="rect">
            <a:avLst/>
          </a:prstGeom>
          <a:noFill/>
          <a:ln/>
        </p:spPr>
        <p:txBody>
          <a:bodyPr wrap="square" lIns="0" tIns="0" rIns="0" bIns="0" rtlCol="0" anchor="t"/>
          <a:lstStyle/>
          <a:p>
            <a:pPr indent="0" marL="0">
              <a:buNone/>
            </a:pPr>
            <a:r>
              <a:rPr lang="en-US" sz="1700" b="1" dirty="0">
                <a:solidFill>
                  <a:srgbClr val="3F6470"/>
                </a:solidFill>
                <a:latin typeface="Georgia" pitchFamily="34" charset="0"/>
                <a:ea typeface="Georgia" pitchFamily="34" charset="-122"/>
                <a:cs typeface="Georgia" pitchFamily="34" charset="-120"/>
              </a:rPr>
              <a:t>1</a:t>
            </a:r>
            <a:endParaRPr lang="en-US" sz="1700" dirty="0"/>
          </a:p>
        </p:txBody>
      </p:sp>
      <p:sp>
        <p:nvSpPr>
          <p:cNvPr id="30" name="Text 27"/>
          <p:cNvSpPr/>
          <p:nvPr/>
        </p:nvSpPr>
        <p:spPr>
          <a:xfrm>
            <a:off x="1188720" y="3474720"/>
            <a:ext cx="2743200" cy="320040"/>
          </a:xfrm>
          <a:prstGeom prst="rect">
            <a:avLst/>
          </a:prstGeom>
          <a:noFill/>
          <a:ln/>
        </p:spPr>
        <p:txBody>
          <a:bodyPr wrap="square" lIns="0" tIns="0" rIns="0" bIns="0" rtlCol="0" anchor="t"/>
          <a:lstStyle/>
          <a:p>
            <a:pPr indent="0" marL="0">
              <a:buNone/>
            </a:pPr>
            <a:r>
              <a:rPr lang="en-US" sz="1500" b="1" dirty="0">
                <a:solidFill>
                  <a:srgbClr val="3A2C1A"/>
                </a:solidFill>
                <a:latin typeface="Helvetica Neue" pitchFamily="34" charset="0"/>
                <a:ea typeface="Helvetica Neue" pitchFamily="34" charset="-122"/>
                <a:cs typeface="Helvetica Neue" pitchFamily="34" charset="-120"/>
              </a:rPr>
              <a:t>memcached</a:t>
            </a:r>
            <a:endParaRPr lang="en-US" sz="1500" dirty="0"/>
          </a:p>
        </p:txBody>
      </p:sp>
      <p:sp>
        <p:nvSpPr>
          <p:cNvPr id="31" name="Text 28"/>
          <p:cNvSpPr/>
          <p:nvPr/>
        </p:nvSpPr>
        <p:spPr>
          <a:xfrm>
            <a:off x="1188720" y="3840480"/>
            <a:ext cx="2743200" cy="54864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one shared miss instead of N</a:t>
            </a:r>
            <a:endParaRPr lang="en-US" sz="1250" dirty="0"/>
          </a:p>
        </p:txBody>
      </p:sp>
      <p:sp>
        <p:nvSpPr>
          <p:cNvPr id="32" name="Text 29"/>
          <p:cNvSpPr/>
          <p:nvPr/>
        </p:nvSpPr>
        <p:spPr>
          <a:xfrm>
            <a:off x="1188720" y="4434840"/>
            <a:ext cx="2743200" cy="274320"/>
          </a:xfrm>
          <a:prstGeom prst="rect">
            <a:avLst/>
          </a:prstGeom>
          <a:noFill/>
          <a:ln/>
        </p:spPr>
        <p:txBody>
          <a:bodyPr wrap="square" lIns="0" tIns="0" rIns="0" bIns="0" rtlCol="0" anchor="t"/>
          <a:lstStyle/>
          <a:p>
            <a:pPr indent="0" marL="0">
              <a:buNone/>
            </a:pPr>
            <a:r>
              <a:rPr lang="en-US" sz="1150" i="1" dirty="0">
                <a:solidFill>
                  <a:srgbClr val="3F6470"/>
                </a:solidFill>
                <a:latin typeface="Helvetica Neue" pitchFamily="34" charset="0"/>
                <a:ea typeface="Helvetica Neue" pitchFamily="34" charset="-122"/>
                <a:cs typeface="Helvetica Neue" pitchFamily="34" charset="-120"/>
              </a:rPr>
              <a:t>(needs a server)</a:t>
            </a:r>
            <a:endParaRPr lang="en-US" sz="1150" dirty="0"/>
          </a:p>
        </p:txBody>
      </p:sp>
      <p:sp>
        <p:nvSpPr>
          <p:cNvPr id="33" name="Shape 30"/>
          <p:cNvSpPr/>
          <p:nvPr/>
        </p:nvSpPr>
        <p:spPr>
          <a:xfrm>
            <a:off x="4270248" y="3337560"/>
            <a:ext cx="3538728" cy="1417320"/>
          </a:xfrm>
          <a:prstGeom prst="roundRect">
            <a:avLst>
              <a:gd name="adj" fmla="val 5161"/>
            </a:avLst>
          </a:prstGeom>
          <a:solidFill>
            <a:srgbClr val="EDE0C4"/>
          </a:solidFill>
          <a:ln/>
        </p:spPr>
      </p:sp>
      <p:sp>
        <p:nvSpPr>
          <p:cNvPr id="34" name="Text 31"/>
          <p:cNvSpPr/>
          <p:nvPr/>
        </p:nvSpPr>
        <p:spPr>
          <a:xfrm>
            <a:off x="4453128" y="3456432"/>
            <a:ext cx="365760" cy="320040"/>
          </a:xfrm>
          <a:prstGeom prst="rect">
            <a:avLst/>
          </a:prstGeom>
          <a:noFill/>
          <a:ln/>
        </p:spPr>
        <p:txBody>
          <a:bodyPr wrap="square" lIns="0" tIns="0" rIns="0" bIns="0" rtlCol="0" anchor="t"/>
          <a:lstStyle/>
          <a:p>
            <a:pPr indent="0" marL="0">
              <a:buNone/>
            </a:pPr>
            <a:r>
              <a:rPr lang="en-US" sz="1700" b="1" dirty="0">
                <a:solidFill>
                  <a:srgbClr val="B5822B"/>
                </a:solidFill>
                <a:latin typeface="Georgia" pitchFamily="34" charset="0"/>
                <a:ea typeface="Georgia" pitchFamily="34" charset="-122"/>
                <a:cs typeface="Georgia" pitchFamily="34" charset="-120"/>
              </a:rPr>
              <a:t>2</a:t>
            </a:r>
            <a:endParaRPr lang="en-US" sz="1700" dirty="0"/>
          </a:p>
        </p:txBody>
      </p:sp>
      <p:sp>
        <p:nvSpPr>
          <p:cNvPr id="35" name="Text 32"/>
          <p:cNvSpPr/>
          <p:nvPr/>
        </p:nvSpPr>
        <p:spPr>
          <a:xfrm>
            <a:off x="4910328" y="3474720"/>
            <a:ext cx="2743200" cy="320040"/>
          </a:xfrm>
          <a:prstGeom prst="rect">
            <a:avLst/>
          </a:prstGeom>
          <a:noFill/>
          <a:ln/>
        </p:spPr>
        <p:txBody>
          <a:bodyPr wrap="square" lIns="0" tIns="0" rIns="0" bIns="0" rtlCol="0" anchor="t"/>
          <a:lstStyle/>
          <a:p>
            <a:pPr indent="0" marL="0">
              <a:buNone/>
            </a:pPr>
            <a:r>
              <a:rPr lang="en-US" sz="1500" b="1" dirty="0">
                <a:solidFill>
                  <a:srgbClr val="3A2C1A"/>
                </a:solidFill>
                <a:latin typeface="Helvetica Neue" pitchFamily="34" charset="0"/>
                <a:ea typeface="Helvetica Neue" pitchFamily="34" charset="-122"/>
                <a:cs typeface="Helvetica Neue" pitchFamily="34" charset="-120"/>
              </a:rPr>
              <a:t>valcache</a:t>
            </a:r>
            <a:endParaRPr lang="en-US" sz="1500" dirty="0"/>
          </a:p>
        </p:txBody>
      </p:sp>
      <p:sp>
        <p:nvSpPr>
          <p:cNvPr id="36" name="Text 33"/>
          <p:cNvSpPr/>
          <p:nvPr/>
        </p:nvSpPr>
        <p:spPr>
          <a:xfrm>
            <a:off x="4910328" y="3840480"/>
            <a:ext cx="2743200" cy="54864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survives the restart that caused it</a:t>
            </a:r>
            <a:endParaRPr lang="en-US" sz="1250" dirty="0"/>
          </a:p>
        </p:txBody>
      </p:sp>
      <p:sp>
        <p:nvSpPr>
          <p:cNvPr id="37" name="Text 34"/>
          <p:cNvSpPr/>
          <p:nvPr/>
        </p:nvSpPr>
        <p:spPr>
          <a:xfrm>
            <a:off x="4910328" y="4434840"/>
            <a:ext cx="2743200" cy="274320"/>
          </a:xfrm>
          <a:prstGeom prst="rect">
            <a:avLst/>
          </a:prstGeom>
          <a:noFill/>
          <a:ln/>
        </p:spPr>
        <p:txBody>
          <a:bodyPr wrap="square" lIns="0" tIns="0" rIns="0" bIns="0" rtlCol="0" anchor="t"/>
          <a:lstStyle/>
          <a:p>
            <a:pPr indent="0" marL="0">
              <a:buNone/>
            </a:pPr>
            <a:r>
              <a:rPr lang="en-US" sz="1150" i="1" dirty="0">
                <a:solidFill>
                  <a:srgbClr val="B5822B"/>
                </a:solidFill>
                <a:latin typeface="Helvetica Neue" pitchFamily="34" charset="0"/>
                <a:ea typeface="Helvetica Neue" pitchFamily="34" charset="-122"/>
                <a:cs typeface="Helvetica Neue" pitchFamily="34" charset="-120"/>
              </a:rPr>
              <a:t>(needs a disk)</a:t>
            </a:r>
            <a:endParaRPr lang="en-US" sz="1150" dirty="0"/>
          </a:p>
        </p:txBody>
      </p:sp>
      <p:sp>
        <p:nvSpPr>
          <p:cNvPr id="38" name="Shape 35"/>
          <p:cNvSpPr/>
          <p:nvPr/>
        </p:nvSpPr>
        <p:spPr>
          <a:xfrm>
            <a:off x="7991856" y="3337560"/>
            <a:ext cx="3538728" cy="1417320"/>
          </a:xfrm>
          <a:prstGeom prst="roundRect">
            <a:avLst>
              <a:gd name="adj" fmla="val 5161"/>
            </a:avLst>
          </a:prstGeom>
          <a:solidFill>
            <a:srgbClr val="DDE3CC"/>
          </a:solidFill>
          <a:ln/>
        </p:spPr>
      </p:sp>
      <p:sp>
        <p:nvSpPr>
          <p:cNvPr id="39" name="Text 36"/>
          <p:cNvSpPr/>
          <p:nvPr/>
        </p:nvSpPr>
        <p:spPr>
          <a:xfrm>
            <a:off x="8174736" y="3456432"/>
            <a:ext cx="365760" cy="320040"/>
          </a:xfrm>
          <a:prstGeom prst="rect">
            <a:avLst/>
          </a:prstGeom>
          <a:noFill/>
          <a:ln/>
        </p:spPr>
        <p:txBody>
          <a:bodyPr wrap="square" lIns="0" tIns="0" rIns="0" bIns="0" rtlCol="0" anchor="t"/>
          <a:lstStyle/>
          <a:p>
            <a:pPr indent="0" marL="0">
              <a:buNone/>
            </a:pPr>
            <a:r>
              <a:rPr lang="en-US" sz="1700" b="1" dirty="0">
                <a:solidFill>
                  <a:srgbClr val="5F7A3A"/>
                </a:solidFill>
                <a:latin typeface="Georgia" pitchFamily="34" charset="0"/>
                <a:ea typeface="Georgia" pitchFamily="34" charset="-122"/>
                <a:cs typeface="Georgia" pitchFamily="34" charset="-120"/>
              </a:rPr>
              <a:t>3</a:t>
            </a:r>
            <a:endParaRPr lang="en-US" sz="1700" dirty="0"/>
          </a:p>
        </p:txBody>
      </p:sp>
      <p:sp>
        <p:nvSpPr>
          <p:cNvPr id="40" name="Text 37"/>
          <p:cNvSpPr/>
          <p:nvPr/>
        </p:nvSpPr>
        <p:spPr>
          <a:xfrm>
            <a:off x="8631936" y="3474720"/>
            <a:ext cx="2743200" cy="320040"/>
          </a:xfrm>
          <a:prstGeom prst="rect">
            <a:avLst/>
          </a:prstGeom>
          <a:noFill/>
          <a:ln/>
        </p:spPr>
        <p:txBody>
          <a:bodyPr wrap="square" lIns="0" tIns="0" rIns="0" bIns="0" rtlCol="0" anchor="t"/>
          <a:lstStyle/>
          <a:p>
            <a:pPr indent="0" marL="0">
              <a:buNone/>
            </a:pPr>
            <a:r>
              <a:rPr lang="en-US" sz="1500" b="1" dirty="0">
                <a:solidFill>
                  <a:srgbClr val="3A2C1A"/>
                </a:solidFill>
                <a:latin typeface="Helvetica Neue" pitchFamily="34" charset="0"/>
                <a:ea typeface="Helvetica Neue" pitchFamily="34" charset="-122"/>
                <a:cs typeface="Helvetica Neue" pitchFamily="34" charset="-120"/>
              </a:rPr>
              <a:t>rolling deploys</a:t>
            </a:r>
            <a:endParaRPr lang="en-US" sz="1500" dirty="0"/>
          </a:p>
        </p:txBody>
      </p:sp>
      <p:sp>
        <p:nvSpPr>
          <p:cNvPr id="41" name="Text 38"/>
          <p:cNvSpPr/>
          <p:nvPr/>
        </p:nvSpPr>
        <p:spPr>
          <a:xfrm>
            <a:off x="8631936" y="3840480"/>
            <a:ext cx="2743200" cy="54864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don't replace 20 peers at once</a:t>
            </a:r>
            <a:endParaRPr lang="en-US" sz="1250" dirty="0"/>
          </a:p>
        </p:txBody>
      </p:sp>
      <p:sp>
        <p:nvSpPr>
          <p:cNvPr id="42" name="Text 39"/>
          <p:cNvSpPr/>
          <p:nvPr/>
        </p:nvSpPr>
        <p:spPr>
          <a:xfrm>
            <a:off x="8631936" y="4434840"/>
            <a:ext cx="2743200" cy="274320"/>
          </a:xfrm>
          <a:prstGeom prst="rect">
            <a:avLst/>
          </a:prstGeom>
          <a:noFill/>
          <a:ln/>
        </p:spPr>
        <p:txBody>
          <a:bodyPr wrap="square" lIns="0" tIns="0" rIns="0" bIns="0" rtlCol="0" anchor="t"/>
          <a:lstStyle/>
          <a:p>
            <a:pPr indent="0" marL="0">
              <a:buNone/>
            </a:pPr>
            <a:r>
              <a:rPr lang="en-US" sz="1150" i="1" dirty="0">
                <a:solidFill>
                  <a:srgbClr val="5F7A3A"/>
                </a:solidFill>
                <a:latin typeface="Helvetica Neue" pitchFamily="34" charset="0"/>
                <a:ea typeface="Helvetica Neue" pitchFamily="34" charset="-122"/>
                <a:cs typeface="Helvetica Neue" pitchFamily="34" charset="-120"/>
              </a:rPr>
              <a:t>(needs nothing)</a:t>
            </a:r>
            <a:endParaRPr lang="en-US" sz="1150" dirty="0"/>
          </a:p>
        </p:txBody>
      </p:sp>
      <p:sp>
        <p:nvSpPr>
          <p:cNvPr id="43" name="Shape 40"/>
          <p:cNvSpPr/>
          <p:nvPr/>
        </p:nvSpPr>
        <p:spPr>
          <a:xfrm>
            <a:off x="548640" y="4937760"/>
            <a:ext cx="11064240" cy="1143000"/>
          </a:xfrm>
          <a:prstGeom prst="roundRect">
            <a:avLst>
              <a:gd name="adj" fmla="val 6400"/>
            </a:avLst>
          </a:prstGeom>
          <a:solidFill>
            <a:srgbClr val="DFD6C0"/>
          </a:solidFill>
          <a:ln/>
        </p:spPr>
      </p:sp>
      <p:sp>
        <p:nvSpPr>
          <p:cNvPr id="44" name="Shape 41"/>
          <p:cNvSpPr/>
          <p:nvPr/>
        </p:nvSpPr>
        <p:spPr>
          <a:xfrm>
            <a:off x="548640" y="4937760"/>
            <a:ext cx="82296" cy="1143000"/>
          </a:xfrm>
          <a:prstGeom prst="rect">
            <a:avLst/>
          </a:prstGeom>
          <a:solidFill>
            <a:srgbClr val="A8864A"/>
          </a:solidFill>
          <a:ln/>
        </p:spPr>
      </p:sp>
      <p:sp>
        <p:nvSpPr>
          <p:cNvPr id="45" name="Text 42"/>
          <p:cNvSpPr/>
          <p:nvPr/>
        </p:nvSpPr>
        <p:spPr>
          <a:xfrm>
            <a:off x="822960" y="504748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§3</a:t>
            </a:r>
            <a:endParaRPr lang="en-US" sz="1300" dirty="0"/>
          </a:p>
        </p:txBody>
      </p:sp>
      <p:sp>
        <p:nvSpPr>
          <p:cNvPr id="46" name="Shape 43"/>
          <p:cNvSpPr/>
          <p:nvPr/>
        </p:nvSpPr>
        <p:spPr>
          <a:xfrm>
            <a:off x="10561320" y="5047488"/>
            <a:ext cx="777240" cy="292608"/>
          </a:xfrm>
          <a:prstGeom prst="roundRect">
            <a:avLst>
              <a:gd name="adj" fmla="val 25000"/>
            </a:avLst>
          </a:prstGeom>
          <a:solidFill>
            <a:srgbClr val="EBD5CB"/>
          </a:solidFill>
          <a:ln/>
        </p:spPr>
      </p:sp>
      <p:sp>
        <p:nvSpPr>
          <p:cNvPr id="47" name="Text 44"/>
          <p:cNvSpPr/>
          <p:nvPr/>
        </p:nvSpPr>
        <p:spPr>
          <a:xfrm>
            <a:off x="10561320" y="5047488"/>
            <a:ext cx="777240" cy="292608"/>
          </a:xfrm>
          <a:prstGeom prst="rect">
            <a:avLst/>
          </a:prstGeom>
          <a:noFill/>
          <a:ln/>
        </p:spPr>
        <p:txBody>
          <a:bodyPr wrap="square" lIns="0" tIns="0" rIns="0" bIns="0" rtlCol="0" anchor="ctr"/>
          <a:lstStyle/>
          <a:p>
            <a:pPr algn="ctr" indent="0" marL="0">
              <a:buNone/>
            </a:pPr>
            <a:r>
              <a:rPr lang="en-US" sz="1100" b="1" dirty="0">
                <a:solidFill>
                  <a:srgbClr val="9E4227"/>
                </a:solidFill>
                <a:latin typeface="Helvetica Neue" pitchFamily="34" charset="0"/>
                <a:ea typeface="Helvetica Neue" pitchFamily="34" charset="-122"/>
                <a:cs typeface="Helvetica Neue" pitchFamily="34" charset="-120"/>
              </a:rPr>
              <a:t>[PRO]</a:t>
            </a:r>
            <a:endParaRPr lang="en-US" sz="1100" dirty="0"/>
          </a:p>
        </p:txBody>
      </p:sp>
      <p:sp>
        <p:nvSpPr>
          <p:cNvPr id="48" name="Text 45"/>
          <p:cNvSpPr/>
          <p:nvPr/>
        </p:nvSpPr>
        <p:spPr>
          <a:xfrm>
            <a:off x="822960" y="5394960"/>
            <a:ext cx="10515600" cy="57607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Add valcache with two -D flags, restart the REPL, re-run the cold query. Then set datomic.objectCacheMax=32m</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and re-run the warm one. The gap between those two measurements is the object-cache sizing signal for this dataset.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Text 1"/>
          <p:cNvSpPr/>
          <p:nvPr/>
        </p:nvSpPr>
        <p:spPr>
          <a:xfrm>
            <a:off x="822960" y="2011680"/>
            <a:ext cx="1828800" cy="914400"/>
          </a:xfrm>
          <a:prstGeom prst="rect">
            <a:avLst/>
          </a:prstGeom>
          <a:noFill/>
          <a:ln/>
        </p:spPr>
        <p:txBody>
          <a:bodyPr wrap="square" lIns="0" tIns="0" rIns="0" bIns="0" rtlCol="0" anchor="t"/>
          <a:lstStyle/>
          <a:p>
            <a:pPr indent="0" marL="0">
              <a:buNone/>
            </a:pPr>
            <a:r>
              <a:rPr lang="en-US" sz="5400" dirty="0">
                <a:solidFill>
                  <a:srgbClr val="C6A46A"/>
                </a:solidFill>
                <a:latin typeface="Helvetica Neue" pitchFamily="34" charset="0"/>
                <a:ea typeface="Helvetica Neue" pitchFamily="34" charset="-122"/>
                <a:cs typeface="Helvetica Neue" pitchFamily="34" charset="-120"/>
              </a:rPr>
              <a:t>☕</a:t>
            </a:r>
            <a:endParaRPr lang="en-US" sz="5400" dirty="0"/>
          </a:p>
        </p:txBody>
      </p:sp>
      <p:sp>
        <p:nvSpPr>
          <p:cNvPr id="4" name="Text 2"/>
          <p:cNvSpPr/>
          <p:nvPr/>
        </p:nvSpPr>
        <p:spPr>
          <a:xfrm>
            <a:off x="822960" y="3017520"/>
            <a:ext cx="10515600" cy="822960"/>
          </a:xfrm>
          <a:prstGeom prst="rect">
            <a:avLst/>
          </a:prstGeom>
          <a:noFill/>
          <a:ln/>
        </p:spPr>
        <p:txBody>
          <a:bodyPr wrap="square" lIns="0" tIns="0" rIns="0" bIns="0" rtlCol="0" anchor="t"/>
          <a:lstStyle/>
          <a:p>
            <a:pPr indent="0" marL="0">
              <a:buNone/>
            </a:pPr>
            <a:r>
              <a:rPr lang="en-US" sz="3600" dirty="0">
                <a:solidFill>
                  <a:srgbClr val="FCFAF4"/>
                </a:solidFill>
                <a:latin typeface="Georgia" pitchFamily="34" charset="0"/>
                <a:ea typeface="Georgia" pitchFamily="34" charset="-122"/>
                <a:cs typeface="Georgia" pitchFamily="34" charset="-120"/>
              </a:rPr>
              <a:t>Break — 10 minutes</a:t>
            </a:r>
            <a:endParaRPr lang="en-US" sz="3600" dirty="0"/>
          </a:p>
        </p:txBody>
      </p:sp>
      <p:sp>
        <p:nvSpPr>
          <p:cNvPr id="5" name="Text 3"/>
          <p:cNvSpPr/>
          <p:nvPr/>
        </p:nvSpPr>
        <p:spPr>
          <a:xfrm>
            <a:off x="822960" y="3931920"/>
            <a:ext cx="10515600" cy="457200"/>
          </a:xfrm>
          <a:prstGeom prst="rect">
            <a:avLst/>
          </a:prstGeom>
          <a:noFill/>
          <a:ln/>
        </p:spPr>
        <p:txBody>
          <a:bodyPr wrap="square" lIns="0" tIns="0" rIns="0" bIns="0" rtlCol="0" anchor="t"/>
          <a:lstStyle/>
          <a:p>
            <a:pPr indent="0" marL="0">
              <a:buNone/>
            </a:pPr>
            <a:r>
              <a:rPr lang="en-US" sz="1700" dirty="0">
                <a:solidFill>
                  <a:srgbClr val="C9BDA4"/>
                </a:solidFill>
                <a:latin typeface="Helvetica Neue" pitchFamily="34" charset="0"/>
                <a:ea typeface="Helvetica Neue" pitchFamily="34" charset="-122"/>
                <a:cs typeface="Helvetica Neue" pitchFamily="34" charset="-120"/>
              </a:rPr>
              <a:t>Next: which half of the system scales, and which one does not.</a:t>
            </a:r>
            <a:endParaRPr lang="en-US" sz="1700" dirty="0"/>
          </a:p>
        </p:txBody>
      </p:sp>
      <p:sp>
        <p:nvSpPr>
          <p:cNvPr id="6" name="Text 4"/>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IV</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Parallelism</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One writer, many readers — two different mechanisms, one word</a:t>
            </a:r>
            <a:endParaRPr lang="en-US" sz="1600" dirty="0"/>
          </a:p>
        </p:txBody>
      </p:sp>
      <p:sp>
        <p:nvSpPr>
          <p:cNvPr id="7" name="Text 5"/>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One word, two mechanisms</a:t>
            </a:r>
            <a:endParaRPr lang="en-US" sz="2500" dirty="0"/>
          </a:p>
        </p:txBody>
      </p:sp>
      <p:sp>
        <p:nvSpPr>
          <p:cNvPr id="8" name="Shape 5"/>
          <p:cNvSpPr/>
          <p:nvPr/>
        </p:nvSpPr>
        <p:spPr>
          <a:xfrm>
            <a:off x="548640" y="1325880"/>
            <a:ext cx="5349240" cy="4023360"/>
          </a:xfrm>
          <a:prstGeom prst="roundRect">
            <a:avLst>
              <a:gd name="adj" fmla="val 1818"/>
            </a:avLst>
          </a:prstGeom>
          <a:solidFill>
            <a:srgbClr val="E6DFCE"/>
          </a:solidFill>
          <a:ln/>
        </p:spPr>
      </p:sp>
      <p:sp>
        <p:nvSpPr>
          <p:cNvPr id="9" name="Shape 6"/>
          <p:cNvSpPr/>
          <p:nvPr/>
        </p:nvSpPr>
        <p:spPr>
          <a:xfrm>
            <a:off x="548640" y="1325880"/>
            <a:ext cx="5349240" cy="384048"/>
          </a:xfrm>
          <a:prstGeom prst="roundRect">
            <a:avLst>
              <a:gd name="adj" fmla="val 19048"/>
            </a:avLst>
          </a:prstGeom>
          <a:solidFill>
            <a:srgbClr val="EDE0C4"/>
          </a:solidFill>
          <a:ln/>
        </p:spPr>
      </p:sp>
      <p:sp>
        <p:nvSpPr>
          <p:cNvPr id="10" name="Text 7"/>
          <p:cNvSpPr/>
          <p:nvPr/>
        </p:nvSpPr>
        <p:spPr>
          <a:xfrm>
            <a:off x="749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B5822B"/>
                </a:solidFill>
                <a:latin typeface="Helvetica Neue" pitchFamily="34" charset="0"/>
                <a:ea typeface="Helvetica Neue" pitchFamily="34" charset="-122"/>
                <a:cs typeface="Helvetica Neue" pitchFamily="34" charset="-120"/>
              </a:rPr>
              <a:t>WRITES</a:t>
            </a:r>
            <a:endParaRPr lang="en-US" sz="1250" dirty="0"/>
          </a:p>
        </p:txBody>
      </p:sp>
      <p:sp>
        <p:nvSpPr>
          <p:cNvPr id="11" name="Shape 8"/>
          <p:cNvSpPr/>
          <p:nvPr/>
        </p:nvSpPr>
        <p:spPr>
          <a:xfrm>
            <a:off x="822960" y="1874520"/>
            <a:ext cx="4800600" cy="685800"/>
          </a:xfrm>
          <a:prstGeom prst="roundRect">
            <a:avLst>
              <a:gd name="adj" fmla="val 8000"/>
            </a:avLst>
          </a:prstGeom>
          <a:solidFill>
            <a:srgbClr val="EDE0C4"/>
          </a:solidFill>
          <a:ln w="15875">
            <a:solidFill>
              <a:srgbClr val="B5822B"/>
            </a:solidFill>
            <a:prstDash val="solid"/>
          </a:ln>
        </p:spPr>
      </p:sp>
      <p:sp>
        <p:nvSpPr>
          <p:cNvPr id="12" name="Text 9"/>
          <p:cNvSpPr/>
          <p:nvPr/>
        </p:nvSpPr>
        <p:spPr>
          <a:xfrm>
            <a:off x="896112" y="1874520"/>
            <a:ext cx="4654296" cy="685800"/>
          </a:xfrm>
          <a:prstGeom prst="rect">
            <a:avLst/>
          </a:prstGeom>
          <a:noFill/>
          <a:ln/>
        </p:spPr>
        <p:txBody>
          <a:bodyPr wrap="square" lIns="0" tIns="0" rIns="0" bIns="0" rtlCol="0" anchor="ctr">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one transactor</a:t>
            </a:r>
            <a:endParaRPr lang="en-US" sz="1500" dirty="0"/>
          </a:p>
        </p:txBody>
      </p:sp>
      <p:sp>
        <p:nvSpPr>
          <p:cNvPr id="13" name="Text 10"/>
          <p:cNvSpPr/>
          <p:nvPr/>
        </p:nvSpPr>
        <p:spPr>
          <a:xfrm>
            <a:off x="868680" y="2743200"/>
            <a:ext cx="2286000" cy="566928"/>
          </a:xfrm>
          <a:prstGeom prst="rect">
            <a:avLst/>
          </a:prstGeom>
          <a:noFill/>
          <a:ln/>
        </p:spPr>
        <p:txBody>
          <a:bodyPr wrap="square" lIns="0" tIns="0" rIns="0" bIns="0" rtlCol="0" anchor="ctr">
            <a:normAutofit/>
          </a:bodyPr>
          <a:lstStyle/>
          <a:p>
            <a:pPr indent="0" marL="0">
              <a:buNone/>
            </a:pPr>
            <a:r>
              <a:rPr lang="en-US" sz="1200" dirty="0">
                <a:solidFill>
                  <a:srgbClr val="3A2C1A"/>
                </a:solidFill>
                <a:latin typeface="Helvetica Neue" pitchFamily="34" charset="0"/>
                <a:ea typeface="Helvetica Neue" pitchFamily="34" charset="-122"/>
                <a:cs typeface="Helvetica Neue" pitchFamily="34" charset="-120"/>
              </a:rPr>
              <a:t>cannot be parallelised</a:t>
            </a:r>
            <a:endParaRPr lang="en-US" sz="1200" dirty="0"/>
          </a:p>
        </p:txBody>
      </p:sp>
      <p:sp>
        <p:nvSpPr>
          <p:cNvPr id="14" name="Text 11"/>
          <p:cNvSpPr/>
          <p:nvPr/>
        </p:nvSpPr>
        <p:spPr>
          <a:xfrm>
            <a:off x="3337560" y="2743200"/>
            <a:ext cx="2240280" cy="566928"/>
          </a:xfrm>
          <a:prstGeom prst="rect">
            <a:avLst/>
          </a:prstGeom>
          <a:noFill/>
          <a:ln/>
        </p:spPr>
        <p:txBody>
          <a:bodyPr wrap="square" lIns="0" tIns="0" rIns="0" bIns="0" rtlCol="0" anchor="ctr">
            <a:normAutofit/>
          </a:bodyPr>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serial order is the guarantee</a:t>
            </a:r>
            <a:endParaRPr lang="en-US" sz="1200" dirty="0"/>
          </a:p>
        </p:txBody>
      </p:sp>
      <p:sp>
        <p:nvSpPr>
          <p:cNvPr id="15" name="Text 12"/>
          <p:cNvSpPr/>
          <p:nvPr/>
        </p:nvSpPr>
        <p:spPr>
          <a:xfrm>
            <a:off x="868680" y="3310128"/>
            <a:ext cx="2286000" cy="566928"/>
          </a:xfrm>
          <a:prstGeom prst="rect">
            <a:avLst/>
          </a:prstGeom>
          <a:noFill/>
          <a:ln/>
        </p:spPr>
        <p:txBody>
          <a:bodyPr wrap="square" lIns="0" tIns="0" rIns="0" bIns="0" rtlCol="0" anchor="ctr">
            <a:normAutofit/>
          </a:bodyPr>
          <a:lstStyle/>
          <a:p>
            <a:pPr indent="0" marL="0">
              <a:buNone/>
            </a:pPr>
            <a:r>
              <a:rPr lang="en-US" sz="1200" dirty="0">
                <a:solidFill>
                  <a:srgbClr val="3A2C1A"/>
                </a:solidFill>
                <a:latin typeface="Helvetica Neue" pitchFamily="34" charset="0"/>
                <a:ea typeface="Helvetica Neue" pitchFamily="34" charset="-122"/>
                <a:cs typeface="Helvetica Neue" pitchFamily="34" charset="-120"/>
              </a:rPr>
              <a:t>can be pipelined</a:t>
            </a:r>
            <a:endParaRPr lang="en-US" sz="1200" dirty="0"/>
          </a:p>
        </p:txBody>
      </p:sp>
      <p:sp>
        <p:nvSpPr>
          <p:cNvPr id="16" name="Text 13"/>
          <p:cNvSpPr/>
          <p:nvPr/>
        </p:nvSpPr>
        <p:spPr>
          <a:xfrm>
            <a:off x="3337560" y="3310128"/>
            <a:ext cx="2240280" cy="566928"/>
          </a:xfrm>
          <a:prstGeom prst="rect">
            <a:avLst/>
          </a:prstGeom>
          <a:noFill/>
          <a:ln/>
        </p:spPr>
        <p:txBody>
          <a:bodyPr wrap="square" lIns="0" tIns="0" rIns="0" bIns="0" rtlCol="0" anchor="ctr">
            <a:normAutofit/>
          </a:bodyPr>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overlap the round trips</a:t>
            </a:r>
            <a:endParaRPr lang="en-US" sz="1200" dirty="0"/>
          </a:p>
        </p:txBody>
      </p:sp>
      <p:sp>
        <p:nvSpPr>
          <p:cNvPr id="17" name="Shape 14"/>
          <p:cNvSpPr/>
          <p:nvPr/>
        </p:nvSpPr>
        <p:spPr>
          <a:xfrm>
            <a:off x="822960" y="3977640"/>
            <a:ext cx="4800600" cy="1097280"/>
          </a:xfrm>
          <a:prstGeom prst="roundRect">
            <a:avLst>
              <a:gd name="adj" fmla="val 6667"/>
            </a:avLst>
          </a:prstGeom>
          <a:solidFill>
            <a:srgbClr val="EDE0C4"/>
          </a:solidFill>
          <a:ln/>
        </p:spPr>
      </p:sp>
      <p:sp>
        <p:nvSpPr>
          <p:cNvPr id="18" name="Text 15"/>
          <p:cNvSpPr/>
          <p:nvPr/>
        </p:nvSpPr>
        <p:spPr>
          <a:xfrm>
            <a:off x="1005840" y="4114800"/>
            <a:ext cx="4480560" cy="274320"/>
          </a:xfrm>
          <a:prstGeom prst="rect">
            <a:avLst/>
          </a:prstGeom>
          <a:noFill/>
          <a:ln/>
        </p:spPr>
        <p:txBody>
          <a:bodyPr wrap="square" lIns="0" tIns="0" rIns="0" bIns="0" rtlCol="0" anchor="t"/>
          <a:lstStyle/>
          <a:p>
            <a:pPr indent="0" marL="0">
              <a:buNone/>
            </a:pPr>
            <a:r>
              <a:rPr lang="en-US" sz="1100" b="1" spc="150" kern="0" dirty="0">
                <a:solidFill>
                  <a:srgbClr val="B5822B"/>
                </a:solidFill>
                <a:latin typeface="Helvetica Neue" pitchFamily="34" charset="0"/>
                <a:ea typeface="Helvetica Neue" pitchFamily="34" charset="-122"/>
                <a:cs typeface="Helvetica Neue" pitchFamily="34" charset="-120"/>
              </a:rPr>
              <a:t>LEVER</a:t>
            </a:r>
            <a:endParaRPr lang="en-US" sz="1100" dirty="0"/>
          </a:p>
        </p:txBody>
      </p:sp>
      <p:sp>
        <p:nvSpPr>
          <p:cNvPr id="19" name="Text 16"/>
          <p:cNvSpPr/>
          <p:nvPr/>
        </p:nvSpPr>
        <p:spPr>
          <a:xfrm>
            <a:off x="1005840" y="4407408"/>
            <a:ext cx="4480560" cy="548640"/>
          </a:xfrm>
          <a:prstGeom prst="rect">
            <a:avLst/>
          </a:prstGeom>
          <a:noFill/>
          <a:ln/>
        </p:spPr>
        <p:txBody>
          <a:bodyPr wrap="square" lIns="0" tIns="0" rIns="0" bIns="0" rtlCol="0" anchor="t">
            <a:normAutofit/>
          </a:bodyPr>
          <a:lstStyle/>
          <a:p>
            <a:pPr indent="0" marL="0">
              <a:buNone/>
            </a:pPr>
            <a:r>
              <a:rPr lang="en-US" sz="1500" dirty="0">
                <a:solidFill>
                  <a:srgbClr val="3A2C1A"/>
                </a:solidFill>
                <a:latin typeface="Helvetica Neue" pitchFamily="34" charset="0"/>
                <a:ea typeface="Helvetica Neue" pitchFamily="34" charset="-122"/>
                <a:cs typeface="Helvetica Neue" pitchFamily="34" charset="-120"/>
              </a:rPr>
              <a:t>keep the writer from going idle</a:t>
            </a:r>
            <a:endParaRPr lang="en-US" sz="1500" dirty="0"/>
          </a:p>
        </p:txBody>
      </p:sp>
      <p:sp>
        <p:nvSpPr>
          <p:cNvPr id="20" name="Shape 17"/>
          <p:cNvSpPr/>
          <p:nvPr/>
        </p:nvSpPr>
        <p:spPr>
          <a:xfrm>
            <a:off x="6263640" y="1325880"/>
            <a:ext cx="5349240" cy="4023360"/>
          </a:xfrm>
          <a:prstGeom prst="roundRect">
            <a:avLst>
              <a:gd name="adj" fmla="val 1818"/>
            </a:avLst>
          </a:prstGeom>
          <a:solidFill>
            <a:srgbClr val="E6DFCE"/>
          </a:solidFill>
          <a:ln/>
        </p:spPr>
      </p:sp>
      <p:sp>
        <p:nvSpPr>
          <p:cNvPr id="21" name="Shape 18"/>
          <p:cNvSpPr/>
          <p:nvPr/>
        </p:nvSpPr>
        <p:spPr>
          <a:xfrm>
            <a:off x="6263640" y="1325880"/>
            <a:ext cx="5349240" cy="384048"/>
          </a:xfrm>
          <a:prstGeom prst="roundRect">
            <a:avLst>
              <a:gd name="adj" fmla="val 19048"/>
            </a:avLst>
          </a:prstGeom>
          <a:solidFill>
            <a:srgbClr val="D3DEE1"/>
          </a:solidFill>
          <a:ln/>
        </p:spPr>
      </p:sp>
      <p:sp>
        <p:nvSpPr>
          <p:cNvPr id="22" name="Text 19"/>
          <p:cNvSpPr/>
          <p:nvPr/>
        </p:nvSpPr>
        <p:spPr>
          <a:xfrm>
            <a:off x="6464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3F6470"/>
                </a:solidFill>
                <a:latin typeface="Helvetica Neue" pitchFamily="34" charset="0"/>
                <a:ea typeface="Helvetica Neue" pitchFamily="34" charset="-122"/>
                <a:cs typeface="Helvetica Neue" pitchFamily="34" charset="-120"/>
              </a:rPr>
              <a:t>READS</a:t>
            </a:r>
            <a:endParaRPr lang="en-US" sz="1250" dirty="0"/>
          </a:p>
        </p:txBody>
      </p:sp>
      <p:sp>
        <p:nvSpPr>
          <p:cNvPr id="23" name="Shape 20"/>
          <p:cNvSpPr/>
          <p:nvPr/>
        </p:nvSpPr>
        <p:spPr>
          <a:xfrm>
            <a:off x="6537960" y="1874520"/>
            <a:ext cx="1097280" cy="685800"/>
          </a:xfrm>
          <a:prstGeom prst="roundRect">
            <a:avLst>
              <a:gd name="adj" fmla="val 8000"/>
            </a:avLst>
          </a:prstGeom>
          <a:solidFill>
            <a:srgbClr val="D3DEE1"/>
          </a:solidFill>
          <a:ln w="15875">
            <a:solidFill>
              <a:srgbClr val="3F6470"/>
            </a:solidFill>
            <a:prstDash val="solid"/>
          </a:ln>
        </p:spPr>
      </p:sp>
      <p:sp>
        <p:nvSpPr>
          <p:cNvPr id="24" name="Text 21"/>
          <p:cNvSpPr/>
          <p:nvPr/>
        </p:nvSpPr>
        <p:spPr>
          <a:xfrm>
            <a:off x="6611112" y="1874520"/>
            <a:ext cx="950976" cy="6858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5" name="Shape 22"/>
          <p:cNvSpPr/>
          <p:nvPr/>
        </p:nvSpPr>
        <p:spPr>
          <a:xfrm>
            <a:off x="7772400" y="1874520"/>
            <a:ext cx="1097280" cy="685800"/>
          </a:xfrm>
          <a:prstGeom prst="roundRect">
            <a:avLst>
              <a:gd name="adj" fmla="val 8000"/>
            </a:avLst>
          </a:prstGeom>
          <a:solidFill>
            <a:srgbClr val="D3DEE1"/>
          </a:solidFill>
          <a:ln w="15875">
            <a:solidFill>
              <a:srgbClr val="3F6470"/>
            </a:solidFill>
            <a:prstDash val="solid"/>
          </a:ln>
        </p:spPr>
      </p:sp>
      <p:sp>
        <p:nvSpPr>
          <p:cNvPr id="26" name="Text 23"/>
          <p:cNvSpPr/>
          <p:nvPr/>
        </p:nvSpPr>
        <p:spPr>
          <a:xfrm>
            <a:off x="7845552" y="1874520"/>
            <a:ext cx="950976" cy="6858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7" name="Shape 24"/>
          <p:cNvSpPr/>
          <p:nvPr/>
        </p:nvSpPr>
        <p:spPr>
          <a:xfrm>
            <a:off x="9006840" y="1874520"/>
            <a:ext cx="1097280" cy="685800"/>
          </a:xfrm>
          <a:prstGeom prst="roundRect">
            <a:avLst>
              <a:gd name="adj" fmla="val 8000"/>
            </a:avLst>
          </a:prstGeom>
          <a:solidFill>
            <a:srgbClr val="D3DEE1"/>
          </a:solidFill>
          <a:ln w="15875">
            <a:solidFill>
              <a:srgbClr val="3F6470"/>
            </a:solidFill>
            <a:prstDash val="solid"/>
          </a:ln>
        </p:spPr>
      </p:sp>
      <p:sp>
        <p:nvSpPr>
          <p:cNvPr id="28" name="Text 25"/>
          <p:cNvSpPr/>
          <p:nvPr/>
        </p:nvSpPr>
        <p:spPr>
          <a:xfrm>
            <a:off x="9079992" y="1874520"/>
            <a:ext cx="950976" cy="6858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9" name="Shape 26"/>
          <p:cNvSpPr/>
          <p:nvPr/>
        </p:nvSpPr>
        <p:spPr>
          <a:xfrm>
            <a:off x="10241280" y="1874520"/>
            <a:ext cx="1097280" cy="685800"/>
          </a:xfrm>
          <a:prstGeom prst="roundRect">
            <a:avLst>
              <a:gd name="adj" fmla="val 8000"/>
            </a:avLst>
          </a:prstGeom>
          <a:solidFill>
            <a:srgbClr val="D3DEE1"/>
          </a:solidFill>
          <a:ln w="15875">
            <a:solidFill>
              <a:srgbClr val="3F6470"/>
            </a:solidFill>
            <a:prstDash val="solid"/>
          </a:ln>
        </p:spPr>
      </p:sp>
      <p:sp>
        <p:nvSpPr>
          <p:cNvPr id="30" name="Text 27"/>
          <p:cNvSpPr/>
          <p:nvPr/>
        </p:nvSpPr>
        <p:spPr>
          <a:xfrm>
            <a:off x="10314432" y="1874520"/>
            <a:ext cx="950976" cy="6858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31" name="Text 28"/>
          <p:cNvSpPr/>
          <p:nvPr/>
        </p:nvSpPr>
        <p:spPr>
          <a:xfrm>
            <a:off x="6583680" y="2743200"/>
            <a:ext cx="2286000" cy="566928"/>
          </a:xfrm>
          <a:prstGeom prst="rect">
            <a:avLst/>
          </a:prstGeom>
          <a:noFill/>
          <a:ln/>
        </p:spPr>
        <p:txBody>
          <a:bodyPr wrap="square" lIns="0" tIns="0" rIns="0" bIns="0" rtlCol="0" anchor="ctr">
            <a:normAutofit/>
          </a:bodyPr>
          <a:lstStyle/>
          <a:p>
            <a:pPr indent="0" marL="0">
              <a:buNone/>
            </a:pPr>
            <a:r>
              <a:rPr lang="en-US" sz="1200" dirty="0">
                <a:solidFill>
                  <a:srgbClr val="3A2C1A"/>
                </a:solidFill>
                <a:latin typeface="Helvetica Neue" pitchFamily="34" charset="0"/>
                <a:ea typeface="Helvetica Neue" pitchFamily="34" charset="-122"/>
                <a:cs typeface="Helvetica Neue" pitchFamily="34" charset="-120"/>
              </a:rPr>
              <a:t>every peer, every core</a:t>
            </a:r>
            <a:endParaRPr lang="en-US" sz="1200" dirty="0"/>
          </a:p>
        </p:txBody>
      </p:sp>
      <p:sp>
        <p:nvSpPr>
          <p:cNvPr id="32" name="Text 29"/>
          <p:cNvSpPr/>
          <p:nvPr/>
        </p:nvSpPr>
        <p:spPr>
          <a:xfrm>
            <a:off x="9052560" y="2743200"/>
            <a:ext cx="2240280" cy="566928"/>
          </a:xfrm>
          <a:prstGeom prst="rect">
            <a:avLst/>
          </a:prstGeom>
          <a:noFill/>
          <a:ln/>
        </p:spPr>
        <p:txBody>
          <a:bodyPr wrap="square" lIns="0" tIns="0" rIns="0" bIns="0" rtlCol="0" anchor="ctr">
            <a:normAutofit/>
          </a:bodyPr>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no locks, no coordination</a:t>
            </a:r>
            <a:endParaRPr lang="en-US" sz="1200" dirty="0"/>
          </a:p>
        </p:txBody>
      </p:sp>
      <p:sp>
        <p:nvSpPr>
          <p:cNvPr id="33" name="Text 30"/>
          <p:cNvSpPr/>
          <p:nvPr/>
        </p:nvSpPr>
        <p:spPr>
          <a:xfrm>
            <a:off x="6583680" y="3310128"/>
            <a:ext cx="2286000" cy="566928"/>
          </a:xfrm>
          <a:prstGeom prst="rect">
            <a:avLst/>
          </a:prstGeom>
          <a:noFill/>
          <a:ln/>
        </p:spPr>
        <p:txBody>
          <a:bodyPr wrap="square" lIns="0" tIns="0" rIns="0" bIns="0" rtlCol="0" anchor="ctr">
            <a:normAutofit/>
          </a:bodyPr>
          <a:lstStyle/>
          <a:p>
            <a:pPr indent="0" marL="0">
              <a:buNone/>
            </a:pPr>
            <a:r>
              <a:rPr lang="en-US" sz="1200" dirty="0">
                <a:solidFill>
                  <a:srgbClr val="3A2C1A"/>
                </a:solidFill>
                <a:latin typeface="Helvetica Neue" pitchFamily="34" charset="0"/>
                <a:ea typeface="Helvetica Neue" pitchFamily="34" charset="-122"/>
                <a:cs typeface="Helvetica Neue" pitchFamily="34" charset="-120"/>
              </a:rPr>
              <a:t>free once warm</a:t>
            </a:r>
            <a:endParaRPr lang="en-US" sz="1200" dirty="0"/>
          </a:p>
        </p:txBody>
      </p:sp>
      <p:sp>
        <p:nvSpPr>
          <p:cNvPr id="34" name="Text 31"/>
          <p:cNvSpPr/>
          <p:nvPr/>
        </p:nvSpPr>
        <p:spPr>
          <a:xfrm>
            <a:off x="9052560" y="3310128"/>
            <a:ext cx="2240280" cy="566928"/>
          </a:xfrm>
          <a:prstGeom prst="rect">
            <a:avLst/>
          </a:prstGeom>
          <a:noFill/>
          <a:ln/>
        </p:spPr>
        <p:txBody>
          <a:bodyPr wrap="square" lIns="0" tIns="0" rIns="0" bIns="0" rtlCol="0" anchor="ctr">
            <a:normAutofit/>
          </a:bodyPr>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cached segments cost storage nothing</a:t>
            </a:r>
            <a:endParaRPr lang="en-US" sz="1200" dirty="0"/>
          </a:p>
        </p:txBody>
      </p:sp>
      <p:sp>
        <p:nvSpPr>
          <p:cNvPr id="35" name="Shape 32"/>
          <p:cNvSpPr/>
          <p:nvPr/>
        </p:nvSpPr>
        <p:spPr>
          <a:xfrm>
            <a:off x="6537960" y="3977640"/>
            <a:ext cx="4800600" cy="1097280"/>
          </a:xfrm>
          <a:prstGeom prst="roundRect">
            <a:avLst>
              <a:gd name="adj" fmla="val 6667"/>
            </a:avLst>
          </a:prstGeom>
          <a:solidFill>
            <a:srgbClr val="D3DEE1"/>
          </a:solidFill>
          <a:ln/>
        </p:spPr>
      </p:sp>
      <p:sp>
        <p:nvSpPr>
          <p:cNvPr id="36" name="Text 33"/>
          <p:cNvSpPr/>
          <p:nvPr/>
        </p:nvSpPr>
        <p:spPr>
          <a:xfrm>
            <a:off x="6720840" y="4114800"/>
            <a:ext cx="4480560" cy="274320"/>
          </a:xfrm>
          <a:prstGeom prst="rect">
            <a:avLst/>
          </a:prstGeom>
          <a:noFill/>
          <a:ln/>
        </p:spPr>
        <p:txBody>
          <a:bodyPr wrap="square" lIns="0" tIns="0" rIns="0" bIns="0" rtlCol="0" anchor="t"/>
          <a:lstStyle/>
          <a:p>
            <a:pPr indent="0" marL="0">
              <a:buNone/>
            </a:pPr>
            <a:r>
              <a:rPr lang="en-US" sz="1100" b="1" spc="150" kern="0" dirty="0">
                <a:solidFill>
                  <a:srgbClr val="3F6470"/>
                </a:solidFill>
                <a:latin typeface="Helvetica Neue" pitchFamily="34" charset="0"/>
                <a:ea typeface="Helvetica Neue" pitchFamily="34" charset="-122"/>
                <a:cs typeface="Helvetica Neue" pitchFamily="34" charset="-120"/>
              </a:rPr>
              <a:t>LEVER</a:t>
            </a:r>
            <a:endParaRPr lang="en-US" sz="1100" dirty="0"/>
          </a:p>
        </p:txBody>
      </p:sp>
      <p:sp>
        <p:nvSpPr>
          <p:cNvPr id="37" name="Text 34"/>
          <p:cNvSpPr/>
          <p:nvPr/>
        </p:nvSpPr>
        <p:spPr>
          <a:xfrm>
            <a:off x="6720840" y="4407408"/>
            <a:ext cx="4480560" cy="548640"/>
          </a:xfrm>
          <a:prstGeom prst="rect">
            <a:avLst/>
          </a:prstGeom>
          <a:noFill/>
          <a:ln/>
        </p:spPr>
        <p:txBody>
          <a:bodyPr wrap="square" lIns="0" tIns="0" rIns="0" bIns="0" rtlCol="0" anchor="t">
            <a:normAutofit/>
          </a:bodyPr>
          <a:lstStyle/>
          <a:p>
            <a:pPr indent="0" marL="0">
              <a:buNone/>
            </a:pPr>
            <a:r>
              <a:rPr lang="en-US" sz="1500" dirty="0">
                <a:solidFill>
                  <a:srgbClr val="3A2C1A"/>
                </a:solidFill>
                <a:latin typeface="Helvetica Neue" pitchFamily="34" charset="0"/>
                <a:ea typeface="Helvetica Neue" pitchFamily="34" charset="-122"/>
                <a:cs typeface="Helvetica Neue" pitchFamily="34" charset="-120"/>
              </a:rPr>
              <a:t>cut the work up along the index</a:t>
            </a:r>
            <a:endParaRPr lang="en-US" sz="1500" dirty="0"/>
          </a:p>
        </p:txBody>
      </p:sp>
      <p:sp>
        <p:nvSpPr>
          <p:cNvPr id="38" name="Shape 35"/>
          <p:cNvSpPr/>
          <p:nvPr/>
        </p:nvSpPr>
        <p:spPr>
          <a:xfrm>
            <a:off x="548640" y="5532120"/>
            <a:ext cx="54864" cy="457200"/>
          </a:xfrm>
          <a:prstGeom prst="rect">
            <a:avLst/>
          </a:prstGeom>
          <a:solidFill>
            <a:srgbClr val="A8864A"/>
          </a:solidFill>
          <a:ln/>
        </p:spPr>
      </p:sp>
      <p:sp>
        <p:nvSpPr>
          <p:cNvPr id="39" name="Text 36"/>
          <p:cNvSpPr/>
          <p:nvPr/>
        </p:nvSpPr>
        <p:spPr>
          <a:xfrm>
            <a:off x="777240" y="553212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Same word, different machinery. Do not go looking for threads inside a single query.</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Pipelining: overlapping the round trips</a:t>
            </a:r>
            <a:endParaRPr lang="en-US" sz="2500" dirty="0"/>
          </a:p>
        </p:txBody>
      </p:sp>
      <p:sp>
        <p:nvSpPr>
          <p:cNvPr id="8" name="Text 5"/>
          <p:cNvSpPr/>
          <p:nvPr/>
        </p:nvSpPr>
        <p:spPr>
          <a:xfrm>
            <a:off x="548640" y="1399032"/>
            <a:ext cx="1828800" cy="320040"/>
          </a:xfrm>
          <a:prstGeom prst="rect">
            <a:avLst/>
          </a:prstGeom>
          <a:noFill/>
          <a:ln/>
        </p:spPr>
        <p:txBody>
          <a:bodyPr wrap="square" lIns="0" tIns="0" rIns="0" bIns="0" rtlCol="0" anchor="t"/>
          <a:lstStyle/>
          <a:p>
            <a:pPr indent="0" marL="0">
              <a:buNone/>
            </a:pPr>
            <a:r>
              <a:rPr lang="en-US" sz="1300" b="1" spc="100" kern="0" dirty="0">
                <a:solidFill>
                  <a:srgbClr val="3A2C1A"/>
                </a:solidFill>
                <a:latin typeface="Helvetica Neue" pitchFamily="34" charset="0"/>
                <a:ea typeface="Helvetica Neue" pitchFamily="34" charset="-122"/>
                <a:cs typeface="Helvetica Neue" pitchFamily="34" charset="-120"/>
              </a:rPr>
              <a:t>SERIAL</a:t>
            </a:r>
            <a:endParaRPr lang="en-US" sz="1300" dirty="0"/>
          </a:p>
        </p:txBody>
      </p:sp>
      <p:sp>
        <p:nvSpPr>
          <p:cNvPr id="9" name="Shape 6"/>
          <p:cNvSpPr/>
          <p:nvPr/>
        </p:nvSpPr>
        <p:spPr>
          <a:xfrm>
            <a:off x="2194560" y="1353312"/>
            <a:ext cx="822960" cy="457200"/>
          </a:xfrm>
          <a:prstGeom prst="roundRect">
            <a:avLst>
              <a:gd name="adj" fmla="val 12000"/>
            </a:avLst>
          </a:prstGeom>
          <a:solidFill>
            <a:srgbClr val="EDE0C4"/>
          </a:solidFill>
          <a:ln w="15875">
            <a:solidFill>
              <a:srgbClr val="B5822B"/>
            </a:solidFill>
            <a:prstDash val="solid"/>
          </a:ln>
        </p:spPr>
      </p:sp>
      <p:sp>
        <p:nvSpPr>
          <p:cNvPr id="10" name="Text 7"/>
          <p:cNvSpPr/>
          <p:nvPr/>
        </p:nvSpPr>
        <p:spPr>
          <a:xfrm>
            <a:off x="2267712" y="1353312"/>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11" name="Shape 8"/>
          <p:cNvSpPr/>
          <p:nvPr/>
        </p:nvSpPr>
        <p:spPr>
          <a:xfrm>
            <a:off x="3063240" y="1490472"/>
            <a:ext cx="1371600" cy="182880"/>
          </a:xfrm>
          <a:prstGeom prst="rect">
            <a:avLst/>
          </a:prstGeom>
          <a:solidFill>
            <a:srgbClr val="DFD6C0"/>
          </a:solidFill>
          <a:ln/>
        </p:spPr>
      </p:sp>
      <p:sp>
        <p:nvSpPr>
          <p:cNvPr id="12" name="Text 9"/>
          <p:cNvSpPr/>
          <p:nvPr/>
        </p:nvSpPr>
        <p:spPr>
          <a:xfrm>
            <a:off x="3063240" y="1472184"/>
            <a:ext cx="1371600" cy="228600"/>
          </a:xfrm>
          <a:prstGeom prst="rect">
            <a:avLst/>
          </a:prstGeom>
          <a:noFill/>
          <a:ln/>
        </p:spPr>
        <p:txBody>
          <a:bodyPr wrap="square" lIns="0" tIns="0" rIns="0" bIns="0" rtlCol="0" anchor="t"/>
          <a:lstStyle/>
          <a:p>
            <a:pPr algn="ctr" indent="0" marL="0">
              <a:buNone/>
            </a:pPr>
            <a:r>
              <a:rPr lang="en-US" sz="950" dirty="0">
                <a:solidFill>
                  <a:srgbClr val="9A8A72"/>
                </a:solidFill>
                <a:latin typeface="Helvetica Neue" pitchFamily="34" charset="0"/>
                <a:ea typeface="Helvetica Neue" pitchFamily="34" charset="-122"/>
                <a:cs typeface="Helvetica Neue" pitchFamily="34" charset="-120"/>
              </a:rPr>
              <a:t>idle</a:t>
            </a:r>
            <a:endParaRPr lang="en-US" sz="950" dirty="0"/>
          </a:p>
        </p:txBody>
      </p:sp>
      <p:sp>
        <p:nvSpPr>
          <p:cNvPr id="13" name="Shape 10"/>
          <p:cNvSpPr/>
          <p:nvPr/>
        </p:nvSpPr>
        <p:spPr>
          <a:xfrm>
            <a:off x="4526280" y="1353312"/>
            <a:ext cx="822960" cy="457200"/>
          </a:xfrm>
          <a:prstGeom prst="roundRect">
            <a:avLst>
              <a:gd name="adj" fmla="val 12000"/>
            </a:avLst>
          </a:prstGeom>
          <a:solidFill>
            <a:srgbClr val="EDE0C4"/>
          </a:solidFill>
          <a:ln w="15875">
            <a:solidFill>
              <a:srgbClr val="B5822B"/>
            </a:solidFill>
            <a:prstDash val="solid"/>
          </a:ln>
        </p:spPr>
      </p:sp>
      <p:sp>
        <p:nvSpPr>
          <p:cNvPr id="14" name="Text 11"/>
          <p:cNvSpPr/>
          <p:nvPr/>
        </p:nvSpPr>
        <p:spPr>
          <a:xfrm>
            <a:off x="4599432" y="1353312"/>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15" name="Shape 12"/>
          <p:cNvSpPr/>
          <p:nvPr/>
        </p:nvSpPr>
        <p:spPr>
          <a:xfrm>
            <a:off x="5394960" y="1490472"/>
            <a:ext cx="1371600" cy="182880"/>
          </a:xfrm>
          <a:prstGeom prst="rect">
            <a:avLst/>
          </a:prstGeom>
          <a:solidFill>
            <a:srgbClr val="DFD6C0"/>
          </a:solidFill>
          <a:ln/>
        </p:spPr>
      </p:sp>
      <p:sp>
        <p:nvSpPr>
          <p:cNvPr id="16" name="Text 13"/>
          <p:cNvSpPr/>
          <p:nvPr/>
        </p:nvSpPr>
        <p:spPr>
          <a:xfrm>
            <a:off x="5394960" y="1472184"/>
            <a:ext cx="1371600" cy="228600"/>
          </a:xfrm>
          <a:prstGeom prst="rect">
            <a:avLst/>
          </a:prstGeom>
          <a:noFill/>
          <a:ln/>
        </p:spPr>
        <p:txBody>
          <a:bodyPr wrap="square" lIns="0" tIns="0" rIns="0" bIns="0" rtlCol="0" anchor="t"/>
          <a:lstStyle/>
          <a:p>
            <a:pPr algn="ctr" indent="0" marL="0">
              <a:buNone/>
            </a:pPr>
            <a:r>
              <a:rPr lang="en-US" sz="950" dirty="0">
                <a:solidFill>
                  <a:srgbClr val="9A8A72"/>
                </a:solidFill>
                <a:latin typeface="Helvetica Neue" pitchFamily="34" charset="0"/>
                <a:ea typeface="Helvetica Neue" pitchFamily="34" charset="-122"/>
                <a:cs typeface="Helvetica Neue" pitchFamily="34" charset="-120"/>
              </a:rPr>
              <a:t>idle</a:t>
            </a:r>
            <a:endParaRPr lang="en-US" sz="950" dirty="0"/>
          </a:p>
        </p:txBody>
      </p:sp>
      <p:sp>
        <p:nvSpPr>
          <p:cNvPr id="17" name="Shape 14"/>
          <p:cNvSpPr/>
          <p:nvPr/>
        </p:nvSpPr>
        <p:spPr>
          <a:xfrm>
            <a:off x="6858000" y="1353312"/>
            <a:ext cx="822960" cy="457200"/>
          </a:xfrm>
          <a:prstGeom prst="roundRect">
            <a:avLst>
              <a:gd name="adj" fmla="val 12000"/>
            </a:avLst>
          </a:prstGeom>
          <a:solidFill>
            <a:srgbClr val="EDE0C4"/>
          </a:solidFill>
          <a:ln w="15875">
            <a:solidFill>
              <a:srgbClr val="B5822B"/>
            </a:solidFill>
            <a:prstDash val="solid"/>
          </a:ln>
        </p:spPr>
      </p:sp>
      <p:sp>
        <p:nvSpPr>
          <p:cNvPr id="18" name="Text 15"/>
          <p:cNvSpPr/>
          <p:nvPr/>
        </p:nvSpPr>
        <p:spPr>
          <a:xfrm>
            <a:off x="6931152" y="1353312"/>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19" name="Shape 16"/>
          <p:cNvSpPr/>
          <p:nvPr/>
        </p:nvSpPr>
        <p:spPr>
          <a:xfrm>
            <a:off x="7726680" y="1490472"/>
            <a:ext cx="1371600" cy="182880"/>
          </a:xfrm>
          <a:prstGeom prst="rect">
            <a:avLst/>
          </a:prstGeom>
          <a:solidFill>
            <a:srgbClr val="DFD6C0"/>
          </a:solidFill>
          <a:ln/>
        </p:spPr>
      </p:sp>
      <p:sp>
        <p:nvSpPr>
          <p:cNvPr id="20" name="Text 17"/>
          <p:cNvSpPr/>
          <p:nvPr/>
        </p:nvSpPr>
        <p:spPr>
          <a:xfrm>
            <a:off x="7726680" y="1472184"/>
            <a:ext cx="1371600" cy="228600"/>
          </a:xfrm>
          <a:prstGeom prst="rect">
            <a:avLst/>
          </a:prstGeom>
          <a:noFill/>
          <a:ln/>
        </p:spPr>
        <p:txBody>
          <a:bodyPr wrap="square" lIns="0" tIns="0" rIns="0" bIns="0" rtlCol="0" anchor="t"/>
          <a:lstStyle/>
          <a:p>
            <a:pPr algn="ctr" indent="0" marL="0">
              <a:buNone/>
            </a:pPr>
            <a:r>
              <a:rPr lang="en-US" sz="950" dirty="0">
                <a:solidFill>
                  <a:srgbClr val="9A8A72"/>
                </a:solidFill>
                <a:latin typeface="Helvetica Neue" pitchFamily="34" charset="0"/>
                <a:ea typeface="Helvetica Neue" pitchFamily="34" charset="-122"/>
                <a:cs typeface="Helvetica Neue" pitchFamily="34" charset="-120"/>
              </a:rPr>
              <a:t>idle</a:t>
            </a:r>
            <a:endParaRPr lang="en-US" sz="950" dirty="0"/>
          </a:p>
        </p:txBody>
      </p:sp>
      <p:sp>
        <p:nvSpPr>
          <p:cNvPr id="21" name="Shape 18"/>
          <p:cNvSpPr/>
          <p:nvPr/>
        </p:nvSpPr>
        <p:spPr>
          <a:xfrm>
            <a:off x="9189720" y="1353312"/>
            <a:ext cx="822960" cy="457200"/>
          </a:xfrm>
          <a:prstGeom prst="roundRect">
            <a:avLst>
              <a:gd name="adj" fmla="val 12000"/>
            </a:avLst>
          </a:prstGeom>
          <a:solidFill>
            <a:srgbClr val="EDE0C4"/>
          </a:solidFill>
          <a:ln w="15875">
            <a:solidFill>
              <a:srgbClr val="B5822B"/>
            </a:solidFill>
            <a:prstDash val="solid"/>
          </a:ln>
        </p:spPr>
      </p:sp>
      <p:sp>
        <p:nvSpPr>
          <p:cNvPr id="22" name="Text 19"/>
          <p:cNvSpPr/>
          <p:nvPr/>
        </p:nvSpPr>
        <p:spPr>
          <a:xfrm>
            <a:off x="9262872" y="1353312"/>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23" name="Shape 20"/>
          <p:cNvSpPr/>
          <p:nvPr/>
        </p:nvSpPr>
        <p:spPr>
          <a:xfrm>
            <a:off x="10058400" y="1490472"/>
            <a:ext cx="1371600" cy="182880"/>
          </a:xfrm>
          <a:prstGeom prst="rect">
            <a:avLst/>
          </a:prstGeom>
          <a:solidFill>
            <a:srgbClr val="DFD6C0"/>
          </a:solidFill>
          <a:ln/>
        </p:spPr>
      </p:sp>
      <p:sp>
        <p:nvSpPr>
          <p:cNvPr id="24" name="Text 21"/>
          <p:cNvSpPr/>
          <p:nvPr/>
        </p:nvSpPr>
        <p:spPr>
          <a:xfrm>
            <a:off x="10058400" y="1472184"/>
            <a:ext cx="1371600" cy="228600"/>
          </a:xfrm>
          <a:prstGeom prst="rect">
            <a:avLst/>
          </a:prstGeom>
          <a:noFill/>
          <a:ln/>
        </p:spPr>
        <p:txBody>
          <a:bodyPr wrap="square" lIns="0" tIns="0" rIns="0" bIns="0" rtlCol="0" anchor="t"/>
          <a:lstStyle/>
          <a:p>
            <a:pPr algn="ctr" indent="0" marL="0">
              <a:buNone/>
            </a:pPr>
            <a:r>
              <a:rPr lang="en-US" sz="950" dirty="0">
                <a:solidFill>
                  <a:srgbClr val="9A8A72"/>
                </a:solidFill>
                <a:latin typeface="Helvetica Neue" pitchFamily="34" charset="0"/>
                <a:ea typeface="Helvetica Neue" pitchFamily="34" charset="-122"/>
                <a:cs typeface="Helvetica Neue" pitchFamily="34" charset="-120"/>
              </a:rPr>
              <a:t>idle</a:t>
            </a:r>
            <a:endParaRPr lang="en-US" sz="950" dirty="0"/>
          </a:p>
        </p:txBody>
      </p:sp>
      <p:sp>
        <p:nvSpPr>
          <p:cNvPr id="25" name="Text 22"/>
          <p:cNvSpPr/>
          <p:nvPr/>
        </p:nvSpPr>
        <p:spPr>
          <a:xfrm>
            <a:off x="2194560" y="1901952"/>
            <a:ext cx="9418320" cy="320040"/>
          </a:xfrm>
          <a:prstGeom prst="rect">
            <a:avLst/>
          </a:prstGeom>
          <a:noFill/>
          <a:ln/>
        </p:spPr>
        <p:txBody>
          <a:bodyPr wrap="square" lIns="0" tIns="0" rIns="0" bIns="0" rtlCol="0" anchor="t"/>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the writer waits on the round trip between every transaction</a:t>
            </a:r>
            <a:endParaRPr lang="en-US" sz="1250" dirty="0"/>
          </a:p>
        </p:txBody>
      </p:sp>
      <p:sp>
        <p:nvSpPr>
          <p:cNvPr id="26" name="Text 23"/>
          <p:cNvSpPr/>
          <p:nvPr/>
        </p:nvSpPr>
        <p:spPr>
          <a:xfrm>
            <a:off x="548640" y="2743200"/>
            <a:ext cx="1828800" cy="320040"/>
          </a:xfrm>
          <a:prstGeom prst="rect">
            <a:avLst/>
          </a:prstGeom>
          <a:noFill/>
          <a:ln/>
        </p:spPr>
        <p:txBody>
          <a:bodyPr wrap="square" lIns="0" tIns="0" rIns="0" bIns="0" rtlCol="0" anchor="t"/>
          <a:lstStyle/>
          <a:p>
            <a:pPr indent="0" marL="0">
              <a:buNone/>
            </a:pPr>
            <a:r>
              <a:rPr lang="en-US" sz="1300" b="1" spc="100" kern="0" dirty="0">
                <a:solidFill>
                  <a:srgbClr val="3A2C1A"/>
                </a:solidFill>
                <a:latin typeface="Helvetica Neue" pitchFamily="34" charset="0"/>
                <a:ea typeface="Helvetica Neue" pitchFamily="34" charset="-122"/>
                <a:cs typeface="Helvetica Neue" pitchFamily="34" charset="-120"/>
              </a:rPr>
              <a:t>PIPELINED</a:t>
            </a:r>
            <a:endParaRPr lang="en-US" sz="1300" dirty="0"/>
          </a:p>
        </p:txBody>
      </p:sp>
      <p:sp>
        <p:nvSpPr>
          <p:cNvPr id="27" name="Shape 24"/>
          <p:cNvSpPr/>
          <p:nvPr/>
        </p:nvSpPr>
        <p:spPr>
          <a:xfrm>
            <a:off x="2194560" y="2697480"/>
            <a:ext cx="822960" cy="457200"/>
          </a:xfrm>
          <a:prstGeom prst="roundRect">
            <a:avLst>
              <a:gd name="adj" fmla="val 12000"/>
            </a:avLst>
          </a:prstGeom>
          <a:solidFill>
            <a:srgbClr val="DDE3CC"/>
          </a:solidFill>
          <a:ln w="15875">
            <a:solidFill>
              <a:srgbClr val="5F7A3A"/>
            </a:solidFill>
            <a:prstDash val="solid"/>
          </a:ln>
        </p:spPr>
      </p:sp>
      <p:sp>
        <p:nvSpPr>
          <p:cNvPr id="28" name="Text 25"/>
          <p:cNvSpPr/>
          <p:nvPr/>
        </p:nvSpPr>
        <p:spPr>
          <a:xfrm>
            <a:off x="22677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29" name="Shape 26"/>
          <p:cNvSpPr/>
          <p:nvPr/>
        </p:nvSpPr>
        <p:spPr>
          <a:xfrm>
            <a:off x="3108960" y="2697480"/>
            <a:ext cx="822960" cy="457200"/>
          </a:xfrm>
          <a:prstGeom prst="roundRect">
            <a:avLst>
              <a:gd name="adj" fmla="val 12000"/>
            </a:avLst>
          </a:prstGeom>
          <a:solidFill>
            <a:srgbClr val="DDE3CC"/>
          </a:solidFill>
          <a:ln w="15875">
            <a:solidFill>
              <a:srgbClr val="5F7A3A"/>
            </a:solidFill>
            <a:prstDash val="solid"/>
          </a:ln>
        </p:spPr>
      </p:sp>
      <p:sp>
        <p:nvSpPr>
          <p:cNvPr id="30" name="Text 27"/>
          <p:cNvSpPr/>
          <p:nvPr/>
        </p:nvSpPr>
        <p:spPr>
          <a:xfrm>
            <a:off x="31821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31" name="Shape 28"/>
          <p:cNvSpPr/>
          <p:nvPr/>
        </p:nvSpPr>
        <p:spPr>
          <a:xfrm>
            <a:off x="4023360" y="2697480"/>
            <a:ext cx="822960" cy="457200"/>
          </a:xfrm>
          <a:prstGeom prst="roundRect">
            <a:avLst>
              <a:gd name="adj" fmla="val 12000"/>
            </a:avLst>
          </a:prstGeom>
          <a:solidFill>
            <a:srgbClr val="DDE3CC"/>
          </a:solidFill>
          <a:ln w="15875">
            <a:solidFill>
              <a:srgbClr val="5F7A3A"/>
            </a:solidFill>
            <a:prstDash val="solid"/>
          </a:ln>
        </p:spPr>
      </p:sp>
      <p:sp>
        <p:nvSpPr>
          <p:cNvPr id="32" name="Text 29"/>
          <p:cNvSpPr/>
          <p:nvPr/>
        </p:nvSpPr>
        <p:spPr>
          <a:xfrm>
            <a:off x="40965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33" name="Shape 30"/>
          <p:cNvSpPr/>
          <p:nvPr/>
        </p:nvSpPr>
        <p:spPr>
          <a:xfrm>
            <a:off x="4937760" y="2697480"/>
            <a:ext cx="822960" cy="457200"/>
          </a:xfrm>
          <a:prstGeom prst="roundRect">
            <a:avLst>
              <a:gd name="adj" fmla="val 12000"/>
            </a:avLst>
          </a:prstGeom>
          <a:solidFill>
            <a:srgbClr val="DDE3CC"/>
          </a:solidFill>
          <a:ln w="15875">
            <a:solidFill>
              <a:srgbClr val="5F7A3A"/>
            </a:solidFill>
            <a:prstDash val="solid"/>
          </a:ln>
        </p:spPr>
      </p:sp>
      <p:sp>
        <p:nvSpPr>
          <p:cNvPr id="34" name="Text 31"/>
          <p:cNvSpPr/>
          <p:nvPr/>
        </p:nvSpPr>
        <p:spPr>
          <a:xfrm>
            <a:off x="50109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35" name="Shape 32"/>
          <p:cNvSpPr/>
          <p:nvPr/>
        </p:nvSpPr>
        <p:spPr>
          <a:xfrm>
            <a:off x="5852160" y="2697480"/>
            <a:ext cx="822960" cy="457200"/>
          </a:xfrm>
          <a:prstGeom prst="roundRect">
            <a:avLst>
              <a:gd name="adj" fmla="val 12000"/>
            </a:avLst>
          </a:prstGeom>
          <a:solidFill>
            <a:srgbClr val="DDE3CC"/>
          </a:solidFill>
          <a:ln w="15875">
            <a:solidFill>
              <a:srgbClr val="5F7A3A"/>
            </a:solidFill>
            <a:prstDash val="solid"/>
          </a:ln>
        </p:spPr>
      </p:sp>
      <p:sp>
        <p:nvSpPr>
          <p:cNvPr id="36" name="Text 33"/>
          <p:cNvSpPr/>
          <p:nvPr/>
        </p:nvSpPr>
        <p:spPr>
          <a:xfrm>
            <a:off x="59253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37" name="Shape 34"/>
          <p:cNvSpPr/>
          <p:nvPr/>
        </p:nvSpPr>
        <p:spPr>
          <a:xfrm>
            <a:off x="6766560" y="2697480"/>
            <a:ext cx="822960" cy="457200"/>
          </a:xfrm>
          <a:prstGeom prst="roundRect">
            <a:avLst>
              <a:gd name="adj" fmla="val 12000"/>
            </a:avLst>
          </a:prstGeom>
          <a:solidFill>
            <a:srgbClr val="DDE3CC"/>
          </a:solidFill>
          <a:ln w="15875">
            <a:solidFill>
              <a:srgbClr val="5F7A3A"/>
            </a:solidFill>
            <a:prstDash val="solid"/>
          </a:ln>
        </p:spPr>
      </p:sp>
      <p:sp>
        <p:nvSpPr>
          <p:cNvPr id="38" name="Text 35"/>
          <p:cNvSpPr/>
          <p:nvPr/>
        </p:nvSpPr>
        <p:spPr>
          <a:xfrm>
            <a:off x="68397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39" name="Shape 36"/>
          <p:cNvSpPr/>
          <p:nvPr/>
        </p:nvSpPr>
        <p:spPr>
          <a:xfrm>
            <a:off x="7680960" y="2697480"/>
            <a:ext cx="822960" cy="457200"/>
          </a:xfrm>
          <a:prstGeom prst="roundRect">
            <a:avLst>
              <a:gd name="adj" fmla="val 12000"/>
            </a:avLst>
          </a:prstGeom>
          <a:solidFill>
            <a:srgbClr val="DDE3CC"/>
          </a:solidFill>
          <a:ln w="15875">
            <a:solidFill>
              <a:srgbClr val="5F7A3A"/>
            </a:solidFill>
            <a:prstDash val="solid"/>
          </a:ln>
        </p:spPr>
      </p:sp>
      <p:sp>
        <p:nvSpPr>
          <p:cNvPr id="40" name="Text 37"/>
          <p:cNvSpPr/>
          <p:nvPr/>
        </p:nvSpPr>
        <p:spPr>
          <a:xfrm>
            <a:off x="77541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41" name="Shape 38"/>
          <p:cNvSpPr/>
          <p:nvPr/>
        </p:nvSpPr>
        <p:spPr>
          <a:xfrm>
            <a:off x="8595360" y="2697480"/>
            <a:ext cx="822960" cy="457200"/>
          </a:xfrm>
          <a:prstGeom prst="roundRect">
            <a:avLst>
              <a:gd name="adj" fmla="val 12000"/>
            </a:avLst>
          </a:prstGeom>
          <a:solidFill>
            <a:srgbClr val="DDE3CC"/>
          </a:solidFill>
          <a:ln w="15875">
            <a:solidFill>
              <a:srgbClr val="5F7A3A"/>
            </a:solidFill>
            <a:prstDash val="solid"/>
          </a:ln>
        </p:spPr>
      </p:sp>
      <p:sp>
        <p:nvSpPr>
          <p:cNvPr id="42" name="Text 39"/>
          <p:cNvSpPr/>
          <p:nvPr/>
        </p:nvSpPr>
        <p:spPr>
          <a:xfrm>
            <a:off x="8668512" y="2697480"/>
            <a:ext cx="676656" cy="45720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tx</a:t>
            </a:r>
            <a:endParaRPr lang="en-US" sz="1100" dirty="0"/>
          </a:p>
        </p:txBody>
      </p:sp>
      <p:sp>
        <p:nvSpPr>
          <p:cNvPr id="43" name="Text 40"/>
          <p:cNvSpPr/>
          <p:nvPr/>
        </p:nvSpPr>
        <p:spPr>
          <a:xfrm>
            <a:off x="2194560" y="3246120"/>
            <a:ext cx="9418320" cy="320040"/>
          </a:xfrm>
          <a:prstGeom prst="rect">
            <a:avLst/>
          </a:prstGeom>
          <a:noFill/>
          <a:ln/>
        </p:spPr>
        <p:txBody>
          <a:bodyPr wrap="square" lIns="0" tIns="0" rIns="0" bIns="0" rtlCol="0" anchor="t"/>
          <a:lstStyle/>
          <a:p>
            <a:pPr indent="0" marL="0">
              <a:buNone/>
            </a:pPr>
            <a:r>
              <a:rPr lang="en-US" sz="1250" i="1" dirty="0">
                <a:solidFill>
                  <a:srgbClr val="5F7A3A"/>
                </a:solidFill>
                <a:latin typeface="Helvetica Neue" pitchFamily="34" charset="0"/>
                <a:ea typeface="Helvetica Neue" pitchFamily="34" charset="-122"/>
                <a:cs typeface="Helvetica Neue" pitchFamily="34" charset="-120"/>
              </a:rPr>
              <a:t>8–16 in flight covers most of the benefit — unbounded trades latency for heap</a:t>
            </a:r>
            <a:endParaRPr lang="en-US" sz="1250" dirty="0"/>
          </a:p>
        </p:txBody>
      </p:sp>
      <p:sp>
        <p:nvSpPr>
          <p:cNvPr id="44" name="Shape 41"/>
          <p:cNvSpPr/>
          <p:nvPr/>
        </p:nvSpPr>
        <p:spPr>
          <a:xfrm>
            <a:off x="548640" y="3886200"/>
            <a:ext cx="11064240" cy="1234440"/>
          </a:xfrm>
          <a:prstGeom prst="roundRect">
            <a:avLst>
              <a:gd name="adj" fmla="val 5926"/>
            </a:avLst>
          </a:prstGeom>
          <a:solidFill>
            <a:srgbClr val="E6DFCE"/>
          </a:solidFill>
          <a:ln/>
        </p:spPr>
      </p:sp>
      <p:sp>
        <p:nvSpPr>
          <p:cNvPr id="45" name="Text 42"/>
          <p:cNvSpPr/>
          <p:nvPr/>
        </p:nvSpPr>
        <p:spPr>
          <a:xfrm>
            <a:off x="822960" y="4069080"/>
            <a:ext cx="10515600" cy="411480"/>
          </a:xfrm>
          <a:prstGeom prst="rect">
            <a:avLst/>
          </a:prstGeom>
          <a:noFill/>
          <a:ln/>
        </p:spPr>
        <p:txBody>
          <a:bodyPr wrap="square" lIns="0" tIns="0" rIns="0" bIns="0" rtlCol="0" anchor="t"/>
          <a:lstStyle/>
          <a:p>
            <a:pPr indent="0" marL="0">
              <a:buNone/>
            </a:pPr>
            <a:r>
              <a:rPr lang="en-US" sz="2100" dirty="0">
                <a:solidFill>
                  <a:srgbClr val="3A2C1A"/>
                </a:solidFill>
                <a:latin typeface="Georgia" pitchFamily="34" charset="0"/>
                <a:ea typeface="Georgia" pitchFamily="34" charset="-122"/>
                <a:cs typeface="Georgia" pitchFamily="34" charset="-120"/>
              </a:rPr>
              <a:t>Pipelining does not make the transactor faster.</a:t>
            </a:r>
            <a:endParaRPr lang="en-US" sz="2100" dirty="0"/>
          </a:p>
        </p:txBody>
      </p:sp>
      <p:sp>
        <p:nvSpPr>
          <p:cNvPr id="46" name="Text 43"/>
          <p:cNvSpPr/>
          <p:nvPr/>
        </p:nvSpPr>
        <p:spPr>
          <a:xfrm>
            <a:off x="822960" y="4526280"/>
            <a:ext cx="10515600" cy="457200"/>
          </a:xfrm>
          <a:prstGeom prst="rect">
            <a:avLst/>
          </a:prstGeom>
          <a:noFill/>
          <a:ln/>
        </p:spPr>
        <p:txBody>
          <a:bodyPr wrap="square" lIns="0" tIns="0" rIns="0" bIns="0" rtlCol="0" anchor="t"/>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It keeps it from idling between round trips. Whether that is worth anything depends entirely on how big the round trip is.</a:t>
            </a:r>
            <a:endParaRPr lang="en-US" sz="1400" dirty="0"/>
          </a:p>
        </p:txBody>
      </p:sp>
      <p:sp>
        <p:nvSpPr>
          <p:cNvPr id="47" name="Shape 44"/>
          <p:cNvSpPr/>
          <p:nvPr/>
        </p:nvSpPr>
        <p:spPr>
          <a:xfrm>
            <a:off x="548640" y="5349240"/>
            <a:ext cx="54864" cy="457200"/>
          </a:xfrm>
          <a:prstGeom prst="rect">
            <a:avLst/>
          </a:prstGeom>
          <a:solidFill>
            <a:srgbClr val="A8864A"/>
          </a:solidFill>
          <a:ln/>
        </p:spPr>
      </p:sp>
      <p:sp>
        <p:nvSpPr>
          <p:cNvPr id="48" name="Text 45"/>
          <p:cNvSpPr/>
          <p:nvPr/>
        </p:nvSpPr>
        <p:spPr>
          <a:xfrm>
            <a:off x="777240" y="53492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The benefit is proportional to the round trip you are hiding — so it is measured per environment.</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24</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Measured on mem: serial and pipelined are identical</a:t>
            </a:r>
            <a:endParaRPr lang="en-US" sz="2500" dirty="0"/>
          </a:p>
        </p:txBody>
      </p:sp>
      <p:sp>
        <p:nvSpPr>
          <p:cNvPr id="8" name="Shape 5"/>
          <p:cNvSpPr/>
          <p:nvPr/>
        </p:nvSpPr>
        <p:spPr>
          <a:xfrm>
            <a:off x="548640" y="1325880"/>
            <a:ext cx="5486400" cy="1005840"/>
          </a:xfrm>
          <a:prstGeom prst="roundRect">
            <a:avLst>
              <a:gd name="adj" fmla="val 7273"/>
            </a:avLst>
          </a:prstGeom>
          <a:solidFill>
            <a:srgbClr val="E6DFCE"/>
          </a:solidFill>
          <a:ln/>
        </p:spPr>
      </p:sp>
      <p:sp>
        <p:nvSpPr>
          <p:cNvPr id="9" name="Text 6"/>
          <p:cNvSpPr/>
          <p:nvPr/>
        </p:nvSpPr>
        <p:spPr>
          <a:xfrm>
            <a:off x="749808" y="1472184"/>
            <a:ext cx="5084064" cy="71323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[(serial! 500000) (pipeline! 600000)]</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=&gt; [24.69 24.31]        ms — no difference</a:t>
            </a:r>
            <a:endParaRPr lang="en-US" sz="1250" dirty="0"/>
          </a:p>
        </p:txBody>
      </p:sp>
      <p:sp>
        <p:nvSpPr>
          <p:cNvPr id="10" name="Text 7"/>
          <p:cNvSpPr/>
          <p:nvPr/>
        </p:nvSpPr>
        <p:spPr>
          <a:xfrm>
            <a:off x="6309360" y="1371600"/>
            <a:ext cx="1463040" cy="50292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serial!</a:t>
            </a:r>
            <a:endParaRPr lang="en-US" sz="1250" dirty="0"/>
          </a:p>
        </p:txBody>
      </p:sp>
      <p:sp>
        <p:nvSpPr>
          <p:cNvPr id="11" name="Shape 8"/>
          <p:cNvSpPr/>
          <p:nvPr/>
        </p:nvSpPr>
        <p:spPr>
          <a:xfrm>
            <a:off x="7955280" y="1426464"/>
            <a:ext cx="2194560" cy="393192"/>
          </a:xfrm>
          <a:prstGeom prst="rect">
            <a:avLst/>
          </a:prstGeom>
          <a:solidFill>
            <a:srgbClr val="E6DFCE"/>
          </a:solidFill>
          <a:ln/>
        </p:spPr>
      </p:sp>
      <p:sp>
        <p:nvSpPr>
          <p:cNvPr id="12" name="Shape 9"/>
          <p:cNvSpPr/>
          <p:nvPr/>
        </p:nvSpPr>
        <p:spPr>
          <a:xfrm>
            <a:off x="7955280" y="1426464"/>
            <a:ext cx="2194560" cy="393192"/>
          </a:xfrm>
          <a:prstGeom prst="rect">
            <a:avLst/>
          </a:prstGeom>
          <a:solidFill>
            <a:srgbClr val="B5822B"/>
          </a:solidFill>
          <a:ln/>
        </p:spPr>
      </p:sp>
      <p:sp>
        <p:nvSpPr>
          <p:cNvPr id="13" name="Text 10"/>
          <p:cNvSpPr/>
          <p:nvPr/>
        </p:nvSpPr>
        <p:spPr>
          <a:xfrm>
            <a:off x="10241280" y="1371600"/>
            <a:ext cx="1371600" cy="50292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24.69 ms</a:t>
            </a:r>
            <a:endParaRPr lang="en-US" sz="1250" dirty="0"/>
          </a:p>
        </p:txBody>
      </p:sp>
      <p:sp>
        <p:nvSpPr>
          <p:cNvPr id="14" name="Text 11"/>
          <p:cNvSpPr/>
          <p:nvPr/>
        </p:nvSpPr>
        <p:spPr>
          <a:xfrm>
            <a:off x="6309360" y="2039112"/>
            <a:ext cx="1463040" cy="50292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pipeline!</a:t>
            </a:r>
            <a:endParaRPr lang="en-US" sz="1250" dirty="0"/>
          </a:p>
        </p:txBody>
      </p:sp>
      <p:sp>
        <p:nvSpPr>
          <p:cNvPr id="15" name="Shape 12"/>
          <p:cNvSpPr/>
          <p:nvPr/>
        </p:nvSpPr>
        <p:spPr>
          <a:xfrm>
            <a:off x="7955280" y="2093976"/>
            <a:ext cx="2194560" cy="393192"/>
          </a:xfrm>
          <a:prstGeom prst="rect">
            <a:avLst/>
          </a:prstGeom>
          <a:solidFill>
            <a:srgbClr val="E6DFCE"/>
          </a:solidFill>
          <a:ln/>
        </p:spPr>
      </p:sp>
      <p:sp>
        <p:nvSpPr>
          <p:cNvPr id="16" name="Shape 13"/>
          <p:cNvSpPr/>
          <p:nvPr/>
        </p:nvSpPr>
        <p:spPr>
          <a:xfrm>
            <a:off x="7955280" y="2093976"/>
            <a:ext cx="2160784" cy="393192"/>
          </a:xfrm>
          <a:prstGeom prst="rect">
            <a:avLst/>
          </a:prstGeom>
          <a:solidFill>
            <a:srgbClr val="5F7A3A"/>
          </a:solidFill>
          <a:ln/>
        </p:spPr>
      </p:sp>
      <p:sp>
        <p:nvSpPr>
          <p:cNvPr id="17" name="Text 14"/>
          <p:cNvSpPr/>
          <p:nvPr/>
        </p:nvSpPr>
        <p:spPr>
          <a:xfrm>
            <a:off x="10241280" y="2039112"/>
            <a:ext cx="1371600" cy="50292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24.31 ms</a:t>
            </a:r>
            <a:endParaRPr lang="en-US" sz="1250" dirty="0"/>
          </a:p>
        </p:txBody>
      </p:sp>
      <p:sp>
        <p:nvSpPr>
          <p:cNvPr id="18" name="Text 15"/>
          <p:cNvSpPr/>
          <p:nvPr/>
        </p:nvSpPr>
        <p:spPr>
          <a:xfrm>
            <a:off x="6309360" y="2468880"/>
            <a:ext cx="5303520" cy="274320"/>
          </a:xfrm>
          <a:prstGeom prst="rect">
            <a:avLst/>
          </a:prstGeom>
          <a:noFill/>
          <a:ln/>
        </p:spPr>
        <p:txBody>
          <a:bodyPr wrap="square" lIns="0" tIns="0" rIns="0" bIns="0" rtlCol="0" anchor="t"/>
          <a:lstStyle/>
          <a:p>
            <a:pPr algn="ctr" indent="0" marL="0">
              <a:buNone/>
            </a:pPr>
            <a:r>
              <a:rPr lang="en-US" sz="1200" i="1" dirty="0">
                <a:solidFill>
                  <a:srgbClr val="9A8A72"/>
                </a:solidFill>
                <a:latin typeface="Helvetica Neue" pitchFamily="34" charset="0"/>
                <a:ea typeface="Helvetica Neue" pitchFamily="34" charset="-122"/>
                <a:cs typeface="Helvetica Neue" pitchFamily="34" charset="-120"/>
              </a:rPr>
              <a:t>identical — on purpose</a:t>
            </a:r>
            <a:endParaRPr lang="en-US" sz="1200" dirty="0"/>
          </a:p>
        </p:txBody>
      </p:sp>
      <p:sp>
        <p:nvSpPr>
          <p:cNvPr id="19" name="Shape 16"/>
          <p:cNvSpPr/>
          <p:nvPr/>
        </p:nvSpPr>
        <p:spPr>
          <a:xfrm>
            <a:off x="548640" y="2834640"/>
            <a:ext cx="5349240" cy="1737360"/>
          </a:xfrm>
          <a:prstGeom prst="roundRect">
            <a:avLst>
              <a:gd name="adj" fmla="val 3158"/>
            </a:avLst>
          </a:prstGeom>
          <a:solidFill>
            <a:srgbClr val="E6DFCE"/>
          </a:solidFill>
          <a:ln w="15875">
            <a:solidFill>
              <a:srgbClr val="C9BDA4"/>
            </a:solidFill>
            <a:prstDash val="solid"/>
          </a:ln>
        </p:spPr>
      </p:sp>
      <p:sp>
        <p:nvSpPr>
          <p:cNvPr id="20" name="Text 17"/>
          <p:cNvSpPr/>
          <p:nvPr/>
        </p:nvSpPr>
        <p:spPr>
          <a:xfrm>
            <a:off x="621792" y="3392424"/>
            <a:ext cx="5202936" cy="310896"/>
          </a:xfrm>
          <a:prstGeom prst="rect">
            <a:avLst/>
          </a:prstGeom>
          <a:noFill/>
          <a:ln/>
        </p:spPr>
        <p:txBody>
          <a:bodyPr wrap="square" lIns="0" tIns="0" rIns="0" bIns="0" rtlCol="0" anchor="b">
            <a:normAutofit/>
          </a:bodyPr>
          <a:lstStyle/>
          <a:p>
            <a:pPr algn="ctr" indent="0" marL="0">
              <a:buNone/>
            </a:pPr>
            <a:r>
              <a:rPr lang="en-US" sz="1600" b="1" dirty="0">
                <a:solidFill>
                  <a:srgbClr val="3A2C1A"/>
                </a:solidFill>
                <a:latin typeface="Helvetica Neue" pitchFamily="34" charset="0"/>
                <a:ea typeface="Helvetica Neue" pitchFamily="34" charset="-122"/>
                <a:cs typeface="Helvetica Neue" pitchFamily="34" charset="-120"/>
              </a:rPr>
              <a:t>datomic:mem://</a:t>
            </a:r>
            <a:endParaRPr lang="en-US" sz="1600" dirty="0"/>
          </a:p>
        </p:txBody>
      </p:sp>
      <p:sp>
        <p:nvSpPr>
          <p:cNvPr id="21" name="Text 18"/>
          <p:cNvSpPr/>
          <p:nvPr/>
        </p:nvSpPr>
        <p:spPr>
          <a:xfrm>
            <a:off x="621792" y="3685032"/>
            <a:ext cx="5202936" cy="868680"/>
          </a:xfrm>
          <a:prstGeom prst="rect">
            <a:avLst/>
          </a:prstGeom>
          <a:noFill/>
          <a:ln/>
        </p:spPr>
        <p:txBody>
          <a:bodyPr wrap="square" lIns="0" tIns="0" rIns="0" bIns="0" rtlCol="0" anchor="t">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transactor in the SAME JVM</a:t>
            </a:r>
            <a:endParaRPr lang="en-US" sz="1300" dirty="0"/>
          </a:p>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 no round trip to overlap</a:t>
            </a:r>
            <a:endParaRPr lang="en-US" sz="1300" dirty="0"/>
          </a:p>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 pipelining has nothing to do</a:t>
            </a:r>
            <a:endParaRPr lang="en-US" sz="1300" dirty="0"/>
          </a:p>
        </p:txBody>
      </p:sp>
      <p:sp>
        <p:nvSpPr>
          <p:cNvPr id="22" name="Shape 19"/>
          <p:cNvSpPr/>
          <p:nvPr/>
        </p:nvSpPr>
        <p:spPr>
          <a:xfrm>
            <a:off x="6263640" y="2834640"/>
            <a:ext cx="5349240" cy="1737360"/>
          </a:xfrm>
          <a:prstGeom prst="roundRect">
            <a:avLst>
              <a:gd name="adj" fmla="val 3158"/>
            </a:avLst>
          </a:prstGeom>
          <a:solidFill>
            <a:srgbClr val="D3DEE1"/>
          </a:solidFill>
          <a:ln w="15875">
            <a:solidFill>
              <a:srgbClr val="3F6470"/>
            </a:solidFill>
            <a:prstDash val="solid"/>
          </a:ln>
        </p:spPr>
      </p:sp>
      <p:sp>
        <p:nvSpPr>
          <p:cNvPr id="23" name="Text 20"/>
          <p:cNvSpPr/>
          <p:nvPr/>
        </p:nvSpPr>
        <p:spPr>
          <a:xfrm>
            <a:off x="6336792" y="3392424"/>
            <a:ext cx="5202936" cy="310896"/>
          </a:xfrm>
          <a:prstGeom prst="rect">
            <a:avLst/>
          </a:prstGeom>
          <a:noFill/>
          <a:ln/>
        </p:spPr>
        <p:txBody>
          <a:bodyPr wrap="square" lIns="0" tIns="0" rIns="0" bIns="0" rtlCol="0" anchor="b">
            <a:normAutofit/>
          </a:bodyPr>
          <a:lstStyle/>
          <a:p>
            <a:pPr algn="ctr" indent="0" marL="0">
              <a:buNone/>
            </a:pPr>
            <a:r>
              <a:rPr lang="en-US" sz="1600" b="1" dirty="0">
                <a:solidFill>
                  <a:srgbClr val="3A2C1A"/>
                </a:solidFill>
                <a:latin typeface="Helvetica Neue" pitchFamily="34" charset="0"/>
                <a:ea typeface="Helvetica Neue" pitchFamily="34" charset="-122"/>
                <a:cs typeface="Helvetica Neue" pitchFamily="34" charset="-120"/>
              </a:rPr>
              <a:t>transactor over a socket</a:t>
            </a:r>
            <a:endParaRPr lang="en-US" sz="1600" dirty="0"/>
          </a:p>
        </p:txBody>
      </p:sp>
      <p:sp>
        <p:nvSpPr>
          <p:cNvPr id="24" name="Text 21"/>
          <p:cNvSpPr/>
          <p:nvPr/>
        </p:nvSpPr>
        <p:spPr>
          <a:xfrm>
            <a:off x="6336792" y="3685032"/>
            <a:ext cx="5202936" cy="868680"/>
          </a:xfrm>
          <a:prstGeom prst="rect">
            <a:avLst/>
          </a:prstGeom>
          <a:noFill/>
          <a:ln/>
        </p:spPr>
        <p:txBody>
          <a:bodyPr wrap="square" lIns="0" tIns="0" rIns="0" bIns="0" rtlCol="0" anchor="t">
            <a:normAutofit/>
          </a:bodyPr>
          <a:lstStyle/>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a real round trip exists</a:t>
            </a:r>
            <a:endParaRPr lang="en-US" sz="1300" dirty="0"/>
          </a:p>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 the gap appears</a:t>
            </a:r>
            <a:endParaRPr lang="en-US" sz="1300" dirty="0"/>
          </a:p>
          <a:p>
            <a:pPr algn="ctr" indent="0" marL="0">
              <a:buNone/>
            </a:pPr>
            <a:r>
              <a:rPr lang="en-US" sz="1300" dirty="0">
                <a:solidFill>
                  <a:srgbClr val="6B5A44"/>
                </a:solidFill>
                <a:latin typeface="Helvetica Neue" pitchFamily="34" charset="0"/>
                <a:ea typeface="Helvetica Neue" pitchFamily="34" charset="-122"/>
                <a:cs typeface="Helvetica Neue" pitchFamily="34" charset="-120"/>
              </a:rPr>
              <a:t>→ proportional to that round trip</a:t>
            </a:r>
            <a:endParaRPr lang="en-US" sz="1300" dirty="0"/>
          </a:p>
        </p:txBody>
      </p:sp>
      <p:sp>
        <p:nvSpPr>
          <p:cNvPr id="25" name="Shape 22"/>
          <p:cNvSpPr/>
          <p:nvPr/>
        </p:nvSpPr>
        <p:spPr>
          <a:xfrm>
            <a:off x="548640" y="4754880"/>
            <a:ext cx="54864" cy="457200"/>
          </a:xfrm>
          <a:prstGeom prst="rect">
            <a:avLst/>
          </a:prstGeom>
          <a:solidFill>
            <a:srgbClr val="A8864A"/>
          </a:solidFill>
          <a:ln/>
        </p:spPr>
      </p:sp>
      <p:sp>
        <p:nvSpPr>
          <p:cNvPr id="26" name="Text 23"/>
          <p:cNvSpPr/>
          <p:nvPr/>
        </p:nvSpPr>
        <p:spPr>
          <a:xfrm>
            <a:off x="777240" y="47548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Pipelining hides round trips. On mem there was no round trip to hide, so there is no gap.</a:t>
            </a:r>
            <a:endParaRPr lang="en-US" sz="1450" dirty="0"/>
          </a:p>
        </p:txBody>
      </p:sp>
      <p:sp>
        <p:nvSpPr>
          <p:cNvPr id="27" name="Text 24"/>
          <p:cNvSpPr/>
          <p:nvPr/>
        </p:nvSpPr>
        <p:spPr>
          <a:xfrm>
            <a:off x="548640" y="544068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Unbounded pipelining trades latency for heap. In production, 8–16 transactions in flight covers most of the benefit.</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25</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Parallel reads: slicing one index range across cores</a:t>
            </a:r>
            <a:endParaRPr lang="en-US" sz="2500" dirty="0"/>
          </a:p>
        </p:txBody>
      </p:sp>
      <p:sp>
        <p:nvSpPr>
          <p:cNvPr id="8" name="Text 5"/>
          <p:cNvSpPr/>
          <p:nvPr/>
        </p:nvSpPr>
        <p:spPr>
          <a:xfrm>
            <a:off x="548640" y="1280160"/>
            <a:ext cx="11064240" cy="274320"/>
          </a:xfrm>
          <a:prstGeom prst="rect">
            <a:avLst/>
          </a:prstGeom>
          <a:noFill/>
          <a:ln/>
        </p:spPr>
        <p:txBody>
          <a:bodyPr wrap="square" lIns="0" tIns="0" rIns="0" bIns="0" rtlCol="0" anchor="t"/>
          <a:lstStyle/>
          <a:p>
            <a:pPr indent="0" marL="0">
              <a:buNone/>
            </a:pPr>
            <a:r>
              <a:rPr lang="en-US" sz="1300" dirty="0">
                <a:solidFill>
                  <a:srgbClr val="9A8A72"/>
                </a:solidFill>
                <a:latin typeface="Helvetica Neue" pitchFamily="34" charset="0"/>
                <a:ea typeface="Helvetica Neue" pitchFamily="34" charset="-122"/>
                <a:cs typeface="Helvetica Neue" pitchFamily="34" charset="-120"/>
              </a:rPr>
              <a:t>d/index-range over 100,000 readings, cut into 8 slices</a:t>
            </a:r>
            <a:endParaRPr lang="en-US" sz="1300" dirty="0"/>
          </a:p>
        </p:txBody>
      </p:sp>
      <p:sp>
        <p:nvSpPr>
          <p:cNvPr id="9" name="Shape 6"/>
          <p:cNvSpPr/>
          <p:nvPr/>
        </p:nvSpPr>
        <p:spPr>
          <a:xfrm>
            <a:off x="548640" y="1600200"/>
            <a:ext cx="1280160" cy="566928"/>
          </a:xfrm>
          <a:prstGeom prst="roundRect">
            <a:avLst>
              <a:gd name="adj" fmla="val 12903"/>
            </a:avLst>
          </a:prstGeom>
          <a:solidFill>
            <a:srgbClr val="D3DEE1"/>
          </a:solidFill>
          <a:ln/>
        </p:spPr>
      </p:sp>
      <p:sp>
        <p:nvSpPr>
          <p:cNvPr id="10" name="Text 7"/>
          <p:cNvSpPr/>
          <p:nvPr/>
        </p:nvSpPr>
        <p:spPr>
          <a:xfrm>
            <a:off x="548640"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1</a:t>
            </a:r>
            <a:endParaRPr lang="en-US" sz="1150" dirty="0"/>
          </a:p>
        </p:txBody>
      </p:sp>
      <p:sp>
        <p:nvSpPr>
          <p:cNvPr id="11" name="Shape 8"/>
          <p:cNvSpPr/>
          <p:nvPr/>
        </p:nvSpPr>
        <p:spPr>
          <a:xfrm>
            <a:off x="1188720" y="2167128"/>
            <a:ext cx="0" cy="347472"/>
          </a:xfrm>
          <a:prstGeom prst="line">
            <a:avLst/>
          </a:prstGeom>
          <a:noFill/>
          <a:ln w="13970">
            <a:solidFill>
              <a:srgbClr val="3F6470"/>
            </a:solidFill>
            <a:prstDash val="solid"/>
            <a:headEnd type="none"/>
            <a:tailEnd type="triangle"/>
          </a:ln>
        </p:spPr>
      </p:sp>
      <p:sp>
        <p:nvSpPr>
          <p:cNvPr id="12" name="Shape 9"/>
          <p:cNvSpPr/>
          <p:nvPr/>
        </p:nvSpPr>
        <p:spPr>
          <a:xfrm>
            <a:off x="548640" y="2514600"/>
            <a:ext cx="1280160" cy="292608"/>
          </a:xfrm>
          <a:prstGeom prst="roundRect">
            <a:avLst>
              <a:gd name="adj" fmla="val 25000"/>
            </a:avLst>
          </a:prstGeom>
          <a:solidFill>
            <a:srgbClr val="3F6470"/>
          </a:solidFill>
          <a:ln/>
        </p:spPr>
      </p:sp>
      <p:sp>
        <p:nvSpPr>
          <p:cNvPr id="13" name="Text 10"/>
          <p:cNvSpPr/>
          <p:nvPr/>
        </p:nvSpPr>
        <p:spPr>
          <a:xfrm>
            <a:off x="548640"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14" name="Shape 11"/>
          <p:cNvSpPr/>
          <p:nvPr/>
        </p:nvSpPr>
        <p:spPr>
          <a:xfrm>
            <a:off x="1938528" y="1600200"/>
            <a:ext cx="1280160" cy="566928"/>
          </a:xfrm>
          <a:prstGeom prst="roundRect">
            <a:avLst>
              <a:gd name="adj" fmla="val 12903"/>
            </a:avLst>
          </a:prstGeom>
          <a:solidFill>
            <a:srgbClr val="D3DEE1"/>
          </a:solidFill>
          <a:ln/>
        </p:spPr>
      </p:sp>
      <p:sp>
        <p:nvSpPr>
          <p:cNvPr id="15" name="Text 12"/>
          <p:cNvSpPr/>
          <p:nvPr/>
        </p:nvSpPr>
        <p:spPr>
          <a:xfrm>
            <a:off x="1938528"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2</a:t>
            </a:r>
            <a:endParaRPr lang="en-US" sz="1150" dirty="0"/>
          </a:p>
        </p:txBody>
      </p:sp>
      <p:sp>
        <p:nvSpPr>
          <p:cNvPr id="16" name="Shape 13"/>
          <p:cNvSpPr/>
          <p:nvPr/>
        </p:nvSpPr>
        <p:spPr>
          <a:xfrm>
            <a:off x="2578608" y="2167128"/>
            <a:ext cx="0" cy="347472"/>
          </a:xfrm>
          <a:prstGeom prst="line">
            <a:avLst/>
          </a:prstGeom>
          <a:noFill/>
          <a:ln w="13970">
            <a:solidFill>
              <a:srgbClr val="3F6470"/>
            </a:solidFill>
            <a:prstDash val="solid"/>
            <a:headEnd type="none"/>
            <a:tailEnd type="triangle"/>
          </a:ln>
        </p:spPr>
      </p:sp>
      <p:sp>
        <p:nvSpPr>
          <p:cNvPr id="17" name="Shape 14"/>
          <p:cNvSpPr/>
          <p:nvPr/>
        </p:nvSpPr>
        <p:spPr>
          <a:xfrm>
            <a:off x="1938528" y="2514600"/>
            <a:ext cx="1280160" cy="292608"/>
          </a:xfrm>
          <a:prstGeom prst="roundRect">
            <a:avLst>
              <a:gd name="adj" fmla="val 25000"/>
            </a:avLst>
          </a:prstGeom>
          <a:solidFill>
            <a:srgbClr val="3F6470"/>
          </a:solidFill>
          <a:ln/>
        </p:spPr>
      </p:sp>
      <p:sp>
        <p:nvSpPr>
          <p:cNvPr id="18" name="Text 15"/>
          <p:cNvSpPr/>
          <p:nvPr/>
        </p:nvSpPr>
        <p:spPr>
          <a:xfrm>
            <a:off x="1938528"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19" name="Shape 16"/>
          <p:cNvSpPr/>
          <p:nvPr/>
        </p:nvSpPr>
        <p:spPr>
          <a:xfrm>
            <a:off x="3328416" y="1600200"/>
            <a:ext cx="1280160" cy="566928"/>
          </a:xfrm>
          <a:prstGeom prst="roundRect">
            <a:avLst>
              <a:gd name="adj" fmla="val 12903"/>
            </a:avLst>
          </a:prstGeom>
          <a:solidFill>
            <a:srgbClr val="D3DEE1"/>
          </a:solidFill>
          <a:ln/>
        </p:spPr>
      </p:sp>
      <p:sp>
        <p:nvSpPr>
          <p:cNvPr id="20" name="Text 17"/>
          <p:cNvSpPr/>
          <p:nvPr/>
        </p:nvSpPr>
        <p:spPr>
          <a:xfrm>
            <a:off x="3328416"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3</a:t>
            </a:r>
            <a:endParaRPr lang="en-US" sz="1150" dirty="0"/>
          </a:p>
        </p:txBody>
      </p:sp>
      <p:sp>
        <p:nvSpPr>
          <p:cNvPr id="21" name="Shape 18"/>
          <p:cNvSpPr/>
          <p:nvPr/>
        </p:nvSpPr>
        <p:spPr>
          <a:xfrm>
            <a:off x="3968496" y="2167128"/>
            <a:ext cx="0" cy="347472"/>
          </a:xfrm>
          <a:prstGeom prst="line">
            <a:avLst/>
          </a:prstGeom>
          <a:noFill/>
          <a:ln w="13970">
            <a:solidFill>
              <a:srgbClr val="3F6470"/>
            </a:solidFill>
            <a:prstDash val="solid"/>
            <a:headEnd type="none"/>
            <a:tailEnd type="triangle"/>
          </a:ln>
        </p:spPr>
      </p:sp>
      <p:sp>
        <p:nvSpPr>
          <p:cNvPr id="22" name="Shape 19"/>
          <p:cNvSpPr/>
          <p:nvPr/>
        </p:nvSpPr>
        <p:spPr>
          <a:xfrm>
            <a:off x="3328416" y="2514600"/>
            <a:ext cx="1280160" cy="292608"/>
          </a:xfrm>
          <a:prstGeom prst="roundRect">
            <a:avLst>
              <a:gd name="adj" fmla="val 25000"/>
            </a:avLst>
          </a:prstGeom>
          <a:solidFill>
            <a:srgbClr val="3F6470"/>
          </a:solidFill>
          <a:ln/>
        </p:spPr>
      </p:sp>
      <p:sp>
        <p:nvSpPr>
          <p:cNvPr id="23" name="Text 20"/>
          <p:cNvSpPr/>
          <p:nvPr/>
        </p:nvSpPr>
        <p:spPr>
          <a:xfrm>
            <a:off x="3328416"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24" name="Shape 21"/>
          <p:cNvSpPr/>
          <p:nvPr/>
        </p:nvSpPr>
        <p:spPr>
          <a:xfrm>
            <a:off x="4718304" y="1600200"/>
            <a:ext cx="1280160" cy="566928"/>
          </a:xfrm>
          <a:prstGeom prst="roundRect">
            <a:avLst>
              <a:gd name="adj" fmla="val 12903"/>
            </a:avLst>
          </a:prstGeom>
          <a:solidFill>
            <a:srgbClr val="D3DEE1"/>
          </a:solidFill>
          <a:ln/>
        </p:spPr>
      </p:sp>
      <p:sp>
        <p:nvSpPr>
          <p:cNvPr id="25" name="Text 22"/>
          <p:cNvSpPr/>
          <p:nvPr/>
        </p:nvSpPr>
        <p:spPr>
          <a:xfrm>
            <a:off x="4718304"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4</a:t>
            </a:r>
            <a:endParaRPr lang="en-US" sz="1150" dirty="0"/>
          </a:p>
        </p:txBody>
      </p:sp>
      <p:sp>
        <p:nvSpPr>
          <p:cNvPr id="26" name="Shape 23"/>
          <p:cNvSpPr/>
          <p:nvPr/>
        </p:nvSpPr>
        <p:spPr>
          <a:xfrm>
            <a:off x="5358384" y="2167128"/>
            <a:ext cx="0" cy="347472"/>
          </a:xfrm>
          <a:prstGeom prst="line">
            <a:avLst/>
          </a:prstGeom>
          <a:noFill/>
          <a:ln w="13970">
            <a:solidFill>
              <a:srgbClr val="3F6470"/>
            </a:solidFill>
            <a:prstDash val="solid"/>
            <a:headEnd type="none"/>
            <a:tailEnd type="triangle"/>
          </a:ln>
        </p:spPr>
      </p:sp>
      <p:sp>
        <p:nvSpPr>
          <p:cNvPr id="27" name="Shape 24"/>
          <p:cNvSpPr/>
          <p:nvPr/>
        </p:nvSpPr>
        <p:spPr>
          <a:xfrm>
            <a:off x="4718304" y="2514600"/>
            <a:ext cx="1280160" cy="292608"/>
          </a:xfrm>
          <a:prstGeom prst="roundRect">
            <a:avLst>
              <a:gd name="adj" fmla="val 25000"/>
            </a:avLst>
          </a:prstGeom>
          <a:solidFill>
            <a:srgbClr val="3F6470"/>
          </a:solidFill>
          <a:ln/>
        </p:spPr>
      </p:sp>
      <p:sp>
        <p:nvSpPr>
          <p:cNvPr id="28" name="Text 25"/>
          <p:cNvSpPr/>
          <p:nvPr/>
        </p:nvSpPr>
        <p:spPr>
          <a:xfrm>
            <a:off x="4718304"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29" name="Shape 26"/>
          <p:cNvSpPr/>
          <p:nvPr/>
        </p:nvSpPr>
        <p:spPr>
          <a:xfrm>
            <a:off x="6108192" y="1600200"/>
            <a:ext cx="1280160" cy="566928"/>
          </a:xfrm>
          <a:prstGeom prst="roundRect">
            <a:avLst>
              <a:gd name="adj" fmla="val 12903"/>
            </a:avLst>
          </a:prstGeom>
          <a:solidFill>
            <a:srgbClr val="D3DEE1"/>
          </a:solidFill>
          <a:ln/>
        </p:spPr>
      </p:sp>
      <p:sp>
        <p:nvSpPr>
          <p:cNvPr id="30" name="Text 27"/>
          <p:cNvSpPr/>
          <p:nvPr/>
        </p:nvSpPr>
        <p:spPr>
          <a:xfrm>
            <a:off x="6108192"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5</a:t>
            </a:r>
            <a:endParaRPr lang="en-US" sz="1150" dirty="0"/>
          </a:p>
        </p:txBody>
      </p:sp>
      <p:sp>
        <p:nvSpPr>
          <p:cNvPr id="31" name="Shape 28"/>
          <p:cNvSpPr/>
          <p:nvPr/>
        </p:nvSpPr>
        <p:spPr>
          <a:xfrm>
            <a:off x="6748272" y="2167128"/>
            <a:ext cx="0" cy="347472"/>
          </a:xfrm>
          <a:prstGeom prst="line">
            <a:avLst/>
          </a:prstGeom>
          <a:noFill/>
          <a:ln w="13970">
            <a:solidFill>
              <a:srgbClr val="3F6470"/>
            </a:solidFill>
            <a:prstDash val="solid"/>
            <a:headEnd type="none"/>
            <a:tailEnd type="triangle"/>
          </a:ln>
        </p:spPr>
      </p:sp>
      <p:sp>
        <p:nvSpPr>
          <p:cNvPr id="32" name="Shape 29"/>
          <p:cNvSpPr/>
          <p:nvPr/>
        </p:nvSpPr>
        <p:spPr>
          <a:xfrm>
            <a:off x="6108192" y="2514600"/>
            <a:ext cx="1280160" cy="292608"/>
          </a:xfrm>
          <a:prstGeom prst="roundRect">
            <a:avLst>
              <a:gd name="adj" fmla="val 25000"/>
            </a:avLst>
          </a:prstGeom>
          <a:solidFill>
            <a:srgbClr val="3F6470"/>
          </a:solidFill>
          <a:ln/>
        </p:spPr>
      </p:sp>
      <p:sp>
        <p:nvSpPr>
          <p:cNvPr id="33" name="Text 30"/>
          <p:cNvSpPr/>
          <p:nvPr/>
        </p:nvSpPr>
        <p:spPr>
          <a:xfrm>
            <a:off x="6108192"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34" name="Shape 31"/>
          <p:cNvSpPr/>
          <p:nvPr/>
        </p:nvSpPr>
        <p:spPr>
          <a:xfrm>
            <a:off x="7498080" y="1600200"/>
            <a:ext cx="1280160" cy="566928"/>
          </a:xfrm>
          <a:prstGeom prst="roundRect">
            <a:avLst>
              <a:gd name="adj" fmla="val 12903"/>
            </a:avLst>
          </a:prstGeom>
          <a:solidFill>
            <a:srgbClr val="D3DEE1"/>
          </a:solidFill>
          <a:ln/>
        </p:spPr>
      </p:sp>
      <p:sp>
        <p:nvSpPr>
          <p:cNvPr id="35" name="Text 32"/>
          <p:cNvSpPr/>
          <p:nvPr/>
        </p:nvSpPr>
        <p:spPr>
          <a:xfrm>
            <a:off x="7498080"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6</a:t>
            </a:r>
            <a:endParaRPr lang="en-US" sz="1150" dirty="0"/>
          </a:p>
        </p:txBody>
      </p:sp>
      <p:sp>
        <p:nvSpPr>
          <p:cNvPr id="36" name="Shape 33"/>
          <p:cNvSpPr/>
          <p:nvPr/>
        </p:nvSpPr>
        <p:spPr>
          <a:xfrm>
            <a:off x="8138160" y="2167128"/>
            <a:ext cx="0" cy="347472"/>
          </a:xfrm>
          <a:prstGeom prst="line">
            <a:avLst/>
          </a:prstGeom>
          <a:noFill/>
          <a:ln w="13970">
            <a:solidFill>
              <a:srgbClr val="3F6470"/>
            </a:solidFill>
            <a:prstDash val="solid"/>
            <a:headEnd type="none"/>
            <a:tailEnd type="triangle"/>
          </a:ln>
        </p:spPr>
      </p:sp>
      <p:sp>
        <p:nvSpPr>
          <p:cNvPr id="37" name="Shape 34"/>
          <p:cNvSpPr/>
          <p:nvPr/>
        </p:nvSpPr>
        <p:spPr>
          <a:xfrm>
            <a:off x="7498080" y="2514600"/>
            <a:ext cx="1280160" cy="292608"/>
          </a:xfrm>
          <a:prstGeom prst="roundRect">
            <a:avLst>
              <a:gd name="adj" fmla="val 25000"/>
            </a:avLst>
          </a:prstGeom>
          <a:solidFill>
            <a:srgbClr val="3F6470"/>
          </a:solidFill>
          <a:ln/>
        </p:spPr>
      </p:sp>
      <p:sp>
        <p:nvSpPr>
          <p:cNvPr id="38" name="Text 35"/>
          <p:cNvSpPr/>
          <p:nvPr/>
        </p:nvSpPr>
        <p:spPr>
          <a:xfrm>
            <a:off x="7498080"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39" name="Shape 36"/>
          <p:cNvSpPr/>
          <p:nvPr/>
        </p:nvSpPr>
        <p:spPr>
          <a:xfrm>
            <a:off x="8887968" y="1600200"/>
            <a:ext cx="1280160" cy="566928"/>
          </a:xfrm>
          <a:prstGeom prst="roundRect">
            <a:avLst>
              <a:gd name="adj" fmla="val 12903"/>
            </a:avLst>
          </a:prstGeom>
          <a:solidFill>
            <a:srgbClr val="D3DEE1"/>
          </a:solidFill>
          <a:ln/>
        </p:spPr>
      </p:sp>
      <p:sp>
        <p:nvSpPr>
          <p:cNvPr id="40" name="Text 37"/>
          <p:cNvSpPr/>
          <p:nvPr/>
        </p:nvSpPr>
        <p:spPr>
          <a:xfrm>
            <a:off x="8887968"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7</a:t>
            </a:r>
            <a:endParaRPr lang="en-US" sz="1150" dirty="0"/>
          </a:p>
        </p:txBody>
      </p:sp>
      <p:sp>
        <p:nvSpPr>
          <p:cNvPr id="41" name="Shape 38"/>
          <p:cNvSpPr/>
          <p:nvPr/>
        </p:nvSpPr>
        <p:spPr>
          <a:xfrm>
            <a:off x="9528048" y="2167128"/>
            <a:ext cx="0" cy="347472"/>
          </a:xfrm>
          <a:prstGeom prst="line">
            <a:avLst/>
          </a:prstGeom>
          <a:noFill/>
          <a:ln w="13970">
            <a:solidFill>
              <a:srgbClr val="3F6470"/>
            </a:solidFill>
            <a:prstDash val="solid"/>
            <a:headEnd type="none"/>
            <a:tailEnd type="triangle"/>
          </a:ln>
        </p:spPr>
      </p:sp>
      <p:sp>
        <p:nvSpPr>
          <p:cNvPr id="42" name="Shape 39"/>
          <p:cNvSpPr/>
          <p:nvPr/>
        </p:nvSpPr>
        <p:spPr>
          <a:xfrm>
            <a:off x="8887968" y="2514600"/>
            <a:ext cx="1280160" cy="292608"/>
          </a:xfrm>
          <a:prstGeom prst="roundRect">
            <a:avLst>
              <a:gd name="adj" fmla="val 25000"/>
            </a:avLst>
          </a:prstGeom>
          <a:solidFill>
            <a:srgbClr val="3F6470"/>
          </a:solidFill>
          <a:ln/>
        </p:spPr>
      </p:sp>
      <p:sp>
        <p:nvSpPr>
          <p:cNvPr id="43" name="Text 40"/>
          <p:cNvSpPr/>
          <p:nvPr/>
        </p:nvSpPr>
        <p:spPr>
          <a:xfrm>
            <a:off x="8887968"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44" name="Shape 41"/>
          <p:cNvSpPr/>
          <p:nvPr/>
        </p:nvSpPr>
        <p:spPr>
          <a:xfrm>
            <a:off x="10277856" y="1600200"/>
            <a:ext cx="1280160" cy="566928"/>
          </a:xfrm>
          <a:prstGeom prst="roundRect">
            <a:avLst>
              <a:gd name="adj" fmla="val 12903"/>
            </a:avLst>
          </a:prstGeom>
          <a:solidFill>
            <a:srgbClr val="D3DEE1"/>
          </a:solidFill>
          <a:ln/>
        </p:spPr>
      </p:sp>
      <p:sp>
        <p:nvSpPr>
          <p:cNvPr id="45" name="Text 42"/>
          <p:cNvSpPr/>
          <p:nvPr/>
        </p:nvSpPr>
        <p:spPr>
          <a:xfrm>
            <a:off x="10277856" y="1600200"/>
            <a:ext cx="1280160" cy="566928"/>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8</a:t>
            </a:r>
            <a:endParaRPr lang="en-US" sz="1150" dirty="0"/>
          </a:p>
        </p:txBody>
      </p:sp>
      <p:sp>
        <p:nvSpPr>
          <p:cNvPr id="46" name="Shape 43"/>
          <p:cNvSpPr/>
          <p:nvPr/>
        </p:nvSpPr>
        <p:spPr>
          <a:xfrm>
            <a:off x="10917936" y="2167128"/>
            <a:ext cx="0" cy="347472"/>
          </a:xfrm>
          <a:prstGeom prst="line">
            <a:avLst/>
          </a:prstGeom>
          <a:noFill/>
          <a:ln w="13970">
            <a:solidFill>
              <a:srgbClr val="3F6470"/>
            </a:solidFill>
            <a:prstDash val="solid"/>
            <a:headEnd type="none"/>
            <a:tailEnd type="triangle"/>
          </a:ln>
        </p:spPr>
      </p:sp>
      <p:sp>
        <p:nvSpPr>
          <p:cNvPr id="47" name="Shape 44"/>
          <p:cNvSpPr/>
          <p:nvPr/>
        </p:nvSpPr>
        <p:spPr>
          <a:xfrm>
            <a:off x="10277856" y="2514600"/>
            <a:ext cx="1280160" cy="292608"/>
          </a:xfrm>
          <a:prstGeom prst="roundRect">
            <a:avLst>
              <a:gd name="adj" fmla="val 25000"/>
            </a:avLst>
          </a:prstGeom>
          <a:solidFill>
            <a:srgbClr val="3F6470"/>
          </a:solidFill>
          <a:ln/>
        </p:spPr>
      </p:sp>
      <p:sp>
        <p:nvSpPr>
          <p:cNvPr id="48" name="Text 45"/>
          <p:cNvSpPr/>
          <p:nvPr/>
        </p:nvSpPr>
        <p:spPr>
          <a:xfrm>
            <a:off x="10277856" y="251460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49" name="Text 46"/>
          <p:cNvSpPr/>
          <p:nvPr/>
        </p:nvSpPr>
        <p:spPr>
          <a:xfrm>
            <a:off x="548640" y="2880360"/>
            <a:ext cx="11064240" cy="274320"/>
          </a:xfrm>
          <a:prstGeom prst="rect">
            <a:avLst/>
          </a:prstGeom>
          <a:noFill/>
          <a:ln/>
        </p:spPr>
        <p:txBody>
          <a:bodyPr wrap="square" lIns="0" tIns="0" rIns="0" bIns="0" rtlCol="0" anchor="t"/>
          <a:lstStyle/>
          <a:p>
            <a:pPr algn="ctr" indent="0" marL="0">
              <a:buNone/>
            </a:pPr>
            <a:r>
              <a:rPr lang="en-US" sz="1250" i="1" dirty="0">
                <a:solidFill>
                  <a:srgbClr val="3F6470"/>
                </a:solidFill>
                <a:latin typeface="Helvetica Neue" pitchFamily="34" charset="0"/>
                <a:ea typeface="Helvetica Neue" pitchFamily="34" charset="-122"/>
                <a:cs typeface="Helvetica Neue" pitchFamily="34" charset="-120"/>
              </a:rPr>
              <a:t>one immutable db value  ·  pmap across 10 cores</a:t>
            </a:r>
            <a:endParaRPr lang="en-US" sz="1250" dirty="0"/>
          </a:p>
        </p:txBody>
      </p:sp>
      <p:sp>
        <p:nvSpPr>
          <p:cNvPr id="50" name="Text 47"/>
          <p:cNvSpPr/>
          <p:nvPr/>
        </p:nvSpPr>
        <p:spPr>
          <a:xfrm>
            <a:off x="548640" y="3291840"/>
            <a:ext cx="1463040" cy="54864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serial</a:t>
            </a:r>
            <a:endParaRPr lang="en-US" sz="1250" dirty="0"/>
          </a:p>
        </p:txBody>
      </p:sp>
      <p:sp>
        <p:nvSpPr>
          <p:cNvPr id="51" name="Shape 48"/>
          <p:cNvSpPr/>
          <p:nvPr/>
        </p:nvSpPr>
        <p:spPr>
          <a:xfrm>
            <a:off x="2194560" y="3346704"/>
            <a:ext cx="3840480" cy="438912"/>
          </a:xfrm>
          <a:prstGeom prst="rect">
            <a:avLst/>
          </a:prstGeom>
          <a:solidFill>
            <a:srgbClr val="E6DFCE"/>
          </a:solidFill>
          <a:ln/>
        </p:spPr>
      </p:sp>
      <p:sp>
        <p:nvSpPr>
          <p:cNvPr id="52" name="Shape 49"/>
          <p:cNvSpPr/>
          <p:nvPr/>
        </p:nvSpPr>
        <p:spPr>
          <a:xfrm>
            <a:off x="2194560" y="3346704"/>
            <a:ext cx="3840480" cy="438912"/>
          </a:xfrm>
          <a:prstGeom prst="rect">
            <a:avLst/>
          </a:prstGeom>
          <a:solidFill>
            <a:srgbClr val="DFD6C0"/>
          </a:solidFill>
          <a:ln/>
        </p:spPr>
      </p:sp>
      <p:sp>
        <p:nvSpPr>
          <p:cNvPr id="53" name="Text 50"/>
          <p:cNvSpPr/>
          <p:nvPr/>
        </p:nvSpPr>
        <p:spPr>
          <a:xfrm>
            <a:off x="6126480" y="3291840"/>
            <a:ext cx="137160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78.70 ms</a:t>
            </a:r>
            <a:endParaRPr lang="en-US" sz="1250" dirty="0"/>
          </a:p>
        </p:txBody>
      </p:sp>
      <p:sp>
        <p:nvSpPr>
          <p:cNvPr id="54" name="Text 51"/>
          <p:cNvSpPr/>
          <p:nvPr/>
        </p:nvSpPr>
        <p:spPr>
          <a:xfrm>
            <a:off x="548640" y="4005072"/>
            <a:ext cx="1463040" cy="54864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pmap ×8</a:t>
            </a:r>
            <a:endParaRPr lang="en-US" sz="1250" dirty="0"/>
          </a:p>
        </p:txBody>
      </p:sp>
      <p:sp>
        <p:nvSpPr>
          <p:cNvPr id="55" name="Shape 52"/>
          <p:cNvSpPr/>
          <p:nvPr/>
        </p:nvSpPr>
        <p:spPr>
          <a:xfrm>
            <a:off x="2194560" y="4059936"/>
            <a:ext cx="3840480" cy="438912"/>
          </a:xfrm>
          <a:prstGeom prst="rect">
            <a:avLst/>
          </a:prstGeom>
          <a:solidFill>
            <a:srgbClr val="E6DFCE"/>
          </a:solidFill>
          <a:ln/>
        </p:spPr>
      </p:sp>
      <p:sp>
        <p:nvSpPr>
          <p:cNvPr id="56" name="Shape 53"/>
          <p:cNvSpPr/>
          <p:nvPr/>
        </p:nvSpPr>
        <p:spPr>
          <a:xfrm>
            <a:off x="2194560" y="4059936"/>
            <a:ext cx="1204359" cy="438912"/>
          </a:xfrm>
          <a:prstGeom prst="rect">
            <a:avLst/>
          </a:prstGeom>
          <a:solidFill>
            <a:srgbClr val="3F6470"/>
          </a:solidFill>
          <a:ln/>
        </p:spPr>
      </p:sp>
      <p:sp>
        <p:nvSpPr>
          <p:cNvPr id="57" name="Text 54"/>
          <p:cNvSpPr/>
          <p:nvPr/>
        </p:nvSpPr>
        <p:spPr>
          <a:xfrm>
            <a:off x="6126480" y="4005072"/>
            <a:ext cx="137160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24.68 ms</a:t>
            </a:r>
            <a:endParaRPr lang="en-US" sz="1250" dirty="0"/>
          </a:p>
        </p:txBody>
      </p:sp>
      <p:sp>
        <p:nvSpPr>
          <p:cNvPr id="58" name="Shape 55"/>
          <p:cNvSpPr/>
          <p:nvPr/>
        </p:nvSpPr>
        <p:spPr>
          <a:xfrm>
            <a:off x="7772400" y="3291840"/>
            <a:ext cx="3840480" cy="1170432"/>
          </a:xfrm>
          <a:prstGeom prst="roundRect">
            <a:avLst>
              <a:gd name="adj" fmla="val 6250"/>
            </a:avLst>
          </a:prstGeom>
          <a:solidFill>
            <a:srgbClr val="D3DEE1"/>
          </a:solidFill>
          <a:ln/>
        </p:spPr>
      </p:sp>
      <p:sp>
        <p:nvSpPr>
          <p:cNvPr id="59" name="Text 56"/>
          <p:cNvSpPr/>
          <p:nvPr/>
        </p:nvSpPr>
        <p:spPr>
          <a:xfrm>
            <a:off x="7772400" y="3429000"/>
            <a:ext cx="3840480" cy="594360"/>
          </a:xfrm>
          <a:prstGeom prst="rect">
            <a:avLst/>
          </a:prstGeom>
          <a:noFill/>
          <a:ln/>
        </p:spPr>
        <p:txBody>
          <a:bodyPr wrap="square" lIns="0" tIns="0" rIns="0" bIns="0" rtlCol="0" anchor="t"/>
          <a:lstStyle/>
          <a:p>
            <a:pPr algn="ctr" indent="0" marL="0">
              <a:buNone/>
            </a:pPr>
            <a:r>
              <a:rPr lang="en-US" sz="3000" dirty="0">
                <a:solidFill>
                  <a:srgbClr val="3F6470"/>
                </a:solidFill>
                <a:latin typeface="Georgia" pitchFamily="34" charset="0"/>
                <a:ea typeface="Georgia" pitchFamily="34" charset="-122"/>
                <a:cs typeface="Georgia" pitchFamily="34" charset="-120"/>
              </a:rPr>
              <a:t>≈ 3.2×</a:t>
            </a:r>
            <a:endParaRPr lang="en-US" sz="3000" dirty="0"/>
          </a:p>
        </p:txBody>
      </p:sp>
      <p:sp>
        <p:nvSpPr>
          <p:cNvPr id="60" name="Text 57"/>
          <p:cNvSpPr/>
          <p:nvPr/>
        </p:nvSpPr>
        <p:spPr>
          <a:xfrm>
            <a:off x="7772400" y="4069080"/>
            <a:ext cx="3840480" cy="274320"/>
          </a:xfrm>
          <a:prstGeom prst="rect">
            <a:avLst/>
          </a:prstGeom>
          <a:noFill/>
          <a:ln/>
        </p:spPr>
        <p:txBody>
          <a:bodyPr wrap="square" lIns="0" tIns="0" rIns="0" bIns="0" rtlCol="0" anchor="t"/>
          <a:lstStyle/>
          <a:p>
            <a:pPr algn="ctr" indent="0" marL="0">
              <a:buNone/>
            </a:pPr>
            <a:r>
              <a:rPr lang="en-US" sz="1150" dirty="0">
                <a:solidFill>
                  <a:srgbClr val="9A8A72"/>
                </a:solidFill>
                <a:latin typeface="Helvetica Neue" pitchFamily="34" charset="0"/>
                <a:ea typeface="Helvetica Neue" pitchFamily="34" charset="-122"/>
                <a:cs typeface="Helvetica Neue" pitchFamily="34" charset="-120"/>
              </a:rPr>
              <a:t>median of five runs</a:t>
            </a:r>
            <a:endParaRPr lang="en-US" sz="1150" dirty="0"/>
          </a:p>
        </p:txBody>
      </p:sp>
      <p:sp>
        <p:nvSpPr>
          <p:cNvPr id="61" name="Shape 58"/>
          <p:cNvSpPr/>
          <p:nvPr/>
        </p:nvSpPr>
        <p:spPr>
          <a:xfrm>
            <a:off x="548640" y="4663440"/>
            <a:ext cx="5349240" cy="1143000"/>
          </a:xfrm>
          <a:prstGeom prst="roundRect">
            <a:avLst>
              <a:gd name="adj" fmla="val 4800"/>
            </a:avLst>
          </a:prstGeom>
          <a:solidFill>
            <a:srgbClr val="E6DFCE"/>
          </a:solidFill>
          <a:ln w="15875">
            <a:solidFill>
              <a:srgbClr val="C9BDA4"/>
            </a:solidFill>
            <a:prstDash val="solid"/>
          </a:ln>
        </p:spPr>
      </p:sp>
      <p:sp>
        <p:nvSpPr>
          <p:cNvPr id="62" name="Text 59"/>
          <p:cNvSpPr/>
          <p:nvPr/>
        </p:nvSpPr>
        <p:spPr>
          <a:xfrm>
            <a:off x="621792" y="4924044"/>
            <a:ext cx="52029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db is a VALUE</a:t>
            </a:r>
            <a:endParaRPr lang="en-US" sz="1400" dirty="0"/>
          </a:p>
        </p:txBody>
      </p:sp>
      <p:sp>
        <p:nvSpPr>
          <p:cNvPr id="63" name="Text 60"/>
          <p:cNvSpPr/>
          <p:nvPr/>
        </p:nvSpPr>
        <p:spPr>
          <a:xfrm>
            <a:off x="621792" y="5216652"/>
            <a:ext cx="5202936" cy="384048"/>
          </a:xfrm>
          <a:prstGeom prst="rect">
            <a:avLst/>
          </a:prstGeom>
          <a:noFill/>
          <a:ln/>
        </p:spPr>
        <p:txBody>
          <a:bodyPr wrap="square" lIns="0" tIns="0" rIns="0" bIns="0" rtlCol="0" anchor="t">
            <a:normAutofit/>
          </a:bodyPr>
          <a:lstStyle/>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every slice reads the same immutable database —</a:t>
            </a:r>
            <a:endParaRPr lang="en-US" sz="1150" dirty="0"/>
          </a:p>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no snapshot to hold open, no transaction to leak</a:t>
            </a:r>
            <a:endParaRPr lang="en-US" sz="1150" dirty="0"/>
          </a:p>
        </p:txBody>
      </p:sp>
      <p:sp>
        <p:nvSpPr>
          <p:cNvPr id="64" name="Shape 61"/>
          <p:cNvSpPr/>
          <p:nvPr/>
        </p:nvSpPr>
        <p:spPr>
          <a:xfrm>
            <a:off x="6263640" y="4663440"/>
            <a:ext cx="5349240" cy="1143000"/>
          </a:xfrm>
          <a:prstGeom prst="roundRect">
            <a:avLst>
              <a:gd name="adj" fmla="val 4800"/>
            </a:avLst>
          </a:prstGeom>
          <a:solidFill>
            <a:srgbClr val="E6DFCE"/>
          </a:solidFill>
          <a:ln w="15875">
            <a:solidFill>
              <a:srgbClr val="C9BDA4"/>
            </a:solidFill>
            <a:prstDash val="solid"/>
          </a:ln>
        </p:spPr>
      </p:sp>
      <p:sp>
        <p:nvSpPr>
          <p:cNvPr id="65" name="Text 62"/>
          <p:cNvSpPr/>
          <p:nvPr/>
        </p:nvSpPr>
        <p:spPr>
          <a:xfrm>
            <a:off x="6336792" y="4924044"/>
            <a:ext cx="52029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bounded by cache misses, not cores</a:t>
            </a:r>
            <a:endParaRPr lang="en-US" sz="1400" dirty="0"/>
          </a:p>
        </p:txBody>
      </p:sp>
      <p:sp>
        <p:nvSpPr>
          <p:cNvPr id="66" name="Text 63"/>
          <p:cNvSpPr/>
          <p:nvPr/>
        </p:nvSpPr>
        <p:spPr>
          <a:xfrm>
            <a:off x="6336792" y="5216652"/>
            <a:ext cx="5202936" cy="384048"/>
          </a:xfrm>
          <a:prstGeom prst="rect">
            <a:avLst/>
          </a:prstGeom>
          <a:noFill/>
          <a:ln/>
        </p:spPr>
        <p:txBody>
          <a:bodyPr wrap="square" lIns="0" tIns="0" rIns="0" bIns="0" rtlCol="0" anchor="t">
            <a:normAutofit/>
          </a:bodyPr>
          <a:lstStyle/>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warm: you divide CPU work</a:t>
            </a:r>
            <a:endParaRPr lang="en-US" sz="1150" dirty="0"/>
          </a:p>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cold: you overlap storage waits</a:t>
            </a:r>
            <a:endParaRPr lang="en-US" sz="1150" dirty="0"/>
          </a:p>
        </p:txBody>
      </p:sp>
      <p:sp>
        <p:nvSpPr>
          <p:cNvPr id="67" name="Text 64"/>
          <p:cNvSpPr/>
          <p:nvPr/>
        </p:nvSpPr>
        <p:spPr>
          <a:xfrm>
            <a:off x="548640" y="598932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No locks, no coordination, no transactor — slicing a read is a purely peer-local decision.</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26</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There is a floor: re-cutting the same 100,000 readings</a:t>
            </a:r>
            <a:endParaRPr lang="en-US" sz="2500" dirty="0"/>
          </a:p>
        </p:txBody>
      </p:sp>
      <p:sp>
        <p:nvSpPr>
          <p:cNvPr id="8" name="Text 5"/>
          <p:cNvSpPr/>
          <p:nvPr/>
        </p:nvSpPr>
        <p:spPr>
          <a:xfrm>
            <a:off x="548640" y="1463040"/>
            <a:ext cx="2011680" cy="566928"/>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8 slices</a:t>
            </a:r>
            <a:endParaRPr lang="en-US" sz="1250" dirty="0"/>
          </a:p>
        </p:txBody>
      </p:sp>
      <p:sp>
        <p:nvSpPr>
          <p:cNvPr id="9" name="Shape 6"/>
          <p:cNvSpPr/>
          <p:nvPr/>
        </p:nvSpPr>
        <p:spPr>
          <a:xfrm>
            <a:off x="2743200" y="1517904"/>
            <a:ext cx="6400800" cy="457200"/>
          </a:xfrm>
          <a:prstGeom prst="rect">
            <a:avLst/>
          </a:prstGeom>
          <a:solidFill>
            <a:srgbClr val="E6DFCE"/>
          </a:solidFill>
          <a:ln/>
        </p:spPr>
      </p:sp>
      <p:sp>
        <p:nvSpPr>
          <p:cNvPr id="10" name="Shape 7"/>
          <p:cNvSpPr/>
          <p:nvPr/>
        </p:nvSpPr>
        <p:spPr>
          <a:xfrm>
            <a:off x="2743200" y="1517904"/>
            <a:ext cx="2007265" cy="457200"/>
          </a:xfrm>
          <a:prstGeom prst="rect">
            <a:avLst/>
          </a:prstGeom>
          <a:solidFill>
            <a:srgbClr val="3F6470"/>
          </a:solidFill>
          <a:ln/>
        </p:spPr>
      </p:sp>
      <p:sp>
        <p:nvSpPr>
          <p:cNvPr id="11" name="Text 8"/>
          <p:cNvSpPr/>
          <p:nvPr/>
        </p:nvSpPr>
        <p:spPr>
          <a:xfrm>
            <a:off x="9235440" y="1463040"/>
            <a:ext cx="1371600" cy="566928"/>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24.68 ms</a:t>
            </a:r>
            <a:endParaRPr lang="en-US" sz="1250" dirty="0"/>
          </a:p>
        </p:txBody>
      </p:sp>
      <p:sp>
        <p:nvSpPr>
          <p:cNvPr id="12" name="Text 9"/>
          <p:cNvSpPr/>
          <p:nvPr/>
        </p:nvSpPr>
        <p:spPr>
          <a:xfrm>
            <a:off x="548640" y="2231136"/>
            <a:ext cx="2011680" cy="566928"/>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100 slices</a:t>
            </a:r>
            <a:endParaRPr lang="en-US" sz="1250" dirty="0"/>
          </a:p>
        </p:txBody>
      </p:sp>
      <p:sp>
        <p:nvSpPr>
          <p:cNvPr id="13" name="Shape 10"/>
          <p:cNvSpPr/>
          <p:nvPr/>
        </p:nvSpPr>
        <p:spPr>
          <a:xfrm>
            <a:off x="2743200" y="2286000"/>
            <a:ext cx="6400800" cy="457200"/>
          </a:xfrm>
          <a:prstGeom prst="rect">
            <a:avLst/>
          </a:prstGeom>
          <a:solidFill>
            <a:srgbClr val="E6DFCE"/>
          </a:solidFill>
          <a:ln/>
        </p:spPr>
      </p:sp>
      <p:sp>
        <p:nvSpPr>
          <p:cNvPr id="14" name="Shape 11"/>
          <p:cNvSpPr/>
          <p:nvPr/>
        </p:nvSpPr>
        <p:spPr>
          <a:xfrm>
            <a:off x="2743200" y="2286000"/>
            <a:ext cx="2246380" cy="457200"/>
          </a:xfrm>
          <a:prstGeom prst="rect">
            <a:avLst/>
          </a:prstGeom>
          <a:solidFill>
            <a:srgbClr val="3F6470"/>
          </a:solidFill>
          <a:ln/>
        </p:spPr>
      </p:sp>
      <p:sp>
        <p:nvSpPr>
          <p:cNvPr id="15" name="Text 12"/>
          <p:cNvSpPr/>
          <p:nvPr/>
        </p:nvSpPr>
        <p:spPr>
          <a:xfrm>
            <a:off x="9235440" y="2231136"/>
            <a:ext cx="1371600" cy="566928"/>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27.62 ms</a:t>
            </a:r>
            <a:endParaRPr lang="en-US" sz="1250" dirty="0"/>
          </a:p>
        </p:txBody>
      </p:sp>
      <p:sp>
        <p:nvSpPr>
          <p:cNvPr id="16" name="Text 13"/>
          <p:cNvSpPr/>
          <p:nvPr/>
        </p:nvSpPr>
        <p:spPr>
          <a:xfrm>
            <a:off x="548640" y="2999232"/>
            <a:ext cx="2011680" cy="566928"/>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1000 slices</a:t>
            </a:r>
            <a:endParaRPr lang="en-US" sz="1250" dirty="0"/>
          </a:p>
        </p:txBody>
      </p:sp>
      <p:sp>
        <p:nvSpPr>
          <p:cNvPr id="17" name="Shape 14"/>
          <p:cNvSpPr/>
          <p:nvPr/>
        </p:nvSpPr>
        <p:spPr>
          <a:xfrm>
            <a:off x="2743200" y="3054096"/>
            <a:ext cx="6400800" cy="457200"/>
          </a:xfrm>
          <a:prstGeom prst="rect">
            <a:avLst/>
          </a:prstGeom>
          <a:solidFill>
            <a:srgbClr val="E6DFCE"/>
          </a:solidFill>
          <a:ln/>
        </p:spPr>
      </p:sp>
      <p:sp>
        <p:nvSpPr>
          <p:cNvPr id="18" name="Shape 15"/>
          <p:cNvSpPr/>
          <p:nvPr/>
        </p:nvSpPr>
        <p:spPr>
          <a:xfrm>
            <a:off x="2743200" y="3054096"/>
            <a:ext cx="2449709" cy="457200"/>
          </a:xfrm>
          <a:prstGeom prst="rect">
            <a:avLst/>
          </a:prstGeom>
          <a:solidFill>
            <a:srgbClr val="B5822B"/>
          </a:solidFill>
          <a:ln/>
        </p:spPr>
      </p:sp>
      <p:sp>
        <p:nvSpPr>
          <p:cNvPr id="19" name="Text 16"/>
          <p:cNvSpPr/>
          <p:nvPr/>
        </p:nvSpPr>
        <p:spPr>
          <a:xfrm>
            <a:off x="9235440" y="2999232"/>
            <a:ext cx="1371600" cy="566928"/>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30.12 ms</a:t>
            </a:r>
            <a:endParaRPr lang="en-US" sz="1250" dirty="0"/>
          </a:p>
        </p:txBody>
      </p:sp>
      <p:sp>
        <p:nvSpPr>
          <p:cNvPr id="20" name="Text 17"/>
          <p:cNvSpPr/>
          <p:nvPr/>
        </p:nvSpPr>
        <p:spPr>
          <a:xfrm>
            <a:off x="548640" y="3767328"/>
            <a:ext cx="2011680" cy="566928"/>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10000 slices</a:t>
            </a:r>
            <a:endParaRPr lang="en-US" sz="1250" dirty="0"/>
          </a:p>
        </p:txBody>
      </p:sp>
      <p:sp>
        <p:nvSpPr>
          <p:cNvPr id="21" name="Shape 18"/>
          <p:cNvSpPr/>
          <p:nvPr/>
        </p:nvSpPr>
        <p:spPr>
          <a:xfrm>
            <a:off x="2743200" y="3822192"/>
            <a:ext cx="6400800" cy="457200"/>
          </a:xfrm>
          <a:prstGeom prst="rect">
            <a:avLst/>
          </a:prstGeom>
          <a:solidFill>
            <a:srgbClr val="E6DFCE"/>
          </a:solidFill>
          <a:ln/>
        </p:spPr>
      </p:sp>
      <p:sp>
        <p:nvSpPr>
          <p:cNvPr id="22" name="Shape 19"/>
          <p:cNvSpPr/>
          <p:nvPr/>
        </p:nvSpPr>
        <p:spPr>
          <a:xfrm>
            <a:off x="2743200" y="3822192"/>
            <a:ext cx="4425254" cy="457200"/>
          </a:xfrm>
          <a:prstGeom prst="rect">
            <a:avLst/>
          </a:prstGeom>
          <a:solidFill>
            <a:srgbClr val="9E4227"/>
          </a:solidFill>
          <a:ln/>
        </p:spPr>
      </p:sp>
      <p:sp>
        <p:nvSpPr>
          <p:cNvPr id="23" name="Text 20"/>
          <p:cNvSpPr/>
          <p:nvPr/>
        </p:nvSpPr>
        <p:spPr>
          <a:xfrm>
            <a:off x="9235440" y="3767328"/>
            <a:ext cx="1371600" cy="566928"/>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54.41 ms</a:t>
            </a:r>
            <a:endParaRPr lang="en-US" sz="1250" dirty="0"/>
          </a:p>
        </p:txBody>
      </p:sp>
      <p:sp>
        <p:nvSpPr>
          <p:cNvPr id="24" name="Shape 21"/>
          <p:cNvSpPr/>
          <p:nvPr/>
        </p:nvSpPr>
        <p:spPr>
          <a:xfrm>
            <a:off x="9125712" y="1371600"/>
            <a:ext cx="36576" cy="3200400"/>
          </a:xfrm>
          <a:prstGeom prst="rect">
            <a:avLst/>
          </a:prstGeom>
          <a:solidFill>
            <a:srgbClr val="9E4227"/>
          </a:solidFill>
          <a:ln/>
        </p:spPr>
      </p:sp>
      <p:sp>
        <p:nvSpPr>
          <p:cNvPr id="25" name="Text 22"/>
          <p:cNvSpPr/>
          <p:nvPr/>
        </p:nvSpPr>
        <p:spPr>
          <a:xfrm>
            <a:off x="6126480" y="4617720"/>
            <a:ext cx="3108960" cy="320040"/>
          </a:xfrm>
          <a:prstGeom prst="rect">
            <a:avLst/>
          </a:prstGeom>
          <a:noFill/>
          <a:ln/>
        </p:spPr>
        <p:txBody>
          <a:bodyPr wrap="square" lIns="0" tIns="0" rIns="0" bIns="0" rtlCol="0" anchor="t"/>
          <a:lstStyle/>
          <a:p>
            <a:pPr algn="r" indent="0" marL="0">
              <a:buNone/>
            </a:pPr>
            <a:r>
              <a:rPr lang="en-US" sz="1200" b="1" dirty="0">
                <a:solidFill>
                  <a:srgbClr val="9E4227"/>
                </a:solidFill>
                <a:latin typeface="Helvetica Neue" pitchFamily="34" charset="0"/>
                <a:ea typeface="Helvetica Neue" pitchFamily="34" charset="-122"/>
                <a:cs typeface="Helvetica Neue" pitchFamily="34" charset="-120"/>
              </a:rPr>
              <a:t>serial baseline  78.70 ms</a:t>
            </a:r>
            <a:endParaRPr lang="en-US" sz="1200" dirty="0"/>
          </a:p>
        </p:txBody>
      </p:sp>
      <p:sp>
        <p:nvSpPr>
          <p:cNvPr id="26" name="Shape 23"/>
          <p:cNvSpPr/>
          <p:nvPr/>
        </p:nvSpPr>
        <p:spPr>
          <a:xfrm>
            <a:off x="548640" y="5029200"/>
            <a:ext cx="5349240" cy="868680"/>
          </a:xfrm>
          <a:prstGeom prst="roundRect">
            <a:avLst>
              <a:gd name="adj" fmla="val 8421"/>
            </a:avLst>
          </a:prstGeom>
          <a:solidFill>
            <a:srgbClr val="DDE3CC"/>
          </a:solidFill>
          <a:ln/>
        </p:spPr>
      </p:sp>
      <p:sp>
        <p:nvSpPr>
          <p:cNvPr id="27" name="Text 24"/>
          <p:cNvSpPr/>
          <p:nvPr/>
        </p:nvSpPr>
        <p:spPr>
          <a:xfrm>
            <a:off x="777240" y="5138928"/>
            <a:ext cx="493776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8 → 1000 slices costs ~22%</a:t>
            </a:r>
            <a:endParaRPr lang="en-US" sz="1400" dirty="0"/>
          </a:p>
        </p:txBody>
      </p:sp>
      <p:sp>
        <p:nvSpPr>
          <p:cNvPr id="28" name="Text 25"/>
          <p:cNvSpPr/>
          <p:nvPr/>
        </p:nvSpPr>
        <p:spPr>
          <a:xfrm>
            <a:off x="777240" y="5468112"/>
            <a:ext cx="4937760" cy="32004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a forgiving curve — no optimum to hunt for</a:t>
            </a:r>
            <a:endParaRPr lang="en-US" sz="1250" dirty="0"/>
          </a:p>
        </p:txBody>
      </p:sp>
      <p:sp>
        <p:nvSpPr>
          <p:cNvPr id="29" name="Shape 26"/>
          <p:cNvSpPr/>
          <p:nvPr/>
        </p:nvSpPr>
        <p:spPr>
          <a:xfrm>
            <a:off x="6263640" y="5029200"/>
            <a:ext cx="5349240" cy="868680"/>
          </a:xfrm>
          <a:prstGeom prst="roundRect">
            <a:avLst>
              <a:gd name="adj" fmla="val 8421"/>
            </a:avLst>
          </a:prstGeom>
          <a:solidFill>
            <a:srgbClr val="EDE0C4"/>
          </a:solidFill>
          <a:ln/>
        </p:spPr>
      </p:sp>
      <p:sp>
        <p:nvSpPr>
          <p:cNvPr id="30" name="Text 27"/>
          <p:cNvSpPr/>
          <p:nvPr/>
        </p:nvSpPr>
        <p:spPr>
          <a:xfrm>
            <a:off x="6492240" y="5138928"/>
            <a:ext cx="493776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even 10,000 slices beats serial</a:t>
            </a:r>
            <a:endParaRPr lang="en-US" sz="1400" dirty="0"/>
          </a:p>
        </p:txBody>
      </p:sp>
      <p:sp>
        <p:nvSpPr>
          <p:cNvPr id="31" name="Text 28"/>
          <p:cNvSpPr/>
          <p:nvPr/>
        </p:nvSpPr>
        <p:spPr>
          <a:xfrm>
            <a:off x="6492240" y="5468112"/>
            <a:ext cx="4937760" cy="32004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over-slicing degrades gradually</a:t>
            </a:r>
            <a:endParaRPr lang="en-US" sz="1250" dirty="0"/>
          </a:p>
        </p:txBody>
      </p:sp>
      <p:sp>
        <p:nvSpPr>
          <p:cNvPr id="32" name="Text 29"/>
          <p:cNvSpPr/>
          <p:nvPr/>
        </p:nvSpPr>
        <p:spPr>
          <a:xfrm>
            <a:off x="548640" y="603504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Slice to about the core count, or a small multiple of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Parallel what-ifs: d/with branches a value</a:t>
            </a:r>
            <a:endParaRPr lang="en-US" sz="2500" dirty="0"/>
          </a:p>
        </p:txBody>
      </p:sp>
      <p:sp>
        <p:nvSpPr>
          <p:cNvPr id="8" name="Shape 5"/>
          <p:cNvSpPr/>
          <p:nvPr/>
        </p:nvSpPr>
        <p:spPr>
          <a:xfrm>
            <a:off x="548640" y="1371600"/>
            <a:ext cx="2377440" cy="914400"/>
          </a:xfrm>
          <a:prstGeom prst="roundRect">
            <a:avLst>
              <a:gd name="adj" fmla="val 6000"/>
            </a:avLst>
          </a:prstGeom>
          <a:solidFill>
            <a:srgbClr val="2C2416"/>
          </a:solidFill>
          <a:ln/>
        </p:spPr>
      </p:sp>
      <p:sp>
        <p:nvSpPr>
          <p:cNvPr id="9" name="Text 6"/>
          <p:cNvSpPr/>
          <p:nvPr/>
        </p:nvSpPr>
        <p:spPr>
          <a:xfrm>
            <a:off x="621792" y="1517904"/>
            <a:ext cx="2231136" cy="310896"/>
          </a:xfrm>
          <a:prstGeom prst="rect">
            <a:avLst/>
          </a:prstGeom>
          <a:noFill/>
          <a:ln/>
        </p:spPr>
        <p:txBody>
          <a:bodyPr wrap="square" lIns="0" tIns="0" rIns="0" bIns="0" rtlCol="0" anchor="b">
            <a:normAutofit/>
          </a:bodyPr>
          <a:lstStyle/>
          <a:p>
            <a:pPr algn="ctr" indent="0" marL="0">
              <a:buNone/>
            </a:pPr>
            <a:r>
              <a:rPr lang="en-US" sz="1800" b="1" dirty="0">
                <a:solidFill>
                  <a:srgbClr val="FCFAF4"/>
                </a:solidFill>
                <a:latin typeface="Helvetica Neue" pitchFamily="34" charset="0"/>
                <a:ea typeface="Helvetica Neue" pitchFamily="34" charset="-122"/>
                <a:cs typeface="Helvetica Neue" pitchFamily="34" charset="-120"/>
              </a:rPr>
              <a:t>db</a:t>
            </a:r>
            <a:endParaRPr lang="en-US" sz="1800" dirty="0"/>
          </a:p>
        </p:txBody>
      </p:sp>
      <p:sp>
        <p:nvSpPr>
          <p:cNvPr id="10" name="Text 7"/>
          <p:cNvSpPr/>
          <p:nvPr/>
        </p:nvSpPr>
        <p:spPr>
          <a:xfrm>
            <a:off x="621792" y="1810512"/>
            <a:ext cx="2231136" cy="384048"/>
          </a:xfrm>
          <a:prstGeom prst="rect">
            <a:avLst/>
          </a:prstGeom>
          <a:noFill/>
          <a:ln/>
        </p:spPr>
        <p:txBody>
          <a:bodyPr wrap="square" lIns="0" tIns="0" rIns="0" bIns="0" rtlCol="0" anchor="t">
            <a:normAutofit/>
          </a:bodyPr>
          <a:lstStyle/>
          <a:p>
            <a:pPr algn="ctr" indent="0" marL="0">
              <a:buNone/>
            </a:pPr>
            <a:r>
              <a:rPr lang="en-US" sz="1100" dirty="0">
                <a:solidFill>
                  <a:srgbClr val="C9BDA4"/>
                </a:solidFill>
                <a:latin typeface="Helvetica Neue" pitchFamily="34" charset="0"/>
                <a:ea typeface="Helvetica Neue" pitchFamily="34" charset="-122"/>
                <a:cs typeface="Helvetica Neue" pitchFamily="34" charset="-120"/>
              </a:rPr>
              <a:t>the base value</a:t>
            </a:r>
            <a:endParaRPr lang="en-US" sz="1100" dirty="0"/>
          </a:p>
        </p:txBody>
      </p:sp>
      <p:sp>
        <p:nvSpPr>
          <p:cNvPr id="11" name="Shape 8"/>
          <p:cNvSpPr/>
          <p:nvPr/>
        </p:nvSpPr>
        <p:spPr>
          <a:xfrm flipV="1">
            <a:off x="2926080" y="1645920"/>
            <a:ext cx="1280160" cy="182880"/>
          </a:xfrm>
          <a:prstGeom prst="line">
            <a:avLst/>
          </a:prstGeom>
          <a:noFill/>
          <a:ln w="19050">
            <a:solidFill>
              <a:srgbClr val="A8864A"/>
            </a:solidFill>
            <a:prstDash val="solid"/>
            <a:headEnd type="none"/>
            <a:tailEnd type="triangle"/>
          </a:ln>
        </p:spPr>
      </p:sp>
      <p:sp>
        <p:nvSpPr>
          <p:cNvPr id="12" name="Shape 9"/>
          <p:cNvSpPr/>
          <p:nvPr/>
        </p:nvSpPr>
        <p:spPr>
          <a:xfrm>
            <a:off x="4206240" y="1325880"/>
            <a:ext cx="3108960" cy="640080"/>
          </a:xfrm>
          <a:prstGeom prst="roundRect">
            <a:avLst>
              <a:gd name="adj" fmla="val 8571"/>
            </a:avLst>
          </a:prstGeom>
          <a:solidFill>
            <a:srgbClr val="E6DFCE"/>
          </a:solidFill>
          <a:ln w="15875">
            <a:solidFill>
              <a:srgbClr val="C9BDA4"/>
            </a:solidFill>
            <a:prstDash val="solid"/>
          </a:ln>
        </p:spPr>
      </p:sp>
      <p:sp>
        <p:nvSpPr>
          <p:cNvPr id="13" name="Text 10"/>
          <p:cNvSpPr/>
          <p:nvPr/>
        </p:nvSpPr>
        <p:spPr>
          <a:xfrm>
            <a:off x="4279392" y="1325880"/>
            <a:ext cx="296265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d/with scenario A</a:t>
            </a:r>
            <a:endParaRPr lang="en-US" sz="1250" dirty="0"/>
          </a:p>
        </p:txBody>
      </p:sp>
      <p:sp>
        <p:nvSpPr>
          <p:cNvPr id="14" name="Shape 11"/>
          <p:cNvSpPr/>
          <p:nvPr/>
        </p:nvSpPr>
        <p:spPr>
          <a:xfrm>
            <a:off x="7680960" y="1325880"/>
            <a:ext cx="3931920" cy="640080"/>
          </a:xfrm>
          <a:prstGeom prst="roundRect">
            <a:avLst>
              <a:gd name="adj" fmla="val 8571"/>
            </a:avLst>
          </a:prstGeom>
          <a:solidFill>
            <a:srgbClr val="D3DEE1"/>
          </a:solidFill>
          <a:ln w="15875">
            <a:solidFill>
              <a:srgbClr val="3F6470"/>
            </a:solidFill>
            <a:prstDash val="solid"/>
          </a:ln>
        </p:spPr>
      </p:sp>
      <p:sp>
        <p:nvSpPr>
          <p:cNvPr id="15" name="Text 12"/>
          <p:cNvSpPr/>
          <p:nvPr/>
        </p:nvSpPr>
        <p:spPr>
          <a:xfrm>
            <a:off x="7754112" y="1325880"/>
            <a:ext cx="378561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Courier New" pitchFamily="34" charset="0"/>
                <a:ea typeface="Courier New" pitchFamily="34" charset="-122"/>
                <a:cs typeface="Courier New" pitchFamily="34" charset="-120"/>
              </a:rPr>
              <a:t>→ [[105005]]</a:t>
            </a:r>
            <a:endParaRPr lang="en-US" sz="1250" dirty="0"/>
          </a:p>
        </p:txBody>
      </p:sp>
      <p:sp>
        <p:nvSpPr>
          <p:cNvPr id="16" name="Shape 13"/>
          <p:cNvSpPr/>
          <p:nvPr/>
        </p:nvSpPr>
        <p:spPr>
          <a:xfrm>
            <a:off x="2926080" y="1828800"/>
            <a:ext cx="1280160" cy="777240"/>
          </a:xfrm>
          <a:prstGeom prst="line">
            <a:avLst/>
          </a:prstGeom>
          <a:noFill/>
          <a:ln w="19050">
            <a:solidFill>
              <a:srgbClr val="A8864A"/>
            </a:solidFill>
            <a:prstDash val="solid"/>
            <a:headEnd type="none"/>
            <a:tailEnd type="triangle"/>
          </a:ln>
        </p:spPr>
      </p:sp>
      <p:sp>
        <p:nvSpPr>
          <p:cNvPr id="17" name="Shape 14"/>
          <p:cNvSpPr/>
          <p:nvPr/>
        </p:nvSpPr>
        <p:spPr>
          <a:xfrm>
            <a:off x="4206240" y="2286000"/>
            <a:ext cx="3108960" cy="640080"/>
          </a:xfrm>
          <a:prstGeom prst="roundRect">
            <a:avLst>
              <a:gd name="adj" fmla="val 8571"/>
            </a:avLst>
          </a:prstGeom>
          <a:solidFill>
            <a:srgbClr val="E6DFCE"/>
          </a:solidFill>
          <a:ln w="15875">
            <a:solidFill>
              <a:srgbClr val="C9BDA4"/>
            </a:solidFill>
            <a:prstDash val="solid"/>
          </a:ln>
        </p:spPr>
      </p:sp>
      <p:sp>
        <p:nvSpPr>
          <p:cNvPr id="18" name="Text 15"/>
          <p:cNvSpPr/>
          <p:nvPr/>
        </p:nvSpPr>
        <p:spPr>
          <a:xfrm>
            <a:off x="4279392" y="2286000"/>
            <a:ext cx="296265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d/with scenario B</a:t>
            </a:r>
            <a:endParaRPr lang="en-US" sz="1250" dirty="0"/>
          </a:p>
        </p:txBody>
      </p:sp>
      <p:sp>
        <p:nvSpPr>
          <p:cNvPr id="19" name="Shape 16"/>
          <p:cNvSpPr/>
          <p:nvPr/>
        </p:nvSpPr>
        <p:spPr>
          <a:xfrm>
            <a:off x="7680960" y="2286000"/>
            <a:ext cx="3931920" cy="640080"/>
          </a:xfrm>
          <a:prstGeom prst="roundRect">
            <a:avLst>
              <a:gd name="adj" fmla="val 8571"/>
            </a:avLst>
          </a:prstGeom>
          <a:solidFill>
            <a:srgbClr val="D3DEE1"/>
          </a:solidFill>
          <a:ln w="15875">
            <a:solidFill>
              <a:srgbClr val="3F6470"/>
            </a:solidFill>
            <a:prstDash val="solid"/>
          </a:ln>
        </p:spPr>
      </p:sp>
      <p:sp>
        <p:nvSpPr>
          <p:cNvPr id="20" name="Text 17"/>
          <p:cNvSpPr/>
          <p:nvPr/>
        </p:nvSpPr>
        <p:spPr>
          <a:xfrm>
            <a:off x="7754112" y="2286000"/>
            <a:ext cx="378561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Courier New" pitchFamily="34" charset="0"/>
                <a:ea typeface="Courier New" pitchFamily="34" charset="-122"/>
                <a:cs typeface="Courier New" pitchFamily="34" charset="-120"/>
              </a:rPr>
              <a:t>→ [[105005]]</a:t>
            </a:r>
            <a:endParaRPr lang="en-US" sz="1250" dirty="0"/>
          </a:p>
        </p:txBody>
      </p:sp>
      <p:sp>
        <p:nvSpPr>
          <p:cNvPr id="21" name="Shape 18"/>
          <p:cNvSpPr/>
          <p:nvPr/>
        </p:nvSpPr>
        <p:spPr>
          <a:xfrm>
            <a:off x="2926080" y="1828800"/>
            <a:ext cx="1280160" cy="1737360"/>
          </a:xfrm>
          <a:prstGeom prst="line">
            <a:avLst/>
          </a:prstGeom>
          <a:noFill/>
          <a:ln w="19050">
            <a:solidFill>
              <a:srgbClr val="A8864A"/>
            </a:solidFill>
            <a:prstDash val="solid"/>
            <a:headEnd type="none"/>
            <a:tailEnd type="triangle"/>
          </a:ln>
        </p:spPr>
      </p:sp>
      <p:sp>
        <p:nvSpPr>
          <p:cNvPr id="22" name="Shape 19"/>
          <p:cNvSpPr/>
          <p:nvPr/>
        </p:nvSpPr>
        <p:spPr>
          <a:xfrm>
            <a:off x="4206240" y="3246120"/>
            <a:ext cx="3108960" cy="640080"/>
          </a:xfrm>
          <a:prstGeom prst="roundRect">
            <a:avLst>
              <a:gd name="adj" fmla="val 8571"/>
            </a:avLst>
          </a:prstGeom>
          <a:solidFill>
            <a:srgbClr val="E6DFCE"/>
          </a:solidFill>
          <a:ln w="15875">
            <a:solidFill>
              <a:srgbClr val="C9BDA4"/>
            </a:solidFill>
            <a:prstDash val="solid"/>
          </a:ln>
        </p:spPr>
      </p:sp>
      <p:sp>
        <p:nvSpPr>
          <p:cNvPr id="23" name="Text 20"/>
          <p:cNvSpPr/>
          <p:nvPr/>
        </p:nvSpPr>
        <p:spPr>
          <a:xfrm>
            <a:off x="4279392" y="3246120"/>
            <a:ext cx="296265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d/with scenario C</a:t>
            </a:r>
            <a:endParaRPr lang="en-US" sz="1250" dirty="0"/>
          </a:p>
        </p:txBody>
      </p:sp>
      <p:sp>
        <p:nvSpPr>
          <p:cNvPr id="24" name="Shape 21"/>
          <p:cNvSpPr/>
          <p:nvPr/>
        </p:nvSpPr>
        <p:spPr>
          <a:xfrm>
            <a:off x="7680960" y="3246120"/>
            <a:ext cx="3931920" cy="640080"/>
          </a:xfrm>
          <a:prstGeom prst="roundRect">
            <a:avLst>
              <a:gd name="adj" fmla="val 8571"/>
            </a:avLst>
          </a:prstGeom>
          <a:solidFill>
            <a:srgbClr val="D3DEE1"/>
          </a:solidFill>
          <a:ln w="15875">
            <a:solidFill>
              <a:srgbClr val="3F6470"/>
            </a:solidFill>
            <a:prstDash val="solid"/>
          </a:ln>
        </p:spPr>
      </p:sp>
      <p:sp>
        <p:nvSpPr>
          <p:cNvPr id="25" name="Text 22"/>
          <p:cNvSpPr/>
          <p:nvPr/>
        </p:nvSpPr>
        <p:spPr>
          <a:xfrm>
            <a:off x="7754112" y="3246120"/>
            <a:ext cx="378561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Courier New" pitchFamily="34" charset="0"/>
                <a:ea typeface="Courier New" pitchFamily="34" charset="-122"/>
                <a:cs typeface="Courier New" pitchFamily="34" charset="-120"/>
              </a:rPr>
              <a:t>→ [[105005]]</a:t>
            </a:r>
            <a:endParaRPr lang="en-US" sz="1250" dirty="0"/>
          </a:p>
        </p:txBody>
      </p:sp>
      <p:sp>
        <p:nvSpPr>
          <p:cNvPr id="26" name="Text 23"/>
          <p:cNvSpPr/>
          <p:nvPr/>
        </p:nvSpPr>
        <p:spPr>
          <a:xfrm>
            <a:off x="4206240" y="4160520"/>
            <a:ext cx="7406640" cy="274320"/>
          </a:xfrm>
          <a:prstGeom prst="rect">
            <a:avLst/>
          </a:prstGeom>
          <a:noFill/>
          <a:ln/>
        </p:spPr>
        <p:txBody>
          <a:bodyPr wrap="square" lIns="0" tIns="0" rIns="0" bIns="0" rtlCol="0" anchor="t"/>
          <a:lstStyle/>
          <a:p>
            <a:pPr algn="ctr" indent="0" marL="0">
              <a:buNone/>
            </a:pPr>
            <a:r>
              <a:rPr lang="en-US" sz="1250" i="1" dirty="0">
                <a:solidFill>
                  <a:srgbClr val="3F6470"/>
                </a:solidFill>
                <a:latin typeface="Helvetica Neue" pitchFamily="34" charset="0"/>
                <a:ea typeface="Helvetica Neue" pitchFamily="34" charset="-122"/>
                <a:cs typeface="Helvetica Neue" pitchFamily="34" charset="-120"/>
              </a:rPr>
              <a:t>no transactor · nothing durable · nothing shared</a:t>
            </a:r>
            <a:endParaRPr lang="en-US" sz="1250" dirty="0"/>
          </a:p>
        </p:txBody>
      </p:sp>
      <p:sp>
        <p:nvSpPr>
          <p:cNvPr id="27" name="Shape 24"/>
          <p:cNvSpPr/>
          <p:nvPr/>
        </p:nvSpPr>
        <p:spPr>
          <a:xfrm>
            <a:off x="548640" y="4572000"/>
            <a:ext cx="7315200" cy="1508760"/>
          </a:xfrm>
          <a:prstGeom prst="roundRect">
            <a:avLst>
              <a:gd name="adj" fmla="val 4848"/>
            </a:avLst>
          </a:prstGeom>
          <a:solidFill>
            <a:srgbClr val="E6DFCE"/>
          </a:solidFill>
          <a:ln/>
        </p:spPr>
      </p:sp>
      <p:sp>
        <p:nvSpPr>
          <p:cNvPr id="28" name="Text 25"/>
          <p:cNvSpPr/>
          <p:nvPr/>
        </p:nvSpPr>
        <p:spPr>
          <a:xfrm>
            <a:off x="749808" y="4718304"/>
            <a:ext cx="6912864" cy="121615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(doall (pmap #(d/q all-readings (:db-after (d/with db %))) scenarios))</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=&gt; ([[105005]] [[105005]] [[105005]])</a:t>
            </a:r>
            <a:endParaRPr lang="en-US" sz="1250" dirty="0"/>
          </a:p>
          <a:p>
            <a:pPr indent="0" marL="0">
              <a:buNone/>
            </a:pP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(d/q all-readings db)</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=&gt; [[105000]]          the base db is unchanged</a:t>
            </a:r>
            <a:endParaRPr lang="en-US" sz="1250" dirty="0"/>
          </a:p>
        </p:txBody>
      </p:sp>
      <p:sp>
        <p:nvSpPr>
          <p:cNvPr id="29" name="Shape 26"/>
          <p:cNvSpPr/>
          <p:nvPr/>
        </p:nvSpPr>
        <p:spPr>
          <a:xfrm>
            <a:off x="8138160" y="4572000"/>
            <a:ext cx="3474720" cy="1508760"/>
          </a:xfrm>
          <a:prstGeom prst="roundRect">
            <a:avLst>
              <a:gd name="adj" fmla="val 4848"/>
            </a:avLst>
          </a:prstGeom>
          <a:solidFill>
            <a:srgbClr val="E6DFCE"/>
          </a:solidFill>
          <a:ln/>
        </p:spPr>
      </p:sp>
      <p:sp>
        <p:nvSpPr>
          <p:cNvPr id="30" name="Text 27"/>
          <p:cNvSpPr/>
          <p:nvPr/>
        </p:nvSpPr>
        <p:spPr>
          <a:xfrm>
            <a:off x="8366760" y="4709160"/>
            <a:ext cx="3017520" cy="274320"/>
          </a:xfrm>
          <a:prstGeom prst="rect">
            <a:avLst/>
          </a:prstGeom>
          <a:noFill/>
          <a:ln/>
        </p:spPr>
        <p:txBody>
          <a:bodyPr wrap="square" lIns="0" tIns="0" rIns="0" bIns="0" rtlCol="0" anchor="t"/>
          <a:lstStyle/>
          <a:p>
            <a:pPr indent="0" marL="0">
              <a:buNone/>
            </a:pPr>
            <a:r>
              <a:rPr lang="en-US" sz="1100" b="1" spc="150" kern="0" dirty="0">
                <a:solidFill>
                  <a:srgbClr val="A8864A"/>
                </a:solidFill>
                <a:latin typeface="Helvetica Neue" pitchFamily="34" charset="0"/>
                <a:ea typeface="Helvetica Neue" pitchFamily="34" charset="-122"/>
                <a:cs typeface="Helvetica Neue" pitchFamily="34" charset="-120"/>
              </a:rPr>
              <a:t>USE FOR</a:t>
            </a:r>
            <a:endParaRPr lang="en-US" sz="1100" dirty="0"/>
          </a:p>
        </p:txBody>
      </p:sp>
      <p:sp>
        <p:nvSpPr>
          <p:cNvPr id="31" name="Text 28"/>
          <p:cNvSpPr/>
          <p:nvPr/>
        </p:nvSpPr>
        <p:spPr>
          <a:xfrm>
            <a:off x="8366760" y="5029200"/>
            <a:ext cx="3017520" cy="9601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50" dirty="0">
                <a:solidFill>
                  <a:srgbClr val="6B5A44"/>
                </a:solidFill>
                <a:latin typeface="Helvetica Neue" pitchFamily="34" charset="0"/>
                <a:ea typeface="Helvetica Neue" pitchFamily="34" charset="-122"/>
                <a:cs typeface="Helvetica Neue" pitchFamily="34" charset="-120"/>
              </a:rPr>
              <a:t>validation</a:t>
            </a:r>
            <a:endParaRPr lang="en-US" sz="1250" dirty="0"/>
          </a:p>
          <a:p>
            <a:pPr marL="342900" indent="-342900">
              <a:spcAft>
                <a:spcPts val="400"/>
              </a:spcAft>
              <a:buSzPct val="100000"/>
              <a:buChar char="•"/>
            </a:pPr>
            <a:r>
              <a:rPr lang="en-US" sz="1250" dirty="0">
                <a:solidFill>
                  <a:srgbClr val="6B5A44"/>
                </a:solidFill>
                <a:latin typeface="Helvetica Neue" pitchFamily="34" charset="0"/>
                <a:ea typeface="Helvetica Neue" pitchFamily="34" charset="-122"/>
                <a:cs typeface="Helvetica Neue" pitchFamily="34" charset="-120"/>
              </a:rPr>
              <a:t>scenario analysis</a:t>
            </a:r>
            <a:endParaRPr lang="en-US" sz="1250" dirty="0"/>
          </a:p>
          <a:p>
            <a:pPr marL="342900" indent="-342900">
              <a:spcAft>
                <a:spcPts val="400"/>
              </a:spcAft>
              <a:buSzPct val="100000"/>
              <a:buChar char="•"/>
            </a:pPr>
            <a:r>
              <a:rPr lang="en-US" sz="1250" dirty="0">
                <a:solidFill>
                  <a:srgbClr val="6B5A44"/>
                </a:solidFill>
                <a:latin typeface="Helvetica Neue" pitchFamily="34" charset="0"/>
                <a:ea typeface="Helvetica Neue" pitchFamily="34" charset="-122"/>
                <a:cs typeface="Helvetica Neue" pitchFamily="34" charset="-120"/>
              </a:rPr>
              <a:t>import dry runs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28</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Where parallelism does not apply</a:t>
            </a:r>
            <a:endParaRPr lang="en-US" sz="2500" dirty="0"/>
          </a:p>
        </p:txBody>
      </p:sp>
      <p:sp>
        <p:nvSpPr>
          <p:cNvPr id="8" name="Shape 5"/>
          <p:cNvSpPr/>
          <p:nvPr/>
        </p:nvSpPr>
        <p:spPr>
          <a:xfrm>
            <a:off x="548640" y="1463040"/>
            <a:ext cx="11064240" cy="1051560"/>
          </a:xfrm>
          <a:prstGeom prst="roundRect">
            <a:avLst>
              <a:gd name="adj" fmla="val 5217"/>
            </a:avLst>
          </a:prstGeom>
          <a:solidFill>
            <a:srgbClr val="EBD5CB"/>
          </a:solidFill>
          <a:ln w="15875">
            <a:solidFill>
              <a:srgbClr val="9E4227"/>
            </a:solidFill>
            <a:prstDash val="solid"/>
          </a:ln>
        </p:spPr>
      </p:sp>
      <p:sp>
        <p:nvSpPr>
          <p:cNvPr id="9" name="Text 6"/>
          <p:cNvSpPr/>
          <p:nvPr/>
        </p:nvSpPr>
        <p:spPr>
          <a:xfrm>
            <a:off x="621792" y="1463040"/>
            <a:ext cx="10917936" cy="1051560"/>
          </a:xfrm>
          <a:prstGeom prst="rect">
            <a:avLst/>
          </a:prstGeom>
          <a:noFill/>
          <a:ln/>
        </p:spPr>
        <p:txBody>
          <a:bodyPr wrap="square" lIns="0" tIns="0" rIns="0" bIns="0" rtlCol="0" anchor="ctr">
            <a:normAutofit/>
          </a:bodyPr>
          <a:lstStyle/>
          <a:p>
            <a:pPr algn="ctr" indent="0" marL="0">
              <a:buNone/>
            </a:pPr>
            <a:r>
              <a:rPr lang="en-US" sz="2000" b="1" dirty="0">
                <a:solidFill>
                  <a:srgbClr val="3A2C1A"/>
                </a:solidFill>
                <a:latin typeface="Helvetica Neue" pitchFamily="34" charset="0"/>
                <a:ea typeface="Helvetica Neue" pitchFamily="34" charset="-122"/>
                <a:cs typeface="Helvetica Neue" pitchFamily="34" charset="-120"/>
              </a:rPr>
              <a:t>a single (d/q …) is SINGLE-THREADED inside the peer</a:t>
            </a:r>
            <a:endParaRPr lang="en-US" sz="2000" dirty="0"/>
          </a:p>
        </p:txBody>
      </p:sp>
      <p:sp>
        <p:nvSpPr>
          <p:cNvPr id="10" name="Text 7"/>
          <p:cNvSpPr/>
          <p:nvPr/>
        </p:nvSpPr>
        <p:spPr>
          <a:xfrm>
            <a:off x="548640" y="2788920"/>
            <a:ext cx="1106424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So parallelism applies …</a:t>
            </a:r>
            <a:endParaRPr lang="en-US" sz="1400" dirty="0"/>
          </a:p>
        </p:txBody>
      </p:sp>
      <p:sp>
        <p:nvSpPr>
          <p:cNvPr id="11" name="Shape 8"/>
          <p:cNvSpPr/>
          <p:nvPr/>
        </p:nvSpPr>
        <p:spPr>
          <a:xfrm>
            <a:off x="548640" y="3200400"/>
            <a:ext cx="3538728" cy="1188720"/>
          </a:xfrm>
          <a:prstGeom prst="roundRect">
            <a:avLst>
              <a:gd name="adj" fmla="val 4615"/>
            </a:avLst>
          </a:prstGeom>
          <a:solidFill>
            <a:srgbClr val="DDE3CC"/>
          </a:solidFill>
          <a:ln w="15875">
            <a:solidFill>
              <a:srgbClr val="5F7A3A"/>
            </a:solidFill>
            <a:prstDash val="solid"/>
          </a:ln>
        </p:spPr>
      </p:sp>
      <p:sp>
        <p:nvSpPr>
          <p:cNvPr id="12" name="Text 9"/>
          <p:cNvSpPr/>
          <p:nvPr/>
        </p:nvSpPr>
        <p:spPr>
          <a:xfrm>
            <a:off x="621792" y="3483864"/>
            <a:ext cx="3392424"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  ACROSS queries</a:t>
            </a:r>
            <a:endParaRPr lang="en-US" sz="1400" dirty="0"/>
          </a:p>
        </p:txBody>
      </p:sp>
      <p:sp>
        <p:nvSpPr>
          <p:cNvPr id="13" name="Text 10"/>
          <p:cNvSpPr/>
          <p:nvPr/>
        </p:nvSpPr>
        <p:spPr>
          <a:xfrm>
            <a:off x="621792" y="3776472"/>
            <a:ext cx="3392424" cy="384048"/>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many requests, many cores</a:t>
            </a:r>
            <a:endParaRPr lang="en-US" sz="1200" dirty="0"/>
          </a:p>
        </p:txBody>
      </p:sp>
      <p:sp>
        <p:nvSpPr>
          <p:cNvPr id="14" name="Shape 11"/>
          <p:cNvSpPr/>
          <p:nvPr/>
        </p:nvSpPr>
        <p:spPr>
          <a:xfrm>
            <a:off x="4315968" y="3200400"/>
            <a:ext cx="3538728" cy="1188720"/>
          </a:xfrm>
          <a:prstGeom prst="roundRect">
            <a:avLst>
              <a:gd name="adj" fmla="val 4615"/>
            </a:avLst>
          </a:prstGeom>
          <a:solidFill>
            <a:srgbClr val="DDE3CC"/>
          </a:solidFill>
          <a:ln w="15875">
            <a:solidFill>
              <a:srgbClr val="5F7A3A"/>
            </a:solidFill>
            <a:prstDash val="solid"/>
          </a:ln>
        </p:spPr>
      </p:sp>
      <p:sp>
        <p:nvSpPr>
          <p:cNvPr id="15" name="Text 12"/>
          <p:cNvSpPr/>
          <p:nvPr/>
        </p:nvSpPr>
        <p:spPr>
          <a:xfrm>
            <a:off x="4389120" y="3483864"/>
            <a:ext cx="3392424"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  ACROSS slices</a:t>
            </a:r>
            <a:endParaRPr lang="en-US" sz="1400" dirty="0"/>
          </a:p>
        </p:txBody>
      </p:sp>
      <p:sp>
        <p:nvSpPr>
          <p:cNvPr id="16" name="Text 13"/>
          <p:cNvSpPr/>
          <p:nvPr/>
        </p:nvSpPr>
        <p:spPr>
          <a:xfrm>
            <a:off x="4389120" y="3776472"/>
            <a:ext cx="3392424" cy="384048"/>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cut by the caller, as on the last slide</a:t>
            </a:r>
            <a:endParaRPr lang="en-US" sz="1200" dirty="0"/>
          </a:p>
        </p:txBody>
      </p:sp>
      <p:sp>
        <p:nvSpPr>
          <p:cNvPr id="17" name="Shape 14"/>
          <p:cNvSpPr/>
          <p:nvPr/>
        </p:nvSpPr>
        <p:spPr>
          <a:xfrm>
            <a:off x="8083296" y="3200400"/>
            <a:ext cx="3538728" cy="1188720"/>
          </a:xfrm>
          <a:prstGeom prst="roundRect">
            <a:avLst>
              <a:gd name="adj" fmla="val 4615"/>
            </a:avLst>
          </a:prstGeom>
          <a:solidFill>
            <a:srgbClr val="EBD5CB"/>
          </a:solidFill>
          <a:ln w="15875">
            <a:solidFill>
              <a:srgbClr val="9E4227"/>
            </a:solidFill>
            <a:prstDash val="solid"/>
          </a:ln>
        </p:spPr>
      </p:sp>
      <p:sp>
        <p:nvSpPr>
          <p:cNvPr id="18" name="Text 15"/>
          <p:cNvSpPr/>
          <p:nvPr/>
        </p:nvSpPr>
        <p:spPr>
          <a:xfrm>
            <a:off x="8156448" y="3483864"/>
            <a:ext cx="3392424"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  WITHIN one query</a:t>
            </a:r>
            <a:endParaRPr lang="en-US" sz="1400" dirty="0"/>
          </a:p>
        </p:txBody>
      </p:sp>
      <p:sp>
        <p:nvSpPr>
          <p:cNvPr id="19" name="Text 16"/>
          <p:cNvSpPr/>
          <p:nvPr/>
        </p:nvSpPr>
        <p:spPr>
          <a:xfrm>
            <a:off x="8156448" y="3776472"/>
            <a:ext cx="3392424" cy="384048"/>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no knob exists, and none is coming</a:t>
            </a:r>
            <a:endParaRPr lang="en-US" sz="1200" dirty="0"/>
          </a:p>
        </p:txBody>
      </p:sp>
      <p:sp>
        <p:nvSpPr>
          <p:cNvPr id="20" name="Shape 17"/>
          <p:cNvSpPr/>
          <p:nvPr/>
        </p:nvSpPr>
        <p:spPr>
          <a:xfrm>
            <a:off x="548640" y="4617720"/>
            <a:ext cx="54864" cy="457200"/>
          </a:xfrm>
          <a:prstGeom prst="rect">
            <a:avLst/>
          </a:prstGeom>
          <a:solidFill>
            <a:srgbClr val="A8864A"/>
          </a:solidFill>
          <a:ln/>
        </p:spPr>
      </p:sp>
      <p:sp>
        <p:nvSpPr>
          <p:cNvPr id="21" name="Text 18"/>
          <p:cNvSpPr/>
          <p:nvPr/>
        </p:nvSpPr>
        <p:spPr>
          <a:xfrm>
            <a:off x="777240" y="461772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A slow single query is fixed by its shape or its cache — never by more cores.</a:t>
            </a:r>
            <a:endParaRPr lang="en-US" sz="1450" dirty="0"/>
          </a:p>
        </p:txBody>
      </p:sp>
      <p:sp>
        <p:nvSpPr>
          <p:cNvPr id="22" name="Shape 19"/>
          <p:cNvSpPr/>
          <p:nvPr/>
        </p:nvSpPr>
        <p:spPr>
          <a:xfrm>
            <a:off x="548640" y="5257800"/>
            <a:ext cx="11064240" cy="1143000"/>
          </a:xfrm>
          <a:prstGeom prst="roundRect">
            <a:avLst>
              <a:gd name="adj" fmla="val 6400"/>
            </a:avLst>
          </a:prstGeom>
          <a:solidFill>
            <a:srgbClr val="DFD6C0"/>
          </a:solidFill>
          <a:ln/>
        </p:spPr>
      </p:sp>
      <p:sp>
        <p:nvSpPr>
          <p:cNvPr id="23" name="Shape 20"/>
          <p:cNvSpPr/>
          <p:nvPr/>
        </p:nvSpPr>
        <p:spPr>
          <a:xfrm>
            <a:off x="548640" y="5257800"/>
            <a:ext cx="82296" cy="1143000"/>
          </a:xfrm>
          <a:prstGeom prst="rect">
            <a:avLst/>
          </a:prstGeom>
          <a:solidFill>
            <a:srgbClr val="A8864A"/>
          </a:solidFill>
          <a:ln/>
        </p:spPr>
      </p:sp>
      <p:sp>
        <p:nvSpPr>
          <p:cNvPr id="24" name="Text 21"/>
          <p:cNvSpPr/>
          <p:nvPr/>
        </p:nvSpPr>
        <p:spPr>
          <a:xfrm>
            <a:off x="822960" y="536752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§4</a:t>
            </a:r>
            <a:endParaRPr lang="en-US" sz="1300" dirty="0"/>
          </a:p>
        </p:txBody>
      </p:sp>
      <p:sp>
        <p:nvSpPr>
          <p:cNvPr id="25" name="Shape 22"/>
          <p:cNvSpPr/>
          <p:nvPr/>
        </p:nvSpPr>
        <p:spPr>
          <a:xfrm>
            <a:off x="10561320" y="5367528"/>
            <a:ext cx="777240" cy="292608"/>
          </a:xfrm>
          <a:prstGeom prst="roundRect">
            <a:avLst>
              <a:gd name="adj" fmla="val 25000"/>
            </a:avLst>
          </a:prstGeom>
          <a:solidFill>
            <a:srgbClr val="DDE3CC"/>
          </a:solidFill>
          <a:ln/>
        </p:spPr>
      </p:sp>
      <p:sp>
        <p:nvSpPr>
          <p:cNvPr id="26" name="Text 23"/>
          <p:cNvSpPr/>
          <p:nvPr/>
        </p:nvSpPr>
        <p:spPr>
          <a:xfrm>
            <a:off x="10561320" y="5367528"/>
            <a:ext cx="777240" cy="292608"/>
          </a:xfrm>
          <a:prstGeom prst="rect">
            <a:avLst/>
          </a:prstGeom>
          <a:noFill/>
          <a:ln/>
        </p:spPr>
        <p:txBody>
          <a:bodyPr wrap="square" lIns="0" tIns="0" rIns="0" bIns="0" rtlCol="0" anchor="ctr"/>
          <a:lstStyle/>
          <a:p>
            <a:pPr algn="ctr" indent="0" marL="0">
              <a:buNone/>
            </a:pPr>
            <a:r>
              <a:rPr lang="en-US" sz="1100" b="1" dirty="0">
                <a:solidFill>
                  <a:srgbClr val="5F7A3A"/>
                </a:solidFill>
                <a:latin typeface="Helvetica Neue" pitchFamily="34" charset="0"/>
                <a:ea typeface="Helvetica Neue" pitchFamily="34" charset="-122"/>
                <a:cs typeface="Helvetica Neue" pitchFamily="34" charset="-120"/>
              </a:rPr>
              <a:t>[MEM]</a:t>
            </a:r>
            <a:endParaRPr lang="en-US" sz="1100" dirty="0"/>
          </a:p>
        </p:txBody>
      </p:sp>
      <p:sp>
        <p:nvSpPr>
          <p:cNvPr id="27" name="Text 24"/>
          <p:cNvSpPr/>
          <p:nvPr/>
        </p:nvSpPr>
        <p:spPr>
          <a:xfrm>
            <a:off x="822960" y="5715000"/>
            <a:ext cx="10515600" cy="57607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All four experiments run in memory, including the one that shows no difference; that null result is the control.</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The two counter-intuitive results are pipelining on mem and the 10,000-slice floor.</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V</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Settings and signals</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The memory-index loop · the knobs · what to alert on</a:t>
            </a:r>
            <a:endParaRPr lang="en-US" sz="1600" dirty="0"/>
          </a:p>
        </p:txBody>
      </p:sp>
      <p:sp>
        <p:nvSpPr>
          <p:cNvPr id="7" name="Text 5"/>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 · SETTINGS AND SIGNALS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30</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memory-index loop</a:t>
            </a:r>
            <a:endParaRPr lang="en-US" sz="2500" dirty="0"/>
          </a:p>
        </p:txBody>
      </p:sp>
      <p:sp>
        <p:nvSpPr>
          <p:cNvPr id="8" name="Shape 5"/>
          <p:cNvSpPr/>
          <p:nvPr/>
        </p:nvSpPr>
        <p:spPr>
          <a:xfrm>
            <a:off x="548640" y="1371600"/>
            <a:ext cx="2011680" cy="640080"/>
          </a:xfrm>
          <a:prstGeom prst="roundRect">
            <a:avLst>
              <a:gd name="adj" fmla="val 8571"/>
            </a:avLst>
          </a:prstGeom>
          <a:solidFill>
            <a:srgbClr val="DFD6C0"/>
          </a:solidFill>
          <a:ln/>
        </p:spPr>
      </p:sp>
      <p:sp>
        <p:nvSpPr>
          <p:cNvPr id="9" name="Text 6"/>
          <p:cNvSpPr/>
          <p:nvPr/>
        </p:nvSpPr>
        <p:spPr>
          <a:xfrm>
            <a:off x="621792" y="1371600"/>
            <a:ext cx="1865376" cy="64008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writes</a:t>
            </a:r>
            <a:endParaRPr lang="en-US" sz="1400" dirty="0"/>
          </a:p>
        </p:txBody>
      </p:sp>
      <p:sp>
        <p:nvSpPr>
          <p:cNvPr id="10" name="Shape 7"/>
          <p:cNvSpPr/>
          <p:nvPr/>
        </p:nvSpPr>
        <p:spPr>
          <a:xfrm>
            <a:off x="2560320" y="1691640"/>
            <a:ext cx="1097280" cy="0"/>
          </a:xfrm>
          <a:prstGeom prst="line">
            <a:avLst/>
          </a:prstGeom>
          <a:noFill/>
          <a:ln w="19050">
            <a:solidFill>
              <a:srgbClr val="A8864A"/>
            </a:solidFill>
            <a:prstDash val="solid"/>
            <a:headEnd type="none"/>
            <a:tailEnd type="triangle"/>
          </a:ln>
        </p:spPr>
      </p:sp>
      <p:sp>
        <p:nvSpPr>
          <p:cNvPr id="11" name="Shape 8"/>
          <p:cNvSpPr/>
          <p:nvPr/>
        </p:nvSpPr>
        <p:spPr>
          <a:xfrm>
            <a:off x="3657600" y="1371600"/>
            <a:ext cx="4023360" cy="640080"/>
          </a:xfrm>
          <a:prstGeom prst="roundRect">
            <a:avLst>
              <a:gd name="adj" fmla="val 8571"/>
            </a:avLst>
          </a:prstGeom>
          <a:solidFill>
            <a:srgbClr val="D3DEE1"/>
          </a:solidFill>
          <a:ln w="15875">
            <a:solidFill>
              <a:srgbClr val="3F6470"/>
            </a:solidFill>
            <a:prstDash val="solid"/>
          </a:ln>
        </p:spPr>
      </p:sp>
      <p:sp>
        <p:nvSpPr>
          <p:cNvPr id="12" name="Text 9"/>
          <p:cNvSpPr/>
          <p:nvPr/>
        </p:nvSpPr>
        <p:spPr>
          <a:xfrm>
            <a:off x="3730752" y="1371600"/>
            <a:ext cx="3877056" cy="640080"/>
          </a:xfrm>
          <a:prstGeom prst="rect">
            <a:avLst/>
          </a:prstGeom>
          <a:noFill/>
          <a:ln/>
        </p:spPr>
        <p:txBody>
          <a:bodyPr wrap="square" lIns="0" tIns="0" rIns="0" bIns="0" rtlCol="0" anchor="ctr">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memory index</a:t>
            </a:r>
            <a:endParaRPr lang="en-US" sz="1500" dirty="0"/>
          </a:p>
        </p:txBody>
      </p:sp>
      <p:sp>
        <p:nvSpPr>
          <p:cNvPr id="13" name="Shape 10"/>
          <p:cNvSpPr/>
          <p:nvPr/>
        </p:nvSpPr>
        <p:spPr>
          <a:xfrm>
            <a:off x="7680960" y="1691640"/>
            <a:ext cx="1188720" cy="0"/>
          </a:xfrm>
          <a:prstGeom prst="line">
            <a:avLst/>
          </a:prstGeom>
          <a:noFill/>
          <a:ln w="19050">
            <a:solidFill>
              <a:srgbClr val="5F7A3A"/>
            </a:solidFill>
            <a:prstDash val="solid"/>
            <a:headEnd type="none"/>
            <a:tailEnd type="triangle"/>
          </a:ln>
        </p:spPr>
      </p:sp>
      <p:sp>
        <p:nvSpPr>
          <p:cNvPr id="14" name="Shape 11"/>
          <p:cNvSpPr/>
          <p:nvPr/>
        </p:nvSpPr>
        <p:spPr>
          <a:xfrm>
            <a:off x="8869680" y="1371600"/>
            <a:ext cx="2743200" cy="640080"/>
          </a:xfrm>
          <a:prstGeom prst="roundRect">
            <a:avLst>
              <a:gd name="adj" fmla="val 8571"/>
            </a:avLst>
          </a:prstGeom>
          <a:solidFill>
            <a:srgbClr val="DDE3CC"/>
          </a:solidFill>
          <a:ln w="15875">
            <a:solidFill>
              <a:srgbClr val="5F7A3A"/>
            </a:solidFill>
            <a:prstDash val="solid"/>
          </a:ln>
        </p:spPr>
      </p:sp>
      <p:sp>
        <p:nvSpPr>
          <p:cNvPr id="15" name="Text 12"/>
          <p:cNvSpPr/>
          <p:nvPr/>
        </p:nvSpPr>
        <p:spPr>
          <a:xfrm>
            <a:off x="8942832" y="1380744"/>
            <a:ext cx="259689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durable log</a:t>
            </a:r>
            <a:endParaRPr lang="en-US" sz="1300" dirty="0"/>
          </a:p>
        </p:txBody>
      </p:sp>
      <p:sp>
        <p:nvSpPr>
          <p:cNvPr id="16" name="Text 13"/>
          <p:cNvSpPr/>
          <p:nvPr/>
        </p:nvSpPr>
        <p:spPr>
          <a:xfrm>
            <a:off x="8942832" y="1673352"/>
            <a:ext cx="2596896" cy="384048"/>
          </a:xfrm>
          <a:prstGeom prst="rect">
            <a:avLst/>
          </a:prstGeom>
          <a:noFill/>
          <a:ln/>
        </p:spPr>
        <p:txBody>
          <a:bodyPr wrap="square" lIns="0" tIns="0" rIns="0" bIns="0" rtlCol="0" anchor="t">
            <a:normAutofit/>
          </a:bodyPr>
          <a:lstStyle/>
          <a:p>
            <a:pPr algn="ctr" indent="0" marL="0">
              <a:buNone/>
            </a:pPr>
            <a:r>
              <a:rPr lang="en-US" sz="1000" dirty="0">
                <a:solidFill>
                  <a:srgbClr val="5F7A3A"/>
                </a:solidFill>
                <a:latin typeface="Helvetica Neue" pitchFamily="34" charset="0"/>
                <a:ea typeface="Helvetica Neue" pitchFamily="34" charset="-122"/>
                <a:cs typeface="Helvetica Neue" pitchFamily="34" charset="-120"/>
              </a:rPr>
              <a:t>always, immediately</a:t>
            </a:r>
            <a:endParaRPr lang="en-US" sz="1000" dirty="0"/>
          </a:p>
        </p:txBody>
      </p:sp>
      <p:sp>
        <p:nvSpPr>
          <p:cNvPr id="17" name="Shape 14"/>
          <p:cNvSpPr/>
          <p:nvPr/>
        </p:nvSpPr>
        <p:spPr>
          <a:xfrm>
            <a:off x="5669280" y="2011680"/>
            <a:ext cx="0" cy="685800"/>
          </a:xfrm>
          <a:prstGeom prst="line">
            <a:avLst/>
          </a:prstGeom>
          <a:noFill/>
          <a:ln w="19050">
            <a:solidFill>
              <a:srgbClr val="A8864A"/>
            </a:solidFill>
            <a:prstDash val="solid"/>
            <a:headEnd type="none"/>
            <a:tailEnd type="triangle"/>
          </a:ln>
        </p:spPr>
      </p:sp>
      <p:sp>
        <p:nvSpPr>
          <p:cNvPr id="18" name="Text 15"/>
          <p:cNvSpPr/>
          <p:nvPr/>
        </p:nvSpPr>
        <p:spPr>
          <a:xfrm>
            <a:off x="5943600" y="2208276"/>
            <a:ext cx="3840480" cy="292608"/>
          </a:xfrm>
          <a:prstGeom prst="rect">
            <a:avLst/>
          </a:prstGeom>
          <a:noFill/>
          <a:ln/>
        </p:spPr>
        <p:txBody>
          <a:bodyPr wrap="square" lIns="0" tIns="0" rIns="0" bIns="0" rtlCol="0" anchor="ctr">
            <a:normAutofit/>
          </a:bodyPr>
          <a:lstStyle/>
          <a:p>
            <a:pPr algn="ctr" indent="0" marL="0">
              <a:buNone/>
            </a:pPr>
            <a:r>
              <a:rPr lang="en-US" sz="1100" dirty="0">
                <a:solidFill>
                  <a:srgbClr val="A8864A"/>
                </a:solidFill>
                <a:latin typeface="Helvetica Neue" pitchFamily="34" charset="0"/>
                <a:ea typeface="Helvetica Neue" pitchFamily="34" charset="-122"/>
                <a:cs typeface="Helvetica Neue" pitchFamily="34" charset="-120"/>
              </a:rPr>
              <a:t>past memory-index-threshold</a:t>
            </a:r>
            <a:endParaRPr lang="en-US" sz="1100" dirty="0"/>
          </a:p>
        </p:txBody>
      </p:sp>
      <p:sp>
        <p:nvSpPr>
          <p:cNvPr id="19" name="Shape 16"/>
          <p:cNvSpPr/>
          <p:nvPr/>
        </p:nvSpPr>
        <p:spPr>
          <a:xfrm>
            <a:off x="3657600" y="2697480"/>
            <a:ext cx="4023360" cy="640080"/>
          </a:xfrm>
          <a:prstGeom prst="roundRect">
            <a:avLst>
              <a:gd name="adj" fmla="val 8571"/>
            </a:avLst>
          </a:prstGeom>
          <a:solidFill>
            <a:srgbClr val="E6DFCE"/>
          </a:solidFill>
          <a:ln w="15875">
            <a:solidFill>
              <a:srgbClr val="C9BDA4"/>
            </a:solidFill>
            <a:prstDash val="solid"/>
          </a:ln>
        </p:spPr>
      </p:sp>
      <p:sp>
        <p:nvSpPr>
          <p:cNvPr id="20" name="Text 17"/>
          <p:cNvSpPr/>
          <p:nvPr/>
        </p:nvSpPr>
        <p:spPr>
          <a:xfrm>
            <a:off x="3730752" y="2697480"/>
            <a:ext cx="3877056" cy="640080"/>
          </a:xfrm>
          <a:prstGeom prst="rect">
            <a:avLst/>
          </a:prstGeom>
          <a:noFill/>
          <a:ln/>
        </p:spPr>
        <p:txBody>
          <a:bodyPr wrap="square" lIns="0" tIns="0" rIns="0" bIns="0" rtlCol="0" anchor="ctr">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indexing job</a:t>
            </a:r>
            <a:endParaRPr lang="en-US" sz="1500" dirty="0"/>
          </a:p>
        </p:txBody>
      </p:sp>
      <p:sp>
        <p:nvSpPr>
          <p:cNvPr id="21" name="Shape 18"/>
          <p:cNvSpPr/>
          <p:nvPr/>
        </p:nvSpPr>
        <p:spPr>
          <a:xfrm>
            <a:off x="7680960" y="3017520"/>
            <a:ext cx="1188720" cy="0"/>
          </a:xfrm>
          <a:prstGeom prst="line">
            <a:avLst/>
          </a:prstGeom>
          <a:noFill/>
          <a:ln w="19050">
            <a:solidFill>
              <a:srgbClr val="C9BDA4"/>
            </a:solidFill>
            <a:prstDash val="solid"/>
            <a:headEnd type="none"/>
            <a:tailEnd type="triangle"/>
          </a:ln>
        </p:spPr>
      </p:sp>
      <p:sp>
        <p:nvSpPr>
          <p:cNvPr id="22" name="Shape 19"/>
          <p:cNvSpPr/>
          <p:nvPr/>
        </p:nvSpPr>
        <p:spPr>
          <a:xfrm>
            <a:off x="8869680" y="2697480"/>
            <a:ext cx="2743200" cy="640080"/>
          </a:xfrm>
          <a:prstGeom prst="roundRect">
            <a:avLst>
              <a:gd name="adj" fmla="val 8571"/>
            </a:avLst>
          </a:prstGeom>
          <a:solidFill>
            <a:srgbClr val="2C2416"/>
          </a:solidFill>
          <a:ln/>
        </p:spPr>
      </p:sp>
      <p:sp>
        <p:nvSpPr>
          <p:cNvPr id="23" name="Text 20"/>
          <p:cNvSpPr/>
          <p:nvPr/>
        </p:nvSpPr>
        <p:spPr>
          <a:xfrm>
            <a:off x="8942832" y="2697480"/>
            <a:ext cx="2596896" cy="640080"/>
          </a:xfrm>
          <a:prstGeom prst="rect">
            <a:avLst/>
          </a:prstGeom>
          <a:noFill/>
          <a:ln/>
        </p:spPr>
        <p:txBody>
          <a:bodyPr wrap="square" lIns="0" tIns="0" rIns="0" bIns="0" rtlCol="0" anchor="ctr">
            <a:normAutofit/>
          </a:bodyPr>
          <a:lstStyle/>
          <a:p>
            <a:pPr algn="ctr" indent="0" marL="0">
              <a:buNone/>
            </a:pPr>
            <a:r>
              <a:rPr lang="en-US" sz="1300" b="1" dirty="0">
                <a:solidFill>
                  <a:srgbClr val="FCFAF4"/>
                </a:solidFill>
                <a:latin typeface="Helvetica Neue" pitchFamily="34" charset="0"/>
                <a:ea typeface="Helvetica Neue" pitchFamily="34" charset="-122"/>
                <a:cs typeface="Helvetica Neue" pitchFamily="34" charset="-120"/>
              </a:rPr>
              <a:t>storage</a:t>
            </a:r>
            <a:endParaRPr lang="en-US" sz="1300" dirty="0"/>
          </a:p>
        </p:txBody>
      </p:sp>
      <p:sp>
        <p:nvSpPr>
          <p:cNvPr id="24" name="Shape 21"/>
          <p:cNvSpPr/>
          <p:nvPr/>
        </p:nvSpPr>
        <p:spPr>
          <a:xfrm>
            <a:off x="5669280" y="3337560"/>
            <a:ext cx="0" cy="685800"/>
          </a:xfrm>
          <a:prstGeom prst="line">
            <a:avLst/>
          </a:prstGeom>
          <a:noFill/>
          <a:ln w="19050">
            <a:solidFill>
              <a:srgbClr val="B5822B"/>
            </a:solidFill>
            <a:prstDash val="solid"/>
            <a:headEnd type="none"/>
            <a:tailEnd type="triangle"/>
          </a:ln>
        </p:spPr>
      </p:sp>
      <p:sp>
        <p:nvSpPr>
          <p:cNvPr id="25" name="Text 22"/>
          <p:cNvSpPr/>
          <p:nvPr/>
        </p:nvSpPr>
        <p:spPr>
          <a:xfrm>
            <a:off x="5943600" y="3534156"/>
            <a:ext cx="3840480" cy="292608"/>
          </a:xfrm>
          <a:prstGeom prst="rect">
            <a:avLst/>
          </a:prstGeom>
          <a:noFill/>
          <a:ln/>
        </p:spPr>
        <p:txBody>
          <a:bodyPr wrap="square" lIns="0" tIns="0" rIns="0" bIns="0" rtlCol="0" anchor="ctr">
            <a:normAutofit/>
          </a:bodyPr>
          <a:lstStyle/>
          <a:p>
            <a:pPr algn="ctr" indent="0" marL="0">
              <a:buNone/>
            </a:pPr>
            <a:r>
              <a:rPr lang="en-US" sz="1100" dirty="0">
                <a:solidFill>
                  <a:srgbClr val="B5822B"/>
                </a:solidFill>
                <a:latin typeface="Helvetica Neue" pitchFamily="34" charset="0"/>
                <a:ea typeface="Helvetica Neue" pitchFamily="34" charset="-122"/>
                <a:cs typeface="Helvetica Neue" pitchFamily="34" charset="-120"/>
              </a:rPr>
              <a:t>if writes keep outrunning it</a:t>
            </a:r>
            <a:endParaRPr lang="en-US" sz="1100" dirty="0"/>
          </a:p>
        </p:txBody>
      </p:sp>
      <p:sp>
        <p:nvSpPr>
          <p:cNvPr id="26" name="Shape 23"/>
          <p:cNvSpPr/>
          <p:nvPr/>
        </p:nvSpPr>
        <p:spPr>
          <a:xfrm>
            <a:off x="2926080" y="4023360"/>
            <a:ext cx="5486400" cy="1371600"/>
          </a:xfrm>
          <a:prstGeom prst="roundRect">
            <a:avLst>
              <a:gd name="adj" fmla="val 5333"/>
            </a:avLst>
          </a:prstGeom>
          <a:solidFill>
            <a:srgbClr val="EBD5CB"/>
          </a:solidFill>
          <a:ln/>
        </p:spPr>
      </p:sp>
      <p:sp>
        <p:nvSpPr>
          <p:cNvPr id="27" name="Text 24"/>
          <p:cNvSpPr/>
          <p:nvPr/>
        </p:nvSpPr>
        <p:spPr>
          <a:xfrm>
            <a:off x="3154680" y="4160520"/>
            <a:ext cx="5029200" cy="320040"/>
          </a:xfrm>
          <a:prstGeom prst="rect">
            <a:avLst/>
          </a:prstGeom>
          <a:noFill/>
          <a:ln/>
        </p:spPr>
        <p:txBody>
          <a:bodyPr wrap="square" lIns="0" tIns="0" rIns="0" bIns="0" rtlCol="0" anchor="t"/>
          <a:lstStyle/>
          <a:p>
            <a:pPr indent="0" marL="0">
              <a:buNone/>
            </a:pPr>
            <a:r>
              <a:rPr lang="en-US" sz="1350" b="1" dirty="0">
                <a:solidFill>
                  <a:srgbClr val="9E4227"/>
                </a:solidFill>
                <a:latin typeface="Courier New" pitchFamily="34" charset="0"/>
                <a:ea typeface="Courier New" pitchFamily="34" charset="-122"/>
                <a:cs typeface="Courier New" pitchFamily="34" charset="-120"/>
              </a:rPr>
              <a:t>memory-index-max reached</a:t>
            </a:r>
            <a:endParaRPr lang="en-US" sz="1350" dirty="0"/>
          </a:p>
        </p:txBody>
      </p:sp>
      <p:sp>
        <p:nvSpPr>
          <p:cNvPr id="28" name="Text 25"/>
          <p:cNvSpPr/>
          <p:nvPr/>
        </p:nvSpPr>
        <p:spPr>
          <a:xfrm>
            <a:off x="3154680" y="4526280"/>
            <a:ext cx="5029200" cy="731520"/>
          </a:xfrm>
          <a:prstGeom prst="rect">
            <a:avLst/>
          </a:prstGeom>
          <a:noFill/>
          <a:ln/>
        </p:spPr>
        <p:txBody>
          <a:bodyPr wrap="square" lIns="0" tIns="0" rIns="0" bIns="0" rtlCol="0" anchor="t"/>
          <a:lstStyle/>
          <a:p>
            <a:pPr indent="0" marL="0">
              <a:buNone/>
            </a:pPr>
            <a:r>
              <a:rPr lang="en-US" sz="1300" dirty="0">
                <a:solidFill>
                  <a:srgbClr val="3A2C1A"/>
                </a:solidFill>
                <a:latin typeface="Helvetica Neue" pitchFamily="34" charset="0"/>
                <a:ea typeface="Helvetica Neue" pitchFamily="34" charset="-122"/>
                <a:cs typeface="Helvetica Neue" pitchFamily="34" charset="-120"/>
              </a:rPr>
              <a:t>→  the transactor throttles writers</a:t>
            </a:r>
            <a:endParaRPr lang="en-US" sz="1300" dirty="0"/>
          </a:p>
          <a:p>
            <a:pPr indent="0" marL="0">
              <a:buNone/>
            </a:pPr>
            <a:r>
              <a:rPr lang="en-US" sz="1300" dirty="0">
                <a:solidFill>
                  <a:srgbClr val="3A2C1A"/>
                </a:solidFill>
                <a:latin typeface="Helvetica Neue" pitchFamily="34" charset="0"/>
                <a:ea typeface="Helvetica Neue" pitchFamily="34" charset="-122"/>
                <a:cs typeface="Helvetica Neue" pitchFamily="34" charset="-120"/>
              </a:rPr>
              <a:t>→  p99 write latency rises</a:t>
            </a:r>
            <a:endParaRPr lang="en-US" sz="1300" dirty="0"/>
          </a:p>
        </p:txBody>
      </p:sp>
      <p:sp>
        <p:nvSpPr>
          <p:cNvPr id="29" name="Shape 26"/>
          <p:cNvSpPr/>
          <p:nvPr/>
        </p:nvSpPr>
        <p:spPr>
          <a:xfrm>
            <a:off x="548640" y="5623560"/>
            <a:ext cx="11064240" cy="594360"/>
          </a:xfrm>
          <a:prstGeom prst="roundRect">
            <a:avLst>
              <a:gd name="adj" fmla="val 12308"/>
            </a:avLst>
          </a:prstGeom>
          <a:solidFill>
            <a:srgbClr val="E6DFCE"/>
          </a:solidFill>
          <a:ln/>
        </p:spPr>
      </p:sp>
      <p:sp>
        <p:nvSpPr>
          <p:cNvPr id="30" name="Text 27"/>
          <p:cNvSpPr/>
          <p:nvPr/>
        </p:nvSpPr>
        <p:spPr>
          <a:xfrm>
            <a:off x="777240" y="5623560"/>
            <a:ext cx="10607040" cy="594360"/>
          </a:xfrm>
          <a:prstGeom prst="rect">
            <a:avLst/>
          </a:prstGeom>
          <a:noFill/>
          <a:ln/>
        </p:spPr>
        <p:txBody>
          <a:bodyPr wrap="square" lIns="0" tIns="0" rIns="0" bIns="0" rtlCol="0" anchor="ctr">
            <a:normAutofit/>
          </a:bodyPr>
          <a:lstStyle/>
          <a:p>
            <a:pPr algn="ctr" indent="0" marL="0">
              <a:buNone/>
            </a:pPr>
            <a:r>
              <a:rPr lang="en-US" sz="1450" dirty="0">
                <a:solidFill>
                  <a:srgbClr val="3A2C1A"/>
                </a:solidFill>
                <a:latin typeface="Helvetica Neue" pitchFamily="34" charset="0"/>
                <a:ea typeface="Helvetica Neue" pitchFamily="34" charset="-122"/>
                <a:cs typeface="Helvetica Neue" pitchFamily="34" charset="-120"/>
              </a:rPr>
              <a:t>threshold  starts the indexing job          ·          max  starts the throttling</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 · SETTINGS AND SIGNALS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31</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throttle is back-pressure, not a failure</a:t>
            </a:r>
            <a:endParaRPr lang="en-US" sz="2500" dirty="0"/>
          </a:p>
        </p:txBody>
      </p:sp>
      <p:sp>
        <p:nvSpPr>
          <p:cNvPr id="8" name="Text 5"/>
          <p:cNvSpPr/>
          <p:nvPr/>
        </p:nvSpPr>
        <p:spPr>
          <a:xfrm>
            <a:off x="548640" y="1737360"/>
            <a:ext cx="1828800" cy="457200"/>
          </a:xfrm>
          <a:prstGeom prst="rect">
            <a:avLst/>
          </a:prstGeom>
          <a:noFill/>
          <a:ln/>
        </p:spPr>
        <p:txBody>
          <a:bodyPr wrap="square" lIns="0" tIns="0" rIns="0" bIns="0" rtlCol="0" anchor="ctr"/>
          <a:lstStyle/>
          <a:p>
            <a:pPr indent="0" marL="0">
              <a:buNone/>
            </a:pPr>
            <a:r>
              <a:rPr lang="en-US" sz="1400" b="1" spc="100" kern="0" dirty="0">
                <a:solidFill>
                  <a:srgbClr val="5F7A3A"/>
                </a:solidFill>
                <a:latin typeface="Helvetica Neue" pitchFamily="34" charset="0"/>
                <a:ea typeface="Helvetica Neue" pitchFamily="34" charset="-122"/>
                <a:cs typeface="Helvetica Neue" pitchFamily="34" charset="-120"/>
              </a:rPr>
              <a:t>NORMAL</a:t>
            </a:r>
            <a:endParaRPr lang="en-US" sz="1400" dirty="0"/>
          </a:p>
        </p:txBody>
      </p:sp>
      <p:sp>
        <p:nvSpPr>
          <p:cNvPr id="9" name="Shape 6"/>
          <p:cNvSpPr/>
          <p:nvPr/>
        </p:nvSpPr>
        <p:spPr>
          <a:xfrm>
            <a:off x="2560320" y="1737360"/>
            <a:ext cx="6766560" cy="685800"/>
          </a:xfrm>
          <a:prstGeom prst="rect">
            <a:avLst/>
          </a:prstGeom>
          <a:solidFill>
            <a:srgbClr val="E6DFCE"/>
          </a:solidFill>
          <a:ln/>
        </p:spPr>
      </p:sp>
      <p:sp>
        <p:nvSpPr>
          <p:cNvPr id="10" name="Shape 7"/>
          <p:cNvSpPr/>
          <p:nvPr/>
        </p:nvSpPr>
        <p:spPr>
          <a:xfrm>
            <a:off x="2560320" y="1737360"/>
            <a:ext cx="2368296" cy="685800"/>
          </a:xfrm>
          <a:prstGeom prst="rect">
            <a:avLst/>
          </a:prstGeom>
          <a:solidFill>
            <a:srgbClr val="DDE3CC"/>
          </a:solidFill>
          <a:ln/>
        </p:spPr>
      </p:sp>
      <p:sp>
        <p:nvSpPr>
          <p:cNvPr id="11" name="Shape 8"/>
          <p:cNvSpPr/>
          <p:nvPr/>
        </p:nvSpPr>
        <p:spPr>
          <a:xfrm>
            <a:off x="6263640" y="1627632"/>
            <a:ext cx="36576" cy="905256"/>
          </a:xfrm>
          <a:prstGeom prst="rect">
            <a:avLst/>
          </a:prstGeom>
          <a:solidFill>
            <a:srgbClr val="B5822B"/>
          </a:solidFill>
          <a:ln/>
        </p:spPr>
      </p:sp>
      <p:sp>
        <p:nvSpPr>
          <p:cNvPr id="12" name="Shape 9"/>
          <p:cNvSpPr/>
          <p:nvPr/>
        </p:nvSpPr>
        <p:spPr>
          <a:xfrm>
            <a:off x="9290304" y="1627632"/>
            <a:ext cx="36576" cy="905256"/>
          </a:xfrm>
          <a:prstGeom prst="rect">
            <a:avLst/>
          </a:prstGeom>
          <a:solidFill>
            <a:srgbClr val="9E4227"/>
          </a:solidFill>
          <a:ln/>
        </p:spPr>
      </p:sp>
      <p:sp>
        <p:nvSpPr>
          <p:cNvPr id="13" name="Text 10"/>
          <p:cNvSpPr/>
          <p:nvPr/>
        </p:nvSpPr>
        <p:spPr>
          <a:xfrm>
            <a:off x="5458968" y="1325880"/>
            <a:ext cx="1645920" cy="274320"/>
          </a:xfrm>
          <a:prstGeom prst="rect">
            <a:avLst/>
          </a:prstGeom>
          <a:noFill/>
          <a:ln/>
        </p:spPr>
        <p:txBody>
          <a:bodyPr wrap="square" lIns="0" tIns="0" rIns="0" bIns="0" rtlCol="0" anchor="t"/>
          <a:lstStyle/>
          <a:p>
            <a:pPr algn="ctr" indent="0" marL="0">
              <a:buNone/>
            </a:pPr>
            <a:r>
              <a:rPr lang="en-US" sz="1050" dirty="0">
                <a:solidFill>
                  <a:srgbClr val="B5822B"/>
                </a:solidFill>
                <a:latin typeface="Helvetica Neue" pitchFamily="34" charset="0"/>
                <a:ea typeface="Helvetica Neue" pitchFamily="34" charset="-122"/>
                <a:cs typeface="Helvetica Neue" pitchFamily="34" charset="-120"/>
              </a:rPr>
              <a:t>threshold</a:t>
            </a:r>
            <a:endParaRPr lang="en-US" sz="1050" dirty="0"/>
          </a:p>
        </p:txBody>
      </p:sp>
      <p:sp>
        <p:nvSpPr>
          <p:cNvPr id="14" name="Text 11"/>
          <p:cNvSpPr/>
          <p:nvPr/>
        </p:nvSpPr>
        <p:spPr>
          <a:xfrm>
            <a:off x="8503920" y="1325880"/>
            <a:ext cx="1645920" cy="274320"/>
          </a:xfrm>
          <a:prstGeom prst="rect">
            <a:avLst/>
          </a:prstGeom>
          <a:noFill/>
          <a:ln/>
        </p:spPr>
        <p:txBody>
          <a:bodyPr wrap="square" lIns="0" tIns="0" rIns="0" bIns="0" rtlCol="0" anchor="t"/>
          <a:lstStyle/>
          <a:p>
            <a:pPr algn="ctr" indent="0" marL="0">
              <a:buNone/>
            </a:pPr>
            <a:r>
              <a:rPr lang="en-US" sz="1050" dirty="0">
                <a:solidFill>
                  <a:srgbClr val="9E4227"/>
                </a:solidFill>
                <a:latin typeface="Helvetica Neue" pitchFamily="34" charset="0"/>
                <a:ea typeface="Helvetica Neue" pitchFamily="34" charset="-122"/>
                <a:cs typeface="Helvetica Neue" pitchFamily="34" charset="-120"/>
              </a:rPr>
              <a:t>max</a:t>
            </a:r>
            <a:endParaRPr lang="en-US" sz="1050" dirty="0"/>
          </a:p>
        </p:txBody>
      </p:sp>
      <p:sp>
        <p:nvSpPr>
          <p:cNvPr id="15" name="Text 12"/>
          <p:cNvSpPr/>
          <p:nvPr/>
        </p:nvSpPr>
        <p:spPr>
          <a:xfrm>
            <a:off x="2560320" y="2468880"/>
            <a:ext cx="9052560" cy="36576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below threshold · no job running</a:t>
            </a:r>
            <a:endParaRPr lang="en-US" sz="1250" dirty="0"/>
          </a:p>
        </p:txBody>
      </p:sp>
      <p:sp>
        <p:nvSpPr>
          <p:cNvPr id="16" name="Shape 13"/>
          <p:cNvSpPr/>
          <p:nvPr/>
        </p:nvSpPr>
        <p:spPr>
          <a:xfrm>
            <a:off x="9601200" y="1737360"/>
            <a:ext cx="2011680" cy="685800"/>
          </a:xfrm>
          <a:prstGeom prst="roundRect">
            <a:avLst>
              <a:gd name="adj" fmla="val 10667"/>
            </a:avLst>
          </a:prstGeom>
          <a:solidFill>
            <a:srgbClr val="DDE3CC"/>
          </a:solidFill>
          <a:ln/>
        </p:spPr>
      </p:sp>
      <p:sp>
        <p:nvSpPr>
          <p:cNvPr id="17" name="Text 14"/>
          <p:cNvSpPr/>
          <p:nvPr/>
        </p:nvSpPr>
        <p:spPr>
          <a:xfrm>
            <a:off x="9601200" y="1737360"/>
            <a:ext cx="2011680" cy="685800"/>
          </a:xfrm>
          <a:prstGeom prst="rect">
            <a:avLst/>
          </a:prstGeom>
          <a:noFill/>
          <a:ln/>
        </p:spPr>
        <p:txBody>
          <a:bodyPr wrap="square" lIns="0" tIns="0" rIns="0" bIns="0" rtlCol="0" anchor="ctr"/>
          <a:lstStyle/>
          <a:p>
            <a:pPr algn="ctr" indent="0" marL="0">
              <a:buNone/>
            </a:pPr>
            <a:r>
              <a:rPr lang="en-US" sz="1250" b="1" dirty="0">
                <a:solidFill>
                  <a:srgbClr val="5F7A3A"/>
                </a:solidFill>
                <a:latin typeface="Helvetica Neue" pitchFamily="34" charset="0"/>
                <a:ea typeface="Helvetica Neue" pitchFamily="34" charset="-122"/>
                <a:cs typeface="Helvetica Neue" pitchFamily="34" charset="-120"/>
              </a:rPr>
              <a:t>p99 flat</a:t>
            </a:r>
            <a:endParaRPr lang="en-US" sz="1250" dirty="0"/>
          </a:p>
        </p:txBody>
      </p:sp>
      <p:sp>
        <p:nvSpPr>
          <p:cNvPr id="18" name="Text 15"/>
          <p:cNvSpPr/>
          <p:nvPr/>
        </p:nvSpPr>
        <p:spPr>
          <a:xfrm>
            <a:off x="548640" y="3108960"/>
            <a:ext cx="1828800" cy="457200"/>
          </a:xfrm>
          <a:prstGeom prst="rect">
            <a:avLst/>
          </a:prstGeom>
          <a:noFill/>
          <a:ln/>
        </p:spPr>
        <p:txBody>
          <a:bodyPr wrap="square" lIns="0" tIns="0" rIns="0" bIns="0" rtlCol="0" anchor="ctr"/>
          <a:lstStyle/>
          <a:p>
            <a:pPr indent="0" marL="0">
              <a:buNone/>
            </a:pPr>
            <a:r>
              <a:rPr lang="en-US" sz="1400" b="1" spc="100" kern="0" dirty="0">
                <a:solidFill>
                  <a:srgbClr val="B5822B"/>
                </a:solidFill>
                <a:latin typeface="Helvetica Neue" pitchFamily="34" charset="0"/>
                <a:ea typeface="Helvetica Neue" pitchFamily="34" charset="-122"/>
                <a:cs typeface="Helvetica Neue" pitchFamily="34" charset="-120"/>
              </a:rPr>
              <a:t>DRAINING</a:t>
            </a:r>
            <a:endParaRPr lang="en-US" sz="1400" dirty="0"/>
          </a:p>
        </p:txBody>
      </p:sp>
      <p:sp>
        <p:nvSpPr>
          <p:cNvPr id="19" name="Shape 16"/>
          <p:cNvSpPr/>
          <p:nvPr/>
        </p:nvSpPr>
        <p:spPr>
          <a:xfrm>
            <a:off x="2560320" y="3108960"/>
            <a:ext cx="6766560" cy="685800"/>
          </a:xfrm>
          <a:prstGeom prst="rect">
            <a:avLst/>
          </a:prstGeom>
          <a:solidFill>
            <a:srgbClr val="E6DFCE"/>
          </a:solidFill>
          <a:ln/>
        </p:spPr>
      </p:sp>
      <p:sp>
        <p:nvSpPr>
          <p:cNvPr id="20" name="Shape 17"/>
          <p:cNvSpPr/>
          <p:nvPr/>
        </p:nvSpPr>
        <p:spPr>
          <a:xfrm>
            <a:off x="2560320" y="3108960"/>
            <a:ext cx="4736592" cy="685800"/>
          </a:xfrm>
          <a:prstGeom prst="rect">
            <a:avLst/>
          </a:prstGeom>
          <a:solidFill>
            <a:srgbClr val="EDE0C4"/>
          </a:solidFill>
          <a:ln/>
        </p:spPr>
      </p:sp>
      <p:sp>
        <p:nvSpPr>
          <p:cNvPr id="21" name="Shape 18"/>
          <p:cNvSpPr/>
          <p:nvPr/>
        </p:nvSpPr>
        <p:spPr>
          <a:xfrm>
            <a:off x="6263640" y="2999232"/>
            <a:ext cx="36576" cy="905256"/>
          </a:xfrm>
          <a:prstGeom prst="rect">
            <a:avLst/>
          </a:prstGeom>
          <a:solidFill>
            <a:srgbClr val="B5822B"/>
          </a:solidFill>
          <a:ln/>
        </p:spPr>
      </p:sp>
      <p:sp>
        <p:nvSpPr>
          <p:cNvPr id="22" name="Shape 19"/>
          <p:cNvSpPr/>
          <p:nvPr/>
        </p:nvSpPr>
        <p:spPr>
          <a:xfrm>
            <a:off x="9290304" y="2999232"/>
            <a:ext cx="36576" cy="905256"/>
          </a:xfrm>
          <a:prstGeom prst="rect">
            <a:avLst/>
          </a:prstGeom>
          <a:solidFill>
            <a:srgbClr val="9E4227"/>
          </a:solidFill>
          <a:ln/>
        </p:spPr>
      </p:sp>
      <p:sp>
        <p:nvSpPr>
          <p:cNvPr id="23" name="Text 20"/>
          <p:cNvSpPr/>
          <p:nvPr/>
        </p:nvSpPr>
        <p:spPr>
          <a:xfrm>
            <a:off x="2560320" y="3840480"/>
            <a:ext cx="9052560" cy="36576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past threshold · indexing job running · writes at full speed</a:t>
            </a:r>
            <a:endParaRPr lang="en-US" sz="1250" dirty="0"/>
          </a:p>
        </p:txBody>
      </p:sp>
      <p:sp>
        <p:nvSpPr>
          <p:cNvPr id="24" name="Shape 21"/>
          <p:cNvSpPr/>
          <p:nvPr/>
        </p:nvSpPr>
        <p:spPr>
          <a:xfrm>
            <a:off x="9601200" y="3108960"/>
            <a:ext cx="2011680" cy="685800"/>
          </a:xfrm>
          <a:prstGeom prst="roundRect">
            <a:avLst>
              <a:gd name="adj" fmla="val 10667"/>
            </a:avLst>
          </a:prstGeom>
          <a:solidFill>
            <a:srgbClr val="EDE0C4"/>
          </a:solidFill>
          <a:ln/>
        </p:spPr>
      </p:sp>
      <p:sp>
        <p:nvSpPr>
          <p:cNvPr id="25" name="Text 22"/>
          <p:cNvSpPr/>
          <p:nvPr/>
        </p:nvSpPr>
        <p:spPr>
          <a:xfrm>
            <a:off x="9601200" y="3108960"/>
            <a:ext cx="2011680" cy="685800"/>
          </a:xfrm>
          <a:prstGeom prst="rect">
            <a:avLst/>
          </a:prstGeom>
          <a:noFill/>
          <a:ln/>
        </p:spPr>
        <p:txBody>
          <a:bodyPr wrap="square" lIns="0" tIns="0" rIns="0" bIns="0" rtlCol="0" anchor="ctr"/>
          <a:lstStyle/>
          <a:p>
            <a:pPr algn="ctr" indent="0" marL="0">
              <a:buNone/>
            </a:pPr>
            <a:r>
              <a:rPr lang="en-US" sz="1250" b="1" dirty="0">
                <a:solidFill>
                  <a:srgbClr val="B5822B"/>
                </a:solidFill>
                <a:latin typeface="Helvetica Neue" pitchFamily="34" charset="0"/>
                <a:ea typeface="Helvetica Neue" pitchFamily="34" charset="-122"/>
                <a:cs typeface="Helvetica Neue" pitchFamily="34" charset="-120"/>
              </a:rPr>
              <a:t>p99 flat</a:t>
            </a:r>
            <a:endParaRPr lang="en-US" sz="1250" dirty="0"/>
          </a:p>
        </p:txBody>
      </p:sp>
      <p:sp>
        <p:nvSpPr>
          <p:cNvPr id="26" name="Text 23"/>
          <p:cNvSpPr/>
          <p:nvPr/>
        </p:nvSpPr>
        <p:spPr>
          <a:xfrm>
            <a:off x="548640" y="4480560"/>
            <a:ext cx="1828800" cy="457200"/>
          </a:xfrm>
          <a:prstGeom prst="rect">
            <a:avLst/>
          </a:prstGeom>
          <a:noFill/>
          <a:ln/>
        </p:spPr>
        <p:txBody>
          <a:bodyPr wrap="square" lIns="0" tIns="0" rIns="0" bIns="0" rtlCol="0" anchor="ctr"/>
          <a:lstStyle/>
          <a:p>
            <a:pPr indent="0" marL="0">
              <a:buNone/>
            </a:pPr>
            <a:r>
              <a:rPr lang="en-US" sz="1400" b="1" spc="100" kern="0" dirty="0">
                <a:solidFill>
                  <a:srgbClr val="9E4227"/>
                </a:solidFill>
                <a:latin typeface="Helvetica Neue" pitchFamily="34" charset="0"/>
                <a:ea typeface="Helvetica Neue" pitchFamily="34" charset="-122"/>
                <a:cs typeface="Helvetica Neue" pitchFamily="34" charset="-120"/>
              </a:rPr>
              <a:t>THROTTLED</a:t>
            </a:r>
            <a:endParaRPr lang="en-US" sz="1400" dirty="0"/>
          </a:p>
        </p:txBody>
      </p:sp>
      <p:sp>
        <p:nvSpPr>
          <p:cNvPr id="27" name="Shape 24"/>
          <p:cNvSpPr/>
          <p:nvPr/>
        </p:nvSpPr>
        <p:spPr>
          <a:xfrm>
            <a:off x="2560320" y="4480560"/>
            <a:ext cx="6766560" cy="685800"/>
          </a:xfrm>
          <a:prstGeom prst="rect">
            <a:avLst/>
          </a:prstGeom>
          <a:solidFill>
            <a:srgbClr val="E6DFCE"/>
          </a:solidFill>
          <a:ln/>
        </p:spPr>
      </p:sp>
      <p:sp>
        <p:nvSpPr>
          <p:cNvPr id="28" name="Shape 25"/>
          <p:cNvSpPr/>
          <p:nvPr/>
        </p:nvSpPr>
        <p:spPr>
          <a:xfrm>
            <a:off x="2560320" y="4480560"/>
            <a:ext cx="6766560" cy="685800"/>
          </a:xfrm>
          <a:prstGeom prst="rect">
            <a:avLst/>
          </a:prstGeom>
          <a:solidFill>
            <a:srgbClr val="EBD5CB"/>
          </a:solidFill>
          <a:ln/>
        </p:spPr>
      </p:sp>
      <p:sp>
        <p:nvSpPr>
          <p:cNvPr id="29" name="Shape 26"/>
          <p:cNvSpPr/>
          <p:nvPr/>
        </p:nvSpPr>
        <p:spPr>
          <a:xfrm>
            <a:off x="6263640" y="4370832"/>
            <a:ext cx="36576" cy="905256"/>
          </a:xfrm>
          <a:prstGeom prst="rect">
            <a:avLst/>
          </a:prstGeom>
          <a:solidFill>
            <a:srgbClr val="B5822B"/>
          </a:solidFill>
          <a:ln/>
        </p:spPr>
      </p:sp>
      <p:sp>
        <p:nvSpPr>
          <p:cNvPr id="30" name="Shape 27"/>
          <p:cNvSpPr/>
          <p:nvPr/>
        </p:nvSpPr>
        <p:spPr>
          <a:xfrm>
            <a:off x="9290304" y="4370832"/>
            <a:ext cx="36576" cy="905256"/>
          </a:xfrm>
          <a:prstGeom prst="rect">
            <a:avLst/>
          </a:prstGeom>
          <a:solidFill>
            <a:srgbClr val="9E4227"/>
          </a:solidFill>
          <a:ln/>
        </p:spPr>
      </p:sp>
      <p:sp>
        <p:nvSpPr>
          <p:cNvPr id="31" name="Text 28"/>
          <p:cNvSpPr/>
          <p:nvPr/>
        </p:nvSpPr>
        <p:spPr>
          <a:xfrm>
            <a:off x="2560320" y="5212080"/>
            <a:ext cx="9052560" cy="36576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at max · transactor slows the writers on purpose</a:t>
            </a:r>
            <a:endParaRPr lang="en-US" sz="1250" dirty="0"/>
          </a:p>
        </p:txBody>
      </p:sp>
      <p:sp>
        <p:nvSpPr>
          <p:cNvPr id="32" name="Shape 29"/>
          <p:cNvSpPr/>
          <p:nvPr/>
        </p:nvSpPr>
        <p:spPr>
          <a:xfrm>
            <a:off x="9601200" y="4480560"/>
            <a:ext cx="2011680" cy="685800"/>
          </a:xfrm>
          <a:prstGeom prst="roundRect">
            <a:avLst>
              <a:gd name="adj" fmla="val 10667"/>
            </a:avLst>
          </a:prstGeom>
          <a:solidFill>
            <a:srgbClr val="EBD5CB"/>
          </a:solidFill>
          <a:ln/>
        </p:spPr>
      </p:sp>
      <p:sp>
        <p:nvSpPr>
          <p:cNvPr id="33" name="Text 30"/>
          <p:cNvSpPr/>
          <p:nvPr/>
        </p:nvSpPr>
        <p:spPr>
          <a:xfrm>
            <a:off x="9601200" y="4480560"/>
            <a:ext cx="2011680" cy="685800"/>
          </a:xfrm>
          <a:prstGeom prst="rect">
            <a:avLst/>
          </a:prstGeom>
          <a:noFill/>
          <a:ln/>
        </p:spPr>
        <p:txBody>
          <a:bodyPr wrap="square" lIns="0" tIns="0" rIns="0" bIns="0" rtlCol="0" anchor="ctr"/>
          <a:lstStyle/>
          <a:p>
            <a:pPr algn="ctr" indent="0" marL="0">
              <a:buNone/>
            </a:pPr>
            <a:r>
              <a:rPr lang="en-US" sz="1250" b="1" dirty="0">
                <a:solidFill>
                  <a:srgbClr val="9E4227"/>
                </a:solidFill>
                <a:latin typeface="Helvetica Neue" pitchFamily="34" charset="0"/>
                <a:ea typeface="Helvetica Neue" pitchFamily="34" charset="-122"/>
                <a:cs typeface="Helvetica Neue" pitchFamily="34" charset="-120"/>
              </a:rPr>
              <a:t>p99 rises</a:t>
            </a:r>
            <a:endParaRPr lang="en-US" sz="1250" dirty="0"/>
          </a:p>
        </p:txBody>
      </p:sp>
      <p:sp>
        <p:nvSpPr>
          <p:cNvPr id="34" name="Shape 31"/>
          <p:cNvSpPr/>
          <p:nvPr/>
        </p:nvSpPr>
        <p:spPr>
          <a:xfrm>
            <a:off x="548640" y="5760720"/>
            <a:ext cx="54864" cy="457200"/>
          </a:xfrm>
          <a:prstGeom prst="rect">
            <a:avLst/>
          </a:prstGeom>
          <a:solidFill>
            <a:srgbClr val="A8864A"/>
          </a:solidFill>
          <a:ln/>
        </p:spPr>
      </p:sp>
      <p:sp>
        <p:nvSpPr>
          <p:cNvPr id="35" name="Text 32"/>
          <p:cNvSpPr/>
          <p:nvPr/>
        </p:nvSpPr>
        <p:spPr>
          <a:xfrm>
            <a:off x="777240" y="576072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Throttled is not broken. Ask why the drain is slower than the write rate — usually storage.</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 · SETTINGS AND SIGNALS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Transactor settings — properties file</a:t>
            </a:r>
            <a:endParaRPr lang="en-US" sz="2500" dirty="0"/>
          </a:p>
        </p:txBody>
      </p:sp>
      <p:sp>
        <p:nvSpPr>
          <p:cNvPr id="8" name="Shape 5"/>
          <p:cNvSpPr/>
          <p:nvPr/>
        </p:nvSpPr>
        <p:spPr>
          <a:xfrm>
            <a:off x="548640" y="1325880"/>
            <a:ext cx="11064240" cy="457200"/>
          </a:xfrm>
          <a:prstGeom prst="rect">
            <a:avLst/>
          </a:prstGeom>
          <a:solidFill>
            <a:srgbClr val="2C2416"/>
          </a:solidFill>
          <a:ln/>
        </p:spPr>
      </p:sp>
      <p:sp>
        <p:nvSpPr>
          <p:cNvPr id="9" name="Text 6"/>
          <p:cNvSpPr/>
          <p:nvPr/>
        </p:nvSpPr>
        <p:spPr>
          <a:xfrm>
            <a:off x="777240" y="1325880"/>
            <a:ext cx="4114800" cy="457200"/>
          </a:xfrm>
          <a:prstGeom prst="rect">
            <a:avLst/>
          </a:prstGeom>
          <a:noFill/>
          <a:ln/>
        </p:spPr>
        <p:txBody>
          <a:bodyPr wrap="square" lIns="0" tIns="0" rIns="0" bIns="0" rtlCol="0" anchor="ctr"/>
          <a:lstStyle/>
          <a:p>
            <a:pPr indent="0" marL="0">
              <a:buNone/>
            </a:pPr>
            <a:r>
              <a:rPr lang="en-US" sz="1150" b="1" spc="150" kern="0" dirty="0">
                <a:solidFill>
                  <a:srgbClr val="C6A46A"/>
                </a:solidFill>
                <a:latin typeface="Helvetica Neue" pitchFamily="34" charset="0"/>
                <a:ea typeface="Helvetica Neue" pitchFamily="34" charset="-122"/>
                <a:cs typeface="Helvetica Neue" pitchFamily="34" charset="-120"/>
              </a:rPr>
              <a:t>SETTING</a:t>
            </a:r>
            <a:endParaRPr lang="en-US" sz="1150" dirty="0"/>
          </a:p>
        </p:txBody>
      </p:sp>
      <p:sp>
        <p:nvSpPr>
          <p:cNvPr id="10" name="Text 7"/>
          <p:cNvSpPr/>
          <p:nvPr/>
        </p:nvSpPr>
        <p:spPr>
          <a:xfrm>
            <a:off x="5029200" y="1325880"/>
            <a:ext cx="1645920" cy="457200"/>
          </a:xfrm>
          <a:prstGeom prst="rect">
            <a:avLst/>
          </a:prstGeom>
          <a:noFill/>
          <a:ln/>
        </p:spPr>
        <p:txBody>
          <a:bodyPr wrap="square" lIns="0" tIns="0" rIns="0" bIns="0" rtlCol="0" anchor="ctr"/>
          <a:lstStyle/>
          <a:p>
            <a:pPr indent="0" marL="0">
              <a:buNone/>
            </a:pPr>
            <a:r>
              <a:rPr lang="en-US" sz="1150" b="1" spc="150" kern="0" dirty="0">
                <a:solidFill>
                  <a:srgbClr val="C6A46A"/>
                </a:solidFill>
                <a:latin typeface="Helvetica Neue" pitchFamily="34" charset="0"/>
                <a:ea typeface="Helvetica Neue" pitchFamily="34" charset="-122"/>
                <a:cs typeface="Helvetica Neue" pitchFamily="34" charset="-120"/>
              </a:rPr>
              <a:t>IF</a:t>
            </a:r>
            <a:endParaRPr lang="en-US" sz="1150" dirty="0"/>
          </a:p>
        </p:txBody>
      </p:sp>
      <p:sp>
        <p:nvSpPr>
          <p:cNvPr id="11" name="Text 8"/>
          <p:cNvSpPr/>
          <p:nvPr/>
        </p:nvSpPr>
        <p:spPr>
          <a:xfrm>
            <a:off x="6858000" y="1325880"/>
            <a:ext cx="4572000" cy="457200"/>
          </a:xfrm>
          <a:prstGeom prst="rect">
            <a:avLst/>
          </a:prstGeom>
          <a:noFill/>
          <a:ln/>
        </p:spPr>
        <p:txBody>
          <a:bodyPr wrap="square" lIns="0" tIns="0" rIns="0" bIns="0" rtlCol="0" anchor="ctr"/>
          <a:lstStyle/>
          <a:p>
            <a:pPr indent="0" marL="0">
              <a:buNone/>
            </a:pPr>
            <a:r>
              <a:rPr lang="en-US" sz="1150" b="1" spc="150" kern="0" dirty="0">
                <a:solidFill>
                  <a:srgbClr val="C6A46A"/>
                </a:solidFill>
                <a:latin typeface="Helvetica Neue" pitchFamily="34" charset="0"/>
                <a:ea typeface="Helvetica Neue" pitchFamily="34" charset="-122"/>
                <a:cs typeface="Helvetica Neue" pitchFamily="34" charset="-120"/>
              </a:rPr>
              <a:t>EFFECT</a:t>
            </a:r>
            <a:endParaRPr lang="en-US" sz="1150" dirty="0"/>
          </a:p>
        </p:txBody>
      </p:sp>
      <p:sp>
        <p:nvSpPr>
          <p:cNvPr id="12" name="Shape 9"/>
          <p:cNvSpPr/>
          <p:nvPr/>
        </p:nvSpPr>
        <p:spPr>
          <a:xfrm>
            <a:off x="548640" y="1874520"/>
            <a:ext cx="11064240" cy="548640"/>
          </a:xfrm>
          <a:prstGeom prst="rect">
            <a:avLst/>
          </a:prstGeom>
          <a:solidFill>
            <a:srgbClr val="E6DFCE"/>
          </a:solidFill>
          <a:ln/>
        </p:spPr>
      </p:sp>
      <p:sp>
        <p:nvSpPr>
          <p:cNvPr id="13" name="Text 10"/>
          <p:cNvSpPr/>
          <p:nvPr/>
        </p:nvSpPr>
        <p:spPr>
          <a:xfrm>
            <a:off x="777240" y="1874520"/>
            <a:ext cx="4114800" cy="548640"/>
          </a:xfrm>
          <a:prstGeom prst="rect">
            <a:avLst/>
          </a:prstGeom>
          <a:noFill/>
          <a:ln/>
        </p:spPr>
        <p:txBody>
          <a:bodyPr wrap="square" lIns="0" tIns="0" rIns="0" bIns="0" rtlCol="0" anchor="ctr">
            <a:normAutofit/>
          </a:bodyPr>
          <a:lstStyle/>
          <a:p>
            <a:pPr indent="0" marL="0">
              <a:buNone/>
            </a:pPr>
            <a:r>
              <a:rPr lang="en-US" sz="1300" dirty="0">
                <a:solidFill>
                  <a:srgbClr val="3A2C1A"/>
                </a:solidFill>
                <a:latin typeface="Courier New" pitchFamily="34" charset="0"/>
                <a:ea typeface="Courier New" pitchFamily="34" charset="-122"/>
                <a:cs typeface="Courier New" pitchFamily="34" charset="-120"/>
              </a:rPr>
              <a:t>memory-index-threshold</a:t>
            </a:r>
            <a:endParaRPr lang="en-US" sz="1300" dirty="0"/>
          </a:p>
        </p:txBody>
      </p:sp>
      <p:sp>
        <p:nvSpPr>
          <p:cNvPr id="14" name="Shape 11"/>
          <p:cNvSpPr/>
          <p:nvPr/>
        </p:nvSpPr>
        <p:spPr>
          <a:xfrm>
            <a:off x="5029200" y="1993392"/>
            <a:ext cx="1371600" cy="310896"/>
          </a:xfrm>
          <a:prstGeom prst="roundRect">
            <a:avLst>
              <a:gd name="adj" fmla="val 23529"/>
            </a:avLst>
          </a:prstGeom>
          <a:solidFill>
            <a:srgbClr val="EDE0C4"/>
          </a:solidFill>
          <a:ln/>
        </p:spPr>
      </p:sp>
      <p:sp>
        <p:nvSpPr>
          <p:cNvPr id="15" name="Text 12"/>
          <p:cNvSpPr/>
          <p:nvPr/>
        </p:nvSpPr>
        <p:spPr>
          <a:xfrm>
            <a:off x="5029200" y="1993392"/>
            <a:ext cx="1371600" cy="310896"/>
          </a:xfrm>
          <a:prstGeom prst="rect">
            <a:avLst/>
          </a:prstGeom>
          <a:noFill/>
          <a:ln/>
        </p:spPr>
        <p:txBody>
          <a:bodyPr wrap="square" lIns="0" tIns="0" rIns="0" bIns="0" rtlCol="0" anchor="ctr"/>
          <a:lstStyle/>
          <a:p>
            <a:pPr algn="ctr" indent="0" marL="0">
              <a:buNone/>
            </a:pPr>
            <a:r>
              <a:rPr lang="en-US" sz="1100" dirty="0">
                <a:solidFill>
                  <a:srgbClr val="B5822B"/>
                </a:solidFill>
                <a:latin typeface="Helvetica Neue" pitchFamily="34" charset="0"/>
                <a:ea typeface="Helvetica Neue" pitchFamily="34" charset="-122"/>
                <a:cs typeface="Helvetica Neue" pitchFamily="34" charset="-120"/>
              </a:rPr>
              <a:t>too high</a:t>
            </a:r>
            <a:endParaRPr lang="en-US" sz="1100" dirty="0"/>
          </a:p>
        </p:txBody>
      </p:sp>
      <p:sp>
        <p:nvSpPr>
          <p:cNvPr id="16" name="Text 13"/>
          <p:cNvSpPr/>
          <p:nvPr/>
        </p:nvSpPr>
        <p:spPr>
          <a:xfrm>
            <a:off x="6858000" y="1874520"/>
            <a:ext cx="45720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long, bursty indexing jobs</a:t>
            </a:r>
            <a:endParaRPr lang="en-US" sz="1300" dirty="0"/>
          </a:p>
        </p:txBody>
      </p:sp>
      <p:sp>
        <p:nvSpPr>
          <p:cNvPr id="17" name="Shape 14"/>
          <p:cNvSpPr/>
          <p:nvPr/>
        </p:nvSpPr>
        <p:spPr>
          <a:xfrm>
            <a:off x="548640" y="2496312"/>
            <a:ext cx="11064240" cy="548640"/>
          </a:xfrm>
          <a:prstGeom prst="rect">
            <a:avLst/>
          </a:prstGeom>
          <a:solidFill>
            <a:srgbClr val="EFE9DD"/>
          </a:solidFill>
          <a:ln/>
        </p:spPr>
      </p:sp>
      <p:sp>
        <p:nvSpPr>
          <p:cNvPr id="18" name="Text 15"/>
          <p:cNvSpPr/>
          <p:nvPr/>
        </p:nvSpPr>
        <p:spPr>
          <a:xfrm>
            <a:off x="777240" y="2496312"/>
            <a:ext cx="4114800" cy="548640"/>
          </a:xfrm>
          <a:prstGeom prst="rect">
            <a:avLst/>
          </a:prstGeom>
          <a:noFill/>
          <a:ln/>
        </p:spPr>
        <p:txBody>
          <a:bodyPr wrap="square" lIns="0" tIns="0" rIns="0" bIns="0" rtlCol="0" anchor="ctr">
            <a:normAutofit/>
          </a:bodyPr>
          <a:lstStyle/>
          <a:p>
            <a:pPr indent="0" marL="0">
              <a:buNone/>
            </a:pPr>
            <a:r>
              <a:rPr lang="en-US" sz="1300" dirty="0">
                <a:solidFill>
                  <a:srgbClr val="3A2C1A"/>
                </a:solidFill>
                <a:latin typeface="Courier New" pitchFamily="34" charset="0"/>
                <a:ea typeface="Courier New" pitchFamily="34" charset="-122"/>
                <a:cs typeface="Courier New" pitchFamily="34" charset="-120"/>
              </a:rPr>
              <a:t>memory-index-max</a:t>
            </a:r>
            <a:endParaRPr lang="en-US" sz="1300" dirty="0"/>
          </a:p>
        </p:txBody>
      </p:sp>
      <p:sp>
        <p:nvSpPr>
          <p:cNvPr id="19" name="Shape 16"/>
          <p:cNvSpPr/>
          <p:nvPr/>
        </p:nvSpPr>
        <p:spPr>
          <a:xfrm>
            <a:off x="5029200" y="2615184"/>
            <a:ext cx="1371600" cy="310896"/>
          </a:xfrm>
          <a:prstGeom prst="roundRect">
            <a:avLst>
              <a:gd name="adj" fmla="val 23529"/>
            </a:avLst>
          </a:prstGeom>
          <a:solidFill>
            <a:srgbClr val="EDE0C4"/>
          </a:solidFill>
          <a:ln/>
        </p:spPr>
      </p:sp>
      <p:sp>
        <p:nvSpPr>
          <p:cNvPr id="20" name="Text 17"/>
          <p:cNvSpPr/>
          <p:nvPr/>
        </p:nvSpPr>
        <p:spPr>
          <a:xfrm>
            <a:off x="5029200" y="2615184"/>
            <a:ext cx="1371600" cy="310896"/>
          </a:xfrm>
          <a:prstGeom prst="rect">
            <a:avLst/>
          </a:prstGeom>
          <a:noFill/>
          <a:ln/>
        </p:spPr>
        <p:txBody>
          <a:bodyPr wrap="square" lIns="0" tIns="0" rIns="0" bIns="0" rtlCol="0" anchor="ctr"/>
          <a:lstStyle/>
          <a:p>
            <a:pPr algn="ctr" indent="0" marL="0">
              <a:buNone/>
            </a:pPr>
            <a:r>
              <a:rPr lang="en-US" sz="1100" dirty="0">
                <a:solidFill>
                  <a:srgbClr val="B5822B"/>
                </a:solidFill>
                <a:latin typeface="Helvetica Neue" pitchFamily="34" charset="0"/>
                <a:ea typeface="Helvetica Neue" pitchFamily="34" charset="-122"/>
                <a:cs typeface="Helvetica Neue" pitchFamily="34" charset="-120"/>
              </a:rPr>
              <a:t>too low</a:t>
            </a:r>
            <a:endParaRPr lang="en-US" sz="1100" dirty="0"/>
          </a:p>
        </p:txBody>
      </p:sp>
      <p:sp>
        <p:nvSpPr>
          <p:cNvPr id="21" name="Text 18"/>
          <p:cNvSpPr/>
          <p:nvPr/>
        </p:nvSpPr>
        <p:spPr>
          <a:xfrm>
            <a:off x="6858000" y="2496312"/>
            <a:ext cx="45720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early throttling under load</a:t>
            </a:r>
            <a:endParaRPr lang="en-US" sz="1300" dirty="0"/>
          </a:p>
        </p:txBody>
      </p:sp>
      <p:sp>
        <p:nvSpPr>
          <p:cNvPr id="22" name="Shape 19"/>
          <p:cNvSpPr/>
          <p:nvPr/>
        </p:nvSpPr>
        <p:spPr>
          <a:xfrm>
            <a:off x="548640" y="3118104"/>
            <a:ext cx="11064240" cy="548640"/>
          </a:xfrm>
          <a:prstGeom prst="rect">
            <a:avLst/>
          </a:prstGeom>
          <a:solidFill>
            <a:srgbClr val="E6DFCE"/>
          </a:solidFill>
          <a:ln/>
        </p:spPr>
      </p:sp>
      <p:sp>
        <p:nvSpPr>
          <p:cNvPr id="23" name="Text 20"/>
          <p:cNvSpPr/>
          <p:nvPr/>
        </p:nvSpPr>
        <p:spPr>
          <a:xfrm>
            <a:off x="777240" y="3118104"/>
            <a:ext cx="4114800" cy="548640"/>
          </a:xfrm>
          <a:prstGeom prst="rect">
            <a:avLst/>
          </a:prstGeom>
          <a:noFill/>
          <a:ln/>
        </p:spPr>
        <p:txBody>
          <a:bodyPr wrap="square" lIns="0" tIns="0" rIns="0" bIns="0" rtlCol="0" anchor="ctr">
            <a:normAutofit/>
          </a:bodyPr>
          <a:lstStyle/>
          <a:p>
            <a:pPr indent="0" marL="0">
              <a:buNone/>
            </a:pPr>
            <a:r>
              <a:rPr lang="en-US" sz="1300" dirty="0">
                <a:solidFill>
                  <a:srgbClr val="3A2C1A"/>
                </a:solidFill>
                <a:latin typeface="Courier New" pitchFamily="34" charset="0"/>
                <a:ea typeface="Courier New" pitchFamily="34" charset="-122"/>
                <a:cs typeface="Courier New" pitchFamily="34" charset="-120"/>
              </a:rPr>
              <a:t>object-cache-max</a:t>
            </a:r>
            <a:endParaRPr lang="en-US" sz="1300" dirty="0"/>
          </a:p>
        </p:txBody>
      </p:sp>
      <p:sp>
        <p:nvSpPr>
          <p:cNvPr id="24" name="Shape 21"/>
          <p:cNvSpPr/>
          <p:nvPr/>
        </p:nvSpPr>
        <p:spPr>
          <a:xfrm>
            <a:off x="5029200" y="3236976"/>
            <a:ext cx="1371600" cy="310896"/>
          </a:xfrm>
          <a:prstGeom prst="roundRect">
            <a:avLst>
              <a:gd name="adj" fmla="val 23529"/>
            </a:avLst>
          </a:prstGeom>
          <a:solidFill>
            <a:srgbClr val="EDE0C4"/>
          </a:solidFill>
          <a:ln/>
        </p:spPr>
      </p:sp>
      <p:sp>
        <p:nvSpPr>
          <p:cNvPr id="25" name="Text 22"/>
          <p:cNvSpPr/>
          <p:nvPr/>
        </p:nvSpPr>
        <p:spPr>
          <a:xfrm>
            <a:off x="5029200" y="3236976"/>
            <a:ext cx="1371600" cy="310896"/>
          </a:xfrm>
          <a:prstGeom prst="rect">
            <a:avLst/>
          </a:prstGeom>
          <a:noFill/>
          <a:ln/>
        </p:spPr>
        <p:txBody>
          <a:bodyPr wrap="square" lIns="0" tIns="0" rIns="0" bIns="0" rtlCol="0" anchor="ctr"/>
          <a:lstStyle/>
          <a:p>
            <a:pPr algn="ctr" indent="0" marL="0">
              <a:buNone/>
            </a:pPr>
            <a:r>
              <a:rPr lang="en-US" sz="1100" dirty="0">
                <a:solidFill>
                  <a:srgbClr val="B5822B"/>
                </a:solidFill>
                <a:latin typeface="Helvetica Neue" pitchFamily="34" charset="0"/>
                <a:ea typeface="Helvetica Neue" pitchFamily="34" charset="-122"/>
                <a:cs typeface="Helvetica Neue" pitchFamily="34" charset="-120"/>
              </a:rPr>
              <a:t>too low</a:t>
            </a:r>
            <a:endParaRPr lang="en-US" sz="1100" dirty="0"/>
          </a:p>
        </p:txBody>
      </p:sp>
      <p:sp>
        <p:nvSpPr>
          <p:cNvPr id="26" name="Text 23"/>
          <p:cNvSpPr/>
          <p:nvPr/>
        </p:nvSpPr>
        <p:spPr>
          <a:xfrm>
            <a:off x="6858000" y="3118104"/>
            <a:ext cx="45720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warm reads behave like cold ones</a:t>
            </a:r>
            <a:endParaRPr lang="en-US" sz="1300" dirty="0"/>
          </a:p>
        </p:txBody>
      </p:sp>
      <p:sp>
        <p:nvSpPr>
          <p:cNvPr id="27" name="Shape 24"/>
          <p:cNvSpPr/>
          <p:nvPr/>
        </p:nvSpPr>
        <p:spPr>
          <a:xfrm>
            <a:off x="548640" y="3739896"/>
            <a:ext cx="11064240" cy="548640"/>
          </a:xfrm>
          <a:prstGeom prst="rect">
            <a:avLst/>
          </a:prstGeom>
          <a:solidFill>
            <a:srgbClr val="EFE9DD"/>
          </a:solidFill>
          <a:ln/>
        </p:spPr>
      </p:sp>
      <p:sp>
        <p:nvSpPr>
          <p:cNvPr id="28" name="Text 25"/>
          <p:cNvSpPr/>
          <p:nvPr/>
        </p:nvSpPr>
        <p:spPr>
          <a:xfrm>
            <a:off x="777240" y="3739896"/>
            <a:ext cx="4114800" cy="548640"/>
          </a:xfrm>
          <a:prstGeom prst="rect">
            <a:avLst/>
          </a:prstGeom>
          <a:noFill/>
          <a:ln/>
        </p:spPr>
        <p:txBody>
          <a:bodyPr wrap="square" lIns="0" tIns="0" rIns="0" bIns="0" rtlCol="0" anchor="ctr">
            <a:normAutofit/>
          </a:bodyPr>
          <a:lstStyle/>
          <a:p>
            <a:pPr indent="0" marL="0">
              <a:buNone/>
            </a:pPr>
            <a:r>
              <a:rPr lang="en-US" sz="1300" dirty="0">
                <a:solidFill>
                  <a:srgbClr val="3A2C1A"/>
                </a:solidFill>
                <a:latin typeface="Courier New" pitchFamily="34" charset="0"/>
                <a:ea typeface="Courier New" pitchFamily="34" charset="-122"/>
                <a:cs typeface="Courier New" pitchFamily="34" charset="-120"/>
              </a:rPr>
              <a:t>memcached</a:t>
            </a:r>
            <a:endParaRPr lang="en-US" sz="1300" dirty="0"/>
          </a:p>
        </p:txBody>
      </p:sp>
      <p:sp>
        <p:nvSpPr>
          <p:cNvPr id="29" name="Shape 26"/>
          <p:cNvSpPr/>
          <p:nvPr/>
        </p:nvSpPr>
        <p:spPr>
          <a:xfrm>
            <a:off x="5029200" y="3858768"/>
            <a:ext cx="1371600" cy="310896"/>
          </a:xfrm>
          <a:prstGeom prst="roundRect">
            <a:avLst>
              <a:gd name="adj" fmla="val 23529"/>
            </a:avLst>
          </a:prstGeom>
          <a:solidFill>
            <a:srgbClr val="EDE0C4"/>
          </a:solidFill>
          <a:ln/>
        </p:spPr>
      </p:sp>
      <p:sp>
        <p:nvSpPr>
          <p:cNvPr id="30" name="Text 27"/>
          <p:cNvSpPr/>
          <p:nvPr/>
        </p:nvSpPr>
        <p:spPr>
          <a:xfrm>
            <a:off x="5029200" y="3858768"/>
            <a:ext cx="1371600" cy="310896"/>
          </a:xfrm>
          <a:prstGeom prst="rect">
            <a:avLst/>
          </a:prstGeom>
          <a:noFill/>
          <a:ln/>
        </p:spPr>
        <p:txBody>
          <a:bodyPr wrap="square" lIns="0" tIns="0" rIns="0" bIns="0" rtlCol="0" anchor="ctr"/>
          <a:lstStyle/>
          <a:p>
            <a:pPr algn="ctr" indent="0" marL="0">
              <a:buNone/>
            </a:pPr>
            <a:r>
              <a:rPr lang="en-US" sz="1100" dirty="0">
                <a:solidFill>
                  <a:srgbClr val="B5822B"/>
                </a:solidFill>
                <a:latin typeface="Helvetica Neue" pitchFamily="34" charset="0"/>
                <a:ea typeface="Helvetica Neue" pitchFamily="34" charset="-122"/>
                <a:cs typeface="Helvetica Neue" pitchFamily="34" charset="-120"/>
              </a:rPr>
              <a:t>unset</a:t>
            </a:r>
            <a:endParaRPr lang="en-US" sz="1100" dirty="0"/>
          </a:p>
        </p:txBody>
      </p:sp>
      <p:sp>
        <p:nvSpPr>
          <p:cNvPr id="31" name="Text 28"/>
          <p:cNvSpPr/>
          <p:nvPr/>
        </p:nvSpPr>
        <p:spPr>
          <a:xfrm>
            <a:off x="6858000" y="3739896"/>
            <a:ext cx="45720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each peer misses storage separately</a:t>
            </a:r>
            <a:endParaRPr lang="en-US" sz="1300" dirty="0"/>
          </a:p>
        </p:txBody>
      </p:sp>
      <p:sp>
        <p:nvSpPr>
          <p:cNvPr id="32" name="Shape 29"/>
          <p:cNvSpPr/>
          <p:nvPr/>
        </p:nvSpPr>
        <p:spPr>
          <a:xfrm>
            <a:off x="548640" y="4361688"/>
            <a:ext cx="11064240" cy="548640"/>
          </a:xfrm>
          <a:prstGeom prst="rect">
            <a:avLst/>
          </a:prstGeom>
          <a:solidFill>
            <a:srgbClr val="E6DFCE"/>
          </a:solidFill>
          <a:ln/>
        </p:spPr>
      </p:sp>
      <p:sp>
        <p:nvSpPr>
          <p:cNvPr id="33" name="Text 30"/>
          <p:cNvSpPr/>
          <p:nvPr/>
        </p:nvSpPr>
        <p:spPr>
          <a:xfrm>
            <a:off x="777240" y="4361688"/>
            <a:ext cx="4114800" cy="548640"/>
          </a:xfrm>
          <a:prstGeom prst="rect">
            <a:avLst/>
          </a:prstGeom>
          <a:noFill/>
          <a:ln/>
        </p:spPr>
        <p:txBody>
          <a:bodyPr wrap="square" lIns="0" tIns="0" rIns="0" bIns="0" rtlCol="0" anchor="ctr">
            <a:normAutofit/>
          </a:bodyPr>
          <a:lstStyle/>
          <a:p>
            <a:pPr indent="0" marL="0">
              <a:buNone/>
            </a:pPr>
            <a:r>
              <a:rPr lang="en-US" sz="1300" dirty="0">
                <a:solidFill>
                  <a:srgbClr val="3A2C1A"/>
                </a:solidFill>
                <a:latin typeface="Courier New" pitchFamily="34" charset="0"/>
                <a:ea typeface="Courier New" pitchFamily="34" charset="-122"/>
                <a:cs typeface="Courier New" pitchFamily="34" charset="-120"/>
              </a:rPr>
              <a:t>heartbeat-interval-msec</a:t>
            </a:r>
            <a:endParaRPr lang="en-US" sz="1300" dirty="0"/>
          </a:p>
        </p:txBody>
      </p:sp>
      <p:sp>
        <p:nvSpPr>
          <p:cNvPr id="34" name="Shape 31"/>
          <p:cNvSpPr/>
          <p:nvPr/>
        </p:nvSpPr>
        <p:spPr>
          <a:xfrm>
            <a:off x="5029200" y="4480560"/>
            <a:ext cx="1371600" cy="310896"/>
          </a:xfrm>
          <a:prstGeom prst="roundRect">
            <a:avLst>
              <a:gd name="adj" fmla="val 23529"/>
            </a:avLst>
          </a:prstGeom>
          <a:solidFill>
            <a:srgbClr val="EDE0C4"/>
          </a:solidFill>
          <a:ln/>
        </p:spPr>
      </p:sp>
      <p:sp>
        <p:nvSpPr>
          <p:cNvPr id="35" name="Text 32"/>
          <p:cNvSpPr/>
          <p:nvPr/>
        </p:nvSpPr>
        <p:spPr>
          <a:xfrm>
            <a:off x="5029200" y="4480560"/>
            <a:ext cx="1371600" cy="310896"/>
          </a:xfrm>
          <a:prstGeom prst="rect">
            <a:avLst/>
          </a:prstGeom>
          <a:noFill/>
          <a:ln/>
        </p:spPr>
        <p:txBody>
          <a:bodyPr wrap="square" lIns="0" tIns="0" rIns="0" bIns="0" rtlCol="0" anchor="ctr"/>
          <a:lstStyle/>
          <a:p>
            <a:pPr algn="ctr" indent="0" marL="0">
              <a:buNone/>
            </a:pPr>
            <a:r>
              <a:rPr lang="en-US" sz="1100" dirty="0">
                <a:solidFill>
                  <a:srgbClr val="B5822B"/>
                </a:solidFill>
                <a:latin typeface="Helvetica Neue" pitchFamily="34" charset="0"/>
                <a:ea typeface="Helvetica Neue" pitchFamily="34" charset="-122"/>
                <a:cs typeface="Helvetica Neue" pitchFamily="34" charset="-120"/>
              </a:rPr>
              <a:t>too high</a:t>
            </a:r>
            <a:endParaRPr lang="en-US" sz="1100" dirty="0"/>
          </a:p>
        </p:txBody>
      </p:sp>
      <p:sp>
        <p:nvSpPr>
          <p:cNvPr id="36" name="Text 33"/>
          <p:cNvSpPr/>
          <p:nvPr/>
        </p:nvSpPr>
        <p:spPr>
          <a:xfrm>
            <a:off x="6858000" y="4361688"/>
            <a:ext cx="45720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a longer Part II failover window</a:t>
            </a:r>
            <a:endParaRPr lang="en-US" sz="1300" dirty="0"/>
          </a:p>
        </p:txBody>
      </p:sp>
      <p:sp>
        <p:nvSpPr>
          <p:cNvPr id="37" name="Shape 34"/>
          <p:cNvSpPr/>
          <p:nvPr/>
        </p:nvSpPr>
        <p:spPr>
          <a:xfrm>
            <a:off x="548640" y="5120640"/>
            <a:ext cx="11064240" cy="1005840"/>
          </a:xfrm>
          <a:prstGeom prst="roundRect">
            <a:avLst>
              <a:gd name="adj" fmla="val 7273"/>
            </a:avLst>
          </a:prstGeom>
          <a:solidFill>
            <a:srgbClr val="EBD5CB"/>
          </a:solidFill>
          <a:ln/>
        </p:spPr>
      </p:sp>
      <p:sp>
        <p:nvSpPr>
          <p:cNvPr id="38" name="Shape 35"/>
          <p:cNvSpPr/>
          <p:nvPr/>
        </p:nvSpPr>
        <p:spPr>
          <a:xfrm>
            <a:off x="548640" y="5120640"/>
            <a:ext cx="82296" cy="1005840"/>
          </a:xfrm>
          <a:prstGeom prst="rect">
            <a:avLst/>
          </a:prstGeom>
          <a:solidFill>
            <a:srgbClr val="9E4227"/>
          </a:solidFill>
          <a:ln/>
        </p:spPr>
      </p:sp>
      <p:sp>
        <p:nvSpPr>
          <p:cNvPr id="39" name="Text 36"/>
          <p:cNvSpPr/>
          <p:nvPr/>
        </p:nvSpPr>
        <p:spPr>
          <a:xfrm>
            <a:off x="822960" y="5230368"/>
            <a:ext cx="10607040" cy="320040"/>
          </a:xfrm>
          <a:prstGeom prst="rect">
            <a:avLst/>
          </a:prstGeom>
          <a:noFill/>
          <a:ln/>
        </p:spPr>
        <p:txBody>
          <a:bodyPr wrap="square" lIns="0" tIns="0" rIns="0" bIns="0" rtlCol="0" anchor="t"/>
          <a:lstStyle/>
          <a:p>
            <a:pPr indent="0" marL="0">
              <a:buNone/>
            </a:pPr>
            <a:r>
              <a:rPr lang="en-US" sz="1400" b="1" dirty="0">
                <a:solidFill>
                  <a:srgbClr val="9E4227"/>
                </a:solidFill>
                <a:latin typeface="Helvetica Neue" pitchFamily="34" charset="0"/>
                <a:ea typeface="Helvetica Neue" pitchFamily="34" charset="-122"/>
                <a:cs typeface="Helvetica Neue" pitchFamily="34" charset="-120"/>
              </a:rPr>
              <a:t>⚠  Passing ANY JVM flag to bin/transactor makes it drop its own GC defaults.</a:t>
            </a:r>
            <a:endParaRPr lang="en-US" sz="1400" dirty="0"/>
          </a:p>
        </p:txBody>
      </p:sp>
      <p:sp>
        <p:nvSpPr>
          <p:cNvPr id="40" name="Text 37"/>
          <p:cNvSpPr/>
          <p:nvPr/>
        </p:nvSpPr>
        <p:spPr>
          <a:xfrm>
            <a:off x="822960" y="5596128"/>
            <a:ext cx="10607040" cy="365760"/>
          </a:xfrm>
          <a:prstGeom prst="rect">
            <a:avLst/>
          </a:prstGeom>
          <a:noFill/>
          <a:ln/>
        </p:spPr>
        <p:txBody>
          <a:bodyPr wrap="square" lIns="0" tIns="0" rIns="0" bIns="0" rtlCol="0" anchor="t"/>
          <a:lstStyle/>
          <a:p>
            <a:pPr indent="0" marL="0">
              <a:buNone/>
            </a:pPr>
            <a:r>
              <a:rPr lang="en-US" sz="1250" dirty="0">
                <a:solidFill>
                  <a:srgbClr val="3A2C1A"/>
                </a:solidFill>
                <a:latin typeface="Courier New" pitchFamily="34" charset="0"/>
                <a:ea typeface="Courier New" pitchFamily="34" charset="-122"/>
                <a:cs typeface="Courier New" pitchFamily="34" charset="-120"/>
              </a:rPr>
              <a:t>Re-specify  -XX:+UseG1GC  -XX:MaxGCPauseMillis=50  whenever you pass anything at all.</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 · SETTINGS AND SIGNALS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Peer flags — and where each one lands on the ladder</a:t>
            </a:r>
            <a:endParaRPr lang="en-US" sz="2500" dirty="0"/>
          </a:p>
        </p:txBody>
      </p:sp>
      <p:sp>
        <p:nvSpPr>
          <p:cNvPr id="8" name="Shape 5"/>
          <p:cNvSpPr/>
          <p:nvPr/>
        </p:nvSpPr>
        <p:spPr>
          <a:xfrm>
            <a:off x="548640" y="1371600"/>
            <a:ext cx="11064240" cy="658368"/>
          </a:xfrm>
          <a:prstGeom prst="rect">
            <a:avLst/>
          </a:prstGeom>
          <a:solidFill>
            <a:srgbClr val="E6DFCE"/>
          </a:solidFill>
          <a:ln/>
        </p:spPr>
      </p:sp>
      <p:sp>
        <p:nvSpPr>
          <p:cNvPr id="9" name="Text 6"/>
          <p:cNvSpPr/>
          <p:nvPr/>
        </p:nvSpPr>
        <p:spPr>
          <a:xfrm>
            <a:off x="777240" y="1371600"/>
            <a:ext cx="4572000" cy="658368"/>
          </a:xfrm>
          <a:prstGeom prst="rect">
            <a:avLst/>
          </a:prstGeom>
          <a:noFill/>
          <a:ln/>
        </p:spPr>
        <p:txBody>
          <a:bodyPr wrap="square" lIns="0" tIns="0" rIns="0" bIns="0" rtlCol="0" anchor="ctr">
            <a:normAutofit/>
          </a:bodyPr>
          <a:lstStyle/>
          <a:p>
            <a:pPr indent="0" marL="0">
              <a:buNone/>
            </a:pPr>
            <a:r>
              <a:rPr lang="en-US" sz="1350" dirty="0">
                <a:solidFill>
                  <a:srgbClr val="3A2C1A"/>
                </a:solidFill>
                <a:latin typeface="Courier New" pitchFamily="34" charset="0"/>
                <a:ea typeface="Courier New" pitchFamily="34" charset="-122"/>
                <a:cs typeface="Courier New" pitchFamily="34" charset="-120"/>
              </a:rPr>
              <a:t>-Ddatomic.objectCacheMax</a:t>
            </a:r>
            <a:endParaRPr lang="en-US" sz="1350" dirty="0"/>
          </a:p>
        </p:txBody>
      </p:sp>
      <p:sp>
        <p:nvSpPr>
          <p:cNvPr id="10" name="Text 7"/>
          <p:cNvSpPr/>
          <p:nvPr/>
        </p:nvSpPr>
        <p:spPr>
          <a:xfrm>
            <a:off x="5577840" y="1371600"/>
            <a:ext cx="4572000" cy="658368"/>
          </a:xfrm>
          <a:prstGeom prst="rect">
            <a:avLst/>
          </a:prstGeom>
          <a:noFill/>
          <a:ln/>
        </p:spPr>
        <p:txBody>
          <a:bodyPr wrap="square" lIns="0" tIns="0" rIns="0" bIns="0" rtlCol="0" anchor="ctr">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peer's own heap cache</a:t>
            </a:r>
            <a:endParaRPr lang="en-US" sz="1350" dirty="0"/>
          </a:p>
        </p:txBody>
      </p:sp>
      <p:sp>
        <p:nvSpPr>
          <p:cNvPr id="11" name="Shape 8"/>
          <p:cNvSpPr/>
          <p:nvPr/>
        </p:nvSpPr>
        <p:spPr>
          <a:xfrm>
            <a:off x="10378440" y="1517904"/>
            <a:ext cx="1234440" cy="365760"/>
          </a:xfrm>
          <a:prstGeom prst="roundRect">
            <a:avLst>
              <a:gd name="adj" fmla="val 20000"/>
            </a:avLst>
          </a:prstGeom>
          <a:solidFill>
            <a:srgbClr val="2C2416"/>
          </a:solidFill>
          <a:ln/>
        </p:spPr>
      </p:sp>
      <p:sp>
        <p:nvSpPr>
          <p:cNvPr id="12" name="Text 9"/>
          <p:cNvSpPr/>
          <p:nvPr/>
        </p:nvSpPr>
        <p:spPr>
          <a:xfrm>
            <a:off x="10378440" y="1517904"/>
            <a:ext cx="1234440" cy="365760"/>
          </a:xfrm>
          <a:prstGeom prst="rect">
            <a:avLst/>
          </a:prstGeom>
          <a:noFill/>
          <a:ln/>
        </p:spPr>
        <p:txBody>
          <a:bodyPr wrap="square" lIns="0" tIns="0" rIns="0" bIns="0" rtlCol="0" anchor="ctr"/>
          <a:lstStyle/>
          <a:p>
            <a:pPr algn="ctr" indent="0" marL="0">
              <a:buNone/>
            </a:pPr>
            <a:r>
              <a:rPr lang="en-US" sz="1100" b="1" dirty="0">
                <a:solidFill>
                  <a:srgbClr val="FCFAF4"/>
                </a:solidFill>
                <a:latin typeface="Helvetica Neue" pitchFamily="34" charset="0"/>
                <a:ea typeface="Helvetica Neue" pitchFamily="34" charset="-122"/>
                <a:cs typeface="Helvetica Neue" pitchFamily="34" charset="-120"/>
              </a:rPr>
              <a:t>tier 1</a:t>
            </a:r>
            <a:endParaRPr lang="en-US" sz="1100" dirty="0"/>
          </a:p>
        </p:txBody>
      </p:sp>
      <p:sp>
        <p:nvSpPr>
          <p:cNvPr id="13" name="Shape 10"/>
          <p:cNvSpPr/>
          <p:nvPr/>
        </p:nvSpPr>
        <p:spPr>
          <a:xfrm>
            <a:off x="548640" y="2148840"/>
            <a:ext cx="11064240" cy="658368"/>
          </a:xfrm>
          <a:prstGeom prst="rect">
            <a:avLst/>
          </a:prstGeom>
          <a:solidFill>
            <a:srgbClr val="EFE9DD"/>
          </a:solidFill>
          <a:ln/>
        </p:spPr>
      </p:sp>
      <p:sp>
        <p:nvSpPr>
          <p:cNvPr id="14" name="Text 11"/>
          <p:cNvSpPr/>
          <p:nvPr/>
        </p:nvSpPr>
        <p:spPr>
          <a:xfrm>
            <a:off x="777240" y="2148840"/>
            <a:ext cx="4572000" cy="658368"/>
          </a:xfrm>
          <a:prstGeom prst="rect">
            <a:avLst/>
          </a:prstGeom>
          <a:noFill/>
          <a:ln/>
        </p:spPr>
        <p:txBody>
          <a:bodyPr wrap="square" lIns="0" tIns="0" rIns="0" bIns="0" rtlCol="0" anchor="ctr">
            <a:normAutofit/>
          </a:bodyPr>
          <a:lstStyle/>
          <a:p>
            <a:pPr indent="0" marL="0">
              <a:buNone/>
            </a:pPr>
            <a:r>
              <a:rPr lang="en-US" sz="1350" dirty="0">
                <a:solidFill>
                  <a:srgbClr val="3A2C1A"/>
                </a:solidFill>
                <a:latin typeface="Courier New" pitchFamily="34" charset="0"/>
                <a:ea typeface="Courier New" pitchFamily="34" charset="-122"/>
                <a:cs typeface="Courier New" pitchFamily="34" charset="-120"/>
              </a:rPr>
              <a:t>-Ddatomic.memcachedServers</a:t>
            </a:r>
            <a:endParaRPr lang="en-US" sz="1350" dirty="0"/>
          </a:p>
        </p:txBody>
      </p:sp>
      <p:sp>
        <p:nvSpPr>
          <p:cNvPr id="15" name="Text 12"/>
          <p:cNvSpPr/>
          <p:nvPr/>
        </p:nvSpPr>
        <p:spPr>
          <a:xfrm>
            <a:off x="5577840" y="2148840"/>
            <a:ext cx="4572000" cy="658368"/>
          </a:xfrm>
          <a:prstGeom prst="rect">
            <a:avLst/>
          </a:prstGeom>
          <a:noFill/>
          <a:ln/>
        </p:spPr>
        <p:txBody>
          <a:bodyPr wrap="square" lIns="0" tIns="0" rIns="0" bIns="0" rtlCol="0" anchor="ctr">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join the shared tier</a:t>
            </a:r>
            <a:endParaRPr lang="en-US" sz="1350" dirty="0"/>
          </a:p>
        </p:txBody>
      </p:sp>
      <p:sp>
        <p:nvSpPr>
          <p:cNvPr id="16" name="Shape 13"/>
          <p:cNvSpPr/>
          <p:nvPr/>
        </p:nvSpPr>
        <p:spPr>
          <a:xfrm>
            <a:off x="10378440" y="2295144"/>
            <a:ext cx="1234440" cy="365760"/>
          </a:xfrm>
          <a:prstGeom prst="roundRect">
            <a:avLst>
              <a:gd name="adj" fmla="val 20000"/>
            </a:avLst>
          </a:prstGeom>
          <a:solidFill>
            <a:srgbClr val="DFD6C0"/>
          </a:solidFill>
          <a:ln/>
        </p:spPr>
      </p:sp>
      <p:sp>
        <p:nvSpPr>
          <p:cNvPr id="17" name="Text 14"/>
          <p:cNvSpPr/>
          <p:nvPr/>
        </p:nvSpPr>
        <p:spPr>
          <a:xfrm>
            <a:off x="10378440" y="2295144"/>
            <a:ext cx="1234440" cy="365760"/>
          </a:xfrm>
          <a:prstGeom prst="rect">
            <a:avLst/>
          </a:prstGeom>
          <a:noFill/>
          <a:ln/>
        </p:spPr>
        <p:txBody>
          <a:bodyPr wrap="square" lIns="0" tIns="0" rIns="0" bIns="0" rtlCol="0" anchor="ct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tier 3</a:t>
            </a:r>
            <a:endParaRPr lang="en-US" sz="1100" dirty="0"/>
          </a:p>
        </p:txBody>
      </p:sp>
      <p:sp>
        <p:nvSpPr>
          <p:cNvPr id="18" name="Shape 15"/>
          <p:cNvSpPr/>
          <p:nvPr/>
        </p:nvSpPr>
        <p:spPr>
          <a:xfrm>
            <a:off x="548640" y="2926080"/>
            <a:ext cx="11064240" cy="658368"/>
          </a:xfrm>
          <a:prstGeom prst="rect">
            <a:avLst/>
          </a:prstGeom>
          <a:solidFill>
            <a:srgbClr val="E6DFCE"/>
          </a:solidFill>
          <a:ln/>
        </p:spPr>
      </p:sp>
      <p:sp>
        <p:nvSpPr>
          <p:cNvPr id="19" name="Text 16"/>
          <p:cNvSpPr/>
          <p:nvPr/>
        </p:nvSpPr>
        <p:spPr>
          <a:xfrm>
            <a:off x="777240" y="2926080"/>
            <a:ext cx="4572000" cy="658368"/>
          </a:xfrm>
          <a:prstGeom prst="rect">
            <a:avLst/>
          </a:prstGeom>
          <a:noFill/>
          <a:ln/>
        </p:spPr>
        <p:txBody>
          <a:bodyPr wrap="square" lIns="0" tIns="0" rIns="0" bIns="0" rtlCol="0" anchor="ctr">
            <a:normAutofit/>
          </a:bodyPr>
          <a:lstStyle/>
          <a:p>
            <a:pPr indent="0" marL="0">
              <a:buNone/>
            </a:pPr>
            <a:r>
              <a:rPr lang="en-US" sz="1350" dirty="0">
                <a:solidFill>
                  <a:srgbClr val="3A2C1A"/>
                </a:solidFill>
                <a:latin typeface="Courier New" pitchFamily="34" charset="0"/>
                <a:ea typeface="Courier New" pitchFamily="34" charset="-122"/>
                <a:cs typeface="Courier New" pitchFamily="34" charset="-120"/>
              </a:rPr>
              <a:t>-Ddatomic.valcachePath</a:t>
            </a:r>
            <a:endParaRPr lang="en-US" sz="1350" dirty="0"/>
          </a:p>
        </p:txBody>
      </p:sp>
      <p:sp>
        <p:nvSpPr>
          <p:cNvPr id="20" name="Text 17"/>
          <p:cNvSpPr/>
          <p:nvPr/>
        </p:nvSpPr>
        <p:spPr>
          <a:xfrm>
            <a:off x="5577840" y="2926080"/>
            <a:ext cx="4572000" cy="658368"/>
          </a:xfrm>
          <a:prstGeom prst="rect">
            <a:avLst/>
          </a:prstGeom>
          <a:noFill/>
          <a:ln/>
        </p:spPr>
        <p:txBody>
          <a:bodyPr wrap="square" lIns="0" tIns="0" rIns="0" bIns="0" rtlCol="0" anchor="ctr">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SSD tier</a:t>
            </a:r>
            <a:endParaRPr lang="en-US" sz="1350" dirty="0"/>
          </a:p>
        </p:txBody>
      </p:sp>
      <p:sp>
        <p:nvSpPr>
          <p:cNvPr id="21" name="Shape 18"/>
          <p:cNvSpPr/>
          <p:nvPr/>
        </p:nvSpPr>
        <p:spPr>
          <a:xfrm>
            <a:off x="10378440" y="3072384"/>
            <a:ext cx="1234440" cy="365760"/>
          </a:xfrm>
          <a:prstGeom prst="roundRect">
            <a:avLst>
              <a:gd name="adj" fmla="val 20000"/>
            </a:avLst>
          </a:prstGeom>
          <a:solidFill>
            <a:srgbClr val="A8864A"/>
          </a:solidFill>
          <a:ln/>
        </p:spPr>
      </p:sp>
      <p:sp>
        <p:nvSpPr>
          <p:cNvPr id="22" name="Text 19"/>
          <p:cNvSpPr/>
          <p:nvPr/>
        </p:nvSpPr>
        <p:spPr>
          <a:xfrm>
            <a:off x="10378440" y="3072384"/>
            <a:ext cx="1234440" cy="365760"/>
          </a:xfrm>
          <a:prstGeom prst="rect">
            <a:avLst/>
          </a:prstGeom>
          <a:noFill/>
          <a:ln/>
        </p:spPr>
        <p:txBody>
          <a:bodyPr wrap="square" lIns="0" tIns="0" rIns="0" bIns="0" rtlCol="0" anchor="ctr"/>
          <a:lstStyle/>
          <a:p>
            <a:pPr algn="ctr" indent="0" marL="0">
              <a:buNone/>
            </a:pPr>
            <a:r>
              <a:rPr lang="en-US" sz="1100" b="1" dirty="0">
                <a:solidFill>
                  <a:srgbClr val="FCFAF4"/>
                </a:solidFill>
                <a:latin typeface="Helvetica Neue" pitchFamily="34" charset="0"/>
                <a:ea typeface="Helvetica Neue" pitchFamily="34" charset="-122"/>
                <a:cs typeface="Helvetica Neue" pitchFamily="34" charset="-120"/>
              </a:rPr>
              <a:t>tier 2</a:t>
            </a:r>
            <a:endParaRPr lang="en-US" sz="1100" dirty="0"/>
          </a:p>
        </p:txBody>
      </p:sp>
      <p:sp>
        <p:nvSpPr>
          <p:cNvPr id="23" name="Shape 20"/>
          <p:cNvSpPr/>
          <p:nvPr/>
        </p:nvSpPr>
        <p:spPr>
          <a:xfrm>
            <a:off x="548640" y="3703320"/>
            <a:ext cx="11064240" cy="658368"/>
          </a:xfrm>
          <a:prstGeom prst="rect">
            <a:avLst/>
          </a:prstGeom>
          <a:solidFill>
            <a:srgbClr val="EFE9DD"/>
          </a:solidFill>
          <a:ln/>
        </p:spPr>
      </p:sp>
      <p:sp>
        <p:nvSpPr>
          <p:cNvPr id="24" name="Text 21"/>
          <p:cNvSpPr/>
          <p:nvPr/>
        </p:nvSpPr>
        <p:spPr>
          <a:xfrm>
            <a:off x="777240" y="3703320"/>
            <a:ext cx="4572000" cy="658368"/>
          </a:xfrm>
          <a:prstGeom prst="rect">
            <a:avLst/>
          </a:prstGeom>
          <a:noFill/>
          <a:ln/>
        </p:spPr>
        <p:txBody>
          <a:bodyPr wrap="square" lIns="0" tIns="0" rIns="0" bIns="0" rtlCol="0" anchor="ctr">
            <a:normAutofit/>
          </a:bodyPr>
          <a:lstStyle/>
          <a:p>
            <a:pPr indent="0" marL="0">
              <a:buNone/>
            </a:pPr>
            <a:r>
              <a:rPr lang="en-US" sz="1350" dirty="0">
                <a:solidFill>
                  <a:srgbClr val="3A2C1A"/>
                </a:solidFill>
                <a:latin typeface="Courier New" pitchFamily="34" charset="0"/>
                <a:ea typeface="Courier New" pitchFamily="34" charset="-122"/>
                <a:cs typeface="Courier New" pitchFamily="34" charset="-120"/>
              </a:rPr>
              <a:t>-Ddatomic.valcacheMaxGb</a:t>
            </a:r>
            <a:endParaRPr lang="en-US" sz="1350" dirty="0"/>
          </a:p>
        </p:txBody>
      </p:sp>
      <p:sp>
        <p:nvSpPr>
          <p:cNvPr id="25" name="Text 22"/>
          <p:cNvSpPr/>
          <p:nvPr/>
        </p:nvSpPr>
        <p:spPr>
          <a:xfrm>
            <a:off x="5577840" y="3703320"/>
            <a:ext cx="4572000" cy="658368"/>
          </a:xfrm>
          <a:prstGeom prst="rect">
            <a:avLst/>
          </a:prstGeom>
          <a:noFill/>
          <a:ln/>
        </p:spPr>
        <p:txBody>
          <a:bodyPr wrap="square" lIns="0" tIns="0" rIns="0" bIns="0" rtlCol="0" anchor="ctr">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how much of that disk to use</a:t>
            </a:r>
            <a:endParaRPr lang="en-US" sz="1350" dirty="0"/>
          </a:p>
        </p:txBody>
      </p:sp>
      <p:sp>
        <p:nvSpPr>
          <p:cNvPr id="26" name="Shape 23"/>
          <p:cNvSpPr/>
          <p:nvPr/>
        </p:nvSpPr>
        <p:spPr>
          <a:xfrm>
            <a:off x="10378440" y="3849624"/>
            <a:ext cx="1234440" cy="365760"/>
          </a:xfrm>
          <a:prstGeom prst="roundRect">
            <a:avLst>
              <a:gd name="adj" fmla="val 20000"/>
            </a:avLst>
          </a:prstGeom>
          <a:solidFill>
            <a:srgbClr val="A8864A"/>
          </a:solidFill>
          <a:ln/>
        </p:spPr>
      </p:sp>
      <p:sp>
        <p:nvSpPr>
          <p:cNvPr id="27" name="Text 24"/>
          <p:cNvSpPr/>
          <p:nvPr/>
        </p:nvSpPr>
        <p:spPr>
          <a:xfrm>
            <a:off x="10378440" y="3849624"/>
            <a:ext cx="1234440" cy="365760"/>
          </a:xfrm>
          <a:prstGeom prst="rect">
            <a:avLst/>
          </a:prstGeom>
          <a:noFill/>
          <a:ln/>
        </p:spPr>
        <p:txBody>
          <a:bodyPr wrap="square" lIns="0" tIns="0" rIns="0" bIns="0" rtlCol="0" anchor="ctr"/>
          <a:lstStyle/>
          <a:p>
            <a:pPr algn="ctr" indent="0" marL="0">
              <a:buNone/>
            </a:pPr>
            <a:r>
              <a:rPr lang="en-US" sz="1100" b="1" dirty="0">
                <a:solidFill>
                  <a:srgbClr val="FCFAF4"/>
                </a:solidFill>
                <a:latin typeface="Helvetica Neue" pitchFamily="34" charset="0"/>
                <a:ea typeface="Helvetica Neue" pitchFamily="34" charset="-122"/>
                <a:cs typeface="Helvetica Neue" pitchFamily="34" charset="-120"/>
              </a:rPr>
              <a:t>tier 2</a:t>
            </a:r>
            <a:endParaRPr lang="en-US" sz="1100" dirty="0"/>
          </a:p>
        </p:txBody>
      </p:sp>
      <p:sp>
        <p:nvSpPr>
          <p:cNvPr id="28" name="Shape 25"/>
          <p:cNvSpPr/>
          <p:nvPr/>
        </p:nvSpPr>
        <p:spPr>
          <a:xfrm>
            <a:off x="548640" y="4480560"/>
            <a:ext cx="11064240" cy="658368"/>
          </a:xfrm>
          <a:prstGeom prst="rect">
            <a:avLst/>
          </a:prstGeom>
          <a:solidFill>
            <a:srgbClr val="E6DFCE"/>
          </a:solidFill>
          <a:ln/>
        </p:spPr>
      </p:sp>
      <p:sp>
        <p:nvSpPr>
          <p:cNvPr id="29" name="Text 26"/>
          <p:cNvSpPr/>
          <p:nvPr/>
        </p:nvSpPr>
        <p:spPr>
          <a:xfrm>
            <a:off x="777240" y="4480560"/>
            <a:ext cx="4572000" cy="658368"/>
          </a:xfrm>
          <a:prstGeom prst="rect">
            <a:avLst/>
          </a:prstGeom>
          <a:noFill/>
          <a:ln/>
        </p:spPr>
        <p:txBody>
          <a:bodyPr wrap="square" lIns="0" tIns="0" rIns="0" bIns="0" rtlCol="0" anchor="ctr">
            <a:normAutofit/>
          </a:bodyPr>
          <a:lstStyle/>
          <a:p>
            <a:pPr indent="0" marL="0">
              <a:buNone/>
            </a:pPr>
            <a:r>
              <a:rPr lang="en-US" sz="1350" dirty="0">
                <a:solidFill>
                  <a:srgbClr val="3A2C1A"/>
                </a:solidFill>
                <a:latin typeface="Courier New" pitchFamily="34" charset="0"/>
                <a:ea typeface="Courier New" pitchFamily="34" charset="-122"/>
                <a:cs typeface="Courier New" pitchFamily="34" charset="-120"/>
              </a:rPr>
              <a:t>-Ddatomic.txTimeoutMsec</a:t>
            </a:r>
            <a:endParaRPr lang="en-US" sz="1350" dirty="0"/>
          </a:p>
        </p:txBody>
      </p:sp>
      <p:sp>
        <p:nvSpPr>
          <p:cNvPr id="30" name="Text 27"/>
          <p:cNvSpPr/>
          <p:nvPr/>
        </p:nvSpPr>
        <p:spPr>
          <a:xfrm>
            <a:off x="5577840" y="4480560"/>
            <a:ext cx="4572000" cy="658368"/>
          </a:xfrm>
          <a:prstGeom prst="rect">
            <a:avLst/>
          </a:prstGeom>
          <a:noFill/>
          <a:ln/>
        </p:spPr>
        <p:txBody>
          <a:bodyPr wrap="square" lIns="0" tIns="0" rIns="0" bIns="0" rtlCol="0" anchor="ctr">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how long a write waits for a writer</a:t>
            </a:r>
            <a:endParaRPr lang="en-US" sz="1350" dirty="0"/>
          </a:p>
        </p:txBody>
      </p:sp>
      <p:sp>
        <p:nvSpPr>
          <p:cNvPr id="31" name="Shape 28"/>
          <p:cNvSpPr/>
          <p:nvPr/>
        </p:nvSpPr>
        <p:spPr>
          <a:xfrm>
            <a:off x="10378440" y="4626864"/>
            <a:ext cx="1234440" cy="365760"/>
          </a:xfrm>
          <a:prstGeom prst="roundRect">
            <a:avLst>
              <a:gd name="adj" fmla="val 20000"/>
            </a:avLst>
          </a:prstGeom>
          <a:solidFill>
            <a:srgbClr val="EDE0C4"/>
          </a:solidFill>
          <a:ln/>
        </p:spPr>
      </p:sp>
      <p:sp>
        <p:nvSpPr>
          <p:cNvPr id="32" name="Text 29"/>
          <p:cNvSpPr/>
          <p:nvPr/>
        </p:nvSpPr>
        <p:spPr>
          <a:xfrm>
            <a:off x="10378440" y="4626864"/>
            <a:ext cx="1234440" cy="365760"/>
          </a:xfrm>
          <a:prstGeom prst="rect">
            <a:avLst/>
          </a:prstGeom>
          <a:noFill/>
          <a:ln/>
        </p:spPr>
        <p:txBody>
          <a:bodyPr wrap="square" lIns="0" tIns="0" rIns="0" bIns="0" rtlCol="0" anchor="ctr"/>
          <a:lstStyle/>
          <a:p>
            <a:pPr algn="ctr" indent="0" marL="0">
              <a:buNone/>
            </a:pPr>
            <a:r>
              <a:rPr lang="en-US" sz="1100" b="1" dirty="0">
                <a:solidFill>
                  <a:srgbClr val="B5822B"/>
                </a:solidFill>
                <a:latin typeface="Helvetica Neue" pitchFamily="34" charset="0"/>
                <a:ea typeface="Helvetica Neue" pitchFamily="34" charset="-122"/>
                <a:cs typeface="Helvetica Neue" pitchFamily="34" charset="-120"/>
              </a:rPr>
              <a:t>Part II</a:t>
            </a:r>
            <a:endParaRPr lang="en-US" sz="1100" dirty="0"/>
          </a:p>
        </p:txBody>
      </p:sp>
      <p:sp>
        <p:nvSpPr>
          <p:cNvPr id="33" name="Shape 30"/>
          <p:cNvSpPr/>
          <p:nvPr/>
        </p:nvSpPr>
        <p:spPr>
          <a:xfrm>
            <a:off x="548640" y="5440680"/>
            <a:ext cx="54864" cy="457200"/>
          </a:xfrm>
          <a:prstGeom prst="rect">
            <a:avLst/>
          </a:prstGeom>
          <a:solidFill>
            <a:srgbClr val="A8864A"/>
          </a:solidFill>
          <a:ln/>
        </p:spPr>
      </p:sp>
      <p:sp>
        <p:nvSpPr>
          <p:cNvPr id="34" name="Text 31"/>
          <p:cNvSpPr/>
          <p:nvPr/>
        </p:nvSpPr>
        <p:spPr>
          <a:xfrm>
            <a:off x="777240" y="54406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Four of the five flags are just the cache ladder. The fifth is the failover dial.</a:t>
            </a:r>
            <a:endParaRPr lang="en-US" sz="1450" dirty="0"/>
          </a:p>
        </p:txBody>
      </p:sp>
      <p:sp>
        <p:nvSpPr>
          <p:cNvPr id="35" name="Text 32"/>
          <p:cNvSpPr/>
          <p:nvPr/>
        </p:nvSpPr>
        <p:spPr>
          <a:xfrm>
            <a:off x="548640" y="612648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Defaults change between releases — confirm against the distribution you run, not against this slide.</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 · SETTINGS AND SIGNALS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34</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Read the defaults from the distribution, not from a deck</a:t>
            </a:r>
            <a:endParaRPr lang="en-US" sz="2500" dirty="0"/>
          </a:p>
        </p:txBody>
      </p:sp>
      <p:sp>
        <p:nvSpPr>
          <p:cNvPr id="8" name="Shape 5"/>
          <p:cNvSpPr/>
          <p:nvPr/>
        </p:nvSpPr>
        <p:spPr>
          <a:xfrm>
            <a:off x="548640" y="1463040"/>
            <a:ext cx="11064240" cy="2103120"/>
          </a:xfrm>
          <a:prstGeom prst="roundRect">
            <a:avLst>
              <a:gd name="adj" fmla="val 3478"/>
            </a:avLst>
          </a:prstGeom>
          <a:solidFill>
            <a:srgbClr val="2C2416"/>
          </a:solidFill>
          <a:ln/>
        </p:spPr>
      </p:sp>
      <p:sp>
        <p:nvSpPr>
          <p:cNvPr id="9" name="Text 6"/>
          <p:cNvSpPr/>
          <p:nvPr/>
        </p:nvSpPr>
        <p:spPr>
          <a:xfrm>
            <a:off x="749808" y="1609344"/>
            <a:ext cx="10661904" cy="1810512"/>
          </a:xfrm>
          <a:prstGeom prst="rect">
            <a:avLst/>
          </a:prstGeom>
          <a:noFill/>
          <a:ln/>
        </p:spPr>
        <p:txBody>
          <a:bodyPr wrap="square" lIns="0" tIns="0" rIns="0" bIns="0" rtlCol="0" anchor="t">
            <a:normAutofit/>
          </a:bodyPr>
          <a:lstStyle/>
          <a:p>
            <a:pPr indent="0" marL="0">
              <a:buNone/>
            </a:pPr>
            <a:r>
              <a:rPr lang="en-US" sz="1500" dirty="0">
                <a:solidFill>
                  <a:srgbClr val="FCFAF4"/>
                </a:solidFill>
                <a:latin typeface="Courier New" pitchFamily="34" charset="0"/>
                <a:ea typeface="Courier New" pitchFamily="34" charset="-122"/>
                <a:cs typeface="Courier New" pitchFamily="34" charset="-120"/>
              </a:rPr>
              <a:t>ls $DATOMIC/config/samples/</a:t>
            </a:r>
            <a:endParaRPr lang="en-US" sz="1500" dirty="0"/>
          </a:p>
          <a:p>
            <a:pPr indent="0" marL="0">
              <a:buNone/>
            </a:pPr>
            <a:endParaRPr lang="en-US" sz="1500" dirty="0"/>
          </a:p>
          <a:p>
            <a:pPr indent="0" marL="0">
              <a:buNone/>
            </a:pPr>
            <a:r>
              <a:rPr lang="en-US" sz="1500" dirty="0">
                <a:solidFill>
                  <a:srgbClr val="FCFAF4"/>
                </a:solidFill>
                <a:latin typeface="Courier New" pitchFamily="34" charset="0"/>
                <a:ea typeface="Courier New" pitchFamily="34" charset="-122"/>
                <a:cs typeface="Courier New" pitchFamily="34" charset="-120"/>
              </a:rPr>
              <a:t>grep -vE '^\s*(#|$)' $DATOMIC/config/samples/sql-transactor-template.properties</a:t>
            </a:r>
            <a:endParaRPr lang="en-US" sz="1500" dirty="0"/>
          </a:p>
          <a:p>
            <a:pPr indent="0" marL="0">
              <a:buNone/>
            </a:pPr>
            <a:endParaRPr lang="en-US" sz="1500" dirty="0"/>
          </a:p>
          <a:p>
            <a:pPr indent="0" marL="0">
              <a:buNone/>
            </a:pPr>
            <a:r>
              <a:rPr lang="en-US" sz="1500" dirty="0">
                <a:solidFill>
                  <a:srgbClr val="FCFAF4"/>
                </a:solidFill>
                <a:latin typeface="Courier New" pitchFamily="34" charset="0"/>
                <a:ea typeface="Courier New" pitchFamily="34" charset="-122"/>
                <a:cs typeface="Courier New" pitchFamily="34" charset="-120"/>
              </a:rPr>
              <a:t>grep -rn "valcache" $DATOMIC/bin $DATOMIC/config</a:t>
            </a:r>
            <a:endParaRPr lang="en-US" sz="1500" dirty="0"/>
          </a:p>
        </p:txBody>
      </p:sp>
      <p:sp>
        <p:nvSpPr>
          <p:cNvPr id="10" name="Shape 7"/>
          <p:cNvSpPr/>
          <p:nvPr/>
        </p:nvSpPr>
        <p:spPr>
          <a:xfrm>
            <a:off x="548640" y="3840480"/>
            <a:ext cx="11064240" cy="548640"/>
          </a:xfrm>
          <a:prstGeom prst="rect">
            <a:avLst/>
          </a:prstGeom>
          <a:solidFill>
            <a:srgbClr val="E6DFCE"/>
          </a:solidFill>
          <a:ln/>
        </p:spPr>
      </p:sp>
      <p:sp>
        <p:nvSpPr>
          <p:cNvPr id="11" name="Text 8"/>
          <p:cNvSpPr/>
          <p:nvPr/>
        </p:nvSpPr>
        <p:spPr>
          <a:xfrm>
            <a:off x="777240" y="3840480"/>
            <a:ext cx="3108960" cy="548640"/>
          </a:xfrm>
          <a:prstGeom prst="rect">
            <a:avLst/>
          </a:prstGeom>
          <a:noFill/>
          <a:ln/>
        </p:spPr>
        <p:txBody>
          <a:bodyPr wrap="square" lIns="0" tIns="0" rIns="0" bIns="0" rtlCol="0" anchor="ctr"/>
          <a:lstStyle/>
          <a:p>
            <a:pPr indent="0" marL="0">
              <a:buNone/>
            </a:pPr>
            <a:r>
              <a:rPr lang="en-US" sz="1250" dirty="0">
                <a:solidFill>
                  <a:srgbClr val="A8864A"/>
                </a:solidFill>
                <a:latin typeface="Courier New" pitchFamily="34" charset="0"/>
                <a:ea typeface="Courier New" pitchFamily="34" charset="-122"/>
                <a:cs typeface="Courier New" pitchFamily="34" charset="-120"/>
              </a:rPr>
              <a:t>ls samples/</a:t>
            </a:r>
            <a:endParaRPr lang="en-US" sz="1250" dirty="0"/>
          </a:p>
        </p:txBody>
      </p:sp>
      <p:sp>
        <p:nvSpPr>
          <p:cNvPr id="12" name="Text 9"/>
          <p:cNvSpPr/>
          <p:nvPr/>
        </p:nvSpPr>
        <p:spPr>
          <a:xfrm>
            <a:off x="4114800" y="3840480"/>
            <a:ext cx="73152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the authoritative starting point for a properties file</a:t>
            </a:r>
            <a:endParaRPr lang="en-US" sz="1300" dirty="0"/>
          </a:p>
        </p:txBody>
      </p:sp>
      <p:sp>
        <p:nvSpPr>
          <p:cNvPr id="13" name="Shape 10"/>
          <p:cNvSpPr/>
          <p:nvPr/>
        </p:nvSpPr>
        <p:spPr>
          <a:xfrm>
            <a:off x="548640" y="4480560"/>
            <a:ext cx="11064240" cy="548640"/>
          </a:xfrm>
          <a:prstGeom prst="rect">
            <a:avLst/>
          </a:prstGeom>
          <a:solidFill>
            <a:srgbClr val="EFE9DD"/>
          </a:solidFill>
          <a:ln/>
        </p:spPr>
      </p:sp>
      <p:sp>
        <p:nvSpPr>
          <p:cNvPr id="14" name="Text 11"/>
          <p:cNvSpPr/>
          <p:nvPr/>
        </p:nvSpPr>
        <p:spPr>
          <a:xfrm>
            <a:off x="777240" y="4480560"/>
            <a:ext cx="3108960" cy="548640"/>
          </a:xfrm>
          <a:prstGeom prst="rect">
            <a:avLst/>
          </a:prstGeom>
          <a:noFill/>
          <a:ln/>
        </p:spPr>
        <p:txBody>
          <a:bodyPr wrap="square" lIns="0" tIns="0" rIns="0" bIns="0" rtlCol="0" anchor="ctr"/>
          <a:lstStyle/>
          <a:p>
            <a:pPr indent="0" marL="0">
              <a:buNone/>
            </a:pPr>
            <a:r>
              <a:rPr lang="en-US" sz="1250" dirty="0">
                <a:solidFill>
                  <a:srgbClr val="A8864A"/>
                </a:solidFill>
                <a:latin typeface="Courier New" pitchFamily="34" charset="0"/>
                <a:ea typeface="Courier New" pitchFamily="34" charset="-122"/>
                <a:cs typeface="Courier New" pitchFamily="34" charset="-120"/>
              </a:rPr>
              <a:t>grep -vE '#|$'</a:t>
            </a:r>
            <a:endParaRPr lang="en-US" sz="1250" dirty="0"/>
          </a:p>
        </p:txBody>
      </p:sp>
      <p:sp>
        <p:nvSpPr>
          <p:cNvPr id="15" name="Text 12"/>
          <p:cNvSpPr/>
          <p:nvPr/>
        </p:nvSpPr>
        <p:spPr>
          <a:xfrm>
            <a:off x="4114800" y="4480560"/>
            <a:ext cx="73152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shows only what is actually set, not the commentary</a:t>
            </a:r>
            <a:endParaRPr lang="en-US" sz="1300" dirty="0"/>
          </a:p>
        </p:txBody>
      </p:sp>
      <p:sp>
        <p:nvSpPr>
          <p:cNvPr id="16" name="Shape 13"/>
          <p:cNvSpPr/>
          <p:nvPr/>
        </p:nvSpPr>
        <p:spPr>
          <a:xfrm>
            <a:off x="548640" y="5120640"/>
            <a:ext cx="11064240" cy="548640"/>
          </a:xfrm>
          <a:prstGeom prst="rect">
            <a:avLst/>
          </a:prstGeom>
          <a:solidFill>
            <a:srgbClr val="E6DFCE"/>
          </a:solidFill>
          <a:ln/>
        </p:spPr>
      </p:sp>
      <p:sp>
        <p:nvSpPr>
          <p:cNvPr id="17" name="Text 14"/>
          <p:cNvSpPr/>
          <p:nvPr/>
        </p:nvSpPr>
        <p:spPr>
          <a:xfrm>
            <a:off x="777240" y="5120640"/>
            <a:ext cx="3108960" cy="548640"/>
          </a:xfrm>
          <a:prstGeom prst="rect">
            <a:avLst/>
          </a:prstGeom>
          <a:noFill/>
          <a:ln/>
        </p:spPr>
        <p:txBody>
          <a:bodyPr wrap="square" lIns="0" tIns="0" rIns="0" bIns="0" rtlCol="0" anchor="ctr"/>
          <a:lstStyle/>
          <a:p>
            <a:pPr indent="0" marL="0">
              <a:buNone/>
            </a:pPr>
            <a:r>
              <a:rPr lang="en-US" sz="1250" dirty="0">
                <a:solidFill>
                  <a:srgbClr val="A8864A"/>
                </a:solidFill>
                <a:latin typeface="Courier New" pitchFamily="34" charset="0"/>
                <a:ea typeface="Courier New" pitchFamily="34" charset="-122"/>
                <a:cs typeface="Courier New" pitchFamily="34" charset="-120"/>
              </a:rPr>
              <a:t>grep -rn valcache</a:t>
            </a:r>
            <a:endParaRPr lang="en-US" sz="1250" dirty="0"/>
          </a:p>
        </p:txBody>
      </p:sp>
      <p:sp>
        <p:nvSpPr>
          <p:cNvPr id="18" name="Text 15"/>
          <p:cNvSpPr/>
          <p:nvPr/>
        </p:nvSpPr>
        <p:spPr>
          <a:xfrm>
            <a:off x="4114800" y="5120640"/>
            <a:ext cx="7315200" cy="548640"/>
          </a:xfrm>
          <a:prstGeom prst="rect">
            <a:avLst/>
          </a:prstGeom>
          <a:noFill/>
          <a:ln/>
        </p:spPr>
        <p:txBody>
          <a:bodyPr wrap="square" lIns="0" tIns="0" rIns="0" bIns="0" rtlCol="0" anchor="ctr">
            <a:normAutofit/>
          </a:bodyPr>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finds where a feature is wired — flags move between releases</a:t>
            </a:r>
            <a:endParaRPr lang="en-US" sz="1300" dirty="0"/>
          </a:p>
        </p:txBody>
      </p:sp>
      <p:sp>
        <p:nvSpPr>
          <p:cNvPr id="19" name="Shape 16"/>
          <p:cNvSpPr/>
          <p:nvPr/>
        </p:nvSpPr>
        <p:spPr>
          <a:xfrm>
            <a:off x="548640" y="5852160"/>
            <a:ext cx="54864" cy="457200"/>
          </a:xfrm>
          <a:prstGeom prst="rect">
            <a:avLst/>
          </a:prstGeom>
          <a:solidFill>
            <a:srgbClr val="A8864A"/>
          </a:solidFill>
          <a:ln/>
        </p:spPr>
      </p:sp>
      <p:sp>
        <p:nvSpPr>
          <p:cNvPr id="20" name="Text 17"/>
          <p:cNvSpPr/>
          <p:nvPr/>
        </p:nvSpPr>
        <p:spPr>
          <a:xfrm>
            <a:off x="777240" y="585216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Where the distribution and this deck disagree, the distribution is current.</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 · SETTINGS AND SIGNALS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35</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Two instruments the peer already provides</a:t>
            </a:r>
            <a:endParaRPr lang="en-US" sz="2500" dirty="0"/>
          </a:p>
        </p:txBody>
      </p:sp>
      <p:sp>
        <p:nvSpPr>
          <p:cNvPr id="8" name="Shape 5"/>
          <p:cNvSpPr/>
          <p:nvPr/>
        </p:nvSpPr>
        <p:spPr>
          <a:xfrm>
            <a:off x="548640" y="1325880"/>
            <a:ext cx="5349240" cy="2286000"/>
          </a:xfrm>
          <a:prstGeom prst="roundRect">
            <a:avLst>
              <a:gd name="adj" fmla="val 3200"/>
            </a:avLst>
          </a:prstGeom>
          <a:solidFill>
            <a:srgbClr val="E6DFCE"/>
          </a:solidFill>
          <a:ln/>
        </p:spPr>
      </p:sp>
      <p:sp>
        <p:nvSpPr>
          <p:cNvPr id="9" name="Shape 6"/>
          <p:cNvSpPr/>
          <p:nvPr/>
        </p:nvSpPr>
        <p:spPr>
          <a:xfrm>
            <a:off x="548640" y="1325880"/>
            <a:ext cx="5349240" cy="384048"/>
          </a:xfrm>
          <a:prstGeom prst="roundRect">
            <a:avLst>
              <a:gd name="adj" fmla="val 19048"/>
            </a:avLst>
          </a:prstGeom>
          <a:solidFill>
            <a:srgbClr val="DFD6C0"/>
          </a:solidFill>
          <a:ln/>
        </p:spPr>
      </p:sp>
      <p:sp>
        <p:nvSpPr>
          <p:cNvPr id="10" name="Text 7"/>
          <p:cNvSpPr/>
          <p:nvPr/>
        </p:nvSpPr>
        <p:spPr>
          <a:xfrm>
            <a:off x="749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d/sync  vs  d/sync-index</a:t>
            </a:r>
            <a:endParaRPr lang="en-US" sz="1250" dirty="0"/>
          </a:p>
        </p:txBody>
      </p:sp>
      <p:sp>
        <p:nvSpPr>
          <p:cNvPr id="11" name="Shape 8"/>
          <p:cNvSpPr/>
          <p:nvPr/>
        </p:nvSpPr>
        <p:spPr>
          <a:xfrm>
            <a:off x="822960" y="1920240"/>
            <a:ext cx="4800600" cy="594360"/>
          </a:xfrm>
          <a:prstGeom prst="roundRect">
            <a:avLst>
              <a:gd name="adj" fmla="val 9231"/>
            </a:avLst>
          </a:prstGeom>
          <a:solidFill>
            <a:srgbClr val="DFD6C0"/>
          </a:solidFill>
          <a:ln/>
        </p:spPr>
      </p:sp>
      <p:sp>
        <p:nvSpPr>
          <p:cNvPr id="12" name="Text 9"/>
          <p:cNvSpPr/>
          <p:nvPr/>
        </p:nvSpPr>
        <p:spPr>
          <a:xfrm>
            <a:off x="896112" y="1920240"/>
            <a:ext cx="4654296" cy="594360"/>
          </a:xfrm>
          <a:prstGeom prst="rect">
            <a:avLst/>
          </a:prstGeom>
          <a:noFill/>
          <a:ln/>
        </p:spPr>
        <p:txBody>
          <a:bodyPr wrap="square" lIns="0" tIns="0" rIns="0" bIns="0" rtlCol="0" anchor="ctr">
            <a:normAutofit/>
          </a:bodyPr>
          <a:lstStyle/>
          <a:p>
            <a:pPr algn="ctr" indent="0" marL="0">
              <a:buNone/>
            </a:pPr>
            <a:r>
              <a:rPr lang="en-US" sz="1350" b="1" dirty="0">
                <a:solidFill>
                  <a:srgbClr val="3A2C1A"/>
                </a:solidFill>
                <a:latin typeface="Courier New" pitchFamily="34" charset="0"/>
                <a:ea typeface="Courier New" pitchFamily="34" charset="-122"/>
                <a:cs typeface="Courier New" pitchFamily="34" charset="-120"/>
              </a:rPr>
              <a:t>d/sync  →  waits on the LOG</a:t>
            </a:r>
            <a:endParaRPr lang="en-US" sz="1350" dirty="0"/>
          </a:p>
        </p:txBody>
      </p:sp>
      <p:sp>
        <p:nvSpPr>
          <p:cNvPr id="13" name="Shape 10"/>
          <p:cNvSpPr/>
          <p:nvPr/>
        </p:nvSpPr>
        <p:spPr>
          <a:xfrm>
            <a:off x="822960" y="2651760"/>
            <a:ext cx="4800600" cy="594360"/>
          </a:xfrm>
          <a:prstGeom prst="roundRect">
            <a:avLst>
              <a:gd name="adj" fmla="val 9231"/>
            </a:avLst>
          </a:prstGeom>
          <a:solidFill>
            <a:srgbClr val="C6A46A"/>
          </a:solidFill>
          <a:ln/>
        </p:spPr>
      </p:sp>
      <p:sp>
        <p:nvSpPr>
          <p:cNvPr id="14" name="Text 11"/>
          <p:cNvSpPr/>
          <p:nvPr/>
        </p:nvSpPr>
        <p:spPr>
          <a:xfrm>
            <a:off x="896112" y="2651760"/>
            <a:ext cx="4654296" cy="594360"/>
          </a:xfrm>
          <a:prstGeom prst="rect">
            <a:avLst/>
          </a:prstGeom>
          <a:noFill/>
          <a:ln/>
        </p:spPr>
        <p:txBody>
          <a:bodyPr wrap="square" lIns="0" tIns="0" rIns="0" bIns="0" rtlCol="0" anchor="ctr">
            <a:normAutofit/>
          </a:bodyPr>
          <a:lstStyle/>
          <a:p>
            <a:pPr algn="ctr" indent="0" marL="0">
              <a:buNone/>
            </a:pPr>
            <a:r>
              <a:rPr lang="en-US" sz="1350" b="1" dirty="0">
                <a:solidFill>
                  <a:srgbClr val="3A2C1A"/>
                </a:solidFill>
                <a:latin typeface="Courier New" pitchFamily="34" charset="0"/>
                <a:ea typeface="Courier New" pitchFamily="34" charset="-122"/>
                <a:cs typeface="Courier New" pitchFamily="34" charset="-120"/>
              </a:rPr>
              <a:t>d/sync-index  →  waits on the INDEX</a:t>
            </a:r>
            <a:endParaRPr lang="en-US" sz="1350" dirty="0"/>
          </a:p>
        </p:txBody>
      </p:sp>
      <p:sp>
        <p:nvSpPr>
          <p:cNvPr id="15" name="Text 12"/>
          <p:cNvSpPr/>
          <p:nvPr/>
        </p:nvSpPr>
        <p:spPr>
          <a:xfrm>
            <a:off x="822960" y="3291840"/>
            <a:ext cx="4800600" cy="274320"/>
          </a:xfrm>
          <a:prstGeom prst="rect">
            <a:avLst/>
          </a:prstGeom>
          <a:noFill/>
          <a:ln/>
        </p:spPr>
        <p:txBody>
          <a:bodyPr wrap="square" lIns="0" tIns="0" rIns="0" bIns="0" rtlCol="0" anchor="t"/>
          <a:lstStyle/>
          <a:p>
            <a:pPr algn="ctr" indent="0" marL="0">
              <a:buNone/>
            </a:pPr>
            <a:r>
              <a:rPr lang="en-US" sz="1150" i="1" dirty="0">
                <a:solidFill>
                  <a:srgbClr val="9A8A72"/>
                </a:solidFill>
                <a:latin typeface="Helvetica Neue" pitchFamily="34" charset="0"/>
                <a:ea typeface="Helvetica Neue" pitchFamily="34" charset="-122"/>
                <a:cs typeface="Helvetica Neue" pitchFamily="34" charset="-120"/>
              </a:rPr>
              <a:t>identical under light load · they diverge under load</a:t>
            </a:r>
            <a:endParaRPr lang="en-US" sz="1150" dirty="0"/>
          </a:p>
        </p:txBody>
      </p:sp>
      <p:sp>
        <p:nvSpPr>
          <p:cNvPr id="16" name="Shape 13"/>
          <p:cNvSpPr/>
          <p:nvPr/>
        </p:nvSpPr>
        <p:spPr>
          <a:xfrm>
            <a:off x="6263640" y="1325880"/>
            <a:ext cx="5349240" cy="2286000"/>
          </a:xfrm>
          <a:prstGeom prst="roundRect">
            <a:avLst>
              <a:gd name="adj" fmla="val 3200"/>
            </a:avLst>
          </a:prstGeom>
          <a:solidFill>
            <a:srgbClr val="E6DFCE"/>
          </a:solidFill>
          <a:ln/>
        </p:spPr>
      </p:sp>
      <p:sp>
        <p:nvSpPr>
          <p:cNvPr id="17" name="Shape 14"/>
          <p:cNvSpPr/>
          <p:nvPr/>
        </p:nvSpPr>
        <p:spPr>
          <a:xfrm>
            <a:off x="6263640" y="1325880"/>
            <a:ext cx="5349240" cy="384048"/>
          </a:xfrm>
          <a:prstGeom prst="roundRect">
            <a:avLst>
              <a:gd name="adj" fmla="val 19048"/>
            </a:avLst>
          </a:prstGeom>
          <a:solidFill>
            <a:srgbClr val="DFD6C0"/>
          </a:solidFill>
          <a:ln/>
        </p:spPr>
      </p:sp>
      <p:sp>
        <p:nvSpPr>
          <p:cNvPr id="18" name="Text 15"/>
          <p:cNvSpPr/>
          <p:nvPr/>
        </p:nvSpPr>
        <p:spPr>
          <a:xfrm>
            <a:off x="6464808" y="132588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THE TX-REPORT QUEUE</a:t>
            </a:r>
            <a:endParaRPr lang="en-US" sz="1250" dirty="0"/>
          </a:p>
        </p:txBody>
      </p:sp>
      <p:sp>
        <p:nvSpPr>
          <p:cNvPr id="19" name="Shape 16"/>
          <p:cNvSpPr/>
          <p:nvPr/>
        </p:nvSpPr>
        <p:spPr>
          <a:xfrm>
            <a:off x="6492240" y="1874520"/>
            <a:ext cx="4892040" cy="777240"/>
          </a:xfrm>
          <a:prstGeom prst="roundRect">
            <a:avLst>
              <a:gd name="adj" fmla="val 9412"/>
            </a:avLst>
          </a:prstGeom>
          <a:solidFill>
            <a:srgbClr val="E6DFCE"/>
          </a:solidFill>
          <a:ln/>
        </p:spPr>
      </p:sp>
      <p:sp>
        <p:nvSpPr>
          <p:cNvPr id="20" name="Text 17"/>
          <p:cNvSpPr/>
          <p:nvPr/>
        </p:nvSpPr>
        <p:spPr>
          <a:xfrm>
            <a:off x="6693408" y="2020824"/>
            <a:ext cx="4489704" cy="48463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:t 1001  :datoms 401</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:t 1102  :datoms 401</a:t>
            </a:r>
            <a:endParaRPr lang="en-US" sz="1250" dirty="0"/>
          </a:p>
        </p:txBody>
      </p:sp>
      <p:sp>
        <p:nvSpPr>
          <p:cNvPr id="21" name="Text 18"/>
          <p:cNvSpPr/>
          <p:nvPr/>
        </p:nvSpPr>
        <p:spPr>
          <a:xfrm>
            <a:off x="6492240" y="2743200"/>
            <a:ext cx="4892040" cy="731520"/>
          </a:xfrm>
          <a:prstGeom prst="rect">
            <a:avLst/>
          </a:prstGeom>
          <a:noFill/>
          <a:ln/>
        </p:spPr>
        <p:txBody>
          <a:bodyPr wrap="square" lIns="0" tIns="0" rIns="0" bIns="0" rtlCol="0" anchor="t"/>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401 = 100 readings × 4 attrs + 1 :db/txInstant</a:t>
            </a:r>
            <a:endParaRPr lang="en-US" sz="1200" dirty="0"/>
          </a:p>
          <a:p>
            <a:pPr indent="0" marL="0">
              <a:buNone/>
            </a:pPr>
            <a:r>
              <a:rPr lang="en-US" sz="1200" dirty="0">
                <a:solidFill>
                  <a:srgbClr val="6B5A44"/>
                </a:solidFill>
                <a:latin typeface="Helvetica Neue" pitchFamily="34" charset="0"/>
                <a:ea typeface="Helvetica Neue" pitchFamily="34" charset="-122"/>
                <a:cs typeface="Helvetica Neue" pitchFamily="34" charset="-120"/>
              </a:rPr>
              <a:t>audit · cache invalidation · CDC · throughput monitor</a:t>
            </a:r>
            <a:endParaRPr lang="en-US" sz="1200" dirty="0"/>
          </a:p>
        </p:txBody>
      </p:sp>
      <p:sp>
        <p:nvSpPr>
          <p:cNvPr id="22" name="Text 19"/>
          <p:cNvSpPr/>
          <p:nvPr/>
        </p:nvSpPr>
        <p:spPr>
          <a:xfrm>
            <a:off x="548640" y="3794760"/>
            <a:ext cx="11064240" cy="320040"/>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SIGNALS TO ALERT ON — each one maps onto the loop</a:t>
            </a:r>
            <a:endParaRPr lang="en-US" sz="1300" dirty="0"/>
          </a:p>
        </p:txBody>
      </p:sp>
      <p:sp>
        <p:nvSpPr>
          <p:cNvPr id="23" name="Text 20"/>
          <p:cNvSpPr/>
          <p:nvPr/>
        </p:nvSpPr>
        <p:spPr>
          <a:xfrm>
            <a:off x="731520" y="4160520"/>
            <a:ext cx="4206240" cy="36576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  alarms of any kind</a:t>
            </a:r>
            <a:endParaRPr lang="en-US" sz="1250" dirty="0"/>
          </a:p>
        </p:txBody>
      </p:sp>
      <p:sp>
        <p:nvSpPr>
          <p:cNvPr id="24" name="Text 21"/>
          <p:cNvSpPr/>
          <p:nvPr/>
        </p:nvSpPr>
        <p:spPr>
          <a:xfrm>
            <a:off x="5120640" y="4160520"/>
            <a:ext cx="6309360" cy="36576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the transactor is telling you directly</a:t>
            </a:r>
            <a:endParaRPr lang="en-US" sz="1250" dirty="0"/>
          </a:p>
        </p:txBody>
      </p:sp>
      <p:sp>
        <p:nvSpPr>
          <p:cNvPr id="25" name="Text 22"/>
          <p:cNvSpPr/>
          <p:nvPr/>
        </p:nvSpPr>
        <p:spPr>
          <a:xfrm>
            <a:off x="731520" y="4544568"/>
            <a:ext cx="4206240" cy="36576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  indexing job duration</a:t>
            </a:r>
            <a:endParaRPr lang="en-US" sz="1250" dirty="0"/>
          </a:p>
        </p:txBody>
      </p:sp>
      <p:sp>
        <p:nvSpPr>
          <p:cNvPr id="26" name="Text 23"/>
          <p:cNvSpPr/>
          <p:nvPr/>
        </p:nvSpPr>
        <p:spPr>
          <a:xfrm>
            <a:off x="5120640" y="4544568"/>
            <a:ext cx="6309360" cy="36576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the drain is falling behind</a:t>
            </a:r>
            <a:endParaRPr lang="en-US" sz="1250" dirty="0"/>
          </a:p>
        </p:txBody>
      </p:sp>
      <p:sp>
        <p:nvSpPr>
          <p:cNvPr id="27" name="Text 24"/>
          <p:cNvSpPr/>
          <p:nvPr/>
        </p:nvSpPr>
        <p:spPr>
          <a:xfrm>
            <a:off x="731520" y="4928616"/>
            <a:ext cx="4206240" cy="36576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  transaction latency p99</a:t>
            </a:r>
            <a:endParaRPr lang="en-US" sz="1250" dirty="0"/>
          </a:p>
        </p:txBody>
      </p:sp>
      <p:sp>
        <p:nvSpPr>
          <p:cNvPr id="28" name="Text 25"/>
          <p:cNvSpPr/>
          <p:nvPr/>
        </p:nvSpPr>
        <p:spPr>
          <a:xfrm>
            <a:off x="5120640" y="4928616"/>
            <a:ext cx="6309360" cy="36576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throttling</a:t>
            </a:r>
            <a:endParaRPr lang="en-US" sz="1250" dirty="0"/>
          </a:p>
        </p:txBody>
      </p:sp>
      <p:sp>
        <p:nvSpPr>
          <p:cNvPr id="29" name="Text 26"/>
          <p:cNvSpPr/>
          <p:nvPr/>
        </p:nvSpPr>
        <p:spPr>
          <a:xfrm>
            <a:off x="731520" y="5312664"/>
            <a:ext cx="4206240" cy="36576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  storage read/write time</a:t>
            </a:r>
            <a:endParaRPr lang="en-US" sz="1250" dirty="0"/>
          </a:p>
        </p:txBody>
      </p:sp>
      <p:sp>
        <p:nvSpPr>
          <p:cNvPr id="30" name="Text 27"/>
          <p:cNvSpPr/>
          <p:nvPr/>
        </p:nvSpPr>
        <p:spPr>
          <a:xfrm>
            <a:off x="5120640" y="5312664"/>
            <a:ext cx="6309360" cy="36576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the bottleneck is storage</a:t>
            </a:r>
            <a:endParaRPr lang="en-US" sz="1250" dirty="0"/>
          </a:p>
        </p:txBody>
      </p:sp>
      <p:sp>
        <p:nvSpPr>
          <p:cNvPr id="31" name="Text 28"/>
          <p:cNvSpPr/>
          <p:nvPr/>
        </p:nvSpPr>
        <p:spPr>
          <a:xfrm>
            <a:off x="731520" y="5696712"/>
            <a:ext cx="4206240" cy="365760"/>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  memcached hit ratio</a:t>
            </a:r>
            <a:endParaRPr lang="en-US" sz="1250" dirty="0"/>
          </a:p>
        </p:txBody>
      </p:sp>
      <p:sp>
        <p:nvSpPr>
          <p:cNvPr id="32" name="Text 29"/>
          <p:cNvSpPr/>
          <p:nvPr/>
        </p:nvSpPr>
        <p:spPr>
          <a:xfrm>
            <a:off x="5120640" y="5696712"/>
            <a:ext cx="6309360" cy="36576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the shared tier is not being shared</a:t>
            </a:r>
            <a:endParaRPr lang="en-US" sz="1250" dirty="0"/>
          </a:p>
        </p:txBody>
      </p:sp>
      <p:sp>
        <p:nvSpPr>
          <p:cNvPr id="33" name="Shape 30"/>
          <p:cNvSpPr/>
          <p:nvPr/>
        </p:nvSpPr>
        <p:spPr>
          <a:xfrm>
            <a:off x="548640" y="6126480"/>
            <a:ext cx="11064240" cy="685800"/>
          </a:xfrm>
          <a:prstGeom prst="roundRect">
            <a:avLst>
              <a:gd name="adj" fmla="val 10667"/>
            </a:avLst>
          </a:prstGeom>
          <a:solidFill>
            <a:srgbClr val="DFD6C0"/>
          </a:solidFill>
          <a:ln/>
        </p:spPr>
      </p:sp>
      <p:sp>
        <p:nvSpPr>
          <p:cNvPr id="34" name="Shape 31"/>
          <p:cNvSpPr/>
          <p:nvPr/>
        </p:nvSpPr>
        <p:spPr>
          <a:xfrm>
            <a:off x="548640" y="6126480"/>
            <a:ext cx="82296" cy="685800"/>
          </a:xfrm>
          <a:prstGeom prst="rect">
            <a:avLst/>
          </a:prstGeom>
          <a:solidFill>
            <a:srgbClr val="A8864A"/>
          </a:solidFill>
          <a:ln/>
        </p:spPr>
      </p:sp>
      <p:sp>
        <p:nvSpPr>
          <p:cNvPr id="35" name="Text 32"/>
          <p:cNvSpPr/>
          <p:nvPr/>
        </p:nvSpPr>
        <p:spPr>
          <a:xfrm>
            <a:off x="822960" y="623620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§5</a:t>
            </a:r>
            <a:endParaRPr lang="en-US" sz="1300" dirty="0"/>
          </a:p>
        </p:txBody>
      </p:sp>
      <p:sp>
        <p:nvSpPr>
          <p:cNvPr id="36" name="Shape 33"/>
          <p:cNvSpPr/>
          <p:nvPr/>
        </p:nvSpPr>
        <p:spPr>
          <a:xfrm>
            <a:off x="10561320" y="6236208"/>
            <a:ext cx="777240" cy="292608"/>
          </a:xfrm>
          <a:prstGeom prst="roundRect">
            <a:avLst>
              <a:gd name="adj" fmla="val 25000"/>
            </a:avLst>
          </a:prstGeom>
          <a:solidFill>
            <a:srgbClr val="DDE3CC"/>
          </a:solidFill>
          <a:ln/>
        </p:spPr>
      </p:sp>
      <p:sp>
        <p:nvSpPr>
          <p:cNvPr id="37" name="Text 34"/>
          <p:cNvSpPr/>
          <p:nvPr/>
        </p:nvSpPr>
        <p:spPr>
          <a:xfrm>
            <a:off x="10561320" y="6236208"/>
            <a:ext cx="777240" cy="292608"/>
          </a:xfrm>
          <a:prstGeom prst="rect">
            <a:avLst/>
          </a:prstGeom>
          <a:noFill/>
          <a:ln/>
        </p:spPr>
        <p:txBody>
          <a:bodyPr wrap="square" lIns="0" tIns="0" rIns="0" bIns="0" rtlCol="0" anchor="ctr"/>
          <a:lstStyle/>
          <a:p>
            <a:pPr algn="ctr" indent="0" marL="0">
              <a:buNone/>
            </a:pPr>
            <a:r>
              <a:rPr lang="en-US" sz="1100" b="1" dirty="0">
                <a:solidFill>
                  <a:srgbClr val="5F7A3A"/>
                </a:solidFill>
                <a:latin typeface="Helvetica Neue" pitchFamily="34" charset="0"/>
                <a:ea typeface="Helvetica Neue" pitchFamily="34" charset="-122"/>
                <a:cs typeface="Helvetica Neue" pitchFamily="34" charset="-120"/>
              </a:rPr>
              <a:t>[MEM]</a:t>
            </a:r>
            <a:endParaRPr lang="en-US" sz="1100" dirty="0"/>
          </a:p>
        </p:txBody>
      </p:sp>
      <p:sp>
        <p:nvSpPr>
          <p:cNvPr id="38" name="Text 35"/>
          <p:cNvSpPr/>
          <p:nvPr/>
        </p:nvSpPr>
        <p:spPr>
          <a:xfrm>
            <a:off x="822960" y="6583680"/>
            <a:ext cx="10515600" cy="11887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The memory-index demo is [MEM]; the metrics-callback contract is read from the distribution.</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VI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Deployment</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A peer carries a cache — so shipping one is not like shipping a stateless service</a:t>
            </a:r>
            <a:endParaRPr lang="en-US" sz="1600" dirty="0"/>
          </a:p>
        </p:txBody>
      </p:sp>
      <p:sp>
        <p:nvSpPr>
          <p:cNvPr id="7" name="Text 5"/>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VI · DEPLOYMENT</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"Up" and "ready" are not the same thing</a:t>
            </a:r>
            <a:endParaRPr lang="en-US" sz="2500" dirty="0"/>
          </a:p>
        </p:txBody>
      </p:sp>
      <p:sp>
        <p:nvSpPr>
          <p:cNvPr id="8" name="Shape 5"/>
          <p:cNvSpPr/>
          <p:nvPr/>
        </p:nvSpPr>
        <p:spPr>
          <a:xfrm>
            <a:off x="548640" y="1325880"/>
            <a:ext cx="5349240" cy="1737360"/>
          </a:xfrm>
          <a:prstGeom prst="roundRect">
            <a:avLst>
              <a:gd name="adj" fmla="val 3158"/>
            </a:avLst>
          </a:prstGeom>
          <a:solidFill>
            <a:srgbClr val="EBD5CB"/>
          </a:solidFill>
          <a:ln w="15875">
            <a:solidFill>
              <a:srgbClr val="9E4227"/>
            </a:solidFill>
            <a:prstDash val="solid"/>
          </a:ln>
        </p:spPr>
      </p:sp>
      <p:sp>
        <p:nvSpPr>
          <p:cNvPr id="9" name="Text 6"/>
          <p:cNvSpPr/>
          <p:nvPr/>
        </p:nvSpPr>
        <p:spPr>
          <a:xfrm>
            <a:off x="621792" y="1883664"/>
            <a:ext cx="5202936" cy="310896"/>
          </a:xfrm>
          <a:prstGeom prst="rect">
            <a:avLst/>
          </a:prstGeom>
          <a:noFill/>
          <a:ln/>
        </p:spPr>
        <p:txBody>
          <a:bodyPr wrap="square" lIns="0" tIns="0" rIns="0" bIns="0" rtlCol="0" anchor="b">
            <a:normAutofit/>
          </a:bodyPr>
          <a:lstStyle/>
          <a:p>
            <a:pPr algn="ctr" indent="0" marL="0">
              <a:buNone/>
            </a:pPr>
            <a:r>
              <a:rPr lang="en-US" sz="1600" b="1" dirty="0">
                <a:solidFill>
                  <a:srgbClr val="3A2C1A"/>
                </a:solidFill>
                <a:latin typeface="Helvetica Neue" pitchFamily="34" charset="0"/>
                <a:ea typeface="Helvetica Neue" pitchFamily="34" charset="-122"/>
                <a:cs typeface="Helvetica Neue" pitchFamily="34" charset="-120"/>
              </a:rPr>
              <a:t>process started  →  READY</a:t>
            </a:r>
            <a:endParaRPr lang="en-US" sz="1600" dirty="0"/>
          </a:p>
        </p:txBody>
      </p:sp>
      <p:sp>
        <p:nvSpPr>
          <p:cNvPr id="10" name="Text 7"/>
          <p:cNvSpPr/>
          <p:nvPr/>
        </p:nvSpPr>
        <p:spPr>
          <a:xfrm>
            <a:off x="621792" y="2176272"/>
            <a:ext cx="5202936" cy="384048"/>
          </a:xfrm>
          <a:prstGeom prst="rect">
            <a:avLst/>
          </a:prstGeom>
          <a:noFill/>
          <a:ln/>
        </p:spPr>
        <p:txBody>
          <a:bodyPr wrap="square" lIns="0" tIns="0" rIns="0" bIns="0" rtlCol="0" anchor="t">
            <a:normAutofit/>
          </a:bodyPr>
          <a:lstStyle/>
          <a:p>
            <a:pPr algn="ctr" indent="0" marL="0">
              <a:buNone/>
            </a:pPr>
            <a:r>
              <a:rPr lang="en-US" sz="1250" dirty="0">
                <a:solidFill>
                  <a:srgbClr val="6B5A44"/>
                </a:solidFill>
                <a:latin typeface="Helvetica Neue" pitchFamily="34" charset="0"/>
                <a:ea typeface="Helvetica Neue" pitchFamily="34" charset="-122"/>
                <a:cs typeface="Helvetica Neue" pitchFamily="34" charset="-120"/>
              </a:rPr>
              <a:t>cache empty · every read goes to storage · p99 in the seconds</a:t>
            </a:r>
            <a:endParaRPr lang="en-US" sz="1250" dirty="0"/>
          </a:p>
        </p:txBody>
      </p:sp>
      <p:sp>
        <p:nvSpPr>
          <p:cNvPr id="11" name="Shape 8"/>
          <p:cNvSpPr/>
          <p:nvPr/>
        </p:nvSpPr>
        <p:spPr>
          <a:xfrm>
            <a:off x="5989320" y="1874520"/>
            <a:ext cx="640080" cy="640080"/>
          </a:xfrm>
          <a:prstGeom prst="rightArrow">
            <a:avLst/>
          </a:prstGeom>
          <a:solidFill>
            <a:srgbClr val="C9BDA4"/>
          </a:solidFill>
          <a:ln/>
        </p:spPr>
      </p:sp>
      <p:sp>
        <p:nvSpPr>
          <p:cNvPr id="12" name="Shape 9"/>
          <p:cNvSpPr/>
          <p:nvPr/>
        </p:nvSpPr>
        <p:spPr>
          <a:xfrm>
            <a:off x="6766560" y="1325880"/>
            <a:ext cx="4846320" cy="1737360"/>
          </a:xfrm>
          <a:prstGeom prst="roundRect">
            <a:avLst>
              <a:gd name="adj" fmla="val 3158"/>
            </a:avLst>
          </a:prstGeom>
          <a:solidFill>
            <a:srgbClr val="DDE3CC"/>
          </a:solidFill>
          <a:ln w="15875">
            <a:solidFill>
              <a:srgbClr val="5F7A3A"/>
            </a:solidFill>
            <a:prstDash val="solid"/>
          </a:ln>
        </p:spPr>
      </p:sp>
      <p:sp>
        <p:nvSpPr>
          <p:cNvPr id="13" name="Text 10"/>
          <p:cNvSpPr/>
          <p:nvPr/>
        </p:nvSpPr>
        <p:spPr>
          <a:xfrm>
            <a:off x="6839712" y="1883664"/>
            <a:ext cx="4700016" cy="310896"/>
          </a:xfrm>
          <a:prstGeom prst="rect">
            <a:avLst/>
          </a:prstGeom>
          <a:noFill/>
          <a:ln/>
        </p:spPr>
        <p:txBody>
          <a:bodyPr wrap="square" lIns="0" tIns="0" rIns="0" bIns="0" rtlCol="0" anchor="b">
            <a:normAutofit/>
          </a:bodyPr>
          <a:lstStyle/>
          <a:p>
            <a:pPr algn="ctr" indent="0" marL="0">
              <a:buNone/>
            </a:pPr>
            <a:r>
              <a:rPr lang="en-US" sz="1600" b="1" dirty="0">
                <a:solidFill>
                  <a:srgbClr val="3A2C1A"/>
                </a:solidFill>
                <a:latin typeface="Helvetica Neue" pitchFamily="34" charset="0"/>
                <a:ea typeface="Helvetica Neue" pitchFamily="34" charset="-122"/>
                <a:cs typeface="Helvetica Neue" pitchFamily="34" charset="-120"/>
              </a:rPr>
              <a:t>warmed  →  READY</a:t>
            </a:r>
            <a:endParaRPr lang="en-US" sz="1600" dirty="0"/>
          </a:p>
        </p:txBody>
      </p:sp>
      <p:sp>
        <p:nvSpPr>
          <p:cNvPr id="14" name="Text 11"/>
          <p:cNvSpPr/>
          <p:nvPr/>
        </p:nvSpPr>
        <p:spPr>
          <a:xfrm>
            <a:off x="6839712" y="2176272"/>
            <a:ext cx="4700016" cy="566928"/>
          </a:xfrm>
          <a:prstGeom prst="rect">
            <a:avLst/>
          </a:prstGeom>
          <a:noFill/>
          <a:ln/>
        </p:spPr>
        <p:txBody>
          <a:bodyPr wrap="square" lIns="0" tIns="0" rIns="0" bIns="0" rtlCol="0" anchor="t">
            <a:normAutofit/>
          </a:bodyPr>
          <a:lstStyle/>
          <a:p>
            <a:pPr algn="ctr" indent="0" marL="0">
              <a:buNone/>
            </a:pPr>
            <a:r>
              <a:rPr lang="en-US" sz="1250" dirty="0">
                <a:solidFill>
                  <a:srgbClr val="6B5A44"/>
                </a:solidFill>
                <a:latin typeface="Helvetica Neue" pitchFamily="34" charset="0"/>
                <a:ea typeface="Helvetica Neue" pitchFamily="34" charset="-122"/>
                <a:cs typeface="Helvetica Neue" pitchFamily="34" charset="-120"/>
              </a:rPr>
              <a:t>segments resident · the first request is as fast as the hundredth</a:t>
            </a:r>
            <a:endParaRPr lang="en-US" sz="1250" dirty="0"/>
          </a:p>
        </p:txBody>
      </p:sp>
      <p:sp>
        <p:nvSpPr>
          <p:cNvPr id="15" name="Shape 12"/>
          <p:cNvSpPr/>
          <p:nvPr/>
        </p:nvSpPr>
        <p:spPr>
          <a:xfrm>
            <a:off x="548640" y="3246120"/>
            <a:ext cx="11064240" cy="1691640"/>
          </a:xfrm>
          <a:prstGeom prst="roundRect">
            <a:avLst>
              <a:gd name="adj" fmla="val 4324"/>
            </a:avLst>
          </a:prstGeom>
          <a:solidFill>
            <a:srgbClr val="E6DFCE"/>
          </a:solidFill>
          <a:ln/>
        </p:spPr>
      </p:sp>
      <p:sp>
        <p:nvSpPr>
          <p:cNvPr id="16" name="Text 13"/>
          <p:cNvSpPr/>
          <p:nvPr/>
        </p:nvSpPr>
        <p:spPr>
          <a:xfrm>
            <a:off x="749808" y="3392424"/>
            <a:ext cx="10661904" cy="139903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(defn warm! [conn]</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(let [db (d/db conn)]</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(doall (pmap (fn [[lo hi]] (count (seq (d/index-range db :reading/t lo hi))))</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(partition 2 1 (range 0 20001 2500))))</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{:ready? true :basis-t (d/basis-t db)}))</a:t>
            </a:r>
            <a:endParaRPr lang="en-US" sz="1250" dirty="0"/>
          </a:p>
        </p:txBody>
      </p:sp>
      <p:sp>
        <p:nvSpPr>
          <p:cNvPr id="17" name="Shape 14"/>
          <p:cNvSpPr/>
          <p:nvPr/>
        </p:nvSpPr>
        <p:spPr>
          <a:xfrm>
            <a:off x="548640" y="5074920"/>
            <a:ext cx="54864" cy="457200"/>
          </a:xfrm>
          <a:prstGeom prst="rect">
            <a:avLst/>
          </a:prstGeom>
          <a:solidFill>
            <a:srgbClr val="A8864A"/>
          </a:solidFill>
          <a:ln/>
        </p:spPr>
      </p:sp>
      <p:sp>
        <p:nvSpPr>
          <p:cNvPr id="18" name="Text 15"/>
          <p:cNvSpPr/>
          <p:nvPr/>
        </p:nvSpPr>
        <p:spPr>
          <a:xfrm>
            <a:off x="777240" y="507492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Warm the segments the service reads, then report ready. Readiness should mean warm, not alive.</a:t>
            </a:r>
            <a:endParaRPr lang="en-US" sz="1450" dirty="0"/>
          </a:p>
        </p:txBody>
      </p:sp>
      <p:sp>
        <p:nvSpPr>
          <p:cNvPr id="19" name="Shape 16"/>
          <p:cNvSpPr/>
          <p:nvPr/>
        </p:nvSpPr>
        <p:spPr>
          <a:xfrm>
            <a:off x="548640" y="5715000"/>
            <a:ext cx="11064240" cy="685800"/>
          </a:xfrm>
          <a:prstGeom prst="roundRect">
            <a:avLst>
              <a:gd name="adj" fmla="val 10667"/>
            </a:avLst>
          </a:prstGeom>
          <a:solidFill>
            <a:srgbClr val="DFD6C0"/>
          </a:solidFill>
          <a:ln/>
        </p:spPr>
      </p:sp>
      <p:sp>
        <p:nvSpPr>
          <p:cNvPr id="20" name="Shape 17"/>
          <p:cNvSpPr/>
          <p:nvPr/>
        </p:nvSpPr>
        <p:spPr>
          <a:xfrm>
            <a:off x="548640" y="5715000"/>
            <a:ext cx="82296" cy="685800"/>
          </a:xfrm>
          <a:prstGeom prst="rect">
            <a:avLst/>
          </a:prstGeom>
          <a:solidFill>
            <a:srgbClr val="A8864A"/>
          </a:solidFill>
          <a:ln/>
        </p:spPr>
      </p:sp>
      <p:sp>
        <p:nvSpPr>
          <p:cNvPr id="21" name="Text 18"/>
          <p:cNvSpPr/>
          <p:nvPr/>
        </p:nvSpPr>
        <p:spPr>
          <a:xfrm>
            <a:off x="822960" y="5824728"/>
            <a:ext cx="9052560" cy="292608"/>
          </a:xfrm>
          <a:prstGeom prst="rect">
            <a:avLst/>
          </a:prstGeom>
          <a:noFill/>
          <a:ln/>
        </p:spPr>
        <p:txBody>
          <a:bodyPr wrap="square" lIns="0" tIns="0" rIns="0" bIns="0" rtlCol="0" anchor="t"/>
          <a:lstStyle/>
          <a:p>
            <a:pPr indent="0" marL="0">
              <a:buNone/>
            </a:pPr>
            <a:r>
              <a:rPr lang="en-US" sz="1300" b="1" spc="100" kern="0" dirty="0">
                <a:solidFill>
                  <a:srgbClr val="A8864A"/>
                </a:solidFill>
                <a:latin typeface="Helvetica Neue" pitchFamily="34" charset="0"/>
                <a:ea typeface="Helvetica Neue" pitchFamily="34" charset="-122"/>
                <a:cs typeface="Helvetica Neue" pitchFamily="34" charset="-120"/>
              </a:rPr>
              <a:t>⚑  waypoint — labs §6</a:t>
            </a:r>
            <a:endParaRPr lang="en-US" sz="1300" dirty="0"/>
          </a:p>
        </p:txBody>
      </p:sp>
      <p:sp>
        <p:nvSpPr>
          <p:cNvPr id="22" name="Shape 19"/>
          <p:cNvSpPr/>
          <p:nvPr/>
        </p:nvSpPr>
        <p:spPr>
          <a:xfrm>
            <a:off x="10561320" y="5824728"/>
            <a:ext cx="777240" cy="292608"/>
          </a:xfrm>
          <a:prstGeom prst="roundRect">
            <a:avLst>
              <a:gd name="adj" fmla="val 25000"/>
            </a:avLst>
          </a:prstGeom>
          <a:solidFill>
            <a:srgbClr val="DDE3CC"/>
          </a:solidFill>
          <a:ln/>
        </p:spPr>
      </p:sp>
      <p:sp>
        <p:nvSpPr>
          <p:cNvPr id="23" name="Text 20"/>
          <p:cNvSpPr/>
          <p:nvPr/>
        </p:nvSpPr>
        <p:spPr>
          <a:xfrm>
            <a:off x="10561320" y="5824728"/>
            <a:ext cx="777240" cy="292608"/>
          </a:xfrm>
          <a:prstGeom prst="rect">
            <a:avLst/>
          </a:prstGeom>
          <a:noFill/>
          <a:ln/>
        </p:spPr>
        <p:txBody>
          <a:bodyPr wrap="square" lIns="0" tIns="0" rIns="0" bIns="0" rtlCol="0" anchor="ctr"/>
          <a:lstStyle/>
          <a:p>
            <a:pPr algn="ctr" indent="0" marL="0">
              <a:buNone/>
            </a:pPr>
            <a:r>
              <a:rPr lang="en-US" sz="1100" b="1" dirty="0">
                <a:solidFill>
                  <a:srgbClr val="5F7A3A"/>
                </a:solidFill>
                <a:latin typeface="Helvetica Neue" pitchFamily="34" charset="0"/>
                <a:ea typeface="Helvetica Neue" pitchFamily="34" charset="-122"/>
                <a:cs typeface="Helvetica Neue" pitchFamily="34" charset="-120"/>
              </a:rPr>
              <a:t>[MEM]</a:t>
            </a:r>
            <a:endParaRPr lang="en-US" sz="1100" dirty="0"/>
          </a:p>
        </p:txBody>
      </p:sp>
      <p:sp>
        <p:nvSpPr>
          <p:cNvPr id="24" name="Text 21"/>
          <p:cNvSpPr/>
          <p:nvPr/>
        </p:nvSpPr>
        <p:spPr>
          <a:xfrm>
            <a:off x="822960" y="6172200"/>
            <a:ext cx="10515600" cy="118872"/>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Run (warm!), then the d/sync read-your-writes check on the next slide.</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VI · DEPLOYMENT</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38</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Reading your own writes across a fleet of peers</a:t>
            </a:r>
            <a:endParaRPr lang="en-US" sz="2500" dirty="0"/>
          </a:p>
        </p:txBody>
      </p:sp>
      <p:sp>
        <p:nvSpPr>
          <p:cNvPr id="8" name="Text 5"/>
          <p:cNvSpPr/>
          <p:nvPr/>
        </p:nvSpPr>
        <p:spPr>
          <a:xfrm>
            <a:off x="548640" y="1280160"/>
            <a:ext cx="5349240" cy="320040"/>
          </a:xfrm>
          <a:prstGeom prst="rect">
            <a:avLst/>
          </a:prstGeom>
          <a:noFill/>
          <a:ln/>
        </p:spPr>
        <p:txBody>
          <a:bodyPr wrap="square" lIns="0" tIns="0" rIns="0" bIns="0" rtlCol="0" anchor="t"/>
          <a:lstStyle/>
          <a:p>
            <a:pPr indent="0" marL="0">
              <a:buNone/>
            </a:pPr>
            <a:r>
              <a:rPr lang="en-US" sz="1300" b="1" spc="100" kern="0" dirty="0">
                <a:solidFill>
                  <a:srgbClr val="9E4227"/>
                </a:solidFill>
                <a:latin typeface="Helvetica Neue" pitchFamily="34" charset="0"/>
                <a:ea typeface="Helvetica Neue" pitchFamily="34" charset="-122"/>
                <a:cs typeface="Helvetica Neue" pitchFamily="34" charset="-120"/>
              </a:rPr>
              <a:t>WITHOUT the contract</a:t>
            </a:r>
            <a:endParaRPr lang="en-US" sz="1300" dirty="0"/>
          </a:p>
        </p:txBody>
      </p:sp>
      <p:sp>
        <p:nvSpPr>
          <p:cNvPr id="9" name="Shape 6"/>
          <p:cNvSpPr/>
          <p:nvPr/>
        </p:nvSpPr>
        <p:spPr>
          <a:xfrm>
            <a:off x="548640" y="1645920"/>
            <a:ext cx="2468880" cy="640080"/>
          </a:xfrm>
          <a:prstGeom prst="roundRect">
            <a:avLst>
              <a:gd name="adj" fmla="val 8571"/>
            </a:avLst>
          </a:prstGeom>
          <a:solidFill>
            <a:srgbClr val="EDE0C4"/>
          </a:solidFill>
          <a:ln w="15875">
            <a:solidFill>
              <a:srgbClr val="B5822B"/>
            </a:solidFill>
            <a:prstDash val="solid"/>
          </a:ln>
        </p:spPr>
      </p:sp>
      <p:sp>
        <p:nvSpPr>
          <p:cNvPr id="10" name="Text 7"/>
          <p:cNvSpPr/>
          <p:nvPr/>
        </p:nvSpPr>
        <p:spPr>
          <a:xfrm>
            <a:off x="621792" y="1655064"/>
            <a:ext cx="232257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 A</a:t>
            </a:r>
            <a:endParaRPr lang="en-US" sz="1300" dirty="0"/>
          </a:p>
        </p:txBody>
      </p:sp>
      <p:sp>
        <p:nvSpPr>
          <p:cNvPr id="11" name="Text 8"/>
          <p:cNvSpPr/>
          <p:nvPr/>
        </p:nvSpPr>
        <p:spPr>
          <a:xfrm>
            <a:off x="621792" y="1947672"/>
            <a:ext cx="2322576" cy="384048"/>
          </a:xfrm>
          <a:prstGeom prst="rect">
            <a:avLst/>
          </a:prstGeom>
          <a:noFill/>
          <a:ln/>
        </p:spPr>
        <p:txBody>
          <a:bodyPr wrap="square" lIns="0" tIns="0" rIns="0" bIns="0" rtlCol="0" anchor="t">
            <a:normAutofit/>
          </a:bodyPr>
          <a:lstStyle/>
          <a:p>
            <a:pPr algn="ctr" indent="0" marL="0">
              <a:buNone/>
            </a:pPr>
            <a:r>
              <a:rPr lang="en-US" sz="1050" dirty="0">
                <a:solidFill>
                  <a:srgbClr val="6B5A44"/>
                </a:solidFill>
                <a:latin typeface="Helvetica Neue" pitchFamily="34" charset="0"/>
                <a:ea typeface="Helvetica Neue" pitchFamily="34" charset="-122"/>
                <a:cs typeface="Helvetica Neue" pitchFamily="34" charset="-120"/>
              </a:rPr>
              <a:t>writes at t=21011</a:t>
            </a:r>
            <a:endParaRPr lang="en-US" sz="1050" dirty="0"/>
          </a:p>
        </p:txBody>
      </p:sp>
      <p:sp>
        <p:nvSpPr>
          <p:cNvPr id="12" name="Shape 9"/>
          <p:cNvSpPr/>
          <p:nvPr/>
        </p:nvSpPr>
        <p:spPr>
          <a:xfrm>
            <a:off x="3429000" y="1645920"/>
            <a:ext cx="2468880" cy="640080"/>
          </a:xfrm>
          <a:prstGeom prst="roundRect">
            <a:avLst>
              <a:gd name="adj" fmla="val 8571"/>
            </a:avLst>
          </a:prstGeom>
          <a:solidFill>
            <a:srgbClr val="EBD5CB"/>
          </a:solidFill>
          <a:ln w="15875">
            <a:solidFill>
              <a:srgbClr val="9E4227"/>
            </a:solidFill>
            <a:prstDash val="solid"/>
          </a:ln>
        </p:spPr>
      </p:sp>
      <p:sp>
        <p:nvSpPr>
          <p:cNvPr id="13" name="Text 10"/>
          <p:cNvSpPr/>
          <p:nvPr/>
        </p:nvSpPr>
        <p:spPr>
          <a:xfrm>
            <a:off x="3502152" y="1655064"/>
            <a:ext cx="232257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 B</a:t>
            </a:r>
            <a:endParaRPr lang="en-US" sz="1300" dirty="0"/>
          </a:p>
        </p:txBody>
      </p:sp>
      <p:sp>
        <p:nvSpPr>
          <p:cNvPr id="14" name="Text 11"/>
          <p:cNvSpPr/>
          <p:nvPr/>
        </p:nvSpPr>
        <p:spPr>
          <a:xfrm>
            <a:off x="3502152" y="1947672"/>
            <a:ext cx="2322576" cy="384048"/>
          </a:xfrm>
          <a:prstGeom prst="rect">
            <a:avLst/>
          </a:prstGeom>
          <a:noFill/>
          <a:ln/>
        </p:spPr>
        <p:txBody>
          <a:bodyPr wrap="square" lIns="0" tIns="0" rIns="0" bIns="0" rtlCol="0" anchor="t">
            <a:normAutofit/>
          </a:bodyPr>
          <a:lstStyle/>
          <a:p>
            <a:pPr algn="ctr" indent="0" marL="0">
              <a:buNone/>
            </a:pPr>
            <a:r>
              <a:rPr lang="en-US" sz="1050" dirty="0">
                <a:solidFill>
                  <a:srgbClr val="6B5A44"/>
                </a:solidFill>
                <a:latin typeface="Helvetica Neue" pitchFamily="34" charset="0"/>
                <a:ea typeface="Helvetica Neue" pitchFamily="34" charset="-122"/>
                <a:cs typeface="Helvetica Neue" pitchFamily="34" charset="-120"/>
              </a:rPr>
              <a:t>still at t=20990</a:t>
            </a:r>
            <a:endParaRPr lang="en-US" sz="1050" dirty="0"/>
          </a:p>
        </p:txBody>
      </p:sp>
      <p:sp>
        <p:nvSpPr>
          <p:cNvPr id="15" name="Shape 12"/>
          <p:cNvSpPr/>
          <p:nvPr/>
        </p:nvSpPr>
        <p:spPr>
          <a:xfrm>
            <a:off x="822960" y="2377440"/>
            <a:ext cx="0" cy="502920"/>
          </a:xfrm>
          <a:prstGeom prst="line">
            <a:avLst/>
          </a:prstGeom>
          <a:noFill/>
          <a:ln w="19050">
            <a:solidFill>
              <a:srgbClr val="B5822B"/>
            </a:solidFill>
            <a:prstDash val="solid"/>
            <a:headEnd type="none"/>
            <a:tailEnd type="none"/>
          </a:ln>
        </p:spPr>
      </p:sp>
      <p:sp>
        <p:nvSpPr>
          <p:cNvPr id="16" name="Shape 13"/>
          <p:cNvSpPr/>
          <p:nvPr/>
        </p:nvSpPr>
        <p:spPr>
          <a:xfrm>
            <a:off x="3703320" y="2377440"/>
            <a:ext cx="0" cy="502920"/>
          </a:xfrm>
          <a:prstGeom prst="line">
            <a:avLst/>
          </a:prstGeom>
          <a:noFill/>
          <a:ln w="19050">
            <a:solidFill>
              <a:srgbClr val="9E4227"/>
            </a:solidFill>
            <a:prstDash val="solid"/>
            <a:headEnd type="none"/>
            <a:tailEnd type="none"/>
          </a:ln>
        </p:spPr>
      </p:sp>
      <p:sp>
        <p:nvSpPr>
          <p:cNvPr id="17" name="Shape 14"/>
          <p:cNvSpPr/>
          <p:nvPr/>
        </p:nvSpPr>
        <p:spPr>
          <a:xfrm>
            <a:off x="548640" y="2880360"/>
            <a:ext cx="5349240" cy="594360"/>
          </a:xfrm>
          <a:prstGeom prst="roundRect">
            <a:avLst>
              <a:gd name="adj" fmla="val 9231"/>
            </a:avLst>
          </a:prstGeom>
          <a:solidFill>
            <a:srgbClr val="EBD5CB"/>
          </a:solidFill>
          <a:ln w="15875">
            <a:solidFill>
              <a:srgbClr val="9E4227"/>
            </a:solidFill>
            <a:prstDash val="solid"/>
          </a:ln>
        </p:spPr>
      </p:sp>
      <p:sp>
        <p:nvSpPr>
          <p:cNvPr id="18" name="Text 15"/>
          <p:cNvSpPr/>
          <p:nvPr/>
        </p:nvSpPr>
        <p:spPr>
          <a:xfrm>
            <a:off x="621792" y="2880360"/>
            <a:ext cx="5202936" cy="594360"/>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the caller reads back … and the write is missing</a:t>
            </a:r>
            <a:endParaRPr lang="en-US" sz="1300" dirty="0"/>
          </a:p>
        </p:txBody>
      </p:sp>
      <p:sp>
        <p:nvSpPr>
          <p:cNvPr id="19" name="Text 16"/>
          <p:cNvSpPr/>
          <p:nvPr/>
        </p:nvSpPr>
        <p:spPr>
          <a:xfrm>
            <a:off x="6263640" y="1280160"/>
            <a:ext cx="5349240" cy="320040"/>
          </a:xfrm>
          <a:prstGeom prst="rect">
            <a:avLst/>
          </a:prstGeom>
          <a:noFill/>
          <a:ln/>
        </p:spPr>
        <p:txBody>
          <a:bodyPr wrap="square" lIns="0" tIns="0" rIns="0" bIns="0" rtlCol="0" anchor="t"/>
          <a:lstStyle/>
          <a:p>
            <a:pPr indent="0" marL="0">
              <a:buNone/>
            </a:pPr>
            <a:r>
              <a:rPr lang="en-US" sz="1300" b="1" spc="100" kern="0" dirty="0">
                <a:solidFill>
                  <a:srgbClr val="5F7A3A"/>
                </a:solidFill>
                <a:latin typeface="Helvetica Neue" pitchFamily="34" charset="0"/>
                <a:ea typeface="Helvetica Neue" pitchFamily="34" charset="-122"/>
                <a:cs typeface="Helvetica Neue" pitchFamily="34" charset="-120"/>
              </a:rPr>
              <a:t>WITH the contract</a:t>
            </a:r>
            <a:endParaRPr lang="en-US" sz="1300" dirty="0"/>
          </a:p>
        </p:txBody>
      </p:sp>
      <p:sp>
        <p:nvSpPr>
          <p:cNvPr id="20" name="Shape 17"/>
          <p:cNvSpPr/>
          <p:nvPr/>
        </p:nvSpPr>
        <p:spPr>
          <a:xfrm>
            <a:off x="6263640" y="1645920"/>
            <a:ext cx="2468880" cy="640080"/>
          </a:xfrm>
          <a:prstGeom prst="roundRect">
            <a:avLst>
              <a:gd name="adj" fmla="val 8571"/>
            </a:avLst>
          </a:prstGeom>
          <a:solidFill>
            <a:srgbClr val="EDE0C4"/>
          </a:solidFill>
          <a:ln w="15875">
            <a:solidFill>
              <a:srgbClr val="B5822B"/>
            </a:solidFill>
            <a:prstDash val="solid"/>
          </a:ln>
        </p:spPr>
      </p:sp>
      <p:sp>
        <p:nvSpPr>
          <p:cNvPr id="21" name="Text 18"/>
          <p:cNvSpPr/>
          <p:nvPr/>
        </p:nvSpPr>
        <p:spPr>
          <a:xfrm>
            <a:off x="6336792" y="1655064"/>
            <a:ext cx="232257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 A</a:t>
            </a:r>
            <a:endParaRPr lang="en-US" sz="1300" dirty="0"/>
          </a:p>
        </p:txBody>
      </p:sp>
      <p:sp>
        <p:nvSpPr>
          <p:cNvPr id="22" name="Text 19"/>
          <p:cNvSpPr/>
          <p:nvPr/>
        </p:nvSpPr>
        <p:spPr>
          <a:xfrm>
            <a:off x="6336792" y="1947672"/>
            <a:ext cx="2322576" cy="384048"/>
          </a:xfrm>
          <a:prstGeom prst="rect">
            <a:avLst/>
          </a:prstGeom>
          <a:noFill/>
          <a:ln/>
        </p:spPr>
        <p:txBody>
          <a:bodyPr wrap="square" lIns="0" tIns="0" rIns="0" bIns="0" rtlCol="0" anchor="t">
            <a:normAutofit/>
          </a:bodyPr>
          <a:lstStyle/>
          <a:p>
            <a:pPr algn="ctr" indent="0" marL="0">
              <a:buNone/>
            </a:pPr>
            <a:r>
              <a:rPr lang="en-US" sz="1050" dirty="0">
                <a:solidFill>
                  <a:srgbClr val="6B5A44"/>
                </a:solidFill>
                <a:latin typeface="Helvetica Neue" pitchFamily="34" charset="0"/>
                <a:ea typeface="Helvetica Neue" pitchFamily="34" charset="-122"/>
                <a:cs typeface="Helvetica Neue" pitchFamily="34" charset="-120"/>
              </a:rPr>
              <a:t>writes, returns t</a:t>
            </a:r>
            <a:endParaRPr lang="en-US" sz="1050" dirty="0"/>
          </a:p>
        </p:txBody>
      </p:sp>
      <p:sp>
        <p:nvSpPr>
          <p:cNvPr id="23" name="Shape 20"/>
          <p:cNvSpPr/>
          <p:nvPr/>
        </p:nvSpPr>
        <p:spPr>
          <a:xfrm>
            <a:off x="9144000" y="1645920"/>
            <a:ext cx="2468880" cy="640080"/>
          </a:xfrm>
          <a:prstGeom prst="roundRect">
            <a:avLst>
              <a:gd name="adj" fmla="val 8571"/>
            </a:avLst>
          </a:prstGeom>
          <a:solidFill>
            <a:srgbClr val="DDE3CC"/>
          </a:solidFill>
          <a:ln w="15875">
            <a:solidFill>
              <a:srgbClr val="5F7A3A"/>
            </a:solidFill>
            <a:prstDash val="solid"/>
          </a:ln>
        </p:spPr>
      </p:sp>
      <p:sp>
        <p:nvSpPr>
          <p:cNvPr id="24" name="Text 21"/>
          <p:cNvSpPr/>
          <p:nvPr/>
        </p:nvSpPr>
        <p:spPr>
          <a:xfrm>
            <a:off x="9217152" y="1655064"/>
            <a:ext cx="2322576" cy="310896"/>
          </a:xfrm>
          <a:prstGeom prst="rect">
            <a:avLst/>
          </a:prstGeom>
          <a:noFill/>
          <a:ln/>
        </p:spPr>
        <p:txBody>
          <a:bodyPr wrap="square" lIns="0" tIns="0" rIns="0" bIns="0" rtlCol="0" anchor="b">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 B</a:t>
            </a:r>
            <a:endParaRPr lang="en-US" sz="1300" dirty="0"/>
          </a:p>
        </p:txBody>
      </p:sp>
      <p:sp>
        <p:nvSpPr>
          <p:cNvPr id="25" name="Text 22"/>
          <p:cNvSpPr/>
          <p:nvPr/>
        </p:nvSpPr>
        <p:spPr>
          <a:xfrm>
            <a:off x="9217152" y="1947672"/>
            <a:ext cx="2322576" cy="384048"/>
          </a:xfrm>
          <a:prstGeom prst="rect">
            <a:avLst/>
          </a:prstGeom>
          <a:noFill/>
          <a:ln/>
        </p:spPr>
        <p:txBody>
          <a:bodyPr wrap="square" lIns="0" tIns="0" rIns="0" bIns="0" rtlCol="0" anchor="t">
            <a:normAutofit/>
          </a:bodyPr>
          <a:lstStyle/>
          <a:p>
            <a:pPr algn="ctr" indent="0" marL="0">
              <a:buNone/>
            </a:pPr>
            <a:r>
              <a:rPr lang="en-US" sz="1050" dirty="0">
                <a:solidFill>
                  <a:srgbClr val="6B5A44"/>
                </a:solidFill>
                <a:latin typeface="Helvetica Neue" pitchFamily="34" charset="0"/>
                <a:ea typeface="Helvetica Neue" pitchFamily="34" charset="-122"/>
                <a:cs typeface="Helvetica Neue" pitchFamily="34" charset="-120"/>
              </a:rPr>
              <a:t>d/sync to that t</a:t>
            </a:r>
            <a:endParaRPr lang="en-US" sz="1050" dirty="0"/>
          </a:p>
        </p:txBody>
      </p:sp>
      <p:sp>
        <p:nvSpPr>
          <p:cNvPr id="26" name="Shape 23"/>
          <p:cNvSpPr/>
          <p:nvPr/>
        </p:nvSpPr>
        <p:spPr>
          <a:xfrm>
            <a:off x="8732520" y="1965960"/>
            <a:ext cx="411480" cy="0"/>
          </a:xfrm>
          <a:prstGeom prst="line">
            <a:avLst/>
          </a:prstGeom>
          <a:noFill/>
          <a:ln w="19050">
            <a:solidFill>
              <a:srgbClr val="5F7A3A"/>
            </a:solidFill>
            <a:prstDash val="solid"/>
            <a:headEnd type="none"/>
            <a:tailEnd type="triangle"/>
          </a:ln>
        </p:spPr>
      </p:sp>
      <p:sp>
        <p:nvSpPr>
          <p:cNvPr id="27" name="Text 24"/>
          <p:cNvSpPr/>
          <p:nvPr/>
        </p:nvSpPr>
        <p:spPr>
          <a:xfrm>
            <a:off x="7566660" y="1499616"/>
            <a:ext cx="2743200" cy="292608"/>
          </a:xfrm>
          <a:prstGeom prst="rect">
            <a:avLst/>
          </a:prstGeom>
          <a:noFill/>
          <a:ln/>
        </p:spPr>
        <p:txBody>
          <a:bodyPr wrap="square" lIns="0" tIns="0" rIns="0" bIns="0" rtlCol="0" anchor="ctr">
            <a:normAutofit/>
          </a:bodyPr>
          <a:lstStyle/>
          <a:p>
            <a:pPr algn="ctr" indent="0" marL="0">
              <a:buNone/>
            </a:pPr>
            <a:r>
              <a:rPr lang="en-US" sz="1000" dirty="0">
                <a:solidFill>
                  <a:srgbClr val="9A8A72"/>
                </a:solidFill>
                <a:latin typeface="Helvetica Neue" pitchFamily="34" charset="0"/>
                <a:ea typeface="Helvetica Neue" pitchFamily="34" charset="-122"/>
                <a:cs typeface="Helvetica Neue" pitchFamily="34" charset="-120"/>
              </a:rPr>
              <a:t>t travels with the request</a:t>
            </a:r>
            <a:endParaRPr lang="en-US" sz="1000" dirty="0"/>
          </a:p>
        </p:txBody>
      </p:sp>
      <p:sp>
        <p:nvSpPr>
          <p:cNvPr id="28" name="Shape 25"/>
          <p:cNvSpPr/>
          <p:nvPr/>
        </p:nvSpPr>
        <p:spPr>
          <a:xfrm>
            <a:off x="6537960" y="2377440"/>
            <a:ext cx="0" cy="502920"/>
          </a:xfrm>
          <a:prstGeom prst="line">
            <a:avLst/>
          </a:prstGeom>
          <a:noFill/>
          <a:ln w="19050">
            <a:solidFill>
              <a:srgbClr val="5F7A3A"/>
            </a:solidFill>
            <a:prstDash val="solid"/>
            <a:headEnd type="none"/>
            <a:tailEnd type="none"/>
          </a:ln>
        </p:spPr>
      </p:sp>
      <p:sp>
        <p:nvSpPr>
          <p:cNvPr id="29" name="Shape 26"/>
          <p:cNvSpPr/>
          <p:nvPr/>
        </p:nvSpPr>
        <p:spPr>
          <a:xfrm>
            <a:off x="9418320" y="2377440"/>
            <a:ext cx="0" cy="502920"/>
          </a:xfrm>
          <a:prstGeom prst="line">
            <a:avLst/>
          </a:prstGeom>
          <a:noFill/>
          <a:ln w="19050">
            <a:solidFill>
              <a:srgbClr val="5F7A3A"/>
            </a:solidFill>
            <a:prstDash val="solid"/>
            <a:headEnd type="none"/>
            <a:tailEnd type="none"/>
          </a:ln>
        </p:spPr>
      </p:sp>
      <p:sp>
        <p:nvSpPr>
          <p:cNvPr id="30" name="Shape 27"/>
          <p:cNvSpPr/>
          <p:nvPr/>
        </p:nvSpPr>
        <p:spPr>
          <a:xfrm>
            <a:off x="6263640" y="2880360"/>
            <a:ext cx="5349240" cy="594360"/>
          </a:xfrm>
          <a:prstGeom prst="roundRect">
            <a:avLst>
              <a:gd name="adj" fmla="val 9231"/>
            </a:avLst>
          </a:prstGeom>
          <a:solidFill>
            <a:srgbClr val="DDE3CC"/>
          </a:solidFill>
          <a:ln w="15875">
            <a:solidFill>
              <a:srgbClr val="5F7A3A"/>
            </a:solidFill>
            <a:prstDash val="solid"/>
          </a:ln>
        </p:spPr>
      </p:sp>
      <p:sp>
        <p:nvSpPr>
          <p:cNvPr id="31" name="Text 28"/>
          <p:cNvSpPr/>
          <p:nvPr/>
        </p:nvSpPr>
        <p:spPr>
          <a:xfrm>
            <a:off x="6336792" y="2880360"/>
            <a:ext cx="5202936" cy="594360"/>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the caller reads back … and sees the write</a:t>
            </a:r>
            <a:endParaRPr lang="en-US" sz="1300" dirty="0"/>
          </a:p>
        </p:txBody>
      </p:sp>
      <p:sp>
        <p:nvSpPr>
          <p:cNvPr id="32" name="Shape 29"/>
          <p:cNvSpPr/>
          <p:nvPr/>
        </p:nvSpPr>
        <p:spPr>
          <a:xfrm>
            <a:off x="548640" y="3749040"/>
            <a:ext cx="6766560" cy="1051560"/>
          </a:xfrm>
          <a:prstGeom prst="roundRect">
            <a:avLst>
              <a:gd name="adj" fmla="val 6957"/>
            </a:avLst>
          </a:prstGeom>
          <a:solidFill>
            <a:srgbClr val="E6DFCE"/>
          </a:solidFill>
          <a:ln/>
        </p:spPr>
      </p:sp>
      <p:sp>
        <p:nvSpPr>
          <p:cNvPr id="33" name="Text 30"/>
          <p:cNvSpPr/>
          <p:nvPr/>
        </p:nvSpPr>
        <p:spPr>
          <a:xfrm>
            <a:off x="749808" y="3895344"/>
            <a:ext cx="6364224" cy="75895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(d/basis-t (deref (d/sync conn t) 5000 nil))</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=&gt; 21011      the t that was written</a:t>
            </a:r>
            <a:endParaRPr lang="en-US" sz="1250" dirty="0"/>
          </a:p>
        </p:txBody>
      </p:sp>
      <p:sp>
        <p:nvSpPr>
          <p:cNvPr id="34" name="Shape 31"/>
          <p:cNvSpPr/>
          <p:nvPr/>
        </p:nvSpPr>
        <p:spPr>
          <a:xfrm>
            <a:off x="7498080" y="3749040"/>
            <a:ext cx="4114800" cy="1051560"/>
          </a:xfrm>
          <a:prstGeom prst="roundRect">
            <a:avLst>
              <a:gd name="adj" fmla="val 6957"/>
            </a:avLst>
          </a:prstGeom>
          <a:solidFill>
            <a:srgbClr val="E6DFCE"/>
          </a:solidFill>
          <a:ln/>
        </p:spPr>
      </p:sp>
      <p:sp>
        <p:nvSpPr>
          <p:cNvPr id="35" name="Text 32"/>
          <p:cNvSpPr/>
          <p:nvPr/>
        </p:nvSpPr>
        <p:spPr>
          <a:xfrm>
            <a:off x="7726680" y="3886200"/>
            <a:ext cx="3657600" cy="82296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Pass the t with the request.</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For the index rather than the log:</a:t>
            </a:r>
            <a:endParaRPr lang="en-US" sz="1250" dirty="0"/>
          </a:p>
          <a:p>
            <a:pPr indent="0" marL="0">
              <a:buNone/>
            </a:pPr>
            <a:r>
              <a:rPr lang="en-US" sz="1250" dirty="0">
                <a:solidFill>
                  <a:srgbClr val="6B5A44"/>
                </a:solidFill>
                <a:latin typeface="Helvetica Neue" pitchFamily="34" charset="0"/>
                <a:ea typeface="Helvetica Neue" pitchFamily="34" charset="-122"/>
                <a:cs typeface="Helvetica Neue" pitchFamily="34" charset="-120"/>
              </a:rPr>
              <a:t>d/sync-index.</a:t>
            </a:r>
            <a:endParaRPr lang="en-US" sz="1250" dirty="0"/>
          </a:p>
        </p:txBody>
      </p:sp>
      <p:sp>
        <p:nvSpPr>
          <p:cNvPr id="36" name="Shape 33"/>
          <p:cNvSpPr/>
          <p:nvPr/>
        </p:nvSpPr>
        <p:spPr>
          <a:xfrm>
            <a:off x="548640" y="5074920"/>
            <a:ext cx="54864" cy="457200"/>
          </a:xfrm>
          <a:prstGeom prst="rect">
            <a:avLst/>
          </a:prstGeom>
          <a:solidFill>
            <a:srgbClr val="A8864A"/>
          </a:solidFill>
          <a:ln/>
        </p:spPr>
      </p:sp>
      <p:sp>
        <p:nvSpPr>
          <p:cNvPr id="37" name="Text 34"/>
          <p:cNvSpPr/>
          <p:nvPr/>
        </p:nvSpPr>
        <p:spPr>
          <a:xfrm>
            <a:off x="777240" y="507492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Passing the t with the request IS the consistency contract of a multi-peer deployment.</a:t>
            </a:r>
            <a:endParaRPr lang="en-US" sz="1450" dirty="0"/>
          </a:p>
        </p:txBody>
      </p:sp>
      <p:sp>
        <p:nvSpPr>
          <p:cNvPr id="38" name="Text 35"/>
          <p:cNvSpPr/>
          <p:nvPr/>
        </p:nvSpPr>
        <p:spPr>
          <a:xfrm>
            <a:off x="548640" y="580644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Deref with a timeout: an unbounded sync is a stalled thread waiting on a transactor that may not exist.</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VI · DEPLOYMENT</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39</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Rollout order — and why it is safe in this order</a:t>
            </a:r>
            <a:endParaRPr lang="en-US" sz="2500" dirty="0"/>
          </a:p>
        </p:txBody>
      </p:sp>
      <p:sp>
        <p:nvSpPr>
          <p:cNvPr id="8" name="Shape 5"/>
          <p:cNvSpPr/>
          <p:nvPr/>
        </p:nvSpPr>
        <p:spPr>
          <a:xfrm>
            <a:off x="548640" y="1371600"/>
            <a:ext cx="11064240" cy="868680"/>
          </a:xfrm>
          <a:prstGeom prst="roundRect">
            <a:avLst>
              <a:gd name="adj" fmla="val 8421"/>
            </a:avLst>
          </a:prstGeom>
          <a:solidFill>
            <a:srgbClr val="E6DFCE"/>
          </a:solidFill>
          <a:ln/>
        </p:spPr>
      </p:sp>
      <p:sp>
        <p:nvSpPr>
          <p:cNvPr id="9" name="Shape 6"/>
          <p:cNvSpPr/>
          <p:nvPr/>
        </p:nvSpPr>
        <p:spPr>
          <a:xfrm>
            <a:off x="548640" y="1371600"/>
            <a:ext cx="777240" cy="868680"/>
          </a:xfrm>
          <a:prstGeom prst="roundRect">
            <a:avLst>
              <a:gd name="adj" fmla="val 9412"/>
            </a:avLst>
          </a:prstGeom>
          <a:solidFill>
            <a:srgbClr val="A8864A"/>
          </a:solidFill>
          <a:ln/>
        </p:spPr>
      </p:sp>
      <p:sp>
        <p:nvSpPr>
          <p:cNvPr id="10" name="Text 7"/>
          <p:cNvSpPr/>
          <p:nvPr/>
        </p:nvSpPr>
        <p:spPr>
          <a:xfrm>
            <a:off x="548640" y="1371600"/>
            <a:ext cx="777240" cy="868680"/>
          </a:xfrm>
          <a:prstGeom prst="rect">
            <a:avLst/>
          </a:prstGeom>
          <a:noFill/>
          <a:ln/>
        </p:spPr>
        <p:txBody>
          <a:bodyPr wrap="square" lIns="0" tIns="0" rIns="0" bIns="0" rtlCol="0" anchor="ctr"/>
          <a:lstStyle/>
          <a:p>
            <a:pPr algn="ctr" indent="0" marL="0">
              <a:buNone/>
            </a:pPr>
            <a:r>
              <a:rPr lang="en-US" sz="2600" dirty="0">
                <a:solidFill>
                  <a:srgbClr val="FCFAF4"/>
                </a:solidFill>
                <a:latin typeface="Georgia" pitchFamily="34" charset="0"/>
                <a:ea typeface="Georgia" pitchFamily="34" charset="-122"/>
                <a:cs typeface="Georgia" pitchFamily="34" charset="-120"/>
              </a:rPr>
              <a:t>1</a:t>
            </a:r>
            <a:endParaRPr lang="en-US" sz="2600" dirty="0"/>
          </a:p>
        </p:txBody>
      </p:sp>
      <p:sp>
        <p:nvSpPr>
          <p:cNvPr id="11" name="Text 8"/>
          <p:cNvSpPr/>
          <p:nvPr/>
        </p:nvSpPr>
        <p:spPr>
          <a:xfrm>
            <a:off x="1554480" y="1499616"/>
            <a:ext cx="4023360" cy="365760"/>
          </a:xfrm>
          <a:prstGeom prst="rect">
            <a:avLst/>
          </a:prstGeom>
          <a:noFill/>
          <a:ln/>
        </p:spPr>
        <p:txBody>
          <a:bodyPr wrap="square" lIns="0" tIns="0" rIns="0" bIns="0" rtlCol="0" anchor="t">
            <a:normAutofit/>
          </a:bodyPr>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ship the SCHEMA</a:t>
            </a:r>
            <a:endParaRPr lang="en-US" sz="1600" dirty="0"/>
          </a:p>
        </p:txBody>
      </p:sp>
      <p:sp>
        <p:nvSpPr>
          <p:cNvPr id="12" name="Text 9"/>
          <p:cNvSpPr/>
          <p:nvPr/>
        </p:nvSpPr>
        <p:spPr>
          <a:xfrm>
            <a:off x="1554480" y="1865376"/>
            <a:ext cx="4023360" cy="292608"/>
          </a:xfrm>
          <a:prstGeom prst="rect">
            <a:avLst/>
          </a:prstGeom>
          <a:noFill/>
          <a:ln/>
        </p:spPr>
        <p:txBody>
          <a:bodyPr wrap="square" lIns="0" tIns="0" rIns="0" bIns="0" rtlCol="0" anchor="t"/>
          <a:lstStyle/>
          <a:p>
            <a:pPr indent="0" marL="0">
              <a:buNone/>
            </a:pPr>
            <a:r>
              <a:rPr lang="en-US" sz="1150" i="1" dirty="0">
                <a:solidFill>
                  <a:srgbClr val="9A8A72"/>
                </a:solidFill>
                <a:latin typeface="Helvetica Neue" pitchFamily="34" charset="0"/>
                <a:ea typeface="Helvetica Neue" pitchFamily="34" charset="-122"/>
                <a:cs typeface="Helvetica Neue" pitchFamily="34" charset="-120"/>
              </a:rPr>
              <a:t>no lock · no ALTER · no migration window</a:t>
            </a:r>
            <a:endParaRPr lang="en-US" sz="1150" dirty="0"/>
          </a:p>
        </p:txBody>
      </p:sp>
      <p:sp>
        <p:nvSpPr>
          <p:cNvPr id="13" name="Text 10"/>
          <p:cNvSpPr/>
          <p:nvPr/>
        </p:nvSpPr>
        <p:spPr>
          <a:xfrm>
            <a:off x="5852160" y="1371600"/>
            <a:ext cx="5577840" cy="868680"/>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additive → old peers ignore what's new</a:t>
            </a:r>
            <a:endParaRPr lang="en-US" sz="1400" dirty="0"/>
          </a:p>
        </p:txBody>
      </p:sp>
      <p:sp>
        <p:nvSpPr>
          <p:cNvPr id="14" name="Shape 11"/>
          <p:cNvSpPr/>
          <p:nvPr/>
        </p:nvSpPr>
        <p:spPr>
          <a:xfrm>
            <a:off x="932688" y="2240280"/>
            <a:ext cx="0" cy="155448"/>
          </a:xfrm>
          <a:prstGeom prst="line">
            <a:avLst/>
          </a:prstGeom>
          <a:noFill/>
          <a:ln w="15240">
            <a:solidFill>
              <a:srgbClr val="C9BDA4"/>
            </a:solidFill>
            <a:prstDash val="solid"/>
            <a:headEnd type="none"/>
            <a:tailEnd type="triangle"/>
          </a:ln>
        </p:spPr>
      </p:sp>
      <p:sp>
        <p:nvSpPr>
          <p:cNvPr id="15" name="Shape 12"/>
          <p:cNvSpPr/>
          <p:nvPr/>
        </p:nvSpPr>
        <p:spPr>
          <a:xfrm>
            <a:off x="548640" y="2395728"/>
            <a:ext cx="11064240" cy="868680"/>
          </a:xfrm>
          <a:prstGeom prst="roundRect">
            <a:avLst>
              <a:gd name="adj" fmla="val 8421"/>
            </a:avLst>
          </a:prstGeom>
          <a:solidFill>
            <a:srgbClr val="EFE9DD"/>
          </a:solidFill>
          <a:ln/>
        </p:spPr>
      </p:sp>
      <p:sp>
        <p:nvSpPr>
          <p:cNvPr id="16" name="Shape 13"/>
          <p:cNvSpPr/>
          <p:nvPr/>
        </p:nvSpPr>
        <p:spPr>
          <a:xfrm>
            <a:off x="548640" y="2395728"/>
            <a:ext cx="777240" cy="868680"/>
          </a:xfrm>
          <a:prstGeom prst="roundRect">
            <a:avLst>
              <a:gd name="adj" fmla="val 9412"/>
            </a:avLst>
          </a:prstGeom>
          <a:solidFill>
            <a:srgbClr val="A8864A"/>
          </a:solidFill>
          <a:ln/>
        </p:spPr>
      </p:sp>
      <p:sp>
        <p:nvSpPr>
          <p:cNvPr id="17" name="Text 14"/>
          <p:cNvSpPr/>
          <p:nvPr/>
        </p:nvSpPr>
        <p:spPr>
          <a:xfrm>
            <a:off x="548640" y="2395728"/>
            <a:ext cx="777240" cy="868680"/>
          </a:xfrm>
          <a:prstGeom prst="rect">
            <a:avLst/>
          </a:prstGeom>
          <a:noFill/>
          <a:ln/>
        </p:spPr>
        <p:txBody>
          <a:bodyPr wrap="square" lIns="0" tIns="0" rIns="0" bIns="0" rtlCol="0" anchor="ctr"/>
          <a:lstStyle/>
          <a:p>
            <a:pPr algn="ctr" indent="0" marL="0">
              <a:buNone/>
            </a:pPr>
            <a:r>
              <a:rPr lang="en-US" sz="2600" dirty="0">
                <a:solidFill>
                  <a:srgbClr val="FCFAF4"/>
                </a:solidFill>
                <a:latin typeface="Georgia" pitchFamily="34" charset="0"/>
                <a:ea typeface="Georgia" pitchFamily="34" charset="-122"/>
                <a:cs typeface="Georgia" pitchFamily="34" charset="-120"/>
              </a:rPr>
              <a:t>2</a:t>
            </a:r>
            <a:endParaRPr lang="en-US" sz="2600" dirty="0"/>
          </a:p>
        </p:txBody>
      </p:sp>
      <p:sp>
        <p:nvSpPr>
          <p:cNvPr id="18" name="Text 15"/>
          <p:cNvSpPr/>
          <p:nvPr/>
        </p:nvSpPr>
        <p:spPr>
          <a:xfrm>
            <a:off x="1554480" y="2523744"/>
            <a:ext cx="4023360" cy="365760"/>
          </a:xfrm>
          <a:prstGeom prst="rect">
            <a:avLst/>
          </a:prstGeom>
          <a:noFill/>
          <a:ln/>
        </p:spPr>
        <p:txBody>
          <a:bodyPr wrap="square" lIns="0" tIns="0" rIns="0" bIns="0" rtlCol="0" anchor="t">
            <a:normAutofit/>
          </a:bodyPr>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roll peers in WAVES</a:t>
            </a:r>
            <a:endParaRPr lang="en-US" sz="1600" dirty="0"/>
          </a:p>
        </p:txBody>
      </p:sp>
      <p:sp>
        <p:nvSpPr>
          <p:cNvPr id="19" name="Text 16"/>
          <p:cNvSpPr/>
          <p:nvPr/>
        </p:nvSpPr>
        <p:spPr>
          <a:xfrm>
            <a:off x="1554480" y="2889504"/>
            <a:ext cx="4023360" cy="292608"/>
          </a:xfrm>
          <a:prstGeom prst="rect">
            <a:avLst/>
          </a:prstGeom>
          <a:noFill/>
          <a:ln/>
        </p:spPr>
        <p:txBody>
          <a:bodyPr wrap="square" lIns="0" tIns="0" rIns="0" bIns="0" rtlCol="0" anchor="t"/>
          <a:lstStyle/>
          <a:p>
            <a:pPr indent="0" marL="0">
              <a:buNone/>
            </a:pPr>
            <a:r>
              <a:rPr lang="en-US" sz="1150" i="1" dirty="0">
                <a:solidFill>
                  <a:srgbClr val="9A8A72"/>
                </a:solidFill>
                <a:latin typeface="Helvetica Neue" pitchFamily="34" charset="0"/>
                <a:ea typeface="Helvetica Neue" pitchFamily="34" charset="-122"/>
                <a:cs typeface="Helvetica Neue" pitchFamily="34" charset="-120"/>
              </a:rPr>
              <a:t>Part III, mitigation 3</a:t>
            </a:r>
            <a:endParaRPr lang="en-US" sz="1150" dirty="0"/>
          </a:p>
        </p:txBody>
      </p:sp>
      <p:sp>
        <p:nvSpPr>
          <p:cNvPr id="20" name="Text 17"/>
          <p:cNvSpPr/>
          <p:nvPr/>
        </p:nvSpPr>
        <p:spPr>
          <a:xfrm>
            <a:off x="5852160" y="2395728"/>
            <a:ext cx="5577840" cy="868680"/>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avoids the cold-cache burst</a:t>
            </a:r>
            <a:endParaRPr lang="en-US" sz="1400" dirty="0"/>
          </a:p>
        </p:txBody>
      </p:sp>
      <p:sp>
        <p:nvSpPr>
          <p:cNvPr id="21" name="Shape 18"/>
          <p:cNvSpPr/>
          <p:nvPr/>
        </p:nvSpPr>
        <p:spPr>
          <a:xfrm>
            <a:off x="932688" y="3264408"/>
            <a:ext cx="0" cy="155448"/>
          </a:xfrm>
          <a:prstGeom prst="line">
            <a:avLst/>
          </a:prstGeom>
          <a:noFill/>
          <a:ln w="15240">
            <a:solidFill>
              <a:srgbClr val="C9BDA4"/>
            </a:solidFill>
            <a:prstDash val="solid"/>
            <a:headEnd type="none"/>
            <a:tailEnd type="triangle"/>
          </a:ln>
        </p:spPr>
      </p:sp>
      <p:sp>
        <p:nvSpPr>
          <p:cNvPr id="22" name="Shape 19"/>
          <p:cNvSpPr/>
          <p:nvPr/>
        </p:nvSpPr>
        <p:spPr>
          <a:xfrm>
            <a:off x="548640" y="3419856"/>
            <a:ext cx="11064240" cy="868680"/>
          </a:xfrm>
          <a:prstGeom prst="roundRect">
            <a:avLst>
              <a:gd name="adj" fmla="val 8421"/>
            </a:avLst>
          </a:prstGeom>
          <a:solidFill>
            <a:srgbClr val="E6DFCE"/>
          </a:solidFill>
          <a:ln/>
        </p:spPr>
      </p:sp>
      <p:sp>
        <p:nvSpPr>
          <p:cNvPr id="23" name="Shape 20"/>
          <p:cNvSpPr/>
          <p:nvPr/>
        </p:nvSpPr>
        <p:spPr>
          <a:xfrm>
            <a:off x="548640" y="3419856"/>
            <a:ext cx="777240" cy="868680"/>
          </a:xfrm>
          <a:prstGeom prst="roundRect">
            <a:avLst>
              <a:gd name="adj" fmla="val 9412"/>
            </a:avLst>
          </a:prstGeom>
          <a:solidFill>
            <a:srgbClr val="A8864A"/>
          </a:solidFill>
          <a:ln/>
        </p:spPr>
      </p:sp>
      <p:sp>
        <p:nvSpPr>
          <p:cNvPr id="24" name="Text 21"/>
          <p:cNvSpPr/>
          <p:nvPr/>
        </p:nvSpPr>
        <p:spPr>
          <a:xfrm>
            <a:off x="548640" y="3419856"/>
            <a:ext cx="777240" cy="868680"/>
          </a:xfrm>
          <a:prstGeom prst="rect">
            <a:avLst/>
          </a:prstGeom>
          <a:noFill/>
          <a:ln/>
        </p:spPr>
        <p:txBody>
          <a:bodyPr wrap="square" lIns="0" tIns="0" rIns="0" bIns="0" rtlCol="0" anchor="ctr"/>
          <a:lstStyle/>
          <a:p>
            <a:pPr algn="ctr" indent="0" marL="0">
              <a:buNone/>
            </a:pPr>
            <a:r>
              <a:rPr lang="en-US" sz="2600" dirty="0">
                <a:solidFill>
                  <a:srgbClr val="FCFAF4"/>
                </a:solidFill>
                <a:latin typeface="Georgia" pitchFamily="34" charset="0"/>
                <a:ea typeface="Georgia" pitchFamily="34" charset="-122"/>
                <a:cs typeface="Georgia" pitchFamily="34" charset="-120"/>
              </a:rPr>
              <a:t>3</a:t>
            </a:r>
            <a:endParaRPr lang="en-US" sz="2600" dirty="0"/>
          </a:p>
        </p:txBody>
      </p:sp>
      <p:sp>
        <p:nvSpPr>
          <p:cNvPr id="25" name="Text 22"/>
          <p:cNvSpPr/>
          <p:nvPr/>
        </p:nvSpPr>
        <p:spPr>
          <a:xfrm>
            <a:off x="1554480" y="3547872"/>
            <a:ext cx="4023360" cy="365760"/>
          </a:xfrm>
          <a:prstGeom prst="rect">
            <a:avLst/>
          </a:prstGeom>
          <a:noFill/>
          <a:ln/>
        </p:spPr>
        <p:txBody>
          <a:bodyPr wrap="square" lIns="0" tIns="0" rIns="0" bIns="0" rtlCol="0" anchor="t">
            <a:normAutofit/>
          </a:bodyPr>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WARM, then report ready</a:t>
            </a:r>
            <a:endParaRPr lang="en-US" sz="1600" dirty="0"/>
          </a:p>
        </p:txBody>
      </p:sp>
      <p:sp>
        <p:nvSpPr>
          <p:cNvPr id="26" name="Text 23"/>
          <p:cNvSpPr/>
          <p:nvPr/>
        </p:nvSpPr>
        <p:spPr>
          <a:xfrm>
            <a:off x="1554480" y="3913632"/>
            <a:ext cx="4023360" cy="292608"/>
          </a:xfrm>
          <a:prstGeom prst="rect">
            <a:avLst/>
          </a:prstGeom>
          <a:noFill/>
          <a:ln/>
        </p:spPr>
        <p:txBody>
          <a:bodyPr wrap="square" lIns="0" tIns="0" rIns="0" bIns="0" rtlCol="0" anchor="t"/>
          <a:lstStyle/>
          <a:p>
            <a:pPr indent="0" marL="0">
              <a:buNone/>
            </a:pPr>
            <a:r>
              <a:rPr lang="en-US" sz="1150" i="1" dirty="0">
                <a:solidFill>
                  <a:srgbClr val="9A8A72"/>
                </a:solidFill>
                <a:latin typeface="Helvetica Neue" pitchFamily="34" charset="0"/>
                <a:ea typeface="Helvetica Neue" pitchFamily="34" charset="-122"/>
                <a:cs typeface="Helvetica Neue" pitchFamily="34" charset="-120"/>
              </a:rPr>
              <a:t>the previous slide's warm!</a:t>
            </a:r>
            <a:endParaRPr lang="en-US" sz="1150" dirty="0"/>
          </a:p>
        </p:txBody>
      </p:sp>
      <p:sp>
        <p:nvSpPr>
          <p:cNvPr id="27" name="Text 24"/>
          <p:cNvSpPr/>
          <p:nvPr/>
        </p:nvSpPr>
        <p:spPr>
          <a:xfrm>
            <a:off x="5852160" y="3419856"/>
            <a:ext cx="5577840" cy="868680"/>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the cost moves ahead of the first request</a:t>
            </a:r>
            <a:endParaRPr lang="en-US" sz="1400" dirty="0"/>
          </a:p>
        </p:txBody>
      </p:sp>
      <p:sp>
        <p:nvSpPr>
          <p:cNvPr id="28" name="Shape 25"/>
          <p:cNvSpPr/>
          <p:nvPr/>
        </p:nvSpPr>
        <p:spPr>
          <a:xfrm>
            <a:off x="932688" y="4288536"/>
            <a:ext cx="0" cy="155448"/>
          </a:xfrm>
          <a:prstGeom prst="line">
            <a:avLst/>
          </a:prstGeom>
          <a:noFill/>
          <a:ln w="15240">
            <a:solidFill>
              <a:srgbClr val="C9BDA4"/>
            </a:solidFill>
            <a:prstDash val="solid"/>
            <a:headEnd type="none"/>
            <a:tailEnd type="triangle"/>
          </a:ln>
        </p:spPr>
      </p:sp>
      <p:sp>
        <p:nvSpPr>
          <p:cNvPr id="29" name="Shape 26"/>
          <p:cNvSpPr/>
          <p:nvPr/>
        </p:nvSpPr>
        <p:spPr>
          <a:xfrm>
            <a:off x="548640" y="4443984"/>
            <a:ext cx="11064240" cy="868680"/>
          </a:xfrm>
          <a:prstGeom prst="roundRect">
            <a:avLst>
              <a:gd name="adj" fmla="val 8421"/>
            </a:avLst>
          </a:prstGeom>
          <a:solidFill>
            <a:srgbClr val="EFE9DD"/>
          </a:solidFill>
          <a:ln/>
        </p:spPr>
      </p:sp>
      <p:sp>
        <p:nvSpPr>
          <p:cNvPr id="30" name="Shape 27"/>
          <p:cNvSpPr/>
          <p:nvPr/>
        </p:nvSpPr>
        <p:spPr>
          <a:xfrm>
            <a:off x="548640" y="4443984"/>
            <a:ext cx="777240" cy="868680"/>
          </a:xfrm>
          <a:prstGeom prst="roundRect">
            <a:avLst>
              <a:gd name="adj" fmla="val 9412"/>
            </a:avLst>
          </a:prstGeom>
          <a:solidFill>
            <a:srgbClr val="9E4227"/>
          </a:solidFill>
          <a:ln/>
        </p:spPr>
      </p:sp>
      <p:sp>
        <p:nvSpPr>
          <p:cNvPr id="31" name="Text 28"/>
          <p:cNvSpPr/>
          <p:nvPr/>
        </p:nvSpPr>
        <p:spPr>
          <a:xfrm>
            <a:off x="548640" y="4443984"/>
            <a:ext cx="777240" cy="868680"/>
          </a:xfrm>
          <a:prstGeom prst="rect">
            <a:avLst/>
          </a:prstGeom>
          <a:noFill/>
          <a:ln/>
        </p:spPr>
        <p:txBody>
          <a:bodyPr wrap="square" lIns="0" tIns="0" rIns="0" bIns="0" rtlCol="0" anchor="ctr"/>
          <a:lstStyle/>
          <a:p>
            <a:pPr algn="ctr" indent="0" marL="0">
              <a:buNone/>
            </a:pPr>
            <a:r>
              <a:rPr lang="en-US" sz="2600" dirty="0">
                <a:solidFill>
                  <a:srgbClr val="FCFAF4"/>
                </a:solidFill>
                <a:latin typeface="Georgia" pitchFamily="34" charset="0"/>
                <a:ea typeface="Georgia" pitchFamily="34" charset="-122"/>
                <a:cs typeface="Georgia" pitchFamily="34" charset="-120"/>
              </a:rPr>
              <a:t>4</a:t>
            </a:r>
            <a:endParaRPr lang="en-US" sz="2600" dirty="0"/>
          </a:p>
        </p:txBody>
      </p:sp>
      <p:sp>
        <p:nvSpPr>
          <p:cNvPr id="32" name="Text 29"/>
          <p:cNvSpPr/>
          <p:nvPr/>
        </p:nvSpPr>
        <p:spPr>
          <a:xfrm>
            <a:off x="1554480" y="4572000"/>
            <a:ext cx="4023360" cy="365760"/>
          </a:xfrm>
          <a:prstGeom prst="rect">
            <a:avLst/>
          </a:prstGeom>
          <a:noFill/>
          <a:ln/>
        </p:spPr>
        <p:txBody>
          <a:bodyPr wrap="square" lIns="0" tIns="0" rIns="0" bIns="0" rtlCol="0" anchor="t">
            <a:normAutofit/>
          </a:bodyPr>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roll the TRANSACTOR</a:t>
            </a:r>
            <a:endParaRPr lang="en-US" sz="1600" dirty="0"/>
          </a:p>
        </p:txBody>
      </p:sp>
      <p:sp>
        <p:nvSpPr>
          <p:cNvPr id="33" name="Text 30"/>
          <p:cNvSpPr/>
          <p:nvPr/>
        </p:nvSpPr>
        <p:spPr>
          <a:xfrm>
            <a:off x="1554480" y="4937760"/>
            <a:ext cx="4023360" cy="292608"/>
          </a:xfrm>
          <a:prstGeom prst="rect">
            <a:avLst/>
          </a:prstGeom>
          <a:noFill/>
          <a:ln/>
        </p:spPr>
        <p:txBody>
          <a:bodyPr wrap="square" lIns="0" tIns="0" rIns="0" bIns="0" rtlCol="0" anchor="t"/>
          <a:lstStyle/>
          <a:p>
            <a:pPr indent="0" marL="0">
              <a:buNone/>
            </a:pPr>
            <a:r>
              <a:rPr lang="en-US" sz="1150" i="1" dirty="0">
                <a:solidFill>
                  <a:srgbClr val="9A8A72"/>
                </a:solidFill>
                <a:latin typeface="Helvetica Neue" pitchFamily="34" charset="0"/>
                <a:ea typeface="Helvetica Neue" pitchFamily="34" charset="-122"/>
                <a:cs typeface="Helvetica Neue" pitchFamily="34" charset="-120"/>
              </a:rPr>
              <a:t>Part II's failover, deliberately</a:t>
            </a:r>
            <a:endParaRPr lang="en-US" sz="1150" dirty="0"/>
          </a:p>
        </p:txBody>
      </p:sp>
      <p:sp>
        <p:nvSpPr>
          <p:cNvPr id="34" name="Text 31"/>
          <p:cNvSpPr/>
          <p:nvPr/>
        </p:nvSpPr>
        <p:spPr>
          <a:xfrm>
            <a:off x="5852160" y="4443984"/>
            <a:ext cx="5577840" cy="868680"/>
          </a:xfrm>
          <a:prstGeom prst="rect">
            <a:avLst/>
          </a:prstGeom>
          <a:noFill/>
          <a:ln/>
        </p:spPr>
        <p:txBody>
          <a:bodyPr wrap="square" lIns="0" tIns="0" rIns="0" bIns="0" rtlCol="0" anchor="ctr">
            <a:normAutofit/>
          </a:bodyPr>
          <a:lstStyle/>
          <a:p>
            <a:pPr indent="0" marL="0">
              <a:buNone/>
            </a:pPr>
            <a:r>
              <a:rPr lang="en-US" sz="1400" dirty="0">
                <a:solidFill>
                  <a:srgbClr val="6B5A44"/>
                </a:solidFill>
                <a:latin typeface="Helvetica Neue" pitchFamily="34" charset="0"/>
                <a:ea typeface="Helvetica Neue" pitchFamily="34" charset="-122"/>
                <a:cs typeface="Helvetica Neue" pitchFamily="34" charset="-120"/>
              </a:rPr>
              <a:t>one bounded write pause, on purpose</a:t>
            </a:r>
            <a:endParaRPr lang="en-US" sz="1400" dirty="0"/>
          </a:p>
        </p:txBody>
      </p:sp>
      <p:sp>
        <p:nvSpPr>
          <p:cNvPr id="35" name="Shape 32"/>
          <p:cNvSpPr/>
          <p:nvPr/>
        </p:nvSpPr>
        <p:spPr>
          <a:xfrm>
            <a:off x="548640" y="5532120"/>
            <a:ext cx="11064240" cy="777240"/>
          </a:xfrm>
          <a:prstGeom prst="roundRect">
            <a:avLst>
              <a:gd name="adj" fmla="val 9412"/>
            </a:avLst>
          </a:prstGeom>
          <a:solidFill>
            <a:srgbClr val="DFD6C0"/>
          </a:solidFill>
          <a:ln/>
        </p:spPr>
      </p:sp>
      <p:sp>
        <p:nvSpPr>
          <p:cNvPr id="36" name="Text 33"/>
          <p:cNvSpPr/>
          <p:nvPr/>
        </p:nvSpPr>
        <p:spPr>
          <a:xfrm>
            <a:off x="822960" y="5532120"/>
            <a:ext cx="10607040" cy="77724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From a peer, a transactor upgrade and a transactor outage are indistinguishable — the same mechanism handles both.</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SUMMARY</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40</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model the settings operate on</a:t>
            </a:r>
            <a:endParaRPr lang="en-US" sz="2500" dirty="0"/>
          </a:p>
        </p:txBody>
      </p:sp>
      <p:sp>
        <p:nvSpPr>
          <p:cNvPr id="8" name="Shape 5"/>
          <p:cNvSpPr/>
          <p:nvPr/>
        </p:nvSpPr>
        <p:spPr>
          <a:xfrm>
            <a:off x="548640" y="1463040"/>
            <a:ext cx="11064240" cy="914400"/>
          </a:xfrm>
          <a:prstGeom prst="roundRect">
            <a:avLst>
              <a:gd name="adj" fmla="val 8000"/>
            </a:avLst>
          </a:prstGeom>
          <a:solidFill>
            <a:srgbClr val="EBD5CB"/>
          </a:solidFill>
          <a:ln/>
        </p:spPr>
      </p:sp>
      <p:sp>
        <p:nvSpPr>
          <p:cNvPr id="9" name="Shape 6"/>
          <p:cNvSpPr/>
          <p:nvPr/>
        </p:nvSpPr>
        <p:spPr>
          <a:xfrm>
            <a:off x="548640" y="1463040"/>
            <a:ext cx="82296" cy="914400"/>
          </a:xfrm>
          <a:prstGeom prst="rect">
            <a:avLst/>
          </a:prstGeom>
          <a:solidFill>
            <a:srgbClr val="9E4227"/>
          </a:solidFill>
          <a:ln/>
        </p:spPr>
      </p:sp>
      <p:sp>
        <p:nvSpPr>
          <p:cNvPr id="10" name="Text 7"/>
          <p:cNvSpPr/>
          <p:nvPr/>
        </p:nvSpPr>
        <p:spPr>
          <a:xfrm>
            <a:off x="868680" y="1463040"/>
            <a:ext cx="2103120" cy="914400"/>
          </a:xfrm>
          <a:prstGeom prst="rect">
            <a:avLst/>
          </a:prstGeom>
          <a:noFill/>
          <a:ln/>
        </p:spPr>
        <p:txBody>
          <a:bodyPr wrap="square" lIns="0" tIns="0" rIns="0" bIns="0" rtlCol="0" anchor="ctr"/>
          <a:lstStyle/>
          <a:p>
            <a:pPr indent="0" marL="0">
              <a:buNone/>
            </a:pPr>
            <a:r>
              <a:rPr lang="en-US" sz="1600" b="1" spc="150" kern="0" dirty="0">
                <a:solidFill>
                  <a:srgbClr val="9E4227"/>
                </a:solidFill>
                <a:latin typeface="Helvetica Neue" pitchFamily="34" charset="0"/>
                <a:ea typeface="Helvetica Neue" pitchFamily="34" charset="-122"/>
                <a:cs typeface="Helvetica Neue" pitchFamily="34" charset="-120"/>
              </a:rPr>
              <a:t>FAILS</a:t>
            </a:r>
            <a:endParaRPr lang="en-US" sz="1600" dirty="0"/>
          </a:p>
        </p:txBody>
      </p:sp>
      <p:sp>
        <p:nvSpPr>
          <p:cNvPr id="11" name="Text 8"/>
          <p:cNvSpPr/>
          <p:nvPr/>
        </p:nvSpPr>
        <p:spPr>
          <a:xfrm>
            <a:off x="3108960" y="1463040"/>
            <a:ext cx="6675120" cy="914400"/>
          </a:xfrm>
          <a:prstGeom prst="rect">
            <a:avLst/>
          </a:prstGeom>
          <a:noFill/>
          <a:ln/>
        </p:spPr>
        <p:txBody>
          <a:bodyPr wrap="square" lIns="0" tIns="0" rIns="0" bIns="0" rtlCol="0" anchor="ctr">
            <a:normAutofit/>
          </a:bodyPr>
          <a:lstStyle/>
          <a:p>
            <a:pPr indent="0" marL="0">
              <a:buNone/>
            </a:pPr>
            <a:r>
              <a:rPr lang="en-US" sz="1500" dirty="0">
                <a:solidFill>
                  <a:srgbClr val="3A2C1A"/>
                </a:solidFill>
                <a:latin typeface="Helvetica Neue" pitchFamily="34" charset="0"/>
                <a:ea typeface="Helvetica Neue" pitchFamily="34" charset="-122"/>
                <a:cs typeface="Helvetica Neue" pitchFamily="34" charset="-120"/>
              </a:rPr>
              <a:t>storage totally  ·  transactor for writes  ·  peers locally</a:t>
            </a:r>
            <a:endParaRPr lang="en-US" sz="1500" dirty="0"/>
          </a:p>
        </p:txBody>
      </p:sp>
      <p:sp>
        <p:nvSpPr>
          <p:cNvPr id="12" name="Text 9"/>
          <p:cNvSpPr/>
          <p:nvPr/>
        </p:nvSpPr>
        <p:spPr>
          <a:xfrm>
            <a:off x="9875520" y="146304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Parts I–II</a:t>
            </a:r>
            <a:endParaRPr lang="en-US" sz="1150" dirty="0"/>
          </a:p>
        </p:txBody>
      </p:sp>
      <p:sp>
        <p:nvSpPr>
          <p:cNvPr id="13" name="Shape 10"/>
          <p:cNvSpPr/>
          <p:nvPr/>
        </p:nvSpPr>
        <p:spPr>
          <a:xfrm>
            <a:off x="548640" y="2514600"/>
            <a:ext cx="11064240" cy="914400"/>
          </a:xfrm>
          <a:prstGeom prst="roundRect">
            <a:avLst>
              <a:gd name="adj" fmla="val 8000"/>
            </a:avLst>
          </a:prstGeom>
          <a:solidFill>
            <a:srgbClr val="EDE0C4"/>
          </a:solidFill>
          <a:ln/>
        </p:spPr>
      </p:sp>
      <p:sp>
        <p:nvSpPr>
          <p:cNvPr id="14" name="Shape 11"/>
          <p:cNvSpPr/>
          <p:nvPr/>
        </p:nvSpPr>
        <p:spPr>
          <a:xfrm>
            <a:off x="548640" y="2514600"/>
            <a:ext cx="82296" cy="914400"/>
          </a:xfrm>
          <a:prstGeom prst="rect">
            <a:avLst/>
          </a:prstGeom>
          <a:solidFill>
            <a:srgbClr val="B5822B"/>
          </a:solidFill>
          <a:ln/>
        </p:spPr>
      </p:sp>
      <p:sp>
        <p:nvSpPr>
          <p:cNvPr id="15" name="Text 12"/>
          <p:cNvSpPr/>
          <p:nvPr/>
        </p:nvSpPr>
        <p:spPr>
          <a:xfrm>
            <a:off x="868680" y="2514600"/>
            <a:ext cx="2103120" cy="914400"/>
          </a:xfrm>
          <a:prstGeom prst="rect">
            <a:avLst/>
          </a:prstGeom>
          <a:noFill/>
          <a:ln/>
        </p:spPr>
        <p:txBody>
          <a:bodyPr wrap="square" lIns="0" tIns="0" rIns="0" bIns="0" rtlCol="0" anchor="ctr"/>
          <a:lstStyle/>
          <a:p>
            <a:pPr indent="0" marL="0">
              <a:buNone/>
            </a:pPr>
            <a:r>
              <a:rPr lang="en-US" sz="1600" b="1" spc="150" kern="0" dirty="0">
                <a:solidFill>
                  <a:srgbClr val="B5822B"/>
                </a:solidFill>
                <a:latin typeface="Helvetica Neue" pitchFamily="34" charset="0"/>
                <a:ea typeface="Helvetica Neue" pitchFamily="34" charset="-122"/>
                <a:cs typeface="Helvetica Neue" pitchFamily="34" charset="-120"/>
              </a:rPr>
              <a:t>WAITS</a:t>
            </a:r>
            <a:endParaRPr lang="en-US" sz="1600" dirty="0"/>
          </a:p>
        </p:txBody>
      </p:sp>
      <p:sp>
        <p:nvSpPr>
          <p:cNvPr id="16" name="Text 13"/>
          <p:cNvSpPr/>
          <p:nvPr/>
        </p:nvSpPr>
        <p:spPr>
          <a:xfrm>
            <a:off x="3108960" y="2514600"/>
            <a:ext cx="6675120" cy="914400"/>
          </a:xfrm>
          <a:prstGeom prst="rect">
            <a:avLst/>
          </a:prstGeom>
          <a:noFill/>
          <a:ln/>
        </p:spPr>
        <p:txBody>
          <a:bodyPr wrap="square" lIns="0" tIns="0" rIns="0" bIns="0" rtlCol="0" anchor="ctr">
            <a:normAutofit/>
          </a:bodyPr>
          <a:lstStyle/>
          <a:p>
            <a:pPr indent="0" marL="0">
              <a:buNone/>
            </a:pPr>
            <a:r>
              <a:rPr lang="en-US" sz="1500" dirty="0">
                <a:solidFill>
                  <a:srgbClr val="3A2C1A"/>
                </a:solidFill>
                <a:latin typeface="Helvetica Neue" pitchFamily="34" charset="0"/>
                <a:ea typeface="Helvetica Neue" pitchFamily="34" charset="-122"/>
                <a:cs typeface="Helvetica Neue" pitchFamily="34" charset="-120"/>
              </a:rPr>
              <a:t>writers — during failover, and during throttling</a:t>
            </a:r>
            <a:endParaRPr lang="en-US" sz="1500" dirty="0"/>
          </a:p>
        </p:txBody>
      </p:sp>
      <p:sp>
        <p:nvSpPr>
          <p:cNvPr id="17" name="Text 14"/>
          <p:cNvSpPr/>
          <p:nvPr/>
        </p:nvSpPr>
        <p:spPr>
          <a:xfrm>
            <a:off x="9875520" y="251460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Parts II &amp; V</a:t>
            </a:r>
            <a:endParaRPr lang="en-US" sz="1150" dirty="0"/>
          </a:p>
        </p:txBody>
      </p:sp>
      <p:sp>
        <p:nvSpPr>
          <p:cNvPr id="18" name="Shape 15"/>
          <p:cNvSpPr/>
          <p:nvPr/>
        </p:nvSpPr>
        <p:spPr>
          <a:xfrm>
            <a:off x="548640" y="3566160"/>
            <a:ext cx="11064240" cy="914400"/>
          </a:xfrm>
          <a:prstGeom prst="roundRect">
            <a:avLst>
              <a:gd name="adj" fmla="val 8000"/>
            </a:avLst>
          </a:prstGeom>
          <a:solidFill>
            <a:srgbClr val="DDE3CC"/>
          </a:solidFill>
          <a:ln/>
        </p:spPr>
      </p:sp>
      <p:sp>
        <p:nvSpPr>
          <p:cNvPr id="19" name="Shape 16"/>
          <p:cNvSpPr/>
          <p:nvPr/>
        </p:nvSpPr>
        <p:spPr>
          <a:xfrm>
            <a:off x="548640" y="3566160"/>
            <a:ext cx="82296" cy="914400"/>
          </a:xfrm>
          <a:prstGeom prst="rect">
            <a:avLst/>
          </a:prstGeom>
          <a:solidFill>
            <a:srgbClr val="5F7A3A"/>
          </a:solidFill>
          <a:ln/>
        </p:spPr>
      </p:sp>
      <p:sp>
        <p:nvSpPr>
          <p:cNvPr id="20" name="Text 17"/>
          <p:cNvSpPr/>
          <p:nvPr/>
        </p:nvSpPr>
        <p:spPr>
          <a:xfrm>
            <a:off x="868680" y="3566160"/>
            <a:ext cx="2103120" cy="914400"/>
          </a:xfrm>
          <a:prstGeom prst="rect">
            <a:avLst/>
          </a:prstGeom>
          <a:noFill/>
          <a:ln/>
        </p:spPr>
        <p:txBody>
          <a:bodyPr wrap="square" lIns="0" tIns="0" rIns="0" bIns="0" rtlCol="0" anchor="ctr"/>
          <a:lstStyle/>
          <a:p>
            <a:pPr indent="0" marL="0">
              <a:buNone/>
            </a:pPr>
            <a:r>
              <a:rPr lang="en-US" sz="1600" b="1" spc="150" kern="0" dirty="0">
                <a:solidFill>
                  <a:srgbClr val="5F7A3A"/>
                </a:solidFill>
                <a:latin typeface="Helvetica Neue" pitchFamily="34" charset="0"/>
                <a:ea typeface="Helvetica Neue" pitchFamily="34" charset="-122"/>
                <a:cs typeface="Helvetica Neue" pitchFamily="34" charset="-120"/>
              </a:rPr>
              <a:t>SCALES</a:t>
            </a:r>
            <a:endParaRPr lang="en-US" sz="1600" dirty="0"/>
          </a:p>
        </p:txBody>
      </p:sp>
      <p:sp>
        <p:nvSpPr>
          <p:cNvPr id="21" name="Text 18"/>
          <p:cNvSpPr/>
          <p:nvPr/>
        </p:nvSpPr>
        <p:spPr>
          <a:xfrm>
            <a:off x="3108960" y="3566160"/>
            <a:ext cx="6675120" cy="914400"/>
          </a:xfrm>
          <a:prstGeom prst="rect">
            <a:avLst/>
          </a:prstGeom>
          <a:noFill/>
          <a:ln/>
        </p:spPr>
        <p:txBody>
          <a:bodyPr wrap="square" lIns="0" tIns="0" rIns="0" bIns="0" rtlCol="0" anchor="ctr">
            <a:normAutofit/>
          </a:bodyPr>
          <a:lstStyle/>
          <a:p>
            <a:pPr indent="0" marL="0">
              <a:buNone/>
            </a:pPr>
            <a:r>
              <a:rPr lang="en-US" sz="1500" dirty="0">
                <a:solidFill>
                  <a:srgbClr val="3A2C1A"/>
                </a:solidFill>
                <a:latin typeface="Helvetica Neue" pitchFamily="34" charset="0"/>
                <a:ea typeface="Helvetica Neue" pitchFamily="34" charset="-122"/>
                <a:cs typeface="Helvetica Neue" pitchFamily="34" charset="-120"/>
              </a:rPr>
              <a:t>reads: peers × cores  ·  writes: by pipelining</a:t>
            </a:r>
            <a:endParaRPr lang="en-US" sz="1500" dirty="0"/>
          </a:p>
        </p:txBody>
      </p:sp>
      <p:sp>
        <p:nvSpPr>
          <p:cNvPr id="22" name="Text 19"/>
          <p:cNvSpPr/>
          <p:nvPr/>
        </p:nvSpPr>
        <p:spPr>
          <a:xfrm>
            <a:off x="9875520" y="356616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 IV</a:t>
            </a:r>
            <a:endParaRPr lang="en-US" sz="1150" dirty="0"/>
          </a:p>
        </p:txBody>
      </p:sp>
      <p:sp>
        <p:nvSpPr>
          <p:cNvPr id="23" name="Shape 20"/>
          <p:cNvSpPr/>
          <p:nvPr/>
        </p:nvSpPr>
        <p:spPr>
          <a:xfrm>
            <a:off x="548640" y="4617720"/>
            <a:ext cx="11064240" cy="914400"/>
          </a:xfrm>
          <a:prstGeom prst="roundRect">
            <a:avLst>
              <a:gd name="adj" fmla="val 8000"/>
            </a:avLst>
          </a:prstGeom>
          <a:solidFill>
            <a:srgbClr val="D3DEE1"/>
          </a:solidFill>
          <a:ln/>
        </p:spPr>
      </p:sp>
      <p:sp>
        <p:nvSpPr>
          <p:cNvPr id="24" name="Shape 21"/>
          <p:cNvSpPr/>
          <p:nvPr/>
        </p:nvSpPr>
        <p:spPr>
          <a:xfrm>
            <a:off x="548640" y="4617720"/>
            <a:ext cx="82296" cy="914400"/>
          </a:xfrm>
          <a:prstGeom prst="rect">
            <a:avLst/>
          </a:prstGeom>
          <a:solidFill>
            <a:srgbClr val="3F6470"/>
          </a:solidFill>
          <a:ln/>
        </p:spPr>
      </p:sp>
      <p:sp>
        <p:nvSpPr>
          <p:cNvPr id="25" name="Text 22"/>
          <p:cNvSpPr/>
          <p:nvPr/>
        </p:nvSpPr>
        <p:spPr>
          <a:xfrm>
            <a:off x="868680" y="4617720"/>
            <a:ext cx="2103120" cy="914400"/>
          </a:xfrm>
          <a:prstGeom prst="rect">
            <a:avLst/>
          </a:prstGeom>
          <a:noFill/>
          <a:ln/>
        </p:spPr>
        <p:txBody>
          <a:bodyPr wrap="square" lIns="0" tIns="0" rIns="0" bIns="0" rtlCol="0" anchor="ctr"/>
          <a:lstStyle/>
          <a:p>
            <a:pPr indent="0" marL="0">
              <a:buNone/>
            </a:pPr>
            <a:r>
              <a:rPr lang="en-US" sz="1600" b="1" spc="150" kern="0" dirty="0">
                <a:solidFill>
                  <a:srgbClr val="3F6470"/>
                </a:solidFill>
                <a:latin typeface="Helvetica Neue" pitchFamily="34" charset="0"/>
                <a:ea typeface="Helvetica Neue" pitchFamily="34" charset="-122"/>
                <a:cs typeface="Helvetica Neue" pitchFamily="34" charset="-120"/>
              </a:rPr>
              <a:t>COSTS</a:t>
            </a:r>
            <a:endParaRPr lang="en-US" sz="1600" dirty="0"/>
          </a:p>
        </p:txBody>
      </p:sp>
      <p:sp>
        <p:nvSpPr>
          <p:cNvPr id="26" name="Text 23"/>
          <p:cNvSpPr/>
          <p:nvPr/>
        </p:nvSpPr>
        <p:spPr>
          <a:xfrm>
            <a:off x="3108960" y="4617720"/>
            <a:ext cx="6675120" cy="914400"/>
          </a:xfrm>
          <a:prstGeom prst="rect">
            <a:avLst/>
          </a:prstGeom>
          <a:noFill/>
          <a:ln/>
        </p:spPr>
        <p:txBody>
          <a:bodyPr wrap="square" lIns="0" tIns="0" rIns="0" bIns="0" rtlCol="0" anchor="ctr">
            <a:normAutofit/>
          </a:bodyPr>
          <a:lstStyle/>
          <a:p>
            <a:pPr indent="0" marL="0">
              <a:buNone/>
            </a:pPr>
            <a:r>
              <a:rPr lang="en-US" sz="1500" dirty="0">
                <a:solidFill>
                  <a:srgbClr val="3A2C1A"/>
                </a:solidFill>
                <a:latin typeface="Helvetica Neue" pitchFamily="34" charset="0"/>
                <a:ea typeface="Helvetica Neue" pitchFamily="34" charset="-122"/>
                <a:cs typeface="Helvetica Neue" pitchFamily="34" charset="-120"/>
              </a:rPr>
              <a:t>storage, whenever a cache is cold</a:t>
            </a:r>
            <a:endParaRPr lang="en-US" sz="1500" dirty="0"/>
          </a:p>
        </p:txBody>
      </p:sp>
      <p:sp>
        <p:nvSpPr>
          <p:cNvPr id="27" name="Text 24"/>
          <p:cNvSpPr/>
          <p:nvPr/>
        </p:nvSpPr>
        <p:spPr>
          <a:xfrm>
            <a:off x="9875520" y="461772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Parts III &amp; VI</a:t>
            </a:r>
            <a:endParaRPr lang="en-US" sz="1150" dirty="0"/>
          </a:p>
        </p:txBody>
      </p:sp>
      <p:sp>
        <p:nvSpPr>
          <p:cNvPr id="28" name="Shape 25"/>
          <p:cNvSpPr/>
          <p:nvPr/>
        </p:nvSpPr>
        <p:spPr>
          <a:xfrm>
            <a:off x="548640" y="5806440"/>
            <a:ext cx="54864" cy="457200"/>
          </a:xfrm>
          <a:prstGeom prst="rect">
            <a:avLst/>
          </a:prstGeom>
          <a:solidFill>
            <a:srgbClr val="A8864A"/>
          </a:solidFill>
          <a:ln/>
        </p:spPr>
      </p:sp>
      <p:sp>
        <p:nvSpPr>
          <p:cNvPr id="29" name="Text 26"/>
          <p:cNvSpPr/>
          <p:nvPr/>
        </p:nvSpPr>
        <p:spPr>
          <a:xfrm>
            <a:off x="777240" y="58064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The Part V settings are lookups. This table is the model they operate on.</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Text 1"/>
          <p:cNvSpPr/>
          <p:nvPr/>
        </p:nvSpPr>
        <p:spPr>
          <a:xfrm>
            <a:off x="731520" y="548640"/>
            <a:ext cx="10515600" cy="320040"/>
          </a:xfrm>
          <a:prstGeom prst="rect">
            <a:avLst/>
          </a:prstGeom>
          <a:noFill/>
          <a:ln/>
        </p:spPr>
        <p:txBody>
          <a:bodyPr wrap="square" lIns="0" tIns="0" rIns="0" bIns="0" rtlCol="0" anchor="t"/>
          <a:lstStyle/>
          <a:p>
            <a:pPr indent="0" marL="0">
              <a:buNone/>
            </a:pPr>
            <a:r>
              <a:rPr lang="en-US" sz="1200" spc="300" kern="0" dirty="0">
                <a:solidFill>
                  <a:srgbClr val="C6A46A"/>
                </a:solidFill>
                <a:latin typeface="Helvetica Neue" pitchFamily="34" charset="0"/>
                <a:ea typeface="Helvetica Neue" pitchFamily="34" charset="-122"/>
                <a:cs typeface="Helvetica Neue" pitchFamily="34" charset="-120"/>
              </a:rPr>
              <a:t>AFTER THE BREAK  ·  ~45 MINUTES</a:t>
            </a:r>
            <a:endParaRPr lang="en-US" sz="1200" dirty="0"/>
          </a:p>
        </p:txBody>
      </p:sp>
      <p:sp>
        <p:nvSpPr>
          <p:cNvPr id="4" name="Text 2"/>
          <p:cNvSpPr/>
          <p:nvPr/>
        </p:nvSpPr>
        <p:spPr>
          <a:xfrm>
            <a:off x="731520" y="914400"/>
            <a:ext cx="10515600" cy="777240"/>
          </a:xfrm>
          <a:prstGeom prst="rect">
            <a:avLst/>
          </a:prstGeom>
          <a:noFill/>
          <a:ln/>
        </p:spPr>
        <p:txBody>
          <a:bodyPr wrap="square" lIns="0" tIns="0" rIns="0" bIns="0" rtlCol="0" anchor="t"/>
          <a:lstStyle/>
          <a:p>
            <a:pPr indent="0" marL="0">
              <a:buNone/>
            </a:pPr>
            <a:r>
              <a:rPr lang="en-US" sz="3600" dirty="0">
                <a:solidFill>
                  <a:srgbClr val="FCFAF4"/>
                </a:solidFill>
                <a:latin typeface="Georgia" pitchFamily="34" charset="0"/>
                <a:ea typeface="Georgia" pitchFamily="34" charset="-122"/>
                <a:cs typeface="Georgia" pitchFamily="34" charset="-120"/>
              </a:rPr>
              <a:t>→ The Incident</a:t>
            </a:r>
            <a:endParaRPr lang="en-US" sz="3600" dirty="0"/>
          </a:p>
        </p:txBody>
      </p:sp>
      <p:sp>
        <p:nvSpPr>
          <p:cNvPr id="5" name="Text 3"/>
          <p:cNvSpPr/>
          <p:nvPr/>
        </p:nvSpPr>
        <p:spPr>
          <a:xfrm>
            <a:off x="731520" y="173736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The readings service was healthy at 08:00 and unusable at 09:10.</a:t>
            </a:r>
            <a:endParaRPr lang="en-US" sz="1600" dirty="0"/>
          </a:p>
          <a:p>
            <a:pPr indent="0" marL="0">
              <a:buNone/>
            </a:pPr>
            <a:r>
              <a:rPr lang="en-US" sz="1600" dirty="0">
                <a:solidFill>
                  <a:srgbClr val="C9BDA4"/>
                </a:solidFill>
                <a:latin typeface="Helvetica Neue" pitchFamily="34" charset="0"/>
                <a:ea typeface="Helvetica Neue" pitchFamily="34" charset="-122"/>
                <a:cs typeface="Helvetica Neue" pitchFamily="34" charset="-120"/>
              </a:rPr>
              <a:t>The database and the REPL are the available evidence.</a:t>
            </a:r>
            <a:endParaRPr lang="en-US" sz="1600" dirty="0"/>
          </a:p>
        </p:txBody>
      </p:sp>
      <p:sp>
        <p:nvSpPr>
          <p:cNvPr id="6" name="Shape 4"/>
          <p:cNvSpPr/>
          <p:nvPr/>
        </p:nvSpPr>
        <p:spPr>
          <a:xfrm>
            <a:off x="731520" y="2606040"/>
            <a:ext cx="5120640" cy="1051560"/>
          </a:xfrm>
          <a:prstGeom prst="roundRect">
            <a:avLst>
              <a:gd name="adj" fmla="val 6957"/>
            </a:avLst>
          </a:prstGeom>
          <a:solidFill>
            <a:srgbClr val="3B3220"/>
          </a:solidFill>
          <a:ln/>
        </p:spPr>
      </p:sp>
      <p:sp>
        <p:nvSpPr>
          <p:cNvPr id="7" name="Text 5"/>
          <p:cNvSpPr/>
          <p:nvPr/>
        </p:nvSpPr>
        <p:spPr>
          <a:xfrm>
            <a:off x="914400" y="2697480"/>
            <a:ext cx="4754880" cy="868680"/>
          </a:xfrm>
          <a:prstGeom prst="rect">
            <a:avLst/>
          </a:prstGeom>
          <a:noFill/>
          <a:ln/>
        </p:spPr>
        <p:txBody>
          <a:bodyPr wrap="square" lIns="0" tIns="0" rIns="0" bIns="0" rtlCol="0" anchor="t"/>
          <a:lstStyle/>
          <a:p>
            <a:pPr indent="0" marL="0">
              <a:buNone/>
            </a:pPr>
            <a:r>
              <a:rPr lang="en-US" sz="1250" dirty="0">
                <a:solidFill>
                  <a:srgbClr val="C6A46A"/>
                </a:solidFill>
                <a:latin typeface="Courier New" pitchFamily="34" charset="0"/>
                <a:ea typeface="Courier New" pitchFamily="34" charset="-122"/>
                <a:cs typeface="Courier New" pitchFamily="34" charset="-120"/>
              </a:rPr>
              <a:t>clj -M:repl</a:t>
            </a:r>
            <a:endParaRPr lang="en-US" sz="1250" dirty="0"/>
          </a:p>
          <a:p>
            <a:pPr indent="0" marL="0">
              <a:buNone/>
            </a:pPr>
            <a:r>
              <a:rPr lang="en-US" sz="1250" dirty="0">
                <a:solidFill>
                  <a:srgbClr val="C6A46A"/>
                </a:solidFill>
                <a:latin typeface="Courier New" pitchFamily="34" charset="0"/>
                <a:ea typeface="Courier New" pitchFamily="34" charset="-122"/>
                <a:cs typeface="Courier New" pitchFamily="34" charset="-120"/>
              </a:rPr>
              <a:t>(require 'datomic-ops.exercises)</a:t>
            </a:r>
            <a:endParaRPr lang="en-US" sz="1250" dirty="0"/>
          </a:p>
          <a:p>
            <a:pPr indent="0" marL="0">
              <a:buNone/>
            </a:pPr>
            <a:r>
              <a:rPr lang="en-US" sz="1250" dirty="0">
                <a:solidFill>
                  <a:srgbClr val="C6A46A"/>
                </a:solidFill>
                <a:latin typeface="Courier New" pitchFamily="34" charset="0"/>
                <a:ea typeface="Courier New" pitchFamily="34" charset="-122"/>
                <a:cs typeface="Courier New" pitchFamily="34" charset="-120"/>
              </a:rPr>
              <a:t>(datomic-ops.exercises/start!)</a:t>
            </a:r>
            <a:endParaRPr lang="en-US" sz="1250" dirty="0"/>
          </a:p>
        </p:txBody>
      </p:sp>
      <p:sp>
        <p:nvSpPr>
          <p:cNvPr id="8" name="Text 6"/>
          <p:cNvSpPr/>
          <p:nvPr/>
        </p:nvSpPr>
        <p:spPr>
          <a:xfrm>
            <a:off x="6035040" y="2971800"/>
            <a:ext cx="5394960" cy="365760"/>
          </a:xfrm>
          <a:prstGeom prst="rect">
            <a:avLst/>
          </a:prstGeom>
          <a:noFill/>
          <a:ln/>
        </p:spPr>
        <p:txBody>
          <a:bodyPr wrap="square" lIns="0" tIns="0" rIns="0" bIns="0" rtlCol="0" anchor="t"/>
          <a:lstStyle/>
          <a:p>
            <a:pPr indent="0" marL="0">
              <a:buNone/>
            </a:pPr>
            <a:r>
              <a:rPr lang="en-US" sz="1250" dirty="0">
                <a:solidFill>
                  <a:srgbClr val="C9BDA4"/>
                </a:solidFill>
                <a:latin typeface="Courier New" pitchFamily="34" charset="0"/>
                <a:ea typeface="Courier New" pitchFamily="34" charset="-122"/>
                <a:cs typeface="Courier New" pitchFamily="34" charset="-120"/>
              </a:rPr>
              <a:t>;; =&gt; [:incident :ready :basis-t 61013]</a:t>
            </a:r>
            <a:endParaRPr lang="en-US" sz="1250" dirty="0"/>
          </a:p>
        </p:txBody>
      </p:sp>
      <p:sp>
        <p:nvSpPr>
          <p:cNvPr id="9" name="Shape 7"/>
          <p:cNvSpPr/>
          <p:nvPr/>
        </p:nvSpPr>
        <p:spPr>
          <a:xfrm>
            <a:off x="731520" y="3886200"/>
            <a:ext cx="2560320" cy="1691640"/>
          </a:xfrm>
          <a:prstGeom prst="roundRect">
            <a:avLst>
              <a:gd name="adj" fmla="val 4324"/>
            </a:avLst>
          </a:prstGeom>
          <a:solidFill>
            <a:srgbClr val="3B3220"/>
          </a:solidFill>
          <a:ln/>
        </p:spPr>
      </p:sp>
      <p:sp>
        <p:nvSpPr>
          <p:cNvPr id="10" name="Shape 8"/>
          <p:cNvSpPr/>
          <p:nvPr/>
        </p:nvSpPr>
        <p:spPr>
          <a:xfrm>
            <a:off x="731520" y="3886200"/>
            <a:ext cx="2560320" cy="91440"/>
          </a:xfrm>
          <a:prstGeom prst="rect">
            <a:avLst/>
          </a:prstGeom>
          <a:solidFill>
            <a:srgbClr val="A8864A"/>
          </a:solidFill>
          <a:ln/>
        </p:spPr>
      </p:sp>
      <p:sp>
        <p:nvSpPr>
          <p:cNvPr id="11" name="Text 9"/>
          <p:cNvSpPr/>
          <p:nvPr/>
        </p:nvSpPr>
        <p:spPr>
          <a:xfrm>
            <a:off x="932688" y="4069080"/>
            <a:ext cx="2194560" cy="365760"/>
          </a:xfrm>
          <a:prstGeom prst="rect">
            <a:avLst/>
          </a:prstGeom>
          <a:noFill/>
          <a:ln/>
        </p:spPr>
        <p:txBody>
          <a:bodyPr wrap="square" lIns="0" tIns="0" rIns="0" bIns="0" rtlCol="0" anchor="t"/>
          <a:lstStyle/>
          <a:p>
            <a:pPr indent="0" marL="0">
              <a:buNone/>
            </a:pPr>
            <a:r>
              <a:rPr lang="en-US" sz="2000" dirty="0">
                <a:solidFill>
                  <a:srgbClr val="C6A46A"/>
                </a:solidFill>
                <a:latin typeface="Georgia" pitchFamily="34" charset="0"/>
                <a:ea typeface="Georgia" pitchFamily="34" charset="-122"/>
                <a:cs typeface="Georgia" pitchFamily="34" charset="-120"/>
              </a:rPr>
              <a:t>E1</a:t>
            </a:r>
            <a:endParaRPr lang="en-US" sz="2000" dirty="0"/>
          </a:p>
        </p:txBody>
      </p:sp>
      <p:sp>
        <p:nvSpPr>
          <p:cNvPr id="12" name="Text 10"/>
          <p:cNvSpPr/>
          <p:nvPr/>
        </p:nvSpPr>
        <p:spPr>
          <a:xfrm>
            <a:off x="932688" y="4069080"/>
            <a:ext cx="2194560" cy="365760"/>
          </a:xfrm>
          <a:prstGeom prst="rect">
            <a:avLst/>
          </a:prstGeom>
          <a:noFill/>
          <a:ln/>
        </p:spPr>
        <p:txBody>
          <a:bodyPr wrap="square" lIns="0" tIns="0" rIns="0" bIns="0" rtlCol="0" anchor="t"/>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~8 min</a:t>
            </a:r>
            <a:endParaRPr lang="en-US" sz="1150" dirty="0"/>
          </a:p>
        </p:txBody>
      </p:sp>
      <p:sp>
        <p:nvSpPr>
          <p:cNvPr id="13" name="Text 11"/>
          <p:cNvSpPr/>
          <p:nvPr/>
        </p:nvSpPr>
        <p:spPr>
          <a:xfrm>
            <a:off x="932688" y="4526280"/>
            <a:ext cx="2194560" cy="411480"/>
          </a:xfrm>
          <a:prstGeom prst="rect">
            <a:avLst/>
          </a:prstGeom>
          <a:noFill/>
          <a:ln/>
        </p:spPr>
        <p:txBody>
          <a:bodyPr wrap="square" lIns="0" tIns="0" rIns="0" bIns="0" rtlCol="0" anchor="t">
            <a:normAutofit/>
          </a:bodyPr>
          <a:lstStyle/>
          <a:p>
            <a:pPr indent="0" marL="0">
              <a:buNone/>
            </a:pPr>
            <a:r>
              <a:rPr lang="en-US" sz="1400" b="1" dirty="0">
                <a:solidFill>
                  <a:srgbClr val="FCFAF4"/>
                </a:solidFill>
                <a:latin typeface="Helvetica Neue" pitchFamily="34" charset="0"/>
                <a:ea typeface="Helvetica Neue" pitchFamily="34" charset="-122"/>
                <a:cs typeface="Helvetica Neue" pitchFamily="34" charset="-120"/>
              </a:rPr>
              <a:t>Read the evidence</a:t>
            </a:r>
            <a:endParaRPr lang="en-US" sz="1400" dirty="0"/>
          </a:p>
        </p:txBody>
      </p:sp>
      <p:sp>
        <p:nvSpPr>
          <p:cNvPr id="14" name="Text 12"/>
          <p:cNvSpPr/>
          <p:nvPr/>
        </p:nvSpPr>
        <p:spPr>
          <a:xfrm>
            <a:off x="932688" y="4956048"/>
            <a:ext cx="2194560" cy="548640"/>
          </a:xfrm>
          <a:prstGeom prst="rect">
            <a:avLst/>
          </a:prstGeom>
          <a:noFill/>
          <a:ln/>
        </p:spPr>
        <p:txBody>
          <a:bodyPr wrap="square" lIns="0" tIns="0" rIns="0" bIns="0" rtlCol="0" anchor="t"/>
          <a:lstStyle/>
          <a:p>
            <a:pPr indent="0" marL="0">
              <a:buNone/>
            </a:pPr>
            <a:r>
              <a:rPr lang="en-US" sz="1150" dirty="0">
                <a:solidFill>
                  <a:srgbClr val="C9BDA4"/>
                </a:solidFill>
                <a:latin typeface="Helvetica Neue" pitchFamily="34" charset="0"/>
                <a:ea typeface="Helvetica Neue" pitchFamily="34" charset="-122"/>
                <a:cs typeface="Helvetica Neue" pitchFamily="34" charset="-120"/>
              </a:rPr>
              <a:t>the log as an audit trail</a:t>
            </a:r>
            <a:endParaRPr lang="en-US" sz="1150" dirty="0"/>
          </a:p>
        </p:txBody>
      </p:sp>
      <p:sp>
        <p:nvSpPr>
          <p:cNvPr id="15" name="Shape 13"/>
          <p:cNvSpPr/>
          <p:nvPr/>
        </p:nvSpPr>
        <p:spPr>
          <a:xfrm>
            <a:off x="3474720" y="3886200"/>
            <a:ext cx="2560320" cy="1691640"/>
          </a:xfrm>
          <a:prstGeom prst="roundRect">
            <a:avLst>
              <a:gd name="adj" fmla="val 4324"/>
            </a:avLst>
          </a:prstGeom>
          <a:solidFill>
            <a:srgbClr val="3B3220"/>
          </a:solidFill>
          <a:ln/>
        </p:spPr>
      </p:sp>
      <p:sp>
        <p:nvSpPr>
          <p:cNvPr id="16" name="Shape 14"/>
          <p:cNvSpPr/>
          <p:nvPr/>
        </p:nvSpPr>
        <p:spPr>
          <a:xfrm>
            <a:off x="3474720" y="3886200"/>
            <a:ext cx="2560320" cy="91440"/>
          </a:xfrm>
          <a:prstGeom prst="rect">
            <a:avLst/>
          </a:prstGeom>
          <a:solidFill>
            <a:srgbClr val="A8864A"/>
          </a:solidFill>
          <a:ln/>
        </p:spPr>
      </p:sp>
      <p:sp>
        <p:nvSpPr>
          <p:cNvPr id="17" name="Text 15"/>
          <p:cNvSpPr/>
          <p:nvPr/>
        </p:nvSpPr>
        <p:spPr>
          <a:xfrm>
            <a:off x="3675888" y="4069080"/>
            <a:ext cx="2194560" cy="365760"/>
          </a:xfrm>
          <a:prstGeom prst="rect">
            <a:avLst/>
          </a:prstGeom>
          <a:noFill/>
          <a:ln/>
        </p:spPr>
        <p:txBody>
          <a:bodyPr wrap="square" lIns="0" tIns="0" rIns="0" bIns="0" rtlCol="0" anchor="t"/>
          <a:lstStyle/>
          <a:p>
            <a:pPr indent="0" marL="0">
              <a:buNone/>
            </a:pPr>
            <a:r>
              <a:rPr lang="en-US" sz="2000" dirty="0">
                <a:solidFill>
                  <a:srgbClr val="C6A46A"/>
                </a:solidFill>
                <a:latin typeface="Georgia" pitchFamily="34" charset="0"/>
                <a:ea typeface="Georgia" pitchFamily="34" charset="-122"/>
                <a:cs typeface="Georgia" pitchFamily="34" charset="-120"/>
              </a:rPr>
              <a:t>E2</a:t>
            </a:r>
            <a:endParaRPr lang="en-US" sz="2000" dirty="0"/>
          </a:p>
        </p:txBody>
      </p:sp>
      <p:sp>
        <p:nvSpPr>
          <p:cNvPr id="18" name="Text 16"/>
          <p:cNvSpPr/>
          <p:nvPr/>
        </p:nvSpPr>
        <p:spPr>
          <a:xfrm>
            <a:off x="3675888" y="4069080"/>
            <a:ext cx="2194560" cy="365760"/>
          </a:xfrm>
          <a:prstGeom prst="rect">
            <a:avLst/>
          </a:prstGeom>
          <a:noFill/>
          <a:ln/>
        </p:spPr>
        <p:txBody>
          <a:bodyPr wrap="square" lIns="0" tIns="0" rIns="0" bIns="0" rtlCol="0" anchor="t"/>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~10 min</a:t>
            </a:r>
            <a:endParaRPr lang="en-US" sz="1150" dirty="0"/>
          </a:p>
        </p:txBody>
      </p:sp>
      <p:sp>
        <p:nvSpPr>
          <p:cNvPr id="19" name="Text 17"/>
          <p:cNvSpPr/>
          <p:nvPr/>
        </p:nvSpPr>
        <p:spPr>
          <a:xfrm>
            <a:off x="3675888" y="4526280"/>
            <a:ext cx="2194560" cy="411480"/>
          </a:xfrm>
          <a:prstGeom prst="rect">
            <a:avLst/>
          </a:prstGeom>
          <a:noFill/>
          <a:ln/>
        </p:spPr>
        <p:txBody>
          <a:bodyPr wrap="square" lIns="0" tIns="0" rIns="0" bIns="0" rtlCol="0" anchor="t">
            <a:normAutofit/>
          </a:bodyPr>
          <a:lstStyle/>
          <a:p>
            <a:pPr indent="0" marL="0">
              <a:buNone/>
            </a:pPr>
            <a:r>
              <a:rPr lang="en-US" sz="1400" b="1" dirty="0">
                <a:solidFill>
                  <a:srgbClr val="FCFAF4"/>
                </a:solidFill>
                <a:latin typeface="Helvetica Neue" pitchFamily="34" charset="0"/>
                <a:ea typeface="Helvetica Neue" pitchFamily="34" charset="-122"/>
                <a:cs typeface="Helvetica Neue" pitchFamily="34" charset="-120"/>
              </a:rPr>
              <a:t>Fix the writer</a:t>
            </a:r>
            <a:endParaRPr lang="en-US" sz="1400" dirty="0"/>
          </a:p>
        </p:txBody>
      </p:sp>
      <p:sp>
        <p:nvSpPr>
          <p:cNvPr id="20" name="Text 18"/>
          <p:cNvSpPr/>
          <p:nvPr/>
        </p:nvSpPr>
        <p:spPr>
          <a:xfrm>
            <a:off x="3675888" y="4956048"/>
            <a:ext cx="2194560" cy="548640"/>
          </a:xfrm>
          <a:prstGeom prst="rect">
            <a:avLst/>
          </a:prstGeom>
          <a:noFill/>
          <a:ln/>
        </p:spPr>
        <p:txBody>
          <a:bodyPr wrap="square" lIns="0" tIns="0" rIns="0" bIns="0" rtlCol="0" anchor="t"/>
          <a:lstStyle/>
          <a:p>
            <a:pPr indent="0" marL="0">
              <a:buNone/>
            </a:pPr>
            <a:r>
              <a:rPr lang="en-US" sz="1150" dirty="0">
                <a:solidFill>
                  <a:srgbClr val="C9BDA4"/>
                </a:solidFill>
                <a:latin typeface="Helvetica Neue" pitchFamily="34" charset="0"/>
                <a:ea typeface="Helvetica Neue" pitchFamily="34" charset="-122"/>
                <a:cs typeface="Helvetica Neue" pitchFamily="34" charset="-120"/>
              </a:rPr>
              <a:t>transaction shape</a:t>
            </a:r>
            <a:endParaRPr lang="en-US" sz="1150" dirty="0"/>
          </a:p>
        </p:txBody>
      </p:sp>
      <p:sp>
        <p:nvSpPr>
          <p:cNvPr id="21" name="Shape 19"/>
          <p:cNvSpPr/>
          <p:nvPr/>
        </p:nvSpPr>
        <p:spPr>
          <a:xfrm>
            <a:off x="6217920" y="3886200"/>
            <a:ext cx="2560320" cy="1691640"/>
          </a:xfrm>
          <a:prstGeom prst="roundRect">
            <a:avLst>
              <a:gd name="adj" fmla="val 4324"/>
            </a:avLst>
          </a:prstGeom>
          <a:solidFill>
            <a:srgbClr val="3B3220"/>
          </a:solidFill>
          <a:ln/>
        </p:spPr>
      </p:sp>
      <p:sp>
        <p:nvSpPr>
          <p:cNvPr id="22" name="Shape 20"/>
          <p:cNvSpPr/>
          <p:nvPr/>
        </p:nvSpPr>
        <p:spPr>
          <a:xfrm>
            <a:off x="6217920" y="3886200"/>
            <a:ext cx="2560320" cy="91440"/>
          </a:xfrm>
          <a:prstGeom prst="rect">
            <a:avLst/>
          </a:prstGeom>
          <a:solidFill>
            <a:srgbClr val="A8864A"/>
          </a:solidFill>
          <a:ln/>
        </p:spPr>
      </p:sp>
      <p:sp>
        <p:nvSpPr>
          <p:cNvPr id="23" name="Text 21"/>
          <p:cNvSpPr/>
          <p:nvPr/>
        </p:nvSpPr>
        <p:spPr>
          <a:xfrm>
            <a:off x="6419088" y="4069080"/>
            <a:ext cx="2194560" cy="365760"/>
          </a:xfrm>
          <a:prstGeom prst="rect">
            <a:avLst/>
          </a:prstGeom>
          <a:noFill/>
          <a:ln/>
        </p:spPr>
        <p:txBody>
          <a:bodyPr wrap="square" lIns="0" tIns="0" rIns="0" bIns="0" rtlCol="0" anchor="t"/>
          <a:lstStyle/>
          <a:p>
            <a:pPr indent="0" marL="0">
              <a:buNone/>
            </a:pPr>
            <a:r>
              <a:rPr lang="en-US" sz="2000" dirty="0">
                <a:solidFill>
                  <a:srgbClr val="C6A46A"/>
                </a:solidFill>
                <a:latin typeface="Georgia" pitchFamily="34" charset="0"/>
                <a:ea typeface="Georgia" pitchFamily="34" charset="-122"/>
                <a:cs typeface="Georgia" pitchFamily="34" charset="-120"/>
              </a:rPr>
              <a:t>E3</a:t>
            </a:r>
            <a:endParaRPr lang="en-US" sz="2000" dirty="0"/>
          </a:p>
        </p:txBody>
      </p:sp>
      <p:sp>
        <p:nvSpPr>
          <p:cNvPr id="24" name="Text 22"/>
          <p:cNvSpPr/>
          <p:nvPr/>
        </p:nvSpPr>
        <p:spPr>
          <a:xfrm>
            <a:off x="6419088" y="4069080"/>
            <a:ext cx="2194560" cy="365760"/>
          </a:xfrm>
          <a:prstGeom prst="rect">
            <a:avLst/>
          </a:prstGeom>
          <a:noFill/>
          <a:ln/>
        </p:spPr>
        <p:txBody>
          <a:bodyPr wrap="square" lIns="0" tIns="0" rIns="0" bIns="0" rtlCol="0" anchor="t"/>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~12 min</a:t>
            </a:r>
            <a:endParaRPr lang="en-US" sz="1150" dirty="0"/>
          </a:p>
        </p:txBody>
      </p:sp>
      <p:sp>
        <p:nvSpPr>
          <p:cNvPr id="25" name="Text 23"/>
          <p:cNvSpPr/>
          <p:nvPr/>
        </p:nvSpPr>
        <p:spPr>
          <a:xfrm>
            <a:off x="6419088" y="4526280"/>
            <a:ext cx="2194560" cy="411480"/>
          </a:xfrm>
          <a:prstGeom prst="rect">
            <a:avLst/>
          </a:prstGeom>
          <a:noFill/>
          <a:ln/>
        </p:spPr>
        <p:txBody>
          <a:bodyPr wrap="square" lIns="0" tIns="0" rIns="0" bIns="0" rtlCol="0" anchor="t">
            <a:normAutofit/>
          </a:bodyPr>
          <a:lstStyle/>
          <a:p>
            <a:pPr indent="0" marL="0">
              <a:buNone/>
            </a:pPr>
            <a:r>
              <a:rPr lang="en-US" sz="1400" b="1" dirty="0">
                <a:solidFill>
                  <a:srgbClr val="FCFAF4"/>
                </a:solidFill>
                <a:latin typeface="Helvetica Neue" pitchFamily="34" charset="0"/>
                <a:ea typeface="Helvetica Neue" pitchFamily="34" charset="-122"/>
                <a:cs typeface="Helvetica Neue" pitchFamily="34" charset="-120"/>
              </a:rPr>
              <a:t>Fix the reader</a:t>
            </a:r>
            <a:endParaRPr lang="en-US" sz="1400" dirty="0"/>
          </a:p>
        </p:txBody>
      </p:sp>
      <p:sp>
        <p:nvSpPr>
          <p:cNvPr id="26" name="Text 24"/>
          <p:cNvSpPr/>
          <p:nvPr/>
        </p:nvSpPr>
        <p:spPr>
          <a:xfrm>
            <a:off x="6419088" y="4956048"/>
            <a:ext cx="2194560" cy="548640"/>
          </a:xfrm>
          <a:prstGeom prst="rect">
            <a:avLst/>
          </a:prstGeom>
          <a:noFill/>
          <a:ln/>
        </p:spPr>
        <p:txBody>
          <a:bodyPr wrap="square" lIns="0" tIns="0" rIns="0" bIns="0" rtlCol="0" anchor="t"/>
          <a:lstStyle/>
          <a:p>
            <a:pPr indent="0" marL="0">
              <a:buNone/>
            </a:pPr>
            <a:r>
              <a:rPr lang="en-US" sz="1150" dirty="0">
                <a:solidFill>
                  <a:srgbClr val="C9BDA4"/>
                </a:solidFill>
                <a:latin typeface="Helvetica Neue" pitchFamily="34" charset="0"/>
                <a:ea typeface="Helvetica Neue" pitchFamily="34" charset="-122"/>
                <a:cs typeface="Helvetica Neue" pitchFamily="34" charset="-120"/>
              </a:rPr>
              <a:t>slice the index across cores</a:t>
            </a:r>
            <a:endParaRPr lang="en-US" sz="1150" dirty="0"/>
          </a:p>
        </p:txBody>
      </p:sp>
      <p:sp>
        <p:nvSpPr>
          <p:cNvPr id="27" name="Shape 25"/>
          <p:cNvSpPr/>
          <p:nvPr/>
        </p:nvSpPr>
        <p:spPr>
          <a:xfrm>
            <a:off x="8961120" y="3886200"/>
            <a:ext cx="2560320" cy="1691640"/>
          </a:xfrm>
          <a:prstGeom prst="roundRect">
            <a:avLst>
              <a:gd name="adj" fmla="val 4324"/>
            </a:avLst>
          </a:prstGeom>
          <a:solidFill>
            <a:srgbClr val="3B3220"/>
          </a:solidFill>
          <a:ln/>
        </p:spPr>
      </p:sp>
      <p:sp>
        <p:nvSpPr>
          <p:cNvPr id="28" name="Shape 26"/>
          <p:cNvSpPr/>
          <p:nvPr/>
        </p:nvSpPr>
        <p:spPr>
          <a:xfrm>
            <a:off x="8961120" y="3886200"/>
            <a:ext cx="2560320" cy="91440"/>
          </a:xfrm>
          <a:prstGeom prst="rect">
            <a:avLst/>
          </a:prstGeom>
          <a:solidFill>
            <a:srgbClr val="A8864A"/>
          </a:solidFill>
          <a:ln/>
        </p:spPr>
      </p:sp>
      <p:sp>
        <p:nvSpPr>
          <p:cNvPr id="29" name="Text 27"/>
          <p:cNvSpPr/>
          <p:nvPr/>
        </p:nvSpPr>
        <p:spPr>
          <a:xfrm>
            <a:off x="9162288" y="4069080"/>
            <a:ext cx="2194560" cy="365760"/>
          </a:xfrm>
          <a:prstGeom prst="rect">
            <a:avLst/>
          </a:prstGeom>
          <a:noFill/>
          <a:ln/>
        </p:spPr>
        <p:txBody>
          <a:bodyPr wrap="square" lIns="0" tIns="0" rIns="0" bIns="0" rtlCol="0" anchor="t"/>
          <a:lstStyle/>
          <a:p>
            <a:pPr indent="0" marL="0">
              <a:buNone/>
            </a:pPr>
            <a:r>
              <a:rPr lang="en-US" sz="2000" dirty="0">
                <a:solidFill>
                  <a:srgbClr val="C6A46A"/>
                </a:solidFill>
                <a:latin typeface="Georgia" pitchFamily="34" charset="0"/>
                <a:ea typeface="Georgia" pitchFamily="34" charset="-122"/>
                <a:cs typeface="Georgia" pitchFamily="34" charset="-120"/>
              </a:rPr>
              <a:t>E4</a:t>
            </a:r>
            <a:endParaRPr lang="en-US" sz="2000" dirty="0"/>
          </a:p>
        </p:txBody>
      </p:sp>
      <p:sp>
        <p:nvSpPr>
          <p:cNvPr id="30" name="Text 28"/>
          <p:cNvSpPr/>
          <p:nvPr/>
        </p:nvSpPr>
        <p:spPr>
          <a:xfrm>
            <a:off x="9162288" y="4069080"/>
            <a:ext cx="2194560" cy="365760"/>
          </a:xfrm>
          <a:prstGeom prst="rect">
            <a:avLst/>
          </a:prstGeom>
          <a:noFill/>
          <a:ln/>
        </p:spPr>
        <p:txBody>
          <a:bodyPr wrap="square" lIns="0" tIns="0" rIns="0" bIns="0" rtlCol="0" anchor="t"/>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~15 min</a:t>
            </a:r>
            <a:endParaRPr lang="en-US" sz="1150" dirty="0"/>
          </a:p>
        </p:txBody>
      </p:sp>
      <p:sp>
        <p:nvSpPr>
          <p:cNvPr id="31" name="Text 29"/>
          <p:cNvSpPr/>
          <p:nvPr/>
        </p:nvSpPr>
        <p:spPr>
          <a:xfrm>
            <a:off x="9162288" y="4526280"/>
            <a:ext cx="2194560" cy="411480"/>
          </a:xfrm>
          <a:prstGeom prst="rect">
            <a:avLst/>
          </a:prstGeom>
          <a:noFill/>
          <a:ln/>
        </p:spPr>
        <p:txBody>
          <a:bodyPr wrap="square" lIns="0" tIns="0" rIns="0" bIns="0" rtlCol="0" anchor="t">
            <a:normAutofit/>
          </a:bodyPr>
          <a:lstStyle/>
          <a:p>
            <a:pPr indent="0" marL="0">
              <a:buNone/>
            </a:pPr>
            <a:r>
              <a:rPr lang="en-US" sz="1400" b="1" dirty="0">
                <a:solidFill>
                  <a:srgbClr val="FCFAF4"/>
                </a:solidFill>
                <a:latin typeface="Helvetica Neue" pitchFamily="34" charset="0"/>
                <a:ea typeface="Helvetica Neue" pitchFamily="34" charset="-122"/>
                <a:cs typeface="Helvetica Neue" pitchFamily="34" charset="-120"/>
              </a:rPr>
              <a:t>Ship the fix</a:t>
            </a:r>
            <a:endParaRPr lang="en-US" sz="1400" dirty="0"/>
          </a:p>
        </p:txBody>
      </p:sp>
      <p:sp>
        <p:nvSpPr>
          <p:cNvPr id="32" name="Text 30"/>
          <p:cNvSpPr/>
          <p:nvPr/>
        </p:nvSpPr>
        <p:spPr>
          <a:xfrm>
            <a:off x="9162288" y="4956048"/>
            <a:ext cx="2194560" cy="548640"/>
          </a:xfrm>
          <a:prstGeom prst="rect">
            <a:avLst/>
          </a:prstGeom>
          <a:noFill/>
          <a:ln/>
        </p:spPr>
        <p:txBody>
          <a:bodyPr wrap="square" lIns="0" tIns="0" rIns="0" bIns="0" rtlCol="0" anchor="t"/>
          <a:lstStyle/>
          <a:p>
            <a:pPr indent="0" marL="0">
              <a:buNone/>
            </a:pPr>
            <a:r>
              <a:rPr lang="en-US" sz="1150" dirty="0">
                <a:solidFill>
                  <a:srgbClr val="C9BDA4"/>
                </a:solidFill>
                <a:latin typeface="Helvetica Neue" pitchFamily="34" charset="0"/>
                <a:ea typeface="Helvetica Neue" pitchFamily="34" charset="-122"/>
                <a:cs typeface="Helvetica Neue" pitchFamily="34" charset="-120"/>
              </a:rPr>
              <a:t>warm, sync, rollout order</a:t>
            </a:r>
            <a:endParaRPr lang="en-US" sz="1150" dirty="0"/>
          </a:p>
        </p:txBody>
      </p:sp>
      <p:sp>
        <p:nvSpPr>
          <p:cNvPr id="33" name="Text 31"/>
          <p:cNvSpPr/>
          <p:nvPr/>
        </p:nvSpPr>
        <p:spPr>
          <a:xfrm>
            <a:off x="731520" y="5760720"/>
            <a:ext cx="10515600" cy="640080"/>
          </a:xfrm>
          <a:prstGeom prst="rect">
            <a:avLst/>
          </a:prstGeom>
          <a:noFill/>
          <a:ln/>
        </p:spPr>
        <p:txBody>
          <a:bodyPr wrap="square" lIns="0" tIns="0" rIns="0" bIns="0" rtlCol="0" anchor="t"/>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Fill-the-gaps (___), solutions at the bottom of the file. Everything runs on datomic:mem:// — no Docker, no transactor, no $DATOMIC. Where an exercise checks a duration it checks a ratio or a boolean, never a millisecond count.</a:t>
            </a:r>
            <a:endParaRPr lang="en-US" sz="1250" dirty="0"/>
          </a:p>
        </p:txBody>
      </p:sp>
      <p:sp>
        <p:nvSpPr>
          <p:cNvPr id="34" name="Text 32"/>
          <p:cNvSpPr/>
          <p:nvPr/>
        </p:nvSpPr>
        <p:spPr>
          <a:xfrm>
            <a:off x="11155680" y="644652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CLOSE</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42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Where to go next</a:t>
            </a:r>
            <a:endParaRPr lang="en-US" sz="2500" dirty="0"/>
          </a:p>
        </p:txBody>
      </p:sp>
      <p:sp>
        <p:nvSpPr>
          <p:cNvPr id="8" name="Shape 5"/>
          <p:cNvSpPr/>
          <p:nvPr/>
        </p:nvSpPr>
        <p:spPr>
          <a:xfrm>
            <a:off x="548640" y="1371600"/>
            <a:ext cx="11064240" cy="1005840"/>
          </a:xfrm>
          <a:prstGeom prst="roundRect">
            <a:avLst>
              <a:gd name="adj" fmla="val 7273"/>
            </a:avLst>
          </a:prstGeom>
          <a:solidFill>
            <a:srgbClr val="E6DFCE"/>
          </a:solidFill>
          <a:ln/>
        </p:spPr>
      </p:sp>
      <p:sp>
        <p:nvSpPr>
          <p:cNvPr id="9" name="Text 6"/>
          <p:cNvSpPr/>
          <p:nvPr/>
        </p:nvSpPr>
        <p:spPr>
          <a:xfrm>
            <a:off x="822960" y="1499616"/>
            <a:ext cx="10515600" cy="347472"/>
          </a:xfrm>
          <a:prstGeom prst="rect">
            <a:avLst/>
          </a:prstGeom>
          <a:noFill/>
          <a:ln/>
        </p:spPr>
        <p:txBody>
          <a:bodyPr wrap="square" lIns="0" tIns="0" rIns="0" bIns="0" rtlCol="0" anchor="t"/>
          <a:lstStyle/>
          <a:p>
            <a:pPr indent="0" marL="0">
              <a:buNone/>
            </a:pPr>
            <a:r>
              <a:rPr lang="en-US" sz="1400" b="1" dirty="0">
                <a:solidFill>
                  <a:srgbClr val="A8864A"/>
                </a:solidFill>
                <a:latin typeface="Courier New" pitchFamily="34" charset="0"/>
                <a:ea typeface="Courier New" pitchFamily="34" charset="-122"/>
                <a:cs typeface="Courier New" pitchFamily="34" charset="-120"/>
              </a:rPr>
              <a:t>src/datomic_infra/labs.clj</a:t>
            </a:r>
            <a:endParaRPr lang="en-US" sz="1400" dirty="0"/>
          </a:p>
        </p:txBody>
      </p:sp>
      <p:sp>
        <p:nvSpPr>
          <p:cNvPr id="10" name="Text 7"/>
          <p:cNvSpPr/>
          <p:nvPr/>
        </p:nvSpPr>
        <p:spPr>
          <a:xfrm>
            <a:off x="822960" y="1874520"/>
            <a:ext cx="10515600" cy="457200"/>
          </a:xfrm>
          <a:prstGeom prst="rect">
            <a:avLst/>
          </a:prstGeom>
          <a:noFill/>
          <a:ln/>
        </p:spPr>
        <p:txBody>
          <a:bodyPr wrap="square" lIns="0" tIns="0" rIns="0" bIns="0" rtlCol="0" anchor="t">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Datomic in Production — the paths and storage layers this class assumed</a:t>
            </a:r>
            <a:endParaRPr lang="en-US" sz="1350" dirty="0"/>
          </a:p>
        </p:txBody>
      </p:sp>
      <p:sp>
        <p:nvSpPr>
          <p:cNvPr id="11" name="Shape 8"/>
          <p:cNvSpPr/>
          <p:nvPr/>
        </p:nvSpPr>
        <p:spPr>
          <a:xfrm>
            <a:off x="548640" y="2514600"/>
            <a:ext cx="11064240" cy="1005840"/>
          </a:xfrm>
          <a:prstGeom prst="roundRect">
            <a:avLst>
              <a:gd name="adj" fmla="val 7273"/>
            </a:avLst>
          </a:prstGeom>
          <a:solidFill>
            <a:srgbClr val="E6DFCE"/>
          </a:solidFill>
          <a:ln/>
        </p:spPr>
      </p:sp>
      <p:sp>
        <p:nvSpPr>
          <p:cNvPr id="12" name="Text 9"/>
          <p:cNvSpPr/>
          <p:nvPr/>
        </p:nvSpPr>
        <p:spPr>
          <a:xfrm>
            <a:off x="822960" y="2642616"/>
            <a:ext cx="10515600" cy="347472"/>
          </a:xfrm>
          <a:prstGeom prst="rect">
            <a:avLst/>
          </a:prstGeom>
          <a:noFill/>
          <a:ln/>
        </p:spPr>
        <p:txBody>
          <a:bodyPr wrap="square" lIns="0" tIns="0" rIns="0" bIns="0" rtlCol="0" anchor="t"/>
          <a:lstStyle/>
          <a:p>
            <a:pPr indent="0" marL="0">
              <a:buNone/>
            </a:pPr>
            <a:r>
              <a:rPr lang="en-US" sz="1400" b="1" dirty="0">
                <a:solidFill>
                  <a:srgbClr val="A8864A"/>
                </a:solidFill>
                <a:latin typeface="Courier New" pitchFamily="34" charset="0"/>
                <a:ea typeface="Courier New" pitchFamily="34" charset="-122"/>
                <a:cs typeface="Courier New" pitchFamily="34" charset="-120"/>
              </a:rPr>
              <a:t>infra/HA.md</a:t>
            </a:r>
            <a:endParaRPr lang="en-US" sz="1400" dirty="0"/>
          </a:p>
        </p:txBody>
      </p:sp>
      <p:sp>
        <p:nvSpPr>
          <p:cNvPr id="13" name="Text 10"/>
          <p:cNvSpPr/>
          <p:nvPr/>
        </p:nvSpPr>
        <p:spPr>
          <a:xfrm>
            <a:off x="822960" y="3017520"/>
            <a:ext cx="10515600" cy="457200"/>
          </a:xfrm>
          <a:prstGeom prst="rect">
            <a:avLst/>
          </a:prstGeom>
          <a:noFill/>
          <a:ln/>
        </p:spPr>
        <p:txBody>
          <a:bodyPr wrap="square" lIns="0" tIns="0" rIns="0" bIns="0" rtlCol="0" anchor="t">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two-transactor setup, if Part II was not run live</a:t>
            </a:r>
            <a:endParaRPr lang="en-US" sz="1350" dirty="0"/>
          </a:p>
        </p:txBody>
      </p:sp>
      <p:sp>
        <p:nvSpPr>
          <p:cNvPr id="14" name="Shape 11"/>
          <p:cNvSpPr/>
          <p:nvPr/>
        </p:nvSpPr>
        <p:spPr>
          <a:xfrm>
            <a:off x="548640" y="3657600"/>
            <a:ext cx="11064240" cy="1005840"/>
          </a:xfrm>
          <a:prstGeom prst="roundRect">
            <a:avLst>
              <a:gd name="adj" fmla="val 7273"/>
            </a:avLst>
          </a:prstGeom>
          <a:solidFill>
            <a:srgbClr val="D3DEE1"/>
          </a:solidFill>
          <a:ln/>
        </p:spPr>
      </p:sp>
      <p:sp>
        <p:nvSpPr>
          <p:cNvPr id="15" name="Text 12"/>
          <p:cNvSpPr/>
          <p:nvPr/>
        </p:nvSpPr>
        <p:spPr>
          <a:xfrm>
            <a:off x="822960" y="3785616"/>
            <a:ext cx="10515600" cy="347472"/>
          </a:xfrm>
          <a:prstGeom prst="rect">
            <a:avLst/>
          </a:prstGeom>
          <a:noFill/>
          <a:ln/>
        </p:spPr>
        <p:txBody>
          <a:bodyPr wrap="square" lIns="0" tIns="0" rIns="0" bIns="0" rtlCol="0" anchor="t"/>
          <a:lstStyle/>
          <a:p>
            <a:pPr indent="0" marL="0">
              <a:buNone/>
            </a:pPr>
            <a:r>
              <a:rPr lang="en-US" sz="1400" b="1" dirty="0">
                <a:solidFill>
                  <a:srgbClr val="A8864A"/>
                </a:solidFill>
                <a:latin typeface="Courier New" pitchFamily="34" charset="0"/>
                <a:ea typeface="Courier New" pitchFamily="34" charset="-122"/>
                <a:cs typeface="Courier New" pitchFamily="34" charset="-120"/>
              </a:rPr>
              <a:t>Datomic Cloud</a:t>
            </a:r>
            <a:endParaRPr lang="en-US" sz="1400" dirty="0"/>
          </a:p>
        </p:txBody>
      </p:sp>
      <p:sp>
        <p:nvSpPr>
          <p:cNvPr id="16" name="Text 13"/>
          <p:cNvSpPr/>
          <p:nvPr/>
        </p:nvSpPr>
        <p:spPr>
          <a:xfrm>
            <a:off x="822960" y="4160520"/>
            <a:ext cx="10515600" cy="457200"/>
          </a:xfrm>
          <a:prstGeom prst="rect">
            <a:avLst/>
          </a:prstGeom>
          <a:noFill/>
          <a:ln/>
        </p:spPr>
        <p:txBody>
          <a:bodyPr wrap="square" lIns="0" tIns="0" rIns="0" bIns="0" rtlCol="0" anchor="t">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query groups = Part IV's read scaling as an autoscaling group; failover is managed by the platform. Same model, different operational surface.</a:t>
            </a:r>
            <a:endParaRPr lang="en-US" sz="1350" dirty="0"/>
          </a:p>
        </p:txBody>
      </p:sp>
      <p:sp>
        <p:nvSpPr>
          <p:cNvPr id="17" name="Shape 14"/>
          <p:cNvSpPr/>
          <p:nvPr/>
        </p:nvSpPr>
        <p:spPr>
          <a:xfrm>
            <a:off x="548640" y="4846320"/>
            <a:ext cx="11064240" cy="1051560"/>
          </a:xfrm>
          <a:prstGeom prst="roundRect">
            <a:avLst>
              <a:gd name="adj" fmla="val 6957"/>
            </a:avLst>
          </a:prstGeom>
          <a:solidFill>
            <a:srgbClr val="DDE3CC"/>
          </a:solidFill>
          <a:ln/>
        </p:spPr>
      </p:sp>
      <p:sp>
        <p:nvSpPr>
          <p:cNvPr id="18" name="Shape 15"/>
          <p:cNvSpPr/>
          <p:nvPr/>
        </p:nvSpPr>
        <p:spPr>
          <a:xfrm>
            <a:off x="548640" y="4846320"/>
            <a:ext cx="82296" cy="1051560"/>
          </a:xfrm>
          <a:prstGeom prst="rect">
            <a:avLst/>
          </a:prstGeom>
          <a:solidFill>
            <a:srgbClr val="5F7A3A"/>
          </a:solidFill>
          <a:ln/>
        </p:spPr>
      </p:sp>
      <p:sp>
        <p:nvSpPr>
          <p:cNvPr id="19" name="Text 16"/>
          <p:cNvSpPr/>
          <p:nvPr/>
        </p:nvSpPr>
        <p:spPr>
          <a:xfrm>
            <a:off x="868680" y="4983480"/>
            <a:ext cx="10515600" cy="365760"/>
          </a:xfrm>
          <a:prstGeom prst="rect">
            <a:avLst/>
          </a:prstGeom>
          <a:noFill/>
          <a:ln/>
        </p:spPr>
        <p:txBody>
          <a:bodyPr wrap="square" lIns="0" tIns="0" rIns="0" bIns="0" rtlCol="0" anchor="t"/>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Repeat the failover drill on your own staging environment.</a:t>
            </a:r>
            <a:endParaRPr lang="en-US" sz="1600" dirty="0"/>
          </a:p>
        </p:txBody>
      </p:sp>
      <p:sp>
        <p:nvSpPr>
          <p:cNvPr id="20" name="Text 17"/>
          <p:cNvSpPr/>
          <p:nvPr/>
        </p:nvSpPr>
        <p:spPr>
          <a:xfrm>
            <a:off x="868680" y="5376672"/>
            <a:ext cx="10515600" cy="36576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window depends on that infrastructure — the only number worth quoting is the one you measured.</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Datomic at Scale — Operations, Parallelism and the Cost of a Read</dc:title>
  <dc:subject>PptxGenJS Presentation</dc:subject>
  <dc:creator>Datomic Classes</dc:creator>
  <cp:lastModifiedBy>Datomic Classes</cp:lastModifiedBy>
  <cp:revision>1</cp:revision>
  <dcterms:created xsi:type="dcterms:W3CDTF">2026-08-20T21:58:28Z</dcterms:created>
  <dcterms:modified xsi:type="dcterms:W3CDTF">2026-08-20T21:58:28Z</dcterms:modified>
</cp:coreProperties>
</file>