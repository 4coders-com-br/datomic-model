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Fifth class in the series. It continues from *Datomic in Production*, but the only thing it assumes is the vocabulary: what a peer, a transactor and storage are. Everything else is explained from the basics here.
The class covers how a Datomic system performs in production, in four topics: reads, writes, parallelism and caches. Each topic follows the same three-step shape — how it works, an easy example, and the main catches you will actually hit.
The goal is the right mental model, not a tuning reference. Knob tables and environment-specific measurements are deliberately left out; the Production class materials have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class is four topics, and every topic follows the same shape.
First the basics: how the mechanism works, drawn simply. Then one easy example — small code or a small measurement, chosen to be readable rather than impressive. Then the main catches: the two or three things that actually surprise people in production.
What is deliberately NOT here: settings tables, environment-specific benchmarks, and deployment runbooks. Those live in the Production class materials. This class is about carrying the right mental model, so that when a symptom appears you know which of the four topics it belongs to.
The only assumed knowledge is vocabulary from the Production class: peer, transactor, storage. The opening section re-draws that map in two slides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minutes to redraw the map, then roughly 25 minutes per topic, a break in the middle, and a summary that compresses everything into four verbs.
Each section is self-contained: basics first, then an easy example, then the catches. If a section runs long, the catches slide is the one to keep — it is the part people hit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of the four topics: the map, in its simplest form.
The peer is a library inside your application — queries run there, in your JVM, on data the peer pulls close. There is no query server.
The transactor is one process that all writes go through, in order.
Storage — Postgres, DynamoDB, or similar — just keeps bytes. It is the only place the data lives.
Notice what the arrows say: peers read storage directly, and never talk to the transactor to read. That one detail is why reads and writes live and die separately, which is the idea the whole class builds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cards, worst first.
Storage down: everything stops eventually. It is the only place the data lives, so this is the one real outage.
Transactor down: writes stop, and reads keep working. This is the failure people expect to be fatal — and it is not, because peers never needed the transactor to read.
One peer down: only that peer's traffic. The other peers share nothing with it except storage.
Only one of the three failures is fatal. That reads and writes live and die separately is the single structural difference from a one-server SQL database — and it is the idea the rest of the class keeps returning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basics first: where a read actually happens, and why its cost is entirely a question of where the data is at that moment. Then one easy example — the same query timed twice — and the three catches: cold peers, reading your own writes, and the one-core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flowchart. Your code asks a query. The peer checks whether the data is already local.
If yes, the answer comes from memory — effectively instant, and nothing else in the system is involved.
If no, the peer fetches the data from storage — milliseconds — and, crucially, KEEPS it. The next query over the same data takes the fast path.
The example is the whole story in two lines: the same query, run twice, is 120 ms and then 2 ms. Nothing about the query changed. Only where the data was.
And note what is absent from the picture entirely: the transactor. Reads never touch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performance distinction worth carrying around for reads.
A warm peer — data already local — answers in milliseconds or less. A cold peer — nothing local yet — pays a storage fetch for everything it touches, and the same query can be a hundred times slower.
Same query, same data, same code. The difference is only where the data is when the query runs.
The consequence: most read-performance work in Datomic is really cache work, which is why caches get their own section (Part IV). When a read is slow, the first question is never 'is the query bad' — it is 'which of these two bars am I on,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catches, in the order people hit them.
One: a restarted peer forgets everything it had pulled close. Its first requests re-fetch its whole world, so a fresh process is a slow process. This is why deploys hurt — Part IV picks it up.
Two: peers learn about writes independently. If you write through one peer and read through another — a load balancer will happily do this to you — the reading peer may not have seen the write yet. The fix is a contract: pass the t of the write along with the request, and d/sync waits until the peer has caught up to it. Not a bug: a multi-peer fact of life.
Three: one query runs on one core. There is no parallel query engine and no setting that changes it. A slow query is fixed by its shape or by warmer data — never by more CPUs. Part III shows what CAN be parallelized.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basics: one transactor applies every transaction, in order — that is what buys ACID with no locks. The easy example: batching, which is most of write throughput. Then the two catches: the writer can pause (failover), and the writer can push back (back-pressure).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peer submits its transactions to the same single transactor, which applies them one at a time, in order, and writes them durably to storage.
Why one door: because there is exactly one writer applying transactions in one order, there are no locks, no deadlocks, and no write conflicts to resolve — ever. The serialization is not a limitation that Datomic tolerates; it is the mechanism that makes transactions simple.
The flip side is on the right: write capacity is fixed. There is no second write machine to add — Part III returns to this. What you can do is use the one door well,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easy example for writes, and it is most of the story.
Top: a thousand rows, transacted one at a time. Every row pays a full trip through the door — a network round trip and a durable write.
Bottom: the same thousand rows in batches of a hundred. Ten trips instead of a thousand. Same data, same guarantees, an order of magnitude less overhead.
The second lever, in one sentence: d/transact returns a future, and code that derefs each one immediately waits out every round trip before starting the next. Keeping a few batches in flight — 'pipelining' — overlaps those waits. It matters over real networks; it is invisible on a laptop.
But batching comes first. It is 90% of the win and requires nothing but partition-all.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process doing all the writes sounds like a single point of failure, and the fix is simple: run two transactors. One is active; the other is a standby that takes over automatically if the active one dies.
The timeline shows what a failover looks like from your application. Writes fail for a short window — seconds — until the standby has taken over. Reads never notice, because reads never involved the transactor in the first place.
Peers reconnect by themselves: no URI change, no restart, no load balancer to flip.
The fine print, bottom right, is the part people get wrong: a standby is NOT a backup. Both transactors write to the same storage. Data safety comes from storage replication and backups — the standby only shortens the write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transactor has a background job: indexing. Recent writes accumulate in its memory and are periodically reorganized into storage. Durability is never deferred — every write hits the log immediately — but the reorganizing takes time.
If writes arrive faster than indexing can drain them, the buffer fills, and the transactor deliberately slows all writers down. That is back-pressure: latency instead of an out-of-memory crash.
The gauge shows the three states. Normal and draining are both healthy. Throttled is the one that appears on a dashboard as a mystery: write latency rising, and not a single error anywhere.
When you see it, the question is not 'how do I turn throttling off' — it is 'why is indexing slower than my write rate'. The usual answer is that storage writes are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Halfway. So far: the map, reads (warm vs cold), writes (one door, batching, the two waits). After the break: parallelism and caches.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basics: 'parallel' means opposite things on the two sides of the system. Two easy examples on the read side — splitting a big read, and trying a transaction without committing it. Then the catches, all three of which are versions of 'you looked for parallelism on the wrong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write side: one process, serial, by design — Part II. It cannot be parallelized; it can only be kept busy, with batching and by keeping a few transactions in flight.
The read side: every peer, every core, in parallel, by default. No locks and no coordination — and the reason is worth saying precisely: a Datomic db is an immutable VALUE. Nothing can change under a reader, so there is nothing to lock, no snapshot to manage, and no way for two readers to interfere.
So when the word 'parallelism' comes up, first ask which side you are on. On the write side the lever is keeping the one door busy. On the read side the lever is splitting the work up —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hundred thousand readings to scan. Cut the range into 8 slices along the index, pmap across cores — each slice is a completely independent read over the same immutable db value.
Serial: 78.7 ms. Eight slices: 24.7 ms. About 3× on this laptop.
Two rules of thumb are all you need. Slice roughly to the number of cores — hundreds of tiny slices just add hand-off overhead and slowly eat the gain. And notice there is no cleanup: no snapshot was opened, no lock taken, nothing leaks. Splitting a read is a purely local decision by the code doing the reading.
No transactor involved anywhere — this is read-side parallelism, and it scales with cores and peers.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d/with applies a transaction to a db VALUE and hands back a new value: 'what would the db look like if…'. No transactor, nothing durable, nothing shared.
Because each what-if is just a value computed locally, you can run many at once with pmap — three scenarios in the diagram, each seeing its own future, while the real db is untouched.
The two production uses worth remembering: validating a big import BEFORE spending transactor time on it — a uniqueness violation surfaces in the dry run, not halfway through the real load — and comparing what-if scenarios in parallel.
This is the write-shaped operation that lives on the read side: all the transaction machinery, none of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catches are versions of one mistake: looking for parallelism on the wrong side.
One: a single d/q runs on one core, and no setting changes that. Parallelism is always across queries, or across slices you cut yourself. One slow query next to eight idle cores stays slow.
Two: a second transactor adds zero write throughput. It is a standby for failover — Part II — not a second worker. It is idle by design and will stay idle.
Three: on a cold peer, a parallel-read speedup is mostly overlapping storage fetches, not dividing CPU work. That is still useful — but if the numbers look too good, check whether the real fix is a warm cache rather than more threads.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I said a read costs whatever fetching costs. This section is about not fetching. The basics: a ladder of four tiers, and the block-not-row unit of caching. Then the one big catch — deploys empty the caches — and two small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tiers, fastest first.
Tier 1, the object cache, lives in the peer's own memory. It comes for free — every peer has one.
Tier 2, valcache, is a local SSD cache. Its superpower is not speed: it SURVIVES RESTARTS, which — remember catch 1 of reads — is exactly the event that empties tier 1.
Tier 3, memcached, is shared between peers: if one peer fetched something, its siblings find it here without touching storage.
Tier 4 is storage itself — the slowest, and on DynamoDB the one that costs money per read.
Tiers 2 and 3 are optional add-ons; you can run with tier 1 only. And the whole job of cache configuration, in one sentence: keep everyday reads answering from as high up the ladder as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actually moves through the ladder is not an entity and not a row. It is a SEGMENT: a block of the index holding thousands of neighboring datoms.
Ask for one entity, and the peer fetches the whole block it lives in — the neighbors come along free.
The consequence is the one sizing intuition worth having: data read together is cheap if it lives together in an index. Scanning a range of readings by time touches a few blocks. Fetching a thousand entities scattered all over the index can touch a thousand blocks. Same answer size — about a hundred times the fetching.
So when a workload seems mysteriously expensive despite a healthy cache, look at its access pattern: scattered reads defeat every tier of the ladder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catch 1 of reads — a restarted peer forgets everything — at fleet scale, and it is the most common Datomic performance incident in the wild.
Restart all twenty peers at once and twenty empty caches ask storage the same questions at the same moment. Latency spikes, there are zero errors, and it resolves itself in a few minutes as the caches refill.
Because it looks like a mystery, it routinely gets misread as a bad release — and rolled back, which restarts every peer again and repeats the spike.
Three fixes, cheapest first. Rolling deploys: replace a few peers at a time, so most of the fleet stays warm — needs nothing. Memcached: twenty cold peers cause one shared miss instead of twenty — needs a server. Valcache: the SSD tier survives the restart entirely — needs a disk.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smaller catches to file away.
Memcached dying breaks nothing. Every tier of the ladder is optional except storage, so losing the shared tier means every read that would have hit it walks further down — everything gets slower, nothing gets wrong. Treat it as a degradation to fix during business hours, not a page.
And you cannot ask the cache anything. No peer API reports what is cached or how full any tier is — d/db-stats counts the data, not the cache. Cache behaviour is observed from the outside: time the same query twice and compare, or watch storage-read metrics and the memcached hit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class compresses into four rows, and any performance symptom lands on one of them.
Fails: only storage is fatal. A dead transactor pauses writes; a dead peer is local.
Waits: writers wait, in exactly two places — during a failover, and during back-pressure. If writes are slow with no errors, it is one of those two.
Scales: reads scale with peers and cores; writes scale only by batching. Nothing scales inside a single query.
Costs: storage, whenever a cache is cold. If reads are slow, ask which tier answered.
Use it as a diagnosis path: writes failing is FAILS; writes slow is WAITS; reads slow is COSTS; and 'can we throw cores at it' is SCALES.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depth on everything this class kept broad: the Production class has the write path, read path, settings and the backup drill in full detail.
infra/HA.md has the two-transactor setup, to run Part II's failover yourself — worth doing once on your own staging environment.
On Datomic Cloud the model is the same and the platform does the operating: failover is managed for you, and query groups are Part III's read scaling packaged as an autoscaling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C2416"/>
          </a:solidFill>
          <a:ln/>
        </p:spPr>
      </p:sp>
      <p:sp>
        <p:nvSpPr>
          <p:cNvPr id="3" name="Shape 1"/>
          <p:cNvSpPr/>
          <p:nvPr/>
        </p:nvSpPr>
        <p:spPr>
          <a:xfrm>
            <a:off x="822960" y="5120640"/>
            <a:ext cx="457200" cy="457200"/>
          </a:xfrm>
          <a:prstGeom prst="rect">
            <a:avLst/>
          </a:prstGeom>
          <a:solidFill>
            <a:srgbClr val="A8864A"/>
          </a:solidFill>
          <a:ln/>
        </p:spPr>
      </p:sp>
      <p:sp>
        <p:nvSpPr>
          <p:cNvPr id="4" name="Shape 2"/>
          <p:cNvSpPr/>
          <p:nvPr/>
        </p:nvSpPr>
        <p:spPr>
          <a:xfrm>
            <a:off x="1463040" y="5120640"/>
            <a:ext cx="457200" cy="777240"/>
          </a:xfrm>
          <a:prstGeom prst="rect">
            <a:avLst/>
          </a:prstGeom>
          <a:solidFill>
            <a:srgbClr val="C6A46A"/>
          </a:solidFill>
          <a:ln/>
        </p:spPr>
      </p:sp>
      <p:sp>
        <p:nvSpPr>
          <p:cNvPr id="5" name="Shape 3"/>
          <p:cNvSpPr/>
          <p:nvPr/>
        </p:nvSpPr>
        <p:spPr>
          <a:xfrm>
            <a:off x="2103120" y="5120640"/>
            <a:ext cx="457200" cy="1097280"/>
          </a:xfrm>
          <a:prstGeom prst="rect">
            <a:avLst/>
          </a:prstGeom>
          <a:solidFill>
            <a:srgbClr val="C9BDA4"/>
          </a:solidFill>
          <a:ln/>
        </p:spPr>
      </p:sp>
      <p:sp>
        <p:nvSpPr>
          <p:cNvPr id="6" name="Shape 4"/>
          <p:cNvSpPr/>
          <p:nvPr/>
        </p:nvSpPr>
        <p:spPr>
          <a:xfrm>
            <a:off x="2743200" y="5120640"/>
            <a:ext cx="457200" cy="1417320"/>
          </a:xfrm>
          <a:prstGeom prst="rect">
            <a:avLst/>
          </a:prstGeom>
          <a:solidFill>
            <a:srgbClr val="FCFAF4"/>
          </a:solidFill>
          <a:ln/>
        </p:spPr>
      </p:sp>
      <p:sp>
        <p:nvSpPr>
          <p:cNvPr id="7" name="Text 5"/>
          <p:cNvSpPr/>
          <p:nvPr/>
        </p:nvSpPr>
        <p:spPr>
          <a:xfrm>
            <a:off x="822960" y="1737360"/>
            <a:ext cx="10515600" cy="320040"/>
          </a:xfrm>
          <a:prstGeom prst="rect">
            <a:avLst/>
          </a:prstGeom>
          <a:noFill/>
          <a:ln/>
        </p:spPr>
        <p:txBody>
          <a:bodyPr wrap="square" lIns="0" tIns="0" rIns="0" bIns="0" rtlCol="0" anchor="t"/>
          <a:lstStyle/>
          <a:p>
            <a:pPr indent="0" marL="0">
              <a:buNone/>
            </a:pPr>
            <a:r>
              <a:rPr lang="en-US" sz="1300" spc="300" kern="0" dirty="0">
                <a:solidFill>
                  <a:srgbClr val="C6A46A"/>
                </a:solidFill>
                <a:latin typeface="Helvetica Neue" pitchFamily="34" charset="0"/>
                <a:ea typeface="Helvetica Neue" pitchFamily="34" charset="-122"/>
                <a:cs typeface="Helvetica Neue" pitchFamily="34" charset="-120"/>
              </a:rPr>
              <a:t>A 2-HOUR CLASS</a:t>
            </a:r>
            <a:endParaRPr lang="en-US" sz="1300" dirty="0"/>
          </a:p>
        </p:txBody>
      </p:sp>
      <p:sp>
        <p:nvSpPr>
          <p:cNvPr id="8" name="Text 6"/>
          <p:cNvSpPr/>
          <p:nvPr/>
        </p:nvSpPr>
        <p:spPr>
          <a:xfrm>
            <a:off x="822960" y="2194560"/>
            <a:ext cx="10515600" cy="1097280"/>
          </a:xfrm>
          <a:prstGeom prst="rect">
            <a:avLst/>
          </a:prstGeom>
          <a:noFill/>
          <a:ln/>
        </p:spPr>
        <p:txBody>
          <a:bodyPr wrap="square" lIns="0" tIns="0" rIns="0" bIns="0" rtlCol="0" anchor="t"/>
          <a:lstStyle/>
          <a:p>
            <a:pPr indent="0" marL="0">
              <a:buNone/>
            </a:pPr>
            <a:r>
              <a:rPr lang="en-US" sz="4000" b="1" dirty="0">
                <a:solidFill>
                  <a:srgbClr val="FCFAF4"/>
                </a:solidFill>
                <a:latin typeface="Georgia" pitchFamily="34" charset="0"/>
                <a:ea typeface="Georgia" pitchFamily="34" charset="-122"/>
                <a:cs typeface="Georgia" pitchFamily="34" charset="-120"/>
              </a:rPr>
              <a:t>Datomic at Scale</a:t>
            </a:r>
            <a:endParaRPr lang="en-US" sz="4000" dirty="0"/>
          </a:p>
        </p:txBody>
      </p:sp>
      <p:sp>
        <p:nvSpPr>
          <p:cNvPr id="9" name="Text 7"/>
          <p:cNvSpPr/>
          <p:nvPr/>
        </p:nvSpPr>
        <p:spPr>
          <a:xfrm>
            <a:off x="822960" y="3474720"/>
            <a:ext cx="10515600" cy="731520"/>
          </a:xfrm>
          <a:prstGeom prst="rect">
            <a:avLst/>
          </a:prstGeom>
          <a:noFill/>
          <a:ln/>
        </p:spPr>
        <p:txBody>
          <a:bodyPr wrap="square" lIns="0" tIns="0" rIns="0" bIns="0" rtlCol="0" anchor="t"/>
          <a:lstStyle/>
          <a:p>
            <a:pPr indent="0" marL="0">
              <a:buNone/>
            </a:pPr>
            <a:r>
              <a:rPr lang="en-US" sz="1600" dirty="0">
                <a:solidFill>
                  <a:srgbClr val="C9BDA4"/>
                </a:solidFill>
                <a:latin typeface="Helvetica Neue" pitchFamily="34" charset="0"/>
                <a:ea typeface="Helvetica Neue" pitchFamily="34" charset="-122"/>
                <a:cs typeface="Helvetica Neue" pitchFamily="34" charset="-120"/>
              </a:rPr>
              <a:t>Reads, writes, parallelism and caches — the basics and the catches</a:t>
            </a:r>
            <a:endParaRPr lang="en-US" sz="1600" dirty="0"/>
          </a:p>
        </p:txBody>
      </p:sp>
      <p:sp>
        <p:nvSpPr>
          <p:cNvPr id="10" name="Text 8"/>
          <p:cNvSpPr/>
          <p:nvPr/>
        </p:nvSpPr>
        <p:spPr>
          <a:xfrm>
            <a:off x="11155680" y="6400800"/>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FRAME</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2</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Four topics, three steps each</a:t>
            </a:r>
            <a:endParaRPr lang="en-US" sz="2500" dirty="0"/>
          </a:p>
        </p:txBody>
      </p:sp>
      <p:sp>
        <p:nvSpPr>
          <p:cNvPr id="8" name="Shape 5"/>
          <p:cNvSpPr/>
          <p:nvPr/>
        </p:nvSpPr>
        <p:spPr>
          <a:xfrm>
            <a:off x="548640" y="1371600"/>
            <a:ext cx="6949440" cy="804672"/>
          </a:xfrm>
          <a:prstGeom prst="roundRect">
            <a:avLst>
              <a:gd name="adj" fmla="val 9091"/>
            </a:avLst>
          </a:prstGeom>
          <a:solidFill>
            <a:srgbClr val="D3DEE1"/>
          </a:solidFill>
          <a:ln/>
        </p:spPr>
      </p:sp>
      <p:sp>
        <p:nvSpPr>
          <p:cNvPr id="9" name="Text 6"/>
          <p:cNvSpPr/>
          <p:nvPr/>
        </p:nvSpPr>
        <p:spPr>
          <a:xfrm>
            <a:off x="822960" y="1371600"/>
            <a:ext cx="2194560" cy="804672"/>
          </a:xfrm>
          <a:prstGeom prst="rect">
            <a:avLst/>
          </a:prstGeom>
          <a:noFill/>
          <a:ln/>
        </p:spPr>
        <p:txBody>
          <a:bodyPr wrap="square" lIns="0" tIns="0" rIns="0" bIns="0" rtlCol="0" anchor="ctr"/>
          <a:lstStyle/>
          <a:p>
            <a:pPr indent="0" marL="0">
              <a:buNone/>
            </a:pPr>
            <a:r>
              <a:rPr lang="en-US" sz="1500" b="1" spc="150" kern="0" dirty="0">
                <a:solidFill>
                  <a:srgbClr val="3F6470"/>
                </a:solidFill>
                <a:latin typeface="Helvetica Neue" pitchFamily="34" charset="0"/>
                <a:ea typeface="Helvetica Neue" pitchFamily="34" charset="-122"/>
                <a:cs typeface="Helvetica Neue" pitchFamily="34" charset="-120"/>
              </a:rPr>
              <a:t>READS</a:t>
            </a:r>
            <a:endParaRPr lang="en-US" sz="1500" dirty="0"/>
          </a:p>
        </p:txBody>
      </p:sp>
      <p:sp>
        <p:nvSpPr>
          <p:cNvPr id="10" name="Text 7"/>
          <p:cNvSpPr/>
          <p:nvPr/>
        </p:nvSpPr>
        <p:spPr>
          <a:xfrm>
            <a:off x="3017520" y="1371600"/>
            <a:ext cx="4343400" cy="804672"/>
          </a:xfrm>
          <a:prstGeom prst="rect">
            <a:avLst/>
          </a:prstGeom>
          <a:noFill/>
          <a:ln/>
        </p:spPr>
        <p:txBody>
          <a:bodyPr wrap="square" lIns="0" tIns="0" rIns="0" bIns="0" rtlCol="0" anchor="ctr">
            <a:normAutofit/>
          </a:bodyPr>
          <a:lstStyle/>
          <a:p>
            <a:pPr indent="0" marL="0">
              <a:buNone/>
            </a:pPr>
            <a:r>
              <a:rPr lang="en-US" sz="1250" dirty="0">
                <a:solidFill>
                  <a:srgbClr val="3A2C1A"/>
                </a:solidFill>
                <a:latin typeface="Helvetica Neue" pitchFamily="34" charset="0"/>
                <a:ea typeface="Helvetica Neue" pitchFamily="34" charset="-122"/>
                <a:cs typeface="Helvetica Neue" pitchFamily="34" charset="-120"/>
              </a:rPr>
              <a:t>run in your process — the cost depends on where the data is</a:t>
            </a:r>
            <a:endParaRPr lang="en-US" sz="1250" dirty="0"/>
          </a:p>
        </p:txBody>
      </p:sp>
      <p:sp>
        <p:nvSpPr>
          <p:cNvPr id="11" name="Shape 8"/>
          <p:cNvSpPr/>
          <p:nvPr/>
        </p:nvSpPr>
        <p:spPr>
          <a:xfrm>
            <a:off x="548640" y="2304288"/>
            <a:ext cx="6949440" cy="804672"/>
          </a:xfrm>
          <a:prstGeom prst="roundRect">
            <a:avLst>
              <a:gd name="adj" fmla="val 9091"/>
            </a:avLst>
          </a:prstGeom>
          <a:solidFill>
            <a:srgbClr val="EDE0C4"/>
          </a:solidFill>
          <a:ln/>
        </p:spPr>
      </p:sp>
      <p:sp>
        <p:nvSpPr>
          <p:cNvPr id="12" name="Text 9"/>
          <p:cNvSpPr/>
          <p:nvPr/>
        </p:nvSpPr>
        <p:spPr>
          <a:xfrm>
            <a:off x="822960" y="2304288"/>
            <a:ext cx="2194560" cy="804672"/>
          </a:xfrm>
          <a:prstGeom prst="rect">
            <a:avLst/>
          </a:prstGeom>
          <a:noFill/>
          <a:ln/>
        </p:spPr>
        <p:txBody>
          <a:bodyPr wrap="square" lIns="0" tIns="0" rIns="0" bIns="0" rtlCol="0" anchor="ctr"/>
          <a:lstStyle/>
          <a:p>
            <a:pPr indent="0" marL="0">
              <a:buNone/>
            </a:pPr>
            <a:r>
              <a:rPr lang="en-US" sz="1500" b="1" spc="150" kern="0" dirty="0">
                <a:solidFill>
                  <a:srgbClr val="B5822B"/>
                </a:solidFill>
                <a:latin typeface="Helvetica Neue" pitchFamily="34" charset="0"/>
                <a:ea typeface="Helvetica Neue" pitchFamily="34" charset="-122"/>
                <a:cs typeface="Helvetica Neue" pitchFamily="34" charset="-120"/>
              </a:rPr>
              <a:t>WRITES</a:t>
            </a:r>
            <a:endParaRPr lang="en-US" sz="1500" dirty="0"/>
          </a:p>
        </p:txBody>
      </p:sp>
      <p:sp>
        <p:nvSpPr>
          <p:cNvPr id="13" name="Text 10"/>
          <p:cNvSpPr/>
          <p:nvPr/>
        </p:nvSpPr>
        <p:spPr>
          <a:xfrm>
            <a:off x="3017520" y="2304288"/>
            <a:ext cx="4343400" cy="804672"/>
          </a:xfrm>
          <a:prstGeom prst="rect">
            <a:avLst/>
          </a:prstGeom>
          <a:noFill/>
          <a:ln/>
        </p:spPr>
        <p:txBody>
          <a:bodyPr wrap="square" lIns="0" tIns="0" rIns="0" bIns="0" rtlCol="0" anchor="ctr">
            <a:normAutofit/>
          </a:bodyPr>
          <a:lstStyle/>
          <a:p>
            <a:pPr indent="0" marL="0">
              <a:buNone/>
            </a:pPr>
            <a:r>
              <a:rPr lang="en-US" sz="1250" dirty="0">
                <a:solidFill>
                  <a:srgbClr val="3A2C1A"/>
                </a:solidFill>
                <a:latin typeface="Helvetica Neue" pitchFamily="34" charset="0"/>
                <a:ea typeface="Helvetica Neue" pitchFamily="34" charset="-122"/>
                <a:cs typeface="Helvetica Neue" pitchFamily="34" charset="-120"/>
              </a:rPr>
              <a:t>one door — batch well, and know the two ways it can wait</a:t>
            </a:r>
            <a:endParaRPr lang="en-US" sz="1250" dirty="0"/>
          </a:p>
        </p:txBody>
      </p:sp>
      <p:sp>
        <p:nvSpPr>
          <p:cNvPr id="14" name="Shape 11"/>
          <p:cNvSpPr/>
          <p:nvPr/>
        </p:nvSpPr>
        <p:spPr>
          <a:xfrm>
            <a:off x="548640" y="3236976"/>
            <a:ext cx="6949440" cy="804672"/>
          </a:xfrm>
          <a:prstGeom prst="roundRect">
            <a:avLst>
              <a:gd name="adj" fmla="val 9091"/>
            </a:avLst>
          </a:prstGeom>
          <a:solidFill>
            <a:srgbClr val="DDE3CC"/>
          </a:solidFill>
          <a:ln/>
        </p:spPr>
      </p:sp>
      <p:sp>
        <p:nvSpPr>
          <p:cNvPr id="15" name="Text 12"/>
          <p:cNvSpPr/>
          <p:nvPr/>
        </p:nvSpPr>
        <p:spPr>
          <a:xfrm>
            <a:off x="822960" y="3236976"/>
            <a:ext cx="2194560" cy="804672"/>
          </a:xfrm>
          <a:prstGeom prst="rect">
            <a:avLst/>
          </a:prstGeom>
          <a:noFill/>
          <a:ln/>
        </p:spPr>
        <p:txBody>
          <a:bodyPr wrap="square" lIns="0" tIns="0" rIns="0" bIns="0" rtlCol="0" anchor="ctr"/>
          <a:lstStyle/>
          <a:p>
            <a:pPr indent="0" marL="0">
              <a:buNone/>
            </a:pPr>
            <a:r>
              <a:rPr lang="en-US" sz="1500" b="1" spc="150" kern="0" dirty="0">
                <a:solidFill>
                  <a:srgbClr val="5F7A3A"/>
                </a:solidFill>
                <a:latin typeface="Helvetica Neue" pitchFamily="34" charset="0"/>
                <a:ea typeface="Helvetica Neue" pitchFamily="34" charset="-122"/>
                <a:cs typeface="Helvetica Neue" pitchFamily="34" charset="-120"/>
              </a:rPr>
              <a:t>PARALLELISM</a:t>
            </a:r>
            <a:endParaRPr lang="en-US" sz="1500" dirty="0"/>
          </a:p>
        </p:txBody>
      </p:sp>
      <p:sp>
        <p:nvSpPr>
          <p:cNvPr id="16" name="Text 13"/>
          <p:cNvSpPr/>
          <p:nvPr/>
        </p:nvSpPr>
        <p:spPr>
          <a:xfrm>
            <a:off x="3017520" y="3236976"/>
            <a:ext cx="4343400" cy="804672"/>
          </a:xfrm>
          <a:prstGeom prst="rect">
            <a:avLst/>
          </a:prstGeom>
          <a:noFill/>
          <a:ln/>
        </p:spPr>
        <p:txBody>
          <a:bodyPr wrap="square" lIns="0" tIns="0" rIns="0" bIns="0" rtlCol="0" anchor="ctr">
            <a:normAutofit/>
          </a:bodyPr>
          <a:lstStyle/>
          <a:p>
            <a:pPr indent="0" marL="0">
              <a:buNone/>
            </a:pPr>
            <a:r>
              <a:rPr lang="en-US" sz="1250" dirty="0">
                <a:solidFill>
                  <a:srgbClr val="3A2C1A"/>
                </a:solidFill>
                <a:latin typeface="Helvetica Neue" pitchFamily="34" charset="0"/>
                <a:ea typeface="Helvetica Neue" pitchFamily="34" charset="-122"/>
                <a:cs typeface="Helvetica Neue" pitchFamily="34" charset="-120"/>
              </a:rPr>
              <a:t>reads scale out — writes never do</a:t>
            </a:r>
            <a:endParaRPr lang="en-US" sz="1250" dirty="0"/>
          </a:p>
        </p:txBody>
      </p:sp>
      <p:sp>
        <p:nvSpPr>
          <p:cNvPr id="17" name="Shape 14"/>
          <p:cNvSpPr/>
          <p:nvPr/>
        </p:nvSpPr>
        <p:spPr>
          <a:xfrm>
            <a:off x="548640" y="4169664"/>
            <a:ext cx="6949440" cy="804672"/>
          </a:xfrm>
          <a:prstGeom prst="roundRect">
            <a:avLst>
              <a:gd name="adj" fmla="val 9091"/>
            </a:avLst>
          </a:prstGeom>
          <a:solidFill>
            <a:srgbClr val="DFD6C0"/>
          </a:solidFill>
          <a:ln/>
        </p:spPr>
      </p:sp>
      <p:sp>
        <p:nvSpPr>
          <p:cNvPr id="18" name="Text 15"/>
          <p:cNvSpPr/>
          <p:nvPr/>
        </p:nvSpPr>
        <p:spPr>
          <a:xfrm>
            <a:off x="822960" y="4169664"/>
            <a:ext cx="2194560" cy="804672"/>
          </a:xfrm>
          <a:prstGeom prst="rect">
            <a:avLst/>
          </a:prstGeom>
          <a:noFill/>
          <a:ln/>
        </p:spPr>
        <p:txBody>
          <a:bodyPr wrap="square" lIns="0" tIns="0" rIns="0" bIns="0" rtlCol="0" anchor="ctr"/>
          <a:lstStyle/>
          <a:p>
            <a:pPr indent="0" marL="0">
              <a:buNone/>
            </a:pPr>
            <a:r>
              <a:rPr lang="en-US" sz="1500" b="1" spc="150" kern="0" dirty="0">
                <a:solidFill>
                  <a:srgbClr val="A8864A"/>
                </a:solidFill>
                <a:latin typeface="Helvetica Neue" pitchFamily="34" charset="0"/>
                <a:ea typeface="Helvetica Neue" pitchFamily="34" charset="-122"/>
                <a:cs typeface="Helvetica Neue" pitchFamily="34" charset="-120"/>
              </a:rPr>
              <a:t>CACHES</a:t>
            </a:r>
            <a:endParaRPr lang="en-US" sz="1500" dirty="0"/>
          </a:p>
        </p:txBody>
      </p:sp>
      <p:sp>
        <p:nvSpPr>
          <p:cNvPr id="19" name="Text 16"/>
          <p:cNvSpPr/>
          <p:nvPr/>
        </p:nvSpPr>
        <p:spPr>
          <a:xfrm>
            <a:off x="3017520" y="4169664"/>
            <a:ext cx="4343400" cy="804672"/>
          </a:xfrm>
          <a:prstGeom prst="rect">
            <a:avLst/>
          </a:prstGeom>
          <a:noFill/>
          <a:ln/>
        </p:spPr>
        <p:txBody>
          <a:bodyPr wrap="square" lIns="0" tIns="0" rIns="0" bIns="0" rtlCol="0" anchor="ctr">
            <a:normAutofit/>
          </a:bodyPr>
          <a:lstStyle/>
          <a:p>
            <a:pPr indent="0" marL="0">
              <a:buNone/>
            </a:pPr>
            <a:r>
              <a:rPr lang="en-US" sz="1250" dirty="0">
                <a:solidFill>
                  <a:srgbClr val="3A2C1A"/>
                </a:solidFill>
                <a:latin typeface="Helvetica Neue" pitchFamily="34" charset="0"/>
                <a:ea typeface="Helvetica Neue" pitchFamily="34" charset="-122"/>
                <a:cs typeface="Helvetica Neue" pitchFamily="34" charset="-120"/>
              </a:rPr>
              <a:t>keep everyday reads near the top of the ladder</a:t>
            </a:r>
            <a:endParaRPr lang="en-US" sz="1250" dirty="0"/>
          </a:p>
        </p:txBody>
      </p:sp>
      <p:sp>
        <p:nvSpPr>
          <p:cNvPr id="20" name="Shape 17"/>
          <p:cNvSpPr/>
          <p:nvPr/>
        </p:nvSpPr>
        <p:spPr>
          <a:xfrm>
            <a:off x="7772400" y="1371600"/>
            <a:ext cx="3840480" cy="3602736"/>
          </a:xfrm>
          <a:prstGeom prst="roundRect">
            <a:avLst>
              <a:gd name="adj" fmla="val 2030"/>
            </a:avLst>
          </a:prstGeom>
          <a:solidFill>
            <a:srgbClr val="E6DFCE"/>
          </a:solidFill>
          <a:ln/>
        </p:spPr>
      </p:sp>
      <p:sp>
        <p:nvSpPr>
          <p:cNvPr id="21" name="Shape 18"/>
          <p:cNvSpPr/>
          <p:nvPr/>
        </p:nvSpPr>
        <p:spPr>
          <a:xfrm>
            <a:off x="7772400" y="1371600"/>
            <a:ext cx="3840480" cy="384048"/>
          </a:xfrm>
          <a:prstGeom prst="roundRect">
            <a:avLst>
              <a:gd name="adj" fmla="val 19048"/>
            </a:avLst>
          </a:prstGeom>
          <a:solidFill>
            <a:srgbClr val="DFD6C0"/>
          </a:solidFill>
          <a:ln/>
        </p:spPr>
      </p:sp>
      <p:sp>
        <p:nvSpPr>
          <p:cNvPr id="22" name="Text 19"/>
          <p:cNvSpPr/>
          <p:nvPr/>
        </p:nvSpPr>
        <p:spPr>
          <a:xfrm>
            <a:off x="7973568" y="1371600"/>
            <a:ext cx="3438144" cy="384048"/>
          </a:xfrm>
          <a:prstGeom prst="rect">
            <a:avLst/>
          </a:prstGeom>
          <a:noFill/>
          <a:ln/>
        </p:spPr>
        <p:txBody>
          <a:bodyPr wrap="square" lIns="0" tIns="0" rIns="0" bIns="0" rtlCol="0" anchor="ctr">
            <a:normAutofit/>
          </a:bodyPr>
          <a:lstStyle/>
          <a:p>
            <a:pPr indent="0" marL="0">
              <a:buNone/>
            </a:pPr>
            <a:r>
              <a:rPr lang="en-US" sz="1250" b="1" spc="100" kern="0" dirty="0">
                <a:solidFill>
                  <a:srgbClr val="A8864A"/>
                </a:solidFill>
                <a:latin typeface="Helvetica Neue" pitchFamily="34" charset="0"/>
                <a:ea typeface="Helvetica Neue" pitchFamily="34" charset="-122"/>
                <a:cs typeface="Helvetica Neue" pitchFamily="34" charset="-120"/>
              </a:rPr>
              <a:t>EACH TOPIC, IN 3 STEPS</a:t>
            </a:r>
            <a:endParaRPr lang="en-US" sz="1250" dirty="0"/>
          </a:p>
        </p:txBody>
      </p:sp>
      <p:sp>
        <p:nvSpPr>
          <p:cNvPr id="23" name="Text 20"/>
          <p:cNvSpPr/>
          <p:nvPr/>
        </p:nvSpPr>
        <p:spPr>
          <a:xfrm>
            <a:off x="8001000" y="1965960"/>
            <a:ext cx="457200" cy="822960"/>
          </a:xfrm>
          <a:prstGeom prst="rect">
            <a:avLst/>
          </a:prstGeom>
          <a:noFill/>
          <a:ln/>
        </p:spPr>
        <p:txBody>
          <a:bodyPr wrap="square" lIns="0" tIns="0" rIns="0" bIns="0" rtlCol="0" anchor="t"/>
          <a:lstStyle/>
          <a:p>
            <a:pPr indent="0" marL="0">
              <a:buNone/>
            </a:pPr>
            <a:r>
              <a:rPr lang="en-US" sz="2400" b="1" dirty="0">
                <a:solidFill>
                  <a:srgbClr val="A8864A"/>
                </a:solidFill>
                <a:latin typeface="Georgia" pitchFamily="34" charset="0"/>
                <a:ea typeface="Georgia" pitchFamily="34" charset="-122"/>
                <a:cs typeface="Georgia" pitchFamily="34" charset="-120"/>
              </a:rPr>
              <a:t>1</a:t>
            </a:r>
            <a:endParaRPr lang="en-US" sz="2400" dirty="0"/>
          </a:p>
        </p:txBody>
      </p:sp>
      <p:sp>
        <p:nvSpPr>
          <p:cNvPr id="24" name="Text 21"/>
          <p:cNvSpPr/>
          <p:nvPr/>
        </p:nvSpPr>
        <p:spPr>
          <a:xfrm>
            <a:off x="8549640" y="2011680"/>
            <a:ext cx="2926080" cy="320040"/>
          </a:xfrm>
          <a:prstGeom prst="rect">
            <a:avLst/>
          </a:prstGeom>
          <a:noFill/>
          <a:ln/>
        </p:spPr>
        <p:txBody>
          <a:bodyPr wrap="square" lIns="0" tIns="0" rIns="0" bIns="0" rtlCol="0" anchor="t"/>
          <a:lstStyle/>
          <a:p>
            <a:pPr indent="0" marL="0">
              <a:buNone/>
            </a:pPr>
            <a:r>
              <a:rPr lang="en-US" sz="1400" b="1" dirty="0">
                <a:solidFill>
                  <a:srgbClr val="3A2C1A"/>
                </a:solidFill>
                <a:latin typeface="Helvetica Neue" pitchFamily="34" charset="0"/>
                <a:ea typeface="Helvetica Neue" pitchFamily="34" charset="-122"/>
                <a:cs typeface="Helvetica Neue" pitchFamily="34" charset="-120"/>
              </a:rPr>
              <a:t>the basics</a:t>
            </a:r>
            <a:endParaRPr lang="en-US" sz="1400" dirty="0"/>
          </a:p>
        </p:txBody>
      </p:sp>
      <p:sp>
        <p:nvSpPr>
          <p:cNvPr id="25" name="Text 22"/>
          <p:cNvSpPr/>
          <p:nvPr/>
        </p:nvSpPr>
        <p:spPr>
          <a:xfrm>
            <a:off x="8549640" y="2377440"/>
            <a:ext cx="2926080" cy="320040"/>
          </a:xfrm>
          <a:prstGeom prst="rect">
            <a:avLst/>
          </a:prstGeom>
          <a:noFill/>
          <a:ln/>
        </p:spPr>
        <p:txBody>
          <a:bodyPr wrap="square" lIns="0" tIns="0" rIns="0" bIns="0" rtlCol="0" anchor="t">
            <a:normAutofit/>
          </a:bodyPr>
          <a:lstStyle/>
          <a:p>
            <a:pPr indent="0" marL="0">
              <a:buNone/>
            </a:pPr>
            <a:r>
              <a:rPr lang="en-US" sz="1150" dirty="0">
                <a:solidFill>
                  <a:srgbClr val="6B5A44"/>
                </a:solidFill>
                <a:latin typeface="Helvetica Neue" pitchFamily="34" charset="0"/>
                <a:ea typeface="Helvetica Neue" pitchFamily="34" charset="-122"/>
                <a:cs typeface="Helvetica Neue" pitchFamily="34" charset="-120"/>
              </a:rPr>
              <a:t>how it works, drawn simply</a:t>
            </a:r>
            <a:endParaRPr lang="en-US" sz="1150" dirty="0"/>
          </a:p>
        </p:txBody>
      </p:sp>
      <p:sp>
        <p:nvSpPr>
          <p:cNvPr id="26" name="Text 23"/>
          <p:cNvSpPr/>
          <p:nvPr/>
        </p:nvSpPr>
        <p:spPr>
          <a:xfrm>
            <a:off x="8001000" y="2926080"/>
            <a:ext cx="457200" cy="822960"/>
          </a:xfrm>
          <a:prstGeom prst="rect">
            <a:avLst/>
          </a:prstGeom>
          <a:noFill/>
          <a:ln/>
        </p:spPr>
        <p:txBody>
          <a:bodyPr wrap="square" lIns="0" tIns="0" rIns="0" bIns="0" rtlCol="0" anchor="t"/>
          <a:lstStyle/>
          <a:p>
            <a:pPr indent="0" marL="0">
              <a:buNone/>
            </a:pPr>
            <a:r>
              <a:rPr lang="en-US" sz="2400" b="1" dirty="0">
                <a:solidFill>
                  <a:srgbClr val="A8864A"/>
                </a:solidFill>
                <a:latin typeface="Georgia" pitchFamily="34" charset="0"/>
                <a:ea typeface="Georgia" pitchFamily="34" charset="-122"/>
                <a:cs typeface="Georgia" pitchFamily="34" charset="-120"/>
              </a:rPr>
              <a:t>2</a:t>
            </a:r>
            <a:endParaRPr lang="en-US" sz="2400" dirty="0"/>
          </a:p>
        </p:txBody>
      </p:sp>
      <p:sp>
        <p:nvSpPr>
          <p:cNvPr id="27" name="Text 24"/>
          <p:cNvSpPr/>
          <p:nvPr/>
        </p:nvSpPr>
        <p:spPr>
          <a:xfrm>
            <a:off x="8549640" y="2971800"/>
            <a:ext cx="2926080" cy="320040"/>
          </a:xfrm>
          <a:prstGeom prst="rect">
            <a:avLst/>
          </a:prstGeom>
          <a:noFill/>
          <a:ln/>
        </p:spPr>
        <p:txBody>
          <a:bodyPr wrap="square" lIns="0" tIns="0" rIns="0" bIns="0" rtlCol="0" anchor="t"/>
          <a:lstStyle/>
          <a:p>
            <a:pPr indent="0" marL="0">
              <a:buNone/>
            </a:pPr>
            <a:r>
              <a:rPr lang="en-US" sz="1400" b="1" dirty="0">
                <a:solidFill>
                  <a:srgbClr val="3A2C1A"/>
                </a:solidFill>
                <a:latin typeface="Helvetica Neue" pitchFamily="34" charset="0"/>
                <a:ea typeface="Helvetica Neue" pitchFamily="34" charset="-122"/>
                <a:cs typeface="Helvetica Neue" pitchFamily="34" charset="-120"/>
              </a:rPr>
              <a:t>an easy example</a:t>
            </a:r>
            <a:endParaRPr lang="en-US" sz="1400" dirty="0"/>
          </a:p>
        </p:txBody>
      </p:sp>
      <p:sp>
        <p:nvSpPr>
          <p:cNvPr id="28" name="Text 25"/>
          <p:cNvSpPr/>
          <p:nvPr/>
        </p:nvSpPr>
        <p:spPr>
          <a:xfrm>
            <a:off x="8549640" y="3337560"/>
            <a:ext cx="2926080" cy="320040"/>
          </a:xfrm>
          <a:prstGeom prst="rect">
            <a:avLst/>
          </a:prstGeom>
          <a:noFill/>
          <a:ln/>
        </p:spPr>
        <p:txBody>
          <a:bodyPr wrap="square" lIns="0" tIns="0" rIns="0" bIns="0" rtlCol="0" anchor="t">
            <a:normAutofit/>
          </a:bodyPr>
          <a:lstStyle/>
          <a:p>
            <a:pPr indent="0" marL="0">
              <a:buNone/>
            </a:pPr>
            <a:r>
              <a:rPr lang="en-US" sz="1150" dirty="0">
                <a:solidFill>
                  <a:srgbClr val="6B5A44"/>
                </a:solidFill>
                <a:latin typeface="Helvetica Neue" pitchFamily="34" charset="0"/>
                <a:ea typeface="Helvetica Neue" pitchFamily="34" charset="-122"/>
                <a:cs typeface="Helvetica Neue" pitchFamily="34" charset="-120"/>
              </a:rPr>
              <a:t>small code, small numbers</a:t>
            </a:r>
            <a:endParaRPr lang="en-US" sz="1150" dirty="0"/>
          </a:p>
        </p:txBody>
      </p:sp>
      <p:sp>
        <p:nvSpPr>
          <p:cNvPr id="29" name="Text 26"/>
          <p:cNvSpPr/>
          <p:nvPr/>
        </p:nvSpPr>
        <p:spPr>
          <a:xfrm>
            <a:off x="8001000" y="3886200"/>
            <a:ext cx="457200" cy="822960"/>
          </a:xfrm>
          <a:prstGeom prst="rect">
            <a:avLst/>
          </a:prstGeom>
          <a:noFill/>
          <a:ln/>
        </p:spPr>
        <p:txBody>
          <a:bodyPr wrap="square" lIns="0" tIns="0" rIns="0" bIns="0" rtlCol="0" anchor="t"/>
          <a:lstStyle/>
          <a:p>
            <a:pPr indent="0" marL="0">
              <a:buNone/>
            </a:pPr>
            <a:r>
              <a:rPr lang="en-US" sz="2400" b="1" dirty="0">
                <a:solidFill>
                  <a:srgbClr val="A8864A"/>
                </a:solidFill>
                <a:latin typeface="Georgia" pitchFamily="34" charset="0"/>
                <a:ea typeface="Georgia" pitchFamily="34" charset="-122"/>
                <a:cs typeface="Georgia" pitchFamily="34" charset="-120"/>
              </a:rPr>
              <a:t>3</a:t>
            </a:r>
            <a:endParaRPr lang="en-US" sz="2400" dirty="0"/>
          </a:p>
        </p:txBody>
      </p:sp>
      <p:sp>
        <p:nvSpPr>
          <p:cNvPr id="30" name="Text 27"/>
          <p:cNvSpPr/>
          <p:nvPr/>
        </p:nvSpPr>
        <p:spPr>
          <a:xfrm>
            <a:off x="8549640" y="3931920"/>
            <a:ext cx="2926080" cy="320040"/>
          </a:xfrm>
          <a:prstGeom prst="rect">
            <a:avLst/>
          </a:prstGeom>
          <a:noFill/>
          <a:ln/>
        </p:spPr>
        <p:txBody>
          <a:bodyPr wrap="square" lIns="0" tIns="0" rIns="0" bIns="0" rtlCol="0" anchor="t"/>
          <a:lstStyle/>
          <a:p>
            <a:pPr indent="0" marL="0">
              <a:buNone/>
            </a:pPr>
            <a:r>
              <a:rPr lang="en-US" sz="1400" b="1" dirty="0">
                <a:solidFill>
                  <a:srgbClr val="3A2C1A"/>
                </a:solidFill>
                <a:latin typeface="Helvetica Neue" pitchFamily="34" charset="0"/>
                <a:ea typeface="Helvetica Neue" pitchFamily="34" charset="-122"/>
                <a:cs typeface="Helvetica Neue" pitchFamily="34" charset="-120"/>
              </a:rPr>
              <a:t>the catches</a:t>
            </a:r>
            <a:endParaRPr lang="en-US" sz="1400" dirty="0"/>
          </a:p>
        </p:txBody>
      </p:sp>
      <p:sp>
        <p:nvSpPr>
          <p:cNvPr id="31" name="Text 28"/>
          <p:cNvSpPr/>
          <p:nvPr/>
        </p:nvSpPr>
        <p:spPr>
          <a:xfrm>
            <a:off x="8549640" y="4297680"/>
            <a:ext cx="2926080" cy="320040"/>
          </a:xfrm>
          <a:prstGeom prst="rect">
            <a:avLst/>
          </a:prstGeom>
          <a:noFill/>
          <a:ln/>
        </p:spPr>
        <p:txBody>
          <a:bodyPr wrap="square" lIns="0" tIns="0" rIns="0" bIns="0" rtlCol="0" anchor="t">
            <a:normAutofit/>
          </a:bodyPr>
          <a:lstStyle/>
          <a:p>
            <a:pPr indent="0" marL="0">
              <a:buNone/>
            </a:pPr>
            <a:r>
              <a:rPr lang="en-US" sz="1150" dirty="0">
                <a:solidFill>
                  <a:srgbClr val="6B5A44"/>
                </a:solidFill>
                <a:latin typeface="Helvetica Neue" pitchFamily="34" charset="0"/>
                <a:ea typeface="Helvetica Neue" pitchFamily="34" charset="-122"/>
                <a:cs typeface="Helvetica Neue" pitchFamily="34" charset="-120"/>
              </a:rPr>
              <a:t>what surprises people</a:t>
            </a:r>
            <a:endParaRPr lang="en-US" sz="1150" dirty="0"/>
          </a:p>
        </p:txBody>
      </p:sp>
      <p:sp>
        <p:nvSpPr>
          <p:cNvPr id="32" name="Shape 29"/>
          <p:cNvSpPr/>
          <p:nvPr/>
        </p:nvSpPr>
        <p:spPr>
          <a:xfrm>
            <a:off x="548640" y="5257800"/>
            <a:ext cx="54864" cy="457200"/>
          </a:xfrm>
          <a:prstGeom prst="rect">
            <a:avLst/>
          </a:prstGeom>
          <a:solidFill>
            <a:srgbClr val="A8864A"/>
          </a:solidFill>
          <a:ln/>
        </p:spPr>
      </p:sp>
      <p:sp>
        <p:nvSpPr>
          <p:cNvPr id="33" name="Text 30"/>
          <p:cNvSpPr/>
          <p:nvPr/>
        </p:nvSpPr>
        <p:spPr>
          <a:xfrm>
            <a:off x="777240" y="525780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Goal: the right mental model — not a tuning reference. The knob tables live in the Production class.</a:t>
            </a:r>
            <a:endParaRPr lang="en-US" sz="1450" dirty="0"/>
          </a:p>
        </p:txBody>
      </p:sp>
      <p:sp>
        <p:nvSpPr>
          <p:cNvPr id="34" name="Shape 31"/>
          <p:cNvSpPr/>
          <p:nvPr/>
        </p:nvSpPr>
        <p:spPr>
          <a:xfrm>
            <a:off x="548640" y="6419088"/>
            <a:ext cx="54864" cy="292608"/>
          </a:xfrm>
          <a:prstGeom prst="rect">
            <a:avLst/>
          </a:prstGeom>
          <a:solidFill>
            <a:srgbClr val="A8864A"/>
          </a:solidFill>
          <a:ln/>
        </p:spPr>
      </p:sp>
      <p:sp>
        <p:nvSpPr>
          <p:cNvPr id="35" name="Text 32"/>
          <p:cNvSpPr/>
          <p:nvPr/>
        </p:nvSpPr>
        <p:spPr>
          <a:xfrm>
            <a:off x="713232" y="6382512"/>
            <a:ext cx="658368" cy="365760"/>
          </a:xfrm>
          <a:prstGeom prst="rect">
            <a:avLst/>
          </a:prstGeom>
          <a:noFill/>
          <a:ln/>
        </p:spPr>
        <p:txBody>
          <a:bodyPr wrap="square" lIns="0" tIns="0" rIns="0" bIns="0" rtlCol="0" anchor="ctr"/>
          <a:lstStyle/>
          <a:p>
            <a:pPr indent="0" marL="0">
              <a:buNone/>
            </a:pPr>
            <a:r>
              <a:rPr lang="en-US" sz="900" b="1" spc="100" kern="0" dirty="0">
                <a:solidFill>
                  <a:srgbClr val="A8864A"/>
                </a:solidFill>
                <a:latin typeface="Helvetica Neue" pitchFamily="34" charset="0"/>
                <a:ea typeface="Helvetica Neue" pitchFamily="34" charset="-122"/>
                <a:cs typeface="Helvetica Neue" pitchFamily="34" charset="-120"/>
              </a:rPr>
              <a:t>CASES</a:t>
            </a:r>
            <a:endParaRPr lang="en-US" sz="900" dirty="0"/>
          </a:p>
        </p:txBody>
      </p:sp>
      <p:sp>
        <p:nvSpPr>
          <p:cNvPr id="36" name="Text 33"/>
          <p:cNvSpPr/>
          <p:nvPr/>
        </p:nvSpPr>
        <p:spPr>
          <a:xfrm>
            <a:off x="1463040" y="6382512"/>
            <a:ext cx="9509760" cy="365760"/>
          </a:xfrm>
          <a:prstGeom prst="rect">
            <a:avLst/>
          </a:prstGeom>
          <a:noFill/>
          <a:ln/>
        </p:spPr>
        <p:txBody>
          <a:bodyPr wrap="square" lIns="0" tIns="0" rIns="0" bIns="0" rtlCol="0" anchor="ctr"/>
          <a:lstStyle/>
          <a:p>
            <a:pPr indent="0" marL="0">
              <a:buNone/>
            </a:pPr>
            <a:r>
              <a:rPr lang="en-US" sz="1100" dirty="0">
                <a:solidFill>
                  <a:srgbClr val="6B5A44"/>
                </a:solidFill>
                <a:latin typeface="Helvetica Neue" pitchFamily="34" charset="0"/>
                <a:ea typeface="Helvetica Neue" pitchFamily="34" charset="-122"/>
                <a:cs typeface="Helvetica Neue" pitchFamily="34" charset="-120"/>
              </a:rPr>
              <a:t>Assumed: only the words peer, transactor, storage   ·   Left out on purpose: settings tables, benchmarks, runbooks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FRAME</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3</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Two hours, four topics</a:t>
            </a:r>
            <a:endParaRPr lang="en-US" sz="2500" dirty="0"/>
          </a:p>
        </p:txBody>
      </p:sp>
      <p:sp>
        <p:nvSpPr>
          <p:cNvPr id="8" name="Shape 5"/>
          <p:cNvSpPr/>
          <p:nvPr/>
        </p:nvSpPr>
        <p:spPr>
          <a:xfrm>
            <a:off x="548640" y="1371600"/>
            <a:ext cx="11064240" cy="548640"/>
          </a:xfrm>
          <a:prstGeom prst="roundRect">
            <a:avLst>
              <a:gd name="adj" fmla="val 13333"/>
            </a:avLst>
          </a:prstGeom>
          <a:solidFill>
            <a:srgbClr val="E6DFCE"/>
          </a:solidFill>
          <a:ln/>
        </p:spPr>
      </p:sp>
      <p:sp>
        <p:nvSpPr>
          <p:cNvPr id="9" name="Text 6"/>
          <p:cNvSpPr/>
          <p:nvPr/>
        </p:nvSpPr>
        <p:spPr>
          <a:xfrm>
            <a:off x="822960" y="1371600"/>
            <a:ext cx="914400" cy="548640"/>
          </a:xfrm>
          <a:prstGeom prst="rect">
            <a:avLst/>
          </a:prstGeom>
          <a:noFill/>
          <a:ln/>
        </p:spPr>
        <p:txBody>
          <a:bodyPr wrap="square" lIns="0" tIns="0" rIns="0" bIns="0" rtlCol="0" anchor="ctr"/>
          <a:lstStyle/>
          <a:p>
            <a:pPr indent="0" marL="0">
              <a:buNone/>
            </a:pPr>
            <a:r>
              <a:rPr lang="en-US" sz="1300" dirty="0">
                <a:solidFill>
                  <a:srgbClr val="9A8A72"/>
                </a:solidFill>
                <a:latin typeface="Courier New" pitchFamily="34" charset="0"/>
                <a:ea typeface="Courier New" pitchFamily="34" charset="-122"/>
                <a:cs typeface="Courier New" pitchFamily="34" charset="-120"/>
              </a:rPr>
              <a:t>0:00</a:t>
            </a:r>
            <a:endParaRPr lang="en-US" sz="1300" dirty="0"/>
          </a:p>
        </p:txBody>
      </p:sp>
      <p:sp>
        <p:nvSpPr>
          <p:cNvPr id="10" name="Text 7"/>
          <p:cNvSpPr/>
          <p:nvPr/>
        </p:nvSpPr>
        <p:spPr>
          <a:xfrm>
            <a:off x="1920240" y="1371600"/>
            <a:ext cx="3108960" cy="548640"/>
          </a:xfrm>
          <a:prstGeom prst="rect">
            <a:avLst/>
          </a:prstGeom>
          <a:noFill/>
          <a:ln/>
        </p:spPr>
        <p:txBody>
          <a:bodyPr wrap="square" lIns="0" tIns="0" rIns="0" bIns="0" rtlCol="0" anchor="ctr"/>
          <a:lstStyle/>
          <a:p>
            <a:pPr indent="0" marL="0">
              <a:buNone/>
            </a:pPr>
            <a:r>
              <a:rPr lang="en-US" sz="1450" b="1" dirty="0">
                <a:solidFill>
                  <a:srgbClr val="3A2C1A"/>
                </a:solidFill>
                <a:latin typeface="Helvetica Neue" pitchFamily="34" charset="0"/>
                <a:ea typeface="Helvetica Neue" pitchFamily="34" charset="-122"/>
                <a:cs typeface="Helvetica Neue" pitchFamily="34" charset="-120"/>
              </a:rPr>
              <a:t>The map</a:t>
            </a:r>
            <a:endParaRPr lang="en-US" sz="1450" dirty="0"/>
          </a:p>
        </p:txBody>
      </p:sp>
      <p:sp>
        <p:nvSpPr>
          <p:cNvPr id="11" name="Text 8"/>
          <p:cNvSpPr/>
          <p:nvPr/>
        </p:nvSpPr>
        <p:spPr>
          <a:xfrm>
            <a:off x="5212080" y="1371600"/>
            <a:ext cx="6217920" cy="548640"/>
          </a:xfrm>
          <a:prstGeom prst="rect">
            <a:avLst/>
          </a:prstGeom>
          <a:noFill/>
          <a:ln/>
        </p:spPr>
        <p:txBody>
          <a:bodyPr wrap="square" lIns="0" tIns="0" rIns="0" bIns="0" rtlCol="0" anchor="ctr">
            <a:normAutofit/>
          </a:bodyPr>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three parts — only one of them is fatal</a:t>
            </a:r>
            <a:endParaRPr lang="en-US" sz="1250" dirty="0"/>
          </a:p>
        </p:txBody>
      </p:sp>
      <p:sp>
        <p:nvSpPr>
          <p:cNvPr id="12" name="Shape 9"/>
          <p:cNvSpPr/>
          <p:nvPr/>
        </p:nvSpPr>
        <p:spPr>
          <a:xfrm>
            <a:off x="548640" y="2029968"/>
            <a:ext cx="11064240" cy="548640"/>
          </a:xfrm>
          <a:prstGeom prst="roundRect">
            <a:avLst>
              <a:gd name="adj" fmla="val 13333"/>
            </a:avLst>
          </a:prstGeom>
          <a:solidFill>
            <a:srgbClr val="D3DEE1"/>
          </a:solidFill>
          <a:ln/>
        </p:spPr>
      </p:sp>
      <p:sp>
        <p:nvSpPr>
          <p:cNvPr id="13" name="Text 10"/>
          <p:cNvSpPr/>
          <p:nvPr/>
        </p:nvSpPr>
        <p:spPr>
          <a:xfrm>
            <a:off x="822960" y="2029968"/>
            <a:ext cx="914400" cy="548640"/>
          </a:xfrm>
          <a:prstGeom prst="rect">
            <a:avLst/>
          </a:prstGeom>
          <a:noFill/>
          <a:ln/>
        </p:spPr>
        <p:txBody>
          <a:bodyPr wrap="square" lIns="0" tIns="0" rIns="0" bIns="0" rtlCol="0" anchor="ctr"/>
          <a:lstStyle/>
          <a:p>
            <a:pPr indent="0" marL="0">
              <a:buNone/>
            </a:pPr>
            <a:r>
              <a:rPr lang="en-US" sz="1300" dirty="0">
                <a:solidFill>
                  <a:srgbClr val="9A8A72"/>
                </a:solidFill>
                <a:latin typeface="Courier New" pitchFamily="34" charset="0"/>
                <a:ea typeface="Courier New" pitchFamily="34" charset="-122"/>
                <a:cs typeface="Courier New" pitchFamily="34" charset="-120"/>
              </a:rPr>
              <a:t>0:12</a:t>
            </a:r>
            <a:endParaRPr lang="en-US" sz="1300" dirty="0"/>
          </a:p>
        </p:txBody>
      </p:sp>
      <p:sp>
        <p:nvSpPr>
          <p:cNvPr id="14" name="Text 11"/>
          <p:cNvSpPr/>
          <p:nvPr/>
        </p:nvSpPr>
        <p:spPr>
          <a:xfrm>
            <a:off x="1920240" y="2029968"/>
            <a:ext cx="3108960" cy="548640"/>
          </a:xfrm>
          <a:prstGeom prst="rect">
            <a:avLst/>
          </a:prstGeom>
          <a:noFill/>
          <a:ln/>
        </p:spPr>
        <p:txBody>
          <a:bodyPr wrap="square" lIns="0" tIns="0" rIns="0" bIns="0" rtlCol="0" anchor="ctr"/>
          <a:lstStyle/>
          <a:p>
            <a:pPr indent="0" marL="0">
              <a:buNone/>
            </a:pPr>
            <a:r>
              <a:rPr lang="en-US" sz="1450" b="1" dirty="0">
                <a:solidFill>
                  <a:srgbClr val="3A2C1A"/>
                </a:solidFill>
                <a:latin typeface="Helvetica Neue" pitchFamily="34" charset="0"/>
                <a:ea typeface="Helvetica Neue" pitchFamily="34" charset="-122"/>
                <a:cs typeface="Helvetica Neue" pitchFamily="34" charset="-120"/>
              </a:rPr>
              <a:t>Reads</a:t>
            </a:r>
            <a:endParaRPr lang="en-US" sz="1450" dirty="0"/>
          </a:p>
        </p:txBody>
      </p:sp>
      <p:sp>
        <p:nvSpPr>
          <p:cNvPr id="15" name="Text 12"/>
          <p:cNvSpPr/>
          <p:nvPr/>
        </p:nvSpPr>
        <p:spPr>
          <a:xfrm>
            <a:off x="5212080" y="2029968"/>
            <a:ext cx="6217920" cy="548640"/>
          </a:xfrm>
          <a:prstGeom prst="rect">
            <a:avLst/>
          </a:prstGeom>
          <a:noFill/>
          <a:ln/>
        </p:spPr>
        <p:txBody>
          <a:bodyPr wrap="square" lIns="0" tIns="0" rIns="0" bIns="0" rtlCol="0" anchor="ctr">
            <a:normAutofit/>
          </a:bodyPr>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run in your process; cost = where the data is</a:t>
            </a:r>
            <a:endParaRPr lang="en-US" sz="1250" dirty="0"/>
          </a:p>
        </p:txBody>
      </p:sp>
      <p:sp>
        <p:nvSpPr>
          <p:cNvPr id="16" name="Shape 13"/>
          <p:cNvSpPr/>
          <p:nvPr/>
        </p:nvSpPr>
        <p:spPr>
          <a:xfrm>
            <a:off x="548640" y="2688336"/>
            <a:ext cx="11064240" cy="548640"/>
          </a:xfrm>
          <a:prstGeom prst="roundRect">
            <a:avLst>
              <a:gd name="adj" fmla="val 13333"/>
            </a:avLst>
          </a:prstGeom>
          <a:solidFill>
            <a:srgbClr val="EDE0C4"/>
          </a:solidFill>
          <a:ln/>
        </p:spPr>
      </p:sp>
      <p:sp>
        <p:nvSpPr>
          <p:cNvPr id="17" name="Text 14"/>
          <p:cNvSpPr/>
          <p:nvPr/>
        </p:nvSpPr>
        <p:spPr>
          <a:xfrm>
            <a:off x="822960" y="2688336"/>
            <a:ext cx="914400" cy="548640"/>
          </a:xfrm>
          <a:prstGeom prst="rect">
            <a:avLst/>
          </a:prstGeom>
          <a:noFill/>
          <a:ln/>
        </p:spPr>
        <p:txBody>
          <a:bodyPr wrap="square" lIns="0" tIns="0" rIns="0" bIns="0" rtlCol="0" anchor="ctr"/>
          <a:lstStyle/>
          <a:p>
            <a:pPr indent="0" marL="0">
              <a:buNone/>
            </a:pPr>
            <a:r>
              <a:rPr lang="en-US" sz="1300" dirty="0">
                <a:solidFill>
                  <a:srgbClr val="9A8A72"/>
                </a:solidFill>
                <a:latin typeface="Courier New" pitchFamily="34" charset="0"/>
                <a:ea typeface="Courier New" pitchFamily="34" charset="-122"/>
                <a:cs typeface="Courier New" pitchFamily="34" charset="-120"/>
              </a:rPr>
              <a:t>0:40</a:t>
            </a:r>
            <a:endParaRPr lang="en-US" sz="1300" dirty="0"/>
          </a:p>
        </p:txBody>
      </p:sp>
      <p:sp>
        <p:nvSpPr>
          <p:cNvPr id="18" name="Text 15"/>
          <p:cNvSpPr/>
          <p:nvPr/>
        </p:nvSpPr>
        <p:spPr>
          <a:xfrm>
            <a:off x="1920240" y="2688336"/>
            <a:ext cx="3108960" cy="548640"/>
          </a:xfrm>
          <a:prstGeom prst="rect">
            <a:avLst/>
          </a:prstGeom>
          <a:noFill/>
          <a:ln/>
        </p:spPr>
        <p:txBody>
          <a:bodyPr wrap="square" lIns="0" tIns="0" rIns="0" bIns="0" rtlCol="0" anchor="ctr"/>
          <a:lstStyle/>
          <a:p>
            <a:pPr indent="0" marL="0">
              <a:buNone/>
            </a:pPr>
            <a:r>
              <a:rPr lang="en-US" sz="1450" b="1" dirty="0">
                <a:solidFill>
                  <a:srgbClr val="3A2C1A"/>
                </a:solidFill>
                <a:latin typeface="Helvetica Neue" pitchFamily="34" charset="0"/>
                <a:ea typeface="Helvetica Neue" pitchFamily="34" charset="-122"/>
                <a:cs typeface="Helvetica Neue" pitchFamily="34" charset="-120"/>
              </a:rPr>
              <a:t>Writes</a:t>
            </a:r>
            <a:endParaRPr lang="en-US" sz="1450" dirty="0"/>
          </a:p>
        </p:txBody>
      </p:sp>
      <p:sp>
        <p:nvSpPr>
          <p:cNvPr id="19" name="Text 16"/>
          <p:cNvSpPr/>
          <p:nvPr/>
        </p:nvSpPr>
        <p:spPr>
          <a:xfrm>
            <a:off x="5212080" y="2688336"/>
            <a:ext cx="6217920" cy="548640"/>
          </a:xfrm>
          <a:prstGeom prst="rect">
            <a:avLst/>
          </a:prstGeom>
          <a:noFill/>
          <a:ln/>
        </p:spPr>
        <p:txBody>
          <a:bodyPr wrap="square" lIns="0" tIns="0" rIns="0" bIns="0" rtlCol="0" anchor="ctr">
            <a:normAutofit/>
          </a:bodyPr>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one door; batch, and the two ways it waits</a:t>
            </a:r>
            <a:endParaRPr lang="en-US" sz="1250" dirty="0"/>
          </a:p>
        </p:txBody>
      </p:sp>
      <p:sp>
        <p:nvSpPr>
          <p:cNvPr id="20" name="Shape 17"/>
          <p:cNvSpPr/>
          <p:nvPr/>
        </p:nvSpPr>
        <p:spPr>
          <a:xfrm>
            <a:off x="548640" y="3346704"/>
            <a:ext cx="11064240" cy="548640"/>
          </a:xfrm>
          <a:prstGeom prst="roundRect">
            <a:avLst>
              <a:gd name="adj" fmla="val 13333"/>
            </a:avLst>
          </a:prstGeom>
          <a:solidFill>
            <a:srgbClr val="DFD6C0"/>
          </a:solidFill>
          <a:ln/>
        </p:spPr>
      </p:sp>
      <p:sp>
        <p:nvSpPr>
          <p:cNvPr id="21" name="Text 18"/>
          <p:cNvSpPr/>
          <p:nvPr/>
        </p:nvSpPr>
        <p:spPr>
          <a:xfrm>
            <a:off x="822960" y="3346704"/>
            <a:ext cx="914400" cy="548640"/>
          </a:xfrm>
          <a:prstGeom prst="rect">
            <a:avLst/>
          </a:prstGeom>
          <a:noFill/>
          <a:ln/>
        </p:spPr>
        <p:txBody>
          <a:bodyPr wrap="square" lIns="0" tIns="0" rIns="0" bIns="0" rtlCol="0" anchor="ctr"/>
          <a:lstStyle/>
          <a:p>
            <a:pPr indent="0" marL="0">
              <a:buNone/>
            </a:pPr>
            <a:r>
              <a:rPr lang="en-US" sz="1300" dirty="0">
                <a:solidFill>
                  <a:srgbClr val="9A8A72"/>
                </a:solidFill>
                <a:latin typeface="Courier New" pitchFamily="34" charset="0"/>
                <a:ea typeface="Courier New" pitchFamily="34" charset="-122"/>
                <a:cs typeface="Courier New" pitchFamily="34" charset="-120"/>
              </a:rPr>
              <a:t>1:02</a:t>
            </a:r>
            <a:endParaRPr lang="en-US" sz="1300" dirty="0"/>
          </a:p>
        </p:txBody>
      </p:sp>
      <p:sp>
        <p:nvSpPr>
          <p:cNvPr id="22" name="Text 19"/>
          <p:cNvSpPr/>
          <p:nvPr/>
        </p:nvSpPr>
        <p:spPr>
          <a:xfrm>
            <a:off x="1920240" y="3346704"/>
            <a:ext cx="3108960" cy="548640"/>
          </a:xfrm>
          <a:prstGeom prst="rect">
            <a:avLst/>
          </a:prstGeom>
          <a:noFill/>
          <a:ln/>
        </p:spPr>
        <p:txBody>
          <a:bodyPr wrap="square" lIns="0" tIns="0" rIns="0" bIns="0" rtlCol="0" anchor="ctr"/>
          <a:lstStyle/>
          <a:p>
            <a:pPr indent="0" marL="0">
              <a:buNone/>
            </a:pPr>
            <a:r>
              <a:rPr lang="en-US" sz="1450" b="1" dirty="0">
                <a:solidFill>
                  <a:srgbClr val="3A2C1A"/>
                </a:solidFill>
                <a:latin typeface="Helvetica Neue" pitchFamily="34" charset="0"/>
                <a:ea typeface="Helvetica Neue" pitchFamily="34" charset="-122"/>
                <a:cs typeface="Helvetica Neue" pitchFamily="34" charset="-120"/>
              </a:rPr>
              <a:t>☕ Break (10 min)</a:t>
            </a:r>
            <a:endParaRPr lang="en-US" sz="1450" dirty="0"/>
          </a:p>
        </p:txBody>
      </p:sp>
      <p:sp>
        <p:nvSpPr>
          <p:cNvPr id="23" name="Text 20"/>
          <p:cNvSpPr/>
          <p:nvPr/>
        </p:nvSpPr>
        <p:spPr>
          <a:xfrm>
            <a:off x="5212080" y="3346704"/>
            <a:ext cx="6217920" cy="548640"/>
          </a:xfrm>
          <a:prstGeom prst="rect">
            <a:avLst/>
          </a:prstGeom>
          <a:noFill/>
          <a:ln/>
        </p:spPr>
        <p:txBody>
          <a:bodyPr wrap="square" lIns="0" tIns="0" rIns="0" bIns="0" rtlCol="0" anchor="ctr">
            <a:normAutofit/>
          </a:bodyPr>
          <a:lstStyle/>
          <a:p>
            <a:pPr indent="0" marL="0">
              <a:buNone/>
            </a:pPr>
            <a:endParaRPr lang="en-US" sz="1250" dirty="0"/>
          </a:p>
        </p:txBody>
      </p:sp>
      <p:sp>
        <p:nvSpPr>
          <p:cNvPr id="24" name="Shape 21"/>
          <p:cNvSpPr/>
          <p:nvPr/>
        </p:nvSpPr>
        <p:spPr>
          <a:xfrm>
            <a:off x="548640" y="4005072"/>
            <a:ext cx="11064240" cy="548640"/>
          </a:xfrm>
          <a:prstGeom prst="roundRect">
            <a:avLst>
              <a:gd name="adj" fmla="val 13333"/>
            </a:avLst>
          </a:prstGeom>
          <a:solidFill>
            <a:srgbClr val="DDE3CC"/>
          </a:solidFill>
          <a:ln/>
        </p:spPr>
      </p:sp>
      <p:sp>
        <p:nvSpPr>
          <p:cNvPr id="25" name="Text 22"/>
          <p:cNvSpPr/>
          <p:nvPr/>
        </p:nvSpPr>
        <p:spPr>
          <a:xfrm>
            <a:off x="822960" y="4005072"/>
            <a:ext cx="914400" cy="548640"/>
          </a:xfrm>
          <a:prstGeom prst="rect">
            <a:avLst/>
          </a:prstGeom>
          <a:noFill/>
          <a:ln/>
        </p:spPr>
        <p:txBody>
          <a:bodyPr wrap="square" lIns="0" tIns="0" rIns="0" bIns="0" rtlCol="0" anchor="ctr"/>
          <a:lstStyle/>
          <a:p>
            <a:pPr indent="0" marL="0">
              <a:buNone/>
            </a:pPr>
            <a:r>
              <a:rPr lang="en-US" sz="1300" dirty="0">
                <a:solidFill>
                  <a:srgbClr val="9A8A72"/>
                </a:solidFill>
                <a:latin typeface="Courier New" pitchFamily="34" charset="0"/>
                <a:ea typeface="Courier New" pitchFamily="34" charset="-122"/>
                <a:cs typeface="Courier New" pitchFamily="34" charset="-120"/>
              </a:rPr>
              <a:t>1:12</a:t>
            </a:r>
            <a:endParaRPr lang="en-US" sz="1300" dirty="0"/>
          </a:p>
        </p:txBody>
      </p:sp>
      <p:sp>
        <p:nvSpPr>
          <p:cNvPr id="26" name="Text 23"/>
          <p:cNvSpPr/>
          <p:nvPr/>
        </p:nvSpPr>
        <p:spPr>
          <a:xfrm>
            <a:off x="1920240" y="4005072"/>
            <a:ext cx="3108960" cy="548640"/>
          </a:xfrm>
          <a:prstGeom prst="rect">
            <a:avLst/>
          </a:prstGeom>
          <a:noFill/>
          <a:ln/>
        </p:spPr>
        <p:txBody>
          <a:bodyPr wrap="square" lIns="0" tIns="0" rIns="0" bIns="0" rtlCol="0" anchor="ctr"/>
          <a:lstStyle/>
          <a:p>
            <a:pPr indent="0" marL="0">
              <a:buNone/>
            </a:pPr>
            <a:r>
              <a:rPr lang="en-US" sz="1450" b="1" dirty="0">
                <a:solidFill>
                  <a:srgbClr val="3A2C1A"/>
                </a:solidFill>
                <a:latin typeface="Helvetica Neue" pitchFamily="34" charset="0"/>
                <a:ea typeface="Helvetica Neue" pitchFamily="34" charset="-122"/>
                <a:cs typeface="Helvetica Neue" pitchFamily="34" charset="-120"/>
              </a:rPr>
              <a:t>Parallelism</a:t>
            </a:r>
            <a:endParaRPr lang="en-US" sz="1450" dirty="0"/>
          </a:p>
        </p:txBody>
      </p:sp>
      <p:sp>
        <p:nvSpPr>
          <p:cNvPr id="27" name="Text 24"/>
          <p:cNvSpPr/>
          <p:nvPr/>
        </p:nvSpPr>
        <p:spPr>
          <a:xfrm>
            <a:off x="5212080" y="4005072"/>
            <a:ext cx="6217920" cy="548640"/>
          </a:xfrm>
          <a:prstGeom prst="rect">
            <a:avLst/>
          </a:prstGeom>
          <a:noFill/>
          <a:ln/>
        </p:spPr>
        <p:txBody>
          <a:bodyPr wrap="square" lIns="0" tIns="0" rIns="0" bIns="0" rtlCol="0" anchor="ctr">
            <a:normAutofit/>
          </a:bodyPr>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reads scale out; writes never do</a:t>
            </a:r>
            <a:endParaRPr lang="en-US" sz="1250" dirty="0"/>
          </a:p>
        </p:txBody>
      </p:sp>
      <p:sp>
        <p:nvSpPr>
          <p:cNvPr id="28" name="Shape 25"/>
          <p:cNvSpPr/>
          <p:nvPr/>
        </p:nvSpPr>
        <p:spPr>
          <a:xfrm>
            <a:off x="548640" y="4663440"/>
            <a:ext cx="11064240" cy="548640"/>
          </a:xfrm>
          <a:prstGeom prst="roundRect">
            <a:avLst>
              <a:gd name="adj" fmla="val 13333"/>
            </a:avLst>
          </a:prstGeom>
          <a:solidFill>
            <a:srgbClr val="DFD6C0"/>
          </a:solidFill>
          <a:ln/>
        </p:spPr>
      </p:sp>
      <p:sp>
        <p:nvSpPr>
          <p:cNvPr id="29" name="Text 26"/>
          <p:cNvSpPr/>
          <p:nvPr/>
        </p:nvSpPr>
        <p:spPr>
          <a:xfrm>
            <a:off x="822960" y="4663440"/>
            <a:ext cx="914400" cy="548640"/>
          </a:xfrm>
          <a:prstGeom prst="rect">
            <a:avLst/>
          </a:prstGeom>
          <a:noFill/>
          <a:ln/>
        </p:spPr>
        <p:txBody>
          <a:bodyPr wrap="square" lIns="0" tIns="0" rIns="0" bIns="0" rtlCol="0" anchor="ctr"/>
          <a:lstStyle/>
          <a:p>
            <a:pPr indent="0" marL="0">
              <a:buNone/>
            </a:pPr>
            <a:r>
              <a:rPr lang="en-US" sz="1300" dirty="0">
                <a:solidFill>
                  <a:srgbClr val="9A8A72"/>
                </a:solidFill>
                <a:latin typeface="Courier New" pitchFamily="34" charset="0"/>
                <a:ea typeface="Courier New" pitchFamily="34" charset="-122"/>
                <a:cs typeface="Courier New" pitchFamily="34" charset="-120"/>
              </a:rPr>
              <a:t>1:38</a:t>
            </a:r>
            <a:endParaRPr lang="en-US" sz="1300" dirty="0"/>
          </a:p>
        </p:txBody>
      </p:sp>
      <p:sp>
        <p:nvSpPr>
          <p:cNvPr id="30" name="Text 27"/>
          <p:cNvSpPr/>
          <p:nvPr/>
        </p:nvSpPr>
        <p:spPr>
          <a:xfrm>
            <a:off x="1920240" y="4663440"/>
            <a:ext cx="3108960" cy="548640"/>
          </a:xfrm>
          <a:prstGeom prst="rect">
            <a:avLst/>
          </a:prstGeom>
          <a:noFill/>
          <a:ln/>
        </p:spPr>
        <p:txBody>
          <a:bodyPr wrap="square" lIns="0" tIns="0" rIns="0" bIns="0" rtlCol="0" anchor="ctr"/>
          <a:lstStyle/>
          <a:p>
            <a:pPr indent="0" marL="0">
              <a:buNone/>
            </a:pPr>
            <a:r>
              <a:rPr lang="en-US" sz="1450" b="1" dirty="0">
                <a:solidFill>
                  <a:srgbClr val="3A2C1A"/>
                </a:solidFill>
                <a:latin typeface="Helvetica Neue" pitchFamily="34" charset="0"/>
                <a:ea typeface="Helvetica Neue" pitchFamily="34" charset="-122"/>
                <a:cs typeface="Helvetica Neue" pitchFamily="34" charset="-120"/>
              </a:rPr>
              <a:t>Caches</a:t>
            </a:r>
            <a:endParaRPr lang="en-US" sz="1450" dirty="0"/>
          </a:p>
        </p:txBody>
      </p:sp>
      <p:sp>
        <p:nvSpPr>
          <p:cNvPr id="31" name="Text 28"/>
          <p:cNvSpPr/>
          <p:nvPr/>
        </p:nvSpPr>
        <p:spPr>
          <a:xfrm>
            <a:off x="5212080" y="4663440"/>
            <a:ext cx="6217920" cy="548640"/>
          </a:xfrm>
          <a:prstGeom prst="rect">
            <a:avLst/>
          </a:prstGeom>
          <a:noFill/>
          <a:ln/>
        </p:spPr>
        <p:txBody>
          <a:bodyPr wrap="square" lIns="0" tIns="0" rIns="0" bIns="0" rtlCol="0" anchor="ctr">
            <a:normAutofit/>
          </a:bodyPr>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keep reads near the top of the ladder</a:t>
            </a:r>
            <a:endParaRPr lang="en-US" sz="1250" dirty="0"/>
          </a:p>
        </p:txBody>
      </p:sp>
      <p:sp>
        <p:nvSpPr>
          <p:cNvPr id="32" name="Shape 29"/>
          <p:cNvSpPr/>
          <p:nvPr/>
        </p:nvSpPr>
        <p:spPr>
          <a:xfrm>
            <a:off x="548640" y="5321808"/>
            <a:ext cx="11064240" cy="548640"/>
          </a:xfrm>
          <a:prstGeom prst="roundRect">
            <a:avLst>
              <a:gd name="adj" fmla="val 13333"/>
            </a:avLst>
          </a:prstGeom>
          <a:solidFill>
            <a:srgbClr val="E6DFCE"/>
          </a:solidFill>
          <a:ln/>
        </p:spPr>
      </p:sp>
      <p:sp>
        <p:nvSpPr>
          <p:cNvPr id="33" name="Text 30"/>
          <p:cNvSpPr/>
          <p:nvPr/>
        </p:nvSpPr>
        <p:spPr>
          <a:xfrm>
            <a:off x="822960" y="5321808"/>
            <a:ext cx="914400" cy="548640"/>
          </a:xfrm>
          <a:prstGeom prst="rect">
            <a:avLst/>
          </a:prstGeom>
          <a:noFill/>
          <a:ln/>
        </p:spPr>
        <p:txBody>
          <a:bodyPr wrap="square" lIns="0" tIns="0" rIns="0" bIns="0" rtlCol="0" anchor="ctr"/>
          <a:lstStyle/>
          <a:p>
            <a:pPr indent="0" marL="0">
              <a:buNone/>
            </a:pPr>
            <a:r>
              <a:rPr lang="en-US" sz="1300" dirty="0">
                <a:solidFill>
                  <a:srgbClr val="9A8A72"/>
                </a:solidFill>
                <a:latin typeface="Courier New" pitchFamily="34" charset="0"/>
                <a:ea typeface="Courier New" pitchFamily="34" charset="-122"/>
                <a:cs typeface="Courier New" pitchFamily="34" charset="-120"/>
              </a:rPr>
              <a:t>1:55</a:t>
            </a:r>
            <a:endParaRPr lang="en-US" sz="1300" dirty="0"/>
          </a:p>
        </p:txBody>
      </p:sp>
      <p:sp>
        <p:nvSpPr>
          <p:cNvPr id="34" name="Text 31"/>
          <p:cNvSpPr/>
          <p:nvPr/>
        </p:nvSpPr>
        <p:spPr>
          <a:xfrm>
            <a:off x="1920240" y="5321808"/>
            <a:ext cx="3108960" cy="548640"/>
          </a:xfrm>
          <a:prstGeom prst="rect">
            <a:avLst/>
          </a:prstGeom>
          <a:noFill/>
          <a:ln/>
        </p:spPr>
        <p:txBody>
          <a:bodyPr wrap="square" lIns="0" tIns="0" rIns="0" bIns="0" rtlCol="0" anchor="ctr"/>
          <a:lstStyle/>
          <a:p>
            <a:pPr indent="0" marL="0">
              <a:buNone/>
            </a:pPr>
            <a:r>
              <a:rPr lang="en-US" sz="1450" b="1" dirty="0">
                <a:solidFill>
                  <a:srgbClr val="3A2C1A"/>
                </a:solidFill>
                <a:latin typeface="Helvetica Neue" pitchFamily="34" charset="0"/>
                <a:ea typeface="Helvetica Neue" pitchFamily="34" charset="-122"/>
                <a:cs typeface="Helvetica Neue" pitchFamily="34" charset="-120"/>
              </a:rPr>
              <a:t>Summary</a:t>
            </a:r>
            <a:endParaRPr lang="en-US" sz="1450" dirty="0"/>
          </a:p>
        </p:txBody>
      </p:sp>
      <p:sp>
        <p:nvSpPr>
          <p:cNvPr id="35" name="Text 32"/>
          <p:cNvSpPr/>
          <p:nvPr/>
        </p:nvSpPr>
        <p:spPr>
          <a:xfrm>
            <a:off x="5212080" y="5321808"/>
            <a:ext cx="6217920" cy="548640"/>
          </a:xfrm>
          <a:prstGeom prst="rect">
            <a:avLst/>
          </a:prstGeom>
          <a:noFill/>
          <a:ln/>
        </p:spPr>
        <p:txBody>
          <a:bodyPr wrap="square" lIns="0" tIns="0" rIns="0" bIns="0" rtlCol="0" anchor="ctr">
            <a:normAutofit/>
          </a:bodyPr>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fails · waits · scales · costs</a:t>
            </a:r>
            <a:endParaRPr lang="en-US" sz="1250" dirty="0"/>
          </a:p>
        </p:txBody>
      </p:sp>
      <p:sp>
        <p:nvSpPr>
          <p:cNvPr id="36" name="Text 33"/>
          <p:cNvSpPr/>
          <p:nvPr/>
        </p:nvSpPr>
        <p:spPr>
          <a:xfrm>
            <a:off x="548640" y="6172200"/>
            <a:ext cx="11064240" cy="365760"/>
          </a:xfrm>
          <a:prstGeom prst="rect">
            <a:avLst/>
          </a:prstGeom>
          <a:noFill/>
          <a:ln/>
        </p:spPr>
        <p:txBody>
          <a:bodyPr wrap="square" lIns="0" tIns="0" rIns="0" bIns="0" rtlCol="0" anchor="t">
            <a:normAutofit/>
          </a:bodyPr>
          <a:lstStyle/>
          <a:p>
            <a:pPr indent="0" marL="0">
              <a:buNone/>
            </a:pPr>
            <a:r>
              <a:rPr lang="en-US" sz="1250" i="1" dirty="0">
                <a:solidFill>
                  <a:srgbClr val="9A8A72"/>
                </a:solidFill>
                <a:latin typeface="Helvetica Neue" pitchFamily="34" charset="0"/>
                <a:ea typeface="Helvetica Neue" pitchFamily="34" charset="-122"/>
                <a:cs typeface="Helvetica Neue" pitchFamily="34" charset="-120"/>
              </a:rPr>
              <a:t>infra/HA.md has the two-transactor setup, if you want to run Part II's failover yourself.</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THE MAP</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4</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Three moving parts</a:t>
            </a:r>
            <a:endParaRPr lang="en-US" sz="2500" dirty="0"/>
          </a:p>
        </p:txBody>
      </p:sp>
      <p:sp>
        <p:nvSpPr>
          <p:cNvPr id="8" name="Shape 5"/>
          <p:cNvSpPr/>
          <p:nvPr/>
        </p:nvSpPr>
        <p:spPr>
          <a:xfrm>
            <a:off x="2194560" y="1371600"/>
            <a:ext cx="1737360" cy="685800"/>
          </a:xfrm>
          <a:prstGeom prst="roundRect">
            <a:avLst>
              <a:gd name="adj" fmla="val 8000"/>
            </a:avLst>
          </a:prstGeom>
          <a:solidFill>
            <a:srgbClr val="D3DEE1"/>
          </a:solidFill>
          <a:ln w="15875">
            <a:solidFill>
              <a:srgbClr val="3F6470"/>
            </a:solidFill>
            <a:prstDash val="solid"/>
          </a:ln>
        </p:spPr>
      </p:sp>
      <p:sp>
        <p:nvSpPr>
          <p:cNvPr id="9" name="Text 6"/>
          <p:cNvSpPr/>
          <p:nvPr/>
        </p:nvSpPr>
        <p:spPr>
          <a:xfrm>
            <a:off x="2267712" y="1371600"/>
            <a:ext cx="1591056" cy="685800"/>
          </a:xfrm>
          <a:prstGeom prst="rect">
            <a:avLst/>
          </a:prstGeom>
          <a:noFill/>
          <a:ln/>
        </p:spPr>
        <p:txBody>
          <a:bodyPr wrap="square" lIns="0" tIns="0" rIns="0" bIns="0" rtlCol="0" anchor="ctr">
            <a:normAutofit/>
          </a:bodyPr>
          <a:lstStyle/>
          <a:p>
            <a:pPr algn="ctr" indent="0" marL="0">
              <a:buNone/>
            </a:pPr>
            <a:r>
              <a:rPr lang="en-US" sz="1400" b="1" dirty="0">
                <a:solidFill>
                  <a:srgbClr val="3A2C1A"/>
                </a:solidFill>
                <a:latin typeface="Helvetica Neue" pitchFamily="34" charset="0"/>
                <a:ea typeface="Helvetica Neue" pitchFamily="34" charset="-122"/>
                <a:cs typeface="Helvetica Neue" pitchFamily="34" charset="-120"/>
              </a:rPr>
              <a:t>peer</a:t>
            </a:r>
            <a:endParaRPr lang="en-US" sz="1400" dirty="0"/>
          </a:p>
        </p:txBody>
      </p:sp>
      <p:sp>
        <p:nvSpPr>
          <p:cNvPr id="10" name="Shape 7"/>
          <p:cNvSpPr/>
          <p:nvPr/>
        </p:nvSpPr>
        <p:spPr>
          <a:xfrm>
            <a:off x="3063240" y="2057400"/>
            <a:ext cx="0" cy="1005840"/>
          </a:xfrm>
          <a:prstGeom prst="line">
            <a:avLst/>
          </a:prstGeom>
          <a:noFill/>
          <a:ln w="19050">
            <a:solidFill>
              <a:srgbClr val="3F6470"/>
            </a:solidFill>
            <a:prstDash val="solid"/>
            <a:headEnd type="none"/>
            <a:tailEnd type="triangle"/>
          </a:ln>
        </p:spPr>
      </p:sp>
      <p:sp>
        <p:nvSpPr>
          <p:cNvPr id="11" name="Shape 8"/>
          <p:cNvSpPr/>
          <p:nvPr/>
        </p:nvSpPr>
        <p:spPr>
          <a:xfrm>
            <a:off x="4572000" y="1371600"/>
            <a:ext cx="1737360" cy="685800"/>
          </a:xfrm>
          <a:prstGeom prst="roundRect">
            <a:avLst>
              <a:gd name="adj" fmla="val 8000"/>
            </a:avLst>
          </a:prstGeom>
          <a:solidFill>
            <a:srgbClr val="D3DEE1"/>
          </a:solidFill>
          <a:ln w="15875">
            <a:solidFill>
              <a:srgbClr val="3F6470"/>
            </a:solidFill>
            <a:prstDash val="solid"/>
          </a:ln>
        </p:spPr>
      </p:sp>
      <p:sp>
        <p:nvSpPr>
          <p:cNvPr id="12" name="Text 9"/>
          <p:cNvSpPr/>
          <p:nvPr/>
        </p:nvSpPr>
        <p:spPr>
          <a:xfrm>
            <a:off x="4645152" y="1371600"/>
            <a:ext cx="1591056" cy="685800"/>
          </a:xfrm>
          <a:prstGeom prst="rect">
            <a:avLst/>
          </a:prstGeom>
          <a:noFill/>
          <a:ln/>
        </p:spPr>
        <p:txBody>
          <a:bodyPr wrap="square" lIns="0" tIns="0" rIns="0" bIns="0" rtlCol="0" anchor="ctr">
            <a:normAutofit/>
          </a:bodyPr>
          <a:lstStyle/>
          <a:p>
            <a:pPr algn="ctr" indent="0" marL="0">
              <a:buNone/>
            </a:pPr>
            <a:r>
              <a:rPr lang="en-US" sz="1400" b="1" dirty="0">
                <a:solidFill>
                  <a:srgbClr val="3A2C1A"/>
                </a:solidFill>
                <a:latin typeface="Helvetica Neue" pitchFamily="34" charset="0"/>
                <a:ea typeface="Helvetica Neue" pitchFamily="34" charset="-122"/>
                <a:cs typeface="Helvetica Neue" pitchFamily="34" charset="-120"/>
              </a:rPr>
              <a:t>peer</a:t>
            </a:r>
            <a:endParaRPr lang="en-US" sz="1400" dirty="0"/>
          </a:p>
        </p:txBody>
      </p:sp>
      <p:sp>
        <p:nvSpPr>
          <p:cNvPr id="13" name="Shape 10"/>
          <p:cNvSpPr/>
          <p:nvPr/>
        </p:nvSpPr>
        <p:spPr>
          <a:xfrm>
            <a:off x="5440680" y="2057400"/>
            <a:ext cx="0" cy="1005840"/>
          </a:xfrm>
          <a:prstGeom prst="line">
            <a:avLst/>
          </a:prstGeom>
          <a:noFill/>
          <a:ln w="19050">
            <a:solidFill>
              <a:srgbClr val="3F6470"/>
            </a:solidFill>
            <a:prstDash val="solid"/>
            <a:headEnd type="none"/>
            <a:tailEnd type="triangle"/>
          </a:ln>
        </p:spPr>
      </p:sp>
      <p:sp>
        <p:nvSpPr>
          <p:cNvPr id="14" name="Shape 11"/>
          <p:cNvSpPr/>
          <p:nvPr/>
        </p:nvSpPr>
        <p:spPr>
          <a:xfrm>
            <a:off x="6949440" y="1371600"/>
            <a:ext cx="1737360" cy="685800"/>
          </a:xfrm>
          <a:prstGeom prst="roundRect">
            <a:avLst>
              <a:gd name="adj" fmla="val 8000"/>
            </a:avLst>
          </a:prstGeom>
          <a:solidFill>
            <a:srgbClr val="D3DEE1"/>
          </a:solidFill>
          <a:ln w="15875">
            <a:solidFill>
              <a:srgbClr val="3F6470"/>
            </a:solidFill>
            <a:prstDash val="solid"/>
          </a:ln>
        </p:spPr>
      </p:sp>
      <p:sp>
        <p:nvSpPr>
          <p:cNvPr id="15" name="Text 12"/>
          <p:cNvSpPr/>
          <p:nvPr/>
        </p:nvSpPr>
        <p:spPr>
          <a:xfrm>
            <a:off x="7022592" y="1371600"/>
            <a:ext cx="1591056" cy="685800"/>
          </a:xfrm>
          <a:prstGeom prst="rect">
            <a:avLst/>
          </a:prstGeom>
          <a:noFill/>
          <a:ln/>
        </p:spPr>
        <p:txBody>
          <a:bodyPr wrap="square" lIns="0" tIns="0" rIns="0" bIns="0" rtlCol="0" anchor="ctr">
            <a:normAutofit/>
          </a:bodyPr>
          <a:lstStyle/>
          <a:p>
            <a:pPr algn="ctr" indent="0" marL="0">
              <a:buNone/>
            </a:pPr>
            <a:r>
              <a:rPr lang="en-US" sz="1400" b="1" dirty="0">
                <a:solidFill>
                  <a:srgbClr val="3A2C1A"/>
                </a:solidFill>
                <a:latin typeface="Helvetica Neue" pitchFamily="34" charset="0"/>
                <a:ea typeface="Helvetica Neue" pitchFamily="34" charset="-122"/>
                <a:cs typeface="Helvetica Neue" pitchFamily="34" charset="-120"/>
              </a:rPr>
              <a:t>peer</a:t>
            </a:r>
            <a:endParaRPr lang="en-US" sz="1400" dirty="0"/>
          </a:p>
        </p:txBody>
      </p:sp>
      <p:sp>
        <p:nvSpPr>
          <p:cNvPr id="16" name="Shape 13"/>
          <p:cNvSpPr/>
          <p:nvPr/>
        </p:nvSpPr>
        <p:spPr>
          <a:xfrm>
            <a:off x="7818120" y="2057400"/>
            <a:ext cx="0" cy="1005840"/>
          </a:xfrm>
          <a:prstGeom prst="line">
            <a:avLst/>
          </a:prstGeom>
          <a:noFill/>
          <a:ln w="19050">
            <a:solidFill>
              <a:srgbClr val="3F6470"/>
            </a:solidFill>
            <a:prstDash val="solid"/>
            <a:headEnd type="none"/>
            <a:tailEnd type="triangle"/>
          </a:ln>
        </p:spPr>
      </p:sp>
      <p:sp>
        <p:nvSpPr>
          <p:cNvPr id="17" name="Text 14"/>
          <p:cNvSpPr/>
          <p:nvPr/>
        </p:nvSpPr>
        <p:spPr>
          <a:xfrm>
            <a:off x="8138160" y="1371600"/>
            <a:ext cx="3291840" cy="731520"/>
          </a:xfrm>
          <a:prstGeom prst="rect">
            <a:avLst/>
          </a:prstGeom>
          <a:noFill/>
          <a:ln/>
        </p:spPr>
        <p:txBody>
          <a:bodyPr wrap="square" lIns="0" tIns="0" rIns="0" bIns="0" rtlCol="0" anchor="t"/>
          <a:lstStyle/>
          <a:p>
            <a:pPr indent="0" marL="0">
              <a:buNone/>
            </a:pPr>
            <a:r>
              <a:rPr lang="en-US" sz="1350" b="1" dirty="0">
                <a:solidFill>
                  <a:srgbClr val="3F6470"/>
                </a:solidFill>
                <a:latin typeface="Helvetica Neue" pitchFamily="34" charset="0"/>
                <a:ea typeface="Helvetica Neue" pitchFamily="34" charset="-122"/>
                <a:cs typeface="Helvetica Neue" pitchFamily="34" charset="-120"/>
              </a:rPr>
              <a:t>queries run HERE</a:t>
            </a:r>
            <a:endParaRPr lang="en-US" sz="1350" dirty="0"/>
          </a:p>
          <a:p>
            <a:pPr indent="0" marL="0">
              <a:buNone/>
            </a:pPr>
            <a:r>
              <a:rPr lang="en-US" sz="1350" b="1" dirty="0">
                <a:solidFill>
                  <a:srgbClr val="3F6470"/>
                </a:solidFill>
                <a:latin typeface="Helvetica Neue" pitchFamily="34" charset="0"/>
                <a:ea typeface="Helvetica Neue" pitchFamily="34" charset="-122"/>
                <a:cs typeface="Helvetica Neue" pitchFamily="34" charset="-120"/>
              </a:rPr>
              <a:t>(inside your app)</a:t>
            </a:r>
            <a:endParaRPr lang="en-US" sz="1350" dirty="0"/>
          </a:p>
        </p:txBody>
      </p:sp>
      <p:sp>
        <p:nvSpPr>
          <p:cNvPr id="18" name="Shape 15"/>
          <p:cNvSpPr/>
          <p:nvPr/>
        </p:nvSpPr>
        <p:spPr>
          <a:xfrm>
            <a:off x="2194560" y="3063240"/>
            <a:ext cx="5943600" cy="822960"/>
          </a:xfrm>
          <a:prstGeom prst="roundRect">
            <a:avLst>
              <a:gd name="adj" fmla="val 6667"/>
            </a:avLst>
          </a:prstGeom>
          <a:solidFill>
            <a:srgbClr val="2C2416"/>
          </a:solidFill>
          <a:ln/>
        </p:spPr>
      </p:sp>
      <p:sp>
        <p:nvSpPr>
          <p:cNvPr id="19" name="Text 16"/>
          <p:cNvSpPr/>
          <p:nvPr/>
        </p:nvSpPr>
        <p:spPr>
          <a:xfrm>
            <a:off x="2267712" y="3063240"/>
            <a:ext cx="5797296" cy="822960"/>
          </a:xfrm>
          <a:prstGeom prst="rect">
            <a:avLst/>
          </a:prstGeom>
          <a:noFill/>
          <a:ln/>
        </p:spPr>
        <p:txBody>
          <a:bodyPr wrap="square" lIns="0" tIns="0" rIns="0" bIns="0" rtlCol="0" anchor="ctr">
            <a:normAutofit/>
          </a:bodyPr>
          <a:lstStyle/>
          <a:p>
            <a:pPr algn="ctr" indent="0" marL="0">
              <a:buNone/>
            </a:pPr>
            <a:r>
              <a:rPr lang="en-US" sz="1600" b="1" dirty="0">
                <a:solidFill>
                  <a:srgbClr val="FCFAF4"/>
                </a:solidFill>
                <a:latin typeface="Helvetica Neue" pitchFamily="34" charset="0"/>
                <a:ea typeface="Helvetica Neue" pitchFamily="34" charset="-122"/>
                <a:cs typeface="Helvetica Neue" pitchFamily="34" charset="-120"/>
              </a:rPr>
              <a:t>STORAGE</a:t>
            </a:r>
            <a:endParaRPr lang="en-US" sz="1600" dirty="0"/>
          </a:p>
        </p:txBody>
      </p:sp>
      <p:sp>
        <p:nvSpPr>
          <p:cNvPr id="20" name="Text 17"/>
          <p:cNvSpPr/>
          <p:nvPr/>
        </p:nvSpPr>
        <p:spPr>
          <a:xfrm>
            <a:off x="8138160" y="3063240"/>
            <a:ext cx="3291840" cy="731520"/>
          </a:xfrm>
          <a:prstGeom prst="rect">
            <a:avLst/>
          </a:prstGeom>
          <a:noFill/>
          <a:ln/>
        </p:spPr>
        <p:txBody>
          <a:bodyPr wrap="square" lIns="0" tIns="0" rIns="0" bIns="0" rtlCol="0" anchor="t"/>
          <a:lstStyle/>
          <a:p>
            <a:pPr indent="0" marL="0">
              <a:buNone/>
            </a:pPr>
            <a:r>
              <a:rPr lang="en-US" sz="1350" b="1" dirty="0">
                <a:solidFill>
                  <a:srgbClr val="3A2C1A"/>
                </a:solidFill>
                <a:latin typeface="Helvetica Neue" pitchFamily="34" charset="0"/>
                <a:ea typeface="Helvetica Neue" pitchFamily="34" charset="-122"/>
                <a:cs typeface="Helvetica Neue" pitchFamily="34" charset="-120"/>
              </a:rPr>
              <a:t>keeps the data</a:t>
            </a:r>
            <a:endParaRPr lang="en-US" sz="1350" dirty="0"/>
          </a:p>
          <a:p>
            <a:pPr indent="0" marL="0">
              <a:buNone/>
            </a:pPr>
            <a:r>
              <a:rPr lang="en-US" sz="1350" b="1" dirty="0">
                <a:solidFill>
                  <a:srgbClr val="3A2C1A"/>
                </a:solidFill>
                <a:latin typeface="Helvetica Neue" pitchFamily="34" charset="0"/>
                <a:ea typeface="Helvetica Neue" pitchFamily="34" charset="-122"/>
                <a:cs typeface="Helvetica Neue" pitchFamily="34" charset="-120"/>
              </a:rPr>
              <a:t>(Postgres, DynamoDB…)</a:t>
            </a:r>
            <a:endParaRPr lang="en-US" sz="1350" dirty="0"/>
          </a:p>
        </p:txBody>
      </p:sp>
      <p:sp>
        <p:nvSpPr>
          <p:cNvPr id="21" name="Shape 18"/>
          <p:cNvSpPr/>
          <p:nvPr/>
        </p:nvSpPr>
        <p:spPr>
          <a:xfrm>
            <a:off x="4023360" y="4617720"/>
            <a:ext cx="2286000" cy="731520"/>
          </a:xfrm>
          <a:prstGeom prst="roundRect">
            <a:avLst>
              <a:gd name="adj" fmla="val 7500"/>
            </a:avLst>
          </a:prstGeom>
          <a:solidFill>
            <a:srgbClr val="EDE0C4"/>
          </a:solidFill>
          <a:ln w="15875">
            <a:solidFill>
              <a:srgbClr val="B5822B"/>
            </a:solidFill>
            <a:prstDash val="solid"/>
          </a:ln>
        </p:spPr>
      </p:sp>
      <p:sp>
        <p:nvSpPr>
          <p:cNvPr id="22" name="Text 19"/>
          <p:cNvSpPr/>
          <p:nvPr/>
        </p:nvSpPr>
        <p:spPr>
          <a:xfrm>
            <a:off x="4096512" y="4617720"/>
            <a:ext cx="2139696" cy="731520"/>
          </a:xfrm>
          <a:prstGeom prst="rect">
            <a:avLst/>
          </a:prstGeom>
          <a:noFill/>
          <a:ln/>
        </p:spPr>
        <p:txBody>
          <a:bodyPr wrap="square" lIns="0" tIns="0" rIns="0" bIns="0" rtlCol="0" anchor="ctr">
            <a:normAutofit/>
          </a:bodyPr>
          <a:lstStyle/>
          <a:p>
            <a:pPr algn="ctr" indent="0" marL="0">
              <a:buNone/>
            </a:pPr>
            <a:r>
              <a:rPr lang="en-US" sz="1400" b="1" dirty="0">
                <a:solidFill>
                  <a:srgbClr val="3A2C1A"/>
                </a:solidFill>
                <a:latin typeface="Helvetica Neue" pitchFamily="34" charset="0"/>
                <a:ea typeface="Helvetica Neue" pitchFamily="34" charset="-122"/>
                <a:cs typeface="Helvetica Neue" pitchFamily="34" charset="-120"/>
              </a:rPr>
              <a:t>transactor</a:t>
            </a:r>
            <a:endParaRPr lang="en-US" sz="1400" dirty="0"/>
          </a:p>
        </p:txBody>
      </p:sp>
      <p:sp>
        <p:nvSpPr>
          <p:cNvPr id="23" name="Shape 20"/>
          <p:cNvSpPr/>
          <p:nvPr/>
        </p:nvSpPr>
        <p:spPr>
          <a:xfrm flipV="1">
            <a:off x="5166360" y="3886200"/>
            <a:ext cx="0" cy="731520"/>
          </a:xfrm>
          <a:prstGeom prst="line">
            <a:avLst/>
          </a:prstGeom>
          <a:noFill/>
          <a:ln w="19050">
            <a:solidFill>
              <a:srgbClr val="B5822B"/>
            </a:solidFill>
            <a:prstDash val="solid"/>
            <a:headEnd type="none"/>
            <a:tailEnd type="triangle"/>
          </a:ln>
        </p:spPr>
      </p:sp>
      <p:sp>
        <p:nvSpPr>
          <p:cNvPr id="24" name="Text 21"/>
          <p:cNvSpPr/>
          <p:nvPr/>
        </p:nvSpPr>
        <p:spPr>
          <a:xfrm>
            <a:off x="5715000" y="4105656"/>
            <a:ext cx="1280160" cy="292608"/>
          </a:xfrm>
          <a:prstGeom prst="rect">
            <a:avLst/>
          </a:prstGeom>
          <a:noFill/>
          <a:ln/>
        </p:spPr>
        <p:txBody>
          <a:bodyPr wrap="square" lIns="0" tIns="0" rIns="0" bIns="0" rtlCol="0" anchor="ctr">
            <a:normAutofit/>
          </a:bodyPr>
          <a:lstStyle/>
          <a:p>
            <a:pPr algn="ctr" indent="0" marL="0">
              <a:buNone/>
            </a:pPr>
            <a:r>
              <a:rPr lang="en-US" sz="1000" dirty="0">
                <a:solidFill>
                  <a:srgbClr val="B5822B"/>
                </a:solidFill>
                <a:latin typeface="Helvetica Neue" pitchFamily="34" charset="0"/>
                <a:ea typeface="Helvetica Neue" pitchFamily="34" charset="-122"/>
                <a:cs typeface="Helvetica Neue" pitchFamily="34" charset="-120"/>
              </a:rPr>
              <a:t>ALL writes</a:t>
            </a:r>
            <a:endParaRPr lang="en-US" sz="1000" dirty="0"/>
          </a:p>
        </p:txBody>
      </p:sp>
      <p:sp>
        <p:nvSpPr>
          <p:cNvPr id="25" name="Text 22"/>
          <p:cNvSpPr/>
          <p:nvPr/>
        </p:nvSpPr>
        <p:spPr>
          <a:xfrm>
            <a:off x="8138160" y="4617720"/>
            <a:ext cx="3291840" cy="731520"/>
          </a:xfrm>
          <a:prstGeom prst="rect">
            <a:avLst/>
          </a:prstGeom>
          <a:noFill/>
          <a:ln/>
        </p:spPr>
        <p:txBody>
          <a:bodyPr wrap="square" lIns="0" tIns="0" rIns="0" bIns="0" rtlCol="0" anchor="t"/>
          <a:lstStyle/>
          <a:p>
            <a:pPr indent="0" marL="0">
              <a:buNone/>
            </a:pPr>
            <a:r>
              <a:rPr lang="en-US" sz="1350" b="1" dirty="0">
                <a:solidFill>
                  <a:srgbClr val="B5822B"/>
                </a:solidFill>
                <a:latin typeface="Helvetica Neue" pitchFamily="34" charset="0"/>
                <a:ea typeface="Helvetica Neue" pitchFamily="34" charset="-122"/>
                <a:cs typeface="Helvetica Neue" pitchFamily="34" charset="-120"/>
              </a:rPr>
              <a:t>one process — every</a:t>
            </a:r>
            <a:endParaRPr lang="en-US" sz="1350" dirty="0"/>
          </a:p>
          <a:p>
            <a:pPr indent="0" marL="0">
              <a:buNone/>
            </a:pPr>
            <a:r>
              <a:rPr lang="en-US" sz="1350" b="1" dirty="0">
                <a:solidFill>
                  <a:srgbClr val="B5822B"/>
                </a:solidFill>
                <a:latin typeface="Helvetica Neue" pitchFamily="34" charset="0"/>
                <a:ea typeface="Helvetica Neue" pitchFamily="34" charset="-122"/>
                <a:cs typeface="Helvetica Neue" pitchFamily="34" charset="-120"/>
              </a:rPr>
              <a:t>write goes through it</a:t>
            </a:r>
            <a:endParaRPr lang="en-US" sz="1350" dirty="0"/>
          </a:p>
        </p:txBody>
      </p:sp>
      <p:sp>
        <p:nvSpPr>
          <p:cNvPr id="26" name="Shape 23"/>
          <p:cNvSpPr/>
          <p:nvPr/>
        </p:nvSpPr>
        <p:spPr>
          <a:xfrm>
            <a:off x="548640" y="5623560"/>
            <a:ext cx="54864" cy="457200"/>
          </a:xfrm>
          <a:prstGeom prst="rect">
            <a:avLst/>
          </a:prstGeom>
          <a:solidFill>
            <a:srgbClr val="A8864A"/>
          </a:solidFill>
          <a:ln/>
        </p:spPr>
      </p:sp>
      <p:sp>
        <p:nvSpPr>
          <p:cNvPr id="27" name="Text 24"/>
          <p:cNvSpPr/>
          <p:nvPr/>
        </p:nvSpPr>
        <p:spPr>
          <a:xfrm>
            <a:off x="777240" y="562356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Peers read storage directly — they never ask the transactor anything. Reads and writes are separate worlds.</a:t>
            </a:r>
            <a:endParaRPr lang="en-US" sz="1450" dirty="0"/>
          </a:p>
        </p:txBody>
      </p:sp>
      <p:sp>
        <p:nvSpPr>
          <p:cNvPr id="28" name="Shape 25"/>
          <p:cNvSpPr/>
          <p:nvPr/>
        </p:nvSpPr>
        <p:spPr>
          <a:xfrm>
            <a:off x="548640" y="6419088"/>
            <a:ext cx="54864" cy="292608"/>
          </a:xfrm>
          <a:prstGeom prst="rect">
            <a:avLst/>
          </a:prstGeom>
          <a:solidFill>
            <a:srgbClr val="A8864A"/>
          </a:solidFill>
          <a:ln/>
        </p:spPr>
      </p:sp>
      <p:sp>
        <p:nvSpPr>
          <p:cNvPr id="29" name="Text 26"/>
          <p:cNvSpPr/>
          <p:nvPr/>
        </p:nvSpPr>
        <p:spPr>
          <a:xfrm>
            <a:off x="713232" y="6382512"/>
            <a:ext cx="658368" cy="365760"/>
          </a:xfrm>
          <a:prstGeom prst="rect">
            <a:avLst/>
          </a:prstGeom>
          <a:noFill/>
          <a:ln/>
        </p:spPr>
        <p:txBody>
          <a:bodyPr wrap="square" lIns="0" tIns="0" rIns="0" bIns="0" rtlCol="0" anchor="ctr"/>
          <a:lstStyle/>
          <a:p>
            <a:pPr indent="0" marL="0">
              <a:buNone/>
            </a:pPr>
            <a:r>
              <a:rPr lang="en-US" sz="900" b="1" spc="100" kern="0" dirty="0">
                <a:solidFill>
                  <a:srgbClr val="A8864A"/>
                </a:solidFill>
                <a:latin typeface="Helvetica Neue" pitchFamily="34" charset="0"/>
                <a:ea typeface="Helvetica Neue" pitchFamily="34" charset="-122"/>
                <a:cs typeface="Helvetica Neue" pitchFamily="34" charset="-120"/>
              </a:rPr>
              <a:t>CASES</a:t>
            </a:r>
            <a:endParaRPr lang="en-US" sz="900" dirty="0"/>
          </a:p>
        </p:txBody>
      </p:sp>
      <p:sp>
        <p:nvSpPr>
          <p:cNvPr id="30" name="Text 27"/>
          <p:cNvSpPr/>
          <p:nvPr/>
        </p:nvSpPr>
        <p:spPr>
          <a:xfrm>
            <a:off x="1463040" y="6382512"/>
            <a:ext cx="9509760" cy="365760"/>
          </a:xfrm>
          <a:prstGeom prst="rect">
            <a:avLst/>
          </a:prstGeom>
          <a:noFill/>
          <a:ln/>
        </p:spPr>
        <p:txBody>
          <a:bodyPr wrap="square" lIns="0" tIns="0" rIns="0" bIns="0" rtlCol="0" anchor="ctr"/>
          <a:lstStyle/>
          <a:p>
            <a:pPr indent="0" marL="0">
              <a:buNone/>
            </a:pPr>
            <a:r>
              <a:rPr lang="en-US" sz="1100" dirty="0">
                <a:solidFill>
                  <a:srgbClr val="6B5A44"/>
                </a:solidFill>
                <a:latin typeface="Helvetica Neue" pitchFamily="34" charset="0"/>
                <a:ea typeface="Helvetica Neue" pitchFamily="34" charset="-122"/>
                <a:cs typeface="Helvetica Neue" pitchFamily="34" charset="-120"/>
              </a:rPr>
              <a:t>Your app's JVM IS the query engine   ·   Reads never touch the transactor   ·   Storage is the only place the data lives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THE MAP</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5</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What happens when each one dies</a:t>
            </a:r>
            <a:endParaRPr lang="en-US" sz="2500" dirty="0"/>
          </a:p>
        </p:txBody>
      </p:sp>
      <p:sp>
        <p:nvSpPr>
          <p:cNvPr id="8" name="Shape 5"/>
          <p:cNvSpPr/>
          <p:nvPr/>
        </p:nvSpPr>
        <p:spPr>
          <a:xfrm>
            <a:off x="548640" y="1371600"/>
            <a:ext cx="3538728" cy="3017520"/>
          </a:xfrm>
          <a:prstGeom prst="roundRect">
            <a:avLst>
              <a:gd name="adj" fmla="val 2424"/>
            </a:avLst>
          </a:prstGeom>
          <a:solidFill>
            <a:srgbClr val="EBD5CB"/>
          </a:solidFill>
          <a:ln/>
        </p:spPr>
      </p:sp>
      <p:sp>
        <p:nvSpPr>
          <p:cNvPr id="9" name="Shape 6"/>
          <p:cNvSpPr/>
          <p:nvPr/>
        </p:nvSpPr>
        <p:spPr>
          <a:xfrm>
            <a:off x="548640" y="1371600"/>
            <a:ext cx="3538728" cy="109728"/>
          </a:xfrm>
          <a:prstGeom prst="roundRect">
            <a:avLst>
              <a:gd name="adj" fmla="val 66667"/>
            </a:avLst>
          </a:prstGeom>
          <a:solidFill>
            <a:srgbClr val="9E4227"/>
          </a:solidFill>
          <a:ln/>
        </p:spPr>
      </p:sp>
      <p:sp>
        <p:nvSpPr>
          <p:cNvPr id="10" name="Text 7"/>
          <p:cNvSpPr/>
          <p:nvPr/>
        </p:nvSpPr>
        <p:spPr>
          <a:xfrm>
            <a:off x="822960" y="1691640"/>
            <a:ext cx="3017520" cy="320040"/>
          </a:xfrm>
          <a:prstGeom prst="rect">
            <a:avLst/>
          </a:prstGeom>
          <a:noFill/>
          <a:ln/>
        </p:spPr>
        <p:txBody>
          <a:bodyPr wrap="square" lIns="0" tIns="0" rIns="0" bIns="0" rtlCol="0" anchor="t"/>
          <a:lstStyle/>
          <a:p>
            <a:pPr indent="0" marL="0">
              <a:buNone/>
            </a:pPr>
            <a:r>
              <a:rPr lang="en-US" sz="1400" b="1" spc="150" kern="0" dirty="0">
                <a:solidFill>
                  <a:srgbClr val="9E4227"/>
                </a:solidFill>
                <a:latin typeface="Helvetica Neue" pitchFamily="34" charset="0"/>
                <a:ea typeface="Helvetica Neue" pitchFamily="34" charset="-122"/>
                <a:cs typeface="Helvetica Neue" pitchFamily="34" charset="-120"/>
              </a:rPr>
              <a:t>STORAGE</a:t>
            </a:r>
            <a:endParaRPr lang="en-US" sz="1400" dirty="0"/>
          </a:p>
        </p:txBody>
      </p:sp>
      <p:sp>
        <p:nvSpPr>
          <p:cNvPr id="11" name="Text 8"/>
          <p:cNvSpPr/>
          <p:nvPr/>
        </p:nvSpPr>
        <p:spPr>
          <a:xfrm>
            <a:off x="822960" y="2148840"/>
            <a:ext cx="3017520" cy="822960"/>
          </a:xfrm>
          <a:prstGeom prst="rect">
            <a:avLst/>
          </a:prstGeom>
          <a:noFill/>
          <a:ln/>
        </p:spPr>
        <p:txBody>
          <a:bodyPr wrap="square" lIns="0" tIns="0" rIns="0" bIns="0" rtlCol="0" anchor="t">
            <a:normAutofit/>
          </a:bodyPr>
          <a:lstStyle/>
          <a:p>
            <a:pPr indent="0" marL="0">
              <a:buNone/>
            </a:pPr>
            <a:r>
              <a:rPr lang="en-US" sz="2400" dirty="0">
                <a:solidFill>
                  <a:srgbClr val="3A2C1A"/>
                </a:solidFill>
                <a:latin typeface="Georgia" pitchFamily="34" charset="0"/>
                <a:ea typeface="Georgia" pitchFamily="34" charset="-122"/>
                <a:cs typeface="Georgia" pitchFamily="34" charset="-120"/>
              </a:rPr>
              <a:t>everything stops</a:t>
            </a:r>
            <a:endParaRPr lang="en-US" sz="2400" dirty="0"/>
          </a:p>
        </p:txBody>
      </p:sp>
      <p:sp>
        <p:nvSpPr>
          <p:cNvPr id="12" name="Text 9"/>
          <p:cNvSpPr/>
          <p:nvPr/>
        </p:nvSpPr>
        <p:spPr>
          <a:xfrm>
            <a:off x="822960" y="3154680"/>
            <a:ext cx="3017520" cy="1005840"/>
          </a:xfrm>
          <a:prstGeom prst="rect">
            <a:avLst/>
          </a:prstGeom>
          <a:noFill/>
          <a:ln/>
        </p:spPr>
        <p:txBody>
          <a:bodyPr wrap="square" lIns="0" tIns="0" rIns="0" bIns="0" rtlCol="0" anchor="t"/>
          <a:lstStyle/>
          <a:p>
            <a:pPr indent="0" marL="0">
              <a:buNone/>
            </a:pPr>
            <a:r>
              <a:rPr lang="en-US" sz="1300" dirty="0">
                <a:solidFill>
                  <a:srgbClr val="6B5A44"/>
                </a:solidFill>
                <a:latin typeface="Helvetica Neue" pitchFamily="34" charset="0"/>
                <a:ea typeface="Helvetica Neue" pitchFamily="34" charset="-122"/>
                <a:cs typeface="Helvetica Neue" pitchFamily="34" charset="-120"/>
              </a:rPr>
              <a:t>the one real outage — the data lives only here</a:t>
            </a:r>
            <a:endParaRPr lang="en-US" sz="1300" dirty="0"/>
          </a:p>
        </p:txBody>
      </p:sp>
      <p:sp>
        <p:nvSpPr>
          <p:cNvPr id="13" name="Shape 10"/>
          <p:cNvSpPr/>
          <p:nvPr/>
        </p:nvSpPr>
        <p:spPr>
          <a:xfrm>
            <a:off x="4270248" y="1371600"/>
            <a:ext cx="3538728" cy="3017520"/>
          </a:xfrm>
          <a:prstGeom prst="roundRect">
            <a:avLst>
              <a:gd name="adj" fmla="val 2424"/>
            </a:avLst>
          </a:prstGeom>
          <a:solidFill>
            <a:srgbClr val="EDE0C4"/>
          </a:solidFill>
          <a:ln/>
        </p:spPr>
      </p:sp>
      <p:sp>
        <p:nvSpPr>
          <p:cNvPr id="14" name="Shape 11"/>
          <p:cNvSpPr/>
          <p:nvPr/>
        </p:nvSpPr>
        <p:spPr>
          <a:xfrm>
            <a:off x="4270248" y="1371600"/>
            <a:ext cx="3538728" cy="109728"/>
          </a:xfrm>
          <a:prstGeom prst="roundRect">
            <a:avLst>
              <a:gd name="adj" fmla="val 66667"/>
            </a:avLst>
          </a:prstGeom>
          <a:solidFill>
            <a:srgbClr val="B5822B"/>
          </a:solidFill>
          <a:ln/>
        </p:spPr>
      </p:sp>
      <p:sp>
        <p:nvSpPr>
          <p:cNvPr id="15" name="Text 12"/>
          <p:cNvSpPr/>
          <p:nvPr/>
        </p:nvSpPr>
        <p:spPr>
          <a:xfrm>
            <a:off x="4544568" y="1691640"/>
            <a:ext cx="3017520" cy="320040"/>
          </a:xfrm>
          <a:prstGeom prst="rect">
            <a:avLst/>
          </a:prstGeom>
          <a:noFill/>
          <a:ln/>
        </p:spPr>
        <p:txBody>
          <a:bodyPr wrap="square" lIns="0" tIns="0" rIns="0" bIns="0" rtlCol="0" anchor="t"/>
          <a:lstStyle/>
          <a:p>
            <a:pPr indent="0" marL="0">
              <a:buNone/>
            </a:pPr>
            <a:r>
              <a:rPr lang="en-US" sz="1400" b="1" spc="150" kern="0" dirty="0">
                <a:solidFill>
                  <a:srgbClr val="B5822B"/>
                </a:solidFill>
                <a:latin typeface="Helvetica Neue" pitchFamily="34" charset="0"/>
                <a:ea typeface="Helvetica Neue" pitchFamily="34" charset="-122"/>
                <a:cs typeface="Helvetica Neue" pitchFamily="34" charset="-120"/>
              </a:rPr>
              <a:t>TRANSACTOR</a:t>
            </a:r>
            <a:endParaRPr lang="en-US" sz="1400" dirty="0"/>
          </a:p>
        </p:txBody>
      </p:sp>
      <p:sp>
        <p:nvSpPr>
          <p:cNvPr id="16" name="Text 13"/>
          <p:cNvSpPr/>
          <p:nvPr/>
        </p:nvSpPr>
        <p:spPr>
          <a:xfrm>
            <a:off x="4544568" y="2148840"/>
            <a:ext cx="3017520" cy="822960"/>
          </a:xfrm>
          <a:prstGeom prst="rect">
            <a:avLst/>
          </a:prstGeom>
          <a:noFill/>
          <a:ln/>
        </p:spPr>
        <p:txBody>
          <a:bodyPr wrap="square" lIns="0" tIns="0" rIns="0" bIns="0" rtlCol="0" anchor="t">
            <a:normAutofit/>
          </a:bodyPr>
          <a:lstStyle/>
          <a:p>
            <a:pPr indent="0" marL="0">
              <a:buNone/>
            </a:pPr>
            <a:r>
              <a:rPr lang="en-US" sz="2400" dirty="0">
                <a:solidFill>
                  <a:srgbClr val="3A2C1A"/>
                </a:solidFill>
                <a:latin typeface="Georgia" pitchFamily="34" charset="0"/>
                <a:ea typeface="Georgia" pitchFamily="34" charset="-122"/>
                <a:cs typeface="Georgia" pitchFamily="34" charset="-120"/>
              </a:rPr>
              <a:t>writes stop</a:t>
            </a:r>
            <a:endParaRPr lang="en-US" sz="2400" dirty="0"/>
          </a:p>
        </p:txBody>
      </p:sp>
      <p:sp>
        <p:nvSpPr>
          <p:cNvPr id="17" name="Text 14"/>
          <p:cNvSpPr/>
          <p:nvPr/>
        </p:nvSpPr>
        <p:spPr>
          <a:xfrm>
            <a:off x="4544568" y="3154680"/>
            <a:ext cx="3017520" cy="1005840"/>
          </a:xfrm>
          <a:prstGeom prst="rect">
            <a:avLst/>
          </a:prstGeom>
          <a:noFill/>
          <a:ln/>
        </p:spPr>
        <p:txBody>
          <a:bodyPr wrap="square" lIns="0" tIns="0" rIns="0" bIns="0" rtlCol="0" anchor="t"/>
          <a:lstStyle/>
          <a:p>
            <a:pPr indent="0" marL="0">
              <a:buNone/>
            </a:pPr>
            <a:r>
              <a:rPr lang="en-US" sz="1300" dirty="0">
                <a:solidFill>
                  <a:srgbClr val="6B5A44"/>
                </a:solidFill>
                <a:latin typeface="Helvetica Neue" pitchFamily="34" charset="0"/>
                <a:ea typeface="Helvetica Neue" pitchFamily="34" charset="-122"/>
                <a:cs typeface="Helvetica Neue" pitchFamily="34" charset="-120"/>
              </a:rPr>
              <a:t>reads keep working — peers never needed it</a:t>
            </a:r>
            <a:endParaRPr lang="en-US" sz="1300" dirty="0"/>
          </a:p>
        </p:txBody>
      </p:sp>
      <p:sp>
        <p:nvSpPr>
          <p:cNvPr id="18" name="Shape 15"/>
          <p:cNvSpPr/>
          <p:nvPr/>
        </p:nvSpPr>
        <p:spPr>
          <a:xfrm>
            <a:off x="7991856" y="1371600"/>
            <a:ext cx="3538728" cy="3017520"/>
          </a:xfrm>
          <a:prstGeom prst="roundRect">
            <a:avLst>
              <a:gd name="adj" fmla="val 2424"/>
            </a:avLst>
          </a:prstGeom>
          <a:solidFill>
            <a:srgbClr val="DDE3CC"/>
          </a:solidFill>
          <a:ln/>
        </p:spPr>
      </p:sp>
      <p:sp>
        <p:nvSpPr>
          <p:cNvPr id="19" name="Shape 16"/>
          <p:cNvSpPr/>
          <p:nvPr/>
        </p:nvSpPr>
        <p:spPr>
          <a:xfrm>
            <a:off x="7991856" y="1371600"/>
            <a:ext cx="3538728" cy="109728"/>
          </a:xfrm>
          <a:prstGeom prst="roundRect">
            <a:avLst>
              <a:gd name="adj" fmla="val 66667"/>
            </a:avLst>
          </a:prstGeom>
          <a:solidFill>
            <a:srgbClr val="5F7A3A"/>
          </a:solidFill>
          <a:ln/>
        </p:spPr>
      </p:sp>
      <p:sp>
        <p:nvSpPr>
          <p:cNvPr id="20" name="Text 17"/>
          <p:cNvSpPr/>
          <p:nvPr/>
        </p:nvSpPr>
        <p:spPr>
          <a:xfrm>
            <a:off x="8266176" y="1691640"/>
            <a:ext cx="3017520" cy="320040"/>
          </a:xfrm>
          <a:prstGeom prst="rect">
            <a:avLst/>
          </a:prstGeom>
          <a:noFill/>
          <a:ln/>
        </p:spPr>
        <p:txBody>
          <a:bodyPr wrap="square" lIns="0" tIns="0" rIns="0" bIns="0" rtlCol="0" anchor="t"/>
          <a:lstStyle/>
          <a:p>
            <a:pPr indent="0" marL="0">
              <a:buNone/>
            </a:pPr>
            <a:r>
              <a:rPr lang="en-US" sz="1400" b="1" spc="150" kern="0" dirty="0">
                <a:solidFill>
                  <a:srgbClr val="5F7A3A"/>
                </a:solidFill>
                <a:latin typeface="Helvetica Neue" pitchFamily="34" charset="0"/>
                <a:ea typeface="Helvetica Neue" pitchFamily="34" charset="-122"/>
                <a:cs typeface="Helvetica Neue" pitchFamily="34" charset="-120"/>
              </a:rPr>
              <a:t>ONE PEER</a:t>
            </a:r>
            <a:endParaRPr lang="en-US" sz="1400" dirty="0"/>
          </a:p>
        </p:txBody>
      </p:sp>
      <p:sp>
        <p:nvSpPr>
          <p:cNvPr id="21" name="Text 18"/>
          <p:cNvSpPr/>
          <p:nvPr/>
        </p:nvSpPr>
        <p:spPr>
          <a:xfrm>
            <a:off x="8266176" y="2148840"/>
            <a:ext cx="3017520" cy="822960"/>
          </a:xfrm>
          <a:prstGeom prst="rect">
            <a:avLst/>
          </a:prstGeom>
          <a:noFill/>
          <a:ln/>
        </p:spPr>
        <p:txBody>
          <a:bodyPr wrap="square" lIns="0" tIns="0" rIns="0" bIns="0" rtlCol="0" anchor="t">
            <a:normAutofit/>
          </a:bodyPr>
          <a:lstStyle/>
          <a:p>
            <a:pPr indent="0" marL="0">
              <a:buNone/>
            </a:pPr>
            <a:r>
              <a:rPr lang="en-US" sz="2400" dirty="0">
                <a:solidFill>
                  <a:srgbClr val="3A2C1A"/>
                </a:solidFill>
                <a:latin typeface="Georgia" pitchFamily="34" charset="0"/>
                <a:ea typeface="Georgia" pitchFamily="34" charset="-122"/>
                <a:cs typeface="Georgia" pitchFamily="34" charset="-120"/>
              </a:rPr>
              <a:t>that peer only</a:t>
            </a:r>
            <a:endParaRPr lang="en-US" sz="2400" dirty="0"/>
          </a:p>
        </p:txBody>
      </p:sp>
      <p:sp>
        <p:nvSpPr>
          <p:cNvPr id="22" name="Text 19"/>
          <p:cNvSpPr/>
          <p:nvPr/>
        </p:nvSpPr>
        <p:spPr>
          <a:xfrm>
            <a:off x="8266176" y="3154680"/>
            <a:ext cx="3017520" cy="1005840"/>
          </a:xfrm>
          <a:prstGeom prst="rect">
            <a:avLst/>
          </a:prstGeom>
          <a:noFill/>
          <a:ln/>
        </p:spPr>
        <p:txBody>
          <a:bodyPr wrap="square" lIns="0" tIns="0" rIns="0" bIns="0" rtlCol="0" anchor="t"/>
          <a:lstStyle/>
          <a:p>
            <a:pPr indent="0" marL="0">
              <a:buNone/>
            </a:pPr>
            <a:r>
              <a:rPr lang="en-US" sz="1300" dirty="0">
                <a:solidFill>
                  <a:srgbClr val="6B5A44"/>
                </a:solidFill>
                <a:latin typeface="Helvetica Neue" pitchFamily="34" charset="0"/>
                <a:ea typeface="Helvetica Neue" pitchFamily="34" charset="-122"/>
                <a:cs typeface="Helvetica Neue" pitchFamily="34" charset="-120"/>
              </a:rPr>
              <a:t>the others don't notice — nothing shared but storage</a:t>
            </a:r>
            <a:endParaRPr lang="en-US" sz="1300" dirty="0"/>
          </a:p>
        </p:txBody>
      </p:sp>
      <p:sp>
        <p:nvSpPr>
          <p:cNvPr id="23" name="Shape 20"/>
          <p:cNvSpPr/>
          <p:nvPr/>
        </p:nvSpPr>
        <p:spPr>
          <a:xfrm>
            <a:off x="548640" y="4800600"/>
            <a:ext cx="54864" cy="457200"/>
          </a:xfrm>
          <a:prstGeom prst="rect">
            <a:avLst/>
          </a:prstGeom>
          <a:solidFill>
            <a:srgbClr val="A8864A"/>
          </a:solidFill>
          <a:ln/>
        </p:spPr>
      </p:sp>
      <p:sp>
        <p:nvSpPr>
          <p:cNvPr id="24" name="Text 21"/>
          <p:cNvSpPr/>
          <p:nvPr/>
        </p:nvSpPr>
        <p:spPr>
          <a:xfrm>
            <a:off x="777240" y="480060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Only storage is fatal. Reads and writes live and die separately — the rest of the class builds on this.</a:t>
            </a:r>
            <a:endParaRPr lang="en-US" sz="1450" dirty="0"/>
          </a:p>
        </p:txBody>
      </p:sp>
      <p:sp>
        <p:nvSpPr>
          <p:cNvPr id="25" name="Text 22"/>
          <p:cNvSpPr/>
          <p:nvPr/>
        </p:nvSpPr>
        <p:spPr>
          <a:xfrm>
            <a:off x="548640" y="5440680"/>
            <a:ext cx="11064240" cy="822960"/>
          </a:xfrm>
          <a:prstGeom prst="rect">
            <a:avLst/>
          </a:prstGeom>
          <a:noFill/>
          <a:ln/>
        </p:spPr>
        <p:txBody>
          <a:bodyPr wrap="square" lIns="0" tIns="0" rIns="0" bIns="0" rtlCol="0" anchor="t"/>
          <a:lstStyle/>
          <a:p>
            <a:pPr indent="0" marL="0">
              <a:buNone/>
            </a:pPr>
            <a:r>
              <a:rPr lang="en-US" sz="1350" dirty="0">
                <a:solidFill>
                  <a:srgbClr val="6B5A44"/>
                </a:solidFill>
                <a:latin typeface="Helvetica Neue" pitchFamily="34" charset="0"/>
                <a:ea typeface="Helvetica Neue" pitchFamily="34" charset="-122"/>
                <a:cs typeface="Helvetica Neue" pitchFamily="34" charset="-120"/>
              </a:rPr>
              <a:t>This is the structural difference from a single SQL server, where the query engine, the writer and the data share one process and therefore one failure. Here they are three processes with three separate failures — and two of the three are degradations, not outages.</a:t>
            </a:r>
            <a:endParaRPr lang="en-US" sz="1350" dirty="0"/>
          </a:p>
        </p:txBody>
      </p:sp>
      <p:sp>
        <p:nvSpPr>
          <p:cNvPr id="26" name="Shape 23"/>
          <p:cNvSpPr/>
          <p:nvPr/>
        </p:nvSpPr>
        <p:spPr>
          <a:xfrm>
            <a:off x="548640" y="6419088"/>
            <a:ext cx="54864" cy="292608"/>
          </a:xfrm>
          <a:prstGeom prst="rect">
            <a:avLst/>
          </a:prstGeom>
          <a:solidFill>
            <a:srgbClr val="A8864A"/>
          </a:solidFill>
          <a:ln/>
        </p:spPr>
      </p:sp>
      <p:sp>
        <p:nvSpPr>
          <p:cNvPr id="27" name="Text 24"/>
          <p:cNvSpPr/>
          <p:nvPr/>
        </p:nvSpPr>
        <p:spPr>
          <a:xfrm>
            <a:off x="713232" y="6382512"/>
            <a:ext cx="658368" cy="365760"/>
          </a:xfrm>
          <a:prstGeom prst="rect">
            <a:avLst/>
          </a:prstGeom>
          <a:noFill/>
          <a:ln/>
        </p:spPr>
        <p:txBody>
          <a:bodyPr wrap="square" lIns="0" tIns="0" rIns="0" bIns="0" rtlCol="0" anchor="ctr"/>
          <a:lstStyle/>
          <a:p>
            <a:pPr indent="0" marL="0">
              <a:buNone/>
            </a:pPr>
            <a:r>
              <a:rPr lang="en-US" sz="900" b="1" spc="100" kern="0" dirty="0">
                <a:solidFill>
                  <a:srgbClr val="A8864A"/>
                </a:solidFill>
                <a:latin typeface="Helvetica Neue" pitchFamily="34" charset="0"/>
                <a:ea typeface="Helvetica Neue" pitchFamily="34" charset="-122"/>
                <a:cs typeface="Helvetica Neue" pitchFamily="34" charset="-120"/>
              </a:rPr>
              <a:t>CASES</a:t>
            </a:r>
            <a:endParaRPr lang="en-US" sz="900" dirty="0"/>
          </a:p>
        </p:txBody>
      </p:sp>
      <p:sp>
        <p:nvSpPr>
          <p:cNvPr id="28" name="Text 25"/>
          <p:cNvSpPr/>
          <p:nvPr/>
        </p:nvSpPr>
        <p:spPr>
          <a:xfrm>
            <a:off x="1463040" y="6382512"/>
            <a:ext cx="9509760" cy="365760"/>
          </a:xfrm>
          <a:prstGeom prst="rect">
            <a:avLst/>
          </a:prstGeom>
          <a:noFill/>
          <a:ln/>
        </p:spPr>
        <p:txBody>
          <a:bodyPr wrap="square" lIns="0" tIns="0" rIns="0" bIns="0" rtlCol="0" anchor="ctr"/>
          <a:lstStyle/>
          <a:p>
            <a:pPr indent="0" marL="0">
              <a:buNone/>
            </a:pPr>
            <a:r>
              <a:rPr lang="en-US" sz="1100" dirty="0">
                <a:solidFill>
                  <a:srgbClr val="6B5A44"/>
                </a:solidFill>
                <a:latin typeface="Helvetica Neue" pitchFamily="34" charset="0"/>
                <a:ea typeface="Helvetica Neue" pitchFamily="34" charset="-122"/>
                <a:cs typeface="Helvetica Neue" pitchFamily="34" charset="-120"/>
              </a:rPr>
              <a:t>Transactor OOM: dashboards keep rendering, saves fail   ·   One peer OOM: one pod restarts, siblings never notice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C2416"/>
          </a:solidFill>
          <a:ln/>
        </p:spPr>
      </p:sp>
      <p:sp>
        <p:nvSpPr>
          <p:cNvPr id="3" name="Shape 1"/>
          <p:cNvSpPr/>
          <p:nvPr/>
        </p:nvSpPr>
        <p:spPr>
          <a:xfrm>
            <a:off x="0" y="2011680"/>
            <a:ext cx="228600" cy="2011680"/>
          </a:xfrm>
          <a:prstGeom prst="rect">
            <a:avLst/>
          </a:prstGeom>
          <a:solidFill>
            <a:srgbClr val="A8864A"/>
          </a:solidFill>
          <a:ln/>
        </p:spPr>
      </p:sp>
      <p:sp>
        <p:nvSpPr>
          <p:cNvPr id="4" name="Text 2"/>
          <p:cNvSpPr/>
          <p:nvPr/>
        </p:nvSpPr>
        <p:spPr>
          <a:xfrm>
            <a:off x="822960" y="2103120"/>
            <a:ext cx="10515600" cy="365760"/>
          </a:xfrm>
          <a:prstGeom prst="rect">
            <a:avLst/>
          </a:prstGeom>
          <a:noFill/>
          <a:ln/>
        </p:spPr>
        <p:txBody>
          <a:bodyPr wrap="square" lIns="0" tIns="0" rIns="0" bIns="0" rtlCol="0" anchor="t"/>
          <a:lstStyle/>
          <a:p>
            <a:pPr indent="0" marL="0">
              <a:buNone/>
            </a:pPr>
            <a:r>
              <a:rPr lang="en-US" sz="1500" spc="300" kern="0" dirty="0">
                <a:solidFill>
                  <a:srgbClr val="C6A46A"/>
                </a:solidFill>
                <a:latin typeface="Helvetica Neue" pitchFamily="34" charset="0"/>
                <a:ea typeface="Helvetica Neue" pitchFamily="34" charset="-122"/>
                <a:cs typeface="Helvetica Neue" pitchFamily="34" charset="-120"/>
              </a:rPr>
              <a:t>PART I</a:t>
            </a:r>
            <a:endParaRPr lang="en-US" sz="1500" dirty="0"/>
          </a:p>
        </p:txBody>
      </p:sp>
      <p:sp>
        <p:nvSpPr>
          <p:cNvPr id="5" name="Text 3"/>
          <p:cNvSpPr/>
          <p:nvPr/>
        </p:nvSpPr>
        <p:spPr>
          <a:xfrm>
            <a:off x="822960" y="2606040"/>
            <a:ext cx="10515600" cy="822960"/>
          </a:xfrm>
          <a:prstGeom prst="rect">
            <a:avLst/>
          </a:prstGeom>
          <a:noFill/>
          <a:ln/>
        </p:spPr>
        <p:txBody>
          <a:bodyPr wrap="square" lIns="0" tIns="0" rIns="0" bIns="0" rtlCol="0" anchor="t"/>
          <a:lstStyle/>
          <a:p>
            <a:pPr indent="0" marL="0">
              <a:buNone/>
            </a:pPr>
            <a:r>
              <a:rPr lang="en-US" sz="3400" dirty="0">
                <a:solidFill>
                  <a:srgbClr val="FCFAF4"/>
                </a:solidFill>
                <a:latin typeface="Georgia" pitchFamily="34" charset="0"/>
                <a:ea typeface="Georgia" pitchFamily="34" charset="-122"/>
                <a:cs typeface="Georgia" pitchFamily="34" charset="-120"/>
              </a:rPr>
              <a:t>Reads</a:t>
            </a:r>
            <a:endParaRPr lang="en-US" sz="3400" dirty="0"/>
          </a:p>
        </p:txBody>
      </p:sp>
      <p:sp>
        <p:nvSpPr>
          <p:cNvPr id="6" name="Text 4"/>
          <p:cNvSpPr/>
          <p:nvPr/>
        </p:nvSpPr>
        <p:spPr>
          <a:xfrm>
            <a:off x="822960" y="3520440"/>
            <a:ext cx="10515600" cy="731520"/>
          </a:xfrm>
          <a:prstGeom prst="rect">
            <a:avLst/>
          </a:prstGeom>
          <a:noFill/>
          <a:ln/>
        </p:spPr>
        <p:txBody>
          <a:bodyPr wrap="square" lIns="0" tIns="0" rIns="0" bIns="0" rtlCol="0" anchor="t"/>
          <a:lstStyle/>
          <a:p>
            <a:pPr indent="0" marL="0">
              <a:buNone/>
            </a:pPr>
            <a:r>
              <a:rPr lang="en-US" sz="1600" dirty="0">
                <a:solidFill>
                  <a:srgbClr val="C9BDA4"/>
                </a:solidFill>
                <a:latin typeface="Helvetica Neue" pitchFamily="34" charset="0"/>
                <a:ea typeface="Helvetica Neue" pitchFamily="34" charset="-122"/>
                <a:cs typeface="Helvetica Neue" pitchFamily="34" charset="-120"/>
              </a:rPr>
              <a:t>A query runs in your process, on data pulled close</a:t>
            </a:r>
            <a:endParaRPr lang="en-US" sz="1600" dirty="0"/>
          </a:p>
        </p:txBody>
      </p:sp>
      <p:sp>
        <p:nvSpPr>
          <p:cNvPr id="7" name="Text 5"/>
          <p:cNvSpPr/>
          <p:nvPr/>
        </p:nvSpPr>
        <p:spPr>
          <a:xfrm>
            <a:off x="822960" y="4434840"/>
            <a:ext cx="10515600" cy="1828800"/>
          </a:xfrm>
          <a:prstGeom prst="rect">
            <a:avLst/>
          </a:prstGeom>
          <a:noFill/>
          <a:ln/>
        </p:spPr>
        <p:txBody>
          <a:bodyPr wrap="square" lIns="0" tIns="0" rIns="0" bIns="0" rtlCol="0" anchor="t"/>
          <a:lstStyle/>
          <a:p>
            <a:pPr indent="0" marL="0">
              <a:buNone/>
            </a:pPr>
            <a:r>
              <a:rPr lang="en-US" sz="1400" dirty="0">
                <a:solidFill>
                  <a:srgbClr val="C9BDA4"/>
                </a:solidFill>
                <a:latin typeface="Helvetica Neue" pitchFamily="34" charset="0"/>
                <a:ea typeface="Helvetica Neue" pitchFamily="34" charset="-122"/>
                <a:cs typeface="Helvetica Neue" pitchFamily="34" charset="-120"/>
              </a:rPr>
              <a:t>A Datomic query does not go to a server. It runs inside your application, on data the peer pulls close and keeps. So the cost of a read has almost nothing to do with the query engine — it is dominated by one question: is the data already here, or does it have to be fetched?</a:t>
            </a:r>
            <a:endParaRPr lang="en-US" sz="1400" dirty="0"/>
          </a:p>
        </p:txBody>
      </p:sp>
      <p:sp>
        <p:nvSpPr>
          <p:cNvPr id="8" name="Text 6"/>
          <p:cNvSpPr/>
          <p:nvPr/>
        </p:nvSpPr>
        <p:spPr>
          <a:xfrm>
            <a:off x="11155680" y="6400800"/>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 · READS</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7</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How a read works</a:t>
            </a:r>
            <a:endParaRPr lang="en-US" sz="2500" dirty="0"/>
          </a:p>
        </p:txBody>
      </p:sp>
      <p:sp>
        <p:nvSpPr>
          <p:cNvPr id="8" name="Shape 5"/>
          <p:cNvSpPr/>
          <p:nvPr/>
        </p:nvSpPr>
        <p:spPr>
          <a:xfrm>
            <a:off x="548640" y="1417320"/>
            <a:ext cx="2377440" cy="731520"/>
          </a:xfrm>
          <a:prstGeom prst="roundRect">
            <a:avLst>
              <a:gd name="adj" fmla="val 7500"/>
            </a:avLst>
          </a:prstGeom>
          <a:solidFill>
            <a:srgbClr val="D3DEE1"/>
          </a:solidFill>
          <a:ln w="15875">
            <a:solidFill>
              <a:srgbClr val="3F6470"/>
            </a:solidFill>
            <a:prstDash val="solid"/>
          </a:ln>
        </p:spPr>
      </p:sp>
      <p:sp>
        <p:nvSpPr>
          <p:cNvPr id="9" name="Text 6"/>
          <p:cNvSpPr/>
          <p:nvPr/>
        </p:nvSpPr>
        <p:spPr>
          <a:xfrm>
            <a:off x="621792" y="1417320"/>
            <a:ext cx="2231136" cy="731520"/>
          </a:xfrm>
          <a:prstGeom prst="rect">
            <a:avLst/>
          </a:prstGeom>
          <a:noFill/>
          <a:ln/>
        </p:spPr>
        <p:txBody>
          <a:bodyPr wrap="square" lIns="0" tIns="0" rIns="0" bIns="0" rtlCol="0" anchor="ctr">
            <a:normAutofit/>
          </a:bodyPr>
          <a:lstStyle/>
          <a:p>
            <a:pPr algn="ctr" indent="0" marL="0">
              <a:buNone/>
            </a:pPr>
            <a:r>
              <a:rPr lang="en-US" sz="1400" b="1" dirty="0">
                <a:solidFill>
                  <a:srgbClr val="3A2C1A"/>
                </a:solidFill>
                <a:latin typeface="Helvetica Neue" pitchFamily="34" charset="0"/>
                <a:ea typeface="Helvetica Neue" pitchFamily="34" charset="-122"/>
                <a:cs typeface="Helvetica Neue" pitchFamily="34" charset="-120"/>
              </a:rPr>
              <a:t>your query</a:t>
            </a:r>
            <a:endParaRPr lang="en-US" sz="1400" dirty="0"/>
          </a:p>
        </p:txBody>
      </p:sp>
      <p:sp>
        <p:nvSpPr>
          <p:cNvPr id="10" name="Shape 7"/>
          <p:cNvSpPr/>
          <p:nvPr/>
        </p:nvSpPr>
        <p:spPr>
          <a:xfrm>
            <a:off x="2926080" y="1783080"/>
            <a:ext cx="1005840" cy="0"/>
          </a:xfrm>
          <a:prstGeom prst="line">
            <a:avLst/>
          </a:prstGeom>
          <a:noFill/>
          <a:ln w="19050">
            <a:solidFill>
              <a:srgbClr val="3F6470"/>
            </a:solidFill>
            <a:prstDash val="solid"/>
            <a:headEnd type="none"/>
            <a:tailEnd type="triangle"/>
          </a:ln>
        </p:spPr>
      </p:sp>
      <p:sp>
        <p:nvSpPr>
          <p:cNvPr id="11" name="Shape 8"/>
          <p:cNvSpPr/>
          <p:nvPr/>
        </p:nvSpPr>
        <p:spPr>
          <a:xfrm>
            <a:off x="3931920" y="1417320"/>
            <a:ext cx="3108960" cy="731520"/>
          </a:xfrm>
          <a:prstGeom prst="roundRect">
            <a:avLst>
              <a:gd name="adj" fmla="val 7500"/>
            </a:avLst>
          </a:prstGeom>
          <a:solidFill>
            <a:srgbClr val="E6DFCE"/>
          </a:solidFill>
          <a:ln w="15875">
            <a:solidFill>
              <a:srgbClr val="C9BDA4"/>
            </a:solidFill>
            <a:prstDash val="solid"/>
          </a:ln>
        </p:spPr>
      </p:sp>
      <p:sp>
        <p:nvSpPr>
          <p:cNvPr id="12" name="Text 9"/>
          <p:cNvSpPr/>
          <p:nvPr/>
        </p:nvSpPr>
        <p:spPr>
          <a:xfrm>
            <a:off x="4005072" y="1417320"/>
            <a:ext cx="2962656" cy="731520"/>
          </a:xfrm>
          <a:prstGeom prst="rect">
            <a:avLst/>
          </a:prstGeom>
          <a:noFill/>
          <a:ln/>
        </p:spPr>
        <p:txBody>
          <a:bodyPr wrap="square" lIns="0" tIns="0" rIns="0" bIns="0" rtlCol="0" anchor="ctr">
            <a:normAutofit/>
          </a:bodyPr>
          <a:lstStyle/>
          <a:p>
            <a:pPr algn="ctr" indent="0" marL="0">
              <a:buNone/>
            </a:pPr>
            <a:r>
              <a:rPr lang="en-US" sz="1400" b="1" dirty="0">
                <a:solidFill>
                  <a:srgbClr val="3A2C1A"/>
                </a:solidFill>
                <a:latin typeface="Helvetica Neue" pitchFamily="34" charset="0"/>
                <a:ea typeface="Helvetica Neue" pitchFamily="34" charset="-122"/>
                <a:cs typeface="Helvetica Neue" pitchFamily="34" charset="-120"/>
              </a:rPr>
              <a:t>data already here?</a:t>
            </a:r>
            <a:endParaRPr lang="en-US" sz="1400" dirty="0"/>
          </a:p>
        </p:txBody>
      </p:sp>
      <p:sp>
        <p:nvSpPr>
          <p:cNvPr id="13" name="Shape 10"/>
          <p:cNvSpPr/>
          <p:nvPr/>
        </p:nvSpPr>
        <p:spPr>
          <a:xfrm>
            <a:off x="7040880" y="1783080"/>
            <a:ext cx="1005840" cy="0"/>
          </a:xfrm>
          <a:prstGeom prst="line">
            <a:avLst/>
          </a:prstGeom>
          <a:noFill/>
          <a:ln w="19050">
            <a:solidFill>
              <a:srgbClr val="5F7A3A"/>
            </a:solidFill>
            <a:prstDash val="solid"/>
            <a:headEnd type="none"/>
            <a:tailEnd type="triangle"/>
          </a:ln>
        </p:spPr>
      </p:sp>
      <p:sp>
        <p:nvSpPr>
          <p:cNvPr id="14" name="Text 11"/>
          <p:cNvSpPr/>
          <p:nvPr/>
        </p:nvSpPr>
        <p:spPr>
          <a:xfrm>
            <a:off x="6903720" y="1408176"/>
            <a:ext cx="1280160" cy="292608"/>
          </a:xfrm>
          <a:prstGeom prst="rect">
            <a:avLst/>
          </a:prstGeom>
          <a:noFill/>
          <a:ln/>
        </p:spPr>
        <p:txBody>
          <a:bodyPr wrap="square" lIns="0" tIns="0" rIns="0" bIns="0" rtlCol="0" anchor="ctr">
            <a:normAutofit/>
          </a:bodyPr>
          <a:lstStyle/>
          <a:p>
            <a:pPr algn="ctr" indent="0" marL="0">
              <a:buNone/>
            </a:pPr>
            <a:r>
              <a:rPr lang="en-US" sz="1000" dirty="0">
                <a:solidFill>
                  <a:srgbClr val="5F7A3A"/>
                </a:solidFill>
                <a:latin typeface="Helvetica Neue" pitchFamily="34" charset="0"/>
                <a:ea typeface="Helvetica Neue" pitchFamily="34" charset="-122"/>
                <a:cs typeface="Helvetica Neue" pitchFamily="34" charset="-120"/>
              </a:rPr>
              <a:t>yes</a:t>
            </a:r>
            <a:endParaRPr lang="en-US" sz="1000" dirty="0"/>
          </a:p>
        </p:txBody>
      </p:sp>
      <p:sp>
        <p:nvSpPr>
          <p:cNvPr id="15" name="Shape 12"/>
          <p:cNvSpPr/>
          <p:nvPr/>
        </p:nvSpPr>
        <p:spPr>
          <a:xfrm>
            <a:off x="8046720" y="1417320"/>
            <a:ext cx="3383280" cy="731520"/>
          </a:xfrm>
          <a:prstGeom prst="roundRect">
            <a:avLst>
              <a:gd name="adj" fmla="val 7500"/>
            </a:avLst>
          </a:prstGeom>
          <a:solidFill>
            <a:srgbClr val="DDE3CC"/>
          </a:solidFill>
          <a:ln w="15875">
            <a:solidFill>
              <a:srgbClr val="5F7A3A"/>
            </a:solidFill>
            <a:prstDash val="solid"/>
          </a:ln>
        </p:spPr>
      </p:sp>
      <p:sp>
        <p:nvSpPr>
          <p:cNvPr id="16" name="Text 13"/>
          <p:cNvSpPr/>
          <p:nvPr/>
        </p:nvSpPr>
        <p:spPr>
          <a:xfrm>
            <a:off x="8119872" y="1472184"/>
            <a:ext cx="3236976" cy="310896"/>
          </a:xfrm>
          <a:prstGeom prst="rect">
            <a:avLst/>
          </a:prstGeom>
          <a:noFill/>
          <a:ln/>
        </p:spPr>
        <p:txBody>
          <a:bodyPr wrap="square" lIns="0" tIns="0" rIns="0" bIns="0" rtlCol="0" anchor="b">
            <a:normAutofit/>
          </a:bodyPr>
          <a:lstStyle/>
          <a:p>
            <a:pPr algn="ctr" indent="0" marL="0">
              <a:buNone/>
            </a:pPr>
            <a:r>
              <a:rPr lang="en-US" sz="1350" b="1" dirty="0">
                <a:solidFill>
                  <a:srgbClr val="3A2C1A"/>
                </a:solidFill>
                <a:latin typeface="Helvetica Neue" pitchFamily="34" charset="0"/>
                <a:ea typeface="Helvetica Neue" pitchFamily="34" charset="-122"/>
                <a:cs typeface="Helvetica Neue" pitchFamily="34" charset="-120"/>
              </a:rPr>
              <a:t>answer from memory</a:t>
            </a:r>
            <a:endParaRPr lang="en-US" sz="1350" dirty="0"/>
          </a:p>
        </p:txBody>
      </p:sp>
      <p:sp>
        <p:nvSpPr>
          <p:cNvPr id="17" name="Text 14"/>
          <p:cNvSpPr/>
          <p:nvPr/>
        </p:nvSpPr>
        <p:spPr>
          <a:xfrm>
            <a:off x="8119872" y="1764792"/>
            <a:ext cx="3236976" cy="384048"/>
          </a:xfrm>
          <a:prstGeom prst="rect">
            <a:avLst/>
          </a:prstGeom>
          <a:noFill/>
          <a:ln/>
        </p:spPr>
        <p:txBody>
          <a:bodyPr wrap="square" lIns="0" tIns="0" rIns="0" bIns="0" rtlCol="0" anchor="t">
            <a:normAutofit/>
          </a:bodyPr>
          <a:lstStyle/>
          <a:p>
            <a:pPr algn="ctr" indent="0" marL="0">
              <a:buNone/>
            </a:pPr>
            <a:r>
              <a:rPr lang="en-US" sz="1050" dirty="0">
                <a:solidFill>
                  <a:srgbClr val="5F7A3A"/>
                </a:solidFill>
                <a:latin typeface="Helvetica Neue" pitchFamily="34" charset="0"/>
                <a:ea typeface="Helvetica Neue" pitchFamily="34" charset="-122"/>
                <a:cs typeface="Helvetica Neue" pitchFamily="34" charset="-120"/>
              </a:rPr>
              <a:t>~instant</a:t>
            </a:r>
            <a:endParaRPr lang="en-US" sz="1050" dirty="0"/>
          </a:p>
        </p:txBody>
      </p:sp>
      <p:sp>
        <p:nvSpPr>
          <p:cNvPr id="18" name="Shape 15"/>
          <p:cNvSpPr/>
          <p:nvPr/>
        </p:nvSpPr>
        <p:spPr>
          <a:xfrm>
            <a:off x="5486400" y="2148840"/>
            <a:ext cx="0" cy="685800"/>
          </a:xfrm>
          <a:prstGeom prst="line">
            <a:avLst/>
          </a:prstGeom>
          <a:noFill/>
          <a:ln w="19050">
            <a:solidFill>
              <a:srgbClr val="B5822B"/>
            </a:solidFill>
            <a:prstDash val="solid"/>
            <a:headEnd type="none"/>
            <a:tailEnd type="triangle"/>
          </a:ln>
        </p:spPr>
      </p:sp>
      <p:sp>
        <p:nvSpPr>
          <p:cNvPr id="19" name="Text 16"/>
          <p:cNvSpPr/>
          <p:nvPr/>
        </p:nvSpPr>
        <p:spPr>
          <a:xfrm>
            <a:off x="4023360" y="2345436"/>
            <a:ext cx="1280160" cy="292608"/>
          </a:xfrm>
          <a:prstGeom prst="rect">
            <a:avLst/>
          </a:prstGeom>
          <a:noFill/>
          <a:ln/>
        </p:spPr>
        <p:txBody>
          <a:bodyPr wrap="square" lIns="0" tIns="0" rIns="0" bIns="0" rtlCol="0" anchor="ctr">
            <a:normAutofit/>
          </a:bodyPr>
          <a:lstStyle/>
          <a:p>
            <a:pPr algn="ctr" indent="0" marL="0">
              <a:buNone/>
            </a:pPr>
            <a:r>
              <a:rPr lang="en-US" sz="1000" dirty="0">
                <a:solidFill>
                  <a:srgbClr val="B5822B"/>
                </a:solidFill>
                <a:latin typeface="Helvetica Neue" pitchFamily="34" charset="0"/>
                <a:ea typeface="Helvetica Neue" pitchFamily="34" charset="-122"/>
                <a:cs typeface="Helvetica Neue" pitchFamily="34" charset="-120"/>
              </a:rPr>
              <a:t>no</a:t>
            </a:r>
            <a:endParaRPr lang="en-US" sz="1000" dirty="0"/>
          </a:p>
        </p:txBody>
      </p:sp>
      <p:sp>
        <p:nvSpPr>
          <p:cNvPr id="20" name="Shape 17"/>
          <p:cNvSpPr/>
          <p:nvPr/>
        </p:nvSpPr>
        <p:spPr>
          <a:xfrm>
            <a:off x="3931920" y="2834640"/>
            <a:ext cx="3108960" cy="731520"/>
          </a:xfrm>
          <a:prstGeom prst="roundRect">
            <a:avLst>
              <a:gd name="adj" fmla="val 7500"/>
            </a:avLst>
          </a:prstGeom>
          <a:solidFill>
            <a:srgbClr val="EDE0C4"/>
          </a:solidFill>
          <a:ln w="15875">
            <a:solidFill>
              <a:srgbClr val="B5822B"/>
            </a:solidFill>
            <a:prstDash val="solid"/>
          </a:ln>
        </p:spPr>
      </p:sp>
      <p:sp>
        <p:nvSpPr>
          <p:cNvPr id="21" name="Text 18"/>
          <p:cNvSpPr/>
          <p:nvPr/>
        </p:nvSpPr>
        <p:spPr>
          <a:xfrm>
            <a:off x="4005072" y="2889504"/>
            <a:ext cx="2962656" cy="310896"/>
          </a:xfrm>
          <a:prstGeom prst="rect">
            <a:avLst/>
          </a:prstGeom>
          <a:noFill/>
          <a:ln/>
        </p:spPr>
        <p:txBody>
          <a:bodyPr wrap="square" lIns="0" tIns="0" rIns="0" bIns="0" rtlCol="0" anchor="b">
            <a:normAutofit/>
          </a:bodyPr>
          <a:lstStyle/>
          <a:p>
            <a:pPr algn="ctr" indent="0" marL="0">
              <a:buNone/>
            </a:pPr>
            <a:r>
              <a:rPr lang="en-US" sz="1350" b="1" dirty="0">
                <a:solidFill>
                  <a:srgbClr val="3A2C1A"/>
                </a:solidFill>
                <a:latin typeface="Helvetica Neue" pitchFamily="34" charset="0"/>
                <a:ea typeface="Helvetica Neue" pitchFamily="34" charset="-122"/>
                <a:cs typeface="Helvetica Neue" pitchFamily="34" charset="-120"/>
              </a:rPr>
              <a:t>fetch from storage</a:t>
            </a:r>
            <a:endParaRPr lang="en-US" sz="1350" dirty="0"/>
          </a:p>
        </p:txBody>
      </p:sp>
      <p:sp>
        <p:nvSpPr>
          <p:cNvPr id="22" name="Text 19"/>
          <p:cNvSpPr/>
          <p:nvPr/>
        </p:nvSpPr>
        <p:spPr>
          <a:xfrm>
            <a:off x="4005072" y="3182112"/>
            <a:ext cx="2962656" cy="384048"/>
          </a:xfrm>
          <a:prstGeom prst="rect">
            <a:avLst/>
          </a:prstGeom>
          <a:noFill/>
          <a:ln/>
        </p:spPr>
        <p:txBody>
          <a:bodyPr wrap="square" lIns="0" tIns="0" rIns="0" bIns="0" rtlCol="0" anchor="t">
            <a:normAutofit/>
          </a:bodyPr>
          <a:lstStyle/>
          <a:p>
            <a:pPr algn="ctr" indent="0" marL="0">
              <a:buNone/>
            </a:pPr>
            <a:r>
              <a:rPr lang="en-US" sz="1050" dirty="0">
                <a:solidFill>
                  <a:srgbClr val="B5822B"/>
                </a:solidFill>
                <a:latin typeface="Helvetica Neue" pitchFamily="34" charset="0"/>
                <a:ea typeface="Helvetica Neue" pitchFamily="34" charset="-122"/>
                <a:cs typeface="Helvetica Neue" pitchFamily="34" charset="-120"/>
              </a:rPr>
              <a:t>milliseconds</a:t>
            </a:r>
            <a:endParaRPr lang="en-US" sz="1050" dirty="0"/>
          </a:p>
        </p:txBody>
      </p:sp>
      <p:sp>
        <p:nvSpPr>
          <p:cNvPr id="23" name="Shape 20"/>
          <p:cNvSpPr/>
          <p:nvPr/>
        </p:nvSpPr>
        <p:spPr>
          <a:xfrm>
            <a:off x="7040880" y="3200400"/>
            <a:ext cx="1005840" cy="0"/>
          </a:xfrm>
          <a:prstGeom prst="line">
            <a:avLst/>
          </a:prstGeom>
          <a:noFill/>
          <a:ln w="19050">
            <a:solidFill>
              <a:srgbClr val="B5822B"/>
            </a:solidFill>
            <a:prstDash val="solid"/>
            <a:headEnd type="none"/>
            <a:tailEnd type="triangle"/>
          </a:ln>
        </p:spPr>
      </p:sp>
      <p:sp>
        <p:nvSpPr>
          <p:cNvPr id="24" name="Shape 21"/>
          <p:cNvSpPr/>
          <p:nvPr/>
        </p:nvSpPr>
        <p:spPr>
          <a:xfrm>
            <a:off x="8046720" y="2834640"/>
            <a:ext cx="3383280" cy="731520"/>
          </a:xfrm>
          <a:prstGeom prst="roundRect">
            <a:avLst>
              <a:gd name="adj" fmla="val 7500"/>
            </a:avLst>
          </a:prstGeom>
          <a:solidFill>
            <a:srgbClr val="DFD6C0"/>
          </a:solidFill>
          <a:ln w="15875">
            <a:solidFill>
              <a:srgbClr val="C9BDA4"/>
            </a:solidFill>
            <a:prstDash val="solid"/>
          </a:ln>
        </p:spPr>
      </p:sp>
      <p:sp>
        <p:nvSpPr>
          <p:cNvPr id="25" name="Text 22"/>
          <p:cNvSpPr/>
          <p:nvPr/>
        </p:nvSpPr>
        <p:spPr>
          <a:xfrm>
            <a:off x="8119872" y="2889504"/>
            <a:ext cx="3236976" cy="310896"/>
          </a:xfrm>
          <a:prstGeom prst="rect">
            <a:avLst/>
          </a:prstGeom>
          <a:noFill/>
          <a:ln/>
        </p:spPr>
        <p:txBody>
          <a:bodyPr wrap="square" lIns="0" tIns="0" rIns="0" bIns="0" rtlCol="0" anchor="b">
            <a:normAutofit/>
          </a:bodyPr>
          <a:lstStyle/>
          <a:p>
            <a:pPr algn="ctr" indent="0" marL="0">
              <a:buNone/>
            </a:pPr>
            <a:r>
              <a:rPr lang="en-US" sz="1350" b="1" dirty="0">
                <a:solidFill>
                  <a:srgbClr val="3A2C1A"/>
                </a:solidFill>
                <a:latin typeface="Helvetica Neue" pitchFamily="34" charset="0"/>
                <a:ea typeface="Helvetica Neue" pitchFamily="34" charset="-122"/>
                <a:cs typeface="Helvetica Neue" pitchFamily="34" charset="-120"/>
              </a:rPr>
              <a:t>KEEP it, then answer</a:t>
            </a:r>
            <a:endParaRPr lang="en-US" sz="1350" dirty="0"/>
          </a:p>
        </p:txBody>
      </p:sp>
      <p:sp>
        <p:nvSpPr>
          <p:cNvPr id="26" name="Text 23"/>
          <p:cNvSpPr/>
          <p:nvPr/>
        </p:nvSpPr>
        <p:spPr>
          <a:xfrm>
            <a:off x="8119872" y="3182112"/>
            <a:ext cx="3236976" cy="384048"/>
          </a:xfrm>
          <a:prstGeom prst="rect">
            <a:avLst/>
          </a:prstGeom>
          <a:noFill/>
          <a:ln/>
        </p:spPr>
        <p:txBody>
          <a:bodyPr wrap="square" lIns="0" tIns="0" rIns="0" bIns="0" rtlCol="0" anchor="t">
            <a:normAutofit/>
          </a:bodyPr>
          <a:lstStyle/>
          <a:p>
            <a:pPr algn="ctr" indent="0" marL="0">
              <a:buNone/>
            </a:pPr>
            <a:r>
              <a:rPr lang="en-US" sz="1050" dirty="0">
                <a:solidFill>
                  <a:srgbClr val="6B5A44"/>
                </a:solidFill>
                <a:latin typeface="Helvetica Neue" pitchFamily="34" charset="0"/>
                <a:ea typeface="Helvetica Neue" pitchFamily="34" charset="-122"/>
                <a:cs typeface="Helvetica Neue" pitchFamily="34" charset="-120"/>
              </a:rPr>
              <a:t>next time: fast path</a:t>
            </a:r>
            <a:endParaRPr lang="en-US" sz="1050" dirty="0"/>
          </a:p>
        </p:txBody>
      </p:sp>
      <p:sp>
        <p:nvSpPr>
          <p:cNvPr id="27" name="Shape 24"/>
          <p:cNvSpPr/>
          <p:nvPr/>
        </p:nvSpPr>
        <p:spPr>
          <a:xfrm>
            <a:off x="548640" y="3977640"/>
            <a:ext cx="11064240" cy="914400"/>
          </a:xfrm>
          <a:prstGeom prst="roundRect">
            <a:avLst>
              <a:gd name="adj" fmla="val 8000"/>
            </a:avLst>
          </a:prstGeom>
          <a:solidFill>
            <a:srgbClr val="E6DFCE"/>
          </a:solidFill>
          <a:ln/>
        </p:spPr>
      </p:sp>
      <p:sp>
        <p:nvSpPr>
          <p:cNvPr id="28" name="Text 25"/>
          <p:cNvSpPr/>
          <p:nvPr/>
        </p:nvSpPr>
        <p:spPr>
          <a:xfrm>
            <a:off x="749808" y="4123944"/>
            <a:ext cx="10661904" cy="621792"/>
          </a:xfrm>
          <a:prstGeom prst="rect">
            <a:avLst/>
          </a:prstGeom>
          <a:noFill/>
          <a:ln/>
        </p:spPr>
        <p:txBody>
          <a:bodyPr wrap="square" lIns="0" tIns="0" rIns="0" bIns="0" rtlCol="0" anchor="t">
            <a:normAutofit/>
          </a:bodyPr>
          <a:lstStyle/>
          <a:p>
            <a:pPr indent="0" marL="0">
              <a:buNone/>
            </a:pPr>
            <a:r>
              <a:rPr lang="en-US" sz="1250" dirty="0">
                <a:solidFill>
                  <a:srgbClr val="3A2C1A"/>
                </a:solidFill>
                <a:latin typeface="Courier New" pitchFamily="34" charset="0"/>
                <a:ea typeface="Courier New" pitchFamily="34" charset="-122"/>
                <a:cs typeface="Courier New" pitchFamily="34" charset="-120"/>
              </a:rPr>
              <a:t>(time (d/q readings-q db))   ;; 1st run: ~120 ms — fetching from storage</a:t>
            </a:r>
            <a:endParaRPr lang="en-US" sz="1250" dirty="0"/>
          </a:p>
          <a:p>
            <a:pPr indent="0" marL="0">
              <a:buNone/>
            </a:pPr>
            <a:r>
              <a:rPr lang="en-US" sz="1250" dirty="0">
                <a:solidFill>
                  <a:srgbClr val="3A2C1A"/>
                </a:solidFill>
                <a:latin typeface="Courier New" pitchFamily="34" charset="0"/>
                <a:ea typeface="Courier New" pitchFamily="34" charset="-122"/>
                <a:cs typeface="Courier New" pitchFamily="34" charset="-120"/>
              </a:rPr>
              <a:t>(time (d/q readings-q db))   ;; 2nd run:   ~2 ms — data is already local</a:t>
            </a:r>
            <a:endParaRPr lang="en-US" sz="1250" dirty="0"/>
          </a:p>
        </p:txBody>
      </p:sp>
      <p:sp>
        <p:nvSpPr>
          <p:cNvPr id="29" name="Shape 26"/>
          <p:cNvSpPr/>
          <p:nvPr/>
        </p:nvSpPr>
        <p:spPr>
          <a:xfrm>
            <a:off x="548640" y="5166360"/>
            <a:ext cx="54864" cy="457200"/>
          </a:xfrm>
          <a:prstGeom prst="rect">
            <a:avLst/>
          </a:prstGeom>
          <a:solidFill>
            <a:srgbClr val="A8864A"/>
          </a:solidFill>
          <a:ln/>
        </p:spPr>
      </p:sp>
      <p:sp>
        <p:nvSpPr>
          <p:cNvPr id="30" name="Text 27"/>
          <p:cNvSpPr/>
          <p:nvPr/>
        </p:nvSpPr>
        <p:spPr>
          <a:xfrm>
            <a:off x="777240" y="516636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A read costs whatever FETCHING costs. Once the data is local, reads are nearly free.</a:t>
            </a:r>
            <a:endParaRPr lang="en-US" sz="1450" dirty="0"/>
          </a:p>
        </p:txBody>
      </p:sp>
      <p:sp>
        <p:nvSpPr>
          <p:cNvPr id="31" name="Text 28"/>
          <p:cNvSpPr/>
          <p:nvPr/>
        </p:nvSpPr>
        <p:spPr>
          <a:xfrm>
            <a:off x="548640" y="5760720"/>
            <a:ext cx="11064240" cy="365760"/>
          </a:xfrm>
          <a:prstGeom prst="rect">
            <a:avLst/>
          </a:prstGeom>
          <a:noFill/>
          <a:ln/>
        </p:spPr>
        <p:txBody>
          <a:bodyPr wrap="square" lIns="0" tIns="0" rIns="0" bIns="0" rtlCol="0" anchor="t">
            <a:normAutofit/>
          </a:bodyPr>
          <a:lstStyle/>
          <a:p>
            <a:pPr indent="0" marL="0">
              <a:buNone/>
            </a:pPr>
            <a:r>
              <a:rPr lang="en-US" sz="1250" i="1" dirty="0">
                <a:solidFill>
                  <a:srgbClr val="9A8A72"/>
                </a:solidFill>
                <a:latin typeface="Helvetica Neue" pitchFamily="34" charset="0"/>
                <a:ea typeface="Helvetica Neue" pitchFamily="34" charset="-122"/>
                <a:cs typeface="Helvetica Neue" pitchFamily="34" charset="-120"/>
              </a:rPr>
              <a:t>The transactor appears nowhere in this picture — reads never involve it.</a:t>
            </a:r>
            <a:endParaRPr lang="en-US" sz="1250" dirty="0"/>
          </a:p>
        </p:txBody>
      </p:sp>
      <p:sp>
        <p:nvSpPr>
          <p:cNvPr id="32" name="Shape 29"/>
          <p:cNvSpPr/>
          <p:nvPr/>
        </p:nvSpPr>
        <p:spPr>
          <a:xfrm>
            <a:off x="548640" y="6419088"/>
            <a:ext cx="54864" cy="292608"/>
          </a:xfrm>
          <a:prstGeom prst="rect">
            <a:avLst/>
          </a:prstGeom>
          <a:solidFill>
            <a:srgbClr val="A8864A"/>
          </a:solidFill>
          <a:ln/>
        </p:spPr>
      </p:sp>
      <p:sp>
        <p:nvSpPr>
          <p:cNvPr id="33" name="Text 30"/>
          <p:cNvSpPr/>
          <p:nvPr/>
        </p:nvSpPr>
        <p:spPr>
          <a:xfrm>
            <a:off x="713232" y="6382512"/>
            <a:ext cx="658368" cy="365760"/>
          </a:xfrm>
          <a:prstGeom prst="rect">
            <a:avLst/>
          </a:prstGeom>
          <a:noFill/>
          <a:ln/>
        </p:spPr>
        <p:txBody>
          <a:bodyPr wrap="square" lIns="0" tIns="0" rIns="0" bIns="0" rtlCol="0" anchor="ctr"/>
          <a:lstStyle/>
          <a:p>
            <a:pPr indent="0" marL="0">
              <a:buNone/>
            </a:pPr>
            <a:r>
              <a:rPr lang="en-US" sz="900" b="1" spc="100" kern="0" dirty="0">
                <a:solidFill>
                  <a:srgbClr val="A8864A"/>
                </a:solidFill>
                <a:latin typeface="Helvetica Neue" pitchFamily="34" charset="0"/>
                <a:ea typeface="Helvetica Neue" pitchFamily="34" charset="-122"/>
                <a:cs typeface="Helvetica Neue" pitchFamily="34" charset="-120"/>
              </a:rPr>
              <a:t>CASES</a:t>
            </a:r>
            <a:endParaRPr lang="en-US" sz="900" dirty="0"/>
          </a:p>
        </p:txBody>
      </p:sp>
      <p:sp>
        <p:nvSpPr>
          <p:cNvPr id="34" name="Text 31"/>
          <p:cNvSpPr/>
          <p:nvPr/>
        </p:nvSpPr>
        <p:spPr>
          <a:xfrm>
            <a:off x="1463040" y="6382512"/>
            <a:ext cx="9509760" cy="365760"/>
          </a:xfrm>
          <a:prstGeom prst="rect">
            <a:avLst/>
          </a:prstGeom>
          <a:noFill/>
          <a:ln/>
        </p:spPr>
        <p:txBody>
          <a:bodyPr wrap="square" lIns="0" tIns="0" rIns="0" bIns="0" rtlCol="0" anchor="ctr"/>
          <a:lstStyle/>
          <a:p>
            <a:pPr indent="0" marL="0">
              <a:buNone/>
            </a:pPr>
            <a:r>
              <a:rPr lang="en-US" sz="1100" dirty="0">
                <a:solidFill>
                  <a:srgbClr val="6B5A44"/>
                </a:solidFill>
                <a:latin typeface="Helvetica Neue" pitchFamily="34" charset="0"/>
                <a:ea typeface="Helvetica Neue" pitchFamily="34" charset="-122"/>
                <a:cs typeface="Helvetica Neue" pitchFamily="34" charset="-120"/>
              </a:rPr>
              <a:t>Same query, twice: 120 ms then 2 ms — only the data's location changed   ·   A read that finds everything local costs storage nothing</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 · READS</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8</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The broad picture: warm vs cold</a:t>
            </a:r>
            <a:endParaRPr lang="en-US" sz="2500" dirty="0"/>
          </a:p>
        </p:txBody>
      </p:sp>
      <p:sp>
        <p:nvSpPr>
          <p:cNvPr id="8" name="Text 5"/>
          <p:cNvSpPr/>
          <p:nvPr/>
        </p:nvSpPr>
        <p:spPr>
          <a:xfrm>
            <a:off x="822960" y="1554480"/>
            <a:ext cx="1828800" cy="640080"/>
          </a:xfrm>
          <a:prstGeom prst="rect">
            <a:avLst/>
          </a:prstGeom>
          <a:noFill/>
          <a:ln/>
        </p:spPr>
        <p:txBody>
          <a:bodyPr wrap="square" lIns="0" tIns="0" rIns="0" bIns="0" rtlCol="0" anchor="ctr">
            <a:normAutofit/>
          </a:bodyPr>
          <a:lstStyle/>
          <a:p>
            <a:pPr algn="r" indent="0" marL="0">
              <a:buNone/>
            </a:pPr>
            <a:r>
              <a:rPr lang="en-US" sz="1250" dirty="0">
                <a:solidFill>
                  <a:srgbClr val="3A2C1A"/>
                </a:solidFill>
                <a:latin typeface="Helvetica Neue" pitchFamily="34" charset="0"/>
                <a:ea typeface="Helvetica Neue" pitchFamily="34" charset="-122"/>
                <a:cs typeface="Helvetica Neue" pitchFamily="34" charset="-120"/>
              </a:rPr>
              <a:t>warm peer</a:t>
            </a:r>
            <a:endParaRPr lang="en-US" sz="1250" dirty="0"/>
          </a:p>
        </p:txBody>
      </p:sp>
      <p:sp>
        <p:nvSpPr>
          <p:cNvPr id="9" name="Shape 6"/>
          <p:cNvSpPr/>
          <p:nvPr/>
        </p:nvSpPr>
        <p:spPr>
          <a:xfrm>
            <a:off x="2834640" y="1609344"/>
            <a:ext cx="6949440" cy="530352"/>
          </a:xfrm>
          <a:prstGeom prst="rect">
            <a:avLst/>
          </a:prstGeom>
          <a:solidFill>
            <a:srgbClr val="E6DFCE"/>
          </a:solidFill>
          <a:ln/>
        </p:spPr>
      </p:sp>
      <p:sp>
        <p:nvSpPr>
          <p:cNvPr id="10" name="Shape 7"/>
          <p:cNvSpPr/>
          <p:nvPr/>
        </p:nvSpPr>
        <p:spPr>
          <a:xfrm>
            <a:off x="2834640" y="1609344"/>
            <a:ext cx="277978" cy="530352"/>
          </a:xfrm>
          <a:prstGeom prst="rect">
            <a:avLst/>
          </a:prstGeom>
          <a:solidFill>
            <a:srgbClr val="5F7A3A"/>
          </a:solidFill>
          <a:ln/>
        </p:spPr>
      </p:sp>
      <p:sp>
        <p:nvSpPr>
          <p:cNvPr id="11" name="Text 8"/>
          <p:cNvSpPr/>
          <p:nvPr/>
        </p:nvSpPr>
        <p:spPr>
          <a:xfrm>
            <a:off x="9875520" y="1554480"/>
            <a:ext cx="1371600" cy="640080"/>
          </a:xfrm>
          <a:prstGeom prst="rect">
            <a:avLst/>
          </a:prstGeom>
          <a:noFill/>
          <a:ln/>
        </p:spPr>
        <p:txBody>
          <a:bodyPr wrap="square" lIns="0" tIns="0" rIns="0" bIns="0" rtlCol="0" anchor="ctr">
            <a:normAutofit/>
          </a:bodyPr>
          <a:lstStyle/>
          <a:p>
            <a:pPr indent="0" marL="0">
              <a:buNone/>
            </a:pPr>
            <a:r>
              <a:rPr lang="en-US" sz="1250" dirty="0">
                <a:solidFill>
                  <a:srgbClr val="6B5A44"/>
                </a:solidFill>
                <a:latin typeface="Courier New" pitchFamily="34" charset="0"/>
                <a:ea typeface="Courier New" pitchFamily="34" charset="-122"/>
                <a:cs typeface="Courier New" pitchFamily="34" charset="-120"/>
              </a:rPr>
              <a:t>~ms</a:t>
            </a:r>
            <a:endParaRPr lang="en-US" sz="1250" dirty="0"/>
          </a:p>
        </p:txBody>
      </p:sp>
      <p:sp>
        <p:nvSpPr>
          <p:cNvPr id="12" name="Text 9"/>
          <p:cNvSpPr/>
          <p:nvPr/>
        </p:nvSpPr>
        <p:spPr>
          <a:xfrm>
            <a:off x="822960" y="2468880"/>
            <a:ext cx="1828800" cy="640080"/>
          </a:xfrm>
          <a:prstGeom prst="rect">
            <a:avLst/>
          </a:prstGeom>
          <a:noFill/>
          <a:ln/>
        </p:spPr>
        <p:txBody>
          <a:bodyPr wrap="square" lIns="0" tIns="0" rIns="0" bIns="0" rtlCol="0" anchor="ctr">
            <a:normAutofit/>
          </a:bodyPr>
          <a:lstStyle/>
          <a:p>
            <a:pPr algn="r" indent="0" marL="0">
              <a:buNone/>
            </a:pPr>
            <a:r>
              <a:rPr lang="en-US" sz="1250" dirty="0">
                <a:solidFill>
                  <a:srgbClr val="3A2C1A"/>
                </a:solidFill>
                <a:latin typeface="Helvetica Neue" pitchFamily="34" charset="0"/>
                <a:ea typeface="Helvetica Neue" pitchFamily="34" charset="-122"/>
                <a:cs typeface="Helvetica Neue" pitchFamily="34" charset="-120"/>
              </a:rPr>
              <a:t>cold peer</a:t>
            </a:r>
            <a:endParaRPr lang="en-US" sz="1250" dirty="0"/>
          </a:p>
        </p:txBody>
      </p:sp>
      <p:sp>
        <p:nvSpPr>
          <p:cNvPr id="13" name="Shape 10"/>
          <p:cNvSpPr/>
          <p:nvPr/>
        </p:nvSpPr>
        <p:spPr>
          <a:xfrm>
            <a:off x="2834640" y="2523744"/>
            <a:ext cx="6949440" cy="530352"/>
          </a:xfrm>
          <a:prstGeom prst="rect">
            <a:avLst/>
          </a:prstGeom>
          <a:solidFill>
            <a:srgbClr val="E6DFCE"/>
          </a:solidFill>
          <a:ln/>
        </p:spPr>
      </p:sp>
      <p:sp>
        <p:nvSpPr>
          <p:cNvPr id="14" name="Shape 11"/>
          <p:cNvSpPr/>
          <p:nvPr/>
        </p:nvSpPr>
        <p:spPr>
          <a:xfrm>
            <a:off x="2834640" y="2523744"/>
            <a:ext cx="6949440" cy="530352"/>
          </a:xfrm>
          <a:prstGeom prst="rect">
            <a:avLst/>
          </a:prstGeom>
          <a:solidFill>
            <a:srgbClr val="9E4227"/>
          </a:solidFill>
          <a:ln/>
        </p:spPr>
      </p:sp>
      <p:sp>
        <p:nvSpPr>
          <p:cNvPr id="15" name="Text 12"/>
          <p:cNvSpPr/>
          <p:nvPr/>
        </p:nvSpPr>
        <p:spPr>
          <a:xfrm>
            <a:off x="9875520" y="2468880"/>
            <a:ext cx="1371600" cy="640080"/>
          </a:xfrm>
          <a:prstGeom prst="rect">
            <a:avLst/>
          </a:prstGeom>
          <a:noFill/>
          <a:ln/>
        </p:spPr>
        <p:txBody>
          <a:bodyPr wrap="square" lIns="0" tIns="0" rIns="0" bIns="0" rtlCol="0" anchor="ctr">
            <a:normAutofit/>
          </a:bodyPr>
          <a:lstStyle/>
          <a:p>
            <a:pPr indent="0" marL="0">
              <a:buNone/>
            </a:pPr>
            <a:r>
              <a:rPr lang="en-US" sz="1250" dirty="0">
                <a:solidFill>
                  <a:srgbClr val="6B5A44"/>
                </a:solidFill>
                <a:latin typeface="Courier New" pitchFamily="34" charset="0"/>
                <a:ea typeface="Courier New" pitchFamily="34" charset="-122"/>
                <a:cs typeface="Courier New" pitchFamily="34" charset="-120"/>
              </a:rPr>
              <a:t>~100×</a:t>
            </a:r>
            <a:endParaRPr lang="en-US" sz="1250" dirty="0"/>
          </a:p>
        </p:txBody>
      </p:sp>
      <p:sp>
        <p:nvSpPr>
          <p:cNvPr id="16" name="Text 13"/>
          <p:cNvSpPr/>
          <p:nvPr/>
        </p:nvSpPr>
        <p:spPr>
          <a:xfrm>
            <a:off x="548640" y="3200400"/>
            <a:ext cx="11064240" cy="365760"/>
          </a:xfrm>
          <a:prstGeom prst="rect">
            <a:avLst/>
          </a:prstGeom>
          <a:noFill/>
          <a:ln/>
        </p:spPr>
        <p:txBody>
          <a:bodyPr wrap="square" lIns="0" tIns="0" rIns="0" bIns="0" rtlCol="0" anchor="t"/>
          <a:lstStyle/>
          <a:p>
            <a:pPr algn="ctr" indent="0" marL="0">
              <a:buNone/>
            </a:pPr>
            <a:r>
              <a:rPr lang="en-US" sz="1450" i="1" dirty="0">
                <a:solidFill>
                  <a:srgbClr val="3A2C1A"/>
                </a:solidFill>
                <a:latin typeface="Helvetica Neue" pitchFamily="34" charset="0"/>
                <a:ea typeface="Helvetica Neue" pitchFamily="34" charset="-122"/>
                <a:cs typeface="Helvetica Neue" pitchFamily="34" charset="-120"/>
              </a:rPr>
              <a:t>same query · same data · same code — only the data's location differs</a:t>
            </a:r>
            <a:endParaRPr lang="en-US" sz="1450" dirty="0"/>
          </a:p>
        </p:txBody>
      </p:sp>
      <p:sp>
        <p:nvSpPr>
          <p:cNvPr id="17" name="Shape 14"/>
          <p:cNvSpPr/>
          <p:nvPr/>
        </p:nvSpPr>
        <p:spPr>
          <a:xfrm>
            <a:off x="548640" y="3840480"/>
            <a:ext cx="5349240" cy="1188720"/>
          </a:xfrm>
          <a:prstGeom prst="roundRect">
            <a:avLst>
              <a:gd name="adj" fmla="val 4615"/>
            </a:avLst>
          </a:prstGeom>
          <a:solidFill>
            <a:srgbClr val="DDE3CC"/>
          </a:solidFill>
          <a:ln w="15875">
            <a:solidFill>
              <a:srgbClr val="5F7A3A"/>
            </a:solidFill>
            <a:prstDash val="solid"/>
          </a:ln>
        </p:spPr>
      </p:sp>
      <p:sp>
        <p:nvSpPr>
          <p:cNvPr id="18" name="Text 15"/>
          <p:cNvSpPr/>
          <p:nvPr/>
        </p:nvSpPr>
        <p:spPr>
          <a:xfrm>
            <a:off x="621792" y="4123944"/>
            <a:ext cx="5202936" cy="310896"/>
          </a:xfrm>
          <a:prstGeom prst="rect">
            <a:avLst/>
          </a:prstGeom>
          <a:noFill/>
          <a:ln/>
        </p:spPr>
        <p:txBody>
          <a:bodyPr wrap="square" lIns="0" tIns="0" rIns="0" bIns="0" rtlCol="0" anchor="b">
            <a:normAutofit/>
          </a:bodyPr>
          <a:lstStyle/>
          <a:p>
            <a:pPr algn="ctr" indent="0" marL="0">
              <a:buNone/>
            </a:pPr>
            <a:r>
              <a:rPr lang="en-US" sz="1500" b="1" dirty="0">
                <a:solidFill>
                  <a:srgbClr val="3A2C1A"/>
                </a:solidFill>
                <a:latin typeface="Helvetica Neue" pitchFamily="34" charset="0"/>
                <a:ea typeface="Helvetica Neue" pitchFamily="34" charset="-122"/>
                <a:cs typeface="Helvetica Neue" pitchFamily="34" charset="-120"/>
              </a:rPr>
              <a:t>warm</a:t>
            </a:r>
            <a:endParaRPr lang="en-US" sz="1500" dirty="0"/>
          </a:p>
        </p:txBody>
      </p:sp>
      <p:sp>
        <p:nvSpPr>
          <p:cNvPr id="19" name="Text 16"/>
          <p:cNvSpPr/>
          <p:nvPr/>
        </p:nvSpPr>
        <p:spPr>
          <a:xfrm>
            <a:off x="621792" y="4416552"/>
            <a:ext cx="5202936" cy="640080"/>
          </a:xfrm>
          <a:prstGeom prst="rect">
            <a:avLst/>
          </a:prstGeom>
          <a:noFill/>
          <a:ln/>
        </p:spPr>
        <p:txBody>
          <a:bodyPr wrap="square" lIns="0" tIns="0" rIns="0" bIns="0" rtlCol="0" anchor="t">
            <a:normAutofit/>
          </a:bodyPr>
          <a:lstStyle/>
          <a:p>
            <a:pPr algn="ctr" indent="0" marL="0">
              <a:buNone/>
            </a:pPr>
            <a:r>
              <a:rPr lang="en-US" sz="1200" dirty="0">
                <a:solidFill>
                  <a:srgbClr val="6B5A44"/>
                </a:solidFill>
                <a:latin typeface="Helvetica Neue" pitchFamily="34" charset="0"/>
                <a:ea typeface="Helvetica Neue" pitchFamily="34" charset="-122"/>
                <a:cs typeface="Helvetica Neue" pitchFamily="34" charset="-120"/>
              </a:rPr>
              <a:t>data already local — the peer answers</a:t>
            </a:r>
            <a:endParaRPr lang="en-US" sz="1200" dirty="0"/>
          </a:p>
          <a:p>
            <a:pPr algn="ctr" indent="0" marL="0">
              <a:buNone/>
            </a:pPr>
            <a:r>
              <a:rPr lang="en-US" sz="1200" dirty="0">
                <a:solidFill>
                  <a:srgbClr val="6B5A44"/>
                </a:solidFill>
                <a:latin typeface="Helvetica Neue" pitchFamily="34" charset="0"/>
                <a:ea typeface="Helvetica Neue" pitchFamily="34" charset="-122"/>
                <a:cs typeface="Helvetica Neue" pitchFamily="34" charset="-120"/>
              </a:rPr>
              <a:t>from memory, storage is not consulted</a:t>
            </a:r>
            <a:endParaRPr lang="en-US" sz="1200" dirty="0"/>
          </a:p>
        </p:txBody>
      </p:sp>
      <p:sp>
        <p:nvSpPr>
          <p:cNvPr id="20" name="Shape 17"/>
          <p:cNvSpPr/>
          <p:nvPr/>
        </p:nvSpPr>
        <p:spPr>
          <a:xfrm>
            <a:off x="6263640" y="3840480"/>
            <a:ext cx="5349240" cy="1188720"/>
          </a:xfrm>
          <a:prstGeom prst="roundRect">
            <a:avLst>
              <a:gd name="adj" fmla="val 4615"/>
            </a:avLst>
          </a:prstGeom>
          <a:solidFill>
            <a:srgbClr val="EBD5CB"/>
          </a:solidFill>
          <a:ln w="15875">
            <a:solidFill>
              <a:srgbClr val="9E4227"/>
            </a:solidFill>
            <a:prstDash val="solid"/>
          </a:ln>
        </p:spPr>
      </p:sp>
      <p:sp>
        <p:nvSpPr>
          <p:cNvPr id="21" name="Text 18"/>
          <p:cNvSpPr/>
          <p:nvPr/>
        </p:nvSpPr>
        <p:spPr>
          <a:xfrm>
            <a:off x="6336792" y="4123944"/>
            <a:ext cx="5202936" cy="310896"/>
          </a:xfrm>
          <a:prstGeom prst="rect">
            <a:avLst/>
          </a:prstGeom>
          <a:noFill/>
          <a:ln/>
        </p:spPr>
        <p:txBody>
          <a:bodyPr wrap="square" lIns="0" tIns="0" rIns="0" bIns="0" rtlCol="0" anchor="b">
            <a:normAutofit/>
          </a:bodyPr>
          <a:lstStyle/>
          <a:p>
            <a:pPr algn="ctr" indent="0" marL="0">
              <a:buNone/>
            </a:pPr>
            <a:r>
              <a:rPr lang="en-US" sz="1500" b="1" dirty="0">
                <a:solidFill>
                  <a:srgbClr val="3A2C1A"/>
                </a:solidFill>
                <a:latin typeface="Helvetica Neue" pitchFamily="34" charset="0"/>
                <a:ea typeface="Helvetica Neue" pitchFamily="34" charset="-122"/>
                <a:cs typeface="Helvetica Neue" pitchFamily="34" charset="-120"/>
              </a:rPr>
              <a:t>cold</a:t>
            </a:r>
            <a:endParaRPr lang="en-US" sz="1500" dirty="0"/>
          </a:p>
        </p:txBody>
      </p:sp>
      <p:sp>
        <p:nvSpPr>
          <p:cNvPr id="22" name="Text 19"/>
          <p:cNvSpPr/>
          <p:nvPr/>
        </p:nvSpPr>
        <p:spPr>
          <a:xfrm>
            <a:off x="6336792" y="4416552"/>
            <a:ext cx="5202936" cy="640080"/>
          </a:xfrm>
          <a:prstGeom prst="rect">
            <a:avLst/>
          </a:prstGeom>
          <a:noFill/>
          <a:ln/>
        </p:spPr>
        <p:txBody>
          <a:bodyPr wrap="square" lIns="0" tIns="0" rIns="0" bIns="0" rtlCol="0" anchor="t">
            <a:normAutofit/>
          </a:bodyPr>
          <a:lstStyle/>
          <a:p>
            <a:pPr algn="ctr" indent="0" marL="0">
              <a:buNone/>
            </a:pPr>
            <a:r>
              <a:rPr lang="en-US" sz="1200" dirty="0">
                <a:solidFill>
                  <a:srgbClr val="6B5A44"/>
                </a:solidFill>
                <a:latin typeface="Helvetica Neue" pitchFamily="34" charset="0"/>
                <a:ea typeface="Helvetica Neue" pitchFamily="34" charset="-122"/>
                <a:cs typeface="Helvetica Neue" pitchFamily="34" charset="-120"/>
              </a:rPr>
              <a:t>everything is fetched first —</a:t>
            </a:r>
            <a:endParaRPr lang="en-US" sz="1200" dirty="0"/>
          </a:p>
          <a:p>
            <a:pPr algn="ctr" indent="0" marL="0">
              <a:buNone/>
            </a:pPr>
            <a:r>
              <a:rPr lang="en-US" sz="1200" dirty="0">
                <a:solidFill>
                  <a:srgbClr val="6B5A44"/>
                </a:solidFill>
                <a:latin typeface="Helvetica Neue" pitchFamily="34" charset="0"/>
                <a:ea typeface="Helvetica Neue" pitchFamily="34" charset="-122"/>
                <a:cs typeface="Helvetica Neue" pitchFamily="34" charset="-120"/>
              </a:rPr>
              <a:t>the query time IS the fetch time</a:t>
            </a:r>
            <a:endParaRPr lang="en-US" sz="1200" dirty="0"/>
          </a:p>
        </p:txBody>
      </p:sp>
      <p:sp>
        <p:nvSpPr>
          <p:cNvPr id="23" name="Shape 20"/>
          <p:cNvSpPr/>
          <p:nvPr/>
        </p:nvSpPr>
        <p:spPr>
          <a:xfrm>
            <a:off x="548640" y="5349240"/>
            <a:ext cx="54864" cy="457200"/>
          </a:xfrm>
          <a:prstGeom prst="rect">
            <a:avLst/>
          </a:prstGeom>
          <a:solidFill>
            <a:srgbClr val="A8864A"/>
          </a:solidFill>
          <a:ln/>
        </p:spPr>
      </p:sp>
      <p:sp>
        <p:nvSpPr>
          <p:cNvPr id="24" name="Text 21"/>
          <p:cNvSpPr/>
          <p:nvPr/>
        </p:nvSpPr>
        <p:spPr>
          <a:xfrm>
            <a:off x="777240" y="534924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Most read-performance work in Datomic is really cache work — Part IV.</a:t>
            </a:r>
            <a:endParaRPr lang="en-US" sz="1450" dirty="0"/>
          </a:p>
        </p:txBody>
      </p:sp>
      <p:sp>
        <p:nvSpPr>
          <p:cNvPr id="25" name="Shape 22"/>
          <p:cNvSpPr/>
          <p:nvPr/>
        </p:nvSpPr>
        <p:spPr>
          <a:xfrm>
            <a:off x="548640" y="6419088"/>
            <a:ext cx="54864" cy="292608"/>
          </a:xfrm>
          <a:prstGeom prst="rect">
            <a:avLst/>
          </a:prstGeom>
          <a:solidFill>
            <a:srgbClr val="A8864A"/>
          </a:solidFill>
          <a:ln/>
        </p:spPr>
      </p:sp>
      <p:sp>
        <p:nvSpPr>
          <p:cNvPr id="26" name="Text 23"/>
          <p:cNvSpPr/>
          <p:nvPr/>
        </p:nvSpPr>
        <p:spPr>
          <a:xfrm>
            <a:off x="713232" y="6382512"/>
            <a:ext cx="658368" cy="365760"/>
          </a:xfrm>
          <a:prstGeom prst="rect">
            <a:avLst/>
          </a:prstGeom>
          <a:noFill/>
          <a:ln/>
        </p:spPr>
        <p:txBody>
          <a:bodyPr wrap="square" lIns="0" tIns="0" rIns="0" bIns="0" rtlCol="0" anchor="ctr"/>
          <a:lstStyle/>
          <a:p>
            <a:pPr indent="0" marL="0">
              <a:buNone/>
            </a:pPr>
            <a:r>
              <a:rPr lang="en-US" sz="900" b="1" spc="100" kern="0" dirty="0">
                <a:solidFill>
                  <a:srgbClr val="A8864A"/>
                </a:solidFill>
                <a:latin typeface="Helvetica Neue" pitchFamily="34" charset="0"/>
                <a:ea typeface="Helvetica Neue" pitchFamily="34" charset="-122"/>
                <a:cs typeface="Helvetica Neue" pitchFamily="34" charset="-120"/>
              </a:rPr>
              <a:t>CASES</a:t>
            </a:r>
            <a:endParaRPr lang="en-US" sz="900" dirty="0"/>
          </a:p>
        </p:txBody>
      </p:sp>
      <p:sp>
        <p:nvSpPr>
          <p:cNvPr id="27" name="Text 24"/>
          <p:cNvSpPr/>
          <p:nvPr/>
        </p:nvSpPr>
        <p:spPr>
          <a:xfrm>
            <a:off x="1463040" y="6382512"/>
            <a:ext cx="9509760" cy="365760"/>
          </a:xfrm>
          <a:prstGeom prst="rect">
            <a:avLst/>
          </a:prstGeom>
          <a:noFill/>
          <a:ln/>
        </p:spPr>
        <p:txBody>
          <a:bodyPr wrap="square" lIns="0" tIns="0" rIns="0" bIns="0" rtlCol="0" anchor="ctr"/>
          <a:lstStyle/>
          <a:p>
            <a:pPr indent="0" marL="0">
              <a:buNone/>
            </a:pPr>
            <a:r>
              <a:rPr lang="en-US" sz="1100" dirty="0">
                <a:solidFill>
                  <a:srgbClr val="6B5A44"/>
                </a:solidFill>
                <a:latin typeface="Helvetica Neue" pitchFamily="34" charset="0"/>
                <a:ea typeface="Helvetica Neue" pitchFamily="34" charset="-122"/>
                <a:cs typeface="Helvetica Neue" pitchFamily="34" charset="-120"/>
              </a:rPr>
              <a:t>Slow read? First question: warm or cold — not 'is the query bad'   ·   The 100× is illustrative; the shape is what matters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 · READS</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9</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The catches of reads</a:t>
            </a:r>
            <a:endParaRPr lang="en-US" sz="2500" dirty="0"/>
          </a:p>
        </p:txBody>
      </p:sp>
      <p:sp>
        <p:nvSpPr>
          <p:cNvPr id="8" name="Shape 5"/>
          <p:cNvSpPr/>
          <p:nvPr/>
        </p:nvSpPr>
        <p:spPr>
          <a:xfrm>
            <a:off x="548640" y="1371600"/>
            <a:ext cx="11064240" cy="960120"/>
          </a:xfrm>
          <a:prstGeom prst="roundRect">
            <a:avLst>
              <a:gd name="adj" fmla="val 7619"/>
            </a:avLst>
          </a:prstGeom>
          <a:solidFill>
            <a:srgbClr val="EDE0C4"/>
          </a:solidFill>
          <a:ln/>
        </p:spPr>
      </p:sp>
      <p:sp>
        <p:nvSpPr>
          <p:cNvPr id="9" name="Shape 6"/>
          <p:cNvSpPr/>
          <p:nvPr/>
        </p:nvSpPr>
        <p:spPr>
          <a:xfrm>
            <a:off x="548640" y="1371600"/>
            <a:ext cx="82296" cy="960120"/>
          </a:xfrm>
          <a:prstGeom prst="rect">
            <a:avLst/>
          </a:prstGeom>
          <a:solidFill>
            <a:srgbClr val="B5822B"/>
          </a:solidFill>
          <a:ln/>
        </p:spPr>
      </p:sp>
      <p:sp>
        <p:nvSpPr>
          <p:cNvPr id="10" name="Text 7"/>
          <p:cNvSpPr/>
          <p:nvPr/>
        </p:nvSpPr>
        <p:spPr>
          <a:xfrm>
            <a:off x="868680" y="1481328"/>
            <a:ext cx="10424160" cy="365760"/>
          </a:xfrm>
          <a:prstGeom prst="rect">
            <a:avLst/>
          </a:prstGeom>
          <a:noFill/>
          <a:ln/>
        </p:spPr>
        <p:txBody>
          <a:bodyPr wrap="square" lIns="0" tIns="0" rIns="0" bIns="0" rtlCol="0" anchor="t"/>
          <a:lstStyle/>
          <a:p>
            <a:pPr indent="0" marL="0">
              <a:buNone/>
            </a:pPr>
            <a:r>
              <a:rPr lang="en-US" sz="1550" b="1" dirty="0">
                <a:solidFill>
                  <a:srgbClr val="3A2C1A"/>
                </a:solidFill>
                <a:latin typeface="Helvetica Neue" pitchFamily="34" charset="0"/>
                <a:ea typeface="Helvetica Neue" pitchFamily="34" charset="-122"/>
                <a:cs typeface="Helvetica Neue" pitchFamily="34" charset="-120"/>
              </a:rPr>
              <a:t>1 · a restarted peer forgets everything</a:t>
            </a:r>
            <a:endParaRPr lang="en-US" sz="1550" dirty="0"/>
          </a:p>
        </p:txBody>
      </p:sp>
      <p:sp>
        <p:nvSpPr>
          <p:cNvPr id="11" name="Text 8"/>
          <p:cNvSpPr/>
          <p:nvPr/>
        </p:nvSpPr>
        <p:spPr>
          <a:xfrm>
            <a:off x="868680" y="1883664"/>
            <a:ext cx="10424160" cy="365760"/>
          </a:xfrm>
          <a:prstGeom prst="rect">
            <a:avLst/>
          </a:prstGeom>
          <a:noFill/>
          <a:ln/>
        </p:spPr>
        <p:txBody>
          <a:bodyPr wrap="square" lIns="0" tIns="0" rIns="0" bIns="0" rtlCol="0" anchor="t">
            <a:normAutofit/>
          </a:bodyPr>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first requests re-fetch its whole world — a fresh process is a slow process  (→ Part IV: deploys)</a:t>
            </a:r>
            <a:endParaRPr lang="en-US" sz="1250" dirty="0"/>
          </a:p>
        </p:txBody>
      </p:sp>
      <p:sp>
        <p:nvSpPr>
          <p:cNvPr id="12" name="Shape 9"/>
          <p:cNvSpPr/>
          <p:nvPr/>
        </p:nvSpPr>
        <p:spPr>
          <a:xfrm>
            <a:off x="548640" y="2487168"/>
            <a:ext cx="11064240" cy="960120"/>
          </a:xfrm>
          <a:prstGeom prst="roundRect">
            <a:avLst>
              <a:gd name="adj" fmla="val 7619"/>
            </a:avLst>
          </a:prstGeom>
          <a:solidFill>
            <a:srgbClr val="D3DEE1"/>
          </a:solidFill>
          <a:ln/>
        </p:spPr>
      </p:sp>
      <p:sp>
        <p:nvSpPr>
          <p:cNvPr id="13" name="Shape 10"/>
          <p:cNvSpPr/>
          <p:nvPr/>
        </p:nvSpPr>
        <p:spPr>
          <a:xfrm>
            <a:off x="548640" y="2487168"/>
            <a:ext cx="82296" cy="960120"/>
          </a:xfrm>
          <a:prstGeom prst="rect">
            <a:avLst/>
          </a:prstGeom>
          <a:solidFill>
            <a:srgbClr val="3F6470"/>
          </a:solidFill>
          <a:ln/>
        </p:spPr>
      </p:sp>
      <p:sp>
        <p:nvSpPr>
          <p:cNvPr id="14" name="Text 11"/>
          <p:cNvSpPr/>
          <p:nvPr/>
        </p:nvSpPr>
        <p:spPr>
          <a:xfrm>
            <a:off x="868680" y="2596896"/>
            <a:ext cx="10424160" cy="365760"/>
          </a:xfrm>
          <a:prstGeom prst="rect">
            <a:avLst/>
          </a:prstGeom>
          <a:noFill/>
          <a:ln/>
        </p:spPr>
        <p:txBody>
          <a:bodyPr wrap="square" lIns="0" tIns="0" rIns="0" bIns="0" rtlCol="0" anchor="t"/>
          <a:lstStyle/>
          <a:p>
            <a:pPr indent="0" marL="0">
              <a:buNone/>
            </a:pPr>
            <a:r>
              <a:rPr lang="en-US" sz="1550" b="1" dirty="0">
                <a:solidFill>
                  <a:srgbClr val="3A2C1A"/>
                </a:solidFill>
                <a:latin typeface="Helvetica Neue" pitchFamily="34" charset="0"/>
                <a:ea typeface="Helvetica Neue" pitchFamily="34" charset="-122"/>
                <a:cs typeface="Helvetica Neue" pitchFamily="34" charset="-120"/>
              </a:rPr>
              <a:t>2 · a new peer may not see your newest write</a:t>
            </a:r>
            <a:endParaRPr lang="en-US" sz="1550" dirty="0"/>
          </a:p>
        </p:txBody>
      </p:sp>
      <p:sp>
        <p:nvSpPr>
          <p:cNvPr id="15" name="Text 12"/>
          <p:cNvSpPr/>
          <p:nvPr/>
        </p:nvSpPr>
        <p:spPr>
          <a:xfrm>
            <a:off x="868680" y="2999232"/>
            <a:ext cx="10424160" cy="365760"/>
          </a:xfrm>
          <a:prstGeom prst="rect">
            <a:avLst/>
          </a:prstGeom>
          <a:noFill/>
          <a:ln/>
        </p:spPr>
        <p:txBody>
          <a:bodyPr wrap="square" lIns="0" tIns="0" rIns="0" bIns="0" rtlCol="0" anchor="t">
            <a:normAutofit/>
          </a:bodyPr>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write through peer A, read through peer B: pass the t along and wait for it</a:t>
            </a:r>
            <a:endParaRPr lang="en-US" sz="1250" dirty="0"/>
          </a:p>
        </p:txBody>
      </p:sp>
      <p:sp>
        <p:nvSpPr>
          <p:cNvPr id="16" name="Shape 13"/>
          <p:cNvSpPr/>
          <p:nvPr/>
        </p:nvSpPr>
        <p:spPr>
          <a:xfrm>
            <a:off x="548640" y="3602736"/>
            <a:ext cx="11064240" cy="960120"/>
          </a:xfrm>
          <a:prstGeom prst="roundRect">
            <a:avLst>
              <a:gd name="adj" fmla="val 7619"/>
            </a:avLst>
          </a:prstGeom>
          <a:solidFill>
            <a:srgbClr val="EBD5CB"/>
          </a:solidFill>
          <a:ln/>
        </p:spPr>
      </p:sp>
      <p:sp>
        <p:nvSpPr>
          <p:cNvPr id="17" name="Shape 14"/>
          <p:cNvSpPr/>
          <p:nvPr/>
        </p:nvSpPr>
        <p:spPr>
          <a:xfrm>
            <a:off x="548640" y="3602736"/>
            <a:ext cx="82296" cy="960120"/>
          </a:xfrm>
          <a:prstGeom prst="rect">
            <a:avLst/>
          </a:prstGeom>
          <a:solidFill>
            <a:srgbClr val="9E4227"/>
          </a:solidFill>
          <a:ln/>
        </p:spPr>
      </p:sp>
      <p:sp>
        <p:nvSpPr>
          <p:cNvPr id="18" name="Text 15"/>
          <p:cNvSpPr/>
          <p:nvPr/>
        </p:nvSpPr>
        <p:spPr>
          <a:xfrm>
            <a:off x="868680" y="3712464"/>
            <a:ext cx="10424160" cy="365760"/>
          </a:xfrm>
          <a:prstGeom prst="rect">
            <a:avLst/>
          </a:prstGeom>
          <a:noFill/>
          <a:ln/>
        </p:spPr>
        <p:txBody>
          <a:bodyPr wrap="square" lIns="0" tIns="0" rIns="0" bIns="0" rtlCol="0" anchor="t"/>
          <a:lstStyle/>
          <a:p>
            <a:pPr indent="0" marL="0">
              <a:buNone/>
            </a:pPr>
            <a:r>
              <a:rPr lang="en-US" sz="1550" b="1" dirty="0">
                <a:solidFill>
                  <a:srgbClr val="3A2C1A"/>
                </a:solidFill>
                <a:latin typeface="Helvetica Neue" pitchFamily="34" charset="0"/>
                <a:ea typeface="Helvetica Neue" pitchFamily="34" charset="-122"/>
                <a:cs typeface="Helvetica Neue" pitchFamily="34" charset="-120"/>
              </a:rPr>
              <a:t>3 · one query runs on one core</a:t>
            </a:r>
            <a:endParaRPr lang="en-US" sz="1550" dirty="0"/>
          </a:p>
        </p:txBody>
      </p:sp>
      <p:sp>
        <p:nvSpPr>
          <p:cNvPr id="19" name="Text 16"/>
          <p:cNvSpPr/>
          <p:nvPr/>
        </p:nvSpPr>
        <p:spPr>
          <a:xfrm>
            <a:off x="868680" y="4114800"/>
            <a:ext cx="10424160" cy="365760"/>
          </a:xfrm>
          <a:prstGeom prst="rect">
            <a:avLst/>
          </a:prstGeom>
          <a:noFill/>
          <a:ln/>
        </p:spPr>
        <p:txBody>
          <a:bodyPr wrap="square" lIns="0" tIns="0" rIns="0" bIns="0" rtlCol="0" anchor="t">
            <a:normAutofit/>
          </a:bodyPr>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no setting changes this — fix the query's shape or warm the data, not the CPU count  (→ Part III)</a:t>
            </a:r>
            <a:endParaRPr lang="en-US" sz="1250" dirty="0"/>
          </a:p>
        </p:txBody>
      </p:sp>
      <p:sp>
        <p:nvSpPr>
          <p:cNvPr id="20" name="Shape 17"/>
          <p:cNvSpPr/>
          <p:nvPr/>
        </p:nvSpPr>
        <p:spPr>
          <a:xfrm>
            <a:off x="548640" y="4892040"/>
            <a:ext cx="11064240" cy="566928"/>
          </a:xfrm>
          <a:prstGeom prst="roundRect">
            <a:avLst>
              <a:gd name="adj" fmla="val 12903"/>
            </a:avLst>
          </a:prstGeom>
          <a:solidFill>
            <a:srgbClr val="E6DFCE"/>
          </a:solidFill>
          <a:ln/>
        </p:spPr>
      </p:sp>
      <p:sp>
        <p:nvSpPr>
          <p:cNvPr id="21" name="Text 18"/>
          <p:cNvSpPr/>
          <p:nvPr/>
        </p:nvSpPr>
        <p:spPr>
          <a:xfrm>
            <a:off x="749808" y="5038344"/>
            <a:ext cx="10661904" cy="274320"/>
          </a:xfrm>
          <a:prstGeom prst="rect">
            <a:avLst/>
          </a:prstGeom>
          <a:noFill/>
          <a:ln/>
        </p:spPr>
        <p:txBody>
          <a:bodyPr wrap="square" lIns="0" tIns="0" rIns="0" bIns="0" rtlCol="0" anchor="t">
            <a:normAutofit/>
          </a:bodyPr>
          <a:lstStyle/>
          <a:p>
            <a:pPr indent="0" marL="0">
              <a:buNone/>
            </a:pPr>
            <a:r>
              <a:rPr lang="en-US" sz="1250" dirty="0">
                <a:solidFill>
                  <a:srgbClr val="3A2C1A"/>
                </a:solidFill>
                <a:latin typeface="Courier New" pitchFamily="34" charset="0"/>
                <a:ea typeface="Courier New" pitchFamily="34" charset="-122"/>
                <a:cs typeface="Courier New" pitchFamily="34" charset="-120"/>
              </a:rPr>
              <a:t>@(d/sync conn t)    ;; a db guaranteed to include the write at t</a:t>
            </a:r>
            <a:endParaRPr lang="en-US" sz="1250" dirty="0"/>
          </a:p>
        </p:txBody>
      </p:sp>
      <p:sp>
        <p:nvSpPr>
          <p:cNvPr id="22" name="Shape 19"/>
          <p:cNvSpPr/>
          <p:nvPr/>
        </p:nvSpPr>
        <p:spPr>
          <a:xfrm>
            <a:off x="548640" y="5669280"/>
            <a:ext cx="54864" cy="457200"/>
          </a:xfrm>
          <a:prstGeom prst="rect">
            <a:avLst/>
          </a:prstGeom>
          <a:solidFill>
            <a:srgbClr val="A8864A"/>
          </a:solidFill>
          <a:ln/>
        </p:spPr>
      </p:sp>
      <p:sp>
        <p:nvSpPr>
          <p:cNvPr id="23" name="Text 20"/>
          <p:cNvSpPr/>
          <p:nvPr/>
        </p:nvSpPr>
        <p:spPr>
          <a:xfrm>
            <a:off x="777240" y="566928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Cold, stale, single-threaded — the three ways a correct read still surprises you.</a:t>
            </a:r>
            <a:endParaRPr lang="en-US" sz="1450" dirty="0"/>
          </a:p>
        </p:txBody>
      </p:sp>
      <p:sp>
        <p:nvSpPr>
          <p:cNvPr id="24" name="Shape 21"/>
          <p:cNvSpPr/>
          <p:nvPr/>
        </p:nvSpPr>
        <p:spPr>
          <a:xfrm>
            <a:off x="548640" y="6419088"/>
            <a:ext cx="54864" cy="292608"/>
          </a:xfrm>
          <a:prstGeom prst="rect">
            <a:avLst/>
          </a:prstGeom>
          <a:solidFill>
            <a:srgbClr val="A8864A"/>
          </a:solidFill>
          <a:ln/>
        </p:spPr>
      </p:sp>
      <p:sp>
        <p:nvSpPr>
          <p:cNvPr id="25" name="Text 22"/>
          <p:cNvSpPr/>
          <p:nvPr/>
        </p:nvSpPr>
        <p:spPr>
          <a:xfrm>
            <a:off x="713232" y="6382512"/>
            <a:ext cx="658368" cy="365760"/>
          </a:xfrm>
          <a:prstGeom prst="rect">
            <a:avLst/>
          </a:prstGeom>
          <a:noFill/>
          <a:ln/>
        </p:spPr>
        <p:txBody>
          <a:bodyPr wrap="square" lIns="0" tIns="0" rIns="0" bIns="0" rtlCol="0" anchor="ctr"/>
          <a:lstStyle/>
          <a:p>
            <a:pPr indent="0" marL="0">
              <a:buNone/>
            </a:pPr>
            <a:r>
              <a:rPr lang="en-US" sz="900" b="1" spc="100" kern="0" dirty="0">
                <a:solidFill>
                  <a:srgbClr val="A8864A"/>
                </a:solidFill>
                <a:latin typeface="Helvetica Neue" pitchFamily="34" charset="0"/>
                <a:ea typeface="Helvetica Neue" pitchFamily="34" charset="-122"/>
                <a:cs typeface="Helvetica Neue" pitchFamily="34" charset="-120"/>
              </a:rPr>
              <a:t>CASES</a:t>
            </a:r>
            <a:endParaRPr lang="en-US" sz="900" dirty="0"/>
          </a:p>
        </p:txBody>
      </p:sp>
      <p:sp>
        <p:nvSpPr>
          <p:cNvPr id="26" name="Text 23"/>
          <p:cNvSpPr/>
          <p:nvPr/>
        </p:nvSpPr>
        <p:spPr>
          <a:xfrm>
            <a:off x="1463040" y="6382512"/>
            <a:ext cx="9509760" cy="365760"/>
          </a:xfrm>
          <a:prstGeom prst="rect">
            <a:avLst/>
          </a:prstGeom>
          <a:noFill/>
          <a:ln/>
        </p:spPr>
        <p:txBody>
          <a:bodyPr wrap="square" lIns="0" tIns="0" rIns="0" bIns="0" rtlCol="0" anchor="ctr"/>
          <a:lstStyle/>
          <a:p>
            <a:pPr indent="0" marL="0">
              <a:buNone/>
            </a:pPr>
            <a:r>
              <a:rPr lang="en-US" sz="1100" dirty="0">
                <a:solidFill>
                  <a:srgbClr val="6B5A44"/>
                </a:solidFill>
                <a:latin typeface="Helvetica Neue" pitchFamily="34" charset="0"/>
                <a:ea typeface="Helvetica Neue" pitchFamily="34" charset="-122"/>
                <a:cs typeface="Helvetica Neue" pitchFamily="34" charset="-120"/>
              </a:rPr>
              <a:t>Save on one pod, refresh lands on another: pass the t   ·   Post-deploy slowness is catch 1 at fleet scale — Part IV</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C2416"/>
          </a:solidFill>
          <a:ln/>
        </p:spPr>
      </p:sp>
      <p:sp>
        <p:nvSpPr>
          <p:cNvPr id="3" name="Shape 1"/>
          <p:cNvSpPr/>
          <p:nvPr/>
        </p:nvSpPr>
        <p:spPr>
          <a:xfrm>
            <a:off x="0" y="2011680"/>
            <a:ext cx="228600" cy="2011680"/>
          </a:xfrm>
          <a:prstGeom prst="rect">
            <a:avLst/>
          </a:prstGeom>
          <a:solidFill>
            <a:srgbClr val="A8864A"/>
          </a:solidFill>
          <a:ln/>
        </p:spPr>
      </p:sp>
      <p:sp>
        <p:nvSpPr>
          <p:cNvPr id="4" name="Text 2"/>
          <p:cNvSpPr/>
          <p:nvPr/>
        </p:nvSpPr>
        <p:spPr>
          <a:xfrm>
            <a:off x="822960" y="2103120"/>
            <a:ext cx="10515600" cy="365760"/>
          </a:xfrm>
          <a:prstGeom prst="rect">
            <a:avLst/>
          </a:prstGeom>
          <a:noFill/>
          <a:ln/>
        </p:spPr>
        <p:txBody>
          <a:bodyPr wrap="square" lIns="0" tIns="0" rIns="0" bIns="0" rtlCol="0" anchor="t"/>
          <a:lstStyle/>
          <a:p>
            <a:pPr indent="0" marL="0">
              <a:buNone/>
            </a:pPr>
            <a:r>
              <a:rPr lang="en-US" sz="1500" spc="300" kern="0" dirty="0">
                <a:solidFill>
                  <a:srgbClr val="C6A46A"/>
                </a:solidFill>
                <a:latin typeface="Helvetica Neue" pitchFamily="34" charset="0"/>
                <a:ea typeface="Helvetica Neue" pitchFamily="34" charset="-122"/>
                <a:cs typeface="Helvetica Neue" pitchFamily="34" charset="-120"/>
              </a:rPr>
              <a:t>PART II</a:t>
            </a:r>
            <a:endParaRPr lang="en-US" sz="1500" dirty="0"/>
          </a:p>
        </p:txBody>
      </p:sp>
      <p:sp>
        <p:nvSpPr>
          <p:cNvPr id="5" name="Text 3"/>
          <p:cNvSpPr/>
          <p:nvPr/>
        </p:nvSpPr>
        <p:spPr>
          <a:xfrm>
            <a:off x="822960" y="2606040"/>
            <a:ext cx="10515600" cy="822960"/>
          </a:xfrm>
          <a:prstGeom prst="rect">
            <a:avLst/>
          </a:prstGeom>
          <a:noFill/>
          <a:ln/>
        </p:spPr>
        <p:txBody>
          <a:bodyPr wrap="square" lIns="0" tIns="0" rIns="0" bIns="0" rtlCol="0" anchor="t"/>
          <a:lstStyle/>
          <a:p>
            <a:pPr indent="0" marL="0">
              <a:buNone/>
            </a:pPr>
            <a:r>
              <a:rPr lang="en-US" sz="3400" dirty="0">
                <a:solidFill>
                  <a:srgbClr val="FCFAF4"/>
                </a:solidFill>
                <a:latin typeface="Georgia" pitchFamily="34" charset="0"/>
                <a:ea typeface="Georgia" pitchFamily="34" charset="-122"/>
                <a:cs typeface="Georgia" pitchFamily="34" charset="-120"/>
              </a:rPr>
              <a:t>Writes</a:t>
            </a:r>
            <a:endParaRPr lang="en-US" sz="3400" dirty="0"/>
          </a:p>
        </p:txBody>
      </p:sp>
      <p:sp>
        <p:nvSpPr>
          <p:cNvPr id="6" name="Text 4"/>
          <p:cNvSpPr/>
          <p:nvPr/>
        </p:nvSpPr>
        <p:spPr>
          <a:xfrm>
            <a:off x="822960" y="3520440"/>
            <a:ext cx="10515600" cy="731520"/>
          </a:xfrm>
          <a:prstGeom prst="rect">
            <a:avLst/>
          </a:prstGeom>
          <a:noFill/>
          <a:ln/>
        </p:spPr>
        <p:txBody>
          <a:bodyPr wrap="square" lIns="0" tIns="0" rIns="0" bIns="0" rtlCol="0" anchor="t"/>
          <a:lstStyle/>
          <a:p>
            <a:pPr indent="0" marL="0">
              <a:buNone/>
            </a:pPr>
            <a:r>
              <a:rPr lang="en-US" sz="1600" dirty="0">
                <a:solidFill>
                  <a:srgbClr val="C9BDA4"/>
                </a:solidFill>
                <a:latin typeface="Helvetica Neue" pitchFamily="34" charset="0"/>
                <a:ea typeface="Helvetica Neue" pitchFamily="34" charset="-122"/>
                <a:cs typeface="Helvetica Neue" pitchFamily="34" charset="-120"/>
              </a:rPr>
              <a:t>Everything goes through one door</a:t>
            </a:r>
            <a:endParaRPr lang="en-US" sz="1600" dirty="0"/>
          </a:p>
        </p:txBody>
      </p:sp>
      <p:sp>
        <p:nvSpPr>
          <p:cNvPr id="7" name="Text 5"/>
          <p:cNvSpPr/>
          <p:nvPr/>
        </p:nvSpPr>
        <p:spPr>
          <a:xfrm>
            <a:off x="822960" y="4434840"/>
            <a:ext cx="10515600" cy="1828800"/>
          </a:xfrm>
          <a:prstGeom prst="rect">
            <a:avLst/>
          </a:prstGeom>
          <a:noFill/>
          <a:ln/>
        </p:spPr>
        <p:txBody>
          <a:bodyPr wrap="square" lIns="0" tIns="0" rIns="0" bIns="0" rtlCol="0" anchor="t"/>
          <a:lstStyle/>
          <a:p>
            <a:pPr indent="0" marL="0">
              <a:buNone/>
            </a:pPr>
            <a:r>
              <a:rPr lang="en-US" sz="1400" dirty="0">
                <a:solidFill>
                  <a:srgbClr val="C9BDA4"/>
                </a:solidFill>
                <a:latin typeface="Helvetica Neue" pitchFamily="34" charset="0"/>
                <a:ea typeface="Helvetica Neue" pitchFamily="34" charset="-122"/>
                <a:cs typeface="Helvetica Neue" pitchFamily="34" charset="-120"/>
              </a:rPr>
              <a:t>Every write in the system goes through one process, in order. That single door is what gives Datomic transactions with no locks and no conflicts to resolve — and it means write capacity is fixed. The skill is using the one door well, and knowing the two ways it can make you wait.</a:t>
            </a:r>
            <a:endParaRPr lang="en-US" sz="1400" dirty="0"/>
          </a:p>
        </p:txBody>
      </p:sp>
      <p:sp>
        <p:nvSpPr>
          <p:cNvPr id="8" name="Text 6"/>
          <p:cNvSpPr/>
          <p:nvPr/>
        </p:nvSpPr>
        <p:spPr>
          <a:xfrm>
            <a:off x="11155680" y="6400800"/>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II · WRITES</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11</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How a write works</a:t>
            </a:r>
            <a:endParaRPr lang="en-US" sz="2500" dirty="0"/>
          </a:p>
        </p:txBody>
      </p:sp>
      <p:sp>
        <p:nvSpPr>
          <p:cNvPr id="8" name="Shape 5"/>
          <p:cNvSpPr/>
          <p:nvPr/>
        </p:nvSpPr>
        <p:spPr>
          <a:xfrm>
            <a:off x="822960" y="1463040"/>
            <a:ext cx="1737360" cy="658368"/>
          </a:xfrm>
          <a:prstGeom prst="roundRect">
            <a:avLst>
              <a:gd name="adj" fmla="val 8333"/>
            </a:avLst>
          </a:prstGeom>
          <a:solidFill>
            <a:srgbClr val="E6DFCE"/>
          </a:solidFill>
          <a:ln w="15875">
            <a:solidFill>
              <a:srgbClr val="C9BDA4"/>
            </a:solidFill>
            <a:prstDash val="solid"/>
          </a:ln>
        </p:spPr>
      </p:sp>
      <p:sp>
        <p:nvSpPr>
          <p:cNvPr id="9" name="Text 6"/>
          <p:cNvSpPr/>
          <p:nvPr/>
        </p:nvSpPr>
        <p:spPr>
          <a:xfrm>
            <a:off x="896112" y="1463040"/>
            <a:ext cx="1591056" cy="658368"/>
          </a:xfrm>
          <a:prstGeom prst="rect">
            <a:avLst/>
          </a:prstGeom>
          <a:noFill/>
          <a:ln/>
        </p:spPr>
        <p:txBody>
          <a:bodyPr wrap="square" lIns="0" tIns="0" rIns="0" bIns="0" rtlCol="0" anchor="ctr">
            <a:normAutofit/>
          </a:bodyPr>
          <a:lstStyle/>
          <a:p>
            <a:pPr algn="ctr" indent="0" marL="0">
              <a:buNone/>
            </a:pPr>
            <a:r>
              <a:rPr lang="en-US" sz="1300" b="1" dirty="0">
                <a:solidFill>
                  <a:srgbClr val="3A2C1A"/>
                </a:solidFill>
                <a:latin typeface="Helvetica Neue" pitchFamily="34" charset="0"/>
                <a:ea typeface="Helvetica Neue" pitchFamily="34" charset="-122"/>
                <a:cs typeface="Helvetica Neue" pitchFamily="34" charset="-120"/>
              </a:rPr>
              <a:t>peer</a:t>
            </a:r>
            <a:endParaRPr lang="en-US" sz="1300" dirty="0"/>
          </a:p>
        </p:txBody>
      </p:sp>
      <p:sp>
        <p:nvSpPr>
          <p:cNvPr id="10" name="Shape 7"/>
          <p:cNvSpPr/>
          <p:nvPr/>
        </p:nvSpPr>
        <p:spPr>
          <a:xfrm>
            <a:off x="2560320" y="1792224"/>
            <a:ext cx="1645920" cy="859536"/>
          </a:xfrm>
          <a:prstGeom prst="line">
            <a:avLst/>
          </a:prstGeom>
          <a:noFill/>
          <a:ln w="19050">
            <a:solidFill>
              <a:srgbClr val="B5822B"/>
            </a:solidFill>
            <a:prstDash val="solid"/>
            <a:headEnd type="none"/>
            <a:tailEnd type="triangle"/>
          </a:ln>
        </p:spPr>
      </p:sp>
      <p:sp>
        <p:nvSpPr>
          <p:cNvPr id="11" name="Shape 8"/>
          <p:cNvSpPr/>
          <p:nvPr/>
        </p:nvSpPr>
        <p:spPr>
          <a:xfrm>
            <a:off x="822960" y="2377440"/>
            <a:ext cx="1737360" cy="658368"/>
          </a:xfrm>
          <a:prstGeom prst="roundRect">
            <a:avLst>
              <a:gd name="adj" fmla="val 8333"/>
            </a:avLst>
          </a:prstGeom>
          <a:solidFill>
            <a:srgbClr val="E6DFCE"/>
          </a:solidFill>
          <a:ln w="15875">
            <a:solidFill>
              <a:srgbClr val="C9BDA4"/>
            </a:solidFill>
            <a:prstDash val="solid"/>
          </a:ln>
        </p:spPr>
      </p:sp>
      <p:sp>
        <p:nvSpPr>
          <p:cNvPr id="12" name="Text 9"/>
          <p:cNvSpPr/>
          <p:nvPr/>
        </p:nvSpPr>
        <p:spPr>
          <a:xfrm>
            <a:off x="896112" y="2377440"/>
            <a:ext cx="1591056" cy="658368"/>
          </a:xfrm>
          <a:prstGeom prst="rect">
            <a:avLst/>
          </a:prstGeom>
          <a:noFill/>
          <a:ln/>
        </p:spPr>
        <p:txBody>
          <a:bodyPr wrap="square" lIns="0" tIns="0" rIns="0" bIns="0" rtlCol="0" anchor="ctr">
            <a:normAutofit/>
          </a:bodyPr>
          <a:lstStyle/>
          <a:p>
            <a:pPr algn="ctr" indent="0" marL="0">
              <a:buNone/>
            </a:pPr>
            <a:r>
              <a:rPr lang="en-US" sz="1300" b="1" dirty="0">
                <a:solidFill>
                  <a:srgbClr val="3A2C1A"/>
                </a:solidFill>
                <a:latin typeface="Helvetica Neue" pitchFamily="34" charset="0"/>
                <a:ea typeface="Helvetica Neue" pitchFamily="34" charset="-122"/>
                <a:cs typeface="Helvetica Neue" pitchFamily="34" charset="-120"/>
              </a:rPr>
              <a:t>peer</a:t>
            </a:r>
            <a:endParaRPr lang="en-US" sz="1300" dirty="0"/>
          </a:p>
        </p:txBody>
      </p:sp>
      <p:sp>
        <p:nvSpPr>
          <p:cNvPr id="13" name="Shape 10"/>
          <p:cNvSpPr/>
          <p:nvPr/>
        </p:nvSpPr>
        <p:spPr>
          <a:xfrm flipV="1">
            <a:off x="2560320" y="2651760"/>
            <a:ext cx="1645920" cy="54864"/>
          </a:xfrm>
          <a:prstGeom prst="line">
            <a:avLst/>
          </a:prstGeom>
          <a:noFill/>
          <a:ln w="19050">
            <a:solidFill>
              <a:srgbClr val="B5822B"/>
            </a:solidFill>
            <a:prstDash val="solid"/>
            <a:headEnd type="none"/>
            <a:tailEnd type="triangle"/>
          </a:ln>
        </p:spPr>
      </p:sp>
      <p:sp>
        <p:nvSpPr>
          <p:cNvPr id="14" name="Shape 11"/>
          <p:cNvSpPr/>
          <p:nvPr/>
        </p:nvSpPr>
        <p:spPr>
          <a:xfrm>
            <a:off x="822960" y="3291840"/>
            <a:ext cx="1737360" cy="658368"/>
          </a:xfrm>
          <a:prstGeom prst="roundRect">
            <a:avLst>
              <a:gd name="adj" fmla="val 8333"/>
            </a:avLst>
          </a:prstGeom>
          <a:solidFill>
            <a:srgbClr val="E6DFCE"/>
          </a:solidFill>
          <a:ln w="15875">
            <a:solidFill>
              <a:srgbClr val="C9BDA4"/>
            </a:solidFill>
            <a:prstDash val="solid"/>
          </a:ln>
        </p:spPr>
      </p:sp>
      <p:sp>
        <p:nvSpPr>
          <p:cNvPr id="15" name="Text 12"/>
          <p:cNvSpPr/>
          <p:nvPr/>
        </p:nvSpPr>
        <p:spPr>
          <a:xfrm>
            <a:off x="896112" y="3291840"/>
            <a:ext cx="1591056" cy="658368"/>
          </a:xfrm>
          <a:prstGeom prst="rect">
            <a:avLst/>
          </a:prstGeom>
          <a:noFill/>
          <a:ln/>
        </p:spPr>
        <p:txBody>
          <a:bodyPr wrap="square" lIns="0" tIns="0" rIns="0" bIns="0" rtlCol="0" anchor="ctr">
            <a:normAutofit/>
          </a:bodyPr>
          <a:lstStyle/>
          <a:p>
            <a:pPr algn="ctr" indent="0" marL="0">
              <a:buNone/>
            </a:pPr>
            <a:r>
              <a:rPr lang="en-US" sz="1300" b="1" dirty="0">
                <a:solidFill>
                  <a:srgbClr val="3A2C1A"/>
                </a:solidFill>
                <a:latin typeface="Helvetica Neue" pitchFamily="34" charset="0"/>
                <a:ea typeface="Helvetica Neue" pitchFamily="34" charset="-122"/>
                <a:cs typeface="Helvetica Neue" pitchFamily="34" charset="-120"/>
              </a:rPr>
              <a:t>peer</a:t>
            </a:r>
            <a:endParaRPr lang="en-US" sz="1300" dirty="0"/>
          </a:p>
        </p:txBody>
      </p:sp>
      <p:sp>
        <p:nvSpPr>
          <p:cNvPr id="16" name="Shape 13"/>
          <p:cNvSpPr/>
          <p:nvPr/>
        </p:nvSpPr>
        <p:spPr>
          <a:xfrm flipV="1">
            <a:off x="2560320" y="2651760"/>
            <a:ext cx="1645920" cy="969264"/>
          </a:xfrm>
          <a:prstGeom prst="line">
            <a:avLst/>
          </a:prstGeom>
          <a:noFill/>
          <a:ln w="19050">
            <a:solidFill>
              <a:srgbClr val="B5822B"/>
            </a:solidFill>
            <a:prstDash val="solid"/>
            <a:headEnd type="none"/>
            <a:tailEnd type="triangle"/>
          </a:ln>
        </p:spPr>
      </p:sp>
      <p:sp>
        <p:nvSpPr>
          <p:cNvPr id="17" name="Shape 14"/>
          <p:cNvSpPr/>
          <p:nvPr/>
        </p:nvSpPr>
        <p:spPr>
          <a:xfrm>
            <a:off x="4206240" y="2286000"/>
            <a:ext cx="2926080" cy="822960"/>
          </a:xfrm>
          <a:prstGeom prst="roundRect">
            <a:avLst>
              <a:gd name="adj" fmla="val 6667"/>
            </a:avLst>
          </a:prstGeom>
          <a:solidFill>
            <a:srgbClr val="EDE0C4"/>
          </a:solidFill>
          <a:ln w="15875">
            <a:solidFill>
              <a:srgbClr val="B5822B"/>
            </a:solidFill>
            <a:prstDash val="solid"/>
          </a:ln>
        </p:spPr>
      </p:sp>
      <p:sp>
        <p:nvSpPr>
          <p:cNvPr id="18" name="Text 15"/>
          <p:cNvSpPr/>
          <p:nvPr/>
        </p:nvSpPr>
        <p:spPr>
          <a:xfrm>
            <a:off x="4279392" y="2386584"/>
            <a:ext cx="2779776" cy="310896"/>
          </a:xfrm>
          <a:prstGeom prst="rect">
            <a:avLst/>
          </a:prstGeom>
          <a:noFill/>
          <a:ln/>
        </p:spPr>
        <p:txBody>
          <a:bodyPr wrap="square" lIns="0" tIns="0" rIns="0" bIns="0" rtlCol="0" anchor="b">
            <a:normAutofit/>
          </a:bodyPr>
          <a:lstStyle/>
          <a:p>
            <a:pPr algn="ctr" indent="0" marL="0">
              <a:buNone/>
            </a:pPr>
            <a:r>
              <a:rPr lang="en-US" sz="1400" b="1" dirty="0">
                <a:solidFill>
                  <a:srgbClr val="3A2C1A"/>
                </a:solidFill>
                <a:latin typeface="Helvetica Neue" pitchFamily="34" charset="0"/>
                <a:ea typeface="Helvetica Neue" pitchFamily="34" charset="-122"/>
                <a:cs typeface="Helvetica Neue" pitchFamily="34" charset="-120"/>
              </a:rPr>
              <a:t>ONE transactor</a:t>
            </a:r>
            <a:endParaRPr lang="en-US" sz="1400" dirty="0"/>
          </a:p>
        </p:txBody>
      </p:sp>
      <p:sp>
        <p:nvSpPr>
          <p:cNvPr id="19" name="Text 16"/>
          <p:cNvSpPr/>
          <p:nvPr/>
        </p:nvSpPr>
        <p:spPr>
          <a:xfrm>
            <a:off x="4279392" y="2679192"/>
            <a:ext cx="2779776" cy="384048"/>
          </a:xfrm>
          <a:prstGeom prst="rect">
            <a:avLst/>
          </a:prstGeom>
          <a:noFill/>
          <a:ln/>
        </p:spPr>
        <p:txBody>
          <a:bodyPr wrap="square" lIns="0" tIns="0" rIns="0" bIns="0" rtlCol="0" anchor="t">
            <a:normAutofit/>
          </a:bodyPr>
          <a:lstStyle/>
          <a:p>
            <a:pPr algn="ctr" indent="0" marL="0">
              <a:buNone/>
            </a:pPr>
            <a:r>
              <a:rPr lang="en-US" sz="1050" dirty="0">
                <a:solidFill>
                  <a:srgbClr val="B5822B"/>
                </a:solidFill>
                <a:latin typeface="Helvetica Neue" pitchFamily="34" charset="0"/>
                <a:ea typeface="Helvetica Neue" pitchFamily="34" charset="-122"/>
                <a:cs typeface="Helvetica Neue" pitchFamily="34" charset="-120"/>
              </a:rPr>
              <a:t>in order, one at a time</a:t>
            </a:r>
            <a:endParaRPr lang="en-US" sz="1050" dirty="0"/>
          </a:p>
        </p:txBody>
      </p:sp>
      <p:sp>
        <p:nvSpPr>
          <p:cNvPr id="20" name="Shape 17"/>
          <p:cNvSpPr/>
          <p:nvPr/>
        </p:nvSpPr>
        <p:spPr>
          <a:xfrm>
            <a:off x="7132320" y="2697480"/>
            <a:ext cx="1097280" cy="0"/>
          </a:xfrm>
          <a:prstGeom prst="line">
            <a:avLst/>
          </a:prstGeom>
          <a:noFill/>
          <a:ln w="19050">
            <a:solidFill>
              <a:srgbClr val="B5822B"/>
            </a:solidFill>
            <a:prstDash val="solid"/>
            <a:headEnd type="none"/>
            <a:tailEnd type="triangle"/>
          </a:ln>
        </p:spPr>
      </p:sp>
      <p:sp>
        <p:nvSpPr>
          <p:cNvPr id="21" name="Shape 18"/>
          <p:cNvSpPr/>
          <p:nvPr/>
        </p:nvSpPr>
        <p:spPr>
          <a:xfrm>
            <a:off x="8229600" y="2286000"/>
            <a:ext cx="3108960" cy="822960"/>
          </a:xfrm>
          <a:prstGeom prst="roundRect">
            <a:avLst>
              <a:gd name="adj" fmla="val 6667"/>
            </a:avLst>
          </a:prstGeom>
          <a:solidFill>
            <a:srgbClr val="2C2416"/>
          </a:solidFill>
          <a:ln/>
        </p:spPr>
      </p:sp>
      <p:sp>
        <p:nvSpPr>
          <p:cNvPr id="22" name="Text 19"/>
          <p:cNvSpPr/>
          <p:nvPr/>
        </p:nvSpPr>
        <p:spPr>
          <a:xfrm>
            <a:off x="8302752" y="2386584"/>
            <a:ext cx="2962656" cy="310896"/>
          </a:xfrm>
          <a:prstGeom prst="rect">
            <a:avLst/>
          </a:prstGeom>
          <a:noFill/>
          <a:ln/>
        </p:spPr>
        <p:txBody>
          <a:bodyPr wrap="square" lIns="0" tIns="0" rIns="0" bIns="0" rtlCol="0" anchor="b">
            <a:normAutofit/>
          </a:bodyPr>
          <a:lstStyle/>
          <a:p>
            <a:pPr algn="ctr" indent="0" marL="0">
              <a:buNone/>
            </a:pPr>
            <a:r>
              <a:rPr lang="en-US" sz="1400" b="1" dirty="0">
                <a:solidFill>
                  <a:srgbClr val="FCFAF4"/>
                </a:solidFill>
                <a:latin typeface="Helvetica Neue" pitchFamily="34" charset="0"/>
                <a:ea typeface="Helvetica Neue" pitchFamily="34" charset="-122"/>
                <a:cs typeface="Helvetica Neue" pitchFamily="34" charset="-120"/>
              </a:rPr>
              <a:t>storage</a:t>
            </a:r>
            <a:endParaRPr lang="en-US" sz="1400" dirty="0"/>
          </a:p>
        </p:txBody>
      </p:sp>
      <p:sp>
        <p:nvSpPr>
          <p:cNvPr id="23" name="Text 20"/>
          <p:cNvSpPr/>
          <p:nvPr/>
        </p:nvSpPr>
        <p:spPr>
          <a:xfrm>
            <a:off x="8302752" y="2679192"/>
            <a:ext cx="2962656" cy="384048"/>
          </a:xfrm>
          <a:prstGeom prst="rect">
            <a:avLst/>
          </a:prstGeom>
          <a:noFill/>
          <a:ln/>
        </p:spPr>
        <p:txBody>
          <a:bodyPr wrap="square" lIns="0" tIns="0" rIns="0" bIns="0" rtlCol="0" anchor="t">
            <a:normAutofit/>
          </a:bodyPr>
          <a:lstStyle/>
          <a:p>
            <a:pPr algn="ctr" indent="0" marL="0">
              <a:buNone/>
            </a:pPr>
            <a:r>
              <a:rPr lang="en-US" sz="1050" dirty="0">
                <a:solidFill>
                  <a:srgbClr val="C9BDA4"/>
                </a:solidFill>
                <a:latin typeface="Helvetica Neue" pitchFamily="34" charset="0"/>
                <a:ea typeface="Helvetica Neue" pitchFamily="34" charset="-122"/>
                <a:cs typeface="Helvetica Neue" pitchFamily="34" charset="-120"/>
              </a:rPr>
              <a:t>durable, immediately</a:t>
            </a:r>
            <a:endParaRPr lang="en-US" sz="1050" dirty="0"/>
          </a:p>
        </p:txBody>
      </p:sp>
      <p:sp>
        <p:nvSpPr>
          <p:cNvPr id="24" name="Shape 21"/>
          <p:cNvSpPr/>
          <p:nvPr/>
        </p:nvSpPr>
        <p:spPr>
          <a:xfrm>
            <a:off x="548640" y="3794760"/>
            <a:ext cx="5349240" cy="1371600"/>
          </a:xfrm>
          <a:prstGeom prst="roundRect">
            <a:avLst>
              <a:gd name="adj" fmla="val 4000"/>
            </a:avLst>
          </a:prstGeom>
          <a:solidFill>
            <a:srgbClr val="DDE3CC"/>
          </a:solidFill>
          <a:ln w="15875">
            <a:solidFill>
              <a:srgbClr val="5F7A3A"/>
            </a:solidFill>
            <a:prstDash val="solid"/>
          </a:ln>
        </p:spPr>
      </p:sp>
      <p:sp>
        <p:nvSpPr>
          <p:cNvPr id="25" name="Text 22"/>
          <p:cNvSpPr/>
          <p:nvPr/>
        </p:nvSpPr>
        <p:spPr>
          <a:xfrm>
            <a:off x="621792" y="4169664"/>
            <a:ext cx="5202936" cy="310896"/>
          </a:xfrm>
          <a:prstGeom prst="rect">
            <a:avLst/>
          </a:prstGeom>
          <a:noFill/>
          <a:ln/>
        </p:spPr>
        <p:txBody>
          <a:bodyPr wrap="square" lIns="0" tIns="0" rIns="0" bIns="0" rtlCol="0" anchor="b">
            <a:normAutofit/>
          </a:bodyPr>
          <a:lstStyle/>
          <a:p>
            <a:pPr algn="ctr" indent="0" marL="0">
              <a:buNone/>
            </a:pPr>
            <a:r>
              <a:rPr lang="en-US" sz="1400" b="1" dirty="0">
                <a:solidFill>
                  <a:srgbClr val="3A2C1A"/>
                </a:solidFill>
                <a:latin typeface="Helvetica Neue" pitchFamily="34" charset="0"/>
                <a:ea typeface="Helvetica Neue" pitchFamily="34" charset="-122"/>
                <a:cs typeface="Helvetica Neue" pitchFamily="34" charset="-120"/>
              </a:rPr>
              <a:t>what the one door BUYS</a:t>
            </a:r>
            <a:endParaRPr lang="en-US" sz="1400" dirty="0"/>
          </a:p>
        </p:txBody>
      </p:sp>
      <p:sp>
        <p:nvSpPr>
          <p:cNvPr id="26" name="Text 23"/>
          <p:cNvSpPr/>
          <p:nvPr/>
        </p:nvSpPr>
        <p:spPr>
          <a:xfrm>
            <a:off x="621792" y="4462272"/>
            <a:ext cx="5202936" cy="685800"/>
          </a:xfrm>
          <a:prstGeom prst="rect">
            <a:avLst/>
          </a:prstGeom>
          <a:noFill/>
          <a:ln/>
        </p:spPr>
        <p:txBody>
          <a:bodyPr wrap="square" lIns="0" tIns="0" rIns="0" bIns="0" rtlCol="0" anchor="t">
            <a:normAutofit/>
          </a:bodyPr>
          <a:lstStyle/>
          <a:p>
            <a:pPr algn="ctr" indent="0" marL="0">
              <a:buNone/>
            </a:pPr>
            <a:r>
              <a:rPr lang="en-US" sz="1250" dirty="0">
                <a:solidFill>
                  <a:srgbClr val="6B5A44"/>
                </a:solidFill>
                <a:latin typeface="Helvetica Neue" pitchFamily="34" charset="0"/>
                <a:ea typeface="Helvetica Neue" pitchFamily="34" charset="-122"/>
                <a:cs typeface="Helvetica Neue" pitchFamily="34" charset="-120"/>
              </a:rPr>
              <a:t>ACID transactions with no locks,</a:t>
            </a:r>
            <a:endParaRPr lang="en-US" sz="1250" dirty="0"/>
          </a:p>
          <a:p>
            <a:pPr algn="ctr" indent="0" marL="0">
              <a:buNone/>
            </a:pPr>
            <a:r>
              <a:rPr lang="en-US" sz="1250" dirty="0">
                <a:solidFill>
                  <a:srgbClr val="6B5A44"/>
                </a:solidFill>
                <a:latin typeface="Helvetica Neue" pitchFamily="34" charset="0"/>
                <a:ea typeface="Helvetica Neue" pitchFamily="34" charset="-122"/>
                <a:cs typeface="Helvetica Neue" pitchFamily="34" charset="-120"/>
              </a:rPr>
              <a:t>no deadlocks, no conflicts to resolve</a:t>
            </a:r>
            <a:endParaRPr lang="en-US" sz="1250" dirty="0"/>
          </a:p>
        </p:txBody>
      </p:sp>
      <p:sp>
        <p:nvSpPr>
          <p:cNvPr id="27" name="Shape 24"/>
          <p:cNvSpPr/>
          <p:nvPr/>
        </p:nvSpPr>
        <p:spPr>
          <a:xfrm>
            <a:off x="6263640" y="3794760"/>
            <a:ext cx="5349240" cy="1371600"/>
          </a:xfrm>
          <a:prstGeom prst="roundRect">
            <a:avLst>
              <a:gd name="adj" fmla="val 4000"/>
            </a:avLst>
          </a:prstGeom>
          <a:solidFill>
            <a:srgbClr val="EBD5CB"/>
          </a:solidFill>
          <a:ln w="15875">
            <a:solidFill>
              <a:srgbClr val="9E4227"/>
            </a:solidFill>
            <a:prstDash val="solid"/>
          </a:ln>
        </p:spPr>
      </p:sp>
      <p:sp>
        <p:nvSpPr>
          <p:cNvPr id="28" name="Text 25"/>
          <p:cNvSpPr/>
          <p:nvPr/>
        </p:nvSpPr>
        <p:spPr>
          <a:xfrm>
            <a:off x="6336792" y="4169664"/>
            <a:ext cx="5202936" cy="310896"/>
          </a:xfrm>
          <a:prstGeom prst="rect">
            <a:avLst/>
          </a:prstGeom>
          <a:noFill/>
          <a:ln/>
        </p:spPr>
        <p:txBody>
          <a:bodyPr wrap="square" lIns="0" tIns="0" rIns="0" bIns="0" rtlCol="0" anchor="b">
            <a:normAutofit/>
          </a:bodyPr>
          <a:lstStyle/>
          <a:p>
            <a:pPr algn="ctr" indent="0" marL="0">
              <a:buNone/>
            </a:pPr>
            <a:r>
              <a:rPr lang="en-US" sz="1400" b="1" dirty="0">
                <a:solidFill>
                  <a:srgbClr val="3A2C1A"/>
                </a:solidFill>
                <a:latin typeface="Helvetica Neue" pitchFamily="34" charset="0"/>
                <a:ea typeface="Helvetica Neue" pitchFamily="34" charset="-122"/>
                <a:cs typeface="Helvetica Neue" pitchFamily="34" charset="-120"/>
              </a:rPr>
              <a:t>what the one door COSTS</a:t>
            </a:r>
            <a:endParaRPr lang="en-US" sz="1400" dirty="0"/>
          </a:p>
        </p:txBody>
      </p:sp>
      <p:sp>
        <p:nvSpPr>
          <p:cNvPr id="29" name="Text 26"/>
          <p:cNvSpPr/>
          <p:nvPr/>
        </p:nvSpPr>
        <p:spPr>
          <a:xfrm>
            <a:off x="6336792" y="4462272"/>
            <a:ext cx="5202936" cy="685800"/>
          </a:xfrm>
          <a:prstGeom prst="rect">
            <a:avLst/>
          </a:prstGeom>
          <a:noFill/>
          <a:ln/>
        </p:spPr>
        <p:txBody>
          <a:bodyPr wrap="square" lIns="0" tIns="0" rIns="0" bIns="0" rtlCol="0" anchor="t">
            <a:normAutofit/>
          </a:bodyPr>
          <a:lstStyle/>
          <a:p>
            <a:pPr algn="ctr" indent="0" marL="0">
              <a:buNone/>
            </a:pPr>
            <a:r>
              <a:rPr lang="en-US" sz="1250" dirty="0">
                <a:solidFill>
                  <a:srgbClr val="6B5A44"/>
                </a:solidFill>
                <a:latin typeface="Helvetica Neue" pitchFamily="34" charset="0"/>
                <a:ea typeface="Helvetica Neue" pitchFamily="34" charset="-122"/>
                <a:cs typeface="Helvetica Neue" pitchFamily="34" charset="-120"/>
              </a:rPr>
              <a:t>write capacity is fixed —</a:t>
            </a:r>
            <a:endParaRPr lang="en-US" sz="1250" dirty="0"/>
          </a:p>
          <a:p>
            <a:pPr algn="ctr" indent="0" marL="0">
              <a:buNone/>
            </a:pPr>
            <a:r>
              <a:rPr lang="en-US" sz="1250" dirty="0">
                <a:solidFill>
                  <a:srgbClr val="6B5A44"/>
                </a:solidFill>
                <a:latin typeface="Helvetica Neue" pitchFamily="34" charset="0"/>
                <a:ea typeface="Helvetica Neue" pitchFamily="34" charset="-122"/>
                <a:cs typeface="Helvetica Neue" pitchFamily="34" charset="-120"/>
              </a:rPr>
              <a:t>there is no second machine to add</a:t>
            </a:r>
            <a:endParaRPr lang="en-US" sz="1250" dirty="0"/>
          </a:p>
        </p:txBody>
      </p:sp>
      <p:sp>
        <p:nvSpPr>
          <p:cNvPr id="30" name="Shape 27"/>
          <p:cNvSpPr/>
          <p:nvPr/>
        </p:nvSpPr>
        <p:spPr>
          <a:xfrm>
            <a:off x="548640" y="5486400"/>
            <a:ext cx="54864" cy="457200"/>
          </a:xfrm>
          <a:prstGeom prst="rect">
            <a:avLst/>
          </a:prstGeom>
          <a:solidFill>
            <a:srgbClr val="A8864A"/>
          </a:solidFill>
          <a:ln/>
        </p:spPr>
      </p:sp>
      <p:sp>
        <p:nvSpPr>
          <p:cNvPr id="31" name="Text 28"/>
          <p:cNvSpPr/>
          <p:nvPr/>
        </p:nvSpPr>
        <p:spPr>
          <a:xfrm>
            <a:off x="777240" y="548640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Serialized writes are not a limitation Datomic tolerates — they are what makes transactions simple.</a:t>
            </a:r>
            <a:endParaRPr lang="en-US" sz="1450" dirty="0"/>
          </a:p>
        </p:txBody>
      </p:sp>
      <p:sp>
        <p:nvSpPr>
          <p:cNvPr id="32" name="Shape 29"/>
          <p:cNvSpPr/>
          <p:nvPr/>
        </p:nvSpPr>
        <p:spPr>
          <a:xfrm>
            <a:off x="548640" y="6419088"/>
            <a:ext cx="54864" cy="292608"/>
          </a:xfrm>
          <a:prstGeom prst="rect">
            <a:avLst/>
          </a:prstGeom>
          <a:solidFill>
            <a:srgbClr val="A8864A"/>
          </a:solidFill>
          <a:ln/>
        </p:spPr>
      </p:sp>
      <p:sp>
        <p:nvSpPr>
          <p:cNvPr id="33" name="Text 30"/>
          <p:cNvSpPr/>
          <p:nvPr/>
        </p:nvSpPr>
        <p:spPr>
          <a:xfrm>
            <a:off x="713232" y="6382512"/>
            <a:ext cx="658368" cy="365760"/>
          </a:xfrm>
          <a:prstGeom prst="rect">
            <a:avLst/>
          </a:prstGeom>
          <a:noFill/>
          <a:ln/>
        </p:spPr>
        <p:txBody>
          <a:bodyPr wrap="square" lIns="0" tIns="0" rIns="0" bIns="0" rtlCol="0" anchor="ctr"/>
          <a:lstStyle/>
          <a:p>
            <a:pPr indent="0" marL="0">
              <a:buNone/>
            </a:pPr>
            <a:r>
              <a:rPr lang="en-US" sz="900" b="1" spc="100" kern="0" dirty="0">
                <a:solidFill>
                  <a:srgbClr val="A8864A"/>
                </a:solidFill>
                <a:latin typeface="Helvetica Neue" pitchFamily="34" charset="0"/>
                <a:ea typeface="Helvetica Neue" pitchFamily="34" charset="-122"/>
                <a:cs typeface="Helvetica Neue" pitchFamily="34" charset="-120"/>
              </a:rPr>
              <a:t>CASES</a:t>
            </a:r>
            <a:endParaRPr lang="en-US" sz="900" dirty="0"/>
          </a:p>
        </p:txBody>
      </p:sp>
      <p:sp>
        <p:nvSpPr>
          <p:cNvPr id="34" name="Text 31"/>
          <p:cNvSpPr/>
          <p:nvPr/>
        </p:nvSpPr>
        <p:spPr>
          <a:xfrm>
            <a:off x="1463040" y="6382512"/>
            <a:ext cx="9509760" cy="365760"/>
          </a:xfrm>
          <a:prstGeom prst="rect">
            <a:avLst/>
          </a:prstGeom>
          <a:noFill/>
          <a:ln/>
        </p:spPr>
        <p:txBody>
          <a:bodyPr wrap="square" lIns="0" tIns="0" rIns="0" bIns="0" rtlCol="0" anchor="ctr"/>
          <a:lstStyle/>
          <a:p>
            <a:pPr indent="0" marL="0">
              <a:buNone/>
            </a:pPr>
            <a:r>
              <a:rPr lang="en-US" sz="1100" dirty="0">
                <a:solidFill>
                  <a:srgbClr val="6B5A44"/>
                </a:solidFill>
                <a:latin typeface="Helvetica Neue" pitchFamily="34" charset="0"/>
                <a:ea typeface="Helvetica Neue" pitchFamily="34" charset="-122"/>
                <a:cs typeface="Helvetica Neue" pitchFamily="34" charset="-120"/>
              </a:rPr>
              <a:t>No lock ever taken, no deadlock ever possible   ·   Write capacity: fixed. Use the door well — next slide</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II · WRITES</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12</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Using the one door well: batch</a:t>
            </a:r>
            <a:endParaRPr lang="en-US" sz="2500" dirty="0"/>
          </a:p>
        </p:txBody>
      </p:sp>
      <p:sp>
        <p:nvSpPr>
          <p:cNvPr id="8" name="Text 5"/>
          <p:cNvSpPr/>
          <p:nvPr/>
        </p:nvSpPr>
        <p:spPr>
          <a:xfrm>
            <a:off x="548640" y="1325880"/>
            <a:ext cx="5486400" cy="320040"/>
          </a:xfrm>
          <a:prstGeom prst="rect">
            <a:avLst/>
          </a:prstGeom>
          <a:noFill/>
          <a:ln/>
        </p:spPr>
        <p:txBody>
          <a:bodyPr wrap="square" lIns="0" tIns="0" rIns="0" bIns="0" rtlCol="0" anchor="t"/>
          <a:lstStyle/>
          <a:p>
            <a:pPr indent="0" marL="0">
              <a:buNone/>
            </a:pPr>
            <a:r>
              <a:rPr lang="en-US" sz="1350" b="1" dirty="0">
                <a:solidFill>
                  <a:srgbClr val="9E4227"/>
                </a:solidFill>
                <a:latin typeface="Helvetica Neue" pitchFamily="34" charset="0"/>
                <a:ea typeface="Helvetica Neue" pitchFamily="34" charset="-122"/>
                <a:cs typeface="Helvetica Neue" pitchFamily="34" charset="-120"/>
              </a:rPr>
              <a:t>slow — 1,000 trips through the door</a:t>
            </a:r>
            <a:endParaRPr lang="en-US" sz="1350" dirty="0"/>
          </a:p>
        </p:txBody>
      </p:sp>
      <p:sp>
        <p:nvSpPr>
          <p:cNvPr id="9" name="Shape 6"/>
          <p:cNvSpPr/>
          <p:nvPr/>
        </p:nvSpPr>
        <p:spPr>
          <a:xfrm>
            <a:off x="548640" y="1691640"/>
            <a:ext cx="5349240" cy="960120"/>
          </a:xfrm>
          <a:prstGeom prst="roundRect">
            <a:avLst>
              <a:gd name="adj" fmla="val 7619"/>
            </a:avLst>
          </a:prstGeom>
          <a:solidFill>
            <a:srgbClr val="E6DFCE"/>
          </a:solidFill>
          <a:ln/>
        </p:spPr>
      </p:sp>
      <p:sp>
        <p:nvSpPr>
          <p:cNvPr id="10" name="Text 7"/>
          <p:cNvSpPr/>
          <p:nvPr/>
        </p:nvSpPr>
        <p:spPr>
          <a:xfrm>
            <a:off x="749808" y="1837944"/>
            <a:ext cx="4946904" cy="667512"/>
          </a:xfrm>
          <a:prstGeom prst="rect">
            <a:avLst/>
          </a:prstGeom>
          <a:noFill/>
          <a:ln/>
        </p:spPr>
        <p:txBody>
          <a:bodyPr wrap="square" lIns="0" tIns="0" rIns="0" bIns="0" rtlCol="0" anchor="t">
            <a:normAutofit/>
          </a:bodyPr>
          <a:lstStyle/>
          <a:p>
            <a:pPr indent="0" marL="0">
              <a:buNone/>
            </a:pPr>
            <a:r>
              <a:rPr lang="en-US" sz="1250" dirty="0">
                <a:solidFill>
                  <a:srgbClr val="3A2C1A"/>
                </a:solidFill>
                <a:latin typeface="Courier New" pitchFamily="34" charset="0"/>
                <a:ea typeface="Courier New" pitchFamily="34" charset="-122"/>
                <a:cs typeface="Courier New" pitchFamily="34" charset="-120"/>
              </a:rPr>
              <a:t>(doseq [r rows]</a:t>
            </a:r>
            <a:endParaRPr lang="en-US" sz="1250" dirty="0"/>
          </a:p>
          <a:p>
            <a:pPr indent="0" marL="0">
              <a:buNone/>
            </a:pPr>
            <a:r>
              <a:rPr lang="en-US" sz="1250" dirty="0">
                <a:solidFill>
                  <a:srgbClr val="3A2C1A"/>
                </a:solidFill>
                <a:latin typeface="Courier New" pitchFamily="34" charset="0"/>
                <a:ea typeface="Courier New" pitchFamily="34" charset="-122"/>
                <a:cs typeface="Courier New" pitchFamily="34" charset="-120"/>
              </a:rPr>
              <a:t>  @(d/transact conn [r]))</a:t>
            </a:r>
            <a:endParaRPr lang="en-US" sz="1250" dirty="0"/>
          </a:p>
        </p:txBody>
      </p:sp>
      <p:sp>
        <p:nvSpPr>
          <p:cNvPr id="11" name="Text 8"/>
          <p:cNvSpPr/>
          <p:nvPr/>
        </p:nvSpPr>
        <p:spPr>
          <a:xfrm>
            <a:off x="6263640" y="1325880"/>
            <a:ext cx="5486400" cy="320040"/>
          </a:xfrm>
          <a:prstGeom prst="rect">
            <a:avLst/>
          </a:prstGeom>
          <a:noFill/>
          <a:ln/>
        </p:spPr>
        <p:txBody>
          <a:bodyPr wrap="square" lIns="0" tIns="0" rIns="0" bIns="0" rtlCol="0" anchor="t"/>
          <a:lstStyle/>
          <a:p>
            <a:pPr indent="0" marL="0">
              <a:buNone/>
            </a:pPr>
            <a:r>
              <a:rPr lang="en-US" sz="1350" b="1" dirty="0">
                <a:solidFill>
                  <a:srgbClr val="5F7A3A"/>
                </a:solidFill>
                <a:latin typeface="Helvetica Neue" pitchFamily="34" charset="0"/>
                <a:ea typeface="Helvetica Neue" pitchFamily="34" charset="-122"/>
                <a:cs typeface="Helvetica Neue" pitchFamily="34" charset="-120"/>
              </a:rPr>
              <a:t>fast — 10 trips carrying 100 each</a:t>
            </a:r>
            <a:endParaRPr lang="en-US" sz="1350" dirty="0"/>
          </a:p>
        </p:txBody>
      </p:sp>
      <p:sp>
        <p:nvSpPr>
          <p:cNvPr id="12" name="Shape 9"/>
          <p:cNvSpPr/>
          <p:nvPr/>
        </p:nvSpPr>
        <p:spPr>
          <a:xfrm>
            <a:off x="6263640" y="1691640"/>
            <a:ext cx="5349240" cy="960120"/>
          </a:xfrm>
          <a:prstGeom prst="roundRect">
            <a:avLst>
              <a:gd name="adj" fmla="val 7619"/>
            </a:avLst>
          </a:prstGeom>
          <a:solidFill>
            <a:srgbClr val="E6DFCE"/>
          </a:solidFill>
          <a:ln/>
        </p:spPr>
      </p:sp>
      <p:sp>
        <p:nvSpPr>
          <p:cNvPr id="13" name="Text 10"/>
          <p:cNvSpPr/>
          <p:nvPr/>
        </p:nvSpPr>
        <p:spPr>
          <a:xfrm>
            <a:off x="6464808" y="1837944"/>
            <a:ext cx="4946904" cy="667512"/>
          </a:xfrm>
          <a:prstGeom prst="rect">
            <a:avLst/>
          </a:prstGeom>
          <a:noFill/>
          <a:ln/>
        </p:spPr>
        <p:txBody>
          <a:bodyPr wrap="square" lIns="0" tIns="0" rIns="0" bIns="0" rtlCol="0" anchor="t">
            <a:normAutofit/>
          </a:bodyPr>
          <a:lstStyle/>
          <a:p>
            <a:pPr indent="0" marL="0">
              <a:buNone/>
            </a:pPr>
            <a:r>
              <a:rPr lang="en-US" sz="1250" dirty="0">
                <a:solidFill>
                  <a:srgbClr val="3A2C1A"/>
                </a:solidFill>
                <a:latin typeface="Courier New" pitchFamily="34" charset="0"/>
                <a:ea typeface="Courier New" pitchFamily="34" charset="-122"/>
                <a:cs typeface="Courier New" pitchFamily="34" charset="-120"/>
              </a:rPr>
              <a:t>(doseq [batch (partition-all 100 rows)]</a:t>
            </a:r>
            <a:endParaRPr lang="en-US" sz="1250" dirty="0"/>
          </a:p>
          <a:p>
            <a:pPr indent="0" marL="0">
              <a:buNone/>
            </a:pPr>
            <a:r>
              <a:rPr lang="en-US" sz="1250" dirty="0">
                <a:solidFill>
                  <a:srgbClr val="3A2C1A"/>
                </a:solidFill>
                <a:latin typeface="Courier New" pitchFamily="34" charset="0"/>
                <a:ea typeface="Courier New" pitchFamily="34" charset="-122"/>
                <a:cs typeface="Courier New" pitchFamily="34" charset="-120"/>
              </a:rPr>
              <a:t>  @(d/transact conn batch))</a:t>
            </a:r>
            <a:endParaRPr lang="en-US" sz="1250" dirty="0"/>
          </a:p>
        </p:txBody>
      </p:sp>
      <p:sp>
        <p:nvSpPr>
          <p:cNvPr id="14" name="Text 11"/>
          <p:cNvSpPr/>
          <p:nvPr/>
        </p:nvSpPr>
        <p:spPr>
          <a:xfrm>
            <a:off x="822960" y="3108960"/>
            <a:ext cx="1828800" cy="548640"/>
          </a:xfrm>
          <a:prstGeom prst="rect">
            <a:avLst/>
          </a:prstGeom>
          <a:noFill/>
          <a:ln/>
        </p:spPr>
        <p:txBody>
          <a:bodyPr wrap="square" lIns="0" tIns="0" rIns="0" bIns="0" rtlCol="0" anchor="ctr">
            <a:normAutofit/>
          </a:bodyPr>
          <a:lstStyle/>
          <a:p>
            <a:pPr algn="r" indent="0" marL="0">
              <a:buNone/>
            </a:pPr>
            <a:r>
              <a:rPr lang="en-US" sz="1250" dirty="0">
                <a:solidFill>
                  <a:srgbClr val="3A2C1A"/>
                </a:solidFill>
                <a:latin typeface="Helvetica Neue" pitchFamily="34" charset="0"/>
                <a:ea typeface="Helvetica Neue" pitchFamily="34" charset="-122"/>
                <a:cs typeface="Helvetica Neue" pitchFamily="34" charset="-120"/>
              </a:rPr>
              <a:t>1 per tx</a:t>
            </a:r>
            <a:endParaRPr lang="en-US" sz="1250" dirty="0"/>
          </a:p>
        </p:txBody>
      </p:sp>
      <p:sp>
        <p:nvSpPr>
          <p:cNvPr id="15" name="Shape 12"/>
          <p:cNvSpPr/>
          <p:nvPr/>
        </p:nvSpPr>
        <p:spPr>
          <a:xfrm>
            <a:off x="2834640" y="3163824"/>
            <a:ext cx="6949440" cy="438912"/>
          </a:xfrm>
          <a:prstGeom prst="rect">
            <a:avLst/>
          </a:prstGeom>
          <a:solidFill>
            <a:srgbClr val="E6DFCE"/>
          </a:solidFill>
          <a:ln/>
        </p:spPr>
      </p:sp>
      <p:sp>
        <p:nvSpPr>
          <p:cNvPr id="16" name="Shape 13"/>
          <p:cNvSpPr/>
          <p:nvPr/>
        </p:nvSpPr>
        <p:spPr>
          <a:xfrm>
            <a:off x="2834640" y="3163824"/>
            <a:ext cx="6949440" cy="438912"/>
          </a:xfrm>
          <a:prstGeom prst="rect">
            <a:avLst/>
          </a:prstGeom>
          <a:solidFill>
            <a:srgbClr val="9E4227"/>
          </a:solidFill>
          <a:ln/>
        </p:spPr>
      </p:sp>
      <p:sp>
        <p:nvSpPr>
          <p:cNvPr id="17" name="Text 14"/>
          <p:cNvSpPr/>
          <p:nvPr/>
        </p:nvSpPr>
        <p:spPr>
          <a:xfrm>
            <a:off x="9875520" y="3108960"/>
            <a:ext cx="1371600" cy="548640"/>
          </a:xfrm>
          <a:prstGeom prst="rect">
            <a:avLst/>
          </a:prstGeom>
          <a:noFill/>
          <a:ln/>
        </p:spPr>
        <p:txBody>
          <a:bodyPr wrap="square" lIns="0" tIns="0" rIns="0" bIns="0" rtlCol="0" anchor="ctr">
            <a:normAutofit/>
          </a:bodyPr>
          <a:lstStyle/>
          <a:p>
            <a:pPr indent="0" marL="0">
              <a:buNone/>
            </a:pPr>
            <a:r>
              <a:rPr lang="en-US" sz="1250" dirty="0">
                <a:solidFill>
                  <a:srgbClr val="6B5A44"/>
                </a:solidFill>
                <a:latin typeface="Courier New" pitchFamily="34" charset="0"/>
                <a:ea typeface="Courier New" pitchFamily="34" charset="-122"/>
                <a:cs typeface="Courier New" pitchFamily="34" charset="-120"/>
              </a:rPr>
              <a:t>1,000 trips</a:t>
            </a:r>
            <a:endParaRPr lang="en-US" sz="1250" dirty="0"/>
          </a:p>
        </p:txBody>
      </p:sp>
      <p:sp>
        <p:nvSpPr>
          <p:cNvPr id="18" name="Text 15"/>
          <p:cNvSpPr/>
          <p:nvPr/>
        </p:nvSpPr>
        <p:spPr>
          <a:xfrm>
            <a:off x="822960" y="3886200"/>
            <a:ext cx="1828800" cy="548640"/>
          </a:xfrm>
          <a:prstGeom prst="rect">
            <a:avLst/>
          </a:prstGeom>
          <a:noFill/>
          <a:ln/>
        </p:spPr>
        <p:txBody>
          <a:bodyPr wrap="square" lIns="0" tIns="0" rIns="0" bIns="0" rtlCol="0" anchor="ctr">
            <a:normAutofit/>
          </a:bodyPr>
          <a:lstStyle/>
          <a:p>
            <a:pPr algn="r" indent="0" marL="0">
              <a:buNone/>
            </a:pPr>
            <a:r>
              <a:rPr lang="en-US" sz="1250" dirty="0">
                <a:solidFill>
                  <a:srgbClr val="3A2C1A"/>
                </a:solidFill>
                <a:latin typeface="Helvetica Neue" pitchFamily="34" charset="0"/>
                <a:ea typeface="Helvetica Neue" pitchFamily="34" charset="-122"/>
                <a:cs typeface="Helvetica Neue" pitchFamily="34" charset="-120"/>
              </a:rPr>
              <a:t>100 per tx</a:t>
            </a:r>
            <a:endParaRPr lang="en-US" sz="1250" dirty="0"/>
          </a:p>
        </p:txBody>
      </p:sp>
      <p:sp>
        <p:nvSpPr>
          <p:cNvPr id="19" name="Shape 16"/>
          <p:cNvSpPr/>
          <p:nvPr/>
        </p:nvSpPr>
        <p:spPr>
          <a:xfrm>
            <a:off x="2834640" y="3941064"/>
            <a:ext cx="6949440" cy="438912"/>
          </a:xfrm>
          <a:prstGeom prst="rect">
            <a:avLst/>
          </a:prstGeom>
          <a:solidFill>
            <a:srgbClr val="E6DFCE"/>
          </a:solidFill>
          <a:ln/>
        </p:spPr>
      </p:sp>
      <p:sp>
        <p:nvSpPr>
          <p:cNvPr id="20" name="Shape 17"/>
          <p:cNvSpPr/>
          <p:nvPr/>
        </p:nvSpPr>
        <p:spPr>
          <a:xfrm>
            <a:off x="2834640" y="3941064"/>
            <a:ext cx="694944" cy="438912"/>
          </a:xfrm>
          <a:prstGeom prst="rect">
            <a:avLst/>
          </a:prstGeom>
          <a:solidFill>
            <a:srgbClr val="5F7A3A"/>
          </a:solidFill>
          <a:ln/>
        </p:spPr>
      </p:sp>
      <p:sp>
        <p:nvSpPr>
          <p:cNvPr id="21" name="Text 18"/>
          <p:cNvSpPr/>
          <p:nvPr/>
        </p:nvSpPr>
        <p:spPr>
          <a:xfrm>
            <a:off x="9875520" y="3886200"/>
            <a:ext cx="1371600" cy="548640"/>
          </a:xfrm>
          <a:prstGeom prst="rect">
            <a:avLst/>
          </a:prstGeom>
          <a:noFill/>
          <a:ln/>
        </p:spPr>
        <p:txBody>
          <a:bodyPr wrap="square" lIns="0" tIns="0" rIns="0" bIns="0" rtlCol="0" anchor="ctr">
            <a:normAutofit/>
          </a:bodyPr>
          <a:lstStyle/>
          <a:p>
            <a:pPr indent="0" marL="0">
              <a:buNone/>
            </a:pPr>
            <a:r>
              <a:rPr lang="en-US" sz="1250" dirty="0">
                <a:solidFill>
                  <a:srgbClr val="6B5A44"/>
                </a:solidFill>
                <a:latin typeface="Courier New" pitchFamily="34" charset="0"/>
                <a:ea typeface="Courier New" pitchFamily="34" charset="-122"/>
                <a:cs typeface="Courier New" pitchFamily="34" charset="-120"/>
              </a:rPr>
              <a:t>10 trips</a:t>
            </a:r>
            <a:endParaRPr lang="en-US" sz="1250" dirty="0"/>
          </a:p>
        </p:txBody>
      </p:sp>
      <p:sp>
        <p:nvSpPr>
          <p:cNvPr id="22" name="Shape 19"/>
          <p:cNvSpPr/>
          <p:nvPr/>
        </p:nvSpPr>
        <p:spPr>
          <a:xfrm>
            <a:off x="548640" y="4572000"/>
            <a:ext cx="11064240" cy="914400"/>
          </a:xfrm>
          <a:prstGeom prst="roundRect">
            <a:avLst>
              <a:gd name="adj" fmla="val 8000"/>
            </a:avLst>
          </a:prstGeom>
          <a:solidFill>
            <a:srgbClr val="E6DFCE"/>
          </a:solidFill>
          <a:ln/>
        </p:spPr>
      </p:sp>
      <p:sp>
        <p:nvSpPr>
          <p:cNvPr id="23" name="Text 20"/>
          <p:cNvSpPr/>
          <p:nvPr/>
        </p:nvSpPr>
        <p:spPr>
          <a:xfrm>
            <a:off x="822960" y="4709160"/>
            <a:ext cx="10515600" cy="365760"/>
          </a:xfrm>
          <a:prstGeom prst="rect">
            <a:avLst/>
          </a:prstGeom>
          <a:noFill/>
          <a:ln/>
        </p:spPr>
        <p:txBody>
          <a:bodyPr wrap="square" lIns="0" tIns="0" rIns="0" bIns="0" rtlCol="0" anchor="t"/>
          <a:lstStyle/>
          <a:p>
            <a:pPr indent="0" marL="0">
              <a:buNone/>
            </a:pPr>
            <a:r>
              <a:rPr lang="en-US" sz="1400" dirty="0">
                <a:solidFill>
                  <a:srgbClr val="3A2C1A"/>
                </a:solidFill>
                <a:latin typeface="Helvetica Neue" pitchFamily="34" charset="0"/>
                <a:ea typeface="Helvetica Neue" pitchFamily="34" charset="-122"/>
                <a:cs typeface="Helvetica Neue" pitchFamily="34" charset="-120"/>
              </a:rPr>
              <a:t>Second lever: don't wait for each acknowledgement — keep a few batches in flight ("pipelining").</a:t>
            </a:r>
            <a:endParaRPr lang="en-US" sz="1400" dirty="0"/>
          </a:p>
        </p:txBody>
      </p:sp>
      <p:sp>
        <p:nvSpPr>
          <p:cNvPr id="24" name="Text 21"/>
          <p:cNvSpPr/>
          <p:nvPr/>
        </p:nvSpPr>
        <p:spPr>
          <a:xfrm>
            <a:off x="822960" y="5074920"/>
            <a:ext cx="10515600" cy="320040"/>
          </a:xfrm>
          <a:prstGeom prst="rect">
            <a:avLst/>
          </a:prstGeom>
          <a:noFill/>
          <a:ln/>
        </p:spPr>
        <p:txBody>
          <a:bodyPr wrap="square" lIns="0" tIns="0" rIns="0" bIns="0" rtlCol="0" anchor="t"/>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It hides network round trips, so it matters over real networks and does nothing on a laptop.</a:t>
            </a:r>
            <a:endParaRPr lang="en-US" sz="1250" dirty="0"/>
          </a:p>
        </p:txBody>
      </p:sp>
      <p:sp>
        <p:nvSpPr>
          <p:cNvPr id="25" name="Shape 22"/>
          <p:cNvSpPr/>
          <p:nvPr/>
        </p:nvSpPr>
        <p:spPr>
          <a:xfrm>
            <a:off x="548640" y="5715000"/>
            <a:ext cx="54864" cy="457200"/>
          </a:xfrm>
          <a:prstGeom prst="rect">
            <a:avLst/>
          </a:prstGeom>
          <a:solidFill>
            <a:srgbClr val="A8864A"/>
          </a:solidFill>
          <a:ln/>
        </p:spPr>
      </p:sp>
      <p:sp>
        <p:nvSpPr>
          <p:cNvPr id="26" name="Text 23"/>
          <p:cNvSpPr/>
          <p:nvPr/>
        </p:nvSpPr>
        <p:spPr>
          <a:xfrm>
            <a:off x="777240" y="571500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Batching is 90% of write throughput, and it needs nothing but partition-all.</a:t>
            </a:r>
            <a:endParaRPr lang="en-US" sz="1450" dirty="0"/>
          </a:p>
        </p:txBody>
      </p:sp>
      <p:sp>
        <p:nvSpPr>
          <p:cNvPr id="27" name="Shape 24"/>
          <p:cNvSpPr/>
          <p:nvPr/>
        </p:nvSpPr>
        <p:spPr>
          <a:xfrm>
            <a:off x="548640" y="6419088"/>
            <a:ext cx="54864" cy="292608"/>
          </a:xfrm>
          <a:prstGeom prst="rect">
            <a:avLst/>
          </a:prstGeom>
          <a:solidFill>
            <a:srgbClr val="A8864A"/>
          </a:solidFill>
          <a:ln/>
        </p:spPr>
      </p:sp>
      <p:sp>
        <p:nvSpPr>
          <p:cNvPr id="28" name="Text 25"/>
          <p:cNvSpPr/>
          <p:nvPr/>
        </p:nvSpPr>
        <p:spPr>
          <a:xfrm>
            <a:off x="713232" y="6382512"/>
            <a:ext cx="658368" cy="365760"/>
          </a:xfrm>
          <a:prstGeom prst="rect">
            <a:avLst/>
          </a:prstGeom>
          <a:noFill/>
          <a:ln/>
        </p:spPr>
        <p:txBody>
          <a:bodyPr wrap="square" lIns="0" tIns="0" rIns="0" bIns="0" rtlCol="0" anchor="ctr"/>
          <a:lstStyle/>
          <a:p>
            <a:pPr indent="0" marL="0">
              <a:buNone/>
            </a:pPr>
            <a:r>
              <a:rPr lang="en-US" sz="900" b="1" spc="100" kern="0" dirty="0">
                <a:solidFill>
                  <a:srgbClr val="A8864A"/>
                </a:solidFill>
                <a:latin typeface="Helvetica Neue" pitchFamily="34" charset="0"/>
                <a:ea typeface="Helvetica Neue" pitchFamily="34" charset="-122"/>
                <a:cs typeface="Helvetica Neue" pitchFamily="34" charset="-120"/>
              </a:rPr>
              <a:t>CASES</a:t>
            </a:r>
            <a:endParaRPr lang="en-US" sz="900" dirty="0"/>
          </a:p>
        </p:txBody>
      </p:sp>
      <p:sp>
        <p:nvSpPr>
          <p:cNvPr id="29" name="Text 26"/>
          <p:cNvSpPr/>
          <p:nvPr/>
        </p:nvSpPr>
        <p:spPr>
          <a:xfrm>
            <a:off x="1463040" y="6382512"/>
            <a:ext cx="9509760" cy="365760"/>
          </a:xfrm>
          <a:prstGeom prst="rect">
            <a:avLst/>
          </a:prstGeom>
          <a:noFill/>
          <a:ln/>
        </p:spPr>
        <p:txBody>
          <a:bodyPr wrap="square" lIns="0" tIns="0" rIns="0" bIns="0" rtlCol="0" anchor="ctr"/>
          <a:lstStyle/>
          <a:p>
            <a:pPr indent="0" marL="0">
              <a:buNone/>
            </a:pPr>
            <a:r>
              <a:rPr lang="en-US" sz="1100" dirty="0">
                <a:solidFill>
                  <a:srgbClr val="6B5A44"/>
                </a:solidFill>
                <a:latin typeface="Helvetica Neue" pitchFamily="34" charset="0"/>
                <a:ea typeface="Helvetica Neue" pitchFamily="34" charset="-122"/>
                <a:cs typeface="Helvetica Neue" pitchFamily="34" charset="-120"/>
              </a:rPr>
              <a:t>Bulk import crawling at 1 row per transaction: batch it   ·   Pipelining helps over a network; invisible on datomic:mem</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II · WRITES</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13</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Catch 1 · the writer can pause</a:t>
            </a:r>
            <a:endParaRPr lang="en-US" sz="2500" dirty="0"/>
          </a:p>
        </p:txBody>
      </p:sp>
      <p:sp>
        <p:nvSpPr>
          <p:cNvPr id="8" name="Text 5"/>
          <p:cNvSpPr/>
          <p:nvPr/>
        </p:nvSpPr>
        <p:spPr>
          <a:xfrm>
            <a:off x="548640" y="1572768"/>
            <a:ext cx="1280160" cy="365760"/>
          </a:xfrm>
          <a:prstGeom prst="rect">
            <a:avLst/>
          </a:prstGeom>
          <a:noFill/>
          <a:ln/>
        </p:spPr>
        <p:txBody>
          <a:bodyPr wrap="square" lIns="0" tIns="0" rIns="0" bIns="0" rtlCol="0" anchor="t"/>
          <a:lstStyle/>
          <a:p>
            <a:pPr indent="0" marL="0">
              <a:buNone/>
            </a:pPr>
            <a:r>
              <a:rPr lang="en-US" sz="1300" b="1" spc="100" kern="0" dirty="0">
                <a:solidFill>
                  <a:srgbClr val="3A2C1A"/>
                </a:solidFill>
                <a:latin typeface="Helvetica Neue" pitchFamily="34" charset="0"/>
                <a:ea typeface="Helvetica Neue" pitchFamily="34" charset="-122"/>
                <a:cs typeface="Helvetica Neue" pitchFamily="34" charset="-120"/>
              </a:rPr>
              <a:t>WRITES</a:t>
            </a:r>
            <a:endParaRPr lang="en-US" sz="1300" dirty="0"/>
          </a:p>
        </p:txBody>
      </p:sp>
      <p:sp>
        <p:nvSpPr>
          <p:cNvPr id="9" name="Shape 6"/>
          <p:cNvSpPr/>
          <p:nvPr/>
        </p:nvSpPr>
        <p:spPr>
          <a:xfrm>
            <a:off x="2011680" y="1536192"/>
            <a:ext cx="518922" cy="457200"/>
          </a:xfrm>
          <a:prstGeom prst="roundRect">
            <a:avLst>
              <a:gd name="adj" fmla="val 16000"/>
            </a:avLst>
          </a:prstGeom>
          <a:solidFill>
            <a:srgbClr val="5F7A3A"/>
          </a:solidFill>
          <a:ln/>
        </p:spPr>
      </p:sp>
      <p:sp>
        <p:nvSpPr>
          <p:cNvPr id="10" name="Shape 7"/>
          <p:cNvSpPr/>
          <p:nvPr/>
        </p:nvSpPr>
        <p:spPr>
          <a:xfrm>
            <a:off x="2594610" y="1536192"/>
            <a:ext cx="518922" cy="457200"/>
          </a:xfrm>
          <a:prstGeom prst="roundRect">
            <a:avLst>
              <a:gd name="adj" fmla="val 16000"/>
            </a:avLst>
          </a:prstGeom>
          <a:solidFill>
            <a:srgbClr val="5F7A3A"/>
          </a:solidFill>
          <a:ln/>
        </p:spPr>
      </p:sp>
      <p:sp>
        <p:nvSpPr>
          <p:cNvPr id="11" name="Shape 8"/>
          <p:cNvSpPr/>
          <p:nvPr/>
        </p:nvSpPr>
        <p:spPr>
          <a:xfrm>
            <a:off x="3177540" y="1536192"/>
            <a:ext cx="518922" cy="457200"/>
          </a:xfrm>
          <a:prstGeom prst="roundRect">
            <a:avLst>
              <a:gd name="adj" fmla="val 16000"/>
            </a:avLst>
          </a:prstGeom>
          <a:solidFill>
            <a:srgbClr val="5F7A3A"/>
          </a:solidFill>
          <a:ln/>
        </p:spPr>
      </p:sp>
      <p:sp>
        <p:nvSpPr>
          <p:cNvPr id="12" name="Shape 9"/>
          <p:cNvSpPr/>
          <p:nvPr/>
        </p:nvSpPr>
        <p:spPr>
          <a:xfrm>
            <a:off x="3760470" y="1536192"/>
            <a:ext cx="518922" cy="457200"/>
          </a:xfrm>
          <a:prstGeom prst="roundRect">
            <a:avLst>
              <a:gd name="adj" fmla="val 16000"/>
            </a:avLst>
          </a:prstGeom>
          <a:solidFill>
            <a:srgbClr val="5F7A3A"/>
          </a:solidFill>
          <a:ln/>
        </p:spPr>
      </p:sp>
      <p:sp>
        <p:nvSpPr>
          <p:cNvPr id="13" name="Shape 10"/>
          <p:cNvSpPr/>
          <p:nvPr/>
        </p:nvSpPr>
        <p:spPr>
          <a:xfrm>
            <a:off x="4343400" y="1536192"/>
            <a:ext cx="518922" cy="457200"/>
          </a:xfrm>
          <a:prstGeom prst="roundRect">
            <a:avLst>
              <a:gd name="adj" fmla="val 16000"/>
            </a:avLst>
          </a:prstGeom>
          <a:solidFill>
            <a:srgbClr val="5F7A3A"/>
          </a:solidFill>
          <a:ln/>
        </p:spPr>
      </p:sp>
      <p:sp>
        <p:nvSpPr>
          <p:cNvPr id="14" name="Shape 11"/>
          <p:cNvSpPr/>
          <p:nvPr/>
        </p:nvSpPr>
        <p:spPr>
          <a:xfrm>
            <a:off x="4926330" y="1536192"/>
            <a:ext cx="518922" cy="457200"/>
          </a:xfrm>
          <a:prstGeom prst="roundRect">
            <a:avLst>
              <a:gd name="adj" fmla="val 16000"/>
            </a:avLst>
          </a:prstGeom>
          <a:solidFill>
            <a:srgbClr val="5F7A3A"/>
          </a:solidFill>
          <a:ln/>
        </p:spPr>
      </p:sp>
      <p:sp>
        <p:nvSpPr>
          <p:cNvPr id="15" name="Shape 12"/>
          <p:cNvSpPr/>
          <p:nvPr/>
        </p:nvSpPr>
        <p:spPr>
          <a:xfrm>
            <a:off x="5509260" y="1536192"/>
            <a:ext cx="518922" cy="457200"/>
          </a:xfrm>
          <a:prstGeom prst="roundRect">
            <a:avLst>
              <a:gd name="adj" fmla="val 16000"/>
            </a:avLst>
          </a:prstGeom>
          <a:solidFill>
            <a:srgbClr val="9E4227"/>
          </a:solidFill>
          <a:ln/>
        </p:spPr>
      </p:sp>
      <p:sp>
        <p:nvSpPr>
          <p:cNvPr id="16" name="Shape 13"/>
          <p:cNvSpPr/>
          <p:nvPr/>
        </p:nvSpPr>
        <p:spPr>
          <a:xfrm>
            <a:off x="6092190" y="1536192"/>
            <a:ext cx="518922" cy="457200"/>
          </a:xfrm>
          <a:prstGeom prst="roundRect">
            <a:avLst>
              <a:gd name="adj" fmla="val 16000"/>
            </a:avLst>
          </a:prstGeom>
          <a:solidFill>
            <a:srgbClr val="9E4227"/>
          </a:solidFill>
          <a:ln/>
        </p:spPr>
      </p:sp>
      <p:sp>
        <p:nvSpPr>
          <p:cNvPr id="17" name="Shape 14"/>
          <p:cNvSpPr/>
          <p:nvPr/>
        </p:nvSpPr>
        <p:spPr>
          <a:xfrm>
            <a:off x="6675120" y="1536192"/>
            <a:ext cx="518922" cy="457200"/>
          </a:xfrm>
          <a:prstGeom prst="roundRect">
            <a:avLst>
              <a:gd name="adj" fmla="val 16000"/>
            </a:avLst>
          </a:prstGeom>
          <a:solidFill>
            <a:srgbClr val="9E4227"/>
          </a:solidFill>
          <a:ln/>
        </p:spPr>
      </p:sp>
      <p:sp>
        <p:nvSpPr>
          <p:cNvPr id="18" name="Shape 15"/>
          <p:cNvSpPr/>
          <p:nvPr/>
        </p:nvSpPr>
        <p:spPr>
          <a:xfrm>
            <a:off x="7258050" y="1536192"/>
            <a:ext cx="518922" cy="457200"/>
          </a:xfrm>
          <a:prstGeom prst="roundRect">
            <a:avLst>
              <a:gd name="adj" fmla="val 16000"/>
            </a:avLst>
          </a:prstGeom>
          <a:solidFill>
            <a:srgbClr val="9E4227"/>
          </a:solidFill>
          <a:ln/>
        </p:spPr>
      </p:sp>
      <p:sp>
        <p:nvSpPr>
          <p:cNvPr id="19" name="Shape 16"/>
          <p:cNvSpPr/>
          <p:nvPr/>
        </p:nvSpPr>
        <p:spPr>
          <a:xfrm>
            <a:off x="7840980" y="1536192"/>
            <a:ext cx="518922" cy="457200"/>
          </a:xfrm>
          <a:prstGeom prst="roundRect">
            <a:avLst>
              <a:gd name="adj" fmla="val 16000"/>
            </a:avLst>
          </a:prstGeom>
          <a:solidFill>
            <a:srgbClr val="5F7A3A"/>
          </a:solidFill>
          <a:ln/>
        </p:spPr>
      </p:sp>
      <p:sp>
        <p:nvSpPr>
          <p:cNvPr id="20" name="Shape 17"/>
          <p:cNvSpPr/>
          <p:nvPr/>
        </p:nvSpPr>
        <p:spPr>
          <a:xfrm>
            <a:off x="8423910" y="1536192"/>
            <a:ext cx="518922" cy="457200"/>
          </a:xfrm>
          <a:prstGeom prst="roundRect">
            <a:avLst>
              <a:gd name="adj" fmla="val 16000"/>
            </a:avLst>
          </a:prstGeom>
          <a:solidFill>
            <a:srgbClr val="5F7A3A"/>
          </a:solidFill>
          <a:ln/>
        </p:spPr>
      </p:sp>
      <p:sp>
        <p:nvSpPr>
          <p:cNvPr id="21" name="Shape 18"/>
          <p:cNvSpPr/>
          <p:nvPr/>
        </p:nvSpPr>
        <p:spPr>
          <a:xfrm>
            <a:off x="9006840" y="1536192"/>
            <a:ext cx="518922" cy="457200"/>
          </a:xfrm>
          <a:prstGeom prst="roundRect">
            <a:avLst>
              <a:gd name="adj" fmla="val 16000"/>
            </a:avLst>
          </a:prstGeom>
          <a:solidFill>
            <a:srgbClr val="5F7A3A"/>
          </a:solidFill>
          <a:ln/>
        </p:spPr>
      </p:sp>
      <p:sp>
        <p:nvSpPr>
          <p:cNvPr id="22" name="Shape 19"/>
          <p:cNvSpPr/>
          <p:nvPr/>
        </p:nvSpPr>
        <p:spPr>
          <a:xfrm>
            <a:off x="9589770" y="1536192"/>
            <a:ext cx="518922" cy="457200"/>
          </a:xfrm>
          <a:prstGeom prst="roundRect">
            <a:avLst>
              <a:gd name="adj" fmla="val 16000"/>
            </a:avLst>
          </a:prstGeom>
          <a:solidFill>
            <a:srgbClr val="5F7A3A"/>
          </a:solidFill>
          <a:ln/>
        </p:spPr>
      </p:sp>
      <p:sp>
        <p:nvSpPr>
          <p:cNvPr id="23" name="Shape 20"/>
          <p:cNvSpPr/>
          <p:nvPr/>
        </p:nvSpPr>
        <p:spPr>
          <a:xfrm>
            <a:off x="10172700" y="1536192"/>
            <a:ext cx="518922" cy="457200"/>
          </a:xfrm>
          <a:prstGeom prst="roundRect">
            <a:avLst>
              <a:gd name="adj" fmla="val 16000"/>
            </a:avLst>
          </a:prstGeom>
          <a:solidFill>
            <a:srgbClr val="5F7A3A"/>
          </a:solidFill>
          <a:ln/>
        </p:spPr>
      </p:sp>
      <p:sp>
        <p:nvSpPr>
          <p:cNvPr id="24" name="Shape 21"/>
          <p:cNvSpPr/>
          <p:nvPr/>
        </p:nvSpPr>
        <p:spPr>
          <a:xfrm>
            <a:off x="10755630" y="1536192"/>
            <a:ext cx="518922" cy="457200"/>
          </a:xfrm>
          <a:prstGeom prst="roundRect">
            <a:avLst>
              <a:gd name="adj" fmla="val 16000"/>
            </a:avLst>
          </a:prstGeom>
          <a:solidFill>
            <a:srgbClr val="5F7A3A"/>
          </a:solidFill>
          <a:ln/>
        </p:spPr>
      </p:sp>
      <p:sp>
        <p:nvSpPr>
          <p:cNvPr id="25" name="Text 22"/>
          <p:cNvSpPr/>
          <p:nvPr/>
        </p:nvSpPr>
        <p:spPr>
          <a:xfrm>
            <a:off x="2011680" y="2057400"/>
            <a:ext cx="9326880" cy="292608"/>
          </a:xfrm>
          <a:prstGeom prst="rect">
            <a:avLst/>
          </a:prstGeom>
          <a:noFill/>
          <a:ln/>
        </p:spPr>
        <p:txBody>
          <a:bodyPr wrap="square" lIns="0" tIns="0" rIns="0" bIns="0" rtlCol="0" anchor="t"/>
          <a:lstStyle/>
          <a:p>
            <a:pPr indent="0" marL="0">
              <a:buNone/>
            </a:pPr>
            <a:r>
              <a:rPr lang="en-US" sz="1200" dirty="0">
                <a:solidFill>
                  <a:srgbClr val="9E4227"/>
                </a:solidFill>
                <a:latin typeface="Helvetica Neue" pitchFamily="34" charset="0"/>
                <a:ea typeface="Helvetica Neue" pitchFamily="34" charset="-122"/>
                <a:cs typeface="Helvetica Neue" pitchFamily="34" charset="-120"/>
              </a:rPr>
              <a:t>a short pause (seconds) while the standby takes over</a:t>
            </a:r>
            <a:endParaRPr lang="en-US" sz="1200" dirty="0"/>
          </a:p>
        </p:txBody>
      </p:sp>
      <p:sp>
        <p:nvSpPr>
          <p:cNvPr id="26" name="Text 23"/>
          <p:cNvSpPr/>
          <p:nvPr/>
        </p:nvSpPr>
        <p:spPr>
          <a:xfrm>
            <a:off x="548640" y="2578608"/>
            <a:ext cx="1280160" cy="365760"/>
          </a:xfrm>
          <a:prstGeom prst="rect">
            <a:avLst/>
          </a:prstGeom>
          <a:noFill/>
          <a:ln/>
        </p:spPr>
        <p:txBody>
          <a:bodyPr wrap="square" lIns="0" tIns="0" rIns="0" bIns="0" rtlCol="0" anchor="t"/>
          <a:lstStyle/>
          <a:p>
            <a:pPr indent="0" marL="0">
              <a:buNone/>
            </a:pPr>
            <a:r>
              <a:rPr lang="en-US" sz="1300" b="1" spc="100" kern="0" dirty="0">
                <a:solidFill>
                  <a:srgbClr val="3A2C1A"/>
                </a:solidFill>
                <a:latin typeface="Helvetica Neue" pitchFamily="34" charset="0"/>
                <a:ea typeface="Helvetica Neue" pitchFamily="34" charset="-122"/>
                <a:cs typeface="Helvetica Neue" pitchFamily="34" charset="-120"/>
              </a:rPr>
              <a:t>READS</a:t>
            </a:r>
            <a:endParaRPr lang="en-US" sz="1300" dirty="0"/>
          </a:p>
        </p:txBody>
      </p:sp>
      <p:sp>
        <p:nvSpPr>
          <p:cNvPr id="27" name="Shape 24"/>
          <p:cNvSpPr/>
          <p:nvPr/>
        </p:nvSpPr>
        <p:spPr>
          <a:xfrm>
            <a:off x="2011680" y="2542032"/>
            <a:ext cx="518922" cy="457200"/>
          </a:xfrm>
          <a:prstGeom prst="roundRect">
            <a:avLst>
              <a:gd name="adj" fmla="val 16000"/>
            </a:avLst>
          </a:prstGeom>
          <a:solidFill>
            <a:srgbClr val="3F6470"/>
          </a:solidFill>
          <a:ln/>
        </p:spPr>
      </p:sp>
      <p:sp>
        <p:nvSpPr>
          <p:cNvPr id="28" name="Shape 25"/>
          <p:cNvSpPr/>
          <p:nvPr/>
        </p:nvSpPr>
        <p:spPr>
          <a:xfrm>
            <a:off x="2594610" y="2542032"/>
            <a:ext cx="518922" cy="457200"/>
          </a:xfrm>
          <a:prstGeom prst="roundRect">
            <a:avLst>
              <a:gd name="adj" fmla="val 16000"/>
            </a:avLst>
          </a:prstGeom>
          <a:solidFill>
            <a:srgbClr val="3F6470"/>
          </a:solidFill>
          <a:ln/>
        </p:spPr>
      </p:sp>
      <p:sp>
        <p:nvSpPr>
          <p:cNvPr id="29" name="Shape 26"/>
          <p:cNvSpPr/>
          <p:nvPr/>
        </p:nvSpPr>
        <p:spPr>
          <a:xfrm>
            <a:off x="3177540" y="2542032"/>
            <a:ext cx="518922" cy="457200"/>
          </a:xfrm>
          <a:prstGeom prst="roundRect">
            <a:avLst>
              <a:gd name="adj" fmla="val 16000"/>
            </a:avLst>
          </a:prstGeom>
          <a:solidFill>
            <a:srgbClr val="3F6470"/>
          </a:solidFill>
          <a:ln/>
        </p:spPr>
      </p:sp>
      <p:sp>
        <p:nvSpPr>
          <p:cNvPr id="30" name="Shape 27"/>
          <p:cNvSpPr/>
          <p:nvPr/>
        </p:nvSpPr>
        <p:spPr>
          <a:xfrm>
            <a:off x="3760470" y="2542032"/>
            <a:ext cx="518922" cy="457200"/>
          </a:xfrm>
          <a:prstGeom prst="roundRect">
            <a:avLst>
              <a:gd name="adj" fmla="val 16000"/>
            </a:avLst>
          </a:prstGeom>
          <a:solidFill>
            <a:srgbClr val="3F6470"/>
          </a:solidFill>
          <a:ln/>
        </p:spPr>
      </p:sp>
      <p:sp>
        <p:nvSpPr>
          <p:cNvPr id="31" name="Shape 28"/>
          <p:cNvSpPr/>
          <p:nvPr/>
        </p:nvSpPr>
        <p:spPr>
          <a:xfrm>
            <a:off x="4343400" y="2542032"/>
            <a:ext cx="518922" cy="457200"/>
          </a:xfrm>
          <a:prstGeom prst="roundRect">
            <a:avLst>
              <a:gd name="adj" fmla="val 16000"/>
            </a:avLst>
          </a:prstGeom>
          <a:solidFill>
            <a:srgbClr val="3F6470"/>
          </a:solidFill>
          <a:ln/>
        </p:spPr>
      </p:sp>
      <p:sp>
        <p:nvSpPr>
          <p:cNvPr id="32" name="Shape 29"/>
          <p:cNvSpPr/>
          <p:nvPr/>
        </p:nvSpPr>
        <p:spPr>
          <a:xfrm>
            <a:off x="4926330" y="2542032"/>
            <a:ext cx="518922" cy="457200"/>
          </a:xfrm>
          <a:prstGeom prst="roundRect">
            <a:avLst>
              <a:gd name="adj" fmla="val 16000"/>
            </a:avLst>
          </a:prstGeom>
          <a:solidFill>
            <a:srgbClr val="3F6470"/>
          </a:solidFill>
          <a:ln/>
        </p:spPr>
      </p:sp>
      <p:sp>
        <p:nvSpPr>
          <p:cNvPr id="33" name="Shape 30"/>
          <p:cNvSpPr/>
          <p:nvPr/>
        </p:nvSpPr>
        <p:spPr>
          <a:xfrm>
            <a:off x="5509260" y="2542032"/>
            <a:ext cx="518922" cy="457200"/>
          </a:xfrm>
          <a:prstGeom prst="roundRect">
            <a:avLst>
              <a:gd name="adj" fmla="val 16000"/>
            </a:avLst>
          </a:prstGeom>
          <a:solidFill>
            <a:srgbClr val="3F6470"/>
          </a:solidFill>
          <a:ln/>
        </p:spPr>
      </p:sp>
      <p:sp>
        <p:nvSpPr>
          <p:cNvPr id="34" name="Shape 31"/>
          <p:cNvSpPr/>
          <p:nvPr/>
        </p:nvSpPr>
        <p:spPr>
          <a:xfrm>
            <a:off x="6092190" y="2542032"/>
            <a:ext cx="518922" cy="457200"/>
          </a:xfrm>
          <a:prstGeom prst="roundRect">
            <a:avLst>
              <a:gd name="adj" fmla="val 16000"/>
            </a:avLst>
          </a:prstGeom>
          <a:solidFill>
            <a:srgbClr val="3F6470"/>
          </a:solidFill>
          <a:ln/>
        </p:spPr>
      </p:sp>
      <p:sp>
        <p:nvSpPr>
          <p:cNvPr id="35" name="Shape 32"/>
          <p:cNvSpPr/>
          <p:nvPr/>
        </p:nvSpPr>
        <p:spPr>
          <a:xfrm>
            <a:off x="6675120" y="2542032"/>
            <a:ext cx="518922" cy="457200"/>
          </a:xfrm>
          <a:prstGeom prst="roundRect">
            <a:avLst>
              <a:gd name="adj" fmla="val 16000"/>
            </a:avLst>
          </a:prstGeom>
          <a:solidFill>
            <a:srgbClr val="3F6470"/>
          </a:solidFill>
          <a:ln/>
        </p:spPr>
      </p:sp>
      <p:sp>
        <p:nvSpPr>
          <p:cNvPr id="36" name="Shape 33"/>
          <p:cNvSpPr/>
          <p:nvPr/>
        </p:nvSpPr>
        <p:spPr>
          <a:xfrm>
            <a:off x="7258050" y="2542032"/>
            <a:ext cx="518922" cy="457200"/>
          </a:xfrm>
          <a:prstGeom prst="roundRect">
            <a:avLst>
              <a:gd name="adj" fmla="val 16000"/>
            </a:avLst>
          </a:prstGeom>
          <a:solidFill>
            <a:srgbClr val="3F6470"/>
          </a:solidFill>
          <a:ln/>
        </p:spPr>
      </p:sp>
      <p:sp>
        <p:nvSpPr>
          <p:cNvPr id="37" name="Shape 34"/>
          <p:cNvSpPr/>
          <p:nvPr/>
        </p:nvSpPr>
        <p:spPr>
          <a:xfrm>
            <a:off x="7840980" y="2542032"/>
            <a:ext cx="518922" cy="457200"/>
          </a:xfrm>
          <a:prstGeom prst="roundRect">
            <a:avLst>
              <a:gd name="adj" fmla="val 16000"/>
            </a:avLst>
          </a:prstGeom>
          <a:solidFill>
            <a:srgbClr val="3F6470"/>
          </a:solidFill>
          <a:ln/>
        </p:spPr>
      </p:sp>
      <p:sp>
        <p:nvSpPr>
          <p:cNvPr id="38" name="Shape 35"/>
          <p:cNvSpPr/>
          <p:nvPr/>
        </p:nvSpPr>
        <p:spPr>
          <a:xfrm>
            <a:off x="8423910" y="2542032"/>
            <a:ext cx="518922" cy="457200"/>
          </a:xfrm>
          <a:prstGeom prst="roundRect">
            <a:avLst>
              <a:gd name="adj" fmla="val 16000"/>
            </a:avLst>
          </a:prstGeom>
          <a:solidFill>
            <a:srgbClr val="3F6470"/>
          </a:solidFill>
          <a:ln/>
        </p:spPr>
      </p:sp>
      <p:sp>
        <p:nvSpPr>
          <p:cNvPr id="39" name="Shape 36"/>
          <p:cNvSpPr/>
          <p:nvPr/>
        </p:nvSpPr>
        <p:spPr>
          <a:xfrm>
            <a:off x="9006840" y="2542032"/>
            <a:ext cx="518922" cy="457200"/>
          </a:xfrm>
          <a:prstGeom prst="roundRect">
            <a:avLst>
              <a:gd name="adj" fmla="val 16000"/>
            </a:avLst>
          </a:prstGeom>
          <a:solidFill>
            <a:srgbClr val="3F6470"/>
          </a:solidFill>
          <a:ln/>
        </p:spPr>
      </p:sp>
      <p:sp>
        <p:nvSpPr>
          <p:cNvPr id="40" name="Shape 37"/>
          <p:cNvSpPr/>
          <p:nvPr/>
        </p:nvSpPr>
        <p:spPr>
          <a:xfrm>
            <a:off x="9589770" y="2542032"/>
            <a:ext cx="518922" cy="457200"/>
          </a:xfrm>
          <a:prstGeom prst="roundRect">
            <a:avLst>
              <a:gd name="adj" fmla="val 16000"/>
            </a:avLst>
          </a:prstGeom>
          <a:solidFill>
            <a:srgbClr val="3F6470"/>
          </a:solidFill>
          <a:ln/>
        </p:spPr>
      </p:sp>
      <p:sp>
        <p:nvSpPr>
          <p:cNvPr id="41" name="Shape 38"/>
          <p:cNvSpPr/>
          <p:nvPr/>
        </p:nvSpPr>
        <p:spPr>
          <a:xfrm>
            <a:off x="10172700" y="2542032"/>
            <a:ext cx="518922" cy="457200"/>
          </a:xfrm>
          <a:prstGeom prst="roundRect">
            <a:avLst>
              <a:gd name="adj" fmla="val 16000"/>
            </a:avLst>
          </a:prstGeom>
          <a:solidFill>
            <a:srgbClr val="3F6470"/>
          </a:solidFill>
          <a:ln/>
        </p:spPr>
      </p:sp>
      <p:sp>
        <p:nvSpPr>
          <p:cNvPr id="42" name="Shape 39"/>
          <p:cNvSpPr/>
          <p:nvPr/>
        </p:nvSpPr>
        <p:spPr>
          <a:xfrm>
            <a:off x="10755630" y="2542032"/>
            <a:ext cx="518922" cy="457200"/>
          </a:xfrm>
          <a:prstGeom prst="roundRect">
            <a:avLst>
              <a:gd name="adj" fmla="val 16000"/>
            </a:avLst>
          </a:prstGeom>
          <a:solidFill>
            <a:srgbClr val="3F6470"/>
          </a:solidFill>
          <a:ln/>
        </p:spPr>
      </p:sp>
      <p:sp>
        <p:nvSpPr>
          <p:cNvPr id="43" name="Text 40"/>
          <p:cNvSpPr/>
          <p:nvPr/>
        </p:nvSpPr>
        <p:spPr>
          <a:xfrm>
            <a:off x="2011680" y="3063240"/>
            <a:ext cx="9326880" cy="292608"/>
          </a:xfrm>
          <a:prstGeom prst="rect">
            <a:avLst/>
          </a:prstGeom>
          <a:noFill/>
          <a:ln/>
        </p:spPr>
        <p:txBody>
          <a:bodyPr wrap="square" lIns="0" tIns="0" rIns="0" bIns="0" rtlCol="0" anchor="t"/>
          <a:lstStyle/>
          <a:p>
            <a:pPr indent="0" marL="0">
              <a:buNone/>
            </a:pPr>
            <a:r>
              <a:rPr lang="en-US" sz="1200" dirty="0">
                <a:solidFill>
                  <a:srgbClr val="3F6470"/>
                </a:solidFill>
                <a:latin typeface="Helvetica Neue" pitchFamily="34" charset="0"/>
                <a:ea typeface="Helvetica Neue" pitchFamily="34" charset="-122"/>
                <a:cs typeface="Helvetica Neue" pitchFamily="34" charset="-120"/>
              </a:rPr>
              <a:t>never interrupted — reads don't involve the transactor</a:t>
            </a:r>
            <a:endParaRPr lang="en-US" sz="1200" dirty="0"/>
          </a:p>
        </p:txBody>
      </p:sp>
      <p:sp>
        <p:nvSpPr>
          <p:cNvPr id="44" name="Shape 41"/>
          <p:cNvSpPr/>
          <p:nvPr/>
        </p:nvSpPr>
        <p:spPr>
          <a:xfrm>
            <a:off x="548640" y="3703320"/>
            <a:ext cx="5349240" cy="1371600"/>
          </a:xfrm>
          <a:prstGeom prst="roundRect">
            <a:avLst>
              <a:gd name="adj" fmla="val 4000"/>
            </a:avLst>
          </a:prstGeom>
          <a:solidFill>
            <a:srgbClr val="DDE3CC"/>
          </a:solidFill>
          <a:ln w="15875">
            <a:solidFill>
              <a:srgbClr val="5F7A3A"/>
            </a:solidFill>
            <a:prstDash val="solid"/>
          </a:ln>
        </p:spPr>
      </p:sp>
      <p:sp>
        <p:nvSpPr>
          <p:cNvPr id="45" name="Text 42"/>
          <p:cNvSpPr/>
          <p:nvPr/>
        </p:nvSpPr>
        <p:spPr>
          <a:xfrm>
            <a:off x="621792" y="4078224"/>
            <a:ext cx="5202936" cy="310896"/>
          </a:xfrm>
          <a:prstGeom prst="rect">
            <a:avLst/>
          </a:prstGeom>
          <a:noFill/>
          <a:ln/>
        </p:spPr>
        <p:txBody>
          <a:bodyPr wrap="square" lIns="0" tIns="0" rIns="0" bIns="0" rtlCol="0" anchor="b">
            <a:normAutofit/>
          </a:bodyPr>
          <a:lstStyle/>
          <a:p>
            <a:pPr algn="ctr" indent="0" marL="0">
              <a:buNone/>
            </a:pPr>
            <a:r>
              <a:rPr lang="en-US" sz="1450" b="1" dirty="0">
                <a:solidFill>
                  <a:srgbClr val="3A2C1A"/>
                </a:solidFill>
                <a:latin typeface="Helvetica Neue" pitchFamily="34" charset="0"/>
                <a:ea typeface="Helvetica Neue" pitchFamily="34" charset="-122"/>
                <a:cs typeface="Helvetica Neue" pitchFamily="34" charset="-120"/>
              </a:rPr>
              <a:t>automatic</a:t>
            </a:r>
            <a:endParaRPr lang="en-US" sz="1450" dirty="0"/>
          </a:p>
        </p:txBody>
      </p:sp>
      <p:sp>
        <p:nvSpPr>
          <p:cNvPr id="46" name="Text 43"/>
          <p:cNvSpPr/>
          <p:nvPr/>
        </p:nvSpPr>
        <p:spPr>
          <a:xfrm>
            <a:off x="621792" y="4370832"/>
            <a:ext cx="5202936" cy="685800"/>
          </a:xfrm>
          <a:prstGeom prst="rect">
            <a:avLst/>
          </a:prstGeom>
          <a:noFill/>
          <a:ln/>
        </p:spPr>
        <p:txBody>
          <a:bodyPr wrap="square" lIns="0" tIns="0" rIns="0" bIns="0" rtlCol="0" anchor="t">
            <a:normAutofit/>
          </a:bodyPr>
          <a:lstStyle/>
          <a:p>
            <a:pPr algn="ctr" indent="0" marL="0">
              <a:buNone/>
            </a:pPr>
            <a:r>
              <a:rPr lang="en-US" sz="1200" dirty="0">
                <a:solidFill>
                  <a:srgbClr val="6B5A44"/>
                </a:solidFill>
                <a:latin typeface="Helvetica Neue" pitchFamily="34" charset="0"/>
                <a:ea typeface="Helvetica Neue" pitchFamily="34" charset="-122"/>
                <a:cs typeface="Helvetica Neue" pitchFamily="34" charset="-120"/>
              </a:rPr>
              <a:t>peers reconnect by themselves —</a:t>
            </a:r>
            <a:endParaRPr lang="en-US" sz="1200" dirty="0"/>
          </a:p>
          <a:p>
            <a:pPr algn="ctr" indent="0" marL="0">
              <a:buNone/>
            </a:pPr>
            <a:r>
              <a:rPr lang="en-US" sz="1200" dirty="0">
                <a:solidFill>
                  <a:srgbClr val="6B5A44"/>
                </a:solidFill>
                <a:latin typeface="Helvetica Neue" pitchFamily="34" charset="0"/>
                <a:ea typeface="Helvetica Neue" pitchFamily="34" charset="-122"/>
                <a:cs typeface="Helvetica Neue" pitchFamily="34" charset="-120"/>
              </a:rPr>
              <a:t>no URI change, no restart, no manual step</a:t>
            </a:r>
            <a:endParaRPr lang="en-US" sz="1200" dirty="0"/>
          </a:p>
        </p:txBody>
      </p:sp>
      <p:sp>
        <p:nvSpPr>
          <p:cNvPr id="47" name="Shape 44"/>
          <p:cNvSpPr/>
          <p:nvPr/>
        </p:nvSpPr>
        <p:spPr>
          <a:xfrm>
            <a:off x="6263640" y="3703320"/>
            <a:ext cx="5349240" cy="1371600"/>
          </a:xfrm>
          <a:prstGeom prst="roundRect">
            <a:avLst>
              <a:gd name="adj" fmla="val 4000"/>
            </a:avLst>
          </a:prstGeom>
          <a:solidFill>
            <a:srgbClr val="EBD5CB"/>
          </a:solidFill>
          <a:ln w="15875">
            <a:solidFill>
              <a:srgbClr val="9E4227"/>
            </a:solidFill>
            <a:prstDash val="solid"/>
          </a:ln>
        </p:spPr>
      </p:sp>
      <p:sp>
        <p:nvSpPr>
          <p:cNvPr id="48" name="Text 45"/>
          <p:cNvSpPr/>
          <p:nvPr/>
        </p:nvSpPr>
        <p:spPr>
          <a:xfrm>
            <a:off x="6336792" y="4078224"/>
            <a:ext cx="5202936" cy="310896"/>
          </a:xfrm>
          <a:prstGeom prst="rect">
            <a:avLst/>
          </a:prstGeom>
          <a:noFill/>
          <a:ln/>
        </p:spPr>
        <p:txBody>
          <a:bodyPr wrap="square" lIns="0" tIns="0" rIns="0" bIns="0" rtlCol="0" anchor="b">
            <a:normAutofit/>
          </a:bodyPr>
          <a:lstStyle/>
          <a:p>
            <a:pPr algn="ctr" indent="0" marL="0">
              <a:buNone/>
            </a:pPr>
            <a:r>
              <a:rPr lang="en-US" sz="1450" b="1" dirty="0">
                <a:solidFill>
                  <a:srgbClr val="3A2C1A"/>
                </a:solidFill>
                <a:latin typeface="Helvetica Neue" pitchFamily="34" charset="0"/>
                <a:ea typeface="Helvetica Neue" pitchFamily="34" charset="-122"/>
                <a:cs typeface="Helvetica Neue" pitchFamily="34" charset="-120"/>
              </a:rPr>
              <a:t>a standby is NOT a backup</a:t>
            </a:r>
            <a:endParaRPr lang="en-US" sz="1450" dirty="0"/>
          </a:p>
        </p:txBody>
      </p:sp>
      <p:sp>
        <p:nvSpPr>
          <p:cNvPr id="49" name="Text 46"/>
          <p:cNvSpPr/>
          <p:nvPr/>
        </p:nvSpPr>
        <p:spPr>
          <a:xfrm>
            <a:off x="6336792" y="4370832"/>
            <a:ext cx="5202936" cy="685800"/>
          </a:xfrm>
          <a:prstGeom prst="rect">
            <a:avLst/>
          </a:prstGeom>
          <a:noFill/>
          <a:ln/>
        </p:spPr>
        <p:txBody>
          <a:bodyPr wrap="square" lIns="0" tIns="0" rIns="0" bIns="0" rtlCol="0" anchor="t">
            <a:normAutofit/>
          </a:bodyPr>
          <a:lstStyle/>
          <a:p>
            <a:pPr algn="ctr" indent="0" marL="0">
              <a:buNone/>
            </a:pPr>
            <a:r>
              <a:rPr lang="en-US" sz="1200" dirty="0">
                <a:solidFill>
                  <a:srgbClr val="6B5A44"/>
                </a:solidFill>
                <a:latin typeface="Helvetica Neue" pitchFamily="34" charset="0"/>
                <a:ea typeface="Helvetica Neue" pitchFamily="34" charset="-122"/>
                <a:cs typeface="Helvetica Neue" pitchFamily="34" charset="-120"/>
              </a:rPr>
              <a:t>both write the same storage —</a:t>
            </a:r>
            <a:endParaRPr lang="en-US" sz="1200" dirty="0"/>
          </a:p>
          <a:p>
            <a:pPr algn="ctr" indent="0" marL="0">
              <a:buNone/>
            </a:pPr>
            <a:r>
              <a:rPr lang="en-US" sz="1200" dirty="0">
                <a:solidFill>
                  <a:srgbClr val="6B5A44"/>
                </a:solidFill>
                <a:latin typeface="Helvetica Neue" pitchFamily="34" charset="0"/>
                <a:ea typeface="Helvetica Neue" pitchFamily="34" charset="-122"/>
                <a:cs typeface="Helvetica Neue" pitchFamily="34" charset="-120"/>
              </a:rPr>
              <a:t>data safety comes from storage replication</a:t>
            </a:r>
            <a:endParaRPr lang="en-US" sz="1200" dirty="0"/>
          </a:p>
        </p:txBody>
      </p:sp>
      <p:sp>
        <p:nvSpPr>
          <p:cNvPr id="50" name="Shape 47"/>
          <p:cNvSpPr/>
          <p:nvPr/>
        </p:nvSpPr>
        <p:spPr>
          <a:xfrm>
            <a:off x="548640" y="5440680"/>
            <a:ext cx="54864" cy="457200"/>
          </a:xfrm>
          <a:prstGeom prst="rect">
            <a:avLst/>
          </a:prstGeom>
          <a:solidFill>
            <a:srgbClr val="A8864A"/>
          </a:solidFill>
          <a:ln/>
        </p:spPr>
      </p:sp>
      <p:sp>
        <p:nvSpPr>
          <p:cNvPr id="51" name="Text 48"/>
          <p:cNvSpPr/>
          <p:nvPr/>
        </p:nvSpPr>
        <p:spPr>
          <a:xfrm>
            <a:off x="777240" y="544068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HA turns a dead writer into a short write pause. Reads never even notice.</a:t>
            </a:r>
            <a:endParaRPr lang="en-US" sz="1450" dirty="0"/>
          </a:p>
        </p:txBody>
      </p:sp>
      <p:sp>
        <p:nvSpPr>
          <p:cNvPr id="52" name="Shape 49"/>
          <p:cNvSpPr/>
          <p:nvPr/>
        </p:nvSpPr>
        <p:spPr>
          <a:xfrm>
            <a:off x="548640" y="6419088"/>
            <a:ext cx="54864" cy="292608"/>
          </a:xfrm>
          <a:prstGeom prst="rect">
            <a:avLst/>
          </a:prstGeom>
          <a:solidFill>
            <a:srgbClr val="A8864A"/>
          </a:solidFill>
          <a:ln/>
        </p:spPr>
      </p:sp>
      <p:sp>
        <p:nvSpPr>
          <p:cNvPr id="53" name="Text 50"/>
          <p:cNvSpPr/>
          <p:nvPr/>
        </p:nvSpPr>
        <p:spPr>
          <a:xfrm>
            <a:off x="713232" y="6382512"/>
            <a:ext cx="658368" cy="365760"/>
          </a:xfrm>
          <a:prstGeom prst="rect">
            <a:avLst/>
          </a:prstGeom>
          <a:noFill/>
          <a:ln/>
        </p:spPr>
        <p:txBody>
          <a:bodyPr wrap="square" lIns="0" tIns="0" rIns="0" bIns="0" rtlCol="0" anchor="ctr"/>
          <a:lstStyle/>
          <a:p>
            <a:pPr indent="0" marL="0">
              <a:buNone/>
            </a:pPr>
            <a:r>
              <a:rPr lang="en-US" sz="900" b="1" spc="100" kern="0" dirty="0">
                <a:solidFill>
                  <a:srgbClr val="A8864A"/>
                </a:solidFill>
                <a:latin typeface="Helvetica Neue" pitchFamily="34" charset="0"/>
                <a:ea typeface="Helvetica Neue" pitchFamily="34" charset="-122"/>
                <a:cs typeface="Helvetica Neue" pitchFamily="34" charset="-120"/>
              </a:rPr>
              <a:t>CASES</a:t>
            </a:r>
            <a:endParaRPr lang="en-US" sz="900" dirty="0"/>
          </a:p>
        </p:txBody>
      </p:sp>
      <p:sp>
        <p:nvSpPr>
          <p:cNvPr id="54" name="Text 51"/>
          <p:cNvSpPr/>
          <p:nvPr/>
        </p:nvSpPr>
        <p:spPr>
          <a:xfrm>
            <a:off x="1463040" y="6382512"/>
            <a:ext cx="9509760" cy="365760"/>
          </a:xfrm>
          <a:prstGeom prst="rect">
            <a:avLst/>
          </a:prstGeom>
          <a:noFill/>
          <a:ln/>
        </p:spPr>
        <p:txBody>
          <a:bodyPr wrap="square" lIns="0" tIns="0" rIns="0" bIns="0" rtlCol="0" anchor="ctr"/>
          <a:lstStyle/>
          <a:p>
            <a:pPr indent="0" marL="0">
              <a:buNone/>
            </a:pPr>
            <a:r>
              <a:rPr lang="en-US" sz="1100" dirty="0">
                <a:solidFill>
                  <a:srgbClr val="6B5A44"/>
                </a:solidFill>
                <a:latin typeface="Helvetica Neue" pitchFamily="34" charset="0"/>
                <a:ea typeface="Helvetica Neue" pitchFamily="34" charset="-122"/>
                <a:cs typeface="Helvetica Neue" pitchFamily="34" charset="-120"/>
              </a:rPr>
              <a:t>infra/HA.md: the two-transactor setup, to run this yourself   ·   Standby + unreplicated storage = short pauses, zero data safety</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II · WRITES</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14</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Catch 2 · the writer can push back</a:t>
            </a:r>
            <a:endParaRPr lang="en-US" sz="2500" dirty="0"/>
          </a:p>
        </p:txBody>
      </p:sp>
      <p:sp>
        <p:nvSpPr>
          <p:cNvPr id="8" name="Text 5"/>
          <p:cNvSpPr/>
          <p:nvPr/>
        </p:nvSpPr>
        <p:spPr>
          <a:xfrm>
            <a:off x="548640" y="1508760"/>
            <a:ext cx="1828800" cy="594360"/>
          </a:xfrm>
          <a:prstGeom prst="rect">
            <a:avLst/>
          </a:prstGeom>
          <a:noFill/>
          <a:ln/>
        </p:spPr>
        <p:txBody>
          <a:bodyPr wrap="square" lIns="0" tIns="0" rIns="0" bIns="0" rtlCol="0" anchor="ctr"/>
          <a:lstStyle/>
          <a:p>
            <a:pPr indent="0" marL="0">
              <a:buNone/>
            </a:pPr>
            <a:r>
              <a:rPr lang="en-US" sz="1350" b="1" spc="100" kern="0" dirty="0">
                <a:solidFill>
                  <a:srgbClr val="5F7A3A"/>
                </a:solidFill>
                <a:latin typeface="Helvetica Neue" pitchFamily="34" charset="0"/>
                <a:ea typeface="Helvetica Neue" pitchFamily="34" charset="-122"/>
                <a:cs typeface="Helvetica Neue" pitchFamily="34" charset="-120"/>
              </a:rPr>
              <a:t>NORMAL</a:t>
            </a:r>
            <a:endParaRPr lang="en-US" sz="1350" dirty="0"/>
          </a:p>
        </p:txBody>
      </p:sp>
      <p:sp>
        <p:nvSpPr>
          <p:cNvPr id="9" name="Shape 6"/>
          <p:cNvSpPr/>
          <p:nvPr/>
        </p:nvSpPr>
        <p:spPr>
          <a:xfrm>
            <a:off x="2560320" y="1508760"/>
            <a:ext cx="6766560" cy="594360"/>
          </a:xfrm>
          <a:prstGeom prst="rect">
            <a:avLst/>
          </a:prstGeom>
          <a:solidFill>
            <a:srgbClr val="E6DFCE"/>
          </a:solidFill>
          <a:ln/>
        </p:spPr>
      </p:sp>
      <p:sp>
        <p:nvSpPr>
          <p:cNvPr id="10" name="Shape 7"/>
          <p:cNvSpPr/>
          <p:nvPr/>
        </p:nvSpPr>
        <p:spPr>
          <a:xfrm>
            <a:off x="2560320" y="1508760"/>
            <a:ext cx="2368296" cy="594360"/>
          </a:xfrm>
          <a:prstGeom prst="rect">
            <a:avLst/>
          </a:prstGeom>
          <a:solidFill>
            <a:srgbClr val="DDE3CC"/>
          </a:solidFill>
          <a:ln/>
        </p:spPr>
      </p:sp>
      <p:sp>
        <p:nvSpPr>
          <p:cNvPr id="11" name="Shape 8"/>
          <p:cNvSpPr/>
          <p:nvPr/>
        </p:nvSpPr>
        <p:spPr>
          <a:xfrm>
            <a:off x="9290304" y="1417320"/>
            <a:ext cx="36576" cy="777240"/>
          </a:xfrm>
          <a:prstGeom prst="rect">
            <a:avLst/>
          </a:prstGeom>
          <a:solidFill>
            <a:srgbClr val="9E4227"/>
          </a:solidFill>
          <a:ln/>
        </p:spPr>
      </p:sp>
      <p:sp>
        <p:nvSpPr>
          <p:cNvPr id="12" name="Text 9"/>
          <p:cNvSpPr/>
          <p:nvPr/>
        </p:nvSpPr>
        <p:spPr>
          <a:xfrm>
            <a:off x="8503920" y="1124712"/>
            <a:ext cx="1645920" cy="274320"/>
          </a:xfrm>
          <a:prstGeom prst="rect">
            <a:avLst/>
          </a:prstGeom>
          <a:noFill/>
          <a:ln/>
        </p:spPr>
        <p:txBody>
          <a:bodyPr wrap="square" lIns="0" tIns="0" rIns="0" bIns="0" rtlCol="0" anchor="t"/>
          <a:lstStyle/>
          <a:p>
            <a:pPr algn="ctr" indent="0" marL="0">
              <a:buNone/>
            </a:pPr>
            <a:r>
              <a:rPr lang="en-US" sz="1050" dirty="0">
                <a:solidFill>
                  <a:srgbClr val="9E4227"/>
                </a:solidFill>
                <a:latin typeface="Helvetica Neue" pitchFamily="34" charset="0"/>
                <a:ea typeface="Helvetica Neue" pitchFamily="34" charset="-122"/>
                <a:cs typeface="Helvetica Neue" pitchFamily="34" charset="-120"/>
              </a:rPr>
              <a:t>full</a:t>
            </a:r>
            <a:endParaRPr lang="en-US" sz="1050" dirty="0"/>
          </a:p>
        </p:txBody>
      </p:sp>
      <p:sp>
        <p:nvSpPr>
          <p:cNvPr id="13" name="Text 10"/>
          <p:cNvSpPr/>
          <p:nvPr/>
        </p:nvSpPr>
        <p:spPr>
          <a:xfrm>
            <a:off x="2560320" y="2130552"/>
            <a:ext cx="6766560" cy="310896"/>
          </a:xfrm>
          <a:prstGeom prst="rect">
            <a:avLst/>
          </a:prstGeom>
          <a:noFill/>
          <a:ln/>
        </p:spPr>
        <p:txBody>
          <a:bodyPr wrap="square" lIns="0" tIns="0" rIns="0" bIns="0" rtlCol="0" anchor="t">
            <a:normAutofit/>
          </a:bodyPr>
          <a:lstStyle/>
          <a:p>
            <a:pPr indent="0" marL="0">
              <a:buNone/>
            </a:pPr>
            <a:r>
              <a:rPr lang="en-US" sz="1150" dirty="0">
                <a:solidFill>
                  <a:srgbClr val="6B5A44"/>
                </a:solidFill>
                <a:latin typeface="Helvetica Neue" pitchFamily="34" charset="0"/>
                <a:ea typeface="Helvetica Neue" pitchFamily="34" charset="-122"/>
                <a:cs typeface="Helvetica Neue" pitchFamily="34" charset="-120"/>
              </a:rPr>
              <a:t>buffer low · nothing special happening</a:t>
            </a:r>
            <a:endParaRPr lang="en-US" sz="1150" dirty="0"/>
          </a:p>
        </p:txBody>
      </p:sp>
      <p:sp>
        <p:nvSpPr>
          <p:cNvPr id="14" name="Shape 11"/>
          <p:cNvSpPr/>
          <p:nvPr/>
        </p:nvSpPr>
        <p:spPr>
          <a:xfrm>
            <a:off x="9601200" y="1508760"/>
            <a:ext cx="2011680" cy="594360"/>
          </a:xfrm>
          <a:prstGeom prst="roundRect">
            <a:avLst>
              <a:gd name="adj" fmla="val 12308"/>
            </a:avLst>
          </a:prstGeom>
          <a:solidFill>
            <a:srgbClr val="DDE3CC"/>
          </a:solidFill>
          <a:ln/>
        </p:spPr>
      </p:sp>
      <p:sp>
        <p:nvSpPr>
          <p:cNvPr id="15" name="Text 12"/>
          <p:cNvSpPr/>
          <p:nvPr/>
        </p:nvSpPr>
        <p:spPr>
          <a:xfrm>
            <a:off x="9601200" y="1508760"/>
            <a:ext cx="2011680" cy="594360"/>
          </a:xfrm>
          <a:prstGeom prst="rect">
            <a:avLst/>
          </a:prstGeom>
          <a:noFill/>
          <a:ln/>
        </p:spPr>
        <p:txBody>
          <a:bodyPr wrap="square" lIns="0" tIns="0" rIns="0" bIns="0" rtlCol="0" anchor="ctr"/>
          <a:lstStyle/>
          <a:p>
            <a:pPr algn="ctr" indent="0" marL="0">
              <a:buNone/>
            </a:pPr>
            <a:r>
              <a:rPr lang="en-US" sz="1200" b="1" dirty="0">
                <a:solidFill>
                  <a:srgbClr val="5F7A3A"/>
                </a:solidFill>
                <a:latin typeface="Helvetica Neue" pitchFamily="34" charset="0"/>
                <a:ea typeface="Helvetica Neue" pitchFamily="34" charset="-122"/>
                <a:cs typeface="Helvetica Neue" pitchFamily="34" charset="-120"/>
              </a:rPr>
              <a:t>writes fast</a:t>
            </a:r>
            <a:endParaRPr lang="en-US" sz="1200" dirty="0"/>
          </a:p>
        </p:txBody>
      </p:sp>
      <p:sp>
        <p:nvSpPr>
          <p:cNvPr id="16" name="Text 13"/>
          <p:cNvSpPr/>
          <p:nvPr/>
        </p:nvSpPr>
        <p:spPr>
          <a:xfrm>
            <a:off x="548640" y="2679192"/>
            <a:ext cx="1828800" cy="594360"/>
          </a:xfrm>
          <a:prstGeom prst="rect">
            <a:avLst/>
          </a:prstGeom>
          <a:noFill/>
          <a:ln/>
        </p:spPr>
        <p:txBody>
          <a:bodyPr wrap="square" lIns="0" tIns="0" rIns="0" bIns="0" rtlCol="0" anchor="ctr"/>
          <a:lstStyle/>
          <a:p>
            <a:pPr indent="0" marL="0">
              <a:buNone/>
            </a:pPr>
            <a:r>
              <a:rPr lang="en-US" sz="1350" b="1" spc="100" kern="0" dirty="0">
                <a:solidFill>
                  <a:srgbClr val="B5822B"/>
                </a:solidFill>
                <a:latin typeface="Helvetica Neue" pitchFamily="34" charset="0"/>
                <a:ea typeface="Helvetica Neue" pitchFamily="34" charset="-122"/>
                <a:cs typeface="Helvetica Neue" pitchFamily="34" charset="-120"/>
              </a:rPr>
              <a:t>DRAINING</a:t>
            </a:r>
            <a:endParaRPr lang="en-US" sz="1350" dirty="0"/>
          </a:p>
        </p:txBody>
      </p:sp>
      <p:sp>
        <p:nvSpPr>
          <p:cNvPr id="17" name="Shape 14"/>
          <p:cNvSpPr/>
          <p:nvPr/>
        </p:nvSpPr>
        <p:spPr>
          <a:xfrm>
            <a:off x="2560320" y="2679192"/>
            <a:ext cx="6766560" cy="594360"/>
          </a:xfrm>
          <a:prstGeom prst="rect">
            <a:avLst/>
          </a:prstGeom>
          <a:solidFill>
            <a:srgbClr val="E6DFCE"/>
          </a:solidFill>
          <a:ln/>
        </p:spPr>
      </p:sp>
      <p:sp>
        <p:nvSpPr>
          <p:cNvPr id="18" name="Shape 15"/>
          <p:cNvSpPr/>
          <p:nvPr/>
        </p:nvSpPr>
        <p:spPr>
          <a:xfrm>
            <a:off x="2560320" y="2679192"/>
            <a:ext cx="4736592" cy="594360"/>
          </a:xfrm>
          <a:prstGeom prst="rect">
            <a:avLst/>
          </a:prstGeom>
          <a:solidFill>
            <a:srgbClr val="EDE0C4"/>
          </a:solidFill>
          <a:ln/>
        </p:spPr>
      </p:sp>
      <p:sp>
        <p:nvSpPr>
          <p:cNvPr id="19" name="Shape 16"/>
          <p:cNvSpPr/>
          <p:nvPr/>
        </p:nvSpPr>
        <p:spPr>
          <a:xfrm>
            <a:off x="9290304" y="2587752"/>
            <a:ext cx="36576" cy="777240"/>
          </a:xfrm>
          <a:prstGeom prst="rect">
            <a:avLst/>
          </a:prstGeom>
          <a:solidFill>
            <a:srgbClr val="9E4227"/>
          </a:solidFill>
          <a:ln/>
        </p:spPr>
      </p:sp>
      <p:sp>
        <p:nvSpPr>
          <p:cNvPr id="20" name="Text 17"/>
          <p:cNvSpPr/>
          <p:nvPr/>
        </p:nvSpPr>
        <p:spPr>
          <a:xfrm>
            <a:off x="2560320" y="3300984"/>
            <a:ext cx="6766560" cy="310896"/>
          </a:xfrm>
          <a:prstGeom prst="rect">
            <a:avLst/>
          </a:prstGeom>
          <a:noFill/>
          <a:ln/>
        </p:spPr>
        <p:txBody>
          <a:bodyPr wrap="square" lIns="0" tIns="0" rIns="0" bIns="0" rtlCol="0" anchor="t">
            <a:normAutofit/>
          </a:bodyPr>
          <a:lstStyle/>
          <a:p>
            <a:pPr indent="0" marL="0">
              <a:buNone/>
            </a:pPr>
            <a:r>
              <a:rPr lang="en-US" sz="1150" dirty="0">
                <a:solidFill>
                  <a:srgbClr val="6B5A44"/>
                </a:solidFill>
                <a:latin typeface="Helvetica Neue" pitchFamily="34" charset="0"/>
                <a:ea typeface="Helvetica Neue" pitchFamily="34" charset="-122"/>
                <a:cs typeface="Helvetica Neue" pitchFamily="34" charset="-120"/>
              </a:rPr>
              <a:t>indexing runs in the background · writes at full speed</a:t>
            </a:r>
            <a:endParaRPr lang="en-US" sz="1150" dirty="0"/>
          </a:p>
        </p:txBody>
      </p:sp>
      <p:sp>
        <p:nvSpPr>
          <p:cNvPr id="21" name="Shape 18"/>
          <p:cNvSpPr/>
          <p:nvPr/>
        </p:nvSpPr>
        <p:spPr>
          <a:xfrm>
            <a:off x="9601200" y="2679192"/>
            <a:ext cx="2011680" cy="594360"/>
          </a:xfrm>
          <a:prstGeom prst="roundRect">
            <a:avLst>
              <a:gd name="adj" fmla="val 12308"/>
            </a:avLst>
          </a:prstGeom>
          <a:solidFill>
            <a:srgbClr val="EDE0C4"/>
          </a:solidFill>
          <a:ln/>
        </p:spPr>
      </p:sp>
      <p:sp>
        <p:nvSpPr>
          <p:cNvPr id="22" name="Text 19"/>
          <p:cNvSpPr/>
          <p:nvPr/>
        </p:nvSpPr>
        <p:spPr>
          <a:xfrm>
            <a:off x="9601200" y="2679192"/>
            <a:ext cx="2011680" cy="594360"/>
          </a:xfrm>
          <a:prstGeom prst="rect">
            <a:avLst/>
          </a:prstGeom>
          <a:noFill/>
          <a:ln/>
        </p:spPr>
        <p:txBody>
          <a:bodyPr wrap="square" lIns="0" tIns="0" rIns="0" bIns="0" rtlCol="0" anchor="ctr"/>
          <a:lstStyle/>
          <a:p>
            <a:pPr algn="ctr" indent="0" marL="0">
              <a:buNone/>
            </a:pPr>
            <a:r>
              <a:rPr lang="en-US" sz="1200" b="1" dirty="0">
                <a:solidFill>
                  <a:srgbClr val="B5822B"/>
                </a:solidFill>
                <a:latin typeface="Helvetica Neue" pitchFamily="34" charset="0"/>
                <a:ea typeface="Helvetica Neue" pitchFamily="34" charset="-122"/>
                <a:cs typeface="Helvetica Neue" pitchFamily="34" charset="-120"/>
              </a:rPr>
              <a:t>writes fast</a:t>
            </a:r>
            <a:endParaRPr lang="en-US" sz="1200" dirty="0"/>
          </a:p>
        </p:txBody>
      </p:sp>
      <p:sp>
        <p:nvSpPr>
          <p:cNvPr id="23" name="Text 20"/>
          <p:cNvSpPr/>
          <p:nvPr/>
        </p:nvSpPr>
        <p:spPr>
          <a:xfrm>
            <a:off x="548640" y="3849624"/>
            <a:ext cx="1828800" cy="594360"/>
          </a:xfrm>
          <a:prstGeom prst="rect">
            <a:avLst/>
          </a:prstGeom>
          <a:noFill/>
          <a:ln/>
        </p:spPr>
        <p:txBody>
          <a:bodyPr wrap="square" lIns="0" tIns="0" rIns="0" bIns="0" rtlCol="0" anchor="ctr"/>
          <a:lstStyle/>
          <a:p>
            <a:pPr indent="0" marL="0">
              <a:buNone/>
            </a:pPr>
            <a:r>
              <a:rPr lang="en-US" sz="1350" b="1" spc="100" kern="0" dirty="0">
                <a:solidFill>
                  <a:srgbClr val="9E4227"/>
                </a:solidFill>
                <a:latin typeface="Helvetica Neue" pitchFamily="34" charset="0"/>
                <a:ea typeface="Helvetica Neue" pitchFamily="34" charset="-122"/>
                <a:cs typeface="Helvetica Neue" pitchFamily="34" charset="-120"/>
              </a:rPr>
              <a:t>THROTTLED</a:t>
            </a:r>
            <a:endParaRPr lang="en-US" sz="1350" dirty="0"/>
          </a:p>
        </p:txBody>
      </p:sp>
      <p:sp>
        <p:nvSpPr>
          <p:cNvPr id="24" name="Shape 21"/>
          <p:cNvSpPr/>
          <p:nvPr/>
        </p:nvSpPr>
        <p:spPr>
          <a:xfrm>
            <a:off x="2560320" y="3849624"/>
            <a:ext cx="6766560" cy="594360"/>
          </a:xfrm>
          <a:prstGeom prst="rect">
            <a:avLst/>
          </a:prstGeom>
          <a:solidFill>
            <a:srgbClr val="E6DFCE"/>
          </a:solidFill>
          <a:ln/>
        </p:spPr>
      </p:sp>
      <p:sp>
        <p:nvSpPr>
          <p:cNvPr id="25" name="Shape 22"/>
          <p:cNvSpPr/>
          <p:nvPr/>
        </p:nvSpPr>
        <p:spPr>
          <a:xfrm>
            <a:off x="2560320" y="3849624"/>
            <a:ext cx="6766560" cy="594360"/>
          </a:xfrm>
          <a:prstGeom prst="rect">
            <a:avLst/>
          </a:prstGeom>
          <a:solidFill>
            <a:srgbClr val="EBD5CB"/>
          </a:solidFill>
          <a:ln/>
        </p:spPr>
      </p:sp>
      <p:sp>
        <p:nvSpPr>
          <p:cNvPr id="26" name="Shape 23"/>
          <p:cNvSpPr/>
          <p:nvPr/>
        </p:nvSpPr>
        <p:spPr>
          <a:xfrm>
            <a:off x="9290304" y="3758184"/>
            <a:ext cx="36576" cy="777240"/>
          </a:xfrm>
          <a:prstGeom prst="rect">
            <a:avLst/>
          </a:prstGeom>
          <a:solidFill>
            <a:srgbClr val="9E4227"/>
          </a:solidFill>
          <a:ln/>
        </p:spPr>
      </p:sp>
      <p:sp>
        <p:nvSpPr>
          <p:cNvPr id="27" name="Text 24"/>
          <p:cNvSpPr/>
          <p:nvPr/>
        </p:nvSpPr>
        <p:spPr>
          <a:xfrm>
            <a:off x="2560320" y="4471416"/>
            <a:ext cx="6766560" cy="310896"/>
          </a:xfrm>
          <a:prstGeom prst="rect">
            <a:avLst/>
          </a:prstGeom>
          <a:noFill/>
          <a:ln/>
        </p:spPr>
        <p:txBody>
          <a:bodyPr wrap="square" lIns="0" tIns="0" rIns="0" bIns="0" rtlCol="0" anchor="t">
            <a:normAutofit/>
          </a:bodyPr>
          <a:lstStyle/>
          <a:p>
            <a:pPr indent="0" marL="0">
              <a:buNone/>
            </a:pPr>
            <a:r>
              <a:rPr lang="en-US" sz="1150" dirty="0">
                <a:solidFill>
                  <a:srgbClr val="6B5A44"/>
                </a:solidFill>
                <a:latin typeface="Helvetica Neue" pitchFamily="34" charset="0"/>
                <a:ea typeface="Helvetica Neue" pitchFamily="34" charset="-122"/>
                <a:cs typeface="Helvetica Neue" pitchFamily="34" charset="-120"/>
              </a:rPr>
              <a:t>buffer full · the transactor slows every writer on purpose</a:t>
            </a:r>
            <a:endParaRPr lang="en-US" sz="1150" dirty="0"/>
          </a:p>
        </p:txBody>
      </p:sp>
      <p:sp>
        <p:nvSpPr>
          <p:cNvPr id="28" name="Shape 25"/>
          <p:cNvSpPr/>
          <p:nvPr/>
        </p:nvSpPr>
        <p:spPr>
          <a:xfrm>
            <a:off x="9601200" y="3849624"/>
            <a:ext cx="2011680" cy="594360"/>
          </a:xfrm>
          <a:prstGeom prst="roundRect">
            <a:avLst>
              <a:gd name="adj" fmla="val 12308"/>
            </a:avLst>
          </a:prstGeom>
          <a:solidFill>
            <a:srgbClr val="EBD5CB"/>
          </a:solidFill>
          <a:ln/>
        </p:spPr>
      </p:sp>
      <p:sp>
        <p:nvSpPr>
          <p:cNvPr id="29" name="Text 26"/>
          <p:cNvSpPr/>
          <p:nvPr/>
        </p:nvSpPr>
        <p:spPr>
          <a:xfrm>
            <a:off x="9601200" y="3849624"/>
            <a:ext cx="2011680" cy="594360"/>
          </a:xfrm>
          <a:prstGeom prst="rect">
            <a:avLst/>
          </a:prstGeom>
          <a:noFill/>
          <a:ln/>
        </p:spPr>
        <p:txBody>
          <a:bodyPr wrap="square" lIns="0" tIns="0" rIns="0" bIns="0" rtlCol="0" anchor="ctr"/>
          <a:lstStyle/>
          <a:p>
            <a:pPr algn="ctr" indent="0" marL="0">
              <a:buNone/>
            </a:pPr>
            <a:r>
              <a:rPr lang="en-US" sz="1200" b="1" dirty="0">
                <a:solidFill>
                  <a:srgbClr val="9E4227"/>
                </a:solidFill>
                <a:latin typeface="Helvetica Neue" pitchFamily="34" charset="0"/>
                <a:ea typeface="Helvetica Neue" pitchFamily="34" charset="-122"/>
                <a:cs typeface="Helvetica Neue" pitchFamily="34" charset="-120"/>
              </a:rPr>
              <a:t>latency rises</a:t>
            </a:r>
            <a:endParaRPr lang="en-US" sz="1200" dirty="0"/>
          </a:p>
        </p:txBody>
      </p:sp>
      <p:sp>
        <p:nvSpPr>
          <p:cNvPr id="30" name="Shape 27"/>
          <p:cNvSpPr/>
          <p:nvPr/>
        </p:nvSpPr>
        <p:spPr>
          <a:xfrm>
            <a:off x="548640" y="5166360"/>
            <a:ext cx="11064240" cy="640080"/>
          </a:xfrm>
          <a:prstGeom prst="roundRect">
            <a:avLst>
              <a:gd name="adj" fmla="val 11429"/>
            </a:avLst>
          </a:prstGeom>
          <a:solidFill>
            <a:srgbClr val="E6DFCE"/>
          </a:solidFill>
          <a:ln/>
        </p:spPr>
      </p:sp>
      <p:sp>
        <p:nvSpPr>
          <p:cNvPr id="31" name="Text 28"/>
          <p:cNvSpPr/>
          <p:nvPr/>
        </p:nvSpPr>
        <p:spPr>
          <a:xfrm>
            <a:off x="822960" y="5166360"/>
            <a:ext cx="10515600" cy="640080"/>
          </a:xfrm>
          <a:prstGeom prst="rect">
            <a:avLst/>
          </a:prstGeom>
          <a:noFill/>
          <a:ln/>
        </p:spPr>
        <p:txBody>
          <a:bodyPr wrap="square" lIns="0" tIns="0" rIns="0" bIns="0" rtlCol="0" anchor="ctr">
            <a:normAutofit/>
          </a:bodyPr>
          <a:lstStyle/>
          <a:p>
            <a:pPr indent="0" marL="0">
              <a:buNone/>
            </a:pPr>
            <a:r>
              <a:rPr lang="en-US" sz="1350" dirty="0">
                <a:solidFill>
                  <a:srgbClr val="3A2C1A"/>
                </a:solidFill>
                <a:latin typeface="Helvetica Neue" pitchFamily="34" charset="0"/>
                <a:ea typeface="Helvetica Neue" pitchFamily="34" charset="-122"/>
                <a:cs typeface="Helvetica Neue" pitchFamily="34" charset="-120"/>
              </a:rPr>
              <a:t>The symptom: write latency rising with NO errors anywhere. Not a failure — the system protecting itself.</a:t>
            </a:r>
            <a:endParaRPr lang="en-US" sz="1350" dirty="0"/>
          </a:p>
        </p:txBody>
      </p:sp>
      <p:sp>
        <p:nvSpPr>
          <p:cNvPr id="32" name="Shape 29"/>
          <p:cNvSpPr/>
          <p:nvPr/>
        </p:nvSpPr>
        <p:spPr>
          <a:xfrm>
            <a:off x="548640" y="5897880"/>
            <a:ext cx="54864" cy="457200"/>
          </a:xfrm>
          <a:prstGeom prst="rect">
            <a:avLst/>
          </a:prstGeom>
          <a:solidFill>
            <a:srgbClr val="A8864A"/>
          </a:solidFill>
          <a:ln/>
        </p:spPr>
      </p:sp>
      <p:sp>
        <p:nvSpPr>
          <p:cNvPr id="33" name="Text 30"/>
          <p:cNvSpPr/>
          <p:nvPr/>
        </p:nvSpPr>
        <p:spPr>
          <a:xfrm>
            <a:off x="777240" y="589788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Ask why indexing is slow — usually storage — before touching any knob.</a:t>
            </a:r>
            <a:endParaRPr lang="en-US" sz="1450" dirty="0"/>
          </a:p>
        </p:txBody>
      </p:sp>
      <p:sp>
        <p:nvSpPr>
          <p:cNvPr id="34" name="Shape 31"/>
          <p:cNvSpPr/>
          <p:nvPr/>
        </p:nvSpPr>
        <p:spPr>
          <a:xfrm>
            <a:off x="548640" y="6419088"/>
            <a:ext cx="54864" cy="292608"/>
          </a:xfrm>
          <a:prstGeom prst="rect">
            <a:avLst/>
          </a:prstGeom>
          <a:solidFill>
            <a:srgbClr val="A8864A"/>
          </a:solidFill>
          <a:ln/>
        </p:spPr>
      </p:sp>
      <p:sp>
        <p:nvSpPr>
          <p:cNvPr id="35" name="Text 32"/>
          <p:cNvSpPr/>
          <p:nvPr/>
        </p:nvSpPr>
        <p:spPr>
          <a:xfrm>
            <a:off x="713232" y="6382512"/>
            <a:ext cx="658368" cy="365760"/>
          </a:xfrm>
          <a:prstGeom prst="rect">
            <a:avLst/>
          </a:prstGeom>
          <a:noFill/>
          <a:ln/>
        </p:spPr>
        <p:txBody>
          <a:bodyPr wrap="square" lIns="0" tIns="0" rIns="0" bIns="0" rtlCol="0" anchor="ctr"/>
          <a:lstStyle/>
          <a:p>
            <a:pPr indent="0" marL="0">
              <a:buNone/>
            </a:pPr>
            <a:r>
              <a:rPr lang="en-US" sz="900" b="1" spc="100" kern="0" dirty="0">
                <a:solidFill>
                  <a:srgbClr val="A8864A"/>
                </a:solidFill>
                <a:latin typeface="Helvetica Neue" pitchFamily="34" charset="0"/>
                <a:ea typeface="Helvetica Neue" pitchFamily="34" charset="-122"/>
                <a:cs typeface="Helvetica Neue" pitchFamily="34" charset="-120"/>
              </a:rPr>
              <a:t>CASES</a:t>
            </a:r>
            <a:endParaRPr lang="en-US" sz="900" dirty="0"/>
          </a:p>
        </p:txBody>
      </p:sp>
      <p:sp>
        <p:nvSpPr>
          <p:cNvPr id="36" name="Text 33"/>
          <p:cNvSpPr/>
          <p:nvPr/>
        </p:nvSpPr>
        <p:spPr>
          <a:xfrm>
            <a:off x="1463040" y="6382512"/>
            <a:ext cx="9509760" cy="365760"/>
          </a:xfrm>
          <a:prstGeom prst="rect">
            <a:avLst/>
          </a:prstGeom>
          <a:noFill/>
          <a:ln/>
        </p:spPr>
        <p:txBody>
          <a:bodyPr wrap="square" lIns="0" tIns="0" rIns="0" bIns="0" rtlCol="0" anchor="ctr"/>
          <a:lstStyle/>
          <a:p>
            <a:pPr indent="0" marL="0">
              <a:buNone/>
            </a:pPr>
            <a:r>
              <a:rPr lang="en-US" sz="1100" dirty="0">
                <a:solidFill>
                  <a:srgbClr val="6B5A44"/>
                </a:solidFill>
                <a:latin typeface="Helvetica Neue" pitchFamily="34" charset="0"/>
                <a:ea typeface="Helvetica Neue" pitchFamily="34" charset="-122"/>
                <a:cs typeface="Helvetica Neue" pitchFamily="34" charset="-120"/>
              </a:rPr>
              <a:t>p99 writes up, error rate flat: back-pressure, look at storage   ·   Durability never waits — only indexing lags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C2416"/>
          </a:solidFill>
          <a:ln/>
        </p:spPr>
      </p:sp>
      <p:sp>
        <p:nvSpPr>
          <p:cNvPr id="3" name="Text 1"/>
          <p:cNvSpPr/>
          <p:nvPr/>
        </p:nvSpPr>
        <p:spPr>
          <a:xfrm>
            <a:off x="822960" y="2011680"/>
            <a:ext cx="1828800" cy="914400"/>
          </a:xfrm>
          <a:prstGeom prst="rect">
            <a:avLst/>
          </a:prstGeom>
          <a:noFill/>
          <a:ln/>
        </p:spPr>
        <p:txBody>
          <a:bodyPr wrap="square" lIns="0" tIns="0" rIns="0" bIns="0" rtlCol="0" anchor="t"/>
          <a:lstStyle/>
          <a:p>
            <a:pPr indent="0" marL="0">
              <a:buNone/>
            </a:pPr>
            <a:r>
              <a:rPr lang="en-US" sz="5400" dirty="0">
                <a:solidFill>
                  <a:srgbClr val="C6A46A"/>
                </a:solidFill>
                <a:latin typeface="Helvetica Neue" pitchFamily="34" charset="0"/>
                <a:ea typeface="Helvetica Neue" pitchFamily="34" charset="-122"/>
                <a:cs typeface="Helvetica Neue" pitchFamily="34" charset="-120"/>
              </a:rPr>
              <a:t>☕</a:t>
            </a:r>
            <a:endParaRPr lang="en-US" sz="5400" dirty="0"/>
          </a:p>
        </p:txBody>
      </p:sp>
      <p:sp>
        <p:nvSpPr>
          <p:cNvPr id="4" name="Text 2"/>
          <p:cNvSpPr/>
          <p:nvPr/>
        </p:nvSpPr>
        <p:spPr>
          <a:xfrm>
            <a:off x="822960" y="3017520"/>
            <a:ext cx="10515600" cy="822960"/>
          </a:xfrm>
          <a:prstGeom prst="rect">
            <a:avLst/>
          </a:prstGeom>
          <a:noFill/>
          <a:ln/>
        </p:spPr>
        <p:txBody>
          <a:bodyPr wrap="square" lIns="0" tIns="0" rIns="0" bIns="0" rtlCol="0" anchor="t"/>
          <a:lstStyle/>
          <a:p>
            <a:pPr indent="0" marL="0">
              <a:buNone/>
            </a:pPr>
            <a:r>
              <a:rPr lang="en-US" sz="3600" dirty="0">
                <a:solidFill>
                  <a:srgbClr val="FCFAF4"/>
                </a:solidFill>
                <a:latin typeface="Georgia" pitchFamily="34" charset="0"/>
                <a:ea typeface="Georgia" pitchFamily="34" charset="-122"/>
                <a:cs typeface="Georgia" pitchFamily="34" charset="-120"/>
              </a:rPr>
              <a:t>Break — 10 minutes</a:t>
            </a:r>
            <a:endParaRPr lang="en-US" sz="3600" dirty="0"/>
          </a:p>
        </p:txBody>
      </p:sp>
      <p:sp>
        <p:nvSpPr>
          <p:cNvPr id="5" name="Text 3"/>
          <p:cNvSpPr/>
          <p:nvPr/>
        </p:nvSpPr>
        <p:spPr>
          <a:xfrm>
            <a:off x="822960" y="3931920"/>
            <a:ext cx="10515600" cy="457200"/>
          </a:xfrm>
          <a:prstGeom prst="rect">
            <a:avLst/>
          </a:prstGeom>
          <a:noFill/>
          <a:ln/>
        </p:spPr>
        <p:txBody>
          <a:bodyPr wrap="square" lIns="0" tIns="0" rIns="0" bIns="0" rtlCol="0" anchor="t"/>
          <a:lstStyle/>
          <a:p>
            <a:pPr indent="0" marL="0">
              <a:buNone/>
            </a:pPr>
            <a:r>
              <a:rPr lang="en-US" sz="1700" dirty="0">
                <a:solidFill>
                  <a:srgbClr val="C9BDA4"/>
                </a:solidFill>
                <a:latin typeface="Helvetica Neue" pitchFamily="34" charset="0"/>
                <a:ea typeface="Helvetica Neue" pitchFamily="34" charset="-122"/>
                <a:cs typeface="Helvetica Neue" pitchFamily="34" charset="-120"/>
              </a:rPr>
              <a:t>Next: what actually gets faster with more cores — and what never will.</a:t>
            </a:r>
            <a:endParaRPr lang="en-US" sz="1700" dirty="0"/>
          </a:p>
        </p:txBody>
      </p:sp>
      <p:sp>
        <p:nvSpPr>
          <p:cNvPr id="6" name="Text 4"/>
          <p:cNvSpPr/>
          <p:nvPr/>
        </p:nvSpPr>
        <p:spPr>
          <a:xfrm>
            <a:off x="11155680" y="6400800"/>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C2416"/>
          </a:solidFill>
          <a:ln/>
        </p:spPr>
      </p:sp>
      <p:sp>
        <p:nvSpPr>
          <p:cNvPr id="3" name="Shape 1"/>
          <p:cNvSpPr/>
          <p:nvPr/>
        </p:nvSpPr>
        <p:spPr>
          <a:xfrm>
            <a:off x="0" y="2011680"/>
            <a:ext cx="228600" cy="2011680"/>
          </a:xfrm>
          <a:prstGeom prst="rect">
            <a:avLst/>
          </a:prstGeom>
          <a:solidFill>
            <a:srgbClr val="A8864A"/>
          </a:solidFill>
          <a:ln/>
        </p:spPr>
      </p:sp>
      <p:sp>
        <p:nvSpPr>
          <p:cNvPr id="4" name="Text 2"/>
          <p:cNvSpPr/>
          <p:nvPr/>
        </p:nvSpPr>
        <p:spPr>
          <a:xfrm>
            <a:off x="822960" y="2103120"/>
            <a:ext cx="10515600" cy="365760"/>
          </a:xfrm>
          <a:prstGeom prst="rect">
            <a:avLst/>
          </a:prstGeom>
          <a:noFill/>
          <a:ln/>
        </p:spPr>
        <p:txBody>
          <a:bodyPr wrap="square" lIns="0" tIns="0" rIns="0" bIns="0" rtlCol="0" anchor="t"/>
          <a:lstStyle/>
          <a:p>
            <a:pPr indent="0" marL="0">
              <a:buNone/>
            </a:pPr>
            <a:r>
              <a:rPr lang="en-US" sz="1500" spc="300" kern="0" dirty="0">
                <a:solidFill>
                  <a:srgbClr val="C6A46A"/>
                </a:solidFill>
                <a:latin typeface="Helvetica Neue" pitchFamily="34" charset="0"/>
                <a:ea typeface="Helvetica Neue" pitchFamily="34" charset="-122"/>
                <a:cs typeface="Helvetica Neue" pitchFamily="34" charset="-120"/>
              </a:rPr>
              <a:t>PART III</a:t>
            </a:r>
            <a:endParaRPr lang="en-US" sz="1500" dirty="0"/>
          </a:p>
        </p:txBody>
      </p:sp>
      <p:sp>
        <p:nvSpPr>
          <p:cNvPr id="5" name="Text 3"/>
          <p:cNvSpPr/>
          <p:nvPr/>
        </p:nvSpPr>
        <p:spPr>
          <a:xfrm>
            <a:off x="822960" y="2606040"/>
            <a:ext cx="10515600" cy="822960"/>
          </a:xfrm>
          <a:prstGeom prst="rect">
            <a:avLst/>
          </a:prstGeom>
          <a:noFill/>
          <a:ln/>
        </p:spPr>
        <p:txBody>
          <a:bodyPr wrap="square" lIns="0" tIns="0" rIns="0" bIns="0" rtlCol="0" anchor="t"/>
          <a:lstStyle/>
          <a:p>
            <a:pPr indent="0" marL="0">
              <a:buNone/>
            </a:pPr>
            <a:r>
              <a:rPr lang="en-US" sz="3400" dirty="0">
                <a:solidFill>
                  <a:srgbClr val="FCFAF4"/>
                </a:solidFill>
                <a:latin typeface="Georgia" pitchFamily="34" charset="0"/>
                <a:ea typeface="Georgia" pitchFamily="34" charset="-122"/>
                <a:cs typeface="Georgia" pitchFamily="34" charset="-120"/>
              </a:rPr>
              <a:t>Parallelism</a:t>
            </a:r>
            <a:endParaRPr lang="en-US" sz="3400" dirty="0"/>
          </a:p>
        </p:txBody>
      </p:sp>
      <p:sp>
        <p:nvSpPr>
          <p:cNvPr id="6" name="Text 4"/>
          <p:cNvSpPr/>
          <p:nvPr/>
        </p:nvSpPr>
        <p:spPr>
          <a:xfrm>
            <a:off x="822960" y="3520440"/>
            <a:ext cx="10515600" cy="731520"/>
          </a:xfrm>
          <a:prstGeom prst="rect">
            <a:avLst/>
          </a:prstGeom>
          <a:noFill/>
          <a:ln/>
        </p:spPr>
        <p:txBody>
          <a:bodyPr wrap="square" lIns="0" tIns="0" rIns="0" bIns="0" rtlCol="0" anchor="t"/>
          <a:lstStyle/>
          <a:p>
            <a:pPr indent="0" marL="0">
              <a:buNone/>
            </a:pPr>
            <a:r>
              <a:rPr lang="en-US" sz="1600" dirty="0">
                <a:solidFill>
                  <a:srgbClr val="C9BDA4"/>
                </a:solidFill>
                <a:latin typeface="Helvetica Neue" pitchFamily="34" charset="0"/>
                <a:ea typeface="Helvetica Neue" pitchFamily="34" charset="-122"/>
                <a:cs typeface="Helvetica Neue" pitchFamily="34" charset="-120"/>
              </a:rPr>
              <a:t>Reads scale out — writes never do</a:t>
            </a:r>
            <a:endParaRPr lang="en-US" sz="1600" dirty="0"/>
          </a:p>
        </p:txBody>
      </p:sp>
      <p:sp>
        <p:nvSpPr>
          <p:cNvPr id="7" name="Text 5"/>
          <p:cNvSpPr/>
          <p:nvPr/>
        </p:nvSpPr>
        <p:spPr>
          <a:xfrm>
            <a:off x="822960" y="4434840"/>
            <a:ext cx="10515600" cy="1828800"/>
          </a:xfrm>
          <a:prstGeom prst="rect">
            <a:avLst/>
          </a:prstGeom>
          <a:noFill/>
          <a:ln/>
        </p:spPr>
        <p:txBody>
          <a:bodyPr wrap="square" lIns="0" tIns="0" rIns="0" bIns="0" rtlCol="0" anchor="t"/>
          <a:lstStyle/>
          <a:p>
            <a:pPr indent="0" marL="0">
              <a:buNone/>
            </a:pPr>
            <a:r>
              <a:rPr lang="en-US" sz="1400" dirty="0">
                <a:solidFill>
                  <a:srgbClr val="C9BDA4"/>
                </a:solidFill>
                <a:latin typeface="Helvetica Neue" pitchFamily="34" charset="0"/>
                <a:ea typeface="Helvetica Neue" pitchFamily="34" charset="-122"/>
                <a:cs typeface="Helvetica Neue" pitchFamily="34" charset="-120"/>
              </a:rPr>
              <a:t>Reads parallelize freely: every peer, every core, over an immutable value that nothing can change mid-read. Writes never parallelize: one door, by design. Most parallelism mistakes are just looking for it on the wrong side.</a:t>
            </a:r>
            <a:endParaRPr lang="en-US" sz="1400" dirty="0"/>
          </a:p>
        </p:txBody>
      </p:sp>
      <p:sp>
        <p:nvSpPr>
          <p:cNvPr id="8" name="Text 6"/>
          <p:cNvSpPr/>
          <p:nvPr/>
        </p:nvSpPr>
        <p:spPr>
          <a:xfrm>
            <a:off x="11155680" y="6400800"/>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III · PARALLELISM</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17</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One word, two sides</a:t>
            </a:r>
            <a:endParaRPr lang="en-US" sz="2500" dirty="0"/>
          </a:p>
        </p:txBody>
      </p:sp>
      <p:sp>
        <p:nvSpPr>
          <p:cNvPr id="8" name="Shape 5"/>
          <p:cNvSpPr/>
          <p:nvPr/>
        </p:nvSpPr>
        <p:spPr>
          <a:xfrm>
            <a:off x="548640" y="1371600"/>
            <a:ext cx="5349240" cy="3383280"/>
          </a:xfrm>
          <a:prstGeom prst="roundRect">
            <a:avLst>
              <a:gd name="adj" fmla="val 2162"/>
            </a:avLst>
          </a:prstGeom>
          <a:solidFill>
            <a:srgbClr val="E6DFCE"/>
          </a:solidFill>
          <a:ln/>
        </p:spPr>
      </p:sp>
      <p:sp>
        <p:nvSpPr>
          <p:cNvPr id="9" name="Shape 6"/>
          <p:cNvSpPr/>
          <p:nvPr/>
        </p:nvSpPr>
        <p:spPr>
          <a:xfrm>
            <a:off x="548640" y="1371600"/>
            <a:ext cx="5349240" cy="384048"/>
          </a:xfrm>
          <a:prstGeom prst="roundRect">
            <a:avLst>
              <a:gd name="adj" fmla="val 19048"/>
            </a:avLst>
          </a:prstGeom>
          <a:solidFill>
            <a:srgbClr val="EDE0C4"/>
          </a:solidFill>
          <a:ln/>
        </p:spPr>
      </p:sp>
      <p:sp>
        <p:nvSpPr>
          <p:cNvPr id="10" name="Text 7"/>
          <p:cNvSpPr/>
          <p:nvPr/>
        </p:nvSpPr>
        <p:spPr>
          <a:xfrm>
            <a:off x="749808" y="1371600"/>
            <a:ext cx="4946904" cy="384048"/>
          </a:xfrm>
          <a:prstGeom prst="rect">
            <a:avLst/>
          </a:prstGeom>
          <a:noFill/>
          <a:ln/>
        </p:spPr>
        <p:txBody>
          <a:bodyPr wrap="square" lIns="0" tIns="0" rIns="0" bIns="0" rtlCol="0" anchor="ctr">
            <a:normAutofit/>
          </a:bodyPr>
          <a:lstStyle/>
          <a:p>
            <a:pPr indent="0" marL="0">
              <a:buNone/>
            </a:pPr>
            <a:r>
              <a:rPr lang="en-US" sz="1250" b="1" spc="100" kern="0" dirty="0">
                <a:solidFill>
                  <a:srgbClr val="B5822B"/>
                </a:solidFill>
                <a:latin typeface="Helvetica Neue" pitchFamily="34" charset="0"/>
                <a:ea typeface="Helvetica Neue" pitchFamily="34" charset="-122"/>
                <a:cs typeface="Helvetica Neue" pitchFamily="34" charset="-120"/>
              </a:rPr>
              <a:t>WRITES</a:t>
            </a:r>
            <a:endParaRPr lang="en-US" sz="1250" dirty="0"/>
          </a:p>
        </p:txBody>
      </p:sp>
      <p:sp>
        <p:nvSpPr>
          <p:cNvPr id="11" name="Shape 8"/>
          <p:cNvSpPr/>
          <p:nvPr/>
        </p:nvSpPr>
        <p:spPr>
          <a:xfrm>
            <a:off x="822960" y="1965960"/>
            <a:ext cx="4800600" cy="731520"/>
          </a:xfrm>
          <a:prstGeom prst="roundRect">
            <a:avLst>
              <a:gd name="adj" fmla="val 7500"/>
            </a:avLst>
          </a:prstGeom>
          <a:solidFill>
            <a:srgbClr val="EDE0C4"/>
          </a:solidFill>
          <a:ln w="15875">
            <a:solidFill>
              <a:srgbClr val="B5822B"/>
            </a:solidFill>
            <a:prstDash val="solid"/>
          </a:ln>
        </p:spPr>
      </p:sp>
      <p:sp>
        <p:nvSpPr>
          <p:cNvPr id="12" name="Text 9"/>
          <p:cNvSpPr/>
          <p:nvPr/>
        </p:nvSpPr>
        <p:spPr>
          <a:xfrm>
            <a:off x="896112" y="1965960"/>
            <a:ext cx="4654296" cy="731520"/>
          </a:xfrm>
          <a:prstGeom prst="rect">
            <a:avLst/>
          </a:prstGeom>
          <a:noFill/>
          <a:ln/>
        </p:spPr>
        <p:txBody>
          <a:bodyPr wrap="square" lIns="0" tIns="0" rIns="0" bIns="0" rtlCol="0" anchor="ctr">
            <a:normAutofit/>
          </a:bodyPr>
          <a:lstStyle/>
          <a:p>
            <a:pPr algn="ctr" indent="0" marL="0">
              <a:buNone/>
            </a:pPr>
            <a:r>
              <a:rPr lang="en-US" sz="1500" b="1" dirty="0">
                <a:solidFill>
                  <a:srgbClr val="3A2C1A"/>
                </a:solidFill>
                <a:latin typeface="Helvetica Neue" pitchFamily="34" charset="0"/>
                <a:ea typeface="Helvetica Neue" pitchFamily="34" charset="-122"/>
                <a:cs typeface="Helvetica Neue" pitchFamily="34" charset="-120"/>
              </a:rPr>
              <a:t>one process, serial</a:t>
            </a:r>
            <a:endParaRPr lang="en-US" sz="1500" dirty="0"/>
          </a:p>
        </p:txBody>
      </p:sp>
      <p:sp>
        <p:nvSpPr>
          <p:cNvPr id="13" name="Text 10"/>
          <p:cNvSpPr/>
          <p:nvPr/>
        </p:nvSpPr>
        <p:spPr>
          <a:xfrm>
            <a:off x="914400" y="2926080"/>
            <a:ext cx="4663440" cy="91440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6B5A44"/>
                </a:solidFill>
                <a:latin typeface="Helvetica Neue" pitchFamily="34" charset="0"/>
                <a:ea typeface="Helvetica Neue" pitchFamily="34" charset="-122"/>
                <a:cs typeface="Helvetica Neue" pitchFamily="34" charset="-120"/>
              </a:rPr>
              <a:t>cannot be parallelized — by design</a:t>
            </a:r>
            <a:endParaRPr lang="en-US" sz="1300" dirty="0"/>
          </a:p>
          <a:p>
            <a:pPr marL="342900" indent="-342900">
              <a:spcAft>
                <a:spcPts val="800"/>
              </a:spcAft>
              <a:buSzPct val="100000"/>
              <a:buChar char="•"/>
            </a:pPr>
            <a:r>
              <a:rPr lang="en-US" sz="1300" dirty="0">
                <a:solidFill>
                  <a:srgbClr val="6B5A44"/>
                </a:solidFill>
                <a:latin typeface="Helvetica Neue" pitchFamily="34" charset="0"/>
                <a:ea typeface="Helvetica Neue" pitchFamily="34" charset="-122"/>
                <a:cs typeface="Helvetica Neue" pitchFamily="34" charset="-120"/>
              </a:rPr>
              <a:t>lever: batch, and keep it busy</a:t>
            </a:r>
            <a:endParaRPr lang="en-US" sz="1300" dirty="0"/>
          </a:p>
        </p:txBody>
      </p:sp>
      <p:sp>
        <p:nvSpPr>
          <p:cNvPr id="14" name="Text 11"/>
          <p:cNvSpPr/>
          <p:nvPr/>
        </p:nvSpPr>
        <p:spPr>
          <a:xfrm>
            <a:off x="822960" y="4160520"/>
            <a:ext cx="4800600" cy="320040"/>
          </a:xfrm>
          <a:prstGeom prst="rect">
            <a:avLst/>
          </a:prstGeom>
          <a:noFill/>
          <a:ln/>
        </p:spPr>
        <p:txBody>
          <a:bodyPr wrap="square" lIns="0" tIns="0" rIns="0" bIns="0" rtlCol="0" anchor="t"/>
          <a:lstStyle/>
          <a:p>
            <a:pPr algn="ctr" indent="0" marL="0">
              <a:buNone/>
            </a:pPr>
            <a:r>
              <a:rPr lang="en-US" sz="1200" i="1" dirty="0">
                <a:solidFill>
                  <a:srgbClr val="9A8A72"/>
                </a:solidFill>
                <a:latin typeface="Helvetica Neue" pitchFamily="34" charset="0"/>
                <a:ea typeface="Helvetica Neue" pitchFamily="34" charset="-122"/>
                <a:cs typeface="Helvetica Neue" pitchFamily="34" charset="-120"/>
              </a:rPr>
              <a:t>(Part II)</a:t>
            </a:r>
            <a:endParaRPr lang="en-US" sz="1200" dirty="0"/>
          </a:p>
        </p:txBody>
      </p:sp>
      <p:sp>
        <p:nvSpPr>
          <p:cNvPr id="15" name="Shape 12"/>
          <p:cNvSpPr/>
          <p:nvPr/>
        </p:nvSpPr>
        <p:spPr>
          <a:xfrm>
            <a:off x="6263640" y="1371600"/>
            <a:ext cx="5349240" cy="3383280"/>
          </a:xfrm>
          <a:prstGeom prst="roundRect">
            <a:avLst>
              <a:gd name="adj" fmla="val 2162"/>
            </a:avLst>
          </a:prstGeom>
          <a:solidFill>
            <a:srgbClr val="E6DFCE"/>
          </a:solidFill>
          <a:ln/>
        </p:spPr>
      </p:sp>
      <p:sp>
        <p:nvSpPr>
          <p:cNvPr id="16" name="Shape 13"/>
          <p:cNvSpPr/>
          <p:nvPr/>
        </p:nvSpPr>
        <p:spPr>
          <a:xfrm>
            <a:off x="6263640" y="1371600"/>
            <a:ext cx="5349240" cy="384048"/>
          </a:xfrm>
          <a:prstGeom prst="roundRect">
            <a:avLst>
              <a:gd name="adj" fmla="val 19048"/>
            </a:avLst>
          </a:prstGeom>
          <a:solidFill>
            <a:srgbClr val="D3DEE1"/>
          </a:solidFill>
          <a:ln/>
        </p:spPr>
      </p:sp>
      <p:sp>
        <p:nvSpPr>
          <p:cNvPr id="17" name="Text 14"/>
          <p:cNvSpPr/>
          <p:nvPr/>
        </p:nvSpPr>
        <p:spPr>
          <a:xfrm>
            <a:off x="6464808" y="1371600"/>
            <a:ext cx="4946904" cy="384048"/>
          </a:xfrm>
          <a:prstGeom prst="rect">
            <a:avLst/>
          </a:prstGeom>
          <a:noFill/>
          <a:ln/>
        </p:spPr>
        <p:txBody>
          <a:bodyPr wrap="square" lIns="0" tIns="0" rIns="0" bIns="0" rtlCol="0" anchor="ctr">
            <a:normAutofit/>
          </a:bodyPr>
          <a:lstStyle/>
          <a:p>
            <a:pPr indent="0" marL="0">
              <a:buNone/>
            </a:pPr>
            <a:r>
              <a:rPr lang="en-US" sz="1250" b="1" spc="100" kern="0" dirty="0">
                <a:solidFill>
                  <a:srgbClr val="3F6470"/>
                </a:solidFill>
                <a:latin typeface="Helvetica Neue" pitchFamily="34" charset="0"/>
                <a:ea typeface="Helvetica Neue" pitchFamily="34" charset="-122"/>
                <a:cs typeface="Helvetica Neue" pitchFamily="34" charset="-120"/>
              </a:rPr>
              <a:t>READS</a:t>
            </a:r>
            <a:endParaRPr lang="en-US" sz="1250" dirty="0"/>
          </a:p>
        </p:txBody>
      </p:sp>
      <p:sp>
        <p:nvSpPr>
          <p:cNvPr id="18" name="Shape 15"/>
          <p:cNvSpPr/>
          <p:nvPr/>
        </p:nvSpPr>
        <p:spPr>
          <a:xfrm>
            <a:off x="6537960" y="1965960"/>
            <a:ext cx="1097280" cy="731520"/>
          </a:xfrm>
          <a:prstGeom prst="roundRect">
            <a:avLst>
              <a:gd name="adj" fmla="val 7500"/>
            </a:avLst>
          </a:prstGeom>
          <a:solidFill>
            <a:srgbClr val="D3DEE1"/>
          </a:solidFill>
          <a:ln w="15875">
            <a:solidFill>
              <a:srgbClr val="3F6470"/>
            </a:solidFill>
            <a:prstDash val="solid"/>
          </a:ln>
        </p:spPr>
      </p:sp>
      <p:sp>
        <p:nvSpPr>
          <p:cNvPr id="19" name="Text 16"/>
          <p:cNvSpPr/>
          <p:nvPr/>
        </p:nvSpPr>
        <p:spPr>
          <a:xfrm>
            <a:off x="6611112" y="1965960"/>
            <a:ext cx="950976" cy="731520"/>
          </a:xfrm>
          <a:prstGeom prst="rect">
            <a:avLst/>
          </a:prstGeom>
          <a:noFill/>
          <a:ln/>
        </p:spPr>
        <p:txBody>
          <a:bodyPr wrap="square" lIns="0" tIns="0" rIns="0" bIns="0" rtlCol="0" anchor="ctr">
            <a:normAutofit/>
          </a:bodyPr>
          <a:lstStyle/>
          <a:p>
            <a:pPr algn="ctr" indent="0" marL="0">
              <a:buNone/>
            </a:pPr>
            <a:r>
              <a:rPr lang="en-US" sz="1100" b="1" dirty="0">
                <a:solidFill>
                  <a:srgbClr val="3A2C1A"/>
                </a:solidFill>
                <a:latin typeface="Helvetica Neue" pitchFamily="34" charset="0"/>
                <a:ea typeface="Helvetica Neue" pitchFamily="34" charset="-122"/>
                <a:cs typeface="Helvetica Neue" pitchFamily="34" charset="-120"/>
              </a:rPr>
              <a:t>core</a:t>
            </a:r>
            <a:endParaRPr lang="en-US" sz="1100" dirty="0"/>
          </a:p>
        </p:txBody>
      </p:sp>
      <p:sp>
        <p:nvSpPr>
          <p:cNvPr id="20" name="Shape 17"/>
          <p:cNvSpPr/>
          <p:nvPr/>
        </p:nvSpPr>
        <p:spPr>
          <a:xfrm>
            <a:off x="7772400" y="1965960"/>
            <a:ext cx="1097280" cy="731520"/>
          </a:xfrm>
          <a:prstGeom prst="roundRect">
            <a:avLst>
              <a:gd name="adj" fmla="val 7500"/>
            </a:avLst>
          </a:prstGeom>
          <a:solidFill>
            <a:srgbClr val="D3DEE1"/>
          </a:solidFill>
          <a:ln w="15875">
            <a:solidFill>
              <a:srgbClr val="3F6470"/>
            </a:solidFill>
            <a:prstDash val="solid"/>
          </a:ln>
        </p:spPr>
      </p:sp>
      <p:sp>
        <p:nvSpPr>
          <p:cNvPr id="21" name="Text 18"/>
          <p:cNvSpPr/>
          <p:nvPr/>
        </p:nvSpPr>
        <p:spPr>
          <a:xfrm>
            <a:off x="7845552" y="1965960"/>
            <a:ext cx="950976" cy="731520"/>
          </a:xfrm>
          <a:prstGeom prst="rect">
            <a:avLst/>
          </a:prstGeom>
          <a:noFill/>
          <a:ln/>
        </p:spPr>
        <p:txBody>
          <a:bodyPr wrap="square" lIns="0" tIns="0" rIns="0" bIns="0" rtlCol="0" anchor="ctr">
            <a:normAutofit/>
          </a:bodyPr>
          <a:lstStyle/>
          <a:p>
            <a:pPr algn="ctr" indent="0" marL="0">
              <a:buNone/>
            </a:pPr>
            <a:r>
              <a:rPr lang="en-US" sz="1100" b="1" dirty="0">
                <a:solidFill>
                  <a:srgbClr val="3A2C1A"/>
                </a:solidFill>
                <a:latin typeface="Helvetica Neue" pitchFamily="34" charset="0"/>
                <a:ea typeface="Helvetica Neue" pitchFamily="34" charset="-122"/>
                <a:cs typeface="Helvetica Neue" pitchFamily="34" charset="-120"/>
              </a:rPr>
              <a:t>core</a:t>
            </a:r>
            <a:endParaRPr lang="en-US" sz="1100" dirty="0"/>
          </a:p>
        </p:txBody>
      </p:sp>
      <p:sp>
        <p:nvSpPr>
          <p:cNvPr id="22" name="Shape 19"/>
          <p:cNvSpPr/>
          <p:nvPr/>
        </p:nvSpPr>
        <p:spPr>
          <a:xfrm>
            <a:off x="9006840" y="1965960"/>
            <a:ext cx="1097280" cy="731520"/>
          </a:xfrm>
          <a:prstGeom prst="roundRect">
            <a:avLst>
              <a:gd name="adj" fmla="val 7500"/>
            </a:avLst>
          </a:prstGeom>
          <a:solidFill>
            <a:srgbClr val="D3DEE1"/>
          </a:solidFill>
          <a:ln w="15875">
            <a:solidFill>
              <a:srgbClr val="3F6470"/>
            </a:solidFill>
            <a:prstDash val="solid"/>
          </a:ln>
        </p:spPr>
      </p:sp>
      <p:sp>
        <p:nvSpPr>
          <p:cNvPr id="23" name="Text 20"/>
          <p:cNvSpPr/>
          <p:nvPr/>
        </p:nvSpPr>
        <p:spPr>
          <a:xfrm>
            <a:off x="9079992" y="1965960"/>
            <a:ext cx="950976" cy="731520"/>
          </a:xfrm>
          <a:prstGeom prst="rect">
            <a:avLst/>
          </a:prstGeom>
          <a:noFill/>
          <a:ln/>
        </p:spPr>
        <p:txBody>
          <a:bodyPr wrap="square" lIns="0" tIns="0" rIns="0" bIns="0" rtlCol="0" anchor="ctr">
            <a:normAutofit/>
          </a:bodyPr>
          <a:lstStyle/>
          <a:p>
            <a:pPr algn="ctr" indent="0" marL="0">
              <a:buNone/>
            </a:pPr>
            <a:r>
              <a:rPr lang="en-US" sz="1100" b="1" dirty="0">
                <a:solidFill>
                  <a:srgbClr val="3A2C1A"/>
                </a:solidFill>
                <a:latin typeface="Helvetica Neue" pitchFamily="34" charset="0"/>
                <a:ea typeface="Helvetica Neue" pitchFamily="34" charset="-122"/>
                <a:cs typeface="Helvetica Neue" pitchFamily="34" charset="-120"/>
              </a:rPr>
              <a:t>core</a:t>
            </a:r>
            <a:endParaRPr lang="en-US" sz="1100" dirty="0"/>
          </a:p>
        </p:txBody>
      </p:sp>
      <p:sp>
        <p:nvSpPr>
          <p:cNvPr id="24" name="Shape 21"/>
          <p:cNvSpPr/>
          <p:nvPr/>
        </p:nvSpPr>
        <p:spPr>
          <a:xfrm>
            <a:off x="10241280" y="1965960"/>
            <a:ext cx="1097280" cy="731520"/>
          </a:xfrm>
          <a:prstGeom prst="roundRect">
            <a:avLst>
              <a:gd name="adj" fmla="val 7500"/>
            </a:avLst>
          </a:prstGeom>
          <a:solidFill>
            <a:srgbClr val="D3DEE1"/>
          </a:solidFill>
          <a:ln w="15875">
            <a:solidFill>
              <a:srgbClr val="3F6470"/>
            </a:solidFill>
            <a:prstDash val="solid"/>
          </a:ln>
        </p:spPr>
      </p:sp>
      <p:sp>
        <p:nvSpPr>
          <p:cNvPr id="25" name="Text 22"/>
          <p:cNvSpPr/>
          <p:nvPr/>
        </p:nvSpPr>
        <p:spPr>
          <a:xfrm>
            <a:off x="10314432" y="1965960"/>
            <a:ext cx="950976" cy="731520"/>
          </a:xfrm>
          <a:prstGeom prst="rect">
            <a:avLst/>
          </a:prstGeom>
          <a:noFill/>
          <a:ln/>
        </p:spPr>
        <p:txBody>
          <a:bodyPr wrap="square" lIns="0" tIns="0" rIns="0" bIns="0" rtlCol="0" anchor="ctr">
            <a:normAutofit/>
          </a:bodyPr>
          <a:lstStyle/>
          <a:p>
            <a:pPr algn="ctr" indent="0" marL="0">
              <a:buNone/>
            </a:pPr>
            <a:r>
              <a:rPr lang="en-US" sz="1100" b="1" dirty="0">
                <a:solidFill>
                  <a:srgbClr val="3A2C1A"/>
                </a:solidFill>
                <a:latin typeface="Helvetica Neue" pitchFamily="34" charset="0"/>
                <a:ea typeface="Helvetica Neue" pitchFamily="34" charset="-122"/>
                <a:cs typeface="Helvetica Neue" pitchFamily="34" charset="-120"/>
              </a:rPr>
              <a:t>core</a:t>
            </a:r>
            <a:endParaRPr lang="en-US" sz="1100" dirty="0"/>
          </a:p>
        </p:txBody>
      </p:sp>
      <p:sp>
        <p:nvSpPr>
          <p:cNvPr id="26" name="Text 23"/>
          <p:cNvSpPr/>
          <p:nvPr/>
        </p:nvSpPr>
        <p:spPr>
          <a:xfrm>
            <a:off x="6629400" y="2926080"/>
            <a:ext cx="4663440" cy="91440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6B5A44"/>
                </a:solidFill>
                <a:latin typeface="Helvetica Neue" pitchFamily="34" charset="0"/>
                <a:ea typeface="Helvetica Neue" pitchFamily="34" charset="-122"/>
                <a:cs typeface="Helvetica Neue" pitchFamily="34" charset="-120"/>
              </a:rPr>
              <a:t>parallel by default — no locks</a:t>
            </a:r>
            <a:endParaRPr lang="en-US" sz="1300" dirty="0"/>
          </a:p>
          <a:p>
            <a:pPr marL="342900" indent="-342900">
              <a:spcAft>
                <a:spcPts val="800"/>
              </a:spcAft>
              <a:buSzPct val="100000"/>
              <a:buChar char="•"/>
            </a:pPr>
            <a:r>
              <a:rPr lang="en-US" sz="1300" dirty="0">
                <a:solidFill>
                  <a:srgbClr val="6B5A44"/>
                </a:solidFill>
                <a:latin typeface="Helvetica Neue" pitchFamily="34" charset="0"/>
                <a:ea typeface="Helvetica Neue" pitchFamily="34" charset="-122"/>
                <a:cs typeface="Helvetica Neue" pitchFamily="34" charset="-120"/>
              </a:rPr>
              <a:t>lever: split the work up</a:t>
            </a:r>
            <a:endParaRPr lang="en-US" sz="1300" dirty="0"/>
          </a:p>
        </p:txBody>
      </p:sp>
      <p:sp>
        <p:nvSpPr>
          <p:cNvPr id="27" name="Text 24"/>
          <p:cNvSpPr/>
          <p:nvPr/>
        </p:nvSpPr>
        <p:spPr>
          <a:xfrm>
            <a:off x="6537960" y="4160520"/>
            <a:ext cx="4800600" cy="320040"/>
          </a:xfrm>
          <a:prstGeom prst="rect">
            <a:avLst/>
          </a:prstGeom>
          <a:noFill/>
          <a:ln/>
        </p:spPr>
        <p:txBody>
          <a:bodyPr wrap="square" lIns="0" tIns="0" rIns="0" bIns="0" rtlCol="0" anchor="t"/>
          <a:lstStyle/>
          <a:p>
            <a:pPr algn="ctr" indent="0" marL="0">
              <a:buNone/>
            </a:pPr>
            <a:r>
              <a:rPr lang="en-US" sz="1200" i="1" dirty="0">
                <a:solidFill>
                  <a:srgbClr val="9A8A72"/>
                </a:solidFill>
                <a:latin typeface="Helvetica Neue" pitchFamily="34" charset="0"/>
                <a:ea typeface="Helvetica Neue" pitchFamily="34" charset="-122"/>
                <a:cs typeface="Helvetica Neue" pitchFamily="34" charset="-120"/>
              </a:rPr>
              <a:t>(next two slides)</a:t>
            </a:r>
            <a:endParaRPr lang="en-US" sz="1200" dirty="0"/>
          </a:p>
        </p:txBody>
      </p:sp>
      <p:sp>
        <p:nvSpPr>
          <p:cNvPr id="28" name="Shape 25"/>
          <p:cNvSpPr/>
          <p:nvPr/>
        </p:nvSpPr>
        <p:spPr>
          <a:xfrm>
            <a:off x="548640" y="4983480"/>
            <a:ext cx="11064240" cy="868680"/>
          </a:xfrm>
          <a:prstGeom prst="roundRect">
            <a:avLst>
              <a:gd name="adj" fmla="val 8421"/>
            </a:avLst>
          </a:prstGeom>
          <a:solidFill>
            <a:srgbClr val="E6DFCE"/>
          </a:solidFill>
          <a:ln/>
        </p:spPr>
      </p:sp>
      <p:sp>
        <p:nvSpPr>
          <p:cNvPr id="29" name="Text 26"/>
          <p:cNvSpPr/>
          <p:nvPr/>
        </p:nvSpPr>
        <p:spPr>
          <a:xfrm>
            <a:off x="822960" y="4983480"/>
            <a:ext cx="10515600" cy="86868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Why reads are safe to parallelize: a db is an immutable VALUE — nothing can change under a reader.</a:t>
            </a:r>
            <a:endParaRPr lang="en-US" sz="1450" dirty="0"/>
          </a:p>
        </p:txBody>
      </p:sp>
      <p:sp>
        <p:nvSpPr>
          <p:cNvPr id="30" name="Shape 27"/>
          <p:cNvSpPr/>
          <p:nvPr/>
        </p:nvSpPr>
        <p:spPr>
          <a:xfrm>
            <a:off x="548640" y="6419088"/>
            <a:ext cx="54864" cy="292608"/>
          </a:xfrm>
          <a:prstGeom prst="rect">
            <a:avLst/>
          </a:prstGeom>
          <a:solidFill>
            <a:srgbClr val="A8864A"/>
          </a:solidFill>
          <a:ln/>
        </p:spPr>
      </p:sp>
      <p:sp>
        <p:nvSpPr>
          <p:cNvPr id="31" name="Text 28"/>
          <p:cNvSpPr/>
          <p:nvPr/>
        </p:nvSpPr>
        <p:spPr>
          <a:xfrm>
            <a:off x="713232" y="6382512"/>
            <a:ext cx="658368" cy="365760"/>
          </a:xfrm>
          <a:prstGeom prst="rect">
            <a:avLst/>
          </a:prstGeom>
          <a:noFill/>
          <a:ln/>
        </p:spPr>
        <p:txBody>
          <a:bodyPr wrap="square" lIns="0" tIns="0" rIns="0" bIns="0" rtlCol="0" anchor="ctr"/>
          <a:lstStyle/>
          <a:p>
            <a:pPr indent="0" marL="0">
              <a:buNone/>
            </a:pPr>
            <a:r>
              <a:rPr lang="en-US" sz="900" b="1" spc="100" kern="0" dirty="0">
                <a:solidFill>
                  <a:srgbClr val="A8864A"/>
                </a:solidFill>
                <a:latin typeface="Helvetica Neue" pitchFamily="34" charset="0"/>
                <a:ea typeface="Helvetica Neue" pitchFamily="34" charset="-122"/>
                <a:cs typeface="Helvetica Neue" pitchFamily="34" charset="-120"/>
              </a:rPr>
              <a:t>CASES</a:t>
            </a:r>
            <a:endParaRPr lang="en-US" sz="900" dirty="0"/>
          </a:p>
        </p:txBody>
      </p:sp>
      <p:sp>
        <p:nvSpPr>
          <p:cNvPr id="32" name="Text 29"/>
          <p:cNvSpPr/>
          <p:nvPr/>
        </p:nvSpPr>
        <p:spPr>
          <a:xfrm>
            <a:off x="1463040" y="6382512"/>
            <a:ext cx="9509760" cy="365760"/>
          </a:xfrm>
          <a:prstGeom prst="rect">
            <a:avLst/>
          </a:prstGeom>
          <a:noFill/>
          <a:ln/>
        </p:spPr>
        <p:txBody>
          <a:bodyPr wrap="square" lIns="0" tIns="0" rIns="0" bIns="0" rtlCol="0" anchor="ctr"/>
          <a:lstStyle/>
          <a:p>
            <a:pPr indent="0" marL="0">
              <a:buNone/>
            </a:pPr>
            <a:r>
              <a:rPr lang="en-US" sz="1100" dirty="0">
                <a:solidFill>
                  <a:srgbClr val="6B5A44"/>
                </a:solidFill>
                <a:latin typeface="Helvetica Neue" pitchFamily="34" charset="0"/>
                <a:ea typeface="Helvetica Neue" pitchFamily="34" charset="-122"/>
                <a:cs typeface="Helvetica Neue" pitchFamily="34" charset="-120"/>
              </a:rPr>
              <a:t>"Can we parallelize this?" — first ask: read side or write side?   ·   No locks, no snapshots, no read transactions — a value can't move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III · PARALLELISM</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18</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Easy example · split a big read</a:t>
            </a:r>
            <a:endParaRPr lang="en-US" sz="2500" dirty="0"/>
          </a:p>
        </p:txBody>
      </p:sp>
      <p:sp>
        <p:nvSpPr>
          <p:cNvPr id="8" name="Text 5"/>
          <p:cNvSpPr/>
          <p:nvPr/>
        </p:nvSpPr>
        <p:spPr>
          <a:xfrm>
            <a:off x="548640" y="1325880"/>
            <a:ext cx="11064240" cy="274320"/>
          </a:xfrm>
          <a:prstGeom prst="rect">
            <a:avLst/>
          </a:prstGeom>
          <a:noFill/>
          <a:ln/>
        </p:spPr>
        <p:txBody>
          <a:bodyPr wrap="square" lIns="0" tIns="0" rIns="0" bIns="0" rtlCol="0" anchor="t"/>
          <a:lstStyle/>
          <a:p>
            <a:pPr indent="0" marL="0">
              <a:buNone/>
            </a:pPr>
            <a:r>
              <a:rPr lang="en-US" sz="1300" dirty="0">
                <a:solidFill>
                  <a:srgbClr val="9A8A72"/>
                </a:solidFill>
                <a:latin typeface="Helvetica Neue" pitchFamily="34" charset="0"/>
                <a:ea typeface="Helvetica Neue" pitchFamily="34" charset="-122"/>
                <a:cs typeface="Helvetica Neue" pitchFamily="34" charset="-120"/>
              </a:rPr>
              <a:t>100,000 readings, cut into 8 slices along the index</a:t>
            </a:r>
            <a:endParaRPr lang="en-US" sz="1300" dirty="0"/>
          </a:p>
        </p:txBody>
      </p:sp>
      <p:sp>
        <p:nvSpPr>
          <p:cNvPr id="9" name="Shape 6"/>
          <p:cNvSpPr/>
          <p:nvPr/>
        </p:nvSpPr>
        <p:spPr>
          <a:xfrm>
            <a:off x="548640" y="1691640"/>
            <a:ext cx="1280160" cy="530352"/>
          </a:xfrm>
          <a:prstGeom prst="roundRect">
            <a:avLst>
              <a:gd name="adj" fmla="val 13793"/>
            </a:avLst>
          </a:prstGeom>
          <a:solidFill>
            <a:srgbClr val="D3DEE1"/>
          </a:solidFill>
          <a:ln/>
        </p:spPr>
      </p:sp>
      <p:sp>
        <p:nvSpPr>
          <p:cNvPr id="10" name="Text 7"/>
          <p:cNvSpPr/>
          <p:nvPr/>
        </p:nvSpPr>
        <p:spPr>
          <a:xfrm>
            <a:off x="548640" y="1691640"/>
            <a:ext cx="1280160" cy="530352"/>
          </a:xfrm>
          <a:prstGeom prst="rect">
            <a:avLst/>
          </a:prstGeom>
          <a:noFill/>
          <a:ln/>
        </p:spPr>
        <p:txBody>
          <a:bodyPr wrap="square" lIns="0" tIns="0" rIns="0" bIns="0" rtlCol="0" anchor="ctr"/>
          <a:lstStyle/>
          <a:p>
            <a:pPr algn="ctr" indent="0" marL="0">
              <a:buNone/>
            </a:pPr>
            <a:r>
              <a:rPr lang="en-US" sz="1150" dirty="0">
                <a:solidFill>
                  <a:srgbClr val="3F6470"/>
                </a:solidFill>
                <a:latin typeface="Helvetica Neue" pitchFamily="34" charset="0"/>
                <a:ea typeface="Helvetica Neue" pitchFamily="34" charset="-122"/>
                <a:cs typeface="Helvetica Neue" pitchFamily="34" charset="-120"/>
              </a:rPr>
              <a:t>slice 1</a:t>
            </a:r>
            <a:endParaRPr lang="en-US" sz="1150" dirty="0"/>
          </a:p>
        </p:txBody>
      </p:sp>
      <p:sp>
        <p:nvSpPr>
          <p:cNvPr id="11" name="Shape 8"/>
          <p:cNvSpPr/>
          <p:nvPr/>
        </p:nvSpPr>
        <p:spPr>
          <a:xfrm>
            <a:off x="1188720" y="2221992"/>
            <a:ext cx="0" cy="338328"/>
          </a:xfrm>
          <a:prstGeom prst="line">
            <a:avLst/>
          </a:prstGeom>
          <a:noFill/>
          <a:ln w="13970">
            <a:solidFill>
              <a:srgbClr val="3F6470"/>
            </a:solidFill>
            <a:prstDash val="solid"/>
            <a:headEnd type="none"/>
            <a:tailEnd type="triangle"/>
          </a:ln>
        </p:spPr>
      </p:sp>
      <p:sp>
        <p:nvSpPr>
          <p:cNvPr id="12" name="Shape 9"/>
          <p:cNvSpPr/>
          <p:nvPr/>
        </p:nvSpPr>
        <p:spPr>
          <a:xfrm>
            <a:off x="548640" y="2560320"/>
            <a:ext cx="1280160" cy="292608"/>
          </a:xfrm>
          <a:prstGeom prst="roundRect">
            <a:avLst>
              <a:gd name="adj" fmla="val 25000"/>
            </a:avLst>
          </a:prstGeom>
          <a:solidFill>
            <a:srgbClr val="3F6470"/>
          </a:solidFill>
          <a:ln/>
        </p:spPr>
      </p:sp>
      <p:sp>
        <p:nvSpPr>
          <p:cNvPr id="13" name="Text 10"/>
          <p:cNvSpPr/>
          <p:nvPr/>
        </p:nvSpPr>
        <p:spPr>
          <a:xfrm>
            <a:off x="548640" y="2560320"/>
            <a:ext cx="1280160" cy="292608"/>
          </a:xfrm>
          <a:prstGeom prst="rect">
            <a:avLst/>
          </a:prstGeom>
          <a:noFill/>
          <a:ln/>
        </p:spPr>
        <p:txBody>
          <a:bodyPr wrap="square" lIns="0" tIns="0" rIns="0" bIns="0" rtlCol="0" anchor="ctr"/>
          <a:lstStyle/>
          <a:p>
            <a:pPr algn="ctr" indent="0" marL="0">
              <a:buNone/>
            </a:pPr>
            <a:r>
              <a:rPr lang="en-US" sz="1000" dirty="0">
                <a:solidFill>
                  <a:srgbClr val="FCFAF4"/>
                </a:solidFill>
                <a:latin typeface="Helvetica Neue" pitchFamily="34" charset="0"/>
                <a:ea typeface="Helvetica Neue" pitchFamily="34" charset="-122"/>
                <a:cs typeface="Helvetica Neue" pitchFamily="34" charset="-120"/>
              </a:rPr>
              <a:t>core</a:t>
            </a:r>
            <a:endParaRPr lang="en-US" sz="1000" dirty="0"/>
          </a:p>
        </p:txBody>
      </p:sp>
      <p:sp>
        <p:nvSpPr>
          <p:cNvPr id="14" name="Shape 11"/>
          <p:cNvSpPr/>
          <p:nvPr/>
        </p:nvSpPr>
        <p:spPr>
          <a:xfrm>
            <a:off x="1938528" y="1691640"/>
            <a:ext cx="1280160" cy="530352"/>
          </a:xfrm>
          <a:prstGeom prst="roundRect">
            <a:avLst>
              <a:gd name="adj" fmla="val 13793"/>
            </a:avLst>
          </a:prstGeom>
          <a:solidFill>
            <a:srgbClr val="D3DEE1"/>
          </a:solidFill>
          <a:ln/>
        </p:spPr>
      </p:sp>
      <p:sp>
        <p:nvSpPr>
          <p:cNvPr id="15" name="Text 12"/>
          <p:cNvSpPr/>
          <p:nvPr/>
        </p:nvSpPr>
        <p:spPr>
          <a:xfrm>
            <a:off x="1938528" y="1691640"/>
            <a:ext cx="1280160" cy="530352"/>
          </a:xfrm>
          <a:prstGeom prst="rect">
            <a:avLst/>
          </a:prstGeom>
          <a:noFill/>
          <a:ln/>
        </p:spPr>
        <p:txBody>
          <a:bodyPr wrap="square" lIns="0" tIns="0" rIns="0" bIns="0" rtlCol="0" anchor="ctr"/>
          <a:lstStyle/>
          <a:p>
            <a:pPr algn="ctr" indent="0" marL="0">
              <a:buNone/>
            </a:pPr>
            <a:r>
              <a:rPr lang="en-US" sz="1150" dirty="0">
                <a:solidFill>
                  <a:srgbClr val="3F6470"/>
                </a:solidFill>
                <a:latin typeface="Helvetica Neue" pitchFamily="34" charset="0"/>
                <a:ea typeface="Helvetica Neue" pitchFamily="34" charset="-122"/>
                <a:cs typeface="Helvetica Neue" pitchFamily="34" charset="-120"/>
              </a:rPr>
              <a:t>slice 2</a:t>
            </a:r>
            <a:endParaRPr lang="en-US" sz="1150" dirty="0"/>
          </a:p>
        </p:txBody>
      </p:sp>
      <p:sp>
        <p:nvSpPr>
          <p:cNvPr id="16" name="Shape 13"/>
          <p:cNvSpPr/>
          <p:nvPr/>
        </p:nvSpPr>
        <p:spPr>
          <a:xfrm>
            <a:off x="2578608" y="2221992"/>
            <a:ext cx="0" cy="338328"/>
          </a:xfrm>
          <a:prstGeom prst="line">
            <a:avLst/>
          </a:prstGeom>
          <a:noFill/>
          <a:ln w="13970">
            <a:solidFill>
              <a:srgbClr val="3F6470"/>
            </a:solidFill>
            <a:prstDash val="solid"/>
            <a:headEnd type="none"/>
            <a:tailEnd type="triangle"/>
          </a:ln>
        </p:spPr>
      </p:sp>
      <p:sp>
        <p:nvSpPr>
          <p:cNvPr id="17" name="Shape 14"/>
          <p:cNvSpPr/>
          <p:nvPr/>
        </p:nvSpPr>
        <p:spPr>
          <a:xfrm>
            <a:off x="1938528" y="2560320"/>
            <a:ext cx="1280160" cy="292608"/>
          </a:xfrm>
          <a:prstGeom prst="roundRect">
            <a:avLst>
              <a:gd name="adj" fmla="val 25000"/>
            </a:avLst>
          </a:prstGeom>
          <a:solidFill>
            <a:srgbClr val="3F6470"/>
          </a:solidFill>
          <a:ln/>
        </p:spPr>
      </p:sp>
      <p:sp>
        <p:nvSpPr>
          <p:cNvPr id="18" name="Text 15"/>
          <p:cNvSpPr/>
          <p:nvPr/>
        </p:nvSpPr>
        <p:spPr>
          <a:xfrm>
            <a:off x="1938528" y="2560320"/>
            <a:ext cx="1280160" cy="292608"/>
          </a:xfrm>
          <a:prstGeom prst="rect">
            <a:avLst/>
          </a:prstGeom>
          <a:noFill/>
          <a:ln/>
        </p:spPr>
        <p:txBody>
          <a:bodyPr wrap="square" lIns="0" tIns="0" rIns="0" bIns="0" rtlCol="0" anchor="ctr"/>
          <a:lstStyle/>
          <a:p>
            <a:pPr algn="ctr" indent="0" marL="0">
              <a:buNone/>
            </a:pPr>
            <a:r>
              <a:rPr lang="en-US" sz="1000" dirty="0">
                <a:solidFill>
                  <a:srgbClr val="FCFAF4"/>
                </a:solidFill>
                <a:latin typeface="Helvetica Neue" pitchFamily="34" charset="0"/>
                <a:ea typeface="Helvetica Neue" pitchFamily="34" charset="-122"/>
                <a:cs typeface="Helvetica Neue" pitchFamily="34" charset="-120"/>
              </a:rPr>
              <a:t>core</a:t>
            </a:r>
            <a:endParaRPr lang="en-US" sz="1000" dirty="0"/>
          </a:p>
        </p:txBody>
      </p:sp>
      <p:sp>
        <p:nvSpPr>
          <p:cNvPr id="19" name="Shape 16"/>
          <p:cNvSpPr/>
          <p:nvPr/>
        </p:nvSpPr>
        <p:spPr>
          <a:xfrm>
            <a:off x="3328416" y="1691640"/>
            <a:ext cx="1280160" cy="530352"/>
          </a:xfrm>
          <a:prstGeom prst="roundRect">
            <a:avLst>
              <a:gd name="adj" fmla="val 13793"/>
            </a:avLst>
          </a:prstGeom>
          <a:solidFill>
            <a:srgbClr val="D3DEE1"/>
          </a:solidFill>
          <a:ln/>
        </p:spPr>
      </p:sp>
      <p:sp>
        <p:nvSpPr>
          <p:cNvPr id="20" name="Text 17"/>
          <p:cNvSpPr/>
          <p:nvPr/>
        </p:nvSpPr>
        <p:spPr>
          <a:xfrm>
            <a:off x="3328416" y="1691640"/>
            <a:ext cx="1280160" cy="530352"/>
          </a:xfrm>
          <a:prstGeom prst="rect">
            <a:avLst/>
          </a:prstGeom>
          <a:noFill/>
          <a:ln/>
        </p:spPr>
        <p:txBody>
          <a:bodyPr wrap="square" lIns="0" tIns="0" rIns="0" bIns="0" rtlCol="0" anchor="ctr"/>
          <a:lstStyle/>
          <a:p>
            <a:pPr algn="ctr" indent="0" marL="0">
              <a:buNone/>
            </a:pPr>
            <a:r>
              <a:rPr lang="en-US" sz="1150" dirty="0">
                <a:solidFill>
                  <a:srgbClr val="3F6470"/>
                </a:solidFill>
                <a:latin typeface="Helvetica Neue" pitchFamily="34" charset="0"/>
                <a:ea typeface="Helvetica Neue" pitchFamily="34" charset="-122"/>
                <a:cs typeface="Helvetica Neue" pitchFamily="34" charset="-120"/>
              </a:rPr>
              <a:t>slice 3</a:t>
            </a:r>
            <a:endParaRPr lang="en-US" sz="1150" dirty="0"/>
          </a:p>
        </p:txBody>
      </p:sp>
      <p:sp>
        <p:nvSpPr>
          <p:cNvPr id="21" name="Shape 18"/>
          <p:cNvSpPr/>
          <p:nvPr/>
        </p:nvSpPr>
        <p:spPr>
          <a:xfrm>
            <a:off x="3968496" y="2221992"/>
            <a:ext cx="0" cy="338328"/>
          </a:xfrm>
          <a:prstGeom prst="line">
            <a:avLst/>
          </a:prstGeom>
          <a:noFill/>
          <a:ln w="13970">
            <a:solidFill>
              <a:srgbClr val="3F6470"/>
            </a:solidFill>
            <a:prstDash val="solid"/>
            <a:headEnd type="none"/>
            <a:tailEnd type="triangle"/>
          </a:ln>
        </p:spPr>
      </p:sp>
      <p:sp>
        <p:nvSpPr>
          <p:cNvPr id="22" name="Shape 19"/>
          <p:cNvSpPr/>
          <p:nvPr/>
        </p:nvSpPr>
        <p:spPr>
          <a:xfrm>
            <a:off x="3328416" y="2560320"/>
            <a:ext cx="1280160" cy="292608"/>
          </a:xfrm>
          <a:prstGeom prst="roundRect">
            <a:avLst>
              <a:gd name="adj" fmla="val 25000"/>
            </a:avLst>
          </a:prstGeom>
          <a:solidFill>
            <a:srgbClr val="3F6470"/>
          </a:solidFill>
          <a:ln/>
        </p:spPr>
      </p:sp>
      <p:sp>
        <p:nvSpPr>
          <p:cNvPr id="23" name="Text 20"/>
          <p:cNvSpPr/>
          <p:nvPr/>
        </p:nvSpPr>
        <p:spPr>
          <a:xfrm>
            <a:off x="3328416" y="2560320"/>
            <a:ext cx="1280160" cy="292608"/>
          </a:xfrm>
          <a:prstGeom prst="rect">
            <a:avLst/>
          </a:prstGeom>
          <a:noFill/>
          <a:ln/>
        </p:spPr>
        <p:txBody>
          <a:bodyPr wrap="square" lIns="0" tIns="0" rIns="0" bIns="0" rtlCol="0" anchor="ctr"/>
          <a:lstStyle/>
          <a:p>
            <a:pPr algn="ctr" indent="0" marL="0">
              <a:buNone/>
            </a:pPr>
            <a:r>
              <a:rPr lang="en-US" sz="1000" dirty="0">
                <a:solidFill>
                  <a:srgbClr val="FCFAF4"/>
                </a:solidFill>
                <a:latin typeface="Helvetica Neue" pitchFamily="34" charset="0"/>
                <a:ea typeface="Helvetica Neue" pitchFamily="34" charset="-122"/>
                <a:cs typeface="Helvetica Neue" pitchFamily="34" charset="-120"/>
              </a:rPr>
              <a:t>core</a:t>
            </a:r>
            <a:endParaRPr lang="en-US" sz="1000" dirty="0"/>
          </a:p>
        </p:txBody>
      </p:sp>
      <p:sp>
        <p:nvSpPr>
          <p:cNvPr id="24" name="Shape 21"/>
          <p:cNvSpPr/>
          <p:nvPr/>
        </p:nvSpPr>
        <p:spPr>
          <a:xfrm>
            <a:off x="4718304" y="1691640"/>
            <a:ext cx="1280160" cy="530352"/>
          </a:xfrm>
          <a:prstGeom prst="roundRect">
            <a:avLst>
              <a:gd name="adj" fmla="val 13793"/>
            </a:avLst>
          </a:prstGeom>
          <a:solidFill>
            <a:srgbClr val="D3DEE1"/>
          </a:solidFill>
          <a:ln/>
        </p:spPr>
      </p:sp>
      <p:sp>
        <p:nvSpPr>
          <p:cNvPr id="25" name="Text 22"/>
          <p:cNvSpPr/>
          <p:nvPr/>
        </p:nvSpPr>
        <p:spPr>
          <a:xfrm>
            <a:off x="4718304" y="1691640"/>
            <a:ext cx="1280160" cy="530352"/>
          </a:xfrm>
          <a:prstGeom prst="rect">
            <a:avLst/>
          </a:prstGeom>
          <a:noFill/>
          <a:ln/>
        </p:spPr>
        <p:txBody>
          <a:bodyPr wrap="square" lIns="0" tIns="0" rIns="0" bIns="0" rtlCol="0" anchor="ctr"/>
          <a:lstStyle/>
          <a:p>
            <a:pPr algn="ctr" indent="0" marL="0">
              <a:buNone/>
            </a:pPr>
            <a:r>
              <a:rPr lang="en-US" sz="1150" dirty="0">
                <a:solidFill>
                  <a:srgbClr val="3F6470"/>
                </a:solidFill>
                <a:latin typeface="Helvetica Neue" pitchFamily="34" charset="0"/>
                <a:ea typeface="Helvetica Neue" pitchFamily="34" charset="-122"/>
                <a:cs typeface="Helvetica Neue" pitchFamily="34" charset="-120"/>
              </a:rPr>
              <a:t>slice 4</a:t>
            </a:r>
            <a:endParaRPr lang="en-US" sz="1150" dirty="0"/>
          </a:p>
        </p:txBody>
      </p:sp>
      <p:sp>
        <p:nvSpPr>
          <p:cNvPr id="26" name="Shape 23"/>
          <p:cNvSpPr/>
          <p:nvPr/>
        </p:nvSpPr>
        <p:spPr>
          <a:xfrm>
            <a:off x="5358384" y="2221992"/>
            <a:ext cx="0" cy="338328"/>
          </a:xfrm>
          <a:prstGeom prst="line">
            <a:avLst/>
          </a:prstGeom>
          <a:noFill/>
          <a:ln w="13970">
            <a:solidFill>
              <a:srgbClr val="3F6470"/>
            </a:solidFill>
            <a:prstDash val="solid"/>
            <a:headEnd type="none"/>
            <a:tailEnd type="triangle"/>
          </a:ln>
        </p:spPr>
      </p:sp>
      <p:sp>
        <p:nvSpPr>
          <p:cNvPr id="27" name="Shape 24"/>
          <p:cNvSpPr/>
          <p:nvPr/>
        </p:nvSpPr>
        <p:spPr>
          <a:xfrm>
            <a:off x="4718304" y="2560320"/>
            <a:ext cx="1280160" cy="292608"/>
          </a:xfrm>
          <a:prstGeom prst="roundRect">
            <a:avLst>
              <a:gd name="adj" fmla="val 25000"/>
            </a:avLst>
          </a:prstGeom>
          <a:solidFill>
            <a:srgbClr val="3F6470"/>
          </a:solidFill>
          <a:ln/>
        </p:spPr>
      </p:sp>
      <p:sp>
        <p:nvSpPr>
          <p:cNvPr id="28" name="Text 25"/>
          <p:cNvSpPr/>
          <p:nvPr/>
        </p:nvSpPr>
        <p:spPr>
          <a:xfrm>
            <a:off x="4718304" y="2560320"/>
            <a:ext cx="1280160" cy="292608"/>
          </a:xfrm>
          <a:prstGeom prst="rect">
            <a:avLst/>
          </a:prstGeom>
          <a:noFill/>
          <a:ln/>
        </p:spPr>
        <p:txBody>
          <a:bodyPr wrap="square" lIns="0" tIns="0" rIns="0" bIns="0" rtlCol="0" anchor="ctr"/>
          <a:lstStyle/>
          <a:p>
            <a:pPr algn="ctr" indent="0" marL="0">
              <a:buNone/>
            </a:pPr>
            <a:r>
              <a:rPr lang="en-US" sz="1000" dirty="0">
                <a:solidFill>
                  <a:srgbClr val="FCFAF4"/>
                </a:solidFill>
                <a:latin typeface="Helvetica Neue" pitchFamily="34" charset="0"/>
                <a:ea typeface="Helvetica Neue" pitchFamily="34" charset="-122"/>
                <a:cs typeface="Helvetica Neue" pitchFamily="34" charset="-120"/>
              </a:rPr>
              <a:t>core</a:t>
            </a:r>
            <a:endParaRPr lang="en-US" sz="1000" dirty="0"/>
          </a:p>
        </p:txBody>
      </p:sp>
      <p:sp>
        <p:nvSpPr>
          <p:cNvPr id="29" name="Shape 26"/>
          <p:cNvSpPr/>
          <p:nvPr/>
        </p:nvSpPr>
        <p:spPr>
          <a:xfrm>
            <a:off x="6108192" y="1691640"/>
            <a:ext cx="1280160" cy="530352"/>
          </a:xfrm>
          <a:prstGeom prst="roundRect">
            <a:avLst>
              <a:gd name="adj" fmla="val 13793"/>
            </a:avLst>
          </a:prstGeom>
          <a:solidFill>
            <a:srgbClr val="D3DEE1"/>
          </a:solidFill>
          <a:ln/>
        </p:spPr>
      </p:sp>
      <p:sp>
        <p:nvSpPr>
          <p:cNvPr id="30" name="Text 27"/>
          <p:cNvSpPr/>
          <p:nvPr/>
        </p:nvSpPr>
        <p:spPr>
          <a:xfrm>
            <a:off x="6108192" y="1691640"/>
            <a:ext cx="1280160" cy="530352"/>
          </a:xfrm>
          <a:prstGeom prst="rect">
            <a:avLst/>
          </a:prstGeom>
          <a:noFill/>
          <a:ln/>
        </p:spPr>
        <p:txBody>
          <a:bodyPr wrap="square" lIns="0" tIns="0" rIns="0" bIns="0" rtlCol="0" anchor="ctr"/>
          <a:lstStyle/>
          <a:p>
            <a:pPr algn="ctr" indent="0" marL="0">
              <a:buNone/>
            </a:pPr>
            <a:r>
              <a:rPr lang="en-US" sz="1150" dirty="0">
                <a:solidFill>
                  <a:srgbClr val="3F6470"/>
                </a:solidFill>
                <a:latin typeface="Helvetica Neue" pitchFamily="34" charset="0"/>
                <a:ea typeface="Helvetica Neue" pitchFamily="34" charset="-122"/>
                <a:cs typeface="Helvetica Neue" pitchFamily="34" charset="-120"/>
              </a:rPr>
              <a:t>slice 5</a:t>
            </a:r>
            <a:endParaRPr lang="en-US" sz="1150" dirty="0"/>
          </a:p>
        </p:txBody>
      </p:sp>
      <p:sp>
        <p:nvSpPr>
          <p:cNvPr id="31" name="Shape 28"/>
          <p:cNvSpPr/>
          <p:nvPr/>
        </p:nvSpPr>
        <p:spPr>
          <a:xfrm>
            <a:off x="6748272" y="2221992"/>
            <a:ext cx="0" cy="338328"/>
          </a:xfrm>
          <a:prstGeom prst="line">
            <a:avLst/>
          </a:prstGeom>
          <a:noFill/>
          <a:ln w="13970">
            <a:solidFill>
              <a:srgbClr val="3F6470"/>
            </a:solidFill>
            <a:prstDash val="solid"/>
            <a:headEnd type="none"/>
            <a:tailEnd type="triangle"/>
          </a:ln>
        </p:spPr>
      </p:sp>
      <p:sp>
        <p:nvSpPr>
          <p:cNvPr id="32" name="Shape 29"/>
          <p:cNvSpPr/>
          <p:nvPr/>
        </p:nvSpPr>
        <p:spPr>
          <a:xfrm>
            <a:off x="6108192" y="2560320"/>
            <a:ext cx="1280160" cy="292608"/>
          </a:xfrm>
          <a:prstGeom prst="roundRect">
            <a:avLst>
              <a:gd name="adj" fmla="val 25000"/>
            </a:avLst>
          </a:prstGeom>
          <a:solidFill>
            <a:srgbClr val="3F6470"/>
          </a:solidFill>
          <a:ln/>
        </p:spPr>
      </p:sp>
      <p:sp>
        <p:nvSpPr>
          <p:cNvPr id="33" name="Text 30"/>
          <p:cNvSpPr/>
          <p:nvPr/>
        </p:nvSpPr>
        <p:spPr>
          <a:xfrm>
            <a:off x="6108192" y="2560320"/>
            <a:ext cx="1280160" cy="292608"/>
          </a:xfrm>
          <a:prstGeom prst="rect">
            <a:avLst/>
          </a:prstGeom>
          <a:noFill/>
          <a:ln/>
        </p:spPr>
        <p:txBody>
          <a:bodyPr wrap="square" lIns="0" tIns="0" rIns="0" bIns="0" rtlCol="0" anchor="ctr"/>
          <a:lstStyle/>
          <a:p>
            <a:pPr algn="ctr" indent="0" marL="0">
              <a:buNone/>
            </a:pPr>
            <a:r>
              <a:rPr lang="en-US" sz="1000" dirty="0">
                <a:solidFill>
                  <a:srgbClr val="FCFAF4"/>
                </a:solidFill>
                <a:latin typeface="Helvetica Neue" pitchFamily="34" charset="0"/>
                <a:ea typeface="Helvetica Neue" pitchFamily="34" charset="-122"/>
                <a:cs typeface="Helvetica Neue" pitchFamily="34" charset="-120"/>
              </a:rPr>
              <a:t>core</a:t>
            </a:r>
            <a:endParaRPr lang="en-US" sz="1000" dirty="0"/>
          </a:p>
        </p:txBody>
      </p:sp>
      <p:sp>
        <p:nvSpPr>
          <p:cNvPr id="34" name="Shape 31"/>
          <p:cNvSpPr/>
          <p:nvPr/>
        </p:nvSpPr>
        <p:spPr>
          <a:xfrm>
            <a:off x="7498080" y="1691640"/>
            <a:ext cx="1280160" cy="530352"/>
          </a:xfrm>
          <a:prstGeom prst="roundRect">
            <a:avLst>
              <a:gd name="adj" fmla="val 13793"/>
            </a:avLst>
          </a:prstGeom>
          <a:solidFill>
            <a:srgbClr val="D3DEE1"/>
          </a:solidFill>
          <a:ln/>
        </p:spPr>
      </p:sp>
      <p:sp>
        <p:nvSpPr>
          <p:cNvPr id="35" name="Text 32"/>
          <p:cNvSpPr/>
          <p:nvPr/>
        </p:nvSpPr>
        <p:spPr>
          <a:xfrm>
            <a:off x="7498080" y="1691640"/>
            <a:ext cx="1280160" cy="530352"/>
          </a:xfrm>
          <a:prstGeom prst="rect">
            <a:avLst/>
          </a:prstGeom>
          <a:noFill/>
          <a:ln/>
        </p:spPr>
        <p:txBody>
          <a:bodyPr wrap="square" lIns="0" tIns="0" rIns="0" bIns="0" rtlCol="0" anchor="ctr"/>
          <a:lstStyle/>
          <a:p>
            <a:pPr algn="ctr" indent="0" marL="0">
              <a:buNone/>
            </a:pPr>
            <a:r>
              <a:rPr lang="en-US" sz="1150" dirty="0">
                <a:solidFill>
                  <a:srgbClr val="3F6470"/>
                </a:solidFill>
                <a:latin typeface="Helvetica Neue" pitchFamily="34" charset="0"/>
                <a:ea typeface="Helvetica Neue" pitchFamily="34" charset="-122"/>
                <a:cs typeface="Helvetica Neue" pitchFamily="34" charset="-120"/>
              </a:rPr>
              <a:t>slice 6</a:t>
            </a:r>
            <a:endParaRPr lang="en-US" sz="1150" dirty="0"/>
          </a:p>
        </p:txBody>
      </p:sp>
      <p:sp>
        <p:nvSpPr>
          <p:cNvPr id="36" name="Shape 33"/>
          <p:cNvSpPr/>
          <p:nvPr/>
        </p:nvSpPr>
        <p:spPr>
          <a:xfrm>
            <a:off x="8138160" y="2221992"/>
            <a:ext cx="0" cy="338328"/>
          </a:xfrm>
          <a:prstGeom prst="line">
            <a:avLst/>
          </a:prstGeom>
          <a:noFill/>
          <a:ln w="13970">
            <a:solidFill>
              <a:srgbClr val="3F6470"/>
            </a:solidFill>
            <a:prstDash val="solid"/>
            <a:headEnd type="none"/>
            <a:tailEnd type="triangle"/>
          </a:ln>
        </p:spPr>
      </p:sp>
      <p:sp>
        <p:nvSpPr>
          <p:cNvPr id="37" name="Shape 34"/>
          <p:cNvSpPr/>
          <p:nvPr/>
        </p:nvSpPr>
        <p:spPr>
          <a:xfrm>
            <a:off x="7498080" y="2560320"/>
            <a:ext cx="1280160" cy="292608"/>
          </a:xfrm>
          <a:prstGeom prst="roundRect">
            <a:avLst>
              <a:gd name="adj" fmla="val 25000"/>
            </a:avLst>
          </a:prstGeom>
          <a:solidFill>
            <a:srgbClr val="3F6470"/>
          </a:solidFill>
          <a:ln/>
        </p:spPr>
      </p:sp>
      <p:sp>
        <p:nvSpPr>
          <p:cNvPr id="38" name="Text 35"/>
          <p:cNvSpPr/>
          <p:nvPr/>
        </p:nvSpPr>
        <p:spPr>
          <a:xfrm>
            <a:off x="7498080" y="2560320"/>
            <a:ext cx="1280160" cy="292608"/>
          </a:xfrm>
          <a:prstGeom prst="rect">
            <a:avLst/>
          </a:prstGeom>
          <a:noFill/>
          <a:ln/>
        </p:spPr>
        <p:txBody>
          <a:bodyPr wrap="square" lIns="0" tIns="0" rIns="0" bIns="0" rtlCol="0" anchor="ctr"/>
          <a:lstStyle/>
          <a:p>
            <a:pPr algn="ctr" indent="0" marL="0">
              <a:buNone/>
            </a:pPr>
            <a:r>
              <a:rPr lang="en-US" sz="1000" dirty="0">
                <a:solidFill>
                  <a:srgbClr val="FCFAF4"/>
                </a:solidFill>
                <a:latin typeface="Helvetica Neue" pitchFamily="34" charset="0"/>
                <a:ea typeface="Helvetica Neue" pitchFamily="34" charset="-122"/>
                <a:cs typeface="Helvetica Neue" pitchFamily="34" charset="-120"/>
              </a:rPr>
              <a:t>core</a:t>
            </a:r>
            <a:endParaRPr lang="en-US" sz="1000" dirty="0"/>
          </a:p>
        </p:txBody>
      </p:sp>
      <p:sp>
        <p:nvSpPr>
          <p:cNvPr id="39" name="Shape 36"/>
          <p:cNvSpPr/>
          <p:nvPr/>
        </p:nvSpPr>
        <p:spPr>
          <a:xfrm>
            <a:off x="8887968" y="1691640"/>
            <a:ext cx="1280160" cy="530352"/>
          </a:xfrm>
          <a:prstGeom prst="roundRect">
            <a:avLst>
              <a:gd name="adj" fmla="val 13793"/>
            </a:avLst>
          </a:prstGeom>
          <a:solidFill>
            <a:srgbClr val="D3DEE1"/>
          </a:solidFill>
          <a:ln/>
        </p:spPr>
      </p:sp>
      <p:sp>
        <p:nvSpPr>
          <p:cNvPr id="40" name="Text 37"/>
          <p:cNvSpPr/>
          <p:nvPr/>
        </p:nvSpPr>
        <p:spPr>
          <a:xfrm>
            <a:off x="8887968" y="1691640"/>
            <a:ext cx="1280160" cy="530352"/>
          </a:xfrm>
          <a:prstGeom prst="rect">
            <a:avLst/>
          </a:prstGeom>
          <a:noFill/>
          <a:ln/>
        </p:spPr>
        <p:txBody>
          <a:bodyPr wrap="square" lIns="0" tIns="0" rIns="0" bIns="0" rtlCol="0" anchor="ctr"/>
          <a:lstStyle/>
          <a:p>
            <a:pPr algn="ctr" indent="0" marL="0">
              <a:buNone/>
            </a:pPr>
            <a:r>
              <a:rPr lang="en-US" sz="1150" dirty="0">
                <a:solidFill>
                  <a:srgbClr val="3F6470"/>
                </a:solidFill>
                <a:latin typeface="Helvetica Neue" pitchFamily="34" charset="0"/>
                <a:ea typeface="Helvetica Neue" pitchFamily="34" charset="-122"/>
                <a:cs typeface="Helvetica Neue" pitchFamily="34" charset="-120"/>
              </a:rPr>
              <a:t>slice 7</a:t>
            </a:r>
            <a:endParaRPr lang="en-US" sz="1150" dirty="0"/>
          </a:p>
        </p:txBody>
      </p:sp>
      <p:sp>
        <p:nvSpPr>
          <p:cNvPr id="41" name="Shape 38"/>
          <p:cNvSpPr/>
          <p:nvPr/>
        </p:nvSpPr>
        <p:spPr>
          <a:xfrm>
            <a:off x="9528048" y="2221992"/>
            <a:ext cx="0" cy="338328"/>
          </a:xfrm>
          <a:prstGeom prst="line">
            <a:avLst/>
          </a:prstGeom>
          <a:noFill/>
          <a:ln w="13970">
            <a:solidFill>
              <a:srgbClr val="3F6470"/>
            </a:solidFill>
            <a:prstDash val="solid"/>
            <a:headEnd type="none"/>
            <a:tailEnd type="triangle"/>
          </a:ln>
        </p:spPr>
      </p:sp>
      <p:sp>
        <p:nvSpPr>
          <p:cNvPr id="42" name="Shape 39"/>
          <p:cNvSpPr/>
          <p:nvPr/>
        </p:nvSpPr>
        <p:spPr>
          <a:xfrm>
            <a:off x="8887968" y="2560320"/>
            <a:ext cx="1280160" cy="292608"/>
          </a:xfrm>
          <a:prstGeom prst="roundRect">
            <a:avLst>
              <a:gd name="adj" fmla="val 25000"/>
            </a:avLst>
          </a:prstGeom>
          <a:solidFill>
            <a:srgbClr val="3F6470"/>
          </a:solidFill>
          <a:ln/>
        </p:spPr>
      </p:sp>
      <p:sp>
        <p:nvSpPr>
          <p:cNvPr id="43" name="Text 40"/>
          <p:cNvSpPr/>
          <p:nvPr/>
        </p:nvSpPr>
        <p:spPr>
          <a:xfrm>
            <a:off x="8887968" y="2560320"/>
            <a:ext cx="1280160" cy="292608"/>
          </a:xfrm>
          <a:prstGeom prst="rect">
            <a:avLst/>
          </a:prstGeom>
          <a:noFill/>
          <a:ln/>
        </p:spPr>
        <p:txBody>
          <a:bodyPr wrap="square" lIns="0" tIns="0" rIns="0" bIns="0" rtlCol="0" anchor="ctr"/>
          <a:lstStyle/>
          <a:p>
            <a:pPr algn="ctr" indent="0" marL="0">
              <a:buNone/>
            </a:pPr>
            <a:r>
              <a:rPr lang="en-US" sz="1000" dirty="0">
                <a:solidFill>
                  <a:srgbClr val="FCFAF4"/>
                </a:solidFill>
                <a:latin typeface="Helvetica Neue" pitchFamily="34" charset="0"/>
                <a:ea typeface="Helvetica Neue" pitchFamily="34" charset="-122"/>
                <a:cs typeface="Helvetica Neue" pitchFamily="34" charset="-120"/>
              </a:rPr>
              <a:t>core</a:t>
            </a:r>
            <a:endParaRPr lang="en-US" sz="1000" dirty="0"/>
          </a:p>
        </p:txBody>
      </p:sp>
      <p:sp>
        <p:nvSpPr>
          <p:cNvPr id="44" name="Shape 41"/>
          <p:cNvSpPr/>
          <p:nvPr/>
        </p:nvSpPr>
        <p:spPr>
          <a:xfrm>
            <a:off x="10277856" y="1691640"/>
            <a:ext cx="1280160" cy="530352"/>
          </a:xfrm>
          <a:prstGeom prst="roundRect">
            <a:avLst>
              <a:gd name="adj" fmla="val 13793"/>
            </a:avLst>
          </a:prstGeom>
          <a:solidFill>
            <a:srgbClr val="D3DEE1"/>
          </a:solidFill>
          <a:ln/>
        </p:spPr>
      </p:sp>
      <p:sp>
        <p:nvSpPr>
          <p:cNvPr id="45" name="Text 42"/>
          <p:cNvSpPr/>
          <p:nvPr/>
        </p:nvSpPr>
        <p:spPr>
          <a:xfrm>
            <a:off x="10277856" y="1691640"/>
            <a:ext cx="1280160" cy="530352"/>
          </a:xfrm>
          <a:prstGeom prst="rect">
            <a:avLst/>
          </a:prstGeom>
          <a:noFill/>
          <a:ln/>
        </p:spPr>
        <p:txBody>
          <a:bodyPr wrap="square" lIns="0" tIns="0" rIns="0" bIns="0" rtlCol="0" anchor="ctr"/>
          <a:lstStyle/>
          <a:p>
            <a:pPr algn="ctr" indent="0" marL="0">
              <a:buNone/>
            </a:pPr>
            <a:r>
              <a:rPr lang="en-US" sz="1150" dirty="0">
                <a:solidFill>
                  <a:srgbClr val="3F6470"/>
                </a:solidFill>
                <a:latin typeface="Helvetica Neue" pitchFamily="34" charset="0"/>
                <a:ea typeface="Helvetica Neue" pitchFamily="34" charset="-122"/>
                <a:cs typeface="Helvetica Neue" pitchFamily="34" charset="-120"/>
              </a:rPr>
              <a:t>slice 8</a:t>
            </a:r>
            <a:endParaRPr lang="en-US" sz="1150" dirty="0"/>
          </a:p>
        </p:txBody>
      </p:sp>
      <p:sp>
        <p:nvSpPr>
          <p:cNvPr id="46" name="Shape 43"/>
          <p:cNvSpPr/>
          <p:nvPr/>
        </p:nvSpPr>
        <p:spPr>
          <a:xfrm>
            <a:off x="10917936" y="2221992"/>
            <a:ext cx="0" cy="338328"/>
          </a:xfrm>
          <a:prstGeom prst="line">
            <a:avLst/>
          </a:prstGeom>
          <a:noFill/>
          <a:ln w="13970">
            <a:solidFill>
              <a:srgbClr val="3F6470"/>
            </a:solidFill>
            <a:prstDash val="solid"/>
            <a:headEnd type="none"/>
            <a:tailEnd type="triangle"/>
          </a:ln>
        </p:spPr>
      </p:sp>
      <p:sp>
        <p:nvSpPr>
          <p:cNvPr id="47" name="Shape 44"/>
          <p:cNvSpPr/>
          <p:nvPr/>
        </p:nvSpPr>
        <p:spPr>
          <a:xfrm>
            <a:off x="10277856" y="2560320"/>
            <a:ext cx="1280160" cy="292608"/>
          </a:xfrm>
          <a:prstGeom prst="roundRect">
            <a:avLst>
              <a:gd name="adj" fmla="val 25000"/>
            </a:avLst>
          </a:prstGeom>
          <a:solidFill>
            <a:srgbClr val="3F6470"/>
          </a:solidFill>
          <a:ln/>
        </p:spPr>
      </p:sp>
      <p:sp>
        <p:nvSpPr>
          <p:cNvPr id="48" name="Text 45"/>
          <p:cNvSpPr/>
          <p:nvPr/>
        </p:nvSpPr>
        <p:spPr>
          <a:xfrm>
            <a:off x="10277856" y="2560320"/>
            <a:ext cx="1280160" cy="292608"/>
          </a:xfrm>
          <a:prstGeom prst="rect">
            <a:avLst/>
          </a:prstGeom>
          <a:noFill/>
          <a:ln/>
        </p:spPr>
        <p:txBody>
          <a:bodyPr wrap="square" lIns="0" tIns="0" rIns="0" bIns="0" rtlCol="0" anchor="ctr"/>
          <a:lstStyle/>
          <a:p>
            <a:pPr algn="ctr" indent="0" marL="0">
              <a:buNone/>
            </a:pPr>
            <a:r>
              <a:rPr lang="en-US" sz="1000" dirty="0">
                <a:solidFill>
                  <a:srgbClr val="FCFAF4"/>
                </a:solidFill>
                <a:latin typeface="Helvetica Neue" pitchFamily="34" charset="0"/>
                <a:ea typeface="Helvetica Neue" pitchFamily="34" charset="-122"/>
                <a:cs typeface="Helvetica Neue" pitchFamily="34" charset="-120"/>
              </a:rPr>
              <a:t>core</a:t>
            </a:r>
            <a:endParaRPr lang="en-US" sz="1000" dirty="0"/>
          </a:p>
        </p:txBody>
      </p:sp>
      <p:sp>
        <p:nvSpPr>
          <p:cNvPr id="49" name="Text 46"/>
          <p:cNvSpPr/>
          <p:nvPr/>
        </p:nvSpPr>
        <p:spPr>
          <a:xfrm>
            <a:off x="548640" y="2926080"/>
            <a:ext cx="11064240" cy="274320"/>
          </a:xfrm>
          <a:prstGeom prst="rect">
            <a:avLst/>
          </a:prstGeom>
          <a:noFill/>
          <a:ln/>
        </p:spPr>
        <p:txBody>
          <a:bodyPr wrap="square" lIns="0" tIns="0" rIns="0" bIns="0" rtlCol="0" anchor="t"/>
          <a:lstStyle/>
          <a:p>
            <a:pPr algn="ctr" indent="0" marL="0">
              <a:buNone/>
            </a:pPr>
            <a:r>
              <a:rPr lang="en-US" sz="1250" i="1" dirty="0">
                <a:solidFill>
                  <a:srgbClr val="3F6470"/>
                </a:solidFill>
                <a:latin typeface="Helvetica Neue" pitchFamily="34" charset="0"/>
                <a:ea typeface="Helvetica Neue" pitchFamily="34" charset="-122"/>
                <a:cs typeface="Helvetica Neue" pitchFamily="34" charset="-120"/>
              </a:rPr>
              <a:t>one immutable db value · pmap across cores</a:t>
            </a:r>
            <a:endParaRPr lang="en-US" sz="1250" dirty="0"/>
          </a:p>
        </p:txBody>
      </p:sp>
      <p:sp>
        <p:nvSpPr>
          <p:cNvPr id="50" name="Text 47"/>
          <p:cNvSpPr/>
          <p:nvPr/>
        </p:nvSpPr>
        <p:spPr>
          <a:xfrm>
            <a:off x="548640" y="3429000"/>
            <a:ext cx="1463040" cy="548640"/>
          </a:xfrm>
          <a:prstGeom prst="rect">
            <a:avLst/>
          </a:prstGeom>
          <a:noFill/>
          <a:ln/>
        </p:spPr>
        <p:txBody>
          <a:bodyPr wrap="square" lIns="0" tIns="0" rIns="0" bIns="0" rtlCol="0" anchor="ctr">
            <a:normAutofit/>
          </a:bodyPr>
          <a:lstStyle/>
          <a:p>
            <a:pPr algn="r" indent="0" marL="0">
              <a:buNone/>
            </a:pPr>
            <a:r>
              <a:rPr lang="en-US" sz="1250" dirty="0">
                <a:solidFill>
                  <a:srgbClr val="3A2C1A"/>
                </a:solidFill>
                <a:latin typeface="Helvetica Neue" pitchFamily="34" charset="0"/>
                <a:ea typeface="Helvetica Neue" pitchFamily="34" charset="-122"/>
                <a:cs typeface="Helvetica Neue" pitchFamily="34" charset="-120"/>
              </a:rPr>
              <a:t>serial</a:t>
            </a:r>
            <a:endParaRPr lang="en-US" sz="1250" dirty="0"/>
          </a:p>
        </p:txBody>
      </p:sp>
      <p:sp>
        <p:nvSpPr>
          <p:cNvPr id="51" name="Shape 48"/>
          <p:cNvSpPr/>
          <p:nvPr/>
        </p:nvSpPr>
        <p:spPr>
          <a:xfrm>
            <a:off x="2194560" y="3483864"/>
            <a:ext cx="3840480" cy="438912"/>
          </a:xfrm>
          <a:prstGeom prst="rect">
            <a:avLst/>
          </a:prstGeom>
          <a:solidFill>
            <a:srgbClr val="E6DFCE"/>
          </a:solidFill>
          <a:ln/>
        </p:spPr>
      </p:sp>
      <p:sp>
        <p:nvSpPr>
          <p:cNvPr id="52" name="Shape 49"/>
          <p:cNvSpPr/>
          <p:nvPr/>
        </p:nvSpPr>
        <p:spPr>
          <a:xfrm>
            <a:off x="2194560" y="3483864"/>
            <a:ext cx="3840480" cy="438912"/>
          </a:xfrm>
          <a:prstGeom prst="rect">
            <a:avLst/>
          </a:prstGeom>
          <a:solidFill>
            <a:srgbClr val="DFD6C0"/>
          </a:solidFill>
          <a:ln/>
        </p:spPr>
      </p:sp>
      <p:sp>
        <p:nvSpPr>
          <p:cNvPr id="53" name="Text 50"/>
          <p:cNvSpPr/>
          <p:nvPr/>
        </p:nvSpPr>
        <p:spPr>
          <a:xfrm>
            <a:off x="6126480" y="3429000"/>
            <a:ext cx="1371600" cy="548640"/>
          </a:xfrm>
          <a:prstGeom prst="rect">
            <a:avLst/>
          </a:prstGeom>
          <a:noFill/>
          <a:ln/>
        </p:spPr>
        <p:txBody>
          <a:bodyPr wrap="square" lIns="0" tIns="0" rIns="0" bIns="0" rtlCol="0" anchor="ctr">
            <a:normAutofit/>
          </a:bodyPr>
          <a:lstStyle/>
          <a:p>
            <a:pPr indent="0" marL="0">
              <a:buNone/>
            </a:pPr>
            <a:r>
              <a:rPr lang="en-US" sz="1250" dirty="0">
                <a:solidFill>
                  <a:srgbClr val="6B5A44"/>
                </a:solidFill>
                <a:latin typeface="Courier New" pitchFamily="34" charset="0"/>
                <a:ea typeface="Courier New" pitchFamily="34" charset="-122"/>
                <a:cs typeface="Courier New" pitchFamily="34" charset="-120"/>
              </a:rPr>
              <a:t>78.7 ms</a:t>
            </a:r>
            <a:endParaRPr lang="en-US" sz="1250" dirty="0"/>
          </a:p>
        </p:txBody>
      </p:sp>
      <p:sp>
        <p:nvSpPr>
          <p:cNvPr id="54" name="Text 51"/>
          <p:cNvSpPr/>
          <p:nvPr/>
        </p:nvSpPr>
        <p:spPr>
          <a:xfrm>
            <a:off x="548640" y="4142232"/>
            <a:ext cx="1463040" cy="548640"/>
          </a:xfrm>
          <a:prstGeom prst="rect">
            <a:avLst/>
          </a:prstGeom>
          <a:noFill/>
          <a:ln/>
        </p:spPr>
        <p:txBody>
          <a:bodyPr wrap="square" lIns="0" tIns="0" rIns="0" bIns="0" rtlCol="0" anchor="ctr">
            <a:normAutofit/>
          </a:bodyPr>
          <a:lstStyle/>
          <a:p>
            <a:pPr algn="r" indent="0" marL="0">
              <a:buNone/>
            </a:pPr>
            <a:r>
              <a:rPr lang="en-US" sz="1250" dirty="0">
                <a:solidFill>
                  <a:srgbClr val="3A2C1A"/>
                </a:solidFill>
                <a:latin typeface="Helvetica Neue" pitchFamily="34" charset="0"/>
                <a:ea typeface="Helvetica Neue" pitchFamily="34" charset="-122"/>
                <a:cs typeface="Helvetica Neue" pitchFamily="34" charset="-120"/>
              </a:rPr>
              <a:t>8 slices</a:t>
            </a:r>
            <a:endParaRPr lang="en-US" sz="1250" dirty="0"/>
          </a:p>
        </p:txBody>
      </p:sp>
      <p:sp>
        <p:nvSpPr>
          <p:cNvPr id="55" name="Shape 52"/>
          <p:cNvSpPr/>
          <p:nvPr/>
        </p:nvSpPr>
        <p:spPr>
          <a:xfrm>
            <a:off x="2194560" y="4197096"/>
            <a:ext cx="3840480" cy="438912"/>
          </a:xfrm>
          <a:prstGeom prst="rect">
            <a:avLst/>
          </a:prstGeom>
          <a:solidFill>
            <a:srgbClr val="E6DFCE"/>
          </a:solidFill>
          <a:ln/>
        </p:spPr>
      </p:sp>
      <p:sp>
        <p:nvSpPr>
          <p:cNvPr id="56" name="Shape 53"/>
          <p:cNvSpPr/>
          <p:nvPr/>
        </p:nvSpPr>
        <p:spPr>
          <a:xfrm>
            <a:off x="2194560" y="4197096"/>
            <a:ext cx="1205335" cy="438912"/>
          </a:xfrm>
          <a:prstGeom prst="rect">
            <a:avLst/>
          </a:prstGeom>
          <a:solidFill>
            <a:srgbClr val="3F6470"/>
          </a:solidFill>
          <a:ln/>
        </p:spPr>
      </p:sp>
      <p:sp>
        <p:nvSpPr>
          <p:cNvPr id="57" name="Text 54"/>
          <p:cNvSpPr/>
          <p:nvPr/>
        </p:nvSpPr>
        <p:spPr>
          <a:xfrm>
            <a:off x="6126480" y="4142232"/>
            <a:ext cx="1371600" cy="548640"/>
          </a:xfrm>
          <a:prstGeom prst="rect">
            <a:avLst/>
          </a:prstGeom>
          <a:noFill/>
          <a:ln/>
        </p:spPr>
        <p:txBody>
          <a:bodyPr wrap="square" lIns="0" tIns="0" rIns="0" bIns="0" rtlCol="0" anchor="ctr">
            <a:normAutofit/>
          </a:bodyPr>
          <a:lstStyle/>
          <a:p>
            <a:pPr indent="0" marL="0">
              <a:buNone/>
            </a:pPr>
            <a:r>
              <a:rPr lang="en-US" sz="1250" dirty="0">
                <a:solidFill>
                  <a:srgbClr val="6B5A44"/>
                </a:solidFill>
                <a:latin typeface="Courier New" pitchFamily="34" charset="0"/>
                <a:ea typeface="Courier New" pitchFamily="34" charset="-122"/>
                <a:cs typeface="Courier New" pitchFamily="34" charset="-120"/>
              </a:rPr>
              <a:t>24.7 ms</a:t>
            </a:r>
            <a:endParaRPr lang="en-US" sz="1250" dirty="0"/>
          </a:p>
        </p:txBody>
      </p:sp>
      <p:sp>
        <p:nvSpPr>
          <p:cNvPr id="58" name="Shape 55"/>
          <p:cNvSpPr/>
          <p:nvPr/>
        </p:nvSpPr>
        <p:spPr>
          <a:xfrm>
            <a:off x="7772400" y="3429000"/>
            <a:ext cx="3840480" cy="1170432"/>
          </a:xfrm>
          <a:prstGeom prst="roundRect">
            <a:avLst>
              <a:gd name="adj" fmla="val 6250"/>
            </a:avLst>
          </a:prstGeom>
          <a:solidFill>
            <a:srgbClr val="D3DEE1"/>
          </a:solidFill>
          <a:ln/>
        </p:spPr>
      </p:sp>
      <p:sp>
        <p:nvSpPr>
          <p:cNvPr id="59" name="Text 56"/>
          <p:cNvSpPr/>
          <p:nvPr/>
        </p:nvSpPr>
        <p:spPr>
          <a:xfrm>
            <a:off x="7772400" y="3566160"/>
            <a:ext cx="3840480" cy="594360"/>
          </a:xfrm>
          <a:prstGeom prst="rect">
            <a:avLst/>
          </a:prstGeom>
          <a:noFill/>
          <a:ln/>
        </p:spPr>
        <p:txBody>
          <a:bodyPr wrap="square" lIns="0" tIns="0" rIns="0" bIns="0" rtlCol="0" anchor="t"/>
          <a:lstStyle/>
          <a:p>
            <a:pPr algn="ctr" indent="0" marL="0">
              <a:buNone/>
            </a:pPr>
            <a:r>
              <a:rPr lang="en-US" sz="3000" dirty="0">
                <a:solidFill>
                  <a:srgbClr val="3F6470"/>
                </a:solidFill>
                <a:latin typeface="Georgia" pitchFamily="34" charset="0"/>
                <a:ea typeface="Georgia" pitchFamily="34" charset="-122"/>
                <a:cs typeface="Georgia" pitchFamily="34" charset="-120"/>
              </a:rPr>
              <a:t>≈ 3×</a:t>
            </a:r>
            <a:endParaRPr lang="en-US" sz="3000" dirty="0"/>
          </a:p>
        </p:txBody>
      </p:sp>
      <p:sp>
        <p:nvSpPr>
          <p:cNvPr id="60" name="Text 57"/>
          <p:cNvSpPr/>
          <p:nvPr/>
        </p:nvSpPr>
        <p:spPr>
          <a:xfrm>
            <a:off x="7772400" y="4206240"/>
            <a:ext cx="3840480" cy="274320"/>
          </a:xfrm>
          <a:prstGeom prst="rect">
            <a:avLst/>
          </a:prstGeom>
          <a:noFill/>
          <a:ln/>
        </p:spPr>
        <p:txBody>
          <a:bodyPr wrap="square" lIns="0" tIns="0" rIns="0" bIns="0" rtlCol="0" anchor="t"/>
          <a:lstStyle/>
          <a:p>
            <a:pPr algn="ctr" indent="0" marL="0">
              <a:buNone/>
            </a:pPr>
            <a:r>
              <a:rPr lang="en-US" sz="1150" dirty="0">
                <a:solidFill>
                  <a:srgbClr val="9A8A72"/>
                </a:solidFill>
                <a:latin typeface="Helvetica Neue" pitchFamily="34" charset="0"/>
                <a:ea typeface="Helvetica Neue" pitchFamily="34" charset="-122"/>
                <a:cs typeface="Helvetica Neue" pitchFamily="34" charset="-120"/>
              </a:rPr>
              <a:t>on this laptop</a:t>
            </a:r>
            <a:endParaRPr lang="en-US" sz="1150" dirty="0"/>
          </a:p>
        </p:txBody>
      </p:sp>
      <p:sp>
        <p:nvSpPr>
          <p:cNvPr id="61" name="Shape 58"/>
          <p:cNvSpPr/>
          <p:nvPr/>
        </p:nvSpPr>
        <p:spPr>
          <a:xfrm>
            <a:off x="548640" y="4846320"/>
            <a:ext cx="5349240" cy="1005840"/>
          </a:xfrm>
          <a:prstGeom prst="roundRect">
            <a:avLst>
              <a:gd name="adj" fmla="val 5455"/>
            </a:avLst>
          </a:prstGeom>
          <a:solidFill>
            <a:srgbClr val="E6DFCE"/>
          </a:solidFill>
          <a:ln w="15875">
            <a:solidFill>
              <a:srgbClr val="C9BDA4"/>
            </a:solidFill>
            <a:prstDash val="solid"/>
          </a:ln>
        </p:spPr>
      </p:sp>
      <p:sp>
        <p:nvSpPr>
          <p:cNvPr id="62" name="Text 59"/>
          <p:cNvSpPr/>
          <p:nvPr/>
        </p:nvSpPr>
        <p:spPr>
          <a:xfrm>
            <a:off x="621792" y="5038344"/>
            <a:ext cx="5202936" cy="310896"/>
          </a:xfrm>
          <a:prstGeom prst="rect">
            <a:avLst/>
          </a:prstGeom>
          <a:noFill/>
          <a:ln/>
        </p:spPr>
        <p:txBody>
          <a:bodyPr wrap="square" lIns="0" tIns="0" rIns="0" bIns="0" rtlCol="0" anchor="b">
            <a:normAutofit/>
          </a:bodyPr>
          <a:lstStyle/>
          <a:p>
            <a:pPr algn="ctr" indent="0" marL="0">
              <a:buNone/>
            </a:pPr>
            <a:r>
              <a:rPr lang="en-US" sz="1350" b="1" dirty="0">
                <a:solidFill>
                  <a:srgbClr val="3A2C1A"/>
                </a:solidFill>
                <a:latin typeface="Helvetica Neue" pitchFamily="34" charset="0"/>
                <a:ea typeface="Helvetica Neue" pitchFamily="34" charset="-122"/>
                <a:cs typeface="Helvetica Neue" pitchFamily="34" charset="-120"/>
              </a:rPr>
              <a:t>slice ≈ number of cores</a:t>
            </a:r>
            <a:endParaRPr lang="en-US" sz="1350" dirty="0"/>
          </a:p>
        </p:txBody>
      </p:sp>
      <p:sp>
        <p:nvSpPr>
          <p:cNvPr id="63" name="Text 60"/>
          <p:cNvSpPr/>
          <p:nvPr/>
        </p:nvSpPr>
        <p:spPr>
          <a:xfrm>
            <a:off x="621792" y="5330952"/>
            <a:ext cx="5202936" cy="384048"/>
          </a:xfrm>
          <a:prstGeom prst="rect">
            <a:avLst/>
          </a:prstGeom>
          <a:noFill/>
          <a:ln/>
        </p:spPr>
        <p:txBody>
          <a:bodyPr wrap="square" lIns="0" tIns="0" rIns="0" bIns="0" rtlCol="0" anchor="t">
            <a:normAutofit/>
          </a:bodyPr>
          <a:lstStyle/>
          <a:p>
            <a:pPr algn="ctr" indent="0" marL="0">
              <a:buNone/>
            </a:pPr>
            <a:r>
              <a:rPr lang="en-US" sz="1150" dirty="0">
                <a:solidFill>
                  <a:srgbClr val="6B5A44"/>
                </a:solidFill>
                <a:latin typeface="Helvetica Neue" pitchFamily="34" charset="0"/>
                <a:ea typeface="Helvetica Neue" pitchFamily="34" charset="-122"/>
                <a:cs typeface="Helvetica Neue" pitchFamily="34" charset="-120"/>
              </a:rPr>
              <a:t>hundreds of tiny slices just add overhead</a:t>
            </a:r>
            <a:endParaRPr lang="en-US" sz="1150" dirty="0"/>
          </a:p>
        </p:txBody>
      </p:sp>
      <p:sp>
        <p:nvSpPr>
          <p:cNvPr id="64" name="Shape 61"/>
          <p:cNvSpPr/>
          <p:nvPr/>
        </p:nvSpPr>
        <p:spPr>
          <a:xfrm>
            <a:off x="6263640" y="4846320"/>
            <a:ext cx="5349240" cy="1005840"/>
          </a:xfrm>
          <a:prstGeom prst="roundRect">
            <a:avLst>
              <a:gd name="adj" fmla="val 5455"/>
            </a:avLst>
          </a:prstGeom>
          <a:solidFill>
            <a:srgbClr val="E6DFCE"/>
          </a:solidFill>
          <a:ln w="15875">
            <a:solidFill>
              <a:srgbClr val="C9BDA4"/>
            </a:solidFill>
            <a:prstDash val="solid"/>
          </a:ln>
        </p:spPr>
      </p:sp>
      <p:sp>
        <p:nvSpPr>
          <p:cNvPr id="65" name="Text 62"/>
          <p:cNvSpPr/>
          <p:nvPr/>
        </p:nvSpPr>
        <p:spPr>
          <a:xfrm>
            <a:off x="6336792" y="5038344"/>
            <a:ext cx="5202936" cy="310896"/>
          </a:xfrm>
          <a:prstGeom prst="rect">
            <a:avLst/>
          </a:prstGeom>
          <a:noFill/>
          <a:ln/>
        </p:spPr>
        <p:txBody>
          <a:bodyPr wrap="square" lIns="0" tIns="0" rIns="0" bIns="0" rtlCol="0" anchor="b">
            <a:normAutofit/>
          </a:bodyPr>
          <a:lstStyle/>
          <a:p>
            <a:pPr algn="ctr" indent="0" marL="0">
              <a:buNone/>
            </a:pPr>
            <a:r>
              <a:rPr lang="en-US" sz="1350" b="1" dirty="0">
                <a:solidFill>
                  <a:srgbClr val="3A2C1A"/>
                </a:solidFill>
                <a:latin typeface="Helvetica Neue" pitchFamily="34" charset="0"/>
                <a:ea typeface="Helvetica Neue" pitchFamily="34" charset="-122"/>
                <a:cs typeface="Helvetica Neue" pitchFamily="34" charset="-120"/>
              </a:rPr>
              <a:t>nothing to clean up</a:t>
            </a:r>
            <a:endParaRPr lang="en-US" sz="1350" dirty="0"/>
          </a:p>
        </p:txBody>
      </p:sp>
      <p:sp>
        <p:nvSpPr>
          <p:cNvPr id="66" name="Text 63"/>
          <p:cNvSpPr/>
          <p:nvPr/>
        </p:nvSpPr>
        <p:spPr>
          <a:xfrm>
            <a:off x="6336792" y="5330952"/>
            <a:ext cx="5202936" cy="384048"/>
          </a:xfrm>
          <a:prstGeom prst="rect">
            <a:avLst/>
          </a:prstGeom>
          <a:noFill/>
          <a:ln/>
        </p:spPr>
        <p:txBody>
          <a:bodyPr wrap="square" lIns="0" tIns="0" rIns="0" bIns="0" rtlCol="0" anchor="t">
            <a:normAutofit/>
          </a:bodyPr>
          <a:lstStyle/>
          <a:p>
            <a:pPr algn="ctr" indent="0" marL="0">
              <a:buNone/>
            </a:pPr>
            <a:r>
              <a:rPr lang="en-US" sz="1150" dirty="0">
                <a:solidFill>
                  <a:srgbClr val="6B5A44"/>
                </a:solidFill>
                <a:latin typeface="Helvetica Neue" pitchFamily="34" charset="0"/>
                <a:ea typeface="Helvetica Neue" pitchFamily="34" charset="-122"/>
                <a:cs typeface="Helvetica Neue" pitchFamily="34" charset="-120"/>
              </a:rPr>
              <a:t>no snapshot, no lock, no transactor involved</a:t>
            </a:r>
            <a:endParaRPr lang="en-US" sz="1150" dirty="0"/>
          </a:p>
        </p:txBody>
      </p:sp>
      <p:sp>
        <p:nvSpPr>
          <p:cNvPr id="67" name="Shape 64"/>
          <p:cNvSpPr/>
          <p:nvPr/>
        </p:nvSpPr>
        <p:spPr>
          <a:xfrm>
            <a:off x="548640" y="6419088"/>
            <a:ext cx="54864" cy="292608"/>
          </a:xfrm>
          <a:prstGeom prst="rect">
            <a:avLst/>
          </a:prstGeom>
          <a:solidFill>
            <a:srgbClr val="A8864A"/>
          </a:solidFill>
          <a:ln/>
        </p:spPr>
      </p:sp>
      <p:sp>
        <p:nvSpPr>
          <p:cNvPr id="68" name="Text 65"/>
          <p:cNvSpPr/>
          <p:nvPr/>
        </p:nvSpPr>
        <p:spPr>
          <a:xfrm>
            <a:off x="713232" y="6382512"/>
            <a:ext cx="658368" cy="365760"/>
          </a:xfrm>
          <a:prstGeom prst="rect">
            <a:avLst/>
          </a:prstGeom>
          <a:noFill/>
          <a:ln/>
        </p:spPr>
        <p:txBody>
          <a:bodyPr wrap="square" lIns="0" tIns="0" rIns="0" bIns="0" rtlCol="0" anchor="ctr"/>
          <a:lstStyle/>
          <a:p>
            <a:pPr indent="0" marL="0">
              <a:buNone/>
            </a:pPr>
            <a:r>
              <a:rPr lang="en-US" sz="900" b="1" spc="100" kern="0" dirty="0">
                <a:solidFill>
                  <a:srgbClr val="A8864A"/>
                </a:solidFill>
                <a:latin typeface="Helvetica Neue" pitchFamily="34" charset="0"/>
                <a:ea typeface="Helvetica Neue" pitchFamily="34" charset="-122"/>
                <a:cs typeface="Helvetica Neue" pitchFamily="34" charset="-120"/>
              </a:rPr>
              <a:t>CASES</a:t>
            </a:r>
            <a:endParaRPr lang="en-US" sz="900" dirty="0"/>
          </a:p>
        </p:txBody>
      </p:sp>
      <p:sp>
        <p:nvSpPr>
          <p:cNvPr id="69" name="Text 66"/>
          <p:cNvSpPr/>
          <p:nvPr/>
        </p:nvSpPr>
        <p:spPr>
          <a:xfrm>
            <a:off x="1463040" y="6382512"/>
            <a:ext cx="9509760" cy="365760"/>
          </a:xfrm>
          <a:prstGeom prst="rect">
            <a:avLst/>
          </a:prstGeom>
          <a:noFill/>
          <a:ln/>
        </p:spPr>
        <p:txBody>
          <a:bodyPr wrap="square" lIns="0" tIns="0" rIns="0" bIns="0" rtlCol="0" anchor="ctr"/>
          <a:lstStyle/>
          <a:p>
            <a:pPr indent="0" marL="0">
              <a:buNone/>
            </a:pPr>
            <a:r>
              <a:rPr lang="en-US" sz="1100" dirty="0">
                <a:solidFill>
                  <a:srgbClr val="6B5A44"/>
                </a:solidFill>
                <a:latin typeface="Helvetica Neue" pitchFamily="34" charset="0"/>
                <a:ea typeface="Helvetica Neue" pitchFamily="34" charset="-122"/>
                <a:cs typeface="Helvetica Neue" pitchFamily="34" charset="-120"/>
              </a:rPr>
              <a:t>78.7 → 24.7 ms with 8 slices and pmap   ·   Every slice reads the same db value — nothing to coordinate</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III · PARALLELISM</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19</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Easy example · try before you commit</a:t>
            </a:r>
            <a:endParaRPr lang="en-US" sz="2500" dirty="0"/>
          </a:p>
        </p:txBody>
      </p:sp>
      <p:sp>
        <p:nvSpPr>
          <p:cNvPr id="8" name="Shape 5"/>
          <p:cNvSpPr/>
          <p:nvPr/>
        </p:nvSpPr>
        <p:spPr>
          <a:xfrm>
            <a:off x="548640" y="1463040"/>
            <a:ext cx="2377440" cy="914400"/>
          </a:xfrm>
          <a:prstGeom prst="roundRect">
            <a:avLst>
              <a:gd name="adj" fmla="val 6000"/>
            </a:avLst>
          </a:prstGeom>
          <a:solidFill>
            <a:srgbClr val="2C2416"/>
          </a:solidFill>
          <a:ln/>
        </p:spPr>
      </p:sp>
      <p:sp>
        <p:nvSpPr>
          <p:cNvPr id="9" name="Text 6"/>
          <p:cNvSpPr/>
          <p:nvPr/>
        </p:nvSpPr>
        <p:spPr>
          <a:xfrm>
            <a:off x="621792" y="1609344"/>
            <a:ext cx="2231136" cy="310896"/>
          </a:xfrm>
          <a:prstGeom prst="rect">
            <a:avLst/>
          </a:prstGeom>
          <a:noFill/>
          <a:ln/>
        </p:spPr>
        <p:txBody>
          <a:bodyPr wrap="square" lIns="0" tIns="0" rIns="0" bIns="0" rtlCol="0" anchor="b">
            <a:normAutofit/>
          </a:bodyPr>
          <a:lstStyle/>
          <a:p>
            <a:pPr algn="ctr" indent="0" marL="0">
              <a:buNone/>
            </a:pPr>
            <a:r>
              <a:rPr lang="en-US" sz="1800" b="1" dirty="0">
                <a:solidFill>
                  <a:srgbClr val="FCFAF4"/>
                </a:solidFill>
                <a:latin typeface="Helvetica Neue" pitchFamily="34" charset="0"/>
                <a:ea typeface="Helvetica Neue" pitchFamily="34" charset="-122"/>
                <a:cs typeface="Helvetica Neue" pitchFamily="34" charset="-120"/>
              </a:rPr>
              <a:t>db</a:t>
            </a:r>
            <a:endParaRPr lang="en-US" sz="1800" dirty="0"/>
          </a:p>
        </p:txBody>
      </p:sp>
      <p:sp>
        <p:nvSpPr>
          <p:cNvPr id="10" name="Text 7"/>
          <p:cNvSpPr/>
          <p:nvPr/>
        </p:nvSpPr>
        <p:spPr>
          <a:xfrm>
            <a:off x="621792" y="1901952"/>
            <a:ext cx="2231136" cy="384048"/>
          </a:xfrm>
          <a:prstGeom prst="rect">
            <a:avLst/>
          </a:prstGeom>
          <a:noFill/>
          <a:ln/>
        </p:spPr>
        <p:txBody>
          <a:bodyPr wrap="square" lIns="0" tIns="0" rIns="0" bIns="0" rtlCol="0" anchor="t">
            <a:normAutofit/>
          </a:bodyPr>
          <a:lstStyle/>
          <a:p>
            <a:pPr algn="ctr" indent="0" marL="0">
              <a:buNone/>
            </a:pPr>
            <a:r>
              <a:rPr lang="en-US" sz="1100" dirty="0">
                <a:solidFill>
                  <a:srgbClr val="C9BDA4"/>
                </a:solidFill>
                <a:latin typeface="Helvetica Neue" pitchFamily="34" charset="0"/>
                <a:ea typeface="Helvetica Neue" pitchFamily="34" charset="-122"/>
                <a:cs typeface="Helvetica Neue" pitchFamily="34" charset="-120"/>
              </a:rPr>
              <a:t>the real value</a:t>
            </a:r>
            <a:endParaRPr lang="en-US" sz="1100" dirty="0"/>
          </a:p>
        </p:txBody>
      </p:sp>
      <p:sp>
        <p:nvSpPr>
          <p:cNvPr id="11" name="Shape 8"/>
          <p:cNvSpPr/>
          <p:nvPr/>
        </p:nvSpPr>
        <p:spPr>
          <a:xfrm flipV="1">
            <a:off x="2926080" y="1737360"/>
            <a:ext cx="1280160" cy="182880"/>
          </a:xfrm>
          <a:prstGeom prst="line">
            <a:avLst/>
          </a:prstGeom>
          <a:noFill/>
          <a:ln w="19050">
            <a:solidFill>
              <a:srgbClr val="A8864A"/>
            </a:solidFill>
            <a:prstDash val="solid"/>
            <a:headEnd type="none"/>
            <a:tailEnd type="triangle"/>
          </a:ln>
        </p:spPr>
      </p:sp>
      <p:sp>
        <p:nvSpPr>
          <p:cNvPr id="12" name="Shape 9"/>
          <p:cNvSpPr/>
          <p:nvPr/>
        </p:nvSpPr>
        <p:spPr>
          <a:xfrm>
            <a:off x="4206240" y="1417320"/>
            <a:ext cx="3291840" cy="640080"/>
          </a:xfrm>
          <a:prstGeom prst="roundRect">
            <a:avLst>
              <a:gd name="adj" fmla="val 8571"/>
            </a:avLst>
          </a:prstGeom>
          <a:solidFill>
            <a:srgbClr val="E6DFCE"/>
          </a:solidFill>
          <a:ln w="15875">
            <a:solidFill>
              <a:srgbClr val="C9BDA4"/>
            </a:solidFill>
            <a:prstDash val="solid"/>
          </a:ln>
        </p:spPr>
      </p:sp>
      <p:sp>
        <p:nvSpPr>
          <p:cNvPr id="13" name="Text 10"/>
          <p:cNvSpPr/>
          <p:nvPr/>
        </p:nvSpPr>
        <p:spPr>
          <a:xfrm>
            <a:off x="4279392" y="1417320"/>
            <a:ext cx="3145536" cy="640080"/>
          </a:xfrm>
          <a:prstGeom prst="rect">
            <a:avLst/>
          </a:prstGeom>
          <a:noFill/>
          <a:ln/>
        </p:spPr>
        <p:txBody>
          <a:bodyPr wrap="square" lIns="0" tIns="0" rIns="0" bIns="0" rtlCol="0" anchor="ctr">
            <a:normAutofit/>
          </a:bodyPr>
          <a:lstStyle/>
          <a:p>
            <a:pPr algn="ctr" indent="0" marL="0">
              <a:buNone/>
            </a:pPr>
            <a:r>
              <a:rPr lang="en-US" sz="1250" b="1" dirty="0">
                <a:solidFill>
                  <a:srgbClr val="3A2C1A"/>
                </a:solidFill>
                <a:latin typeface="Helvetica Neue" pitchFamily="34" charset="0"/>
                <a:ea typeface="Helvetica Neue" pitchFamily="34" charset="-122"/>
                <a:cs typeface="Helvetica Neue" pitchFamily="34" charset="-120"/>
              </a:rPr>
              <a:t>d/with scenario A</a:t>
            </a:r>
            <a:endParaRPr lang="en-US" sz="1250" dirty="0"/>
          </a:p>
        </p:txBody>
      </p:sp>
      <p:sp>
        <p:nvSpPr>
          <p:cNvPr id="14" name="Shape 11"/>
          <p:cNvSpPr/>
          <p:nvPr/>
        </p:nvSpPr>
        <p:spPr>
          <a:xfrm>
            <a:off x="7863840" y="1417320"/>
            <a:ext cx="3749040" cy="640080"/>
          </a:xfrm>
          <a:prstGeom prst="roundRect">
            <a:avLst>
              <a:gd name="adj" fmla="val 8571"/>
            </a:avLst>
          </a:prstGeom>
          <a:solidFill>
            <a:srgbClr val="D3DEE1"/>
          </a:solidFill>
          <a:ln w="15875">
            <a:solidFill>
              <a:srgbClr val="3F6470"/>
            </a:solidFill>
            <a:prstDash val="solid"/>
          </a:ln>
        </p:spPr>
      </p:sp>
      <p:sp>
        <p:nvSpPr>
          <p:cNvPr id="15" name="Text 12"/>
          <p:cNvSpPr/>
          <p:nvPr/>
        </p:nvSpPr>
        <p:spPr>
          <a:xfrm>
            <a:off x="7936992" y="1417320"/>
            <a:ext cx="3602736" cy="640080"/>
          </a:xfrm>
          <a:prstGeom prst="rect">
            <a:avLst/>
          </a:prstGeom>
          <a:noFill/>
          <a:ln/>
        </p:spPr>
        <p:txBody>
          <a:bodyPr wrap="square" lIns="0" tIns="0" rIns="0" bIns="0" rtlCol="0" anchor="ctr">
            <a:normAutofit/>
          </a:bodyPr>
          <a:lstStyle/>
          <a:p>
            <a:pPr algn="ctr" indent="0" marL="0">
              <a:buNone/>
            </a:pPr>
            <a:r>
              <a:rPr lang="en-US" sz="1250" b="1" dirty="0">
                <a:solidFill>
                  <a:srgbClr val="3A2C1A"/>
                </a:solidFill>
                <a:latin typeface="Helvetica Neue" pitchFamily="34" charset="0"/>
                <a:ea typeface="Helvetica Neue" pitchFamily="34" charset="-122"/>
                <a:cs typeface="Helvetica Neue" pitchFamily="34" charset="-120"/>
              </a:rPr>
              <a:t>a what-if value</a:t>
            </a:r>
            <a:endParaRPr lang="en-US" sz="1250" dirty="0"/>
          </a:p>
        </p:txBody>
      </p:sp>
      <p:sp>
        <p:nvSpPr>
          <p:cNvPr id="16" name="Shape 13"/>
          <p:cNvSpPr/>
          <p:nvPr/>
        </p:nvSpPr>
        <p:spPr>
          <a:xfrm>
            <a:off x="2926080" y="1920240"/>
            <a:ext cx="1280160" cy="777240"/>
          </a:xfrm>
          <a:prstGeom prst="line">
            <a:avLst/>
          </a:prstGeom>
          <a:noFill/>
          <a:ln w="19050">
            <a:solidFill>
              <a:srgbClr val="A8864A"/>
            </a:solidFill>
            <a:prstDash val="solid"/>
            <a:headEnd type="none"/>
            <a:tailEnd type="triangle"/>
          </a:ln>
        </p:spPr>
      </p:sp>
      <p:sp>
        <p:nvSpPr>
          <p:cNvPr id="17" name="Shape 14"/>
          <p:cNvSpPr/>
          <p:nvPr/>
        </p:nvSpPr>
        <p:spPr>
          <a:xfrm>
            <a:off x="4206240" y="2377440"/>
            <a:ext cx="3291840" cy="640080"/>
          </a:xfrm>
          <a:prstGeom prst="roundRect">
            <a:avLst>
              <a:gd name="adj" fmla="val 8571"/>
            </a:avLst>
          </a:prstGeom>
          <a:solidFill>
            <a:srgbClr val="E6DFCE"/>
          </a:solidFill>
          <a:ln w="15875">
            <a:solidFill>
              <a:srgbClr val="C9BDA4"/>
            </a:solidFill>
            <a:prstDash val="solid"/>
          </a:ln>
        </p:spPr>
      </p:sp>
      <p:sp>
        <p:nvSpPr>
          <p:cNvPr id="18" name="Text 15"/>
          <p:cNvSpPr/>
          <p:nvPr/>
        </p:nvSpPr>
        <p:spPr>
          <a:xfrm>
            <a:off x="4279392" y="2377440"/>
            <a:ext cx="3145536" cy="640080"/>
          </a:xfrm>
          <a:prstGeom prst="rect">
            <a:avLst/>
          </a:prstGeom>
          <a:noFill/>
          <a:ln/>
        </p:spPr>
        <p:txBody>
          <a:bodyPr wrap="square" lIns="0" tIns="0" rIns="0" bIns="0" rtlCol="0" anchor="ctr">
            <a:normAutofit/>
          </a:bodyPr>
          <a:lstStyle/>
          <a:p>
            <a:pPr algn="ctr" indent="0" marL="0">
              <a:buNone/>
            </a:pPr>
            <a:r>
              <a:rPr lang="en-US" sz="1250" b="1" dirty="0">
                <a:solidFill>
                  <a:srgbClr val="3A2C1A"/>
                </a:solidFill>
                <a:latin typeface="Helvetica Neue" pitchFamily="34" charset="0"/>
                <a:ea typeface="Helvetica Neue" pitchFamily="34" charset="-122"/>
                <a:cs typeface="Helvetica Neue" pitchFamily="34" charset="-120"/>
              </a:rPr>
              <a:t>d/with scenario B</a:t>
            </a:r>
            <a:endParaRPr lang="en-US" sz="1250" dirty="0"/>
          </a:p>
        </p:txBody>
      </p:sp>
      <p:sp>
        <p:nvSpPr>
          <p:cNvPr id="19" name="Shape 16"/>
          <p:cNvSpPr/>
          <p:nvPr/>
        </p:nvSpPr>
        <p:spPr>
          <a:xfrm>
            <a:off x="7863840" y="2377440"/>
            <a:ext cx="3749040" cy="640080"/>
          </a:xfrm>
          <a:prstGeom prst="roundRect">
            <a:avLst>
              <a:gd name="adj" fmla="val 8571"/>
            </a:avLst>
          </a:prstGeom>
          <a:solidFill>
            <a:srgbClr val="D3DEE1"/>
          </a:solidFill>
          <a:ln w="15875">
            <a:solidFill>
              <a:srgbClr val="3F6470"/>
            </a:solidFill>
            <a:prstDash val="solid"/>
          </a:ln>
        </p:spPr>
      </p:sp>
      <p:sp>
        <p:nvSpPr>
          <p:cNvPr id="20" name="Text 17"/>
          <p:cNvSpPr/>
          <p:nvPr/>
        </p:nvSpPr>
        <p:spPr>
          <a:xfrm>
            <a:off x="7936992" y="2377440"/>
            <a:ext cx="3602736" cy="640080"/>
          </a:xfrm>
          <a:prstGeom prst="rect">
            <a:avLst/>
          </a:prstGeom>
          <a:noFill/>
          <a:ln/>
        </p:spPr>
        <p:txBody>
          <a:bodyPr wrap="square" lIns="0" tIns="0" rIns="0" bIns="0" rtlCol="0" anchor="ctr">
            <a:normAutofit/>
          </a:bodyPr>
          <a:lstStyle/>
          <a:p>
            <a:pPr algn="ctr" indent="0" marL="0">
              <a:buNone/>
            </a:pPr>
            <a:r>
              <a:rPr lang="en-US" sz="1250" b="1" dirty="0">
                <a:solidFill>
                  <a:srgbClr val="3A2C1A"/>
                </a:solidFill>
                <a:latin typeface="Helvetica Neue" pitchFamily="34" charset="0"/>
                <a:ea typeface="Helvetica Neue" pitchFamily="34" charset="-122"/>
                <a:cs typeface="Helvetica Neue" pitchFamily="34" charset="-120"/>
              </a:rPr>
              <a:t>a what-if value</a:t>
            </a:r>
            <a:endParaRPr lang="en-US" sz="1250" dirty="0"/>
          </a:p>
        </p:txBody>
      </p:sp>
      <p:sp>
        <p:nvSpPr>
          <p:cNvPr id="21" name="Shape 18"/>
          <p:cNvSpPr/>
          <p:nvPr/>
        </p:nvSpPr>
        <p:spPr>
          <a:xfrm>
            <a:off x="2926080" y="1920240"/>
            <a:ext cx="1280160" cy="1737360"/>
          </a:xfrm>
          <a:prstGeom prst="line">
            <a:avLst/>
          </a:prstGeom>
          <a:noFill/>
          <a:ln w="19050">
            <a:solidFill>
              <a:srgbClr val="A8864A"/>
            </a:solidFill>
            <a:prstDash val="solid"/>
            <a:headEnd type="none"/>
            <a:tailEnd type="triangle"/>
          </a:ln>
        </p:spPr>
      </p:sp>
      <p:sp>
        <p:nvSpPr>
          <p:cNvPr id="22" name="Shape 19"/>
          <p:cNvSpPr/>
          <p:nvPr/>
        </p:nvSpPr>
        <p:spPr>
          <a:xfrm>
            <a:off x="4206240" y="3337560"/>
            <a:ext cx="3291840" cy="640080"/>
          </a:xfrm>
          <a:prstGeom prst="roundRect">
            <a:avLst>
              <a:gd name="adj" fmla="val 8571"/>
            </a:avLst>
          </a:prstGeom>
          <a:solidFill>
            <a:srgbClr val="E6DFCE"/>
          </a:solidFill>
          <a:ln w="15875">
            <a:solidFill>
              <a:srgbClr val="C9BDA4"/>
            </a:solidFill>
            <a:prstDash val="solid"/>
          </a:ln>
        </p:spPr>
      </p:sp>
      <p:sp>
        <p:nvSpPr>
          <p:cNvPr id="23" name="Text 20"/>
          <p:cNvSpPr/>
          <p:nvPr/>
        </p:nvSpPr>
        <p:spPr>
          <a:xfrm>
            <a:off x="4279392" y="3337560"/>
            <a:ext cx="3145536" cy="640080"/>
          </a:xfrm>
          <a:prstGeom prst="rect">
            <a:avLst/>
          </a:prstGeom>
          <a:noFill/>
          <a:ln/>
        </p:spPr>
        <p:txBody>
          <a:bodyPr wrap="square" lIns="0" tIns="0" rIns="0" bIns="0" rtlCol="0" anchor="ctr">
            <a:normAutofit/>
          </a:bodyPr>
          <a:lstStyle/>
          <a:p>
            <a:pPr algn="ctr" indent="0" marL="0">
              <a:buNone/>
            </a:pPr>
            <a:r>
              <a:rPr lang="en-US" sz="1250" b="1" dirty="0">
                <a:solidFill>
                  <a:srgbClr val="3A2C1A"/>
                </a:solidFill>
                <a:latin typeface="Helvetica Neue" pitchFamily="34" charset="0"/>
                <a:ea typeface="Helvetica Neue" pitchFamily="34" charset="-122"/>
                <a:cs typeface="Helvetica Neue" pitchFamily="34" charset="-120"/>
              </a:rPr>
              <a:t>d/with scenario C</a:t>
            </a:r>
            <a:endParaRPr lang="en-US" sz="1250" dirty="0"/>
          </a:p>
        </p:txBody>
      </p:sp>
      <p:sp>
        <p:nvSpPr>
          <p:cNvPr id="24" name="Shape 21"/>
          <p:cNvSpPr/>
          <p:nvPr/>
        </p:nvSpPr>
        <p:spPr>
          <a:xfrm>
            <a:off x="7863840" y="3337560"/>
            <a:ext cx="3749040" cy="640080"/>
          </a:xfrm>
          <a:prstGeom prst="roundRect">
            <a:avLst>
              <a:gd name="adj" fmla="val 8571"/>
            </a:avLst>
          </a:prstGeom>
          <a:solidFill>
            <a:srgbClr val="D3DEE1"/>
          </a:solidFill>
          <a:ln w="15875">
            <a:solidFill>
              <a:srgbClr val="3F6470"/>
            </a:solidFill>
            <a:prstDash val="solid"/>
          </a:ln>
        </p:spPr>
      </p:sp>
      <p:sp>
        <p:nvSpPr>
          <p:cNvPr id="25" name="Text 22"/>
          <p:cNvSpPr/>
          <p:nvPr/>
        </p:nvSpPr>
        <p:spPr>
          <a:xfrm>
            <a:off x="7936992" y="3337560"/>
            <a:ext cx="3602736" cy="640080"/>
          </a:xfrm>
          <a:prstGeom prst="rect">
            <a:avLst/>
          </a:prstGeom>
          <a:noFill/>
          <a:ln/>
        </p:spPr>
        <p:txBody>
          <a:bodyPr wrap="square" lIns="0" tIns="0" rIns="0" bIns="0" rtlCol="0" anchor="ctr">
            <a:normAutofit/>
          </a:bodyPr>
          <a:lstStyle/>
          <a:p>
            <a:pPr algn="ctr" indent="0" marL="0">
              <a:buNone/>
            </a:pPr>
            <a:r>
              <a:rPr lang="en-US" sz="1250" b="1" dirty="0">
                <a:solidFill>
                  <a:srgbClr val="3A2C1A"/>
                </a:solidFill>
                <a:latin typeface="Helvetica Neue" pitchFamily="34" charset="0"/>
                <a:ea typeface="Helvetica Neue" pitchFamily="34" charset="-122"/>
                <a:cs typeface="Helvetica Neue" pitchFamily="34" charset="-120"/>
              </a:rPr>
              <a:t>a what-if value</a:t>
            </a:r>
            <a:endParaRPr lang="en-US" sz="1250" dirty="0"/>
          </a:p>
        </p:txBody>
      </p:sp>
      <p:sp>
        <p:nvSpPr>
          <p:cNvPr id="26" name="Text 23"/>
          <p:cNvSpPr/>
          <p:nvPr/>
        </p:nvSpPr>
        <p:spPr>
          <a:xfrm>
            <a:off x="4206240" y="4297680"/>
            <a:ext cx="7406640" cy="274320"/>
          </a:xfrm>
          <a:prstGeom prst="rect">
            <a:avLst/>
          </a:prstGeom>
          <a:noFill/>
          <a:ln/>
        </p:spPr>
        <p:txBody>
          <a:bodyPr wrap="square" lIns="0" tIns="0" rIns="0" bIns="0" rtlCol="0" anchor="t"/>
          <a:lstStyle/>
          <a:p>
            <a:pPr algn="ctr" indent="0" marL="0">
              <a:buNone/>
            </a:pPr>
            <a:r>
              <a:rPr lang="en-US" sz="1250" i="1" dirty="0">
                <a:solidFill>
                  <a:srgbClr val="3F6470"/>
                </a:solidFill>
                <a:latin typeface="Helvetica Neue" pitchFamily="34" charset="0"/>
                <a:ea typeface="Helvetica Neue" pitchFamily="34" charset="-122"/>
                <a:cs typeface="Helvetica Neue" pitchFamily="34" charset="-120"/>
              </a:rPr>
              <a:t>no transactor · nothing durable · the real db is untouched</a:t>
            </a:r>
            <a:endParaRPr lang="en-US" sz="1250" dirty="0"/>
          </a:p>
        </p:txBody>
      </p:sp>
      <p:sp>
        <p:nvSpPr>
          <p:cNvPr id="27" name="Shape 24"/>
          <p:cNvSpPr/>
          <p:nvPr/>
        </p:nvSpPr>
        <p:spPr>
          <a:xfrm>
            <a:off x="548640" y="4709160"/>
            <a:ext cx="7315200" cy="914400"/>
          </a:xfrm>
          <a:prstGeom prst="roundRect">
            <a:avLst>
              <a:gd name="adj" fmla="val 8000"/>
            </a:avLst>
          </a:prstGeom>
          <a:solidFill>
            <a:srgbClr val="E6DFCE"/>
          </a:solidFill>
          <a:ln/>
        </p:spPr>
      </p:sp>
      <p:sp>
        <p:nvSpPr>
          <p:cNvPr id="28" name="Text 25"/>
          <p:cNvSpPr/>
          <p:nvPr/>
        </p:nvSpPr>
        <p:spPr>
          <a:xfrm>
            <a:off x="749808" y="4855464"/>
            <a:ext cx="6912864" cy="621792"/>
          </a:xfrm>
          <a:prstGeom prst="rect">
            <a:avLst/>
          </a:prstGeom>
          <a:noFill/>
          <a:ln/>
        </p:spPr>
        <p:txBody>
          <a:bodyPr wrap="square" lIns="0" tIns="0" rIns="0" bIns="0" rtlCol="0" anchor="t">
            <a:normAutofit/>
          </a:bodyPr>
          <a:lstStyle/>
          <a:p>
            <a:pPr indent="0" marL="0">
              <a:buNone/>
            </a:pPr>
            <a:r>
              <a:rPr lang="en-US" sz="1250" dirty="0">
                <a:solidFill>
                  <a:srgbClr val="3A2C1A"/>
                </a:solidFill>
                <a:latin typeface="Courier New" pitchFamily="34" charset="0"/>
                <a:ea typeface="Courier New" pitchFamily="34" charset="-122"/>
                <a:cs typeface="Courier New" pitchFamily="34" charset="-120"/>
              </a:rPr>
              <a:t>(d/with db proposed-tx)                    ;; =&gt; a new value; real db unchanged</a:t>
            </a:r>
            <a:endParaRPr lang="en-US" sz="1250" dirty="0"/>
          </a:p>
          <a:p>
            <a:pPr indent="0" marL="0">
              <a:buNone/>
            </a:pPr>
            <a:r>
              <a:rPr lang="en-US" sz="1250" dirty="0">
                <a:solidFill>
                  <a:srgbClr val="3A2C1A"/>
                </a:solidFill>
                <a:latin typeface="Courier New" pitchFamily="34" charset="0"/>
                <a:ea typeface="Courier New" pitchFamily="34" charset="-122"/>
                <a:cs typeface="Courier New" pitchFamily="34" charset="-120"/>
              </a:rPr>
              <a:t>(pmap #(check (d/with db %)) scenarios)    ;; many at once, safely</a:t>
            </a:r>
            <a:endParaRPr lang="en-US" sz="1250" dirty="0"/>
          </a:p>
        </p:txBody>
      </p:sp>
      <p:sp>
        <p:nvSpPr>
          <p:cNvPr id="29" name="Shape 26"/>
          <p:cNvSpPr/>
          <p:nvPr/>
        </p:nvSpPr>
        <p:spPr>
          <a:xfrm>
            <a:off x="8138160" y="4709160"/>
            <a:ext cx="3474720" cy="914400"/>
          </a:xfrm>
          <a:prstGeom prst="roundRect">
            <a:avLst>
              <a:gd name="adj" fmla="val 8000"/>
            </a:avLst>
          </a:prstGeom>
          <a:solidFill>
            <a:srgbClr val="E6DFCE"/>
          </a:solidFill>
          <a:ln/>
        </p:spPr>
      </p:sp>
      <p:sp>
        <p:nvSpPr>
          <p:cNvPr id="30" name="Text 27"/>
          <p:cNvSpPr/>
          <p:nvPr/>
        </p:nvSpPr>
        <p:spPr>
          <a:xfrm>
            <a:off x="8366760" y="4800600"/>
            <a:ext cx="3017520" cy="256032"/>
          </a:xfrm>
          <a:prstGeom prst="rect">
            <a:avLst/>
          </a:prstGeom>
          <a:noFill/>
          <a:ln/>
        </p:spPr>
        <p:txBody>
          <a:bodyPr wrap="square" lIns="0" tIns="0" rIns="0" bIns="0" rtlCol="0" anchor="t"/>
          <a:lstStyle/>
          <a:p>
            <a:pPr indent="0" marL="0">
              <a:buNone/>
            </a:pPr>
            <a:r>
              <a:rPr lang="en-US" sz="1100" b="1" spc="150" kern="0" dirty="0">
                <a:solidFill>
                  <a:srgbClr val="A8864A"/>
                </a:solidFill>
                <a:latin typeface="Helvetica Neue" pitchFamily="34" charset="0"/>
                <a:ea typeface="Helvetica Neue" pitchFamily="34" charset="-122"/>
                <a:cs typeface="Helvetica Neue" pitchFamily="34" charset="-120"/>
              </a:rPr>
              <a:t>USE FOR</a:t>
            </a:r>
            <a:endParaRPr lang="en-US" sz="1100" dirty="0"/>
          </a:p>
        </p:txBody>
      </p:sp>
      <p:sp>
        <p:nvSpPr>
          <p:cNvPr id="31" name="Text 28"/>
          <p:cNvSpPr/>
          <p:nvPr/>
        </p:nvSpPr>
        <p:spPr>
          <a:xfrm>
            <a:off x="8366760" y="5074920"/>
            <a:ext cx="3017520" cy="502920"/>
          </a:xfrm>
          <a:prstGeom prst="rect">
            <a:avLst/>
          </a:prstGeom>
          <a:noFill/>
          <a:ln/>
        </p:spPr>
        <p:txBody>
          <a:bodyPr wrap="square" lIns="0" tIns="0" rIns="0" bIns="0" rtlCol="0" anchor="t"/>
          <a:lstStyle/>
          <a:p>
            <a:pPr indent="0" marL="0">
              <a:buNone/>
            </a:pPr>
            <a:r>
              <a:rPr lang="en-US" sz="1200" dirty="0">
                <a:solidFill>
                  <a:srgbClr val="6B5A44"/>
                </a:solidFill>
                <a:latin typeface="Helvetica Neue" pitchFamily="34" charset="0"/>
                <a:ea typeface="Helvetica Neue" pitchFamily="34" charset="-122"/>
                <a:cs typeface="Helvetica Neue" pitchFamily="34" charset="-120"/>
              </a:rPr>
              <a:t>import dry runs · what-if scenarios</a:t>
            </a:r>
            <a:endParaRPr lang="en-US" sz="1200" dirty="0"/>
          </a:p>
        </p:txBody>
      </p:sp>
      <p:sp>
        <p:nvSpPr>
          <p:cNvPr id="32" name="Shape 29"/>
          <p:cNvSpPr/>
          <p:nvPr/>
        </p:nvSpPr>
        <p:spPr>
          <a:xfrm>
            <a:off x="548640" y="5806440"/>
            <a:ext cx="54864" cy="457200"/>
          </a:xfrm>
          <a:prstGeom prst="rect">
            <a:avLst/>
          </a:prstGeom>
          <a:solidFill>
            <a:srgbClr val="A8864A"/>
          </a:solidFill>
          <a:ln/>
        </p:spPr>
      </p:sp>
      <p:sp>
        <p:nvSpPr>
          <p:cNvPr id="33" name="Text 30"/>
          <p:cNvSpPr/>
          <p:nvPr/>
        </p:nvSpPr>
        <p:spPr>
          <a:xfrm>
            <a:off x="777240" y="580644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All the transaction machinery, none of the door: validate cheaply, commit once.</a:t>
            </a:r>
            <a:endParaRPr lang="en-US" sz="1450" dirty="0"/>
          </a:p>
        </p:txBody>
      </p:sp>
      <p:sp>
        <p:nvSpPr>
          <p:cNvPr id="34" name="Shape 31"/>
          <p:cNvSpPr/>
          <p:nvPr/>
        </p:nvSpPr>
        <p:spPr>
          <a:xfrm>
            <a:off x="548640" y="6419088"/>
            <a:ext cx="54864" cy="292608"/>
          </a:xfrm>
          <a:prstGeom prst="rect">
            <a:avLst/>
          </a:prstGeom>
          <a:solidFill>
            <a:srgbClr val="A8864A"/>
          </a:solidFill>
          <a:ln/>
        </p:spPr>
      </p:sp>
      <p:sp>
        <p:nvSpPr>
          <p:cNvPr id="35" name="Text 32"/>
          <p:cNvSpPr/>
          <p:nvPr/>
        </p:nvSpPr>
        <p:spPr>
          <a:xfrm>
            <a:off x="713232" y="6382512"/>
            <a:ext cx="658368" cy="365760"/>
          </a:xfrm>
          <a:prstGeom prst="rect">
            <a:avLst/>
          </a:prstGeom>
          <a:noFill/>
          <a:ln/>
        </p:spPr>
        <p:txBody>
          <a:bodyPr wrap="square" lIns="0" tIns="0" rIns="0" bIns="0" rtlCol="0" anchor="ctr"/>
          <a:lstStyle/>
          <a:p>
            <a:pPr indent="0" marL="0">
              <a:buNone/>
            </a:pPr>
            <a:r>
              <a:rPr lang="en-US" sz="900" b="1" spc="100" kern="0" dirty="0">
                <a:solidFill>
                  <a:srgbClr val="A8864A"/>
                </a:solidFill>
                <a:latin typeface="Helvetica Neue" pitchFamily="34" charset="0"/>
                <a:ea typeface="Helvetica Neue" pitchFamily="34" charset="-122"/>
                <a:cs typeface="Helvetica Neue" pitchFamily="34" charset="-120"/>
              </a:rPr>
              <a:t>CASES</a:t>
            </a:r>
            <a:endParaRPr lang="en-US" sz="900" dirty="0"/>
          </a:p>
        </p:txBody>
      </p:sp>
      <p:sp>
        <p:nvSpPr>
          <p:cNvPr id="36" name="Text 33"/>
          <p:cNvSpPr/>
          <p:nvPr/>
        </p:nvSpPr>
        <p:spPr>
          <a:xfrm>
            <a:off x="1463040" y="6382512"/>
            <a:ext cx="9509760" cy="365760"/>
          </a:xfrm>
          <a:prstGeom prst="rect">
            <a:avLst/>
          </a:prstGeom>
          <a:noFill/>
          <a:ln/>
        </p:spPr>
        <p:txBody>
          <a:bodyPr wrap="square" lIns="0" tIns="0" rIns="0" bIns="0" rtlCol="0" anchor="ctr"/>
          <a:lstStyle/>
          <a:p>
            <a:pPr indent="0" marL="0">
              <a:buNone/>
            </a:pPr>
            <a:r>
              <a:rPr lang="en-US" sz="1100" dirty="0">
                <a:solidFill>
                  <a:srgbClr val="6B5A44"/>
                </a:solidFill>
                <a:latin typeface="Helvetica Neue" pitchFamily="34" charset="0"/>
                <a:ea typeface="Helvetica Neue" pitchFamily="34" charset="-122"/>
                <a:cs typeface="Helvetica Neue" pitchFamily="34" charset="-120"/>
              </a:rPr>
              <a:t>Dry-run a bulk import before spending transactor time on it   ·   A uniqueness violation surfaces in the what-if, not mid-load</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III · PARALLELISM</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20</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The catches of parallelism</a:t>
            </a:r>
            <a:endParaRPr lang="en-US" sz="2500" dirty="0"/>
          </a:p>
        </p:txBody>
      </p:sp>
      <p:sp>
        <p:nvSpPr>
          <p:cNvPr id="8" name="Shape 5"/>
          <p:cNvSpPr/>
          <p:nvPr/>
        </p:nvSpPr>
        <p:spPr>
          <a:xfrm>
            <a:off x="548640" y="1417320"/>
            <a:ext cx="11064240" cy="1051560"/>
          </a:xfrm>
          <a:prstGeom prst="roundRect">
            <a:avLst>
              <a:gd name="adj" fmla="val 6957"/>
            </a:avLst>
          </a:prstGeom>
          <a:solidFill>
            <a:srgbClr val="EBD5CB"/>
          </a:solidFill>
          <a:ln/>
        </p:spPr>
      </p:sp>
      <p:sp>
        <p:nvSpPr>
          <p:cNvPr id="9" name="Shape 6"/>
          <p:cNvSpPr/>
          <p:nvPr/>
        </p:nvSpPr>
        <p:spPr>
          <a:xfrm>
            <a:off x="548640" y="1417320"/>
            <a:ext cx="82296" cy="1051560"/>
          </a:xfrm>
          <a:prstGeom prst="rect">
            <a:avLst/>
          </a:prstGeom>
          <a:solidFill>
            <a:srgbClr val="9E4227"/>
          </a:solidFill>
          <a:ln/>
        </p:spPr>
      </p:sp>
      <p:sp>
        <p:nvSpPr>
          <p:cNvPr id="10" name="Text 7"/>
          <p:cNvSpPr/>
          <p:nvPr/>
        </p:nvSpPr>
        <p:spPr>
          <a:xfrm>
            <a:off x="868680" y="1545336"/>
            <a:ext cx="10424160" cy="384048"/>
          </a:xfrm>
          <a:prstGeom prst="rect">
            <a:avLst/>
          </a:prstGeom>
          <a:noFill/>
          <a:ln/>
        </p:spPr>
        <p:txBody>
          <a:bodyPr wrap="square" lIns="0" tIns="0" rIns="0" bIns="0" rtlCol="0" anchor="t">
            <a:normAutofit/>
          </a:bodyPr>
          <a:lstStyle/>
          <a:p>
            <a:pPr indent="0" marL="0">
              <a:buNone/>
            </a:pPr>
            <a:r>
              <a:rPr lang="en-US" sz="1550" b="1" dirty="0">
                <a:solidFill>
                  <a:srgbClr val="3A2C1A"/>
                </a:solidFill>
                <a:latin typeface="Helvetica Neue" pitchFamily="34" charset="0"/>
                <a:ea typeface="Helvetica Neue" pitchFamily="34" charset="-122"/>
                <a:cs typeface="Helvetica Neue" pitchFamily="34" charset="-120"/>
              </a:rPr>
              <a:t>1 · one d/q = one core</a:t>
            </a:r>
            <a:endParaRPr lang="en-US" sz="1550" dirty="0"/>
          </a:p>
        </p:txBody>
      </p:sp>
      <p:sp>
        <p:nvSpPr>
          <p:cNvPr id="11" name="Text 8"/>
          <p:cNvSpPr/>
          <p:nvPr/>
        </p:nvSpPr>
        <p:spPr>
          <a:xfrm>
            <a:off x="868680" y="1965960"/>
            <a:ext cx="10424160" cy="411480"/>
          </a:xfrm>
          <a:prstGeom prst="rect">
            <a:avLst/>
          </a:prstGeom>
          <a:noFill/>
          <a:ln/>
        </p:spPr>
        <p:txBody>
          <a:bodyPr wrap="square" lIns="0" tIns="0" rIns="0" bIns="0" rtlCol="0" anchor="t">
            <a:normAutofit/>
          </a:bodyPr>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no setting changes this — parallelism is across queries, or across slices you cut</a:t>
            </a:r>
            <a:endParaRPr lang="en-US" sz="1250" dirty="0"/>
          </a:p>
        </p:txBody>
      </p:sp>
      <p:sp>
        <p:nvSpPr>
          <p:cNvPr id="12" name="Shape 9"/>
          <p:cNvSpPr/>
          <p:nvPr/>
        </p:nvSpPr>
        <p:spPr>
          <a:xfrm>
            <a:off x="548640" y="2651760"/>
            <a:ext cx="11064240" cy="1051560"/>
          </a:xfrm>
          <a:prstGeom prst="roundRect">
            <a:avLst>
              <a:gd name="adj" fmla="val 6957"/>
            </a:avLst>
          </a:prstGeom>
          <a:solidFill>
            <a:srgbClr val="EDE0C4"/>
          </a:solidFill>
          <a:ln/>
        </p:spPr>
      </p:sp>
      <p:sp>
        <p:nvSpPr>
          <p:cNvPr id="13" name="Shape 10"/>
          <p:cNvSpPr/>
          <p:nvPr/>
        </p:nvSpPr>
        <p:spPr>
          <a:xfrm>
            <a:off x="548640" y="2651760"/>
            <a:ext cx="82296" cy="1051560"/>
          </a:xfrm>
          <a:prstGeom prst="rect">
            <a:avLst/>
          </a:prstGeom>
          <a:solidFill>
            <a:srgbClr val="B5822B"/>
          </a:solidFill>
          <a:ln/>
        </p:spPr>
      </p:sp>
      <p:sp>
        <p:nvSpPr>
          <p:cNvPr id="14" name="Text 11"/>
          <p:cNvSpPr/>
          <p:nvPr/>
        </p:nvSpPr>
        <p:spPr>
          <a:xfrm>
            <a:off x="868680" y="2779776"/>
            <a:ext cx="10424160" cy="384048"/>
          </a:xfrm>
          <a:prstGeom prst="rect">
            <a:avLst/>
          </a:prstGeom>
          <a:noFill/>
          <a:ln/>
        </p:spPr>
        <p:txBody>
          <a:bodyPr wrap="square" lIns="0" tIns="0" rIns="0" bIns="0" rtlCol="0" anchor="t">
            <a:normAutofit/>
          </a:bodyPr>
          <a:lstStyle/>
          <a:p>
            <a:pPr indent="0" marL="0">
              <a:buNone/>
            </a:pPr>
            <a:r>
              <a:rPr lang="en-US" sz="1550" b="1" dirty="0">
                <a:solidFill>
                  <a:srgbClr val="3A2C1A"/>
                </a:solidFill>
                <a:latin typeface="Helvetica Neue" pitchFamily="34" charset="0"/>
                <a:ea typeface="Helvetica Neue" pitchFamily="34" charset="-122"/>
                <a:cs typeface="Helvetica Neue" pitchFamily="34" charset="-120"/>
              </a:rPr>
              <a:t>2 · a second transactor adds ZERO write throughput</a:t>
            </a:r>
            <a:endParaRPr lang="en-US" sz="1550" dirty="0"/>
          </a:p>
        </p:txBody>
      </p:sp>
      <p:sp>
        <p:nvSpPr>
          <p:cNvPr id="15" name="Text 12"/>
          <p:cNvSpPr/>
          <p:nvPr/>
        </p:nvSpPr>
        <p:spPr>
          <a:xfrm>
            <a:off x="868680" y="3200400"/>
            <a:ext cx="10424160" cy="411480"/>
          </a:xfrm>
          <a:prstGeom prst="rect">
            <a:avLst/>
          </a:prstGeom>
          <a:noFill/>
          <a:ln/>
        </p:spPr>
        <p:txBody>
          <a:bodyPr wrap="square" lIns="0" tIns="0" rIns="0" bIns="0" rtlCol="0" anchor="t">
            <a:normAutofit/>
          </a:bodyPr>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it is a standby for failover (Part II), not a second worker — idle by design</a:t>
            </a:r>
            <a:endParaRPr lang="en-US" sz="1250" dirty="0"/>
          </a:p>
        </p:txBody>
      </p:sp>
      <p:sp>
        <p:nvSpPr>
          <p:cNvPr id="16" name="Shape 13"/>
          <p:cNvSpPr/>
          <p:nvPr/>
        </p:nvSpPr>
        <p:spPr>
          <a:xfrm>
            <a:off x="548640" y="3886200"/>
            <a:ext cx="11064240" cy="1051560"/>
          </a:xfrm>
          <a:prstGeom prst="roundRect">
            <a:avLst>
              <a:gd name="adj" fmla="val 6957"/>
            </a:avLst>
          </a:prstGeom>
          <a:solidFill>
            <a:srgbClr val="D3DEE1"/>
          </a:solidFill>
          <a:ln/>
        </p:spPr>
      </p:sp>
      <p:sp>
        <p:nvSpPr>
          <p:cNvPr id="17" name="Shape 14"/>
          <p:cNvSpPr/>
          <p:nvPr/>
        </p:nvSpPr>
        <p:spPr>
          <a:xfrm>
            <a:off x="548640" y="3886200"/>
            <a:ext cx="82296" cy="1051560"/>
          </a:xfrm>
          <a:prstGeom prst="rect">
            <a:avLst/>
          </a:prstGeom>
          <a:solidFill>
            <a:srgbClr val="3F6470"/>
          </a:solidFill>
          <a:ln/>
        </p:spPr>
      </p:sp>
      <p:sp>
        <p:nvSpPr>
          <p:cNvPr id="18" name="Text 15"/>
          <p:cNvSpPr/>
          <p:nvPr/>
        </p:nvSpPr>
        <p:spPr>
          <a:xfrm>
            <a:off x="868680" y="4014216"/>
            <a:ext cx="10424160" cy="384048"/>
          </a:xfrm>
          <a:prstGeom prst="rect">
            <a:avLst/>
          </a:prstGeom>
          <a:noFill/>
          <a:ln/>
        </p:spPr>
        <p:txBody>
          <a:bodyPr wrap="square" lIns="0" tIns="0" rIns="0" bIns="0" rtlCol="0" anchor="t">
            <a:normAutofit/>
          </a:bodyPr>
          <a:lstStyle/>
          <a:p>
            <a:pPr indent="0" marL="0">
              <a:buNone/>
            </a:pPr>
            <a:r>
              <a:rPr lang="en-US" sz="1550" b="1" dirty="0">
                <a:solidFill>
                  <a:srgbClr val="3A2C1A"/>
                </a:solidFill>
                <a:latin typeface="Helvetica Neue" pitchFamily="34" charset="0"/>
                <a:ea typeface="Helvetica Neue" pitchFamily="34" charset="-122"/>
                <a:cs typeface="Helvetica Neue" pitchFamily="34" charset="-120"/>
              </a:rPr>
              <a:t>3 · on a cold peer, the speedup is mostly overlapped waiting</a:t>
            </a:r>
            <a:endParaRPr lang="en-US" sz="1550" dirty="0"/>
          </a:p>
        </p:txBody>
      </p:sp>
      <p:sp>
        <p:nvSpPr>
          <p:cNvPr id="19" name="Text 16"/>
          <p:cNvSpPr/>
          <p:nvPr/>
        </p:nvSpPr>
        <p:spPr>
          <a:xfrm>
            <a:off x="868680" y="4434840"/>
            <a:ext cx="10424160" cy="411480"/>
          </a:xfrm>
          <a:prstGeom prst="rect">
            <a:avLst/>
          </a:prstGeom>
          <a:noFill/>
          <a:ln/>
        </p:spPr>
        <p:txBody>
          <a:bodyPr wrap="square" lIns="0" tIns="0" rIns="0" bIns="0" rtlCol="0" anchor="t">
            <a:normAutofit/>
          </a:bodyPr>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you are overlapping fetches, not dividing CPU work — the real fix may be a warm cache</a:t>
            </a:r>
            <a:endParaRPr lang="en-US" sz="1250" dirty="0"/>
          </a:p>
        </p:txBody>
      </p:sp>
      <p:sp>
        <p:nvSpPr>
          <p:cNvPr id="20" name="Shape 17"/>
          <p:cNvSpPr/>
          <p:nvPr/>
        </p:nvSpPr>
        <p:spPr>
          <a:xfrm>
            <a:off x="548640" y="5349240"/>
            <a:ext cx="54864" cy="457200"/>
          </a:xfrm>
          <a:prstGeom prst="rect">
            <a:avLst/>
          </a:prstGeom>
          <a:solidFill>
            <a:srgbClr val="A8864A"/>
          </a:solidFill>
          <a:ln/>
        </p:spPr>
      </p:sp>
      <p:sp>
        <p:nvSpPr>
          <p:cNvPr id="21" name="Text 18"/>
          <p:cNvSpPr/>
          <p:nvPr/>
        </p:nvSpPr>
        <p:spPr>
          <a:xfrm>
            <a:off x="777240" y="534924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Before parallelizing, ask which side you are on. The write side has one answer: batch.</a:t>
            </a:r>
            <a:endParaRPr lang="en-US" sz="1450" dirty="0"/>
          </a:p>
        </p:txBody>
      </p:sp>
      <p:sp>
        <p:nvSpPr>
          <p:cNvPr id="22" name="Shape 19"/>
          <p:cNvSpPr/>
          <p:nvPr/>
        </p:nvSpPr>
        <p:spPr>
          <a:xfrm>
            <a:off x="548640" y="6419088"/>
            <a:ext cx="54864" cy="292608"/>
          </a:xfrm>
          <a:prstGeom prst="rect">
            <a:avLst/>
          </a:prstGeom>
          <a:solidFill>
            <a:srgbClr val="A8864A"/>
          </a:solidFill>
          <a:ln/>
        </p:spPr>
      </p:sp>
      <p:sp>
        <p:nvSpPr>
          <p:cNvPr id="23" name="Text 20"/>
          <p:cNvSpPr/>
          <p:nvPr/>
        </p:nvSpPr>
        <p:spPr>
          <a:xfrm>
            <a:off x="713232" y="6382512"/>
            <a:ext cx="658368" cy="365760"/>
          </a:xfrm>
          <a:prstGeom prst="rect">
            <a:avLst/>
          </a:prstGeom>
          <a:noFill/>
          <a:ln/>
        </p:spPr>
        <p:txBody>
          <a:bodyPr wrap="square" lIns="0" tIns="0" rIns="0" bIns="0" rtlCol="0" anchor="ctr"/>
          <a:lstStyle/>
          <a:p>
            <a:pPr indent="0" marL="0">
              <a:buNone/>
            </a:pPr>
            <a:r>
              <a:rPr lang="en-US" sz="900" b="1" spc="100" kern="0" dirty="0">
                <a:solidFill>
                  <a:srgbClr val="A8864A"/>
                </a:solidFill>
                <a:latin typeface="Helvetica Neue" pitchFamily="34" charset="0"/>
                <a:ea typeface="Helvetica Neue" pitchFamily="34" charset="-122"/>
                <a:cs typeface="Helvetica Neue" pitchFamily="34" charset="-120"/>
              </a:rPr>
              <a:t>CASES</a:t>
            </a:r>
            <a:endParaRPr lang="en-US" sz="900" dirty="0"/>
          </a:p>
        </p:txBody>
      </p:sp>
      <p:sp>
        <p:nvSpPr>
          <p:cNvPr id="24" name="Text 21"/>
          <p:cNvSpPr/>
          <p:nvPr/>
        </p:nvSpPr>
        <p:spPr>
          <a:xfrm>
            <a:off x="1463040" y="6382512"/>
            <a:ext cx="9509760" cy="365760"/>
          </a:xfrm>
          <a:prstGeom prst="rect">
            <a:avLst/>
          </a:prstGeom>
          <a:noFill/>
          <a:ln/>
        </p:spPr>
        <p:txBody>
          <a:bodyPr wrap="square" lIns="0" tIns="0" rIns="0" bIns="0" rtlCol="0" anchor="ctr"/>
          <a:lstStyle/>
          <a:p>
            <a:pPr indent="0" marL="0">
              <a:buNone/>
            </a:pPr>
            <a:r>
              <a:rPr lang="en-US" sz="1100" dirty="0">
                <a:solidFill>
                  <a:srgbClr val="6B5A44"/>
                </a:solidFill>
                <a:latin typeface="Helvetica Neue" pitchFamily="34" charset="0"/>
                <a:ea typeface="Helvetica Neue" pitchFamily="34" charset="-122"/>
                <a:cs typeface="Helvetica Neue" pitchFamily="34" charset="-120"/>
              </a:rPr>
              <a:t>One slow query, eight idle cores: the cores stay idle   ·   Write throughput problem 'solved' with a second transactor: still 1× </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C2416"/>
          </a:solidFill>
          <a:ln/>
        </p:spPr>
      </p:sp>
      <p:sp>
        <p:nvSpPr>
          <p:cNvPr id="3" name="Shape 1"/>
          <p:cNvSpPr/>
          <p:nvPr/>
        </p:nvSpPr>
        <p:spPr>
          <a:xfrm>
            <a:off x="0" y="2011680"/>
            <a:ext cx="228600" cy="2011680"/>
          </a:xfrm>
          <a:prstGeom prst="rect">
            <a:avLst/>
          </a:prstGeom>
          <a:solidFill>
            <a:srgbClr val="A8864A"/>
          </a:solidFill>
          <a:ln/>
        </p:spPr>
      </p:sp>
      <p:sp>
        <p:nvSpPr>
          <p:cNvPr id="4" name="Text 2"/>
          <p:cNvSpPr/>
          <p:nvPr/>
        </p:nvSpPr>
        <p:spPr>
          <a:xfrm>
            <a:off x="822960" y="2103120"/>
            <a:ext cx="10515600" cy="365760"/>
          </a:xfrm>
          <a:prstGeom prst="rect">
            <a:avLst/>
          </a:prstGeom>
          <a:noFill/>
          <a:ln/>
        </p:spPr>
        <p:txBody>
          <a:bodyPr wrap="square" lIns="0" tIns="0" rIns="0" bIns="0" rtlCol="0" anchor="t"/>
          <a:lstStyle/>
          <a:p>
            <a:pPr indent="0" marL="0">
              <a:buNone/>
            </a:pPr>
            <a:r>
              <a:rPr lang="en-US" sz="1500" spc="300" kern="0" dirty="0">
                <a:solidFill>
                  <a:srgbClr val="C6A46A"/>
                </a:solidFill>
                <a:latin typeface="Helvetica Neue" pitchFamily="34" charset="0"/>
                <a:ea typeface="Helvetica Neue" pitchFamily="34" charset="-122"/>
                <a:cs typeface="Helvetica Neue" pitchFamily="34" charset="-120"/>
              </a:rPr>
              <a:t>PART IV</a:t>
            </a:r>
            <a:endParaRPr lang="en-US" sz="1500" dirty="0"/>
          </a:p>
        </p:txBody>
      </p:sp>
      <p:sp>
        <p:nvSpPr>
          <p:cNvPr id="5" name="Text 3"/>
          <p:cNvSpPr/>
          <p:nvPr/>
        </p:nvSpPr>
        <p:spPr>
          <a:xfrm>
            <a:off x="822960" y="2606040"/>
            <a:ext cx="10515600" cy="822960"/>
          </a:xfrm>
          <a:prstGeom prst="rect">
            <a:avLst/>
          </a:prstGeom>
          <a:noFill/>
          <a:ln/>
        </p:spPr>
        <p:txBody>
          <a:bodyPr wrap="square" lIns="0" tIns="0" rIns="0" bIns="0" rtlCol="0" anchor="t"/>
          <a:lstStyle/>
          <a:p>
            <a:pPr indent="0" marL="0">
              <a:buNone/>
            </a:pPr>
            <a:r>
              <a:rPr lang="en-US" sz="3400" dirty="0">
                <a:solidFill>
                  <a:srgbClr val="FCFAF4"/>
                </a:solidFill>
                <a:latin typeface="Georgia" pitchFamily="34" charset="0"/>
                <a:ea typeface="Georgia" pitchFamily="34" charset="-122"/>
                <a:cs typeface="Georgia" pitchFamily="34" charset="-120"/>
              </a:rPr>
              <a:t>Caches</a:t>
            </a:r>
            <a:endParaRPr lang="en-US" sz="3400" dirty="0"/>
          </a:p>
        </p:txBody>
      </p:sp>
      <p:sp>
        <p:nvSpPr>
          <p:cNvPr id="6" name="Text 4"/>
          <p:cNvSpPr/>
          <p:nvPr/>
        </p:nvSpPr>
        <p:spPr>
          <a:xfrm>
            <a:off x="822960" y="3520440"/>
            <a:ext cx="10515600" cy="731520"/>
          </a:xfrm>
          <a:prstGeom prst="rect">
            <a:avLst/>
          </a:prstGeom>
          <a:noFill/>
          <a:ln/>
        </p:spPr>
        <p:txBody>
          <a:bodyPr wrap="square" lIns="0" tIns="0" rIns="0" bIns="0" rtlCol="0" anchor="t"/>
          <a:lstStyle/>
          <a:p>
            <a:pPr indent="0" marL="0">
              <a:buNone/>
            </a:pPr>
            <a:r>
              <a:rPr lang="en-US" sz="1600" dirty="0">
                <a:solidFill>
                  <a:srgbClr val="C9BDA4"/>
                </a:solidFill>
                <a:latin typeface="Helvetica Neue" pitchFamily="34" charset="0"/>
                <a:ea typeface="Helvetica Neue" pitchFamily="34" charset="-122"/>
                <a:cs typeface="Helvetica Neue" pitchFamily="34" charset="-120"/>
              </a:rPr>
              <a:t>Where the read cost actually goes</a:t>
            </a:r>
            <a:endParaRPr lang="en-US" sz="1600" dirty="0"/>
          </a:p>
        </p:txBody>
      </p:sp>
      <p:sp>
        <p:nvSpPr>
          <p:cNvPr id="7" name="Text 5"/>
          <p:cNvSpPr/>
          <p:nvPr/>
        </p:nvSpPr>
        <p:spPr>
          <a:xfrm>
            <a:off x="822960" y="4434840"/>
            <a:ext cx="10515600" cy="1828800"/>
          </a:xfrm>
          <a:prstGeom prst="rect">
            <a:avLst/>
          </a:prstGeom>
          <a:noFill/>
          <a:ln/>
        </p:spPr>
        <p:txBody>
          <a:bodyPr wrap="square" lIns="0" tIns="0" rIns="0" bIns="0" rtlCol="0" anchor="t"/>
          <a:lstStyle/>
          <a:p>
            <a:pPr indent="0" marL="0">
              <a:buNone/>
            </a:pPr>
            <a:r>
              <a:rPr lang="en-US" sz="1400" dirty="0">
                <a:solidFill>
                  <a:srgbClr val="C9BDA4"/>
                </a:solidFill>
                <a:latin typeface="Helvetica Neue" pitchFamily="34" charset="0"/>
                <a:ea typeface="Helvetica Neue" pitchFamily="34" charset="-122"/>
                <a:cs typeface="Helvetica Neue" pitchFamily="34" charset="-120"/>
              </a:rPr>
              <a:t>Part I established that a read costs whatever fetching costs. Caches are how you stop fetching. The model is a ladder of four tiers; the unit moving through it is a block of the index, not a row; and the big catch is that a deploy empties most of the ladder at the worst possible moment.</a:t>
            </a:r>
            <a:endParaRPr lang="en-US" sz="1400" dirty="0"/>
          </a:p>
        </p:txBody>
      </p:sp>
      <p:sp>
        <p:nvSpPr>
          <p:cNvPr id="8" name="Text 6"/>
          <p:cNvSpPr/>
          <p:nvPr/>
        </p:nvSpPr>
        <p:spPr>
          <a:xfrm>
            <a:off x="11155680" y="6400800"/>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IV · CACHES</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22</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The ladder — a read walks down until a tier answers</a:t>
            </a:r>
            <a:endParaRPr lang="en-US" sz="2500" dirty="0"/>
          </a:p>
        </p:txBody>
      </p:sp>
      <p:sp>
        <p:nvSpPr>
          <p:cNvPr id="8" name="Shape 5"/>
          <p:cNvSpPr/>
          <p:nvPr/>
        </p:nvSpPr>
        <p:spPr>
          <a:xfrm>
            <a:off x="914400" y="1371600"/>
            <a:ext cx="7955280" cy="841248"/>
          </a:xfrm>
          <a:prstGeom prst="roundRect">
            <a:avLst>
              <a:gd name="adj" fmla="val 8696"/>
            </a:avLst>
          </a:prstGeom>
          <a:solidFill>
            <a:srgbClr val="2C2416"/>
          </a:solidFill>
          <a:ln/>
        </p:spPr>
      </p:sp>
      <p:sp>
        <p:nvSpPr>
          <p:cNvPr id="9" name="Text 6"/>
          <p:cNvSpPr/>
          <p:nvPr/>
        </p:nvSpPr>
        <p:spPr>
          <a:xfrm>
            <a:off x="1143000" y="1371600"/>
            <a:ext cx="457200" cy="841248"/>
          </a:xfrm>
          <a:prstGeom prst="rect">
            <a:avLst/>
          </a:prstGeom>
          <a:noFill/>
          <a:ln/>
        </p:spPr>
        <p:txBody>
          <a:bodyPr wrap="square" lIns="0" tIns="0" rIns="0" bIns="0" rtlCol="0" anchor="ctr"/>
          <a:lstStyle/>
          <a:p>
            <a:pPr indent="0" marL="0">
              <a:buNone/>
            </a:pPr>
            <a:r>
              <a:rPr lang="en-US" sz="2000" b="1" dirty="0">
                <a:solidFill>
                  <a:srgbClr val="FCFAF4"/>
                </a:solidFill>
                <a:latin typeface="Georgia" pitchFamily="34" charset="0"/>
                <a:ea typeface="Georgia" pitchFamily="34" charset="-122"/>
                <a:cs typeface="Georgia" pitchFamily="34" charset="-120"/>
              </a:rPr>
              <a:t>1</a:t>
            </a:r>
            <a:endParaRPr lang="en-US" sz="2000" dirty="0"/>
          </a:p>
        </p:txBody>
      </p:sp>
      <p:sp>
        <p:nvSpPr>
          <p:cNvPr id="10" name="Text 7"/>
          <p:cNvSpPr/>
          <p:nvPr/>
        </p:nvSpPr>
        <p:spPr>
          <a:xfrm>
            <a:off x="1691640" y="1481328"/>
            <a:ext cx="2926080" cy="347472"/>
          </a:xfrm>
          <a:prstGeom prst="rect">
            <a:avLst/>
          </a:prstGeom>
          <a:noFill/>
          <a:ln/>
        </p:spPr>
        <p:txBody>
          <a:bodyPr wrap="square" lIns="0" tIns="0" rIns="0" bIns="0" rtlCol="0" anchor="t"/>
          <a:lstStyle/>
          <a:p>
            <a:pPr indent="0" marL="0">
              <a:buNone/>
            </a:pPr>
            <a:r>
              <a:rPr lang="en-US" sz="1500" b="1" dirty="0">
                <a:solidFill>
                  <a:srgbClr val="FCFAF4"/>
                </a:solidFill>
                <a:latin typeface="Helvetica Neue" pitchFamily="34" charset="0"/>
                <a:ea typeface="Helvetica Neue" pitchFamily="34" charset="-122"/>
                <a:cs typeface="Helvetica Neue" pitchFamily="34" charset="-120"/>
              </a:rPr>
              <a:t>object cache</a:t>
            </a:r>
            <a:endParaRPr lang="en-US" sz="1500" dirty="0"/>
          </a:p>
        </p:txBody>
      </p:sp>
      <p:sp>
        <p:nvSpPr>
          <p:cNvPr id="11" name="Text 8"/>
          <p:cNvSpPr/>
          <p:nvPr/>
        </p:nvSpPr>
        <p:spPr>
          <a:xfrm>
            <a:off x="1691640" y="1828800"/>
            <a:ext cx="5852160" cy="310896"/>
          </a:xfrm>
          <a:prstGeom prst="rect">
            <a:avLst/>
          </a:prstGeom>
          <a:noFill/>
          <a:ln/>
        </p:spPr>
        <p:txBody>
          <a:bodyPr wrap="square" lIns="0" tIns="0" rIns="0" bIns="0" rtlCol="0" anchor="t">
            <a:normAutofit/>
          </a:bodyPr>
          <a:lstStyle/>
          <a:p>
            <a:pPr indent="0" marL="0">
              <a:buNone/>
            </a:pPr>
            <a:r>
              <a:rPr lang="en-US" sz="1150" dirty="0">
                <a:solidFill>
                  <a:srgbClr val="FCFAF4"/>
                </a:solidFill>
                <a:latin typeface="Helvetica Neue" pitchFamily="34" charset="0"/>
                <a:ea typeface="Helvetica Neue" pitchFamily="34" charset="-122"/>
                <a:cs typeface="Helvetica Neue" pitchFamily="34" charset="-120"/>
              </a:rPr>
              <a:t>in the peer's memory — free, every peer has one</a:t>
            </a:r>
            <a:endParaRPr lang="en-US" sz="1150" dirty="0"/>
          </a:p>
        </p:txBody>
      </p:sp>
      <p:sp>
        <p:nvSpPr>
          <p:cNvPr id="12" name="Text 9"/>
          <p:cNvSpPr/>
          <p:nvPr/>
        </p:nvSpPr>
        <p:spPr>
          <a:xfrm>
            <a:off x="9144000" y="1371600"/>
            <a:ext cx="2377440" cy="841248"/>
          </a:xfrm>
          <a:prstGeom prst="rect">
            <a:avLst/>
          </a:prstGeom>
          <a:noFill/>
          <a:ln/>
        </p:spPr>
        <p:txBody>
          <a:bodyPr wrap="square" lIns="0" tIns="0" rIns="0" bIns="0" rtlCol="0" anchor="ctr"/>
          <a:lstStyle/>
          <a:p>
            <a:pPr indent="0" marL="0">
              <a:buNone/>
            </a:pPr>
            <a:r>
              <a:rPr lang="en-US" sz="1350" dirty="0">
                <a:solidFill>
                  <a:srgbClr val="6B5A44"/>
                </a:solidFill>
                <a:latin typeface="Courier New" pitchFamily="34" charset="0"/>
                <a:ea typeface="Courier New" pitchFamily="34" charset="-122"/>
                <a:cs typeface="Courier New" pitchFamily="34" charset="-120"/>
              </a:rPr>
              <a:t>~instant</a:t>
            </a:r>
            <a:endParaRPr lang="en-US" sz="1350" dirty="0"/>
          </a:p>
        </p:txBody>
      </p:sp>
      <p:sp>
        <p:nvSpPr>
          <p:cNvPr id="13" name="Shape 10"/>
          <p:cNvSpPr/>
          <p:nvPr/>
        </p:nvSpPr>
        <p:spPr>
          <a:xfrm>
            <a:off x="1234440" y="2340864"/>
            <a:ext cx="7635240" cy="841248"/>
          </a:xfrm>
          <a:prstGeom prst="roundRect">
            <a:avLst>
              <a:gd name="adj" fmla="val 8696"/>
            </a:avLst>
          </a:prstGeom>
          <a:solidFill>
            <a:srgbClr val="A8864A"/>
          </a:solidFill>
          <a:ln/>
        </p:spPr>
      </p:sp>
      <p:sp>
        <p:nvSpPr>
          <p:cNvPr id="14" name="Text 11"/>
          <p:cNvSpPr/>
          <p:nvPr/>
        </p:nvSpPr>
        <p:spPr>
          <a:xfrm>
            <a:off x="1463040" y="2340864"/>
            <a:ext cx="457200" cy="841248"/>
          </a:xfrm>
          <a:prstGeom prst="rect">
            <a:avLst/>
          </a:prstGeom>
          <a:noFill/>
          <a:ln/>
        </p:spPr>
        <p:txBody>
          <a:bodyPr wrap="square" lIns="0" tIns="0" rIns="0" bIns="0" rtlCol="0" anchor="ctr"/>
          <a:lstStyle/>
          <a:p>
            <a:pPr indent="0" marL="0">
              <a:buNone/>
            </a:pPr>
            <a:r>
              <a:rPr lang="en-US" sz="2000" b="1" dirty="0">
                <a:solidFill>
                  <a:srgbClr val="FCFAF4"/>
                </a:solidFill>
                <a:latin typeface="Georgia" pitchFamily="34" charset="0"/>
                <a:ea typeface="Georgia" pitchFamily="34" charset="-122"/>
                <a:cs typeface="Georgia" pitchFamily="34" charset="-120"/>
              </a:rPr>
              <a:t>2</a:t>
            </a:r>
            <a:endParaRPr lang="en-US" sz="2000" dirty="0"/>
          </a:p>
        </p:txBody>
      </p:sp>
      <p:sp>
        <p:nvSpPr>
          <p:cNvPr id="15" name="Text 12"/>
          <p:cNvSpPr/>
          <p:nvPr/>
        </p:nvSpPr>
        <p:spPr>
          <a:xfrm>
            <a:off x="2011680" y="2450592"/>
            <a:ext cx="2926080" cy="347472"/>
          </a:xfrm>
          <a:prstGeom prst="rect">
            <a:avLst/>
          </a:prstGeom>
          <a:noFill/>
          <a:ln/>
        </p:spPr>
        <p:txBody>
          <a:bodyPr wrap="square" lIns="0" tIns="0" rIns="0" bIns="0" rtlCol="0" anchor="t"/>
          <a:lstStyle/>
          <a:p>
            <a:pPr indent="0" marL="0">
              <a:buNone/>
            </a:pPr>
            <a:r>
              <a:rPr lang="en-US" sz="1500" b="1" dirty="0">
                <a:solidFill>
                  <a:srgbClr val="FCFAF4"/>
                </a:solidFill>
                <a:latin typeface="Helvetica Neue" pitchFamily="34" charset="0"/>
                <a:ea typeface="Helvetica Neue" pitchFamily="34" charset="-122"/>
                <a:cs typeface="Helvetica Neue" pitchFamily="34" charset="-120"/>
              </a:rPr>
              <a:t>valcache</a:t>
            </a:r>
            <a:endParaRPr lang="en-US" sz="1500" dirty="0"/>
          </a:p>
        </p:txBody>
      </p:sp>
      <p:sp>
        <p:nvSpPr>
          <p:cNvPr id="16" name="Text 13"/>
          <p:cNvSpPr/>
          <p:nvPr/>
        </p:nvSpPr>
        <p:spPr>
          <a:xfrm>
            <a:off x="2011680" y="2798064"/>
            <a:ext cx="5532120" cy="310896"/>
          </a:xfrm>
          <a:prstGeom prst="rect">
            <a:avLst/>
          </a:prstGeom>
          <a:noFill/>
          <a:ln/>
        </p:spPr>
        <p:txBody>
          <a:bodyPr wrap="square" lIns="0" tIns="0" rIns="0" bIns="0" rtlCol="0" anchor="t">
            <a:normAutofit/>
          </a:bodyPr>
          <a:lstStyle/>
          <a:p>
            <a:pPr indent="0" marL="0">
              <a:buNone/>
            </a:pPr>
            <a:r>
              <a:rPr lang="en-US" sz="1150" dirty="0">
                <a:solidFill>
                  <a:srgbClr val="FCFAF4"/>
                </a:solidFill>
                <a:latin typeface="Helvetica Neue" pitchFamily="34" charset="0"/>
                <a:ea typeface="Helvetica Neue" pitchFamily="34" charset="-122"/>
                <a:cs typeface="Helvetica Neue" pitchFamily="34" charset="-120"/>
              </a:rPr>
              <a:t>local SSD — survives restarts!</a:t>
            </a:r>
            <a:endParaRPr lang="en-US" sz="1150" dirty="0"/>
          </a:p>
        </p:txBody>
      </p:sp>
      <p:sp>
        <p:nvSpPr>
          <p:cNvPr id="17" name="Text 14"/>
          <p:cNvSpPr/>
          <p:nvPr/>
        </p:nvSpPr>
        <p:spPr>
          <a:xfrm>
            <a:off x="9144000" y="2340864"/>
            <a:ext cx="2377440" cy="841248"/>
          </a:xfrm>
          <a:prstGeom prst="rect">
            <a:avLst/>
          </a:prstGeom>
          <a:noFill/>
          <a:ln/>
        </p:spPr>
        <p:txBody>
          <a:bodyPr wrap="square" lIns="0" tIns="0" rIns="0" bIns="0" rtlCol="0" anchor="ctr"/>
          <a:lstStyle/>
          <a:p>
            <a:pPr indent="0" marL="0">
              <a:buNone/>
            </a:pPr>
            <a:r>
              <a:rPr lang="en-US" sz="1350" dirty="0">
                <a:solidFill>
                  <a:srgbClr val="6B5A44"/>
                </a:solidFill>
                <a:latin typeface="Courier New" pitchFamily="34" charset="0"/>
                <a:ea typeface="Courier New" pitchFamily="34" charset="-122"/>
                <a:cs typeface="Courier New" pitchFamily="34" charset="-120"/>
              </a:rPr>
              <a:t>fast</a:t>
            </a:r>
            <a:endParaRPr lang="en-US" sz="1350" dirty="0"/>
          </a:p>
        </p:txBody>
      </p:sp>
      <p:sp>
        <p:nvSpPr>
          <p:cNvPr id="18" name="Shape 15"/>
          <p:cNvSpPr/>
          <p:nvPr/>
        </p:nvSpPr>
        <p:spPr>
          <a:xfrm>
            <a:off x="1554480" y="3310128"/>
            <a:ext cx="7315200" cy="841248"/>
          </a:xfrm>
          <a:prstGeom prst="roundRect">
            <a:avLst>
              <a:gd name="adj" fmla="val 8696"/>
            </a:avLst>
          </a:prstGeom>
          <a:solidFill>
            <a:srgbClr val="DFD6C0"/>
          </a:solidFill>
          <a:ln/>
        </p:spPr>
      </p:sp>
      <p:sp>
        <p:nvSpPr>
          <p:cNvPr id="19" name="Text 16"/>
          <p:cNvSpPr/>
          <p:nvPr/>
        </p:nvSpPr>
        <p:spPr>
          <a:xfrm>
            <a:off x="1783080" y="3310128"/>
            <a:ext cx="457200" cy="841248"/>
          </a:xfrm>
          <a:prstGeom prst="rect">
            <a:avLst/>
          </a:prstGeom>
          <a:noFill/>
          <a:ln/>
        </p:spPr>
        <p:txBody>
          <a:bodyPr wrap="square" lIns="0" tIns="0" rIns="0" bIns="0" rtlCol="0" anchor="ctr"/>
          <a:lstStyle/>
          <a:p>
            <a:pPr indent="0" marL="0">
              <a:buNone/>
            </a:pPr>
            <a:r>
              <a:rPr lang="en-US" sz="2000" b="1" dirty="0">
                <a:solidFill>
                  <a:srgbClr val="3A2C1A"/>
                </a:solidFill>
                <a:latin typeface="Georgia" pitchFamily="34" charset="0"/>
                <a:ea typeface="Georgia" pitchFamily="34" charset="-122"/>
                <a:cs typeface="Georgia" pitchFamily="34" charset="-120"/>
              </a:rPr>
              <a:t>3</a:t>
            </a:r>
            <a:endParaRPr lang="en-US" sz="2000" dirty="0"/>
          </a:p>
        </p:txBody>
      </p:sp>
      <p:sp>
        <p:nvSpPr>
          <p:cNvPr id="20" name="Text 17"/>
          <p:cNvSpPr/>
          <p:nvPr/>
        </p:nvSpPr>
        <p:spPr>
          <a:xfrm>
            <a:off x="2331720" y="3419856"/>
            <a:ext cx="2926080" cy="347472"/>
          </a:xfrm>
          <a:prstGeom prst="rect">
            <a:avLst/>
          </a:prstGeom>
          <a:noFill/>
          <a:ln/>
        </p:spPr>
        <p:txBody>
          <a:bodyPr wrap="square" lIns="0" tIns="0" rIns="0" bIns="0" rtlCol="0" anchor="t"/>
          <a:lstStyle/>
          <a:p>
            <a:pPr indent="0" marL="0">
              <a:buNone/>
            </a:pPr>
            <a:r>
              <a:rPr lang="en-US" sz="1500" b="1" dirty="0">
                <a:solidFill>
                  <a:srgbClr val="3A2C1A"/>
                </a:solidFill>
                <a:latin typeface="Helvetica Neue" pitchFamily="34" charset="0"/>
                <a:ea typeface="Helvetica Neue" pitchFamily="34" charset="-122"/>
                <a:cs typeface="Helvetica Neue" pitchFamily="34" charset="-120"/>
              </a:rPr>
              <a:t>memcached</a:t>
            </a:r>
            <a:endParaRPr lang="en-US" sz="1500" dirty="0"/>
          </a:p>
        </p:txBody>
      </p:sp>
      <p:sp>
        <p:nvSpPr>
          <p:cNvPr id="21" name="Text 18"/>
          <p:cNvSpPr/>
          <p:nvPr/>
        </p:nvSpPr>
        <p:spPr>
          <a:xfrm>
            <a:off x="2331720" y="3767328"/>
            <a:ext cx="5212080" cy="310896"/>
          </a:xfrm>
          <a:prstGeom prst="rect">
            <a:avLst/>
          </a:prstGeom>
          <a:noFill/>
          <a:ln/>
        </p:spPr>
        <p:txBody>
          <a:bodyPr wrap="square" lIns="0" tIns="0" rIns="0" bIns="0" rtlCol="0" anchor="t">
            <a:normAutofit/>
          </a:bodyPr>
          <a:lstStyle/>
          <a:p>
            <a:pPr indent="0" marL="0">
              <a:buNone/>
            </a:pPr>
            <a:r>
              <a:rPr lang="en-US" sz="1150" dirty="0">
                <a:solidFill>
                  <a:srgbClr val="3A2C1A"/>
                </a:solidFill>
                <a:latin typeface="Helvetica Neue" pitchFamily="34" charset="0"/>
                <a:ea typeface="Helvetica Neue" pitchFamily="34" charset="-122"/>
                <a:cs typeface="Helvetica Neue" pitchFamily="34" charset="-120"/>
              </a:rPr>
              <a:t>shared between peers</a:t>
            </a:r>
            <a:endParaRPr lang="en-US" sz="1150" dirty="0"/>
          </a:p>
        </p:txBody>
      </p:sp>
      <p:sp>
        <p:nvSpPr>
          <p:cNvPr id="22" name="Text 19"/>
          <p:cNvSpPr/>
          <p:nvPr/>
        </p:nvSpPr>
        <p:spPr>
          <a:xfrm>
            <a:off x="9144000" y="3310128"/>
            <a:ext cx="2377440" cy="841248"/>
          </a:xfrm>
          <a:prstGeom prst="rect">
            <a:avLst/>
          </a:prstGeom>
          <a:noFill/>
          <a:ln/>
        </p:spPr>
        <p:txBody>
          <a:bodyPr wrap="square" lIns="0" tIns="0" rIns="0" bIns="0" rtlCol="0" anchor="ctr"/>
          <a:lstStyle/>
          <a:p>
            <a:pPr indent="0" marL="0">
              <a:buNone/>
            </a:pPr>
            <a:r>
              <a:rPr lang="en-US" sz="1350" dirty="0">
                <a:solidFill>
                  <a:srgbClr val="6B5A44"/>
                </a:solidFill>
                <a:latin typeface="Courier New" pitchFamily="34" charset="0"/>
                <a:ea typeface="Courier New" pitchFamily="34" charset="-122"/>
                <a:cs typeface="Courier New" pitchFamily="34" charset="-120"/>
              </a:rPr>
              <a:t>~1 ms</a:t>
            </a:r>
            <a:endParaRPr lang="en-US" sz="1350" dirty="0"/>
          </a:p>
        </p:txBody>
      </p:sp>
      <p:sp>
        <p:nvSpPr>
          <p:cNvPr id="23" name="Shape 20"/>
          <p:cNvSpPr/>
          <p:nvPr/>
        </p:nvSpPr>
        <p:spPr>
          <a:xfrm>
            <a:off x="1874520" y="4279392"/>
            <a:ext cx="6995160" cy="841248"/>
          </a:xfrm>
          <a:prstGeom prst="roundRect">
            <a:avLst>
              <a:gd name="adj" fmla="val 8696"/>
            </a:avLst>
          </a:prstGeom>
          <a:solidFill>
            <a:srgbClr val="E6DFCE"/>
          </a:solidFill>
          <a:ln/>
        </p:spPr>
      </p:sp>
      <p:sp>
        <p:nvSpPr>
          <p:cNvPr id="24" name="Text 21"/>
          <p:cNvSpPr/>
          <p:nvPr/>
        </p:nvSpPr>
        <p:spPr>
          <a:xfrm>
            <a:off x="2103120" y="4279392"/>
            <a:ext cx="457200" cy="841248"/>
          </a:xfrm>
          <a:prstGeom prst="rect">
            <a:avLst/>
          </a:prstGeom>
          <a:noFill/>
          <a:ln/>
        </p:spPr>
        <p:txBody>
          <a:bodyPr wrap="square" lIns="0" tIns="0" rIns="0" bIns="0" rtlCol="0" anchor="ctr"/>
          <a:lstStyle/>
          <a:p>
            <a:pPr indent="0" marL="0">
              <a:buNone/>
            </a:pPr>
            <a:r>
              <a:rPr lang="en-US" sz="2000" b="1" dirty="0">
                <a:solidFill>
                  <a:srgbClr val="3A2C1A"/>
                </a:solidFill>
                <a:latin typeface="Georgia" pitchFamily="34" charset="0"/>
                <a:ea typeface="Georgia" pitchFamily="34" charset="-122"/>
                <a:cs typeface="Georgia" pitchFamily="34" charset="-120"/>
              </a:rPr>
              <a:t>4</a:t>
            </a:r>
            <a:endParaRPr lang="en-US" sz="2000" dirty="0"/>
          </a:p>
        </p:txBody>
      </p:sp>
      <p:sp>
        <p:nvSpPr>
          <p:cNvPr id="25" name="Text 22"/>
          <p:cNvSpPr/>
          <p:nvPr/>
        </p:nvSpPr>
        <p:spPr>
          <a:xfrm>
            <a:off x="2651760" y="4389120"/>
            <a:ext cx="2926080" cy="347472"/>
          </a:xfrm>
          <a:prstGeom prst="rect">
            <a:avLst/>
          </a:prstGeom>
          <a:noFill/>
          <a:ln/>
        </p:spPr>
        <p:txBody>
          <a:bodyPr wrap="square" lIns="0" tIns="0" rIns="0" bIns="0" rtlCol="0" anchor="t"/>
          <a:lstStyle/>
          <a:p>
            <a:pPr indent="0" marL="0">
              <a:buNone/>
            </a:pPr>
            <a:r>
              <a:rPr lang="en-US" sz="1500" b="1" dirty="0">
                <a:solidFill>
                  <a:srgbClr val="3A2C1A"/>
                </a:solidFill>
                <a:latin typeface="Helvetica Neue" pitchFamily="34" charset="0"/>
                <a:ea typeface="Helvetica Neue" pitchFamily="34" charset="-122"/>
                <a:cs typeface="Helvetica Neue" pitchFamily="34" charset="-120"/>
              </a:rPr>
              <a:t>storage</a:t>
            </a:r>
            <a:endParaRPr lang="en-US" sz="1500" dirty="0"/>
          </a:p>
        </p:txBody>
      </p:sp>
      <p:sp>
        <p:nvSpPr>
          <p:cNvPr id="26" name="Text 23"/>
          <p:cNvSpPr/>
          <p:nvPr/>
        </p:nvSpPr>
        <p:spPr>
          <a:xfrm>
            <a:off x="2651760" y="4736592"/>
            <a:ext cx="4892040" cy="310896"/>
          </a:xfrm>
          <a:prstGeom prst="rect">
            <a:avLst/>
          </a:prstGeom>
          <a:noFill/>
          <a:ln/>
        </p:spPr>
        <p:txBody>
          <a:bodyPr wrap="square" lIns="0" tIns="0" rIns="0" bIns="0" rtlCol="0" anchor="t">
            <a:normAutofit/>
          </a:bodyPr>
          <a:lstStyle/>
          <a:p>
            <a:pPr indent="0" marL="0">
              <a:buNone/>
            </a:pPr>
            <a:r>
              <a:rPr lang="en-US" sz="1150" dirty="0">
                <a:solidFill>
                  <a:srgbClr val="3A2C1A"/>
                </a:solidFill>
                <a:latin typeface="Helvetica Neue" pitchFamily="34" charset="0"/>
                <a:ea typeface="Helvetica Neue" pitchFamily="34" charset="-122"/>
                <a:cs typeface="Helvetica Neue" pitchFamily="34" charset="-120"/>
              </a:rPr>
              <a:t>the database itself</a:t>
            </a:r>
            <a:endParaRPr lang="en-US" sz="1150" dirty="0"/>
          </a:p>
        </p:txBody>
      </p:sp>
      <p:sp>
        <p:nvSpPr>
          <p:cNvPr id="27" name="Text 24"/>
          <p:cNvSpPr/>
          <p:nvPr/>
        </p:nvSpPr>
        <p:spPr>
          <a:xfrm>
            <a:off x="9144000" y="4279392"/>
            <a:ext cx="2377440" cy="841248"/>
          </a:xfrm>
          <a:prstGeom prst="rect">
            <a:avLst/>
          </a:prstGeom>
          <a:noFill/>
          <a:ln/>
        </p:spPr>
        <p:txBody>
          <a:bodyPr wrap="square" lIns="0" tIns="0" rIns="0" bIns="0" rtlCol="0" anchor="ctr"/>
          <a:lstStyle/>
          <a:p>
            <a:pPr indent="0" marL="0">
              <a:buNone/>
            </a:pPr>
            <a:r>
              <a:rPr lang="en-US" sz="1350" dirty="0">
                <a:solidFill>
                  <a:srgbClr val="6B5A44"/>
                </a:solidFill>
                <a:latin typeface="Courier New" pitchFamily="34" charset="0"/>
                <a:ea typeface="Courier New" pitchFamily="34" charset="-122"/>
                <a:cs typeface="Courier New" pitchFamily="34" charset="-120"/>
              </a:rPr>
              <a:t>slow, $</a:t>
            </a:r>
            <a:endParaRPr lang="en-US" sz="1350" dirty="0"/>
          </a:p>
        </p:txBody>
      </p:sp>
      <p:sp>
        <p:nvSpPr>
          <p:cNvPr id="28" name="Shape 25"/>
          <p:cNvSpPr/>
          <p:nvPr/>
        </p:nvSpPr>
        <p:spPr>
          <a:xfrm>
            <a:off x="685800" y="1554480"/>
            <a:ext cx="0" cy="3383280"/>
          </a:xfrm>
          <a:prstGeom prst="line">
            <a:avLst/>
          </a:prstGeom>
          <a:noFill/>
          <a:ln w="15240">
            <a:solidFill>
              <a:srgbClr val="9A8A72"/>
            </a:solidFill>
            <a:prstDash val="solid"/>
            <a:headEnd type="none"/>
            <a:tailEnd type="triangle"/>
          </a:ln>
        </p:spPr>
      </p:sp>
      <p:sp>
        <p:nvSpPr>
          <p:cNvPr id="29" name="Text 26"/>
          <p:cNvSpPr/>
          <p:nvPr/>
        </p:nvSpPr>
        <p:spPr>
          <a:xfrm>
            <a:off x="164592" y="5029200"/>
            <a:ext cx="2011680" cy="274320"/>
          </a:xfrm>
          <a:prstGeom prst="rect">
            <a:avLst/>
          </a:prstGeom>
          <a:noFill/>
          <a:ln/>
        </p:spPr>
        <p:txBody>
          <a:bodyPr wrap="square" lIns="0" tIns="0" rIns="0" bIns="0" rtlCol="0" anchor="t"/>
          <a:lstStyle/>
          <a:p>
            <a:pPr indent="0" marL="0">
              <a:buNone/>
            </a:pPr>
            <a:r>
              <a:rPr lang="en-US" sz="1050" dirty="0">
                <a:solidFill>
                  <a:srgbClr val="9A8A72"/>
                </a:solidFill>
                <a:latin typeface="Helvetica Neue" pitchFamily="34" charset="0"/>
                <a:ea typeface="Helvetica Neue" pitchFamily="34" charset="-122"/>
                <a:cs typeface="Helvetica Neue" pitchFamily="34" charset="-120"/>
              </a:rPr>
              <a:t>a read walks down</a:t>
            </a:r>
            <a:endParaRPr lang="en-US" sz="1050" dirty="0"/>
          </a:p>
        </p:txBody>
      </p:sp>
      <p:sp>
        <p:nvSpPr>
          <p:cNvPr id="30" name="Shape 27"/>
          <p:cNvSpPr/>
          <p:nvPr/>
        </p:nvSpPr>
        <p:spPr>
          <a:xfrm>
            <a:off x="548640" y="5440680"/>
            <a:ext cx="54864" cy="457200"/>
          </a:xfrm>
          <a:prstGeom prst="rect">
            <a:avLst/>
          </a:prstGeom>
          <a:solidFill>
            <a:srgbClr val="A8864A"/>
          </a:solidFill>
          <a:ln/>
        </p:spPr>
      </p:sp>
      <p:sp>
        <p:nvSpPr>
          <p:cNvPr id="31" name="Text 28"/>
          <p:cNvSpPr/>
          <p:nvPr/>
        </p:nvSpPr>
        <p:spPr>
          <a:xfrm>
            <a:off x="777240" y="544068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Your whole job: keep everyday reads answering from as high up as possible. Tiers 2–3 are optional add-ons.</a:t>
            </a:r>
            <a:endParaRPr lang="en-US" sz="1450" dirty="0"/>
          </a:p>
        </p:txBody>
      </p:sp>
      <p:sp>
        <p:nvSpPr>
          <p:cNvPr id="32" name="Shape 29"/>
          <p:cNvSpPr/>
          <p:nvPr/>
        </p:nvSpPr>
        <p:spPr>
          <a:xfrm>
            <a:off x="548640" y="6419088"/>
            <a:ext cx="54864" cy="292608"/>
          </a:xfrm>
          <a:prstGeom prst="rect">
            <a:avLst/>
          </a:prstGeom>
          <a:solidFill>
            <a:srgbClr val="A8864A"/>
          </a:solidFill>
          <a:ln/>
        </p:spPr>
      </p:sp>
      <p:sp>
        <p:nvSpPr>
          <p:cNvPr id="33" name="Text 30"/>
          <p:cNvSpPr/>
          <p:nvPr/>
        </p:nvSpPr>
        <p:spPr>
          <a:xfrm>
            <a:off x="713232" y="6382512"/>
            <a:ext cx="658368" cy="365760"/>
          </a:xfrm>
          <a:prstGeom prst="rect">
            <a:avLst/>
          </a:prstGeom>
          <a:noFill/>
          <a:ln/>
        </p:spPr>
        <p:txBody>
          <a:bodyPr wrap="square" lIns="0" tIns="0" rIns="0" bIns="0" rtlCol="0" anchor="ctr"/>
          <a:lstStyle/>
          <a:p>
            <a:pPr indent="0" marL="0">
              <a:buNone/>
            </a:pPr>
            <a:r>
              <a:rPr lang="en-US" sz="900" b="1" spc="100" kern="0" dirty="0">
                <a:solidFill>
                  <a:srgbClr val="A8864A"/>
                </a:solidFill>
                <a:latin typeface="Helvetica Neue" pitchFamily="34" charset="0"/>
                <a:ea typeface="Helvetica Neue" pitchFamily="34" charset="-122"/>
                <a:cs typeface="Helvetica Neue" pitchFamily="34" charset="-120"/>
              </a:rPr>
              <a:t>CASES</a:t>
            </a:r>
            <a:endParaRPr lang="en-US" sz="900" dirty="0"/>
          </a:p>
        </p:txBody>
      </p:sp>
      <p:sp>
        <p:nvSpPr>
          <p:cNvPr id="34" name="Text 31"/>
          <p:cNvSpPr/>
          <p:nvPr/>
        </p:nvSpPr>
        <p:spPr>
          <a:xfrm>
            <a:off x="1463040" y="6382512"/>
            <a:ext cx="9509760" cy="365760"/>
          </a:xfrm>
          <a:prstGeom prst="rect">
            <a:avLst/>
          </a:prstGeom>
          <a:noFill/>
          <a:ln/>
        </p:spPr>
        <p:txBody>
          <a:bodyPr wrap="square" lIns="0" tIns="0" rIns="0" bIns="0" rtlCol="0" anchor="ctr"/>
          <a:lstStyle/>
          <a:p>
            <a:pPr indent="0" marL="0">
              <a:buNone/>
            </a:pPr>
            <a:r>
              <a:rPr lang="en-US" sz="1100" dirty="0">
                <a:solidFill>
                  <a:srgbClr val="6B5A44"/>
                </a:solidFill>
                <a:latin typeface="Helvetica Neue" pitchFamily="34" charset="0"/>
                <a:ea typeface="Helvetica Neue" pitchFamily="34" charset="-122"/>
                <a:cs typeface="Helvetica Neue" pitchFamily="34" charset="-120"/>
              </a:rPr>
              <a:t>Nothing ever needs invalidating — immutable data is correct forever   ·   That is why four stacked caches need zero coordination</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IV · CACHES</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23</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The unit is a block, not a row</a:t>
            </a:r>
            <a:endParaRPr lang="en-US" sz="2500" dirty="0"/>
          </a:p>
        </p:txBody>
      </p:sp>
      <p:sp>
        <p:nvSpPr>
          <p:cNvPr id="8" name="Text 5"/>
          <p:cNvSpPr/>
          <p:nvPr/>
        </p:nvSpPr>
        <p:spPr>
          <a:xfrm>
            <a:off x="548640" y="1371600"/>
            <a:ext cx="5303520" cy="320040"/>
          </a:xfrm>
          <a:prstGeom prst="rect">
            <a:avLst/>
          </a:prstGeom>
          <a:noFill/>
          <a:ln/>
        </p:spPr>
        <p:txBody>
          <a:bodyPr wrap="square" lIns="0" tIns="0" rIns="0" bIns="0" rtlCol="0" anchor="t"/>
          <a:lstStyle/>
          <a:p>
            <a:pPr indent="0" marL="0">
              <a:buNone/>
            </a:pPr>
            <a:r>
              <a:rPr lang="en-US" sz="1400" b="1" dirty="0">
                <a:solidFill>
                  <a:srgbClr val="3A2C1A"/>
                </a:solidFill>
                <a:latin typeface="Helvetica Neue" pitchFamily="34" charset="0"/>
                <a:ea typeface="Helvetica Neue" pitchFamily="34" charset="-122"/>
                <a:cs typeface="Helvetica Neue" pitchFamily="34" charset="-120"/>
              </a:rPr>
              <a:t>you ask for ONE entity …</a:t>
            </a:r>
            <a:endParaRPr lang="en-US" sz="1400" dirty="0"/>
          </a:p>
        </p:txBody>
      </p:sp>
      <p:sp>
        <p:nvSpPr>
          <p:cNvPr id="9" name="Text 6"/>
          <p:cNvSpPr/>
          <p:nvPr/>
        </p:nvSpPr>
        <p:spPr>
          <a:xfrm>
            <a:off x="5943600" y="1371600"/>
            <a:ext cx="5486400" cy="320040"/>
          </a:xfrm>
          <a:prstGeom prst="rect">
            <a:avLst/>
          </a:prstGeom>
          <a:noFill/>
          <a:ln/>
        </p:spPr>
        <p:txBody>
          <a:bodyPr wrap="square" lIns="0" tIns="0" rIns="0" bIns="0" rtlCol="0" anchor="t"/>
          <a:lstStyle/>
          <a:p>
            <a:pPr indent="0" marL="0">
              <a:buNone/>
            </a:pPr>
            <a:r>
              <a:rPr lang="en-US" sz="1400" b="1" dirty="0">
                <a:solidFill>
                  <a:srgbClr val="3A2C1A"/>
                </a:solidFill>
                <a:latin typeface="Helvetica Neue" pitchFamily="34" charset="0"/>
                <a:ea typeface="Helvetica Neue" pitchFamily="34" charset="-122"/>
                <a:cs typeface="Helvetica Neue" pitchFamily="34" charset="-120"/>
              </a:rPr>
              <a:t>… a whole BLOCK arrives, neighbours included</a:t>
            </a:r>
            <a:endParaRPr lang="en-US" sz="1400" dirty="0"/>
          </a:p>
        </p:txBody>
      </p:sp>
      <p:sp>
        <p:nvSpPr>
          <p:cNvPr id="10" name="Shape 7"/>
          <p:cNvSpPr/>
          <p:nvPr/>
        </p:nvSpPr>
        <p:spPr>
          <a:xfrm>
            <a:off x="548640" y="1920240"/>
            <a:ext cx="2029968" cy="1051560"/>
          </a:xfrm>
          <a:prstGeom prst="roundRect">
            <a:avLst>
              <a:gd name="adj" fmla="val 6957"/>
            </a:avLst>
          </a:prstGeom>
          <a:solidFill>
            <a:srgbClr val="E6DFCE"/>
          </a:solidFill>
          <a:ln/>
        </p:spPr>
      </p:sp>
      <p:sp>
        <p:nvSpPr>
          <p:cNvPr id="11" name="Text 8"/>
          <p:cNvSpPr/>
          <p:nvPr/>
        </p:nvSpPr>
        <p:spPr>
          <a:xfrm>
            <a:off x="548640" y="1984248"/>
            <a:ext cx="2029968" cy="274320"/>
          </a:xfrm>
          <a:prstGeom prst="rect">
            <a:avLst/>
          </a:prstGeom>
          <a:noFill/>
          <a:ln/>
        </p:spPr>
        <p:txBody>
          <a:bodyPr wrap="square" lIns="0" tIns="0" rIns="0" bIns="0" rtlCol="0" anchor="t"/>
          <a:lstStyle/>
          <a:p>
            <a:pPr algn="ctr" indent="0" marL="0">
              <a:buNone/>
            </a:pPr>
            <a:r>
              <a:rPr lang="en-US" sz="1100" dirty="0">
                <a:solidFill>
                  <a:srgbClr val="9A8A72"/>
                </a:solidFill>
                <a:latin typeface="Helvetica Neue" pitchFamily="34" charset="0"/>
                <a:ea typeface="Helvetica Neue" pitchFamily="34" charset="-122"/>
                <a:cs typeface="Helvetica Neue" pitchFamily="34" charset="-120"/>
              </a:rPr>
              <a:t>block 1</a:t>
            </a:r>
            <a:endParaRPr lang="en-US" sz="1100" dirty="0"/>
          </a:p>
        </p:txBody>
      </p:sp>
      <p:sp>
        <p:nvSpPr>
          <p:cNvPr id="12" name="Shape 9"/>
          <p:cNvSpPr/>
          <p:nvPr/>
        </p:nvSpPr>
        <p:spPr>
          <a:xfrm>
            <a:off x="713232" y="2377440"/>
            <a:ext cx="274320" cy="411480"/>
          </a:xfrm>
          <a:prstGeom prst="rect">
            <a:avLst/>
          </a:prstGeom>
          <a:solidFill>
            <a:srgbClr val="DFD6C0"/>
          </a:solidFill>
          <a:ln/>
        </p:spPr>
      </p:sp>
      <p:sp>
        <p:nvSpPr>
          <p:cNvPr id="13" name="Shape 10"/>
          <p:cNvSpPr/>
          <p:nvPr/>
        </p:nvSpPr>
        <p:spPr>
          <a:xfrm>
            <a:off x="1078992" y="2377440"/>
            <a:ext cx="274320" cy="411480"/>
          </a:xfrm>
          <a:prstGeom prst="rect">
            <a:avLst/>
          </a:prstGeom>
          <a:solidFill>
            <a:srgbClr val="DFD6C0"/>
          </a:solidFill>
          <a:ln/>
        </p:spPr>
      </p:sp>
      <p:sp>
        <p:nvSpPr>
          <p:cNvPr id="14" name="Shape 11"/>
          <p:cNvSpPr/>
          <p:nvPr/>
        </p:nvSpPr>
        <p:spPr>
          <a:xfrm>
            <a:off x="1444752" y="2377440"/>
            <a:ext cx="274320" cy="411480"/>
          </a:xfrm>
          <a:prstGeom prst="rect">
            <a:avLst/>
          </a:prstGeom>
          <a:solidFill>
            <a:srgbClr val="DFD6C0"/>
          </a:solidFill>
          <a:ln/>
        </p:spPr>
      </p:sp>
      <p:sp>
        <p:nvSpPr>
          <p:cNvPr id="15" name="Shape 12"/>
          <p:cNvSpPr/>
          <p:nvPr/>
        </p:nvSpPr>
        <p:spPr>
          <a:xfrm>
            <a:off x="1810512" y="2377440"/>
            <a:ext cx="274320" cy="411480"/>
          </a:xfrm>
          <a:prstGeom prst="rect">
            <a:avLst/>
          </a:prstGeom>
          <a:solidFill>
            <a:srgbClr val="DFD6C0"/>
          </a:solidFill>
          <a:ln/>
        </p:spPr>
      </p:sp>
      <p:sp>
        <p:nvSpPr>
          <p:cNvPr id="16" name="Shape 13"/>
          <p:cNvSpPr/>
          <p:nvPr/>
        </p:nvSpPr>
        <p:spPr>
          <a:xfrm>
            <a:off x="2176272" y="2377440"/>
            <a:ext cx="274320" cy="411480"/>
          </a:xfrm>
          <a:prstGeom prst="rect">
            <a:avLst/>
          </a:prstGeom>
          <a:solidFill>
            <a:srgbClr val="DFD6C0"/>
          </a:solidFill>
          <a:ln/>
        </p:spPr>
      </p:sp>
      <p:sp>
        <p:nvSpPr>
          <p:cNvPr id="17" name="Shape 14"/>
          <p:cNvSpPr/>
          <p:nvPr/>
        </p:nvSpPr>
        <p:spPr>
          <a:xfrm>
            <a:off x="2688336" y="1920240"/>
            <a:ext cx="2029968" cy="1051560"/>
          </a:xfrm>
          <a:prstGeom prst="roundRect">
            <a:avLst>
              <a:gd name="adj" fmla="val 6957"/>
            </a:avLst>
          </a:prstGeom>
          <a:solidFill>
            <a:srgbClr val="E6DFCE"/>
          </a:solidFill>
          <a:ln/>
        </p:spPr>
      </p:sp>
      <p:sp>
        <p:nvSpPr>
          <p:cNvPr id="18" name="Text 15"/>
          <p:cNvSpPr/>
          <p:nvPr/>
        </p:nvSpPr>
        <p:spPr>
          <a:xfrm>
            <a:off x="2688336" y="1984248"/>
            <a:ext cx="2029968" cy="274320"/>
          </a:xfrm>
          <a:prstGeom prst="rect">
            <a:avLst/>
          </a:prstGeom>
          <a:noFill/>
          <a:ln/>
        </p:spPr>
        <p:txBody>
          <a:bodyPr wrap="square" lIns="0" tIns="0" rIns="0" bIns="0" rtlCol="0" anchor="t"/>
          <a:lstStyle/>
          <a:p>
            <a:pPr algn="ctr" indent="0" marL="0">
              <a:buNone/>
            </a:pPr>
            <a:r>
              <a:rPr lang="en-US" sz="1100" dirty="0">
                <a:solidFill>
                  <a:srgbClr val="9A8A72"/>
                </a:solidFill>
                <a:latin typeface="Helvetica Neue" pitchFamily="34" charset="0"/>
                <a:ea typeface="Helvetica Neue" pitchFamily="34" charset="-122"/>
                <a:cs typeface="Helvetica Neue" pitchFamily="34" charset="-120"/>
              </a:rPr>
              <a:t>block 2</a:t>
            </a:r>
            <a:endParaRPr lang="en-US" sz="1100" dirty="0"/>
          </a:p>
        </p:txBody>
      </p:sp>
      <p:sp>
        <p:nvSpPr>
          <p:cNvPr id="19" name="Shape 16"/>
          <p:cNvSpPr/>
          <p:nvPr/>
        </p:nvSpPr>
        <p:spPr>
          <a:xfrm>
            <a:off x="2852928" y="2377440"/>
            <a:ext cx="274320" cy="411480"/>
          </a:xfrm>
          <a:prstGeom prst="rect">
            <a:avLst/>
          </a:prstGeom>
          <a:solidFill>
            <a:srgbClr val="DFD6C0"/>
          </a:solidFill>
          <a:ln/>
        </p:spPr>
      </p:sp>
      <p:sp>
        <p:nvSpPr>
          <p:cNvPr id="20" name="Shape 17"/>
          <p:cNvSpPr/>
          <p:nvPr/>
        </p:nvSpPr>
        <p:spPr>
          <a:xfrm>
            <a:off x="3218688" y="2377440"/>
            <a:ext cx="274320" cy="411480"/>
          </a:xfrm>
          <a:prstGeom prst="rect">
            <a:avLst/>
          </a:prstGeom>
          <a:solidFill>
            <a:srgbClr val="DFD6C0"/>
          </a:solidFill>
          <a:ln/>
        </p:spPr>
      </p:sp>
      <p:sp>
        <p:nvSpPr>
          <p:cNvPr id="21" name="Shape 18"/>
          <p:cNvSpPr/>
          <p:nvPr/>
        </p:nvSpPr>
        <p:spPr>
          <a:xfrm>
            <a:off x="3584448" y="2377440"/>
            <a:ext cx="274320" cy="411480"/>
          </a:xfrm>
          <a:prstGeom prst="rect">
            <a:avLst/>
          </a:prstGeom>
          <a:solidFill>
            <a:srgbClr val="DFD6C0"/>
          </a:solidFill>
          <a:ln/>
        </p:spPr>
      </p:sp>
      <p:sp>
        <p:nvSpPr>
          <p:cNvPr id="22" name="Shape 19"/>
          <p:cNvSpPr/>
          <p:nvPr/>
        </p:nvSpPr>
        <p:spPr>
          <a:xfrm>
            <a:off x="3950208" y="2377440"/>
            <a:ext cx="274320" cy="411480"/>
          </a:xfrm>
          <a:prstGeom prst="rect">
            <a:avLst/>
          </a:prstGeom>
          <a:solidFill>
            <a:srgbClr val="DFD6C0"/>
          </a:solidFill>
          <a:ln/>
        </p:spPr>
      </p:sp>
      <p:sp>
        <p:nvSpPr>
          <p:cNvPr id="23" name="Shape 20"/>
          <p:cNvSpPr/>
          <p:nvPr/>
        </p:nvSpPr>
        <p:spPr>
          <a:xfrm>
            <a:off x="4315968" y="2377440"/>
            <a:ext cx="274320" cy="411480"/>
          </a:xfrm>
          <a:prstGeom prst="rect">
            <a:avLst/>
          </a:prstGeom>
          <a:solidFill>
            <a:srgbClr val="DFD6C0"/>
          </a:solidFill>
          <a:ln/>
        </p:spPr>
      </p:sp>
      <p:sp>
        <p:nvSpPr>
          <p:cNvPr id="24" name="Shape 21"/>
          <p:cNvSpPr/>
          <p:nvPr/>
        </p:nvSpPr>
        <p:spPr>
          <a:xfrm>
            <a:off x="4828032" y="1920240"/>
            <a:ext cx="2029968" cy="1051560"/>
          </a:xfrm>
          <a:prstGeom prst="roundRect">
            <a:avLst>
              <a:gd name="adj" fmla="val 6957"/>
            </a:avLst>
          </a:prstGeom>
          <a:solidFill>
            <a:srgbClr val="C6A46A"/>
          </a:solidFill>
          <a:ln/>
        </p:spPr>
      </p:sp>
      <p:sp>
        <p:nvSpPr>
          <p:cNvPr id="25" name="Text 22"/>
          <p:cNvSpPr/>
          <p:nvPr/>
        </p:nvSpPr>
        <p:spPr>
          <a:xfrm>
            <a:off x="4828032" y="1984248"/>
            <a:ext cx="2029968" cy="274320"/>
          </a:xfrm>
          <a:prstGeom prst="rect">
            <a:avLst/>
          </a:prstGeom>
          <a:noFill/>
          <a:ln/>
        </p:spPr>
        <p:txBody>
          <a:bodyPr wrap="square" lIns="0" tIns="0" rIns="0" bIns="0" rtlCol="0" anchor="t"/>
          <a:lstStyle/>
          <a:p>
            <a:pPr algn="ctr" indent="0" marL="0">
              <a:buNone/>
            </a:pPr>
            <a:r>
              <a:rPr lang="en-US" sz="1100" dirty="0">
                <a:solidFill>
                  <a:srgbClr val="2C2416"/>
                </a:solidFill>
                <a:latin typeface="Helvetica Neue" pitchFamily="34" charset="0"/>
                <a:ea typeface="Helvetica Neue" pitchFamily="34" charset="-122"/>
                <a:cs typeface="Helvetica Neue" pitchFamily="34" charset="-120"/>
              </a:rPr>
              <a:t>block 3</a:t>
            </a:r>
            <a:endParaRPr lang="en-US" sz="1100" dirty="0"/>
          </a:p>
        </p:txBody>
      </p:sp>
      <p:sp>
        <p:nvSpPr>
          <p:cNvPr id="26" name="Shape 23"/>
          <p:cNvSpPr/>
          <p:nvPr/>
        </p:nvSpPr>
        <p:spPr>
          <a:xfrm>
            <a:off x="4992624" y="2377440"/>
            <a:ext cx="274320" cy="411480"/>
          </a:xfrm>
          <a:prstGeom prst="rect">
            <a:avLst/>
          </a:prstGeom>
          <a:solidFill>
            <a:srgbClr val="2C2416"/>
          </a:solidFill>
          <a:ln/>
        </p:spPr>
      </p:sp>
      <p:sp>
        <p:nvSpPr>
          <p:cNvPr id="27" name="Shape 24"/>
          <p:cNvSpPr/>
          <p:nvPr/>
        </p:nvSpPr>
        <p:spPr>
          <a:xfrm>
            <a:off x="5358384" y="2377440"/>
            <a:ext cx="274320" cy="411480"/>
          </a:xfrm>
          <a:prstGeom prst="rect">
            <a:avLst/>
          </a:prstGeom>
          <a:solidFill>
            <a:srgbClr val="2C2416"/>
          </a:solidFill>
          <a:ln/>
        </p:spPr>
      </p:sp>
      <p:sp>
        <p:nvSpPr>
          <p:cNvPr id="28" name="Shape 25"/>
          <p:cNvSpPr/>
          <p:nvPr/>
        </p:nvSpPr>
        <p:spPr>
          <a:xfrm>
            <a:off x="5724144" y="2377440"/>
            <a:ext cx="274320" cy="411480"/>
          </a:xfrm>
          <a:prstGeom prst="rect">
            <a:avLst/>
          </a:prstGeom>
          <a:solidFill>
            <a:srgbClr val="2C2416"/>
          </a:solidFill>
          <a:ln/>
        </p:spPr>
      </p:sp>
      <p:sp>
        <p:nvSpPr>
          <p:cNvPr id="29" name="Shape 26"/>
          <p:cNvSpPr/>
          <p:nvPr/>
        </p:nvSpPr>
        <p:spPr>
          <a:xfrm>
            <a:off x="6089904" y="2377440"/>
            <a:ext cx="274320" cy="411480"/>
          </a:xfrm>
          <a:prstGeom prst="rect">
            <a:avLst/>
          </a:prstGeom>
          <a:solidFill>
            <a:srgbClr val="2C2416"/>
          </a:solidFill>
          <a:ln/>
        </p:spPr>
      </p:sp>
      <p:sp>
        <p:nvSpPr>
          <p:cNvPr id="30" name="Shape 27"/>
          <p:cNvSpPr/>
          <p:nvPr/>
        </p:nvSpPr>
        <p:spPr>
          <a:xfrm>
            <a:off x="6455664" y="2377440"/>
            <a:ext cx="274320" cy="411480"/>
          </a:xfrm>
          <a:prstGeom prst="rect">
            <a:avLst/>
          </a:prstGeom>
          <a:solidFill>
            <a:srgbClr val="2C2416"/>
          </a:solidFill>
          <a:ln/>
        </p:spPr>
      </p:sp>
      <p:sp>
        <p:nvSpPr>
          <p:cNvPr id="31" name="Shape 28"/>
          <p:cNvSpPr/>
          <p:nvPr/>
        </p:nvSpPr>
        <p:spPr>
          <a:xfrm>
            <a:off x="6967728" y="1920240"/>
            <a:ext cx="2029968" cy="1051560"/>
          </a:xfrm>
          <a:prstGeom prst="roundRect">
            <a:avLst>
              <a:gd name="adj" fmla="val 6957"/>
            </a:avLst>
          </a:prstGeom>
          <a:solidFill>
            <a:srgbClr val="E6DFCE"/>
          </a:solidFill>
          <a:ln/>
        </p:spPr>
      </p:sp>
      <p:sp>
        <p:nvSpPr>
          <p:cNvPr id="32" name="Text 29"/>
          <p:cNvSpPr/>
          <p:nvPr/>
        </p:nvSpPr>
        <p:spPr>
          <a:xfrm>
            <a:off x="6967728" y="1984248"/>
            <a:ext cx="2029968" cy="274320"/>
          </a:xfrm>
          <a:prstGeom prst="rect">
            <a:avLst/>
          </a:prstGeom>
          <a:noFill/>
          <a:ln/>
        </p:spPr>
        <p:txBody>
          <a:bodyPr wrap="square" lIns="0" tIns="0" rIns="0" bIns="0" rtlCol="0" anchor="t"/>
          <a:lstStyle/>
          <a:p>
            <a:pPr algn="ctr" indent="0" marL="0">
              <a:buNone/>
            </a:pPr>
            <a:r>
              <a:rPr lang="en-US" sz="1100" dirty="0">
                <a:solidFill>
                  <a:srgbClr val="9A8A72"/>
                </a:solidFill>
                <a:latin typeface="Helvetica Neue" pitchFamily="34" charset="0"/>
                <a:ea typeface="Helvetica Neue" pitchFamily="34" charset="-122"/>
                <a:cs typeface="Helvetica Neue" pitchFamily="34" charset="-120"/>
              </a:rPr>
              <a:t>block 4</a:t>
            </a:r>
            <a:endParaRPr lang="en-US" sz="1100" dirty="0"/>
          </a:p>
        </p:txBody>
      </p:sp>
      <p:sp>
        <p:nvSpPr>
          <p:cNvPr id="33" name="Shape 30"/>
          <p:cNvSpPr/>
          <p:nvPr/>
        </p:nvSpPr>
        <p:spPr>
          <a:xfrm>
            <a:off x="7132320" y="2377440"/>
            <a:ext cx="274320" cy="411480"/>
          </a:xfrm>
          <a:prstGeom prst="rect">
            <a:avLst/>
          </a:prstGeom>
          <a:solidFill>
            <a:srgbClr val="DFD6C0"/>
          </a:solidFill>
          <a:ln/>
        </p:spPr>
      </p:sp>
      <p:sp>
        <p:nvSpPr>
          <p:cNvPr id="34" name="Shape 31"/>
          <p:cNvSpPr/>
          <p:nvPr/>
        </p:nvSpPr>
        <p:spPr>
          <a:xfrm>
            <a:off x="7498080" y="2377440"/>
            <a:ext cx="274320" cy="411480"/>
          </a:xfrm>
          <a:prstGeom prst="rect">
            <a:avLst/>
          </a:prstGeom>
          <a:solidFill>
            <a:srgbClr val="DFD6C0"/>
          </a:solidFill>
          <a:ln/>
        </p:spPr>
      </p:sp>
      <p:sp>
        <p:nvSpPr>
          <p:cNvPr id="35" name="Shape 32"/>
          <p:cNvSpPr/>
          <p:nvPr/>
        </p:nvSpPr>
        <p:spPr>
          <a:xfrm>
            <a:off x="7863840" y="2377440"/>
            <a:ext cx="274320" cy="411480"/>
          </a:xfrm>
          <a:prstGeom prst="rect">
            <a:avLst/>
          </a:prstGeom>
          <a:solidFill>
            <a:srgbClr val="DFD6C0"/>
          </a:solidFill>
          <a:ln/>
        </p:spPr>
      </p:sp>
      <p:sp>
        <p:nvSpPr>
          <p:cNvPr id="36" name="Shape 33"/>
          <p:cNvSpPr/>
          <p:nvPr/>
        </p:nvSpPr>
        <p:spPr>
          <a:xfrm>
            <a:off x="8229600" y="2377440"/>
            <a:ext cx="274320" cy="411480"/>
          </a:xfrm>
          <a:prstGeom prst="rect">
            <a:avLst/>
          </a:prstGeom>
          <a:solidFill>
            <a:srgbClr val="DFD6C0"/>
          </a:solidFill>
          <a:ln/>
        </p:spPr>
      </p:sp>
      <p:sp>
        <p:nvSpPr>
          <p:cNvPr id="37" name="Shape 34"/>
          <p:cNvSpPr/>
          <p:nvPr/>
        </p:nvSpPr>
        <p:spPr>
          <a:xfrm>
            <a:off x="8595360" y="2377440"/>
            <a:ext cx="274320" cy="411480"/>
          </a:xfrm>
          <a:prstGeom prst="rect">
            <a:avLst/>
          </a:prstGeom>
          <a:solidFill>
            <a:srgbClr val="DFD6C0"/>
          </a:solidFill>
          <a:ln/>
        </p:spPr>
      </p:sp>
      <p:sp>
        <p:nvSpPr>
          <p:cNvPr id="38" name="Shape 35"/>
          <p:cNvSpPr/>
          <p:nvPr/>
        </p:nvSpPr>
        <p:spPr>
          <a:xfrm>
            <a:off x="9107424" y="1920240"/>
            <a:ext cx="2029968" cy="1051560"/>
          </a:xfrm>
          <a:prstGeom prst="roundRect">
            <a:avLst>
              <a:gd name="adj" fmla="val 6957"/>
            </a:avLst>
          </a:prstGeom>
          <a:solidFill>
            <a:srgbClr val="E6DFCE"/>
          </a:solidFill>
          <a:ln/>
        </p:spPr>
      </p:sp>
      <p:sp>
        <p:nvSpPr>
          <p:cNvPr id="39" name="Text 36"/>
          <p:cNvSpPr/>
          <p:nvPr/>
        </p:nvSpPr>
        <p:spPr>
          <a:xfrm>
            <a:off x="9107424" y="1984248"/>
            <a:ext cx="2029968" cy="274320"/>
          </a:xfrm>
          <a:prstGeom prst="rect">
            <a:avLst/>
          </a:prstGeom>
          <a:noFill/>
          <a:ln/>
        </p:spPr>
        <p:txBody>
          <a:bodyPr wrap="square" lIns="0" tIns="0" rIns="0" bIns="0" rtlCol="0" anchor="t"/>
          <a:lstStyle/>
          <a:p>
            <a:pPr algn="ctr" indent="0" marL="0">
              <a:buNone/>
            </a:pPr>
            <a:r>
              <a:rPr lang="en-US" sz="1100" dirty="0">
                <a:solidFill>
                  <a:srgbClr val="9A8A72"/>
                </a:solidFill>
                <a:latin typeface="Helvetica Neue" pitchFamily="34" charset="0"/>
                <a:ea typeface="Helvetica Neue" pitchFamily="34" charset="-122"/>
                <a:cs typeface="Helvetica Neue" pitchFamily="34" charset="-120"/>
              </a:rPr>
              <a:t>block 5</a:t>
            </a:r>
            <a:endParaRPr lang="en-US" sz="1100" dirty="0"/>
          </a:p>
        </p:txBody>
      </p:sp>
      <p:sp>
        <p:nvSpPr>
          <p:cNvPr id="40" name="Shape 37"/>
          <p:cNvSpPr/>
          <p:nvPr/>
        </p:nvSpPr>
        <p:spPr>
          <a:xfrm>
            <a:off x="9272016" y="2377440"/>
            <a:ext cx="274320" cy="411480"/>
          </a:xfrm>
          <a:prstGeom prst="rect">
            <a:avLst/>
          </a:prstGeom>
          <a:solidFill>
            <a:srgbClr val="DFD6C0"/>
          </a:solidFill>
          <a:ln/>
        </p:spPr>
      </p:sp>
      <p:sp>
        <p:nvSpPr>
          <p:cNvPr id="41" name="Shape 38"/>
          <p:cNvSpPr/>
          <p:nvPr/>
        </p:nvSpPr>
        <p:spPr>
          <a:xfrm>
            <a:off x="9637776" y="2377440"/>
            <a:ext cx="274320" cy="411480"/>
          </a:xfrm>
          <a:prstGeom prst="rect">
            <a:avLst/>
          </a:prstGeom>
          <a:solidFill>
            <a:srgbClr val="DFD6C0"/>
          </a:solidFill>
          <a:ln/>
        </p:spPr>
      </p:sp>
      <p:sp>
        <p:nvSpPr>
          <p:cNvPr id="42" name="Shape 39"/>
          <p:cNvSpPr/>
          <p:nvPr/>
        </p:nvSpPr>
        <p:spPr>
          <a:xfrm>
            <a:off x="10003536" y="2377440"/>
            <a:ext cx="274320" cy="411480"/>
          </a:xfrm>
          <a:prstGeom prst="rect">
            <a:avLst/>
          </a:prstGeom>
          <a:solidFill>
            <a:srgbClr val="DFD6C0"/>
          </a:solidFill>
          <a:ln/>
        </p:spPr>
      </p:sp>
      <p:sp>
        <p:nvSpPr>
          <p:cNvPr id="43" name="Shape 40"/>
          <p:cNvSpPr/>
          <p:nvPr/>
        </p:nvSpPr>
        <p:spPr>
          <a:xfrm>
            <a:off x="10369296" y="2377440"/>
            <a:ext cx="274320" cy="411480"/>
          </a:xfrm>
          <a:prstGeom prst="rect">
            <a:avLst/>
          </a:prstGeom>
          <a:solidFill>
            <a:srgbClr val="DFD6C0"/>
          </a:solidFill>
          <a:ln/>
        </p:spPr>
      </p:sp>
      <p:sp>
        <p:nvSpPr>
          <p:cNvPr id="44" name="Shape 41"/>
          <p:cNvSpPr/>
          <p:nvPr/>
        </p:nvSpPr>
        <p:spPr>
          <a:xfrm>
            <a:off x="10735056" y="2377440"/>
            <a:ext cx="274320" cy="411480"/>
          </a:xfrm>
          <a:prstGeom prst="rect">
            <a:avLst/>
          </a:prstGeom>
          <a:solidFill>
            <a:srgbClr val="DFD6C0"/>
          </a:solidFill>
          <a:ln/>
        </p:spPr>
      </p:sp>
      <p:sp>
        <p:nvSpPr>
          <p:cNvPr id="45" name="Shape 42"/>
          <p:cNvSpPr/>
          <p:nvPr/>
        </p:nvSpPr>
        <p:spPr>
          <a:xfrm>
            <a:off x="4828032" y="3063240"/>
            <a:ext cx="2029968" cy="91440"/>
          </a:xfrm>
          <a:prstGeom prst="rect">
            <a:avLst/>
          </a:prstGeom>
          <a:solidFill>
            <a:srgbClr val="A8864A"/>
          </a:solidFill>
          <a:ln/>
        </p:spPr>
      </p:sp>
      <p:sp>
        <p:nvSpPr>
          <p:cNvPr id="46" name="Text 43"/>
          <p:cNvSpPr/>
          <p:nvPr/>
        </p:nvSpPr>
        <p:spPr>
          <a:xfrm>
            <a:off x="3017520" y="3200400"/>
            <a:ext cx="7315200" cy="320040"/>
          </a:xfrm>
          <a:prstGeom prst="rect">
            <a:avLst/>
          </a:prstGeom>
          <a:noFill/>
          <a:ln/>
        </p:spPr>
        <p:txBody>
          <a:bodyPr wrap="square" lIns="0" tIns="0" rIns="0" bIns="0" rtlCol="0" anchor="t"/>
          <a:lstStyle/>
          <a:p>
            <a:pPr algn="ctr" indent="0" marL="0">
              <a:buNone/>
            </a:pPr>
            <a:r>
              <a:rPr lang="en-US" sz="1300" b="1" dirty="0">
                <a:solidFill>
                  <a:srgbClr val="A8864A"/>
                </a:solidFill>
                <a:latin typeface="Helvetica Neue" pitchFamily="34" charset="0"/>
                <a:ea typeface="Helvetica Neue" pitchFamily="34" charset="-122"/>
                <a:cs typeface="Helvetica Neue" pitchFamily="34" charset="-120"/>
              </a:rPr>
              <a:t>one block fetched — thousands of neighbours came along free</a:t>
            </a:r>
            <a:endParaRPr lang="en-US" sz="1300" dirty="0"/>
          </a:p>
        </p:txBody>
      </p:sp>
      <p:sp>
        <p:nvSpPr>
          <p:cNvPr id="47" name="Shape 44"/>
          <p:cNvSpPr/>
          <p:nvPr/>
        </p:nvSpPr>
        <p:spPr>
          <a:xfrm>
            <a:off x="548640" y="3840480"/>
            <a:ext cx="5349240" cy="1280160"/>
          </a:xfrm>
          <a:prstGeom prst="roundRect">
            <a:avLst>
              <a:gd name="adj" fmla="val 4286"/>
            </a:avLst>
          </a:prstGeom>
          <a:solidFill>
            <a:srgbClr val="DDE3CC"/>
          </a:solidFill>
          <a:ln w="15875">
            <a:solidFill>
              <a:srgbClr val="5F7A3A"/>
            </a:solidFill>
            <a:prstDash val="solid"/>
          </a:ln>
        </p:spPr>
      </p:sp>
      <p:sp>
        <p:nvSpPr>
          <p:cNvPr id="48" name="Text 45"/>
          <p:cNvSpPr/>
          <p:nvPr/>
        </p:nvSpPr>
        <p:spPr>
          <a:xfrm>
            <a:off x="621792" y="4169664"/>
            <a:ext cx="5202936" cy="310896"/>
          </a:xfrm>
          <a:prstGeom prst="rect">
            <a:avLst/>
          </a:prstGeom>
          <a:noFill/>
          <a:ln/>
        </p:spPr>
        <p:txBody>
          <a:bodyPr wrap="square" lIns="0" tIns="0" rIns="0" bIns="0" rtlCol="0" anchor="b">
            <a:normAutofit/>
          </a:bodyPr>
          <a:lstStyle/>
          <a:p>
            <a:pPr algn="ctr" indent="0" marL="0">
              <a:buNone/>
            </a:pPr>
            <a:r>
              <a:rPr lang="en-US" sz="1400" b="1" dirty="0">
                <a:solidFill>
                  <a:srgbClr val="3A2C1A"/>
                </a:solidFill>
                <a:latin typeface="Helvetica Neue" pitchFamily="34" charset="0"/>
                <a:ea typeface="Helvetica Neue" pitchFamily="34" charset="-122"/>
                <a:cs typeface="Helvetica Neue" pitchFamily="34" charset="-120"/>
              </a:rPr>
              <a:t>together in the index</a:t>
            </a:r>
            <a:endParaRPr lang="en-US" sz="1400" dirty="0"/>
          </a:p>
        </p:txBody>
      </p:sp>
      <p:sp>
        <p:nvSpPr>
          <p:cNvPr id="49" name="Text 46"/>
          <p:cNvSpPr/>
          <p:nvPr/>
        </p:nvSpPr>
        <p:spPr>
          <a:xfrm>
            <a:off x="621792" y="4462272"/>
            <a:ext cx="5202936" cy="640080"/>
          </a:xfrm>
          <a:prstGeom prst="rect">
            <a:avLst/>
          </a:prstGeom>
          <a:noFill/>
          <a:ln/>
        </p:spPr>
        <p:txBody>
          <a:bodyPr wrap="square" lIns="0" tIns="0" rIns="0" bIns="0" rtlCol="0" anchor="t">
            <a:normAutofit/>
          </a:bodyPr>
          <a:lstStyle/>
          <a:p>
            <a:pPr algn="ctr" indent="0" marL="0">
              <a:buNone/>
            </a:pPr>
            <a:r>
              <a:rPr lang="en-US" sz="1200" dirty="0">
                <a:solidFill>
                  <a:srgbClr val="6B5A44"/>
                </a:solidFill>
                <a:latin typeface="Helvetica Neue" pitchFamily="34" charset="0"/>
                <a:ea typeface="Helvetica Neue" pitchFamily="34" charset="-122"/>
                <a:cs typeface="Helvetica Neue" pitchFamily="34" charset="-120"/>
              </a:rPr>
              <a:t>a time-range scan touches a few blocks</a:t>
            </a:r>
            <a:endParaRPr lang="en-US" sz="1200" dirty="0"/>
          </a:p>
          <a:p>
            <a:pPr algn="ctr" indent="0" marL="0">
              <a:buNone/>
            </a:pPr>
            <a:r>
              <a:rPr lang="en-US" sz="1200" dirty="0">
                <a:solidFill>
                  <a:srgbClr val="6B5A44"/>
                </a:solidFill>
                <a:latin typeface="Helvetica Neue" pitchFamily="34" charset="0"/>
                <a:ea typeface="Helvetica Neue" pitchFamily="34" charset="-122"/>
                <a:cs typeface="Helvetica Neue" pitchFamily="34" charset="-120"/>
              </a:rPr>
              <a:t>→ cheap</a:t>
            </a:r>
            <a:endParaRPr lang="en-US" sz="1200" dirty="0"/>
          </a:p>
        </p:txBody>
      </p:sp>
      <p:sp>
        <p:nvSpPr>
          <p:cNvPr id="50" name="Shape 47"/>
          <p:cNvSpPr/>
          <p:nvPr/>
        </p:nvSpPr>
        <p:spPr>
          <a:xfrm>
            <a:off x="6263640" y="3840480"/>
            <a:ext cx="5349240" cy="1280160"/>
          </a:xfrm>
          <a:prstGeom prst="roundRect">
            <a:avLst>
              <a:gd name="adj" fmla="val 4286"/>
            </a:avLst>
          </a:prstGeom>
          <a:solidFill>
            <a:srgbClr val="EBD5CB"/>
          </a:solidFill>
          <a:ln w="15875">
            <a:solidFill>
              <a:srgbClr val="9E4227"/>
            </a:solidFill>
            <a:prstDash val="solid"/>
          </a:ln>
        </p:spPr>
      </p:sp>
      <p:sp>
        <p:nvSpPr>
          <p:cNvPr id="51" name="Text 48"/>
          <p:cNvSpPr/>
          <p:nvPr/>
        </p:nvSpPr>
        <p:spPr>
          <a:xfrm>
            <a:off x="6336792" y="4169664"/>
            <a:ext cx="5202936" cy="310896"/>
          </a:xfrm>
          <a:prstGeom prst="rect">
            <a:avLst/>
          </a:prstGeom>
          <a:noFill/>
          <a:ln/>
        </p:spPr>
        <p:txBody>
          <a:bodyPr wrap="square" lIns="0" tIns="0" rIns="0" bIns="0" rtlCol="0" anchor="b">
            <a:normAutofit/>
          </a:bodyPr>
          <a:lstStyle/>
          <a:p>
            <a:pPr algn="ctr" indent="0" marL="0">
              <a:buNone/>
            </a:pPr>
            <a:r>
              <a:rPr lang="en-US" sz="1400" b="1" dirty="0">
                <a:solidFill>
                  <a:srgbClr val="3A2C1A"/>
                </a:solidFill>
                <a:latin typeface="Helvetica Neue" pitchFamily="34" charset="0"/>
                <a:ea typeface="Helvetica Neue" pitchFamily="34" charset="-122"/>
                <a:cs typeface="Helvetica Neue" pitchFamily="34" charset="-120"/>
              </a:rPr>
              <a:t>scattered across the index</a:t>
            </a:r>
            <a:endParaRPr lang="en-US" sz="1400" dirty="0"/>
          </a:p>
        </p:txBody>
      </p:sp>
      <p:sp>
        <p:nvSpPr>
          <p:cNvPr id="52" name="Text 49"/>
          <p:cNvSpPr/>
          <p:nvPr/>
        </p:nvSpPr>
        <p:spPr>
          <a:xfrm>
            <a:off x="6336792" y="4462272"/>
            <a:ext cx="5202936" cy="640080"/>
          </a:xfrm>
          <a:prstGeom prst="rect">
            <a:avLst/>
          </a:prstGeom>
          <a:noFill/>
          <a:ln/>
        </p:spPr>
        <p:txBody>
          <a:bodyPr wrap="square" lIns="0" tIns="0" rIns="0" bIns="0" rtlCol="0" anchor="t">
            <a:normAutofit/>
          </a:bodyPr>
          <a:lstStyle/>
          <a:p>
            <a:pPr algn="ctr" indent="0" marL="0">
              <a:buNone/>
            </a:pPr>
            <a:r>
              <a:rPr lang="en-US" sz="1200" dirty="0">
                <a:solidFill>
                  <a:srgbClr val="6B5A44"/>
                </a:solidFill>
                <a:latin typeface="Helvetica Neue" pitchFamily="34" charset="0"/>
                <a:ea typeface="Helvetica Neue" pitchFamily="34" charset="-122"/>
                <a:cs typeface="Helvetica Neue" pitchFamily="34" charset="-120"/>
              </a:rPr>
              <a:t>1,000 scattered entities ≈ 1,000 blocks</a:t>
            </a:r>
            <a:endParaRPr lang="en-US" sz="1200" dirty="0"/>
          </a:p>
          <a:p>
            <a:pPr algn="ctr" indent="0" marL="0">
              <a:buNone/>
            </a:pPr>
            <a:r>
              <a:rPr lang="en-US" sz="1200" dirty="0">
                <a:solidFill>
                  <a:srgbClr val="6B5A44"/>
                </a:solidFill>
                <a:latin typeface="Helvetica Neue" pitchFamily="34" charset="0"/>
                <a:ea typeface="Helvetica Neue" pitchFamily="34" charset="-122"/>
                <a:cs typeface="Helvetica Neue" pitchFamily="34" charset="-120"/>
              </a:rPr>
              <a:t>→ ~100× the fetching, same answer</a:t>
            </a:r>
            <a:endParaRPr lang="en-US" sz="1200" dirty="0"/>
          </a:p>
        </p:txBody>
      </p:sp>
      <p:sp>
        <p:nvSpPr>
          <p:cNvPr id="53" name="Shape 50"/>
          <p:cNvSpPr/>
          <p:nvPr/>
        </p:nvSpPr>
        <p:spPr>
          <a:xfrm>
            <a:off x="548640" y="5440680"/>
            <a:ext cx="54864" cy="457200"/>
          </a:xfrm>
          <a:prstGeom prst="rect">
            <a:avLst/>
          </a:prstGeom>
          <a:solidFill>
            <a:srgbClr val="A8864A"/>
          </a:solidFill>
          <a:ln/>
        </p:spPr>
      </p:sp>
      <p:sp>
        <p:nvSpPr>
          <p:cNvPr id="54" name="Text 51"/>
          <p:cNvSpPr/>
          <p:nvPr/>
        </p:nvSpPr>
        <p:spPr>
          <a:xfrm>
            <a:off x="777240" y="544068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Data read together is cheap if it lives together. Scattered reads defeat every tier at once.</a:t>
            </a:r>
            <a:endParaRPr lang="en-US" sz="1450" dirty="0"/>
          </a:p>
        </p:txBody>
      </p:sp>
      <p:sp>
        <p:nvSpPr>
          <p:cNvPr id="55" name="Shape 52"/>
          <p:cNvSpPr/>
          <p:nvPr/>
        </p:nvSpPr>
        <p:spPr>
          <a:xfrm>
            <a:off x="548640" y="6419088"/>
            <a:ext cx="54864" cy="292608"/>
          </a:xfrm>
          <a:prstGeom prst="rect">
            <a:avLst/>
          </a:prstGeom>
          <a:solidFill>
            <a:srgbClr val="A8864A"/>
          </a:solidFill>
          <a:ln/>
        </p:spPr>
      </p:sp>
      <p:sp>
        <p:nvSpPr>
          <p:cNvPr id="56" name="Text 53"/>
          <p:cNvSpPr/>
          <p:nvPr/>
        </p:nvSpPr>
        <p:spPr>
          <a:xfrm>
            <a:off x="713232" y="6382512"/>
            <a:ext cx="658368" cy="365760"/>
          </a:xfrm>
          <a:prstGeom prst="rect">
            <a:avLst/>
          </a:prstGeom>
          <a:noFill/>
          <a:ln/>
        </p:spPr>
        <p:txBody>
          <a:bodyPr wrap="square" lIns="0" tIns="0" rIns="0" bIns="0" rtlCol="0" anchor="ctr"/>
          <a:lstStyle/>
          <a:p>
            <a:pPr indent="0" marL="0">
              <a:buNone/>
            </a:pPr>
            <a:r>
              <a:rPr lang="en-US" sz="900" b="1" spc="100" kern="0" dirty="0">
                <a:solidFill>
                  <a:srgbClr val="A8864A"/>
                </a:solidFill>
                <a:latin typeface="Helvetica Neue" pitchFamily="34" charset="0"/>
                <a:ea typeface="Helvetica Neue" pitchFamily="34" charset="-122"/>
                <a:cs typeface="Helvetica Neue" pitchFamily="34" charset="-120"/>
              </a:rPr>
              <a:t>CASES</a:t>
            </a:r>
            <a:endParaRPr lang="en-US" sz="900" dirty="0"/>
          </a:p>
        </p:txBody>
      </p:sp>
      <p:sp>
        <p:nvSpPr>
          <p:cNvPr id="57" name="Text 54"/>
          <p:cNvSpPr/>
          <p:nvPr/>
        </p:nvSpPr>
        <p:spPr>
          <a:xfrm>
            <a:off x="1463040" y="6382512"/>
            <a:ext cx="9509760" cy="365760"/>
          </a:xfrm>
          <a:prstGeom prst="rect">
            <a:avLst/>
          </a:prstGeom>
          <a:noFill/>
          <a:ln/>
        </p:spPr>
        <p:txBody>
          <a:bodyPr wrap="square" lIns="0" tIns="0" rIns="0" bIns="0" rtlCol="0" anchor="ctr"/>
          <a:lstStyle/>
          <a:p>
            <a:pPr indent="0" marL="0">
              <a:buNone/>
            </a:pPr>
            <a:r>
              <a:rPr lang="en-US" sz="1100" dirty="0">
                <a:solidFill>
                  <a:srgbClr val="6B5A44"/>
                </a:solidFill>
                <a:latin typeface="Helvetica Neue" pitchFamily="34" charset="0"/>
                <a:ea typeface="Helvetica Neue" pitchFamily="34" charset="-122"/>
                <a:cs typeface="Helvetica Neue" pitchFamily="34" charset="-120"/>
              </a:rPr>
              <a:t>Range scan by time: a few blocks   ·   Random lookups all over: a block per lookup — no cache tier fixes it</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IV · CACHES</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24</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Catch 1 · deploys empty the caches</a:t>
            </a:r>
            <a:endParaRPr lang="en-US" sz="2500" dirty="0"/>
          </a:p>
        </p:txBody>
      </p:sp>
      <p:sp>
        <p:nvSpPr>
          <p:cNvPr id="8" name="Shape 5"/>
          <p:cNvSpPr/>
          <p:nvPr/>
        </p:nvSpPr>
        <p:spPr>
          <a:xfrm>
            <a:off x="548640" y="1371600"/>
            <a:ext cx="11064240" cy="1371600"/>
          </a:xfrm>
          <a:prstGeom prst="roundRect">
            <a:avLst>
              <a:gd name="adj" fmla="val 5333"/>
            </a:avLst>
          </a:prstGeom>
          <a:solidFill>
            <a:srgbClr val="EBD5CB"/>
          </a:solidFill>
          <a:ln/>
        </p:spPr>
      </p:sp>
      <p:sp>
        <p:nvSpPr>
          <p:cNvPr id="9" name="Text 6"/>
          <p:cNvSpPr/>
          <p:nvPr/>
        </p:nvSpPr>
        <p:spPr>
          <a:xfrm>
            <a:off x="822960" y="1508760"/>
            <a:ext cx="10515600" cy="411480"/>
          </a:xfrm>
          <a:prstGeom prst="rect">
            <a:avLst/>
          </a:prstGeom>
          <a:noFill/>
          <a:ln/>
        </p:spPr>
        <p:txBody>
          <a:bodyPr wrap="square" lIns="0" tIns="0" rIns="0" bIns="0" rtlCol="0" anchor="t">
            <a:normAutofit/>
          </a:bodyPr>
          <a:lstStyle/>
          <a:p>
            <a:pPr indent="0" marL="0">
              <a:buNone/>
            </a:pPr>
            <a:r>
              <a:rPr lang="en-US" sz="1500" b="1" dirty="0">
                <a:solidFill>
                  <a:srgbClr val="3A2C1A"/>
                </a:solidFill>
                <a:latin typeface="Helvetica Neue" pitchFamily="34" charset="0"/>
                <a:ea typeface="Helvetica Neue" pitchFamily="34" charset="-122"/>
                <a:cs typeface="Helvetica Neue" pitchFamily="34" charset="-120"/>
              </a:rPr>
              <a:t>restart 20 peers at once  →  20 empty caches  →  everyone fetches the same things at the same moment</a:t>
            </a:r>
            <a:endParaRPr lang="en-US" sz="1500" dirty="0"/>
          </a:p>
        </p:txBody>
      </p:sp>
      <p:sp>
        <p:nvSpPr>
          <p:cNvPr id="10" name="Text 7"/>
          <p:cNvSpPr/>
          <p:nvPr/>
        </p:nvSpPr>
        <p:spPr>
          <a:xfrm>
            <a:off x="822960" y="2011680"/>
            <a:ext cx="10515600" cy="594360"/>
          </a:xfrm>
          <a:prstGeom prst="rect">
            <a:avLst/>
          </a:prstGeom>
          <a:noFill/>
          <a:ln/>
        </p:spPr>
        <p:txBody>
          <a:bodyPr wrap="square" lIns="0" tIns="0" rIns="0" bIns="0" rtlCol="0" anchor="t"/>
          <a:lstStyle/>
          <a:p>
            <a:pPr indent="0" marL="0">
              <a:buNone/>
            </a:pPr>
            <a:r>
              <a:rPr lang="en-US" sz="1250" dirty="0">
                <a:solidFill>
                  <a:srgbClr val="6B5A44"/>
                </a:solidFill>
                <a:latin typeface="Helvetica Neue" pitchFamily="34" charset="0"/>
                <a:ea typeface="Helvetica Neue" pitchFamily="34" charset="-122"/>
                <a:cs typeface="Helvetica Neue" pitchFamily="34" charset="-120"/>
              </a:rPr>
              <a:t>latency spikes · zero errors · resolves itself in minutes — and often gets misread as a bad release and rolled back (which restarts everything again)</a:t>
            </a:r>
            <a:endParaRPr lang="en-US" sz="1250" dirty="0"/>
          </a:p>
        </p:txBody>
      </p:sp>
      <p:sp>
        <p:nvSpPr>
          <p:cNvPr id="11" name="Text 8"/>
          <p:cNvSpPr/>
          <p:nvPr/>
        </p:nvSpPr>
        <p:spPr>
          <a:xfrm>
            <a:off x="548640" y="3063240"/>
            <a:ext cx="11064240" cy="320040"/>
          </a:xfrm>
          <a:prstGeom prst="rect">
            <a:avLst/>
          </a:prstGeom>
          <a:noFill/>
          <a:ln/>
        </p:spPr>
        <p:txBody>
          <a:bodyPr wrap="square" lIns="0" tIns="0" rIns="0" bIns="0" rtlCol="0" anchor="t"/>
          <a:lstStyle/>
          <a:p>
            <a:pPr indent="0" marL="0">
              <a:buNone/>
            </a:pPr>
            <a:r>
              <a:rPr lang="en-US" sz="1400" b="1" dirty="0">
                <a:solidFill>
                  <a:srgbClr val="3A2C1A"/>
                </a:solidFill>
                <a:latin typeface="Helvetica Neue" pitchFamily="34" charset="0"/>
                <a:ea typeface="Helvetica Neue" pitchFamily="34" charset="-122"/>
                <a:cs typeface="Helvetica Neue" pitchFamily="34" charset="-120"/>
              </a:rPr>
              <a:t>Three fixes, cheapest first:</a:t>
            </a:r>
            <a:endParaRPr lang="en-US" sz="1400" dirty="0"/>
          </a:p>
        </p:txBody>
      </p:sp>
      <p:sp>
        <p:nvSpPr>
          <p:cNvPr id="12" name="Shape 9"/>
          <p:cNvSpPr/>
          <p:nvPr/>
        </p:nvSpPr>
        <p:spPr>
          <a:xfrm>
            <a:off x="548640" y="3474720"/>
            <a:ext cx="3538728" cy="1645920"/>
          </a:xfrm>
          <a:prstGeom prst="roundRect">
            <a:avLst>
              <a:gd name="adj" fmla="val 4444"/>
            </a:avLst>
          </a:prstGeom>
          <a:solidFill>
            <a:srgbClr val="DDE3CC"/>
          </a:solidFill>
          <a:ln/>
        </p:spPr>
      </p:sp>
      <p:sp>
        <p:nvSpPr>
          <p:cNvPr id="13" name="Text 10"/>
          <p:cNvSpPr/>
          <p:nvPr/>
        </p:nvSpPr>
        <p:spPr>
          <a:xfrm>
            <a:off x="731520" y="3611880"/>
            <a:ext cx="365760" cy="320040"/>
          </a:xfrm>
          <a:prstGeom prst="rect">
            <a:avLst/>
          </a:prstGeom>
          <a:noFill/>
          <a:ln/>
        </p:spPr>
        <p:txBody>
          <a:bodyPr wrap="square" lIns="0" tIns="0" rIns="0" bIns="0" rtlCol="0" anchor="t"/>
          <a:lstStyle/>
          <a:p>
            <a:pPr indent="0" marL="0">
              <a:buNone/>
            </a:pPr>
            <a:r>
              <a:rPr lang="en-US" sz="1700" b="1" dirty="0">
                <a:solidFill>
                  <a:srgbClr val="5F7A3A"/>
                </a:solidFill>
                <a:latin typeface="Georgia" pitchFamily="34" charset="0"/>
                <a:ea typeface="Georgia" pitchFamily="34" charset="-122"/>
                <a:cs typeface="Georgia" pitchFamily="34" charset="-120"/>
              </a:rPr>
              <a:t>1</a:t>
            </a:r>
            <a:endParaRPr lang="en-US" sz="1700" dirty="0"/>
          </a:p>
        </p:txBody>
      </p:sp>
      <p:sp>
        <p:nvSpPr>
          <p:cNvPr id="14" name="Text 11"/>
          <p:cNvSpPr/>
          <p:nvPr/>
        </p:nvSpPr>
        <p:spPr>
          <a:xfrm>
            <a:off x="1188720" y="3630168"/>
            <a:ext cx="2743200" cy="320040"/>
          </a:xfrm>
          <a:prstGeom prst="rect">
            <a:avLst/>
          </a:prstGeom>
          <a:noFill/>
          <a:ln/>
        </p:spPr>
        <p:txBody>
          <a:bodyPr wrap="square" lIns="0" tIns="0" rIns="0" bIns="0" rtlCol="0" anchor="t"/>
          <a:lstStyle/>
          <a:p>
            <a:pPr indent="0" marL="0">
              <a:buNone/>
            </a:pPr>
            <a:r>
              <a:rPr lang="en-US" sz="1450" b="1" dirty="0">
                <a:solidFill>
                  <a:srgbClr val="3A2C1A"/>
                </a:solidFill>
                <a:latin typeface="Helvetica Neue" pitchFamily="34" charset="0"/>
                <a:ea typeface="Helvetica Neue" pitchFamily="34" charset="-122"/>
                <a:cs typeface="Helvetica Neue" pitchFamily="34" charset="-120"/>
              </a:rPr>
              <a:t>rolling deploys</a:t>
            </a:r>
            <a:endParaRPr lang="en-US" sz="1450" dirty="0"/>
          </a:p>
        </p:txBody>
      </p:sp>
      <p:sp>
        <p:nvSpPr>
          <p:cNvPr id="15" name="Text 12"/>
          <p:cNvSpPr/>
          <p:nvPr/>
        </p:nvSpPr>
        <p:spPr>
          <a:xfrm>
            <a:off x="1188720" y="4023360"/>
            <a:ext cx="2743200" cy="685800"/>
          </a:xfrm>
          <a:prstGeom prst="rect">
            <a:avLst/>
          </a:prstGeom>
          <a:noFill/>
          <a:ln/>
        </p:spPr>
        <p:txBody>
          <a:bodyPr wrap="square" lIns="0" tIns="0" rIns="0" bIns="0" rtlCol="0" anchor="t"/>
          <a:lstStyle/>
          <a:p>
            <a:pPr indent="0" marL="0">
              <a:buNone/>
            </a:pPr>
            <a:r>
              <a:rPr lang="en-US" sz="1200" dirty="0">
                <a:solidFill>
                  <a:srgbClr val="6B5A44"/>
                </a:solidFill>
                <a:latin typeface="Helvetica Neue" pitchFamily="34" charset="0"/>
                <a:ea typeface="Helvetica Neue" pitchFamily="34" charset="-122"/>
                <a:cs typeface="Helvetica Neue" pitchFamily="34" charset="-120"/>
              </a:rPr>
              <a:t>replace a few peers at a time — most of the fleet stays warm</a:t>
            </a:r>
            <a:endParaRPr lang="en-US" sz="1200" dirty="0"/>
          </a:p>
        </p:txBody>
      </p:sp>
      <p:sp>
        <p:nvSpPr>
          <p:cNvPr id="16" name="Text 13"/>
          <p:cNvSpPr/>
          <p:nvPr/>
        </p:nvSpPr>
        <p:spPr>
          <a:xfrm>
            <a:off x="1188720" y="4754880"/>
            <a:ext cx="2743200" cy="274320"/>
          </a:xfrm>
          <a:prstGeom prst="rect">
            <a:avLst/>
          </a:prstGeom>
          <a:noFill/>
          <a:ln/>
        </p:spPr>
        <p:txBody>
          <a:bodyPr wrap="square" lIns="0" tIns="0" rIns="0" bIns="0" rtlCol="0" anchor="t"/>
          <a:lstStyle/>
          <a:p>
            <a:pPr indent="0" marL="0">
              <a:buNone/>
            </a:pPr>
            <a:r>
              <a:rPr lang="en-US" sz="1150" i="1" dirty="0">
                <a:solidFill>
                  <a:srgbClr val="5F7A3A"/>
                </a:solidFill>
                <a:latin typeface="Helvetica Neue" pitchFamily="34" charset="0"/>
                <a:ea typeface="Helvetica Neue" pitchFamily="34" charset="-122"/>
                <a:cs typeface="Helvetica Neue" pitchFamily="34" charset="-120"/>
              </a:rPr>
              <a:t>(needs nothing)</a:t>
            </a:r>
            <a:endParaRPr lang="en-US" sz="1150" dirty="0"/>
          </a:p>
        </p:txBody>
      </p:sp>
      <p:sp>
        <p:nvSpPr>
          <p:cNvPr id="17" name="Shape 14"/>
          <p:cNvSpPr/>
          <p:nvPr/>
        </p:nvSpPr>
        <p:spPr>
          <a:xfrm>
            <a:off x="4270248" y="3474720"/>
            <a:ext cx="3538728" cy="1645920"/>
          </a:xfrm>
          <a:prstGeom prst="roundRect">
            <a:avLst>
              <a:gd name="adj" fmla="val 4444"/>
            </a:avLst>
          </a:prstGeom>
          <a:solidFill>
            <a:srgbClr val="D3DEE1"/>
          </a:solidFill>
          <a:ln/>
        </p:spPr>
      </p:sp>
      <p:sp>
        <p:nvSpPr>
          <p:cNvPr id="18" name="Text 15"/>
          <p:cNvSpPr/>
          <p:nvPr/>
        </p:nvSpPr>
        <p:spPr>
          <a:xfrm>
            <a:off x="4453128" y="3611880"/>
            <a:ext cx="365760" cy="320040"/>
          </a:xfrm>
          <a:prstGeom prst="rect">
            <a:avLst/>
          </a:prstGeom>
          <a:noFill/>
          <a:ln/>
        </p:spPr>
        <p:txBody>
          <a:bodyPr wrap="square" lIns="0" tIns="0" rIns="0" bIns="0" rtlCol="0" anchor="t"/>
          <a:lstStyle/>
          <a:p>
            <a:pPr indent="0" marL="0">
              <a:buNone/>
            </a:pPr>
            <a:r>
              <a:rPr lang="en-US" sz="1700" b="1" dirty="0">
                <a:solidFill>
                  <a:srgbClr val="3F6470"/>
                </a:solidFill>
                <a:latin typeface="Georgia" pitchFamily="34" charset="0"/>
                <a:ea typeface="Georgia" pitchFamily="34" charset="-122"/>
                <a:cs typeface="Georgia" pitchFamily="34" charset="-120"/>
              </a:rPr>
              <a:t>2</a:t>
            </a:r>
            <a:endParaRPr lang="en-US" sz="1700" dirty="0"/>
          </a:p>
        </p:txBody>
      </p:sp>
      <p:sp>
        <p:nvSpPr>
          <p:cNvPr id="19" name="Text 16"/>
          <p:cNvSpPr/>
          <p:nvPr/>
        </p:nvSpPr>
        <p:spPr>
          <a:xfrm>
            <a:off x="4910328" y="3630168"/>
            <a:ext cx="2743200" cy="320040"/>
          </a:xfrm>
          <a:prstGeom prst="rect">
            <a:avLst/>
          </a:prstGeom>
          <a:noFill/>
          <a:ln/>
        </p:spPr>
        <p:txBody>
          <a:bodyPr wrap="square" lIns="0" tIns="0" rIns="0" bIns="0" rtlCol="0" anchor="t"/>
          <a:lstStyle/>
          <a:p>
            <a:pPr indent="0" marL="0">
              <a:buNone/>
            </a:pPr>
            <a:r>
              <a:rPr lang="en-US" sz="1450" b="1" dirty="0">
                <a:solidFill>
                  <a:srgbClr val="3A2C1A"/>
                </a:solidFill>
                <a:latin typeface="Helvetica Neue" pitchFamily="34" charset="0"/>
                <a:ea typeface="Helvetica Neue" pitchFamily="34" charset="-122"/>
                <a:cs typeface="Helvetica Neue" pitchFamily="34" charset="-120"/>
              </a:rPr>
              <a:t>memcached</a:t>
            </a:r>
            <a:endParaRPr lang="en-US" sz="1450" dirty="0"/>
          </a:p>
        </p:txBody>
      </p:sp>
      <p:sp>
        <p:nvSpPr>
          <p:cNvPr id="20" name="Text 17"/>
          <p:cNvSpPr/>
          <p:nvPr/>
        </p:nvSpPr>
        <p:spPr>
          <a:xfrm>
            <a:off x="4910328" y="4023360"/>
            <a:ext cx="2743200" cy="685800"/>
          </a:xfrm>
          <a:prstGeom prst="rect">
            <a:avLst/>
          </a:prstGeom>
          <a:noFill/>
          <a:ln/>
        </p:spPr>
        <p:txBody>
          <a:bodyPr wrap="square" lIns="0" tIns="0" rIns="0" bIns="0" rtlCol="0" anchor="t"/>
          <a:lstStyle/>
          <a:p>
            <a:pPr indent="0" marL="0">
              <a:buNone/>
            </a:pPr>
            <a:r>
              <a:rPr lang="en-US" sz="1200" dirty="0">
                <a:solidFill>
                  <a:srgbClr val="6B5A44"/>
                </a:solidFill>
                <a:latin typeface="Helvetica Neue" pitchFamily="34" charset="0"/>
                <a:ea typeface="Helvetica Neue" pitchFamily="34" charset="-122"/>
                <a:cs typeface="Helvetica Neue" pitchFamily="34" charset="-120"/>
              </a:rPr>
              <a:t>20 cold peers cause 1 shared miss, not 20</a:t>
            </a:r>
            <a:endParaRPr lang="en-US" sz="1200" dirty="0"/>
          </a:p>
        </p:txBody>
      </p:sp>
      <p:sp>
        <p:nvSpPr>
          <p:cNvPr id="21" name="Text 18"/>
          <p:cNvSpPr/>
          <p:nvPr/>
        </p:nvSpPr>
        <p:spPr>
          <a:xfrm>
            <a:off x="4910328" y="4754880"/>
            <a:ext cx="2743200" cy="274320"/>
          </a:xfrm>
          <a:prstGeom prst="rect">
            <a:avLst/>
          </a:prstGeom>
          <a:noFill/>
          <a:ln/>
        </p:spPr>
        <p:txBody>
          <a:bodyPr wrap="square" lIns="0" tIns="0" rIns="0" bIns="0" rtlCol="0" anchor="t"/>
          <a:lstStyle/>
          <a:p>
            <a:pPr indent="0" marL="0">
              <a:buNone/>
            </a:pPr>
            <a:r>
              <a:rPr lang="en-US" sz="1150" i="1" dirty="0">
                <a:solidFill>
                  <a:srgbClr val="3F6470"/>
                </a:solidFill>
                <a:latin typeface="Helvetica Neue" pitchFamily="34" charset="0"/>
                <a:ea typeface="Helvetica Neue" pitchFamily="34" charset="-122"/>
                <a:cs typeface="Helvetica Neue" pitchFamily="34" charset="-120"/>
              </a:rPr>
              <a:t>(needs a server)</a:t>
            </a:r>
            <a:endParaRPr lang="en-US" sz="1150" dirty="0"/>
          </a:p>
        </p:txBody>
      </p:sp>
      <p:sp>
        <p:nvSpPr>
          <p:cNvPr id="22" name="Shape 19"/>
          <p:cNvSpPr/>
          <p:nvPr/>
        </p:nvSpPr>
        <p:spPr>
          <a:xfrm>
            <a:off x="7991856" y="3474720"/>
            <a:ext cx="3538728" cy="1645920"/>
          </a:xfrm>
          <a:prstGeom prst="roundRect">
            <a:avLst>
              <a:gd name="adj" fmla="val 4444"/>
            </a:avLst>
          </a:prstGeom>
          <a:solidFill>
            <a:srgbClr val="EDE0C4"/>
          </a:solidFill>
          <a:ln/>
        </p:spPr>
      </p:sp>
      <p:sp>
        <p:nvSpPr>
          <p:cNvPr id="23" name="Text 20"/>
          <p:cNvSpPr/>
          <p:nvPr/>
        </p:nvSpPr>
        <p:spPr>
          <a:xfrm>
            <a:off x="8174736" y="3611880"/>
            <a:ext cx="365760" cy="320040"/>
          </a:xfrm>
          <a:prstGeom prst="rect">
            <a:avLst/>
          </a:prstGeom>
          <a:noFill/>
          <a:ln/>
        </p:spPr>
        <p:txBody>
          <a:bodyPr wrap="square" lIns="0" tIns="0" rIns="0" bIns="0" rtlCol="0" anchor="t"/>
          <a:lstStyle/>
          <a:p>
            <a:pPr indent="0" marL="0">
              <a:buNone/>
            </a:pPr>
            <a:r>
              <a:rPr lang="en-US" sz="1700" b="1" dirty="0">
                <a:solidFill>
                  <a:srgbClr val="B5822B"/>
                </a:solidFill>
                <a:latin typeface="Georgia" pitchFamily="34" charset="0"/>
                <a:ea typeface="Georgia" pitchFamily="34" charset="-122"/>
                <a:cs typeface="Georgia" pitchFamily="34" charset="-120"/>
              </a:rPr>
              <a:t>3</a:t>
            </a:r>
            <a:endParaRPr lang="en-US" sz="1700" dirty="0"/>
          </a:p>
        </p:txBody>
      </p:sp>
      <p:sp>
        <p:nvSpPr>
          <p:cNvPr id="24" name="Text 21"/>
          <p:cNvSpPr/>
          <p:nvPr/>
        </p:nvSpPr>
        <p:spPr>
          <a:xfrm>
            <a:off x="8631936" y="3630168"/>
            <a:ext cx="2743200" cy="320040"/>
          </a:xfrm>
          <a:prstGeom prst="rect">
            <a:avLst/>
          </a:prstGeom>
          <a:noFill/>
          <a:ln/>
        </p:spPr>
        <p:txBody>
          <a:bodyPr wrap="square" lIns="0" tIns="0" rIns="0" bIns="0" rtlCol="0" anchor="t"/>
          <a:lstStyle/>
          <a:p>
            <a:pPr indent="0" marL="0">
              <a:buNone/>
            </a:pPr>
            <a:r>
              <a:rPr lang="en-US" sz="1450" b="1" dirty="0">
                <a:solidFill>
                  <a:srgbClr val="3A2C1A"/>
                </a:solidFill>
                <a:latin typeface="Helvetica Neue" pitchFamily="34" charset="0"/>
                <a:ea typeface="Helvetica Neue" pitchFamily="34" charset="-122"/>
                <a:cs typeface="Helvetica Neue" pitchFamily="34" charset="-120"/>
              </a:rPr>
              <a:t>valcache</a:t>
            </a:r>
            <a:endParaRPr lang="en-US" sz="1450" dirty="0"/>
          </a:p>
        </p:txBody>
      </p:sp>
      <p:sp>
        <p:nvSpPr>
          <p:cNvPr id="25" name="Text 22"/>
          <p:cNvSpPr/>
          <p:nvPr/>
        </p:nvSpPr>
        <p:spPr>
          <a:xfrm>
            <a:off x="8631936" y="4023360"/>
            <a:ext cx="2743200" cy="685800"/>
          </a:xfrm>
          <a:prstGeom prst="rect">
            <a:avLst/>
          </a:prstGeom>
          <a:noFill/>
          <a:ln/>
        </p:spPr>
        <p:txBody>
          <a:bodyPr wrap="square" lIns="0" tIns="0" rIns="0" bIns="0" rtlCol="0" anchor="t"/>
          <a:lstStyle/>
          <a:p>
            <a:pPr indent="0" marL="0">
              <a:buNone/>
            </a:pPr>
            <a:r>
              <a:rPr lang="en-US" sz="1200" dirty="0">
                <a:solidFill>
                  <a:srgbClr val="6B5A44"/>
                </a:solidFill>
                <a:latin typeface="Helvetica Neue" pitchFamily="34" charset="0"/>
                <a:ea typeface="Helvetica Neue" pitchFamily="34" charset="-122"/>
                <a:cs typeface="Helvetica Neue" pitchFamily="34" charset="-120"/>
              </a:rPr>
              <a:t>the SSD tier survives the restart entirely</a:t>
            </a:r>
            <a:endParaRPr lang="en-US" sz="1200" dirty="0"/>
          </a:p>
        </p:txBody>
      </p:sp>
      <p:sp>
        <p:nvSpPr>
          <p:cNvPr id="26" name="Text 23"/>
          <p:cNvSpPr/>
          <p:nvPr/>
        </p:nvSpPr>
        <p:spPr>
          <a:xfrm>
            <a:off x="8631936" y="4754880"/>
            <a:ext cx="2743200" cy="274320"/>
          </a:xfrm>
          <a:prstGeom prst="rect">
            <a:avLst/>
          </a:prstGeom>
          <a:noFill/>
          <a:ln/>
        </p:spPr>
        <p:txBody>
          <a:bodyPr wrap="square" lIns="0" tIns="0" rIns="0" bIns="0" rtlCol="0" anchor="t"/>
          <a:lstStyle/>
          <a:p>
            <a:pPr indent="0" marL="0">
              <a:buNone/>
            </a:pPr>
            <a:r>
              <a:rPr lang="en-US" sz="1150" i="1" dirty="0">
                <a:solidFill>
                  <a:srgbClr val="B5822B"/>
                </a:solidFill>
                <a:latin typeface="Helvetica Neue" pitchFamily="34" charset="0"/>
                <a:ea typeface="Helvetica Neue" pitchFamily="34" charset="-122"/>
                <a:cs typeface="Helvetica Neue" pitchFamily="34" charset="-120"/>
              </a:rPr>
              <a:t>(needs a disk)</a:t>
            </a:r>
            <a:endParaRPr lang="en-US" sz="1150" dirty="0"/>
          </a:p>
        </p:txBody>
      </p:sp>
      <p:sp>
        <p:nvSpPr>
          <p:cNvPr id="27" name="Shape 24"/>
          <p:cNvSpPr/>
          <p:nvPr/>
        </p:nvSpPr>
        <p:spPr>
          <a:xfrm>
            <a:off x="548640" y="5440680"/>
            <a:ext cx="54864" cy="457200"/>
          </a:xfrm>
          <a:prstGeom prst="rect">
            <a:avLst/>
          </a:prstGeom>
          <a:solidFill>
            <a:srgbClr val="A8864A"/>
          </a:solidFill>
          <a:ln/>
        </p:spPr>
      </p:sp>
      <p:sp>
        <p:nvSpPr>
          <p:cNvPr id="28" name="Text 25"/>
          <p:cNvSpPr/>
          <p:nvPr/>
        </p:nvSpPr>
        <p:spPr>
          <a:xfrm>
            <a:off x="777240" y="544068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Post-deploy latency spike with zero errors: cold caches, not a bad release. Don't roll back.</a:t>
            </a:r>
            <a:endParaRPr lang="en-US" sz="1450" dirty="0"/>
          </a:p>
        </p:txBody>
      </p:sp>
      <p:sp>
        <p:nvSpPr>
          <p:cNvPr id="29" name="Shape 26"/>
          <p:cNvSpPr/>
          <p:nvPr/>
        </p:nvSpPr>
        <p:spPr>
          <a:xfrm>
            <a:off x="548640" y="6419088"/>
            <a:ext cx="54864" cy="292608"/>
          </a:xfrm>
          <a:prstGeom prst="rect">
            <a:avLst/>
          </a:prstGeom>
          <a:solidFill>
            <a:srgbClr val="A8864A"/>
          </a:solidFill>
          <a:ln/>
        </p:spPr>
      </p:sp>
      <p:sp>
        <p:nvSpPr>
          <p:cNvPr id="30" name="Text 27"/>
          <p:cNvSpPr/>
          <p:nvPr/>
        </p:nvSpPr>
        <p:spPr>
          <a:xfrm>
            <a:off x="713232" y="6382512"/>
            <a:ext cx="658368" cy="365760"/>
          </a:xfrm>
          <a:prstGeom prst="rect">
            <a:avLst/>
          </a:prstGeom>
          <a:noFill/>
          <a:ln/>
        </p:spPr>
        <p:txBody>
          <a:bodyPr wrap="square" lIns="0" tIns="0" rIns="0" bIns="0" rtlCol="0" anchor="ctr"/>
          <a:lstStyle/>
          <a:p>
            <a:pPr indent="0" marL="0">
              <a:buNone/>
            </a:pPr>
            <a:r>
              <a:rPr lang="en-US" sz="900" b="1" spc="100" kern="0" dirty="0">
                <a:solidFill>
                  <a:srgbClr val="A8864A"/>
                </a:solidFill>
                <a:latin typeface="Helvetica Neue" pitchFamily="34" charset="0"/>
                <a:ea typeface="Helvetica Neue" pitchFamily="34" charset="-122"/>
                <a:cs typeface="Helvetica Neue" pitchFamily="34" charset="-120"/>
              </a:rPr>
              <a:t>CASES</a:t>
            </a:r>
            <a:endParaRPr lang="en-US" sz="900" dirty="0"/>
          </a:p>
        </p:txBody>
      </p:sp>
      <p:sp>
        <p:nvSpPr>
          <p:cNvPr id="31" name="Text 28"/>
          <p:cNvSpPr/>
          <p:nvPr/>
        </p:nvSpPr>
        <p:spPr>
          <a:xfrm>
            <a:off x="1463040" y="6382512"/>
            <a:ext cx="9509760" cy="365760"/>
          </a:xfrm>
          <a:prstGeom prst="rect">
            <a:avLst/>
          </a:prstGeom>
          <a:noFill/>
          <a:ln/>
        </p:spPr>
        <p:txBody>
          <a:bodyPr wrap="square" lIns="0" tIns="0" rIns="0" bIns="0" rtlCol="0" anchor="ctr"/>
          <a:lstStyle/>
          <a:p>
            <a:pPr indent="0" marL="0">
              <a:buNone/>
            </a:pPr>
            <a:r>
              <a:rPr lang="en-US" sz="1100" dirty="0">
                <a:solidFill>
                  <a:srgbClr val="6B5A44"/>
                </a:solidFill>
                <a:latin typeface="Helvetica Neue" pitchFamily="34" charset="0"/>
                <a:ea typeface="Helvetica Neue" pitchFamily="34" charset="-122"/>
                <a:cs typeface="Helvetica Neue" pitchFamily="34" charset="-120"/>
              </a:rPr>
              <a:t>The rollback restarts every peer and repeats the spike   ·   Rolling deploys fix most of it and need nothing</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PART IV · CACHES</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25</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Catches 2 &amp; 3 · small but common</a:t>
            </a:r>
            <a:endParaRPr lang="en-US" sz="2500" dirty="0"/>
          </a:p>
        </p:txBody>
      </p:sp>
      <p:sp>
        <p:nvSpPr>
          <p:cNvPr id="8" name="Shape 5"/>
          <p:cNvSpPr/>
          <p:nvPr/>
        </p:nvSpPr>
        <p:spPr>
          <a:xfrm>
            <a:off x="548640" y="1371600"/>
            <a:ext cx="5349240" cy="3931920"/>
          </a:xfrm>
          <a:prstGeom prst="roundRect">
            <a:avLst>
              <a:gd name="adj" fmla="val 1860"/>
            </a:avLst>
          </a:prstGeom>
          <a:solidFill>
            <a:srgbClr val="E6DFCE"/>
          </a:solidFill>
          <a:ln/>
        </p:spPr>
      </p:sp>
      <p:sp>
        <p:nvSpPr>
          <p:cNvPr id="9" name="Shape 6"/>
          <p:cNvSpPr/>
          <p:nvPr/>
        </p:nvSpPr>
        <p:spPr>
          <a:xfrm>
            <a:off x="548640" y="1371600"/>
            <a:ext cx="5349240" cy="384048"/>
          </a:xfrm>
          <a:prstGeom prst="roundRect">
            <a:avLst>
              <a:gd name="adj" fmla="val 19048"/>
            </a:avLst>
          </a:prstGeom>
          <a:solidFill>
            <a:srgbClr val="DDE3CC"/>
          </a:solidFill>
          <a:ln/>
        </p:spPr>
      </p:sp>
      <p:sp>
        <p:nvSpPr>
          <p:cNvPr id="10" name="Text 7"/>
          <p:cNvSpPr/>
          <p:nvPr/>
        </p:nvSpPr>
        <p:spPr>
          <a:xfrm>
            <a:off x="749808" y="1371600"/>
            <a:ext cx="4946904" cy="384048"/>
          </a:xfrm>
          <a:prstGeom prst="rect">
            <a:avLst/>
          </a:prstGeom>
          <a:noFill/>
          <a:ln/>
        </p:spPr>
        <p:txBody>
          <a:bodyPr wrap="square" lIns="0" tIns="0" rIns="0" bIns="0" rtlCol="0" anchor="ctr">
            <a:normAutofit/>
          </a:bodyPr>
          <a:lstStyle/>
          <a:p>
            <a:pPr indent="0" marL="0">
              <a:buNone/>
            </a:pPr>
            <a:r>
              <a:rPr lang="en-US" sz="1250" b="1" spc="100" kern="0" dirty="0">
                <a:solidFill>
                  <a:srgbClr val="5F7A3A"/>
                </a:solidFill>
                <a:latin typeface="Helvetica Neue" pitchFamily="34" charset="0"/>
                <a:ea typeface="Helvetica Neue" pitchFamily="34" charset="-122"/>
                <a:cs typeface="Helvetica Neue" pitchFamily="34" charset="-120"/>
              </a:rPr>
              <a:t>2 · MEMCACHED DYING BREAKS NOTHING</a:t>
            </a:r>
            <a:endParaRPr lang="en-US" sz="1250" dirty="0"/>
          </a:p>
        </p:txBody>
      </p:sp>
      <p:sp>
        <p:nvSpPr>
          <p:cNvPr id="11" name="Text 8"/>
          <p:cNvSpPr/>
          <p:nvPr/>
        </p:nvSpPr>
        <p:spPr>
          <a:xfrm>
            <a:off x="822960" y="1965960"/>
            <a:ext cx="4846320" cy="1188720"/>
          </a:xfrm>
          <a:prstGeom prst="rect">
            <a:avLst/>
          </a:prstGeom>
          <a:noFill/>
          <a:ln/>
        </p:spPr>
        <p:txBody>
          <a:bodyPr wrap="square" lIns="0" tIns="0" rIns="0" bIns="0" rtlCol="0" anchor="t"/>
          <a:lstStyle/>
          <a:p>
            <a:pPr indent="0" marL="0">
              <a:buNone/>
            </a:pPr>
            <a:r>
              <a:rPr lang="en-US" sz="1300" dirty="0">
                <a:solidFill>
                  <a:srgbClr val="6B5A44"/>
                </a:solidFill>
                <a:latin typeface="Helvetica Neue" pitchFamily="34" charset="0"/>
                <a:ea typeface="Helvetica Neue" pitchFamily="34" charset="-122"/>
                <a:cs typeface="Helvetica Neue" pitchFamily="34" charset="-120"/>
              </a:rPr>
              <a:t>Every tier except storage is optional. Lose the shared tier and reads walk further down the ladder: everything slower, nothing wrong.</a:t>
            </a:r>
            <a:endParaRPr lang="en-US" sz="1300" dirty="0"/>
          </a:p>
        </p:txBody>
      </p:sp>
      <p:sp>
        <p:nvSpPr>
          <p:cNvPr id="12" name="Shape 9"/>
          <p:cNvSpPr/>
          <p:nvPr/>
        </p:nvSpPr>
        <p:spPr>
          <a:xfrm>
            <a:off x="822960" y="3291840"/>
            <a:ext cx="4800600" cy="914400"/>
          </a:xfrm>
          <a:prstGeom prst="roundRect">
            <a:avLst>
              <a:gd name="adj" fmla="val 6000"/>
            </a:avLst>
          </a:prstGeom>
          <a:solidFill>
            <a:srgbClr val="DDE3CC"/>
          </a:solidFill>
          <a:ln w="15875">
            <a:solidFill>
              <a:srgbClr val="5F7A3A"/>
            </a:solidFill>
            <a:prstDash val="solid"/>
          </a:ln>
        </p:spPr>
      </p:sp>
      <p:sp>
        <p:nvSpPr>
          <p:cNvPr id="13" name="Text 10"/>
          <p:cNvSpPr/>
          <p:nvPr/>
        </p:nvSpPr>
        <p:spPr>
          <a:xfrm>
            <a:off x="896112" y="3438144"/>
            <a:ext cx="4654296" cy="310896"/>
          </a:xfrm>
          <a:prstGeom prst="rect">
            <a:avLst/>
          </a:prstGeom>
          <a:noFill/>
          <a:ln/>
        </p:spPr>
        <p:txBody>
          <a:bodyPr wrap="square" lIns="0" tIns="0" rIns="0" bIns="0" rtlCol="0" anchor="b">
            <a:normAutofit/>
          </a:bodyPr>
          <a:lstStyle/>
          <a:p>
            <a:pPr algn="ctr" indent="0" marL="0">
              <a:buNone/>
            </a:pPr>
            <a:r>
              <a:rPr lang="en-US" sz="1400" b="1" dirty="0">
                <a:solidFill>
                  <a:srgbClr val="3A2C1A"/>
                </a:solidFill>
                <a:latin typeface="Helvetica Neue" pitchFamily="34" charset="0"/>
                <a:ea typeface="Helvetica Neue" pitchFamily="34" charset="-122"/>
                <a:cs typeface="Helvetica Neue" pitchFamily="34" charset="-120"/>
              </a:rPr>
              <a:t>a degradation, not a page</a:t>
            </a:r>
            <a:endParaRPr lang="en-US" sz="1400" dirty="0"/>
          </a:p>
        </p:txBody>
      </p:sp>
      <p:sp>
        <p:nvSpPr>
          <p:cNvPr id="14" name="Text 11"/>
          <p:cNvSpPr/>
          <p:nvPr/>
        </p:nvSpPr>
        <p:spPr>
          <a:xfrm>
            <a:off x="896112" y="3730752"/>
            <a:ext cx="4654296" cy="384048"/>
          </a:xfrm>
          <a:prstGeom prst="rect">
            <a:avLst/>
          </a:prstGeom>
          <a:noFill/>
          <a:ln/>
        </p:spPr>
        <p:txBody>
          <a:bodyPr wrap="square" lIns="0" tIns="0" rIns="0" bIns="0" rtlCol="0" anchor="t">
            <a:normAutofit/>
          </a:bodyPr>
          <a:lstStyle/>
          <a:p>
            <a:pPr algn="ctr" indent="0" marL="0">
              <a:buNone/>
            </a:pPr>
            <a:r>
              <a:rPr lang="en-US" sz="1150" dirty="0">
                <a:solidFill>
                  <a:srgbClr val="6B5A44"/>
                </a:solidFill>
                <a:latin typeface="Helvetica Neue" pitchFamily="34" charset="0"/>
                <a:ea typeface="Helvetica Neue" pitchFamily="34" charset="-122"/>
                <a:cs typeface="Helvetica Neue" pitchFamily="34" charset="-120"/>
              </a:rPr>
              <a:t>fix it during business hours</a:t>
            </a:r>
            <a:endParaRPr lang="en-US" sz="1150" dirty="0"/>
          </a:p>
        </p:txBody>
      </p:sp>
      <p:sp>
        <p:nvSpPr>
          <p:cNvPr id="15" name="Shape 12"/>
          <p:cNvSpPr/>
          <p:nvPr/>
        </p:nvSpPr>
        <p:spPr>
          <a:xfrm>
            <a:off x="6263640" y="1371600"/>
            <a:ext cx="5349240" cy="3931920"/>
          </a:xfrm>
          <a:prstGeom prst="roundRect">
            <a:avLst>
              <a:gd name="adj" fmla="val 1860"/>
            </a:avLst>
          </a:prstGeom>
          <a:solidFill>
            <a:srgbClr val="E6DFCE"/>
          </a:solidFill>
          <a:ln/>
        </p:spPr>
      </p:sp>
      <p:sp>
        <p:nvSpPr>
          <p:cNvPr id="16" name="Shape 13"/>
          <p:cNvSpPr/>
          <p:nvPr/>
        </p:nvSpPr>
        <p:spPr>
          <a:xfrm>
            <a:off x="6263640" y="1371600"/>
            <a:ext cx="5349240" cy="384048"/>
          </a:xfrm>
          <a:prstGeom prst="roundRect">
            <a:avLst>
              <a:gd name="adj" fmla="val 19048"/>
            </a:avLst>
          </a:prstGeom>
          <a:solidFill>
            <a:srgbClr val="D3DEE1"/>
          </a:solidFill>
          <a:ln/>
        </p:spPr>
      </p:sp>
      <p:sp>
        <p:nvSpPr>
          <p:cNvPr id="17" name="Text 14"/>
          <p:cNvSpPr/>
          <p:nvPr/>
        </p:nvSpPr>
        <p:spPr>
          <a:xfrm>
            <a:off x="6464808" y="1371600"/>
            <a:ext cx="4946904" cy="384048"/>
          </a:xfrm>
          <a:prstGeom prst="rect">
            <a:avLst/>
          </a:prstGeom>
          <a:noFill/>
          <a:ln/>
        </p:spPr>
        <p:txBody>
          <a:bodyPr wrap="square" lIns="0" tIns="0" rIns="0" bIns="0" rtlCol="0" anchor="ctr">
            <a:normAutofit/>
          </a:bodyPr>
          <a:lstStyle/>
          <a:p>
            <a:pPr indent="0" marL="0">
              <a:buNone/>
            </a:pPr>
            <a:r>
              <a:rPr lang="en-US" sz="1250" b="1" spc="100" kern="0" dirty="0">
                <a:solidFill>
                  <a:srgbClr val="3F6470"/>
                </a:solidFill>
                <a:latin typeface="Helvetica Neue" pitchFamily="34" charset="0"/>
                <a:ea typeface="Helvetica Neue" pitchFamily="34" charset="-122"/>
                <a:cs typeface="Helvetica Neue" pitchFamily="34" charset="-120"/>
              </a:rPr>
              <a:t>3 · YOU CAN'T ASK THE CACHE</a:t>
            </a:r>
            <a:endParaRPr lang="en-US" sz="1250" dirty="0"/>
          </a:p>
        </p:txBody>
      </p:sp>
      <p:sp>
        <p:nvSpPr>
          <p:cNvPr id="18" name="Text 15"/>
          <p:cNvSpPr/>
          <p:nvPr/>
        </p:nvSpPr>
        <p:spPr>
          <a:xfrm>
            <a:off x="6537960" y="1965960"/>
            <a:ext cx="4846320" cy="914400"/>
          </a:xfrm>
          <a:prstGeom prst="rect">
            <a:avLst/>
          </a:prstGeom>
          <a:noFill/>
          <a:ln/>
        </p:spPr>
        <p:txBody>
          <a:bodyPr wrap="square" lIns="0" tIns="0" rIns="0" bIns="0" rtlCol="0" anchor="t"/>
          <a:lstStyle/>
          <a:p>
            <a:pPr indent="0" marL="0">
              <a:buNone/>
            </a:pPr>
            <a:r>
              <a:rPr lang="en-US" sz="1300" dirty="0">
                <a:solidFill>
                  <a:srgbClr val="6B5A44"/>
                </a:solidFill>
                <a:latin typeface="Helvetica Neue" pitchFamily="34" charset="0"/>
                <a:ea typeface="Helvetica Neue" pitchFamily="34" charset="-122"/>
                <a:cs typeface="Helvetica Neue" pitchFamily="34" charset="-120"/>
              </a:rPr>
              <a:t>No API reports what is cached — d/db-stats counts the data, not the cache. Observe from outside:</a:t>
            </a:r>
            <a:endParaRPr lang="en-US" sz="1300" dirty="0"/>
          </a:p>
        </p:txBody>
      </p:sp>
      <p:sp>
        <p:nvSpPr>
          <p:cNvPr id="19" name="Shape 16"/>
          <p:cNvSpPr/>
          <p:nvPr/>
        </p:nvSpPr>
        <p:spPr>
          <a:xfrm>
            <a:off x="6537960" y="2971800"/>
            <a:ext cx="4800600" cy="658368"/>
          </a:xfrm>
          <a:prstGeom prst="roundRect">
            <a:avLst>
              <a:gd name="adj" fmla="val 8333"/>
            </a:avLst>
          </a:prstGeom>
          <a:solidFill>
            <a:srgbClr val="D3DEE1"/>
          </a:solidFill>
          <a:ln w="15875">
            <a:solidFill>
              <a:srgbClr val="3F6470"/>
            </a:solidFill>
            <a:prstDash val="solid"/>
          </a:ln>
        </p:spPr>
      </p:sp>
      <p:sp>
        <p:nvSpPr>
          <p:cNvPr id="20" name="Text 17"/>
          <p:cNvSpPr/>
          <p:nvPr/>
        </p:nvSpPr>
        <p:spPr>
          <a:xfrm>
            <a:off x="6611112" y="2971800"/>
            <a:ext cx="4654296" cy="658368"/>
          </a:xfrm>
          <a:prstGeom prst="rect">
            <a:avLst/>
          </a:prstGeom>
          <a:noFill/>
          <a:ln/>
        </p:spPr>
        <p:txBody>
          <a:bodyPr wrap="square" lIns="0" tIns="0" rIns="0" bIns="0" rtlCol="0" anchor="ctr">
            <a:normAutofit/>
          </a:bodyPr>
          <a:lstStyle/>
          <a:p>
            <a:pPr algn="ctr" indent="0" marL="0">
              <a:buNone/>
            </a:pPr>
            <a:r>
              <a:rPr lang="en-US" sz="1300" b="1" dirty="0">
                <a:solidFill>
                  <a:srgbClr val="3A2C1A"/>
                </a:solidFill>
                <a:latin typeface="Helvetica Neue" pitchFamily="34" charset="0"/>
                <a:ea typeface="Helvetica Neue" pitchFamily="34" charset="-122"/>
                <a:cs typeface="Helvetica Neue" pitchFamily="34" charset="-120"/>
              </a:rPr>
              <a:t>time the same query twice</a:t>
            </a:r>
            <a:endParaRPr lang="en-US" sz="1300" dirty="0"/>
          </a:p>
        </p:txBody>
      </p:sp>
      <p:sp>
        <p:nvSpPr>
          <p:cNvPr id="21" name="Shape 18"/>
          <p:cNvSpPr/>
          <p:nvPr/>
        </p:nvSpPr>
        <p:spPr>
          <a:xfrm>
            <a:off x="6537960" y="3749040"/>
            <a:ext cx="4800600" cy="658368"/>
          </a:xfrm>
          <a:prstGeom prst="roundRect">
            <a:avLst>
              <a:gd name="adj" fmla="val 8333"/>
            </a:avLst>
          </a:prstGeom>
          <a:solidFill>
            <a:srgbClr val="D3DEE1"/>
          </a:solidFill>
          <a:ln w="15875">
            <a:solidFill>
              <a:srgbClr val="3F6470"/>
            </a:solidFill>
            <a:prstDash val="solid"/>
          </a:ln>
        </p:spPr>
      </p:sp>
      <p:sp>
        <p:nvSpPr>
          <p:cNvPr id="22" name="Text 19"/>
          <p:cNvSpPr/>
          <p:nvPr/>
        </p:nvSpPr>
        <p:spPr>
          <a:xfrm>
            <a:off x="6611112" y="3749040"/>
            <a:ext cx="4654296" cy="658368"/>
          </a:xfrm>
          <a:prstGeom prst="rect">
            <a:avLst/>
          </a:prstGeom>
          <a:noFill/>
          <a:ln/>
        </p:spPr>
        <p:txBody>
          <a:bodyPr wrap="square" lIns="0" tIns="0" rIns="0" bIns="0" rtlCol="0" anchor="ctr">
            <a:normAutofit/>
          </a:bodyPr>
          <a:lstStyle/>
          <a:p>
            <a:pPr algn="ctr" indent="0" marL="0">
              <a:buNone/>
            </a:pPr>
            <a:r>
              <a:rPr lang="en-US" sz="1300" b="1" dirty="0">
                <a:solidFill>
                  <a:srgbClr val="3A2C1A"/>
                </a:solidFill>
                <a:latin typeface="Helvetica Neue" pitchFamily="34" charset="0"/>
                <a:ea typeface="Helvetica Neue" pitchFamily="34" charset="-122"/>
                <a:cs typeface="Helvetica Neue" pitchFamily="34" charset="-120"/>
              </a:rPr>
              <a:t>watch storage reads &amp; hit ratios</a:t>
            </a:r>
            <a:endParaRPr lang="en-US" sz="1300" dirty="0"/>
          </a:p>
        </p:txBody>
      </p:sp>
      <p:sp>
        <p:nvSpPr>
          <p:cNvPr id="23" name="Shape 20"/>
          <p:cNvSpPr/>
          <p:nvPr/>
        </p:nvSpPr>
        <p:spPr>
          <a:xfrm>
            <a:off x="548640" y="5623560"/>
            <a:ext cx="54864" cy="457200"/>
          </a:xfrm>
          <a:prstGeom prst="rect">
            <a:avLst/>
          </a:prstGeom>
          <a:solidFill>
            <a:srgbClr val="A8864A"/>
          </a:solidFill>
          <a:ln/>
        </p:spPr>
      </p:sp>
      <p:sp>
        <p:nvSpPr>
          <p:cNvPr id="24" name="Text 21"/>
          <p:cNvSpPr/>
          <p:nvPr/>
        </p:nvSpPr>
        <p:spPr>
          <a:xfrm>
            <a:off x="777240" y="562356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Optional tiers fail soft. And cache behaviour is observed, never queried.</a:t>
            </a:r>
            <a:endParaRPr lang="en-US" sz="1450" dirty="0"/>
          </a:p>
        </p:txBody>
      </p:sp>
      <p:sp>
        <p:nvSpPr>
          <p:cNvPr id="25" name="Shape 22"/>
          <p:cNvSpPr/>
          <p:nvPr/>
        </p:nvSpPr>
        <p:spPr>
          <a:xfrm>
            <a:off x="548640" y="6419088"/>
            <a:ext cx="54864" cy="292608"/>
          </a:xfrm>
          <a:prstGeom prst="rect">
            <a:avLst/>
          </a:prstGeom>
          <a:solidFill>
            <a:srgbClr val="A8864A"/>
          </a:solidFill>
          <a:ln/>
        </p:spPr>
      </p:sp>
      <p:sp>
        <p:nvSpPr>
          <p:cNvPr id="26" name="Text 23"/>
          <p:cNvSpPr/>
          <p:nvPr/>
        </p:nvSpPr>
        <p:spPr>
          <a:xfrm>
            <a:off x="713232" y="6382512"/>
            <a:ext cx="658368" cy="365760"/>
          </a:xfrm>
          <a:prstGeom prst="rect">
            <a:avLst/>
          </a:prstGeom>
          <a:noFill/>
          <a:ln/>
        </p:spPr>
        <p:txBody>
          <a:bodyPr wrap="square" lIns="0" tIns="0" rIns="0" bIns="0" rtlCol="0" anchor="ctr"/>
          <a:lstStyle/>
          <a:p>
            <a:pPr indent="0" marL="0">
              <a:buNone/>
            </a:pPr>
            <a:r>
              <a:rPr lang="en-US" sz="900" b="1" spc="100" kern="0" dirty="0">
                <a:solidFill>
                  <a:srgbClr val="A8864A"/>
                </a:solidFill>
                <a:latin typeface="Helvetica Neue" pitchFamily="34" charset="0"/>
                <a:ea typeface="Helvetica Neue" pitchFamily="34" charset="-122"/>
                <a:cs typeface="Helvetica Neue" pitchFamily="34" charset="-120"/>
              </a:rPr>
              <a:t>CASES</a:t>
            </a:r>
            <a:endParaRPr lang="en-US" sz="900" dirty="0"/>
          </a:p>
        </p:txBody>
      </p:sp>
      <p:sp>
        <p:nvSpPr>
          <p:cNvPr id="27" name="Text 24"/>
          <p:cNvSpPr/>
          <p:nvPr/>
        </p:nvSpPr>
        <p:spPr>
          <a:xfrm>
            <a:off x="1463040" y="6382512"/>
            <a:ext cx="9509760" cy="365760"/>
          </a:xfrm>
          <a:prstGeom prst="rect">
            <a:avLst/>
          </a:prstGeom>
          <a:noFill/>
          <a:ln/>
        </p:spPr>
        <p:txBody>
          <a:bodyPr wrap="square" lIns="0" tIns="0" rIns="0" bIns="0" rtlCol="0" anchor="ctr"/>
          <a:lstStyle/>
          <a:p>
            <a:pPr indent="0" marL="0">
              <a:buNone/>
            </a:pPr>
            <a:r>
              <a:rPr lang="en-US" sz="1100" dirty="0">
                <a:solidFill>
                  <a:srgbClr val="6B5A44"/>
                </a:solidFill>
                <a:latin typeface="Helvetica Neue" pitchFamily="34" charset="0"/>
                <a:ea typeface="Helvetica Neue" pitchFamily="34" charset="-122"/>
                <a:cs typeface="Helvetica Neue" pitchFamily="34" charset="-120"/>
              </a:rPr>
              <a:t>Memcached restart: latency up, correctness untouched   ·   "Did the cache help?" — run it twice and compare</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SUMMARY</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26</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Four verbs</a:t>
            </a:r>
            <a:endParaRPr lang="en-US" sz="2500" dirty="0"/>
          </a:p>
        </p:txBody>
      </p:sp>
      <p:sp>
        <p:nvSpPr>
          <p:cNvPr id="8" name="Shape 5"/>
          <p:cNvSpPr/>
          <p:nvPr/>
        </p:nvSpPr>
        <p:spPr>
          <a:xfrm>
            <a:off x="548640" y="1463040"/>
            <a:ext cx="11064240" cy="914400"/>
          </a:xfrm>
          <a:prstGeom prst="roundRect">
            <a:avLst>
              <a:gd name="adj" fmla="val 8000"/>
            </a:avLst>
          </a:prstGeom>
          <a:solidFill>
            <a:srgbClr val="EBD5CB"/>
          </a:solidFill>
          <a:ln/>
        </p:spPr>
      </p:sp>
      <p:sp>
        <p:nvSpPr>
          <p:cNvPr id="9" name="Shape 6"/>
          <p:cNvSpPr/>
          <p:nvPr/>
        </p:nvSpPr>
        <p:spPr>
          <a:xfrm>
            <a:off x="548640" y="1463040"/>
            <a:ext cx="82296" cy="914400"/>
          </a:xfrm>
          <a:prstGeom prst="rect">
            <a:avLst/>
          </a:prstGeom>
          <a:solidFill>
            <a:srgbClr val="9E4227"/>
          </a:solidFill>
          <a:ln/>
        </p:spPr>
      </p:sp>
      <p:sp>
        <p:nvSpPr>
          <p:cNvPr id="10" name="Text 7"/>
          <p:cNvSpPr/>
          <p:nvPr/>
        </p:nvSpPr>
        <p:spPr>
          <a:xfrm>
            <a:off x="868680" y="1463040"/>
            <a:ext cx="2103120" cy="914400"/>
          </a:xfrm>
          <a:prstGeom prst="rect">
            <a:avLst/>
          </a:prstGeom>
          <a:noFill/>
          <a:ln/>
        </p:spPr>
        <p:txBody>
          <a:bodyPr wrap="square" lIns="0" tIns="0" rIns="0" bIns="0" rtlCol="0" anchor="ctr"/>
          <a:lstStyle/>
          <a:p>
            <a:pPr indent="0" marL="0">
              <a:buNone/>
            </a:pPr>
            <a:r>
              <a:rPr lang="en-US" sz="1600" b="1" spc="150" kern="0" dirty="0">
                <a:solidFill>
                  <a:srgbClr val="9E4227"/>
                </a:solidFill>
                <a:latin typeface="Helvetica Neue" pitchFamily="34" charset="0"/>
                <a:ea typeface="Helvetica Neue" pitchFamily="34" charset="-122"/>
                <a:cs typeface="Helvetica Neue" pitchFamily="34" charset="-120"/>
              </a:rPr>
              <a:t>FAILS</a:t>
            </a:r>
            <a:endParaRPr lang="en-US" sz="1600" dirty="0"/>
          </a:p>
        </p:txBody>
      </p:sp>
      <p:sp>
        <p:nvSpPr>
          <p:cNvPr id="11" name="Text 8"/>
          <p:cNvSpPr/>
          <p:nvPr/>
        </p:nvSpPr>
        <p:spPr>
          <a:xfrm>
            <a:off x="3108960" y="1463040"/>
            <a:ext cx="6675120" cy="9144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only storage is fatal · transactor = writes pause · a peer = local</a:t>
            </a:r>
            <a:endParaRPr lang="en-US" sz="1450" dirty="0"/>
          </a:p>
        </p:txBody>
      </p:sp>
      <p:sp>
        <p:nvSpPr>
          <p:cNvPr id="12" name="Text 9"/>
          <p:cNvSpPr/>
          <p:nvPr/>
        </p:nvSpPr>
        <p:spPr>
          <a:xfrm>
            <a:off x="9875520" y="1463040"/>
            <a:ext cx="1554480" cy="914400"/>
          </a:xfrm>
          <a:prstGeom prst="rect">
            <a:avLst/>
          </a:prstGeom>
          <a:noFill/>
          <a:ln/>
        </p:spPr>
        <p:txBody>
          <a:bodyPr wrap="square" lIns="0" tIns="0" rIns="0" bIns="0" rtlCol="0" anchor="ctr"/>
          <a:lstStyle/>
          <a:p>
            <a:pPr algn="r" indent="0" marL="0">
              <a:buNone/>
            </a:pPr>
            <a:r>
              <a:rPr lang="en-US" sz="1150" dirty="0">
                <a:solidFill>
                  <a:srgbClr val="9A8A72"/>
                </a:solidFill>
                <a:latin typeface="Helvetica Neue" pitchFamily="34" charset="0"/>
                <a:ea typeface="Helvetica Neue" pitchFamily="34" charset="-122"/>
                <a:cs typeface="Helvetica Neue" pitchFamily="34" charset="-120"/>
              </a:rPr>
              <a:t>the map · II</a:t>
            </a:r>
            <a:endParaRPr lang="en-US" sz="1150" dirty="0"/>
          </a:p>
        </p:txBody>
      </p:sp>
      <p:sp>
        <p:nvSpPr>
          <p:cNvPr id="13" name="Shape 10"/>
          <p:cNvSpPr/>
          <p:nvPr/>
        </p:nvSpPr>
        <p:spPr>
          <a:xfrm>
            <a:off x="548640" y="2514600"/>
            <a:ext cx="11064240" cy="914400"/>
          </a:xfrm>
          <a:prstGeom prst="roundRect">
            <a:avLst>
              <a:gd name="adj" fmla="val 8000"/>
            </a:avLst>
          </a:prstGeom>
          <a:solidFill>
            <a:srgbClr val="EDE0C4"/>
          </a:solidFill>
          <a:ln/>
        </p:spPr>
      </p:sp>
      <p:sp>
        <p:nvSpPr>
          <p:cNvPr id="14" name="Shape 11"/>
          <p:cNvSpPr/>
          <p:nvPr/>
        </p:nvSpPr>
        <p:spPr>
          <a:xfrm>
            <a:off x="548640" y="2514600"/>
            <a:ext cx="82296" cy="914400"/>
          </a:xfrm>
          <a:prstGeom prst="rect">
            <a:avLst/>
          </a:prstGeom>
          <a:solidFill>
            <a:srgbClr val="B5822B"/>
          </a:solidFill>
          <a:ln/>
        </p:spPr>
      </p:sp>
      <p:sp>
        <p:nvSpPr>
          <p:cNvPr id="15" name="Text 12"/>
          <p:cNvSpPr/>
          <p:nvPr/>
        </p:nvSpPr>
        <p:spPr>
          <a:xfrm>
            <a:off x="868680" y="2514600"/>
            <a:ext cx="2103120" cy="914400"/>
          </a:xfrm>
          <a:prstGeom prst="rect">
            <a:avLst/>
          </a:prstGeom>
          <a:noFill/>
          <a:ln/>
        </p:spPr>
        <p:txBody>
          <a:bodyPr wrap="square" lIns="0" tIns="0" rIns="0" bIns="0" rtlCol="0" anchor="ctr"/>
          <a:lstStyle/>
          <a:p>
            <a:pPr indent="0" marL="0">
              <a:buNone/>
            </a:pPr>
            <a:r>
              <a:rPr lang="en-US" sz="1600" b="1" spc="150" kern="0" dirty="0">
                <a:solidFill>
                  <a:srgbClr val="B5822B"/>
                </a:solidFill>
                <a:latin typeface="Helvetica Neue" pitchFamily="34" charset="0"/>
                <a:ea typeface="Helvetica Neue" pitchFamily="34" charset="-122"/>
                <a:cs typeface="Helvetica Neue" pitchFamily="34" charset="-120"/>
              </a:rPr>
              <a:t>WAITS</a:t>
            </a:r>
            <a:endParaRPr lang="en-US" sz="1600" dirty="0"/>
          </a:p>
        </p:txBody>
      </p:sp>
      <p:sp>
        <p:nvSpPr>
          <p:cNvPr id="16" name="Text 13"/>
          <p:cNvSpPr/>
          <p:nvPr/>
        </p:nvSpPr>
        <p:spPr>
          <a:xfrm>
            <a:off x="3108960" y="2514600"/>
            <a:ext cx="6675120" cy="9144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writers — during failover, and during back-pressure</a:t>
            </a:r>
            <a:endParaRPr lang="en-US" sz="1450" dirty="0"/>
          </a:p>
        </p:txBody>
      </p:sp>
      <p:sp>
        <p:nvSpPr>
          <p:cNvPr id="17" name="Text 14"/>
          <p:cNvSpPr/>
          <p:nvPr/>
        </p:nvSpPr>
        <p:spPr>
          <a:xfrm>
            <a:off x="9875520" y="2514600"/>
            <a:ext cx="1554480" cy="914400"/>
          </a:xfrm>
          <a:prstGeom prst="rect">
            <a:avLst/>
          </a:prstGeom>
          <a:noFill/>
          <a:ln/>
        </p:spPr>
        <p:txBody>
          <a:bodyPr wrap="square" lIns="0" tIns="0" rIns="0" bIns="0" rtlCol="0" anchor="ctr"/>
          <a:lstStyle/>
          <a:p>
            <a:pPr algn="r" indent="0" marL="0">
              <a:buNone/>
            </a:pPr>
            <a:r>
              <a:rPr lang="en-US" sz="1150" dirty="0">
                <a:solidFill>
                  <a:srgbClr val="9A8A72"/>
                </a:solidFill>
                <a:latin typeface="Helvetica Neue" pitchFamily="34" charset="0"/>
                <a:ea typeface="Helvetica Neue" pitchFamily="34" charset="-122"/>
                <a:cs typeface="Helvetica Neue" pitchFamily="34" charset="-120"/>
              </a:rPr>
              <a:t>Part II</a:t>
            </a:r>
            <a:endParaRPr lang="en-US" sz="1150" dirty="0"/>
          </a:p>
        </p:txBody>
      </p:sp>
      <p:sp>
        <p:nvSpPr>
          <p:cNvPr id="18" name="Shape 15"/>
          <p:cNvSpPr/>
          <p:nvPr/>
        </p:nvSpPr>
        <p:spPr>
          <a:xfrm>
            <a:off x="548640" y="3566160"/>
            <a:ext cx="11064240" cy="914400"/>
          </a:xfrm>
          <a:prstGeom prst="roundRect">
            <a:avLst>
              <a:gd name="adj" fmla="val 8000"/>
            </a:avLst>
          </a:prstGeom>
          <a:solidFill>
            <a:srgbClr val="DDE3CC"/>
          </a:solidFill>
          <a:ln/>
        </p:spPr>
      </p:sp>
      <p:sp>
        <p:nvSpPr>
          <p:cNvPr id="19" name="Shape 16"/>
          <p:cNvSpPr/>
          <p:nvPr/>
        </p:nvSpPr>
        <p:spPr>
          <a:xfrm>
            <a:off x="548640" y="3566160"/>
            <a:ext cx="82296" cy="914400"/>
          </a:xfrm>
          <a:prstGeom prst="rect">
            <a:avLst/>
          </a:prstGeom>
          <a:solidFill>
            <a:srgbClr val="5F7A3A"/>
          </a:solidFill>
          <a:ln/>
        </p:spPr>
      </p:sp>
      <p:sp>
        <p:nvSpPr>
          <p:cNvPr id="20" name="Text 17"/>
          <p:cNvSpPr/>
          <p:nvPr/>
        </p:nvSpPr>
        <p:spPr>
          <a:xfrm>
            <a:off x="868680" y="3566160"/>
            <a:ext cx="2103120" cy="914400"/>
          </a:xfrm>
          <a:prstGeom prst="rect">
            <a:avLst/>
          </a:prstGeom>
          <a:noFill/>
          <a:ln/>
        </p:spPr>
        <p:txBody>
          <a:bodyPr wrap="square" lIns="0" tIns="0" rIns="0" bIns="0" rtlCol="0" anchor="ctr"/>
          <a:lstStyle/>
          <a:p>
            <a:pPr indent="0" marL="0">
              <a:buNone/>
            </a:pPr>
            <a:r>
              <a:rPr lang="en-US" sz="1600" b="1" spc="150" kern="0" dirty="0">
                <a:solidFill>
                  <a:srgbClr val="5F7A3A"/>
                </a:solidFill>
                <a:latin typeface="Helvetica Neue" pitchFamily="34" charset="0"/>
                <a:ea typeface="Helvetica Neue" pitchFamily="34" charset="-122"/>
                <a:cs typeface="Helvetica Neue" pitchFamily="34" charset="-120"/>
              </a:rPr>
              <a:t>SCALES</a:t>
            </a:r>
            <a:endParaRPr lang="en-US" sz="1600" dirty="0"/>
          </a:p>
        </p:txBody>
      </p:sp>
      <p:sp>
        <p:nvSpPr>
          <p:cNvPr id="21" name="Text 18"/>
          <p:cNvSpPr/>
          <p:nvPr/>
        </p:nvSpPr>
        <p:spPr>
          <a:xfrm>
            <a:off x="3108960" y="3566160"/>
            <a:ext cx="6675120" cy="9144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reads: peers × cores · writes: only batching</a:t>
            </a:r>
            <a:endParaRPr lang="en-US" sz="1450" dirty="0"/>
          </a:p>
        </p:txBody>
      </p:sp>
      <p:sp>
        <p:nvSpPr>
          <p:cNvPr id="22" name="Text 19"/>
          <p:cNvSpPr/>
          <p:nvPr/>
        </p:nvSpPr>
        <p:spPr>
          <a:xfrm>
            <a:off x="9875520" y="3566160"/>
            <a:ext cx="1554480" cy="914400"/>
          </a:xfrm>
          <a:prstGeom prst="rect">
            <a:avLst/>
          </a:prstGeom>
          <a:noFill/>
          <a:ln/>
        </p:spPr>
        <p:txBody>
          <a:bodyPr wrap="square" lIns="0" tIns="0" rIns="0" bIns="0" rtlCol="0" anchor="ctr"/>
          <a:lstStyle/>
          <a:p>
            <a:pPr algn="r" indent="0" marL="0">
              <a:buNone/>
            </a:pPr>
            <a:r>
              <a:rPr lang="en-US" sz="1150" dirty="0">
                <a:solidFill>
                  <a:srgbClr val="9A8A72"/>
                </a:solidFill>
                <a:latin typeface="Helvetica Neue" pitchFamily="34" charset="0"/>
                <a:ea typeface="Helvetica Neue" pitchFamily="34" charset="-122"/>
                <a:cs typeface="Helvetica Neue" pitchFamily="34" charset="-120"/>
              </a:rPr>
              <a:t>Part III</a:t>
            </a:r>
            <a:endParaRPr lang="en-US" sz="1150" dirty="0"/>
          </a:p>
        </p:txBody>
      </p:sp>
      <p:sp>
        <p:nvSpPr>
          <p:cNvPr id="23" name="Shape 20"/>
          <p:cNvSpPr/>
          <p:nvPr/>
        </p:nvSpPr>
        <p:spPr>
          <a:xfrm>
            <a:off x="548640" y="4617720"/>
            <a:ext cx="11064240" cy="914400"/>
          </a:xfrm>
          <a:prstGeom prst="roundRect">
            <a:avLst>
              <a:gd name="adj" fmla="val 8000"/>
            </a:avLst>
          </a:prstGeom>
          <a:solidFill>
            <a:srgbClr val="D3DEE1"/>
          </a:solidFill>
          <a:ln/>
        </p:spPr>
      </p:sp>
      <p:sp>
        <p:nvSpPr>
          <p:cNvPr id="24" name="Shape 21"/>
          <p:cNvSpPr/>
          <p:nvPr/>
        </p:nvSpPr>
        <p:spPr>
          <a:xfrm>
            <a:off x="548640" y="4617720"/>
            <a:ext cx="82296" cy="914400"/>
          </a:xfrm>
          <a:prstGeom prst="rect">
            <a:avLst/>
          </a:prstGeom>
          <a:solidFill>
            <a:srgbClr val="3F6470"/>
          </a:solidFill>
          <a:ln/>
        </p:spPr>
      </p:sp>
      <p:sp>
        <p:nvSpPr>
          <p:cNvPr id="25" name="Text 22"/>
          <p:cNvSpPr/>
          <p:nvPr/>
        </p:nvSpPr>
        <p:spPr>
          <a:xfrm>
            <a:off x="868680" y="4617720"/>
            <a:ext cx="2103120" cy="914400"/>
          </a:xfrm>
          <a:prstGeom prst="rect">
            <a:avLst/>
          </a:prstGeom>
          <a:noFill/>
          <a:ln/>
        </p:spPr>
        <p:txBody>
          <a:bodyPr wrap="square" lIns="0" tIns="0" rIns="0" bIns="0" rtlCol="0" anchor="ctr"/>
          <a:lstStyle/>
          <a:p>
            <a:pPr indent="0" marL="0">
              <a:buNone/>
            </a:pPr>
            <a:r>
              <a:rPr lang="en-US" sz="1600" b="1" spc="150" kern="0" dirty="0">
                <a:solidFill>
                  <a:srgbClr val="3F6470"/>
                </a:solidFill>
                <a:latin typeface="Helvetica Neue" pitchFamily="34" charset="0"/>
                <a:ea typeface="Helvetica Neue" pitchFamily="34" charset="-122"/>
                <a:cs typeface="Helvetica Neue" pitchFamily="34" charset="-120"/>
              </a:rPr>
              <a:t>COSTS</a:t>
            </a:r>
            <a:endParaRPr lang="en-US" sz="1600" dirty="0"/>
          </a:p>
        </p:txBody>
      </p:sp>
      <p:sp>
        <p:nvSpPr>
          <p:cNvPr id="26" name="Text 23"/>
          <p:cNvSpPr/>
          <p:nvPr/>
        </p:nvSpPr>
        <p:spPr>
          <a:xfrm>
            <a:off x="3108960" y="4617720"/>
            <a:ext cx="6675120" cy="9144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storage, whenever a cache is cold</a:t>
            </a:r>
            <a:endParaRPr lang="en-US" sz="1450" dirty="0"/>
          </a:p>
        </p:txBody>
      </p:sp>
      <p:sp>
        <p:nvSpPr>
          <p:cNvPr id="27" name="Text 24"/>
          <p:cNvSpPr/>
          <p:nvPr/>
        </p:nvSpPr>
        <p:spPr>
          <a:xfrm>
            <a:off x="9875520" y="4617720"/>
            <a:ext cx="1554480" cy="914400"/>
          </a:xfrm>
          <a:prstGeom prst="rect">
            <a:avLst/>
          </a:prstGeom>
          <a:noFill/>
          <a:ln/>
        </p:spPr>
        <p:txBody>
          <a:bodyPr wrap="square" lIns="0" tIns="0" rIns="0" bIns="0" rtlCol="0" anchor="ctr"/>
          <a:lstStyle/>
          <a:p>
            <a:pPr algn="r" indent="0" marL="0">
              <a:buNone/>
            </a:pPr>
            <a:r>
              <a:rPr lang="en-US" sz="1150" dirty="0">
                <a:solidFill>
                  <a:srgbClr val="9A8A72"/>
                </a:solidFill>
                <a:latin typeface="Helvetica Neue" pitchFamily="34" charset="0"/>
                <a:ea typeface="Helvetica Neue" pitchFamily="34" charset="-122"/>
                <a:cs typeface="Helvetica Neue" pitchFamily="34" charset="-120"/>
              </a:rPr>
              <a:t>Parts I &amp; IV</a:t>
            </a:r>
            <a:endParaRPr lang="en-US" sz="1150" dirty="0"/>
          </a:p>
        </p:txBody>
      </p:sp>
      <p:sp>
        <p:nvSpPr>
          <p:cNvPr id="28" name="Shape 25"/>
          <p:cNvSpPr/>
          <p:nvPr/>
        </p:nvSpPr>
        <p:spPr>
          <a:xfrm>
            <a:off x="548640" y="5806440"/>
            <a:ext cx="54864" cy="457200"/>
          </a:xfrm>
          <a:prstGeom prst="rect">
            <a:avLst/>
          </a:prstGeom>
          <a:solidFill>
            <a:srgbClr val="A8864A"/>
          </a:solidFill>
          <a:ln/>
        </p:spPr>
      </p:sp>
      <p:sp>
        <p:nvSpPr>
          <p:cNvPr id="29" name="Text 26"/>
          <p:cNvSpPr/>
          <p:nvPr/>
        </p:nvSpPr>
        <p:spPr>
          <a:xfrm>
            <a:off x="777240" y="5806440"/>
            <a:ext cx="10835640" cy="457200"/>
          </a:xfrm>
          <a:prstGeom prst="rect">
            <a:avLst/>
          </a:prstGeom>
          <a:noFill/>
          <a:ln/>
        </p:spPr>
        <p:txBody>
          <a:bodyPr wrap="square" lIns="0" tIns="0" rIns="0" bIns="0" rtlCol="0" anchor="ctr">
            <a:normAutofit/>
          </a:bodyPr>
          <a:lstStyle/>
          <a:p>
            <a:pPr indent="0" marL="0">
              <a:buNone/>
            </a:pPr>
            <a:r>
              <a:rPr lang="en-US" sz="1450" dirty="0">
                <a:solidFill>
                  <a:srgbClr val="3A2C1A"/>
                </a:solidFill>
                <a:latin typeface="Helvetica Neue" pitchFamily="34" charset="0"/>
                <a:ea typeface="Helvetica Neue" pitchFamily="34" charset="-122"/>
                <a:cs typeface="Helvetica Neue" pitchFamily="34" charset="-120"/>
              </a:rPr>
              <a:t>Any performance symptom lands on one of these four rows. Start there.</a:t>
            </a:r>
            <a:endParaRPr lang="en-US" sz="1450" dirty="0"/>
          </a:p>
        </p:txBody>
      </p:sp>
      <p:sp>
        <p:nvSpPr>
          <p:cNvPr id="30" name="Shape 27"/>
          <p:cNvSpPr/>
          <p:nvPr/>
        </p:nvSpPr>
        <p:spPr>
          <a:xfrm>
            <a:off x="548640" y="6419088"/>
            <a:ext cx="54864" cy="292608"/>
          </a:xfrm>
          <a:prstGeom prst="rect">
            <a:avLst/>
          </a:prstGeom>
          <a:solidFill>
            <a:srgbClr val="A8864A"/>
          </a:solidFill>
          <a:ln/>
        </p:spPr>
      </p:sp>
      <p:sp>
        <p:nvSpPr>
          <p:cNvPr id="31" name="Text 28"/>
          <p:cNvSpPr/>
          <p:nvPr/>
        </p:nvSpPr>
        <p:spPr>
          <a:xfrm>
            <a:off x="713232" y="6382512"/>
            <a:ext cx="658368" cy="365760"/>
          </a:xfrm>
          <a:prstGeom prst="rect">
            <a:avLst/>
          </a:prstGeom>
          <a:noFill/>
          <a:ln/>
        </p:spPr>
        <p:txBody>
          <a:bodyPr wrap="square" lIns="0" tIns="0" rIns="0" bIns="0" rtlCol="0" anchor="ctr"/>
          <a:lstStyle/>
          <a:p>
            <a:pPr indent="0" marL="0">
              <a:buNone/>
            </a:pPr>
            <a:r>
              <a:rPr lang="en-US" sz="900" b="1" spc="100" kern="0" dirty="0">
                <a:solidFill>
                  <a:srgbClr val="A8864A"/>
                </a:solidFill>
                <a:latin typeface="Helvetica Neue" pitchFamily="34" charset="0"/>
                <a:ea typeface="Helvetica Neue" pitchFamily="34" charset="-122"/>
                <a:cs typeface="Helvetica Neue" pitchFamily="34" charset="-120"/>
              </a:rPr>
              <a:t>CASES</a:t>
            </a:r>
            <a:endParaRPr lang="en-US" sz="900" dirty="0"/>
          </a:p>
        </p:txBody>
      </p:sp>
      <p:sp>
        <p:nvSpPr>
          <p:cNvPr id="32" name="Text 29"/>
          <p:cNvSpPr/>
          <p:nvPr/>
        </p:nvSpPr>
        <p:spPr>
          <a:xfrm>
            <a:off x="1463040" y="6382512"/>
            <a:ext cx="9509760" cy="365760"/>
          </a:xfrm>
          <a:prstGeom prst="rect">
            <a:avLst/>
          </a:prstGeom>
          <a:noFill/>
          <a:ln/>
        </p:spPr>
        <p:txBody>
          <a:bodyPr wrap="square" lIns="0" tIns="0" rIns="0" bIns="0" rtlCol="0" anchor="ctr"/>
          <a:lstStyle/>
          <a:p>
            <a:pPr indent="0" marL="0">
              <a:buNone/>
            </a:pPr>
            <a:r>
              <a:rPr lang="en-US" sz="1100" dirty="0">
                <a:solidFill>
                  <a:srgbClr val="6B5A44"/>
                </a:solidFill>
                <a:latin typeface="Helvetica Neue" pitchFamily="34" charset="0"/>
                <a:ea typeface="Helvetica Neue" pitchFamily="34" charset="-122"/>
                <a:cs typeface="Helvetica Neue" pitchFamily="34" charset="-120"/>
              </a:rPr>
              <a:t>Writes failing → FAILS · writes slow → WAITS · reads slow → COSTS</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FE9DD"/>
          </a:solidFill>
          <a:ln/>
        </p:spPr>
      </p:sp>
      <p:sp>
        <p:nvSpPr>
          <p:cNvPr id="3" name="Text 1"/>
          <p:cNvSpPr/>
          <p:nvPr/>
        </p:nvSpPr>
        <p:spPr>
          <a:xfrm>
            <a:off x="548640" y="256032"/>
            <a:ext cx="9144000" cy="256032"/>
          </a:xfrm>
          <a:prstGeom prst="rect">
            <a:avLst/>
          </a:prstGeom>
          <a:noFill/>
          <a:ln/>
        </p:spPr>
        <p:txBody>
          <a:bodyPr wrap="square" lIns="0" tIns="0" rIns="0" bIns="0" rtlCol="0" anchor="t"/>
          <a:lstStyle/>
          <a:p>
            <a:pPr indent="0" marL="0">
              <a:buNone/>
            </a:pPr>
            <a:r>
              <a:rPr lang="en-US" sz="1100" spc="200" kern="0" dirty="0">
                <a:solidFill>
                  <a:srgbClr val="9A8A72"/>
                </a:solidFill>
                <a:latin typeface="Helvetica Neue" pitchFamily="34" charset="0"/>
                <a:ea typeface="Helvetica Neue" pitchFamily="34" charset="-122"/>
                <a:cs typeface="Helvetica Neue" pitchFamily="34" charset="-120"/>
              </a:rPr>
              <a:t>CLOSE</a:t>
            </a:r>
            <a:endParaRPr lang="en-US" sz="1100" dirty="0"/>
          </a:p>
        </p:txBody>
      </p:sp>
      <p:sp>
        <p:nvSpPr>
          <p:cNvPr id="4" name="Text 2"/>
          <p:cNvSpPr/>
          <p:nvPr/>
        </p:nvSpPr>
        <p:spPr>
          <a:xfrm>
            <a:off x="11155680" y="256032"/>
            <a:ext cx="640080" cy="256032"/>
          </a:xfrm>
          <a:prstGeom prst="rect">
            <a:avLst/>
          </a:prstGeom>
          <a:noFill/>
          <a:ln/>
        </p:spPr>
        <p:txBody>
          <a:bodyPr wrap="square" lIns="0" tIns="0" rIns="0" bIns="0" rtlCol="0" anchor="t"/>
          <a:lstStyle/>
          <a:p>
            <a:pPr algn="r" indent="0" marL="0">
              <a:buNone/>
            </a:pPr>
            <a:r>
              <a:rPr lang="en-US" sz="1100" dirty="0">
                <a:solidFill>
                  <a:srgbClr val="9A8A72"/>
                </a:solidFill>
                <a:latin typeface="Helvetica Neue" pitchFamily="34" charset="0"/>
                <a:ea typeface="Helvetica Neue" pitchFamily="34" charset="-122"/>
                <a:cs typeface="Helvetica Neue" pitchFamily="34" charset="-120"/>
              </a:rPr>
              <a:t>27</a:t>
            </a:r>
            <a:endParaRPr lang="en-US" sz="1100" dirty="0"/>
          </a:p>
        </p:txBody>
      </p:sp>
      <p:sp>
        <p:nvSpPr>
          <p:cNvPr id="5" name="Shape 3"/>
          <p:cNvSpPr/>
          <p:nvPr/>
        </p:nvSpPr>
        <p:spPr>
          <a:xfrm>
            <a:off x="548640" y="530352"/>
            <a:ext cx="11064240" cy="13716"/>
          </a:xfrm>
          <a:prstGeom prst="rect">
            <a:avLst/>
          </a:prstGeom>
          <a:solidFill>
            <a:srgbClr val="C6A46A"/>
          </a:solidFill>
          <a:ln/>
        </p:spPr>
      </p:sp>
      <p:sp>
        <p:nvSpPr>
          <p:cNvPr id="6" name="Text 4"/>
          <p:cNvSpPr/>
          <p:nvPr/>
        </p:nvSpPr>
        <p:spPr>
          <a:xfrm>
            <a:off x="548640" y="676656"/>
            <a:ext cx="11064240" cy="548640"/>
          </a:xfrm>
          <a:prstGeom prst="rect">
            <a:avLst/>
          </a:prstGeom>
          <a:noFill/>
          <a:ln/>
        </p:spPr>
        <p:txBody>
          <a:bodyPr wrap="square" lIns="0" tIns="0" rIns="0" bIns="0" rtlCol="0" anchor="t">
            <a:normAutofit/>
          </a:bodyPr>
          <a:lstStyle/>
          <a:p>
            <a:pPr indent="0" marL="0">
              <a:buNone/>
            </a:pPr>
            <a:r>
              <a:rPr lang="en-US" sz="2500" dirty="0">
                <a:solidFill>
                  <a:srgbClr val="3A2C1A"/>
                </a:solidFill>
                <a:latin typeface="Georgia" pitchFamily="34" charset="0"/>
                <a:ea typeface="Georgia" pitchFamily="34" charset="-122"/>
                <a:cs typeface="Georgia" pitchFamily="34" charset="-120"/>
              </a:rPr>
              <a:t>Where to go next</a:t>
            </a:r>
            <a:endParaRPr lang="en-US" sz="2500" dirty="0"/>
          </a:p>
        </p:txBody>
      </p:sp>
      <p:sp>
        <p:nvSpPr>
          <p:cNvPr id="8" name="Shape 5"/>
          <p:cNvSpPr/>
          <p:nvPr/>
        </p:nvSpPr>
        <p:spPr>
          <a:xfrm>
            <a:off x="548640" y="1463040"/>
            <a:ext cx="11064240" cy="1051560"/>
          </a:xfrm>
          <a:prstGeom prst="roundRect">
            <a:avLst>
              <a:gd name="adj" fmla="val 6957"/>
            </a:avLst>
          </a:prstGeom>
          <a:solidFill>
            <a:srgbClr val="E6DFCE"/>
          </a:solidFill>
          <a:ln/>
        </p:spPr>
      </p:sp>
      <p:sp>
        <p:nvSpPr>
          <p:cNvPr id="9" name="Text 6"/>
          <p:cNvSpPr/>
          <p:nvPr/>
        </p:nvSpPr>
        <p:spPr>
          <a:xfrm>
            <a:off x="822960" y="1600200"/>
            <a:ext cx="10515600" cy="347472"/>
          </a:xfrm>
          <a:prstGeom prst="rect">
            <a:avLst/>
          </a:prstGeom>
          <a:noFill/>
          <a:ln/>
        </p:spPr>
        <p:txBody>
          <a:bodyPr wrap="square" lIns="0" tIns="0" rIns="0" bIns="0" rtlCol="0" anchor="t"/>
          <a:lstStyle/>
          <a:p>
            <a:pPr indent="0" marL="0">
              <a:buNone/>
            </a:pPr>
            <a:r>
              <a:rPr lang="en-US" sz="1400" b="1" dirty="0">
                <a:solidFill>
                  <a:srgbClr val="A8864A"/>
                </a:solidFill>
                <a:latin typeface="Courier New" pitchFamily="34" charset="0"/>
                <a:ea typeface="Courier New" pitchFamily="34" charset="-122"/>
                <a:cs typeface="Courier New" pitchFamily="34" charset="-120"/>
              </a:rPr>
              <a:t>src/datomic_infra/labs.clj</a:t>
            </a:r>
            <a:endParaRPr lang="en-US" sz="1400" dirty="0"/>
          </a:p>
        </p:txBody>
      </p:sp>
      <p:sp>
        <p:nvSpPr>
          <p:cNvPr id="10" name="Text 7"/>
          <p:cNvSpPr/>
          <p:nvPr/>
        </p:nvSpPr>
        <p:spPr>
          <a:xfrm>
            <a:off x="822960" y="1984248"/>
            <a:ext cx="10515600" cy="457200"/>
          </a:xfrm>
          <a:prstGeom prst="rect">
            <a:avLst/>
          </a:prstGeom>
          <a:noFill/>
          <a:ln/>
        </p:spPr>
        <p:txBody>
          <a:bodyPr wrap="square" lIns="0" tIns="0" rIns="0" bIns="0" rtlCol="0" anchor="t">
            <a:normAutofit/>
          </a:bodyPr>
          <a:lstStyle/>
          <a:p>
            <a:pPr indent="0" marL="0">
              <a:buNone/>
            </a:pPr>
            <a:r>
              <a:rPr lang="en-US" sz="1350" dirty="0">
                <a:solidFill>
                  <a:srgbClr val="6B5A44"/>
                </a:solidFill>
                <a:latin typeface="Helvetica Neue" pitchFamily="34" charset="0"/>
                <a:ea typeface="Helvetica Neue" pitchFamily="34" charset="-122"/>
                <a:cs typeface="Helvetica Neue" pitchFamily="34" charset="-120"/>
              </a:rPr>
              <a:t>Datomic in Production — the write path, read path, settings and backup drill in full detail</a:t>
            </a:r>
            <a:endParaRPr lang="en-US" sz="1350" dirty="0"/>
          </a:p>
        </p:txBody>
      </p:sp>
      <p:sp>
        <p:nvSpPr>
          <p:cNvPr id="11" name="Shape 8"/>
          <p:cNvSpPr/>
          <p:nvPr/>
        </p:nvSpPr>
        <p:spPr>
          <a:xfrm>
            <a:off x="548640" y="2651760"/>
            <a:ext cx="11064240" cy="1051560"/>
          </a:xfrm>
          <a:prstGeom prst="roundRect">
            <a:avLst>
              <a:gd name="adj" fmla="val 6957"/>
            </a:avLst>
          </a:prstGeom>
          <a:solidFill>
            <a:srgbClr val="E6DFCE"/>
          </a:solidFill>
          <a:ln/>
        </p:spPr>
      </p:sp>
      <p:sp>
        <p:nvSpPr>
          <p:cNvPr id="12" name="Text 9"/>
          <p:cNvSpPr/>
          <p:nvPr/>
        </p:nvSpPr>
        <p:spPr>
          <a:xfrm>
            <a:off x="822960" y="2788920"/>
            <a:ext cx="10515600" cy="347472"/>
          </a:xfrm>
          <a:prstGeom prst="rect">
            <a:avLst/>
          </a:prstGeom>
          <a:noFill/>
          <a:ln/>
        </p:spPr>
        <p:txBody>
          <a:bodyPr wrap="square" lIns="0" tIns="0" rIns="0" bIns="0" rtlCol="0" anchor="t"/>
          <a:lstStyle/>
          <a:p>
            <a:pPr indent="0" marL="0">
              <a:buNone/>
            </a:pPr>
            <a:r>
              <a:rPr lang="en-US" sz="1400" b="1" dirty="0">
                <a:solidFill>
                  <a:srgbClr val="A8864A"/>
                </a:solidFill>
                <a:latin typeface="Courier New" pitchFamily="34" charset="0"/>
                <a:ea typeface="Courier New" pitchFamily="34" charset="-122"/>
                <a:cs typeface="Courier New" pitchFamily="34" charset="-120"/>
              </a:rPr>
              <a:t>infra/HA.md</a:t>
            </a:r>
            <a:endParaRPr lang="en-US" sz="1400" dirty="0"/>
          </a:p>
        </p:txBody>
      </p:sp>
      <p:sp>
        <p:nvSpPr>
          <p:cNvPr id="13" name="Text 10"/>
          <p:cNvSpPr/>
          <p:nvPr/>
        </p:nvSpPr>
        <p:spPr>
          <a:xfrm>
            <a:off x="822960" y="3172968"/>
            <a:ext cx="10515600" cy="457200"/>
          </a:xfrm>
          <a:prstGeom prst="rect">
            <a:avLst/>
          </a:prstGeom>
          <a:noFill/>
          <a:ln/>
        </p:spPr>
        <p:txBody>
          <a:bodyPr wrap="square" lIns="0" tIns="0" rIns="0" bIns="0" rtlCol="0" anchor="t">
            <a:normAutofit/>
          </a:bodyPr>
          <a:lstStyle/>
          <a:p>
            <a:pPr indent="0" marL="0">
              <a:buNone/>
            </a:pPr>
            <a:r>
              <a:rPr lang="en-US" sz="1350" dirty="0">
                <a:solidFill>
                  <a:srgbClr val="6B5A44"/>
                </a:solidFill>
                <a:latin typeface="Helvetica Neue" pitchFamily="34" charset="0"/>
                <a:ea typeface="Helvetica Neue" pitchFamily="34" charset="-122"/>
                <a:cs typeface="Helvetica Neue" pitchFamily="34" charset="-120"/>
              </a:rPr>
              <a:t>the two-transactor setup — run Part II's failover yourself</a:t>
            </a:r>
            <a:endParaRPr lang="en-US" sz="1350" dirty="0"/>
          </a:p>
        </p:txBody>
      </p:sp>
      <p:sp>
        <p:nvSpPr>
          <p:cNvPr id="14" name="Shape 11"/>
          <p:cNvSpPr/>
          <p:nvPr/>
        </p:nvSpPr>
        <p:spPr>
          <a:xfrm>
            <a:off x="548640" y="3840480"/>
            <a:ext cx="11064240" cy="1051560"/>
          </a:xfrm>
          <a:prstGeom prst="roundRect">
            <a:avLst>
              <a:gd name="adj" fmla="val 6957"/>
            </a:avLst>
          </a:prstGeom>
          <a:solidFill>
            <a:srgbClr val="D3DEE1"/>
          </a:solidFill>
          <a:ln/>
        </p:spPr>
      </p:sp>
      <p:sp>
        <p:nvSpPr>
          <p:cNvPr id="15" name="Text 12"/>
          <p:cNvSpPr/>
          <p:nvPr/>
        </p:nvSpPr>
        <p:spPr>
          <a:xfrm>
            <a:off x="822960" y="3977640"/>
            <a:ext cx="10515600" cy="347472"/>
          </a:xfrm>
          <a:prstGeom prst="rect">
            <a:avLst/>
          </a:prstGeom>
          <a:noFill/>
          <a:ln/>
        </p:spPr>
        <p:txBody>
          <a:bodyPr wrap="square" lIns="0" tIns="0" rIns="0" bIns="0" rtlCol="0" anchor="t"/>
          <a:lstStyle/>
          <a:p>
            <a:pPr indent="0" marL="0">
              <a:buNone/>
            </a:pPr>
            <a:r>
              <a:rPr lang="en-US" sz="1400" b="1" dirty="0">
                <a:solidFill>
                  <a:srgbClr val="A8864A"/>
                </a:solidFill>
                <a:latin typeface="Courier New" pitchFamily="34" charset="0"/>
                <a:ea typeface="Courier New" pitchFamily="34" charset="-122"/>
                <a:cs typeface="Courier New" pitchFamily="34" charset="-120"/>
              </a:rPr>
              <a:t>Datomic Cloud</a:t>
            </a:r>
            <a:endParaRPr lang="en-US" sz="1400" dirty="0"/>
          </a:p>
        </p:txBody>
      </p:sp>
      <p:sp>
        <p:nvSpPr>
          <p:cNvPr id="16" name="Text 13"/>
          <p:cNvSpPr/>
          <p:nvPr/>
        </p:nvSpPr>
        <p:spPr>
          <a:xfrm>
            <a:off x="822960" y="4361688"/>
            <a:ext cx="10515600" cy="457200"/>
          </a:xfrm>
          <a:prstGeom prst="rect">
            <a:avLst/>
          </a:prstGeom>
          <a:noFill/>
          <a:ln/>
        </p:spPr>
        <p:txBody>
          <a:bodyPr wrap="square" lIns="0" tIns="0" rIns="0" bIns="0" rtlCol="0" anchor="t">
            <a:normAutofit/>
          </a:bodyPr>
          <a:lstStyle/>
          <a:p>
            <a:pPr indent="0" marL="0">
              <a:buNone/>
            </a:pPr>
            <a:r>
              <a:rPr lang="en-US" sz="1350" dirty="0">
                <a:solidFill>
                  <a:srgbClr val="6B5A44"/>
                </a:solidFill>
                <a:latin typeface="Helvetica Neue" pitchFamily="34" charset="0"/>
                <a:ea typeface="Helvetica Neue" pitchFamily="34" charset="-122"/>
                <a:cs typeface="Helvetica Neue" pitchFamily="34" charset="-120"/>
              </a:rPr>
              <a:t>same model, managed operations: failover handled by the platform; query groups = Part III's read scaling as an autoscaling group</a:t>
            </a:r>
            <a:endParaRPr lang="en-US" sz="1350" dirty="0"/>
          </a:p>
        </p:txBody>
      </p:sp>
      <p:sp>
        <p:nvSpPr>
          <p:cNvPr id="17" name="Shape 14"/>
          <p:cNvSpPr/>
          <p:nvPr/>
        </p:nvSpPr>
        <p:spPr>
          <a:xfrm>
            <a:off x="548640" y="5120640"/>
            <a:ext cx="11064240" cy="914400"/>
          </a:xfrm>
          <a:prstGeom prst="roundRect">
            <a:avLst>
              <a:gd name="adj" fmla="val 8000"/>
            </a:avLst>
          </a:prstGeom>
          <a:solidFill>
            <a:srgbClr val="DDE3CC"/>
          </a:solidFill>
          <a:ln/>
        </p:spPr>
      </p:sp>
      <p:sp>
        <p:nvSpPr>
          <p:cNvPr id="18" name="Shape 15"/>
          <p:cNvSpPr/>
          <p:nvPr/>
        </p:nvSpPr>
        <p:spPr>
          <a:xfrm>
            <a:off x="548640" y="5120640"/>
            <a:ext cx="82296" cy="914400"/>
          </a:xfrm>
          <a:prstGeom prst="rect">
            <a:avLst/>
          </a:prstGeom>
          <a:solidFill>
            <a:srgbClr val="5F7A3A"/>
          </a:solidFill>
          <a:ln/>
        </p:spPr>
      </p:sp>
      <p:sp>
        <p:nvSpPr>
          <p:cNvPr id="19" name="Text 16"/>
          <p:cNvSpPr/>
          <p:nvPr/>
        </p:nvSpPr>
        <p:spPr>
          <a:xfrm>
            <a:off x="868680" y="5230368"/>
            <a:ext cx="10515600" cy="365760"/>
          </a:xfrm>
          <a:prstGeom prst="rect">
            <a:avLst/>
          </a:prstGeom>
          <a:noFill/>
          <a:ln/>
        </p:spPr>
        <p:txBody>
          <a:bodyPr wrap="square" lIns="0" tIns="0" rIns="0" bIns="0" rtlCol="0" anchor="t"/>
          <a:lstStyle/>
          <a:p>
            <a:pPr indent="0" marL="0">
              <a:buNone/>
            </a:pPr>
            <a:r>
              <a:rPr lang="en-US" sz="1600" b="1" dirty="0">
                <a:solidFill>
                  <a:srgbClr val="3A2C1A"/>
                </a:solidFill>
                <a:latin typeface="Helvetica Neue" pitchFamily="34" charset="0"/>
                <a:ea typeface="Helvetica Neue" pitchFamily="34" charset="-122"/>
                <a:cs typeface="Helvetica Neue" pitchFamily="34" charset="-120"/>
              </a:rPr>
              <a:t>Carry the model, look up the knobs.</a:t>
            </a:r>
            <a:endParaRPr lang="en-US" sz="1600" dirty="0"/>
          </a:p>
        </p:txBody>
      </p:sp>
      <p:sp>
        <p:nvSpPr>
          <p:cNvPr id="20" name="Text 17"/>
          <p:cNvSpPr/>
          <p:nvPr/>
        </p:nvSpPr>
        <p:spPr>
          <a:xfrm>
            <a:off x="868680" y="5614416"/>
            <a:ext cx="10515600" cy="365760"/>
          </a:xfrm>
          <a:prstGeom prst="rect">
            <a:avLst/>
          </a:prstGeom>
          <a:noFill/>
          <a:ln/>
        </p:spPr>
        <p:txBody>
          <a:bodyPr wrap="square" lIns="0" tIns="0" rIns="0" bIns="0" rtlCol="0" anchor="t"/>
          <a:lstStyle/>
          <a:p>
            <a:pPr indent="0" marL="0">
              <a:buNone/>
            </a:pPr>
            <a:r>
              <a:rPr lang="en-US" sz="1300" dirty="0">
                <a:solidFill>
                  <a:srgbClr val="6B5A44"/>
                </a:solidFill>
                <a:latin typeface="Helvetica Neue" pitchFamily="34" charset="0"/>
                <a:ea typeface="Helvetica Neue" pitchFamily="34" charset="-122"/>
                <a:cs typeface="Helvetica Neue" pitchFamily="34" charset="-120"/>
              </a:rPr>
              <a:t>Four topics, three steps each: how it works, an easy example, the catches.</a:t>
            </a:r>
            <a:endParaRPr lang="en-US" sz="1300" dirty="0"/>
          </a:p>
        </p:txBody>
      </p:sp>
      <p:sp>
        <p:nvSpPr>
          <p:cNvPr id="21" name="Shape 18"/>
          <p:cNvSpPr/>
          <p:nvPr/>
        </p:nvSpPr>
        <p:spPr>
          <a:xfrm>
            <a:off x="548640" y="6419088"/>
            <a:ext cx="54864" cy="292608"/>
          </a:xfrm>
          <a:prstGeom prst="rect">
            <a:avLst/>
          </a:prstGeom>
          <a:solidFill>
            <a:srgbClr val="A8864A"/>
          </a:solidFill>
          <a:ln/>
        </p:spPr>
      </p:sp>
      <p:sp>
        <p:nvSpPr>
          <p:cNvPr id="22" name="Text 19"/>
          <p:cNvSpPr/>
          <p:nvPr/>
        </p:nvSpPr>
        <p:spPr>
          <a:xfrm>
            <a:off x="713232" y="6382512"/>
            <a:ext cx="658368" cy="365760"/>
          </a:xfrm>
          <a:prstGeom prst="rect">
            <a:avLst/>
          </a:prstGeom>
          <a:noFill/>
          <a:ln/>
        </p:spPr>
        <p:txBody>
          <a:bodyPr wrap="square" lIns="0" tIns="0" rIns="0" bIns="0" rtlCol="0" anchor="ctr"/>
          <a:lstStyle/>
          <a:p>
            <a:pPr indent="0" marL="0">
              <a:buNone/>
            </a:pPr>
            <a:r>
              <a:rPr lang="en-US" sz="900" b="1" spc="100" kern="0" dirty="0">
                <a:solidFill>
                  <a:srgbClr val="A8864A"/>
                </a:solidFill>
                <a:latin typeface="Helvetica Neue" pitchFamily="34" charset="0"/>
                <a:ea typeface="Helvetica Neue" pitchFamily="34" charset="-122"/>
                <a:cs typeface="Helvetica Neue" pitchFamily="34" charset="-120"/>
              </a:rPr>
              <a:t>CASES</a:t>
            </a:r>
            <a:endParaRPr lang="en-US" sz="900" dirty="0"/>
          </a:p>
        </p:txBody>
      </p:sp>
      <p:sp>
        <p:nvSpPr>
          <p:cNvPr id="23" name="Text 20"/>
          <p:cNvSpPr/>
          <p:nvPr/>
        </p:nvSpPr>
        <p:spPr>
          <a:xfrm>
            <a:off x="1463040" y="6382512"/>
            <a:ext cx="9509760" cy="365760"/>
          </a:xfrm>
          <a:prstGeom prst="rect">
            <a:avLst/>
          </a:prstGeom>
          <a:noFill/>
          <a:ln/>
        </p:spPr>
        <p:txBody>
          <a:bodyPr wrap="square" lIns="0" tIns="0" rIns="0" bIns="0" rtlCol="0" anchor="ctr"/>
          <a:lstStyle/>
          <a:p>
            <a:pPr indent="0" marL="0">
              <a:buNone/>
            </a:pPr>
            <a:r>
              <a:rPr lang="en-US" sz="1100" dirty="0">
                <a:solidFill>
                  <a:srgbClr val="6B5A44"/>
                </a:solidFill>
                <a:latin typeface="Helvetica Neue" pitchFamily="34" charset="0"/>
                <a:ea typeface="Helvetica Neue" pitchFamily="34" charset="-122"/>
                <a:cs typeface="Helvetica Neue" pitchFamily="34" charset="-120"/>
              </a:rPr>
              <a:t>Run the failover drill once on your own staging environment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Datomic at Scale — Operations, Parallelism and the Cost of a Read</dc:title>
  <dc:subject>PptxGenJS Presentation</dc:subject>
  <dc:creator>Datomic Classes</dc:creator>
  <cp:lastModifiedBy>Datomic Classes</cp:lastModifiedBy>
  <cp:revision>1</cp:revision>
  <dcterms:created xsi:type="dcterms:W3CDTF">2026-08-27T21:38:16Z</dcterms:created>
  <dcterms:modified xsi:type="dcterms:W3CDTF">2026-08-27T21:38:16Z</dcterms:modified>
</cp:coreProperties>
</file>