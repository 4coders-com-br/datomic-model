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309" r:id="rId57"/>
    <p:sldId id="310" r:id="rId5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42.xml"/><Relationship Id="rId34" Type="http://schemas.openxmlformats.org/officeDocument/2006/relationships/slide" Target="slides/slide43.xml"/><Relationship Id="rId35" Type="http://schemas.openxmlformats.org/officeDocument/2006/relationships/slide" Target="slides/slide44.xml"/><Relationship Id="rId36" Type="http://schemas.openxmlformats.org/officeDocument/2006/relationships/slide" Target="slides/slide45.xml"/><Relationship Id="rId37" Type="http://schemas.openxmlformats.org/officeDocument/2006/relationships/slide" Target="slides/slide46.xml"/><Relationship Id="rId38" Type="http://schemas.openxmlformats.org/officeDocument/2006/relationships/slide" Target="slides/slide47.xml"/><Relationship Id="rId39" Type="http://schemas.openxmlformats.org/officeDocument/2006/relationships/slide" Target="slides/slide48.xml"/><Relationship Id="rId40" Type="http://schemas.openxmlformats.org/officeDocument/2006/relationships/slide" Target="slides/slide49.xml"/><Relationship Id="rId41" Type="http://schemas.openxmlformats.org/officeDocument/2006/relationships/slide" Target="slides/slide50.xml"/><Relationship Id="rId42" Type="http://schemas.openxmlformats.org/officeDocument/2006/relationships/slide" Target="slides/slide51.xml"/><Relationship Id="rId43" Type="http://schemas.openxmlformats.org/officeDocument/2006/relationships/slide" Target="slides/slide52.xml"/><Relationship Id="rId44" Type="http://schemas.openxmlformats.org/officeDocument/2006/relationships/slide" Target="slides/slide53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6AB3022-3D73-4C7B-8C7B-67699A1944D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0:00. Welcome. Housekeeping: everyone should have deps.edn + domain_modeling_repl.clj and a running REPL (clj -M:repl or editor jack-in). The whole class is live: every code slide has a matching § in the file. Credit the source talk up front — it was originally a 2-hour workshop compressed to 40 minutes; tonight we run the uncompressed version in Datomic. Fun fact to drop later: 'pithyless' in our sample data IS the speaker.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0:03. One breath per row. Sell part 6 as the headline: same data, same query language, seven database shapes. Time budget totals 110 min of content + 10 min slack for questions. Ask people to interrupt — the REPL makes detours cheap.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0:05. Straight from the talk's opening: if you model real businesses, you need streams (order), trees (hierarchy) and meshes (relationships) — nothing else ever really matters. Streams = queues/events; trees = your whole UI stack; the mesh is the domain itself, and it's the one we keep mis-modeling.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0:05. Straight from the talk's opening: if you model real businesses, you need streams (order), trees (hierarchy) and meshes (relationships) — nothing else ever really matters. Streams = queues/events; trees = your whole UI stack; the mesh is the domain itself, and it's the one we keep mis-modeling.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0:10. Left: the familiar pain. Right: the claim from the talk — an entity-attribute-value triple store (RDF cousin) is all you ever need. Say explicitly: 'I don't expect you to believe me; you've built complex systems. So we'll prove it by building GitHub.' Then move.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0:08. The Spotify analogy: only three real node kinds. Album, playlist, subscribe, share, collab-playlist — all just new edges over existing nodes. Land the bolded line hard; it is the thesis for why relational schemas keep hurting: every feature is another implicit join.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0:10. Left: the familiar pain. Right: the claim from the talk — an entity-attribute-value triple store (RDF cousin) is all you ever need. Say explicitly: 'I don't expect you to believe me; you've built complex systems. So we'll prove it by building GitHub.' Then move.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0:10. Everyone to the REPL now. domain_modeling_repl.clj §0. Confirm (fresh!) returns :ok for the room before moving on. From here on, every code slide is evaluated live.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0:12. Point at each cell while naming it. The motif on every slide from here is these five colors: mint E, blue A, amber V, violet Tx, coral Op. Emphasize 'no record anywhere' — that's the mental unlearning step for SQL and document people alike.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0:14. Evaluate live. The ~268 count lands the 'turtles' point: the system describes itself with the same 5-tuples. Mention (fresh!) exists for a clean slate between sections. Hammer 'db is a value' — it's deref on an atom, and it's why time travel will be trivial later.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0:17. Keep it quick — schema gets its own section later. The one thing to plant now: unique/identity is what makes [:user/name "tonsky"] addressable in two slides.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0:19. Transact live. Point out :tempids in the returned map. The pithyless cameo is a nice beat: our sample data's third user is the author of the source talk (and of DataScript's fork in a minute... no wait, tonsky owns datascript; pithyless will fork it).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0:21. This is the 'right-hand side of the talk' — the append-only structure Wójtowicz kept on screen the whole time. Eids will differ per machine; the shapes won't. Leave this sentence ringing: everything else is a view.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0:23. Sugar the talk showed as 'replace 44 with [org 44]'. We'll use lookup refs relentlessly from here — including as VALUES inside transactions in part 2. Check the room, then divider.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0:30. Longest lecture stretch. Keep the REPL cadence: every query on the slides gets evaluated. Encourage heckling — the constraint solver rewards 'what if I flip this?' questions.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0:32. Mirror the talk's pattern-matching ladder. Quiz the room: what does each pattern match against our three datoms? The unification sentence is the single most important sentence in part 2.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0:35. Run the scalar query twice; it may return different names. This was the talk's million-points quiz ('why did it return tonsky?'). Sets dedupe and have no order — burn it in now, it explains the :with trap later.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0:38. Note the transact: new facts APPENDED to existing entities via lookup refs — nothing rewritten, the users just grew. Then the constraint-solver magic from the talk: found 11 here, go find all the other 11s. Flip known/unknown freely; same engine.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0:41. :in binds scalars, tuples, collections, relations — collections shown here. The host predicate is the talk's 'your database will never know everything' point: you get logic programming interspersed with arbitrary platform code.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0:44. 'Once we leave the rectangular world, we don't need nulls' — the fact of not having an attribute signifies information. This pays off twice more: forks (originals lack :repo/fork) and the sparse-matrix shape.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0:47. The talk literally pauses to make the audience design this in SQL — do the same for ten seconds. Then the reveal: values can be REFERENCES, and a ref points at any entity. Note lookup refs used AS values, and string :db/id tempids resolvable within the tx. Transact repo-schema + seed from §2.7 now (also loads stars, forks, follows for later).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0:51. This is the talk's schema-on-read moment. Show the two single-clause queries in the REPL first (user-owner vs org-owner), then the rule that unifies them. A rule is a named, reusable set of clauses — a function call inside your logic.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0:54. The talk's fork move: we did NOT go back and write :repo/fork nil on old repos. Absence signifies 'original'. The same entity plays ?f in one binding and ?orig in another — the solver backtracks so all clauses hold simultaneously.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0:57. Languages: 'I never said an entity can have an attribute only once.' Stars: model the fact (WHO starred WHAT), aggregate at read. GitHub jokes about stars land well here.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1:00. Quiz the 2-vs-4 before revealing. Then not/not-join for negation. Part 2 done — we can now express everything the talk's first hour covered. Water break if needed; schema section is short.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1:00. Short section, big consequences. Everything here is a corollary of 'turtles all the way down' from slide 8.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1:02. The talk: 'username is not a keyword — it's a first-class entity, which is amazing.' valueType/cardinality/unique/doc/fulltext are just attributes ON the attribute. Docs on a flat model matter — encourage :db/doc from day one.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1:05. Accretion: product asks for topics; you transact one map. Composite tuples are the grown-up answer to 'slug is only unique per owner' — auto-maintained, unique, lookup-ref-able. Note the tuple wants the owner's eid, hence d/entid.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1:08. Contrast with string enums (typos pass silently) and int enums (magic numbers). Idents are entities too — you can hang :db/doc or display metadata on the enum values themselves. On to the headline section.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1:35. THE section. Slow down. Everything before was setup; everything after is corollary.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1:37. The talk's performance answer: switch the order of the columns and you can emulate any database. Walk each card: EAVT clusters a row; AEVT clusters a column; AVET is a sorted key→entity map; VAET (refs only) answers 'who points at me'. Next: seven shapes, each tagged with the index doing the work.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1:40. Lookup refs from part 1 were AVET all along. index-range shows it's a sorted map, not a hash — you get prefix/range queries a plain KV store makes you fake with key naming.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3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1:43. richhickey is absent — datom clauses are inner joins; get-else only defaults an attribute, it doesn't outer-join the stars clause. Want him with 0? pull per entity or or-join. EAVT keeps an entity's datoms contiguous — 'the row' materialized on demand.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3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1:45. Warehouse question answered without a warehouse. In query form the engine picks AEVT for you; d/datoms shows what it's walking. Same datoms as the 'rows' one slide ago.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1:48. isComponent = ownership: issues belong to their repo, comments to their issue — cascade in two slides. fulltext true must be set at attribute creation. Transact §6.4's issue-schema first, then this document.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1:51. The talk's pull section verbatim in spirit: vector of attrs, map notation = joins, nesting arbitrary. This lineage is real: EQL and Fulcro grew out of this syntax; pull-as-wire-protocol returns on the DataScript slide.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1:54. Three punches: (1) _author navigates the same data as comments-by-author — the document boundary was never real; (2) retractEntity on a component root cascades — shown safely via d/with, recalling part 4; (3) fulltext is the host-platform door from part 2, now with Lucene scores.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1:57. Also show d/datoms :vaet on the datascript repo in the REPL: the fork and the star point at it — 'you have the answer, find the question.' Fork ancestry uses the same recursion on a different edge (fork-of): victor's fork-of-a-fork returns two ancestors.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2:00. Read it aloud clause by clause — it reads like the product spec. Invite the room to imagine the SQL (recursive CTE + 4 joins + NOT EXISTS + polymorphic owner). Pause here; this is the emotional peak.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2:02. Left: d/tx-range is your Kafka-shaped view — t 1000 is YOUR first tx (the user schema) — the bootstrap isn't in the log. Right: one-off attributes with no guilt; only tonsky gets a twitter handle and nobody migrated anything.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2:05. The money slide. Slow read of the bottom line. If someone asks 'so I never need Redis/Mongo/Neo4j again?' — honest answer: at scale extremes, specialized engines win; the point is that ONE model covers the whole mesh until they genuinely do (part 5's heuristic #8 has the when-not list).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1:10. Bring back the 5-chip motif: we've only used three cells so far. Everything in this part is one idea — the past is immutable — cashed out five 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1:12. The talk's trick question ('how do you update an append-only db?') answered: for cardinality-one, Datomic expands your map into retract+assert automatically. d/history returns EVERY 5-tuple ever true — proof on screen. Save t-before (d/basis-t) first; the time-travel slide needs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1:14. Retraction = 'forget this one instance of truth' — the talk stressed all cells must match except tx/op, which is exactly what protects multi-cardinality. CAS is your read-modify-write guard without locks.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1:17. Turtles again: the tx is an entity, so hang actor/reason on it via the "datomic.tx" tempid. The query takes TWO db inputs — $hist for the fact's history, $ (present) for tx metadata; multi-db queries are just more inputs. The talk's war story: tracing a bug to a JSON import three months prior.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1:19. as-of/since/history are just different windows over the same immutable log — the QUERY does not change. The since gotcha is real production pain: a since-db lacks the entity's identity datoms, so resolve names against the present db.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1:21. Possible only because db is a value: d/with returns a NEW value with your tx applied; the real conn never hears about it. The 'hypothetical database' from the talk.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1:23. The talk's permission model: 'we filter out datoms you can't see, then let you run anything.' One predicate guards every query path — no forgotten WHERE clause. Mention excision only briefly; it's the compliance escape hatch.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1:25. Land the plane. Architecture in one slide, then practical takeaways.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1:27. Storage doesn't understand datoms — it stores immutable index segments, which is why 'run it on anything' works. Peers pull segments + live novelty and query in-process: the talk's 'almost all the data you need is almost always in memory.' basis-t is why you always know exactly which point in time you're querying.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1:30. The full-circle beat: our sample repo datascript is tonsky's real project — the talk's own frontend story (replace React state management with a queryable db). EQL grew out of pull syntax; front-back communication as data.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1:32. One breath each; the REPL file has the long form (§5). On #8 be concrete: mouse moves, tick-by-tick order books, blob storage — Kafka/Pulsar/S3 territory; and write volume beyond one transactor's serialization point.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1:34. E1–E2 exercise modeling, E3 exercises time, E4 is the mindset shift, E5 proves portability. Offer to review solutions async.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2:10. Recap arc: smallest fact → four sort orders → seven shapes → immutable time. Questions from here; the recommender query is the go-to callback if energy dips.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PlaceHolder 3"/>
          <p:cNvSpPr>
            <a:spLocks noGrp="1"/>
          </p:cNvSpPr>
          <p:nvPr>
            <p:ph type="sldNum" idx="5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End. Point at the REPL file one last time — it's designed for self-study: expected results inline, exercises at the bottom, fresh! to reset. Share both files with attendees.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PlaceHolder 3"/>
          <p:cNvSpPr>
            <a:spLocks noGrp="1"/>
          </p:cNvSpPr>
          <p:nvPr>
            <p:ph type="sldNum" idx="5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86868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9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ONE DATABASE, MANY SHAPES</a:t>
            </a:r>
            <a:endParaRPr lang="en-US" sz="3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169164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Domain modeling with datoms — a 2-hour, REPL-first class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371600" y="2514600"/>
            <a:ext cx="1234080" cy="502560"/>
          </a:xfrm>
          <a:prstGeom prst="roundRect">
            <a:avLst>
              <a:gd name="adj" fmla="val 9091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17592…419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371600" y="30542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entity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2697480" y="2514600"/>
            <a:ext cx="1371240" cy="502560"/>
          </a:xfrm>
          <a:prstGeom prst="roundRect">
            <a:avLst>
              <a:gd name="adj" fmla="val 9091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2697480" y="3054240"/>
            <a:ext cx="1371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160520" y="2514600"/>
            <a:ext cx="1188360" cy="502560"/>
          </a:xfrm>
          <a:prstGeom prst="roundRect">
            <a:avLst>
              <a:gd name="adj" fmla="val 9091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160520" y="3054240"/>
            <a:ext cx="11883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440680" y="2514600"/>
            <a:ext cx="1234080" cy="502560"/>
          </a:xfrm>
          <a:prstGeom prst="roundRect">
            <a:avLst>
              <a:gd name="adj" fmla="val 9091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13194…313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440680" y="30542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transaction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6766560" y="2514600"/>
            <a:ext cx="914040" cy="502560"/>
          </a:xfrm>
          <a:prstGeom prst="roundRect">
            <a:avLst>
              <a:gd name="adj" fmla="val 9091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true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6766560" y="305424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added?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48640" y="38862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Examples rebuilt from Norbert Wójtowicz — “Domain Modeling with Datalog” (Pivorak Conf 2.0, 2019) · youtube.com/watch?v=oo-7mN9WXTw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48640" y="42246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ourier New"/>
                <a:ea typeface="Courier New"/>
              </a:rPr>
              <a:t>Datomic Pro (Apache-2.0) · datomic:mem:// — no transactor process · companion file: domain_modeling_repl.clj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TONIGHT'S ROUTE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Two hours, six moves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02920" y="1161360"/>
            <a:ext cx="383760" cy="38376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02920" y="11613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1051560" y="1115640"/>
            <a:ext cx="5394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datom — the smallest fact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6537960" y="111564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§0–§1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7589520" y="111564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20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502920" y="1783080"/>
            <a:ext cx="383760" cy="383760"/>
          </a:xfrm>
          <a:prstGeom prst="ellipse">
            <a:avLst/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/>
          <p:cNvSpPr/>
          <p:nvPr/>
        </p:nvSpPr>
        <p:spPr>
          <a:xfrm>
            <a:off x="502920" y="17830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1051560" y="1737360"/>
            <a:ext cx="5394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Query — pattern matching all the way down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6537960" y="173736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7589520" y="173736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25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502920" y="2404800"/>
            <a:ext cx="383760" cy="383760"/>
          </a:xfrm>
          <a:prstGeom prst="ellipse">
            <a:avLst/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502920" y="2404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1051560" y="2359080"/>
            <a:ext cx="5394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Schema is data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6537960" y="235908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7589520" y="235908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10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502920" y="3026520"/>
            <a:ext cx="383760" cy="383760"/>
          </a:xfrm>
          <a:prstGeom prst="ellipse">
            <a:avLst/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502920" y="3026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1051560" y="2980800"/>
            <a:ext cx="5394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Time — columns four and five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1"/>
          <p:cNvSpPr/>
          <p:nvPr/>
        </p:nvSpPr>
        <p:spPr>
          <a:xfrm>
            <a:off x="6537960" y="298080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7589520" y="298080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15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502920" y="3648600"/>
            <a:ext cx="383760" cy="383760"/>
          </a:xfrm>
          <a:prstGeom prst="ellipse">
            <a:avLst/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502920" y="3648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1051560" y="3602880"/>
            <a:ext cx="5394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Architecture, heuristics, homework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6537960" y="360288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7589520" y="360288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10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8"/>
          <p:cNvSpPr/>
          <p:nvPr/>
        </p:nvSpPr>
        <p:spPr>
          <a:xfrm>
            <a:off x="502920" y="4270320"/>
            <a:ext cx="383760" cy="383760"/>
          </a:xfrm>
          <a:prstGeom prst="ellipse">
            <a:avLst/>
          </a:prstGeom>
          <a:solidFill>
            <a:srgbClr val="7C8AA5"/>
          </a:solidFill>
          <a:ln w="12700">
            <a:solidFill>
              <a:srgbClr val="7C8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9"/>
          <p:cNvSpPr/>
          <p:nvPr/>
        </p:nvSpPr>
        <p:spPr>
          <a:xfrm>
            <a:off x="502920" y="42703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1051560" y="4224600"/>
            <a:ext cx="53946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One store, seven shapes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1"/>
          <p:cNvSpPr/>
          <p:nvPr/>
        </p:nvSpPr>
        <p:spPr>
          <a:xfrm>
            <a:off x="6537960" y="4224600"/>
            <a:ext cx="914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7589520" y="4224600"/>
            <a:ext cx="10969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30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ONE THEORY SLIDE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Three data structures rule everything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457200" y="1143000"/>
            <a:ext cx="2651400" cy="324576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640080" y="1325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6FA8FF"/>
                </a:solidFill>
                <a:effectLst/>
                <a:uFillTx/>
                <a:latin typeface="Arial"/>
                <a:ea typeface="Arial"/>
              </a:rPr>
              <a:t>STREAMS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64008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order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640080" y="35204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events arriving, queues backing up, the log of what happened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7"/>
          <p:cNvSpPr/>
          <p:nvPr/>
        </p:nvSpPr>
        <p:spPr>
          <a:xfrm>
            <a:off x="3291840" y="1143000"/>
            <a:ext cx="2651400" cy="324576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3474720" y="1325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FFC66D"/>
                </a:solidFill>
                <a:effectLst/>
                <a:uFillTx/>
                <a:latin typeface="Arial"/>
                <a:ea typeface="Arial"/>
              </a:rPr>
              <a:t>TREES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347472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hierarchy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3474720" y="35204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your UI, the DOM, JSON documents, the call stack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1"/>
          <p:cNvSpPr/>
          <p:nvPr/>
        </p:nvSpPr>
        <p:spPr>
          <a:xfrm>
            <a:off x="6126480" y="1143000"/>
            <a:ext cx="2651400" cy="324576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6309360" y="1325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201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MESHES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630936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relationships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6309360" y="35204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your business domain — whether you admit it or not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77724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6"/>
          <p:cNvSpPr/>
          <p:nvPr/>
        </p:nvSpPr>
        <p:spPr>
          <a:xfrm>
            <a:off x="128016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7"/>
          <p:cNvSpPr/>
          <p:nvPr/>
        </p:nvSpPr>
        <p:spPr>
          <a:xfrm>
            <a:off x="178308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228600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731520" y="3063240"/>
            <a:ext cx="2103120" cy="360"/>
          </a:xfrm>
          <a:prstGeom prst="line">
            <a:avLst/>
          </a:prstGeom>
          <a:ln w="254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20"/>
          <p:cNvSpPr/>
          <p:nvPr/>
        </p:nvSpPr>
        <p:spPr>
          <a:xfrm flipH="1">
            <a:off x="3977640" y="2331720"/>
            <a:ext cx="640080" cy="50292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1"/>
          <p:cNvSpPr/>
          <p:nvPr/>
        </p:nvSpPr>
        <p:spPr>
          <a:xfrm>
            <a:off x="4617720" y="2331720"/>
            <a:ext cx="640080" cy="50292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2"/>
          <p:cNvSpPr/>
          <p:nvPr/>
        </p:nvSpPr>
        <p:spPr>
          <a:xfrm flipH="1">
            <a:off x="3657600" y="2834640"/>
            <a:ext cx="320040" cy="45720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3"/>
          <p:cNvSpPr/>
          <p:nvPr/>
        </p:nvSpPr>
        <p:spPr>
          <a:xfrm>
            <a:off x="3977640" y="2834640"/>
            <a:ext cx="320040" cy="45720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5257800" y="2834640"/>
            <a:ext cx="320040" cy="45720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5"/>
          <p:cNvSpPr/>
          <p:nvPr/>
        </p:nvSpPr>
        <p:spPr>
          <a:xfrm>
            <a:off x="4489560" y="2103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3849480" y="269748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5129640" y="269748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8"/>
          <p:cNvSpPr/>
          <p:nvPr/>
        </p:nvSpPr>
        <p:spPr>
          <a:xfrm>
            <a:off x="3529440" y="3246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9"/>
          <p:cNvSpPr/>
          <p:nvPr/>
        </p:nvSpPr>
        <p:spPr>
          <a:xfrm>
            <a:off x="4169520" y="3246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5449680" y="3246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31"/>
          <p:cNvSpPr/>
          <p:nvPr/>
        </p:nvSpPr>
        <p:spPr>
          <a:xfrm flipV="1">
            <a:off x="6665760" y="2185200"/>
            <a:ext cx="1554480" cy="13716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6665760" y="2322360"/>
            <a:ext cx="731520" cy="59436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3"/>
          <p:cNvSpPr/>
          <p:nvPr/>
        </p:nvSpPr>
        <p:spPr>
          <a:xfrm>
            <a:off x="6665760" y="2322360"/>
            <a:ext cx="45720" cy="109728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4"/>
          <p:cNvSpPr/>
          <p:nvPr/>
        </p:nvSpPr>
        <p:spPr>
          <a:xfrm flipH="1">
            <a:off x="7397280" y="2185200"/>
            <a:ext cx="822960" cy="7315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35"/>
          <p:cNvSpPr/>
          <p:nvPr/>
        </p:nvSpPr>
        <p:spPr>
          <a:xfrm>
            <a:off x="8220240" y="2185200"/>
            <a:ext cx="91440" cy="11887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36"/>
          <p:cNvSpPr/>
          <p:nvPr/>
        </p:nvSpPr>
        <p:spPr>
          <a:xfrm flipH="1">
            <a:off x="6711480" y="2916720"/>
            <a:ext cx="685800" cy="5029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7"/>
          <p:cNvSpPr/>
          <p:nvPr/>
        </p:nvSpPr>
        <p:spPr>
          <a:xfrm>
            <a:off x="7397280" y="2916720"/>
            <a:ext cx="914400" cy="45720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38"/>
          <p:cNvSpPr/>
          <p:nvPr/>
        </p:nvSpPr>
        <p:spPr>
          <a:xfrm flipV="1">
            <a:off x="6711480" y="3373920"/>
            <a:ext cx="1600200" cy="457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9"/>
          <p:cNvSpPr/>
          <p:nvPr/>
        </p:nvSpPr>
        <p:spPr>
          <a:xfrm>
            <a:off x="6537960" y="219456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0"/>
          <p:cNvSpPr/>
          <p:nvPr/>
        </p:nvSpPr>
        <p:spPr>
          <a:xfrm>
            <a:off x="8092440" y="205740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1"/>
          <p:cNvSpPr/>
          <p:nvPr/>
        </p:nvSpPr>
        <p:spPr>
          <a:xfrm>
            <a:off x="7269480" y="278892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42"/>
          <p:cNvSpPr/>
          <p:nvPr/>
        </p:nvSpPr>
        <p:spPr>
          <a:xfrm>
            <a:off x="6583680" y="329184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43"/>
          <p:cNvSpPr/>
          <p:nvPr/>
        </p:nvSpPr>
        <p:spPr>
          <a:xfrm>
            <a:off x="8183880" y="324612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4"/>
          <p:cNvSpPr/>
          <p:nvPr/>
        </p:nvSpPr>
        <p:spPr>
          <a:xfrm>
            <a:off x="457200" y="45262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Tonight is about the mesh.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INFORMATION THEORY FOR THIS CLASS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The Matrix is all signals at once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"/>
          <p:cNvSpPr/>
          <p:nvPr/>
        </p:nvSpPr>
        <p:spPr>
          <a:xfrm>
            <a:off x="457200" y="1143000"/>
            <a:ext cx="2651400" cy="324576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4"/>
          <p:cNvSpPr/>
          <p:nvPr/>
        </p:nvSpPr>
        <p:spPr>
          <a:xfrm>
            <a:off x="640080" y="1325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6FA8FF"/>
                </a:solidFill>
                <a:effectLst/>
                <a:uFillTx/>
                <a:latin typeface="Arial"/>
                <a:ea typeface="Arial"/>
              </a:rPr>
              <a:t>MATRIX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5"/>
          <p:cNvSpPr/>
          <p:nvPr/>
        </p:nvSpPr>
        <p:spPr>
          <a:xfrm>
            <a:off x="64008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raw possibility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6"/>
          <p:cNvSpPr/>
          <p:nvPr/>
        </p:nvSpPr>
        <p:spPr>
          <a:xfrm>
            <a:off x="640080" y="35204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every click, name, relationship, absence, change, and timestamp before modeling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7"/>
          <p:cNvSpPr/>
          <p:nvPr/>
        </p:nvSpPr>
        <p:spPr>
          <a:xfrm>
            <a:off x="3291840" y="1143000"/>
            <a:ext cx="2651400" cy="324576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8"/>
          <p:cNvSpPr/>
          <p:nvPr/>
        </p:nvSpPr>
        <p:spPr>
          <a:xfrm>
            <a:off x="3474720" y="1325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C66D"/>
                </a:solidFill>
                <a:effectLst/>
                <a:uFillTx/>
                <a:latin typeface="Arial"/>
                <a:ea typeface="Arial"/>
              </a:rPr>
              <a:t>QUESTIONS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9"/>
          <p:cNvSpPr/>
          <p:nvPr/>
        </p:nvSpPr>
        <p:spPr>
          <a:xfrm>
            <a:off x="347472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what must be true?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0"/>
          <p:cNvSpPr/>
          <p:nvPr/>
        </p:nvSpPr>
        <p:spPr>
          <a:xfrm>
            <a:off x="3474720" y="35204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choose the distinctions that matter: who, what, value, when, and asserted or retracted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1"/>
          <p:cNvSpPr/>
          <p:nvPr/>
        </p:nvSpPr>
        <p:spPr>
          <a:xfrm>
            <a:off x="6126480" y="1143000"/>
            <a:ext cx="2651400" cy="324576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2"/>
          <p:cNvSpPr/>
          <p:nvPr/>
        </p:nvSpPr>
        <p:spPr>
          <a:xfrm>
            <a:off x="6309360" y="13258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DATOMS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3"/>
          <p:cNvSpPr/>
          <p:nvPr/>
        </p:nvSpPr>
        <p:spPr>
          <a:xfrm>
            <a:off x="6309360" y="162756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atomic facts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4"/>
          <p:cNvSpPr/>
          <p:nvPr/>
        </p:nvSpPr>
        <p:spPr>
          <a:xfrm>
            <a:off x="6309360" y="3520440"/>
            <a:ext cx="22856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smallest granular unit we keep: one entity, one attribute, one value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5"/>
          <p:cNvSpPr/>
          <p:nvPr/>
        </p:nvSpPr>
        <p:spPr>
          <a:xfrm>
            <a:off x="77724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6"/>
          <p:cNvSpPr/>
          <p:nvPr/>
        </p:nvSpPr>
        <p:spPr>
          <a:xfrm>
            <a:off x="128016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7"/>
          <p:cNvSpPr/>
          <p:nvPr/>
        </p:nvSpPr>
        <p:spPr>
          <a:xfrm>
            <a:off x="178308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8"/>
          <p:cNvSpPr/>
          <p:nvPr/>
        </p:nvSpPr>
        <p:spPr>
          <a:xfrm>
            <a:off x="2286000" y="2514600"/>
            <a:ext cx="347040" cy="347040"/>
          </a:xfrm>
          <a:prstGeom prst="rect">
            <a:avLst/>
          </a:prstGeom>
          <a:solidFill>
            <a:srgbClr val="141B29"/>
          </a:solidFill>
          <a:ln w="1905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9"/>
          <p:cNvSpPr/>
          <p:nvPr/>
        </p:nvSpPr>
        <p:spPr>
          <a:xfrm>
            <a:off x="731520" y="3063240"/>
            <a:ext cx="2103120" cy="360"/>
          </a:xfrm>
          <a:prstGeom prst="line">
            <a:avLst/>
          </a:prstGeom>
          <a:ln w="254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0"/>
          <p:cNvSpPr/>
          <p:nvPr/>
        </p:nvSpPr>
        <p:spPr>
          <a:xfrm flipH="1">
            <a:off x="3977640" y="2331720"/>
            <a:ext cx="640080" cy="50292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1"/>
          <p:cNvSpPr/>
          <p:nvPr/>
        </p:nvSpPr>
        <p:spPr>
          <a:xfrm>
            <a:off x="4617720" y="2331720"/>
            <a:ext cx="640080" cy="50292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2"/>
          <p:cNvSpPr/>
          <p:nvPr/>
        </p:nvSpPr>
        <p:spPr>
          <a:xfrm flipH="1">
            <a:off x="3657600" y="2834640"/>
            <a:ext cx="320040" cy="45720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3"/>
          <p:cNvSpPr/>
          <p:nvPr/>
        </p:nvSpPr>
        <p:spPr>
          <a:xfrm>
            <a:off x="3977640" y="2834640"/>
            <a:ext cx="320040" cy="45720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4"/>
          <p:cNvSpPr/>
          <p:nvPr/>
        </p:nvSpPr>
        <p:spPr>
          <a:xfrm>
            <a:off x="5257800" y="2834640"/>
            <a:ext cx="320040" cy="457200"/>
          </a:xfrm>
          <a:prstGeom prst="line">
            <a:avLst/>
          </a:prstGeom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5"/>
          <p:cNvSpPr/>
          <p:nvPr/>
        </p:nvSpPr>
        <p:spPr>
          <a:xfrm>
            <a:off x="4489560" y="2103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6"/>
          <p:cNvSpPr/>
          <p:nvPr/>
        </p:nvSpPr>
        <p:spPr>
          <a:xfrm>
            <a:off x="3849480" y="269748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7"/>
          <p:cNvSpPr/>
          <p:nvPr/>
        </p:nvSpPr>
        <p:spPr>
          <a:xfrm>
            <a:off x="5129640" y="269748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8"/>
          <p:cNvSpPr/>
          <p:nvPr/>
        </p:nvSpPr>
        <p:spPr>
          <a:xfrm>
            <a:off x="3529440" y="3246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9"/>
          <p:cNvSpPr/>
          <p:nvPr/>
        </p:nvSpPr>
        <p:spPr>
          <a:xfrm>
            <a:off x="4169520" y="3246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0"/>
          <p:cNvSpPr/>
          <p:nvPr/>
        </p:nvSpPr>
        <p:spPr>
          <a:xfrm>
            <a:off x="5449680" y="3246120"/>
            <a:ext cx="255600" cy="255600"/>
          </a:xfrm>
          <a:prstGeom prst="ellipse">
            <a:avLst/>
          </a:prstGeom>
          <a:solidFill>
            <a:srgbClr val="141B29"/>
          </a:solidFill>
          <a:ln w="1905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1"/>
          <p:cNvSpPr/>
          <p:nvPr/>
        </p:nvSpPr>
        <p:spPr>
          <a:xfrm flipV="1">
            <a:off x="6665760" y="2185200"/>
            <a:ext cx="1554480" cy="13716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2"/>
          <p:cNvSpPr/>
          <p:nvPr/>
        </p:nvSpPr>
        <p:spPr>
          <a:xfrm>
            <a:off x="6665760" y="2322360"/>
            <a:ext cx="731520" cy="59436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33"/>
          <p:cNvSpPr/>
          <p:nvPr/>
        </p:nvSpPr>
        <p:spPr>
          <a:xfrm>
            <a:off x="6665760" y="2322360"/>
            <a:ext cx="45720" cy="109728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34"/>
          <p:cNvSpPr/>
          <p:nvPr/>
        </p:nvSpPr>
        <p:spPr>
          <a:xfrm flipH="1">
            <a:off x="7397280" y="2185200"/>
            <a:ext cx="822960" cy="7315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5"/>
          <p:cNvSpPr/>
          <p:nvPr/>
        </p:nvSpPr>
        <p:spPr>
          <a:xfrm>
            <a:off x="8220240" y="2185200"/>
            <a:ext cx="91440" cy="11887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6"/>
          <p:cNvSpPr/>
          <p:nvPr/>
        </p:nvSpPr>
        <p:spPr>
          <a:xfrm flipH="1">
            <a:off x="6711480" y="2916720"/>
            <a:ext cx="685800" cy="5029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7"/>
          <p:cNvSpPr/>
          <p:nvPr/>
        </p:nvSpPr>
        <p:spPr>
          <a:xfrm>
            <a:off x="7397280" y="2916720"/>
            <a:ext cx="914400" cy="45720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8"/>
          <p:cNvSpPr/>
          <p:nvPr/>
        </p:nvSpPr>
        <p:spPr>
          <a:xfrm flipV="1">
            <a:off x="6711480" y="3373920"/>
            <a:ext cx="1600200" cy="45720"/>
          </a:xfrm>
          <a:prstGeom prst="line">
            <a:avLst/>
          </a:prstGeom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39"/>
          <p:cNvSpPr/>
          <p:nvPr/>
        </p:nvSpPr>
        <p:spPr>
          <a:xfrm>
            <a:off x="6537960" y="219456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40"/>
          <p:cNvSpPr/>
          <p:nvPr/>
        </p:nvSpPr>
        <p:spPr>
          <a:xfrm>
            <a:off x="8092440" y="205740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41"/>
          <p:cNvSpPr/>
          <p:nvPr/>
        </p:nvSpPr>
        <p:spPr>
          <a:xfrm>
            <a:off x="7269480" y="278892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2"/>
          <p:cNvSpPr/>
          <p:nvPr/>
        </p:nvSpPr>
        <p:spPr>
          <a:xfrm>
            <a:off x="6583680" y="329184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3"/>
          <p:cNvSpPr/>
          <p:nvPr/>
        </p:nvSpPr>
        <p:spPr>
          <a:xfrm>
            <a:off x="8183880" y="3246120"/>
            <a:ext cx="255600" cy="255600"/>
          </a:xfrm>
          <a:prstGeom prst="ellipse">
            <a:avLst/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4"/>
          <p:cNvSpPr/>
          <p:nvPr/>
        </p:nvSpPr>
        <p:spPr>
          <a:xfrm>
            <a:off x="457200" y="45262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Modeling is distillation: from continuous information to durable facts.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DISTILLATION MOVE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Turn the Matrix into datoms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457200" y="1097280"/>
            <a:ext cx="4023000" cy="3565800"/>
          </a:xfrm>
          <a:prstGeom prst="roundRect">
            <a:avLst>
              <a:gd name="adj" fmla="val 2051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685800" y="12618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8FAD"/>
                </a:solidFill>
                <a:effectLst/>
                <a:uFillTx/>
                <a:latin typeface="Arial"/>
                <a:ea typeface="Arial"/>
              </a:rPr>
              <a:t>The Matrix view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713160" y="1645920"/>
            <a:ext cx="3611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everything is connected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meaning depends on relationships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change is part of the fact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absence can be meaningful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raw data is not yet a model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4663440" y="1097280"/>
            <a:ext cx="4023000" cy="3565800"/>
          </a:xfrm>
          <a:prstGeom prst="roundRect">
            <a:avLst>
              <a:gd name="adj" fmla="val 2051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4892040" y="12618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The datom cut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4919400" y="166428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 datom records one indivisible proposition: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4983480" y="2377440"/>
            <a:ext cx="1051200" cy="411120"/>
          </a:xfrm>
          <a:prstGeom prst="roundRect">
            <a:avLst>
              <a:gd name="adj" fmla="val 11111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4983480" y="28256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entity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6126480" y="2377440"/>
            <a:ext cx="1051200" cy="411120"/>
          </a:xfrm>
          <a:prstGeom prst="roundRect">
            <a:avLst>
              <a:gd name="adj" fmla="val 11111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6126480" y="28256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7269480" y="2377440"/>
            <a:ext cx="1051200" cy="411120"/>
          </a:xfrm>
          <a:prstGeom prst="roundRect">
            <a:avLst>
              <a:gd name="adj" fmla="val 11111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7269480" y="28256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4919400" y="32461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+ Tx and Op say when it became true or stopped being true.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4919400" y="39776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Small granular unit: data, made atomic.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WHY DOMAINS ARE MESHES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You are Spotify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3"/>
          <p:cNvSpPr/>
          <p:nvPr/>
        </p:nvSpPr>
        <p:spPr>
          <a:xfrm>
            <a:off x="2240280" y="1810440"/>
            <a:ext cx="2377440" cy="1828800"/>
          </a:xfrm>
          <a:prstGeom prst="line">
            <a:avLst/>
          </a:prstGeom>
          <a:ln w="19050">
            <a:solidFill>
              <a:srgbClr val="7C8A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1828800" y="25146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album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5"/>
          <p:cNvSpPr/>
          <p:nvPr/>
        </p:nvSpPr>
        <p:spPr>
          <a:xfrm flipH="1">
            <a:off x="4617720" y="1810440"/>
            <a:ext cx="2377440" cy="1828800"/>
          </a:xfrm>
          <a:prstGeom prst="line">
            <a:avLst/>
          </a:prstGeom>
          <a:ln w="19050">
            <a:solidFill>
              <a:srgbClr val="7C8A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5394960" y="251460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playlist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7"/>
          <p:cNvSpPr/>
          <p:nvPr/>
        </p:nvSpPr>
        <p:spPr>
          <a:xfrm>
            <a:off x="2240280" y="1810440"/>
            <a:ext cx="4754880" cy="360"/>
          </a:xfrm>
          <a:prstGeom prst="line">
            <a:avLst/>
          </a:prstGeom>
          <a:ln w="19050">
            <a:solidFill>
              <a:srgbClr val="7C8AA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8"/>
          <p:cNvSpPr/>
          <p:nvPr/>
        </p:nvSpPr>
        <p:spPr>
          <a:xfrm>
            <a:off x="3703320" y="141732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follows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9"/>
          <p:cNvSpPr/>
          <p:nvPr/>
        </p:nvSpPr>
        <p:spPr>
          <a:xfrm>
            <a:off x="1554480" y="1463040"/>
            <a:ext cx="1371240" cy="68544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0"/>
          <p:cNvSpPr/>
          <p:nvPr/>
        </p:nvSpPr>
        <p:spPr>
          <a:xfrm>
            <a:off x="1554480" y="146304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C66D"/>
                </a:solidFill>
                <a:effectLst/>
                <a:uFillTx/>
                <a:latin typeface="Arial"/>
                <a:ea typeface="Arial"/>
              </a:rPr>
              <a:t>artist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1"/>
          <p:cNvSpPr/>
          <p:nvPr/>
        </p:nvSpPr>
        <p:spPr>
          <a:xfrm>
            <a:off x="3931920" y="3291840"/>
            <a:ext cx="1371240" cy="68544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2"/>
          <p:cNvSpPr/>
          <p:nvPr/>
        </p:nvSpPr>
        <p:spPr>
          <a:xfrm>
            <a:off x="3931920" y="329184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6FA8FF"/>
                </a:solidFill>
                <a:effectLst/>
                <a:uFillTx/>
                <a:latin typeface="Arial"/>
                <a:ea typeface="Arial"/>
              </a:rPr>
              <a:t>song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3"/>
          <p:cNvSpPr/>
          <p:nvPr/>
        </p:nvSpPr>
        <p:spPr>
          <a:xfrm>
            <a:off x="6309360" y="1463040"/>
            <a:ext cx="1371240" cy="685440"/>
          </a:xfrm>
          <a:prstGeom prst="ellipse">
            <a:avLst/>
          </a:prstGeom>
          <a:solidFill>
            <a:srgbClr val="18202F"/>
          </a:solidFill>
          <a:ln w="254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4"/>
          <p:cNvSpPr/>
          <p:nvPr/>
        </p:nvSpPr>
        <p:spPr>
          <a:xfrm>
            <a:off x="6309360" y="1463040"/>
            <a:ext cx="1371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listener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5"/>
          <p:cNvSpPr/>
          <p:nvPr/>
        </p:nvSpPr>
        <p:spPr>
          <a:xfrm>
            <a:off x="640080" y="4160520"/>
            <a:ext cx="80463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album = artist ↔ songs, plus metadata (title, release date)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playlist = listener ↔ songs; subscription = listener ↔ playlist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Every feature you will ever ship = a new relationship between things that already exist.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PROBLEM, THEN THE BET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Rectangles fight the mesh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3"/>
          <p:cNvSpPr/>
          <p:nvPr/>
        </p:nvSpPr>
        <p:spPr>
          <a:xfrm>
            <a:off x="457200" y="1097280"/>
            <a:ext cx="4023000" cy="3565800"/>
          </a:xfrm>
          <a:prstGeom prst="roundRect">
            <a:avLst>
              <a:gd name="adj" fmla="val 2051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4"/>
          <p:cNvSpPr/>
          <p:nvPr/>
        </p:nvSpPr>
        <p:spPr>
          <a:xfrm>
            <a:off x="685800" y="12618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28FAD"/>
                </a:solidFill>
                <a:effectLst/>
                <a:uFillTx/>
                <a:latin typeface="Arial"/>
                <a:ea typeface="Arial"/>
              </a:rPr>
              <a:t>Life in rectangles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5"/>
          <p:cNvSpPr/>
          <p:nvPr/>
        </p:nvSpPr>
        <p:spPr>
          <a:xfrm>
            <a:off x="713160" y="1645920"/>
            <a:ext cx="3611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every feature → another join table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optional data → NULL-riddled columns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user-OR-org owner → polymorphic FK hacks + a type column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ORM papers over it with if-soup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eventually: “move it to NoSQL / Elasticsearch” = giving up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6"/>
          <p:cNvSpPr/>
          <p:nvPr/>
        </p:nvSpPr>
        <p:spPr>
          <a:xfrm>
            <a:off x="4663440" y="1097280"/>
            <a:ext cx="4023000" cy="3565800"/>
          </a:xfrm>
          <a:prstGeom prst="roundRect">
            <a:avLst>
              <a:gd name="adj" fmla="val 2051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7"/>
          <p:cNvSpPr/>
          <p:nvPr/>
        </p:nvSpPr>
        <p:spPr>
          <a:xfrm>
            <a:off x="4892040" y="12618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The Datalog bet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8"/>
          <p:cNvSpPr/>
          <p:nvPr/>
        </p:nvSpPr>
        <p:spPr>
          <a:xfrm>
            <a:off x="4919400" y="1664280"/>
            <a:ext cx="3520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No matter how complicated the domain, this is enough to describe it: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9"/>
          <p:cNvSpPr/>
          <p:nvPr/>
        </p:nvSpPr>
        <p:spPr>
          <a:xfrm>
            <a:off x="4983480" y="2377440"/>
            <a:ext cx="1051200" cy="411120"/>
          </a:xfrm>
          <a:prstGeom prst="roundRect">
            <a:avLst>
              <a:gd name="adj" fmla="val 11111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0"/>
          <p:cNvSpPr/>
          <p:nvPr/>
        </p:nvSpPr>
        <p:spPr>
          <a:xfrm>
            <a:off x="4983480" y="28256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entity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1"/>
          <p:cNvSpPr/>
          <p:nvPr/>
        </p:nvSpPr>
        <p:spPr>
          <a:xfrm>
            <a:off x="6126480" y="2377440"/>
            <a:ext cx="1051200" cy="411120"/>
          </a:xfrm>
          <a:prstGeom prst="roundRect">
            <a:avLst>
              <a:gd name="adj" fmla="val 11111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2"/>
          <p:cNvSpPr/>
          <p:nvPr/>
        </p:nvSpPr>
        <p:spPr>
          <a:xfrm>
            <a:off x="6126480" y="28256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3"/>
          <p:cNvSpPr/>
          <p:nvPr/>
        </p:nvSpPr>
        <p:spPr>
          <a:xfrm>
            <a:off x="7269480" y="2377440"/>
            <a:ext cx="1051200" cy="411120"/>
          </a:xfrm>
          <a:prstGeom prst="roundRect">
            <a:avLst>
              <a:gd name="adj" fmla="val 11111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4"/>
          <p:cNvSpPr/>
          <p:nvPr/>
        </p:nvSpPr>
        <p:spPr>
          <a:xfrm>
            <a:off x="7269480" y="2825640"/>
            <a:ext cx="105120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5"/>
          <p:cNvSpPr/>
          <p:nvPr/>
        </p:nvSpPr>
        <p:spPr>
          <a:xfrm>
            <a:off x="4919400" y="32461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+ time and assert/retract when we get to change (§4)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6"/>
          <p:cNvSpPr/>
          <p:nvPr/>
        </p:nvSpPr>
        <p:spPr>
          <a:xfrm>
            <a:off x="4919400" y="397764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next two hours are the proof.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640080" y="1051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The datom — the smallest fact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640080" y="288036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 database in one expression; three users; the raw 5-tuples that ARE the database.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4"/>
          <p:cNvSpPr/>
          <p:nvPr/>
        </p:nvSpPr>
        <p:spPr>
          <a:xfrm>
            <a:off x="640080" y="4069080"/>
            <a:ext cx="114264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~20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5"/>
          <p:cNvSpPr/>
          <p:nvPr/>
        </p:nvSpPr>
        <p:spPr>
          <a:xfrm>
            <a:off x="1920240" y="406908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REPL §0–§1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6"/>
          <p:cNvSpPr/>
          <p:nvPr/>
        </p:nvSpPr>
        <p:spPr>
          <a:xfrm>
            <a:off x="603504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7"/>
          <p:cNvSpPr/>
          <p:nvPr/>
        </p:nvSpPr>
        <p:spPr>
          <a:xfrm>
            <a:off x="658368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8"/>
          <p:cNvSpPr/>
          <p:nvPr/>
        </p:nvSpPr>
        <p:spPr>
          <a:xfrm>
            <a:off x="713232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9"/>
          <p:cNvSpPr/>
          <p:nvPr/>
        </p:nvSpPr>
        <p:spPr>
          <a:xfrm>
            <a:off x="768096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0"/>
          <p:cNvSpPr/>
          <p:nvPr/>
        </p:nvSpPr>
        <p:spPr>
          <a:xfrm>
            <a:off x="822960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UNIT OF EVERYTHING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 datom is a five-tuple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640080" y="1554480"/>
            <a:ext cx="1919880" cy="566640"/>
          </a:xfrm>
          <a:prstGeom prst="roundRect">
            <a:avLst>
              <a:gd name="adj" fmla="val 8065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17592186045419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640080" y="215784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entity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2651760" y="1554480"/>
            <a:ext cx="1462680" cy="566640"/>
          </a:xfrm>
          <a:prstGeom prst="roundRect">
            <a:avLst>
              <a:gd name="adj" fmla="val 8065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7"/>
          <p:cNvSpPr/>
          <p:nvPr/>
        </p:nvSpPr>
        <p:spPr>
          <a:xfrm>
            <a:off x="2651760" y="2157840"/>
            <a:ext cx="14626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4206240" y="1554480"/>
            <a:ext cx="1234080" cy="566640"/>
          </a:xfrm>
          <a:prstGeom prst="roundRect">
            <a:avLst>
              <a:gd name="adj" fmla="val 8065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9"/>
          <p:cNvSpPr/>
          <p:nvPr/>
        </p:nvSpPr>
        <p:spPr>
          <a:xfrm>
            <a:off x="4206240" y="2157840"/>
            <a:ext cx="1234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0"/>
          <p:cNvSpPr/>
          <p:nvPr/>
        </p:nvSpPr>
        <p:spPr>
          <a:xfrm>
            <a:off x="5532120" y="1554480"/>
            <a:ext cx="1919880" cy="566640"/>
          </a:xfrm>
          <a:prstGeom prst="roundRect">
            <a:avLst>
              <a:gd name="adj" fmla="val 8065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13194139534313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1"/>
          <p:cNvSpPr/>
          <p:nvPr/>
        </p:nvSpPr>
        <p:spPr>
          <a:xfrm>
            <a:off x="5532120" y="2157840"/>
            <a:ext cx="1919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transaction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2"/>
          <p:cNvSpPr/>
          <p:nvPr/>
        </p:nvSpPr>
        <p:spPr>
          <a:xfrm>
            <a:off x="7543800" y="1554480"/>
            <a:ext cx="776880" cy="566640"/>
          </a:xfrm>
          <a:prstGeom prst="roundRect">
            <a:avLst>
              <a:gd name="adj" fmla="val 8065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true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3"/>
          <p:cNvSpPr/>
          <p:nvPr/>
        </p:nvSpPr>
        <p:spPr>
          <a:xfrm>
            <a:off x="7543800" y="2157840"/>
            <a:ext cx="7768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added?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4"/>
          <p:cNvSpPr/>
          <p:nvPr/>
        </p:nvSpPr>
        <p:spPr>
          <a:xfrm>
            <a:off x="640080" y="26060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who · what · how · when · assert-or-retract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5"/>
          <p:cNvSpPr/>
          <p:nvPr/>
        </p:nvSpPr>
        <p:spPr>
          <a:xfrm>
            <a:off x="640080" y="3200400"/>
            <a:ext cx="78634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That is the entire physical model. Rows, documents, graphs, key-value pairs, event logs — every “shape” tonight is an arrangement of these.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An entity is nothing more than all datoms sharing an E. There is no user record anywhere.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8FA0B8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We start with the E-A-V core; Tx and Op join the party in part 4.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 database in one expression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4"/>
          <p:cNvSpPr/>
          <p:nvPr/>
        </p:nvSpPr>
        <p:spPr>
          <a:xfrm>
            <a:off x="457200" y="1097280"/>
            <a:ext cx="5211720" cy="3565800"/>
          </a:xfrm>
          <a:prstGeom prst="roundRect">
            <a:avLst>
              <a:gd name="adj" fmla="val 179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5"/>
          <p:cNvSpPr/>
          <p:nvPr/>
        </p:nvSpPr>
        <p:spPr>
          <a:xfrm>
            <a:off x="585360" y="1188720"/>
            <a:ext cx="49557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def uri </a:t>
            </a:r>
            <a:r>
              <a:rPr lang="en-US" sz="12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"datomic:mem://github"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defonce conn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do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d/create-database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uri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d/connect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uri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defn db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[]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d/db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the CURRENT db VALUE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seq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d/datoms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:eavt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266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Datomic's own schema, as datoms.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Turtles all the way down.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6"/>
          <p:cNvSpPr/>
          <p:nvPr/>
        </p:nvSpPr>
        <p:spPr>
          <a:xfrm>
            <a:off x="5897880" y="1234440"/>
            <a:ext cx="27885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com.datomic/peer on Maven Central, Apache-2.0. No account, no transactor process.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datomic:mem:// runs everything in-process with the full feature set: history, log, fulltext, speculative dbs.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(db) returns a value — a pointer into a persistent structure. Queries never see later writes.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§1.1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Attributes first: a little schema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§1.1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4"/>
          <p:cNvSpPr/>
          <p:nvPr/>
        </p:nvSpPr>
        <p:spPr>
          <a:xfrm>
            <a:off x="457200" y="1097280"/>
            <a:ext cx="5577480" cy="3565800"/>
          </a:xfrm>
          <a:prstGeom prst="roundRect">
            <a:avLst>
              <a:gd name="adj" fmla="val 179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5"/>
          <p:cNvSpPr/>
          <p:nvPr/>
        </p:nvSpPr>
        <p:spPr>
          <a:xfrm>
            <a:off x="585360" y="1188720"/>
            <a:ext cx="532152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def user-schema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:db/valueType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:db.type/string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:db/cardinality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:db.cardinality/one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:db/unique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:db.unique/identity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upsert + lookup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:db/valueType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:db.type/string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:db/cardinality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:db.cardinality/one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:db/unique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:db.unique/value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no sharing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 user-schema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6"/>
          <p:cNvSpPr/>
          <p:nvPr/>
        </p:nvSpPr>
        <p:spPr>
          <a:xfrm>
            <a:off x="6263640" y="1234440"/>
            <a:ext cx="242280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Schema is transacted like any other data — because it IS data (part 3).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:db.unique/identity ⇒ this attribute is an external key: upserts + lookup refs.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001"/>
              </a:spcAft>
              <a:buClr>
                <a:srgbClr val="8FA0B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:db.unique/value ⇒ uniqueness constraint only.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§1.2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First facts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§1.2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4"/>
          <p:cNvSpPr/>
          <p:nvPr/>
        </p:nvSpPr>
        <p:spPr>
          <a:xfrm>
            <a:off x="457200" y="1097280"/>
            <a:ext cx="8229240" cy="2285640"/>
          </a:xfrm>
          <a:prstGeom prst="roundRect">
            <a:avLst>
              <a:gd name="adj" fmla="val 280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5"/>
          <p:cNvSpPr/>
          <p:nvPr/>
        </p:nvSpPr>
        <p:spPr>
          <a:xfrm>
            <a:off x="585360" y="1188720"/>
            <a:ext cx="79732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3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3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"richhickey"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3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3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"pithyless"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map syntax is sugar — what actually hit the log is list form: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[:db/add &lt;new-eid&gt; :user/name "richhickey"]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640080" y="365760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One datom per attribute. Three maps → three entities → three datoms.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cast, straight from the talk: Rich Hickey, Nikita “tonsky” Prokopov, and pithyless — who is the speaker himself.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§1.3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Look at the raw datoms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§1.3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4"/>
          <p:cNvSpPr/>
          <p:nvPr/>
        </p:nvSpPr>
        <p:spPr>
          <a:xfrm>
            <a:off x="457200" y="1097280"/>
            <a:ext cx="8229240" cy="2468520"/>
          </a:xfrm>
          <a:prstGeom prst="roundRect">
            <a:avLst>
              <a:gd name="adj" fmla="val 2593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5"/>
          <p:cNvSpPr/>
          <p:nvPr/>
        </p:nvSpPr>
        <p:spPr>
          <a:xfrm>
            <a:off x="585360" y="1188720"/>
            <a:ext cx="79732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d/datoms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:avet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map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#(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datom-&gt;vec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%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([17592186045420 :user/name "pithyless"  13194139534313 true]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[17592186045418 :user/name "richhickey" 13194139534313 true]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[17592186045419 :user/name "tonsky"     13194139534313 true])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6"/>
          <p:cNvSpPr/>
          <p:nvPr/>
        </p:nvSpPr>
        <p:spPr>
          <a:xfrm>
            <a:off x="640080" y="379476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Five positions, as promised. Same Tx on all three — one transaction. :added true — assertions.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This flat, sorted bag of tuples is the entire database. Everything else tonight is a view.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§1.4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Lookup refs: identity that travels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§1.4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457200" y="1097280"/>
            <a:ext cx="8229240" cy="2331360"/>
          </a:xfrm>
          <a:prstGeom prst="roundRect">
            <a:avLst>
              <a:gd name="adj" fmla="val 274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5"/>
          <p:cNvSpPr/>
          <p:nvPr/>
        </p:nvSpPr>
        <p:spPr>
          <a:xfrm>
            <a:off x="585360" y="1188720"/>
            <a:ext cx="797328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d/entid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3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17592186045419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d/entity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3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lazy entity map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d/touch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d/entity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3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3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{:db/id 17592186045419, :user/name "tonsky"}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6"/>
          <p:cNvSpPr/>
          <p:nvPr/>
        </p:nvSpPr>
        <p:spPr>
          <a:xfrm>
            <a:off x="640080" y="365760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 two-element vector [unique-attr value] is an ADDRESS — usable anywhere an eid is expected: transactions, queries, pulls, ref values.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This is your primary key, and it travels with the meaning, not the storage.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1"/>
          <p:cNvSpPr/>
          <p:nvPr/>
        </p:nvSpPr>
        <p:spPr>
          <a:xfrm>
            <a:off x="640080" y="1051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2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Query — pattern matching all the way down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"/>
          <p:cNvSpPr/>
          <p:nvPr/>
        </p:nvSpPr>
        <p:spPr>
          <a:xfrm>
            <a:off x="640080" y="288036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Holes in datoms, unification joins, refs and polymorphism, recursion-ready rules, aggregation.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"/>
          <p:cNvSpPr/>
          <p:nvPr/>
        </p:nvSpPr>
        <p:spPr>
          <a:xfrm>
            <a:off x="640080" y="4069080"/>
            <a:ext cx="114264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~25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5"/>
          <p:cNvSpPr/>
          <p:nvPr/>
        </p:nvSpPr>
        <p:spPr>
          <a:xfrm>
            <a:off x="1920240" y="406908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REPL §2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6"/>
          <p:cNvSpPr/>
          <p:nvPr/>
        </p:nvSpPr>
        <p:spPr>
          <a:xfrm>
            <a:off x="603504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7"/>
          <p:cNvSpPr/>
          <p:nvPr/>
        </p:nvSpPr>
        <p:spPr>
          <a:xfrm>
            <a:off x="658368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713232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9"/>
          <p:cNvSpPr/>
          <p:nvPr/>
        </p:nvSpPr>
        <p:spPr>
          <a:xfrm>
            <a:off x="768096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0"/>
          <p:cNvSpPr/>
          <p:nvPr/>
        </p:nvSpPr>
        <p:spPr>
          <a:xfrm>
            <a:off x="822960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 where-clause is a datom with holes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4"/>
          <p:cNvSpPr/>
          <p:nvPr/>
        </p:nvSpPr>
        <p:spPr>
          <a:xfrm>
            <a:off x="457200" y="1097280"/>
            <a:ext cx="8229240" cy="1782720"/>
          </a:xfrm>
          <a:prstGeom prst="roundRect">
            <a:avLst>
              <a:gd name="adj" fmla="val 359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5"/>
          <p:cNvSpPr/>
          <p:nvPr/>
        </p:nvSpPr>
        <p:spPr>
          <a:xfrm>
            <a:off x="585360" y="1188720"/>
            <a:ext cx="79732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3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3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?x → variable: bind it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3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       </a:t>
            </a:r>
            <a:r>
              <a:rPr lang="en-US" sz="13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_  → wildcard: don't care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3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3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?a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13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?v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3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3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all vars → full scan (legal, dumb)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6"/>
          <p:cNvSpPr/>
          <p:nvPr/>
        </p:nvSpPr>
        <p:spPr>
          <a:xfrm>
            <a:off x="640080" y="3154680"/>
            <a:ext cx="80463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9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engine finds every datom the pattern matches. That's the whole DSL.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9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Multiple clauses UNIFY: reuse a variable name and its values must agree everywhere.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9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That is a join. You never write JOIN again.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Four result shapes (and a trap)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4"/>
          <p:cNvSpPr/>
          <p:nvPr/>
        </p:nvSpPr>
        <p:spPr>
          <a:xfrm>
            <a:off x="457200" y="1097280"/>
            <a:ext cx="8229240" cy="3245760"/>
          </a:xfrm>
          <a:prstGeom prst="roundRect">
            <a:avLst>
              <a:gd name="adj" fmla="val 197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5"/>
          <p:cNvSpPr/>
          <p:nvPr/>
        </p:nvSpPr>
        <p:spPr>
          <a:xfrm>
            <a:off x="585360" y="1188720"/>
            <a:ext cx="79732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_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#{["pithyless"] ["richhickey"] ["tonsky"]}    relation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_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["pithyless" "richhickey" "tonsky"]           collection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_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"pithyless"                          scalar — but WHICH one?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    single tuple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nil    nobody has an email yet — no nulls, just no facts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6"/>
          <p:cNvSpPr/>
          <p:nvPr/>
        </p:nvSpPr>
        <p:spPr>
          <a:xfrm>
            <a:off x="640080" y="45262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C66D"/>
                </a:solidFill>
                <a:effectLst/>
                <a:uFillTx/>
                <a:latin typeface="Calibri"/>
                <a:ea typeface="Calibri"/>
              </a:rPr>
              <a:t>Results are SETS. No order. Want order? (sort (d/q …)) — in Clojure, after.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§2.2–2.3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Flip what you know; joins for free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4"/>
          <p:cNvSpPr/>
          <p:nvPr/>
        </p:nvSpPr>
        <p:spPr>
          <a:xfrm>
            <a:off x="457200" y="1097280"/>
            <a:ext cx="8229240" cy="3565800"/>
          </a:xfrm>
          <a:prstGeom prst="roundRect">
            <a:avLst>
              <a:gd name="adj" fmla="val 179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5"/>
          <p:cNvSpPr/>
          <p:nvPr/>
        </p:nvSpPr>
        <p:spPr>
          <a:xfrm>
            <a:off x="585360" y="1188720"/>
            <a:ext cx="797328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"richhickey"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"rich@example.com"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"tonsky@example.com"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bind ?e ...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... reuse ?e ⇒ JOIN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"tonsky@example.com"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"rich@example.com"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"richhickey"              flipped — declarative has no direction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§2.4–2.5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Parameterize; call the host mid-query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"/>
          <p:cNvSpPr/>
          <p:nvPr/>
        </p:nvSpPr>
        <p:spPr>
          <a:xfrm>
            <a:off x="457200" y="1097280"/>
            <a:ext cx="8229240" cy="3017160"/>
          </a:xfrm>
          <a:prstGeom prst="roundRect">
            <a:avLst>
              <a:gd name="adj" fmla="val 2121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5"/>
          <p:cNvSpPr/>
          <p:nvPr/>
        </p:nvSpPr>
        <p:spPr>
          <a:xfrm>
            <a:off x="585360" y="1188720"/>
            <a:ext cx="7973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</a:t>
            </a: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collection binding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"pithyless"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"richhickey"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["richhickey" "tonsky"]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clojure.string/starts-with?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["tonsky"]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6"/>
          <p:cNvSpPr/>
          <p:nvPr/>
        </p:nvSpPr>
        <p:spPr>
          <a:xfrm>
            <a:off x="640080" y="425196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parentheses clause is the escape hatch to the host platform: any pure fn or method — (.startsWith ?name "t"), (&lt; ?stars 100) …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Same syntax brokers to the JVM under Datomic and to JS under DataScript. Lucene fulltext rides this door too (part 6).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Absence is information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4"/>
          <p:cNvSpPr/>
          <p:nvPr/>
        </p:nvSpPr>
        <p:spPr>
          <a:xfrm>
            <a:off x="457200" y="1097280"/>
            <a:ext cx="8229240" cy="3062880"/>
          </a:xfrm>
          <a:prstGeom prst="roundRect">
            <a:avLst>
              <a:gd name="adj" fmla="val 209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5"/>
          <p:cNvSpPr/>
          <p:nvPr/>
        </p:nvSpPr>
        <p:spPr>
          <a:xfrm>
            <a:off x="585360" y="1188720"/>
            <a:ext cx="7973280" cy="28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missing? $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["pithyless"]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get-else $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"—"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#{["pithyless" "—"] ["richhickey" "rich@example.com"]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 ["tonsky" "tonsky@example.com"]}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6"/>
          <p:cNvSpPr/>
          <p:nvPr/>
        </p:nvSpPr>
        <p:spPr>
          <a:xfrm>
            <a:off x="640080" y="429768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No nulls: the fact simply isn't there, and NOT having it costs zero bytes and means something.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missing? queries the absence; get-else is your COALESCE / LEFT JOIN default.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§2.7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Refs: the owner interview question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"/>
          <p:cNvSpPr/>
          <p:nvPr/>
        </p:nvSpPr>
        <p:spPr>
          <a:xfrm>
            <a:off x="457200" y="1097280"/>
            <a:ext cx="3291480" cy="3565800"/>
          </a:xfrm>
          <a:prstGeom prst="roundRect">
            <a:avLst>
              <a:gd name="adj" fmla="val 222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685800" y="128016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Repos are owned by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users OR orgs.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Model it in SQL.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713160" y="2331720"/>
            <a:ext cx="2834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nullable owner_user_id + owner_org_id?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 join table per owner type?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polymorphic FK + type column?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99"/>
              </a:spcAft>
              <a:buClr>
                <a:srgbClr val="F28FAD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F28FAD"/>
                </a:solidFill>
                <a:effectLst/>
                <a:uFillTx/>
                <a:latin typeface="Calibri"/>
                <a:ea typeface="Calibri"/>
              </a:rPr>
              <a:t>all of them hurt.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3931920" y="1097280"/>
            <a:ext cx="4754520" cy="3565800"/>
          </a:xfrm>
          <a:prstGeom prst="roundRect">
            <a:avLst>
              <a:gd name="adj" fmla="val 179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4060080" y="1188720"/>
            <a:ext cx="449856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:db/valueType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:db.type/ref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← ANY entity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:db/cardinality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:db.cardinality/one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seed (owners pre-exist) — one attr, two kinds of value: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"clj"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"clojure"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:org/name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"clojure"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an org…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"ds"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"datascript"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…or a user.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              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same attribute.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Polymorphism happens at read time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4"/>
          <p:cNvSpPr/>
          <p:nvPr/>
        </p:nvSpPr>
        <p:spPr>
          <a:xfrm>
            <a:off x="457200" y="1097280"/>
            <a:ext cx="8229240" cy="3154320"/>
          </a:xfrm>
          <a:prstGeom prst="roundRect">
            <a:avLst>
              <a:gd name="adj" fmla="val 202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5"/>
          <p:cNvSpPr/>
          <p:nvPr/>
        </p:nvSpPr>
        <p:spPr>
          <a:xfrm>
            <a:off x="585360" y="1188720"/>
            <a:ext cx="79732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def rules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'[[(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owner-name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owner-name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:org/name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?owner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%                          </a:t>
            </a: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% = the rules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owner-name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?owner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rules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#{["clojure" "clojure"]      ["tonsky"    "datascript"]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 ["pithyless" "datascript"] ["victor"    "datascript"]}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6"/>
          <p:cNvSpPr/>
          <p:nvPr/>
        </p:nvSpPr>
        <p:spPr>
          <a:xfrm>
            <a:off x="640080" y="4343400"/>
            <a:ext cx="8046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Two rule heads with the same name = OR. Rules can also call themselves — recursion arrives in part 6.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Swap one clause and the “type” of the owner changes. Schema applied at READ, not write: an entity with both attrs would be both.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§2.9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Forks: self-joins &amp; meaningful absence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4"/>
          <p:cNvSpPr/>
          <p:nvPr/>
        </p:nvSpPr>
        <p:spPr>
          <a:xfrm>
            <a:off x="457200" y="1097280"/>
            <a:ext cx="8229240" cy="3154320"/>
          </a:xfrm>
          <a:prstGeom prst="roundRect">
            <a:avLst>
              <a:gd name="adj" fmla="val 202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5"/>
          <p:cNvSpPr/>
          <p:nvPr/>
        </p:nvSpPr>
        <p:spPr>
          <a:xfrm>
            <a:off x="585360" y="1188720"/>
            <a:ext cx="7973280" cy="29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?fork-owner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?orig-owner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%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?f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:repo/fork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?orig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owner-name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?f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?fork-owner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owner-name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?orig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?orig-owner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rules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#{["pithyless" "tonsky"] ["victor" "pithyless"]}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victor forked the fork — a chain, for part 6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missing? $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:repo/fork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["clojure" "datascript"]           the originals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640080" y="438912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In SQL: a self-join with aliases and a nullable origin column. Here: two variable names, and originals are the rows that simply lack the attribute.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§2.10–2.11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Cardinality-many &amp; the only metric that matters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457200" y="1097280"/>
            <a:ext cx="8229240" cy="2651400"/>
          </a:xfrm>
          <a:prstGeom prst="roundRect">
            <a:avLst>
              <a:gd name="adj" fmla="val 2414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585360" y="1188720"/>
            <a:ext cx="79732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?lang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_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:repo/language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?lang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["Java" "ClojureScript" "Clojure"]    6 datoms → 3 (sets)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[["clojure" 3] ["datascript" 1]]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6"/>
          <p:cNvSpPr/>
          <p:nvPr/>
        </p:nvSpPr>
        <p:spPr>
          <a:xfrm>
            <a:off x="640080" y="388620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Multiple values? Just repeat the datom. Multiple references? Same: a star is user ─stars→ repo, cardinality many.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Non-aggregated find vars group; (count …) folds each group. sum, avg, max, min, count-distinct, variance, stddev — built in.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§2.11–2.12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The :with trap; negation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§2.12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4"/>
          <p:cNvSpPr/>
          <p:nvPr/>
        </p:nvSpPr>
        <p:spPr>
          <a:xfrm>
            <a:off x="457200" y="1097280"/>
            <a:ext cx="8229240" cy="3245760"/>
          </a:xfrm>
          <a:prstGeom prst="roundRect">
            <a:avLst>
              <a:gd name="adj" fmla="val 197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5"/>
          <p:cNvSpPr/>
          <p:nvPr/>
        </p:nvSpPr>
        <p:spPr>
          <a:xfrm>
            <a:off x="585360" y="1188720"/>
            <a:ext cx="79732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2        distinct repos… probably not what you meant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:with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</a:t>
            </a: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keep (u,r) pairs alive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4        total star events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not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["richhickey"]     too busy hammocking to star repos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"/>
          <p:cNvSpPr/>
          <p:nvPr/>
        </p:nvSpPr>
        <p:spPr>
          <a:xfrm>
            <a:off x="640080" y="448056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C66D"/>
                </a:solidFill>
                <a:effectLst/>
                <a:uFillTx/>
                <a:latin typeface="Calibri"/>
                <a:ea typeface="Calibri"/>
              </a:rPr>
              <a:t>:with = “don't dedupe over these”. Sets collapse duplicates BEFORE aggregation — the #1 aggregate bug in real Datomic code.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640080" y="1051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Schema is data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640080" y="288036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Attributes are entities; growth is accretion; composite tuples; enums as idents.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640080" y="4069080"/>
            <a:ext cx="114264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~10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5"/>
          <p:cNvSpPr/>
          <p:nvPr/>
        </p:nvSpPr>
        <p:spPr>
          <a:xfrm>
            <a:off x="1920240" y="406908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REPL §3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6"/>
          <p:cNvSpPr/>
          <p:nvPr/>
        </p:nvSpPr>
        <p:spPr>
          <a:xfrm>
            <a:off x="603504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7"/>
          <p:cNvSpPr/>
          <p:nvPr/>
        </p:nvSpPr>
        <p:spPr>
          <a:xfrm>
            <a:off x="658368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8"/>
          <p:cNvSpPr/>
          <p:nvPr/>
        </p:nvSpPr>
        <p:spPr>
          <a:xfrm>
            <a:off x="713232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9"/>
          <p:cNvSpPr/>
          <p:nvPr/>
        </p:nvSpPr>
        <p:spPr>
          <a:xfrm>
            <a:off x="768096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822960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Attributes are entities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"/>
          <p:cNvSpPr/>
          <p:nvPr/>
        </p:nvSpPr>
        <p:spPr>
          <a:xfrm>
            <a:off x="457200" y="1097280"/>
            <a:ext cx="8229240" cy="3200040"/>
          </a:xfrm>
          <a:prstGeom prst="roundRect">
            <a:avLst>
              <a:gd name="adj" fmla="val 200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5"/>
          <p:cNvSpPr/>
          <p:nvPr/>
        </p:nvSpPr>
        <p:spPr>
          <a:xfrm>
            <a:off x="585360" y="1188720"/>
            <a:ext cx="797328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d/pull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{:db/id 72, :db/ident :user/name,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:db/valueType   {:db/id 23},    ;; ← 23 = :db.type/string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:db/cardinality {:db/id 35},    ;; refs come back as ids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:db/unique      {:db/id 38}, ...}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?ident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?a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:db/valueType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:db.type/ref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?a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?ident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namespace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?ident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?ns] [(= ?ns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"repo"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[:repo/fork :repo/owner]      querying the schema itself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6"/>
          <p:cNvSpPr/>
          <p:nvPr/>
        </p:nvSpPr>
        <p:spPr>
          <a:xfrm>
            <a:off x="640080" y="443484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:user/name is not a row in a catalog. It's an entity in the same database, with datoms about it — so you query your schema with the same language.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Growth = accretion; composite identity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4"/>
          <p:cNvSpPr/>
          <p:nvPr/>
        </p:nvSpPr>
        <p:spPr>
          <a:xfrm>
            <a:off x="457200" y="1097280"/>
            <a:ext cx="8229240" cy="3245760"/>
          </a:xfrm>
          <a:prstGeom prst="roundRect">
            <a:avLst>
              <a:gd name="adj" fmla="val 197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5"/>
          <p:cNvSpPr/>
          <p:nvPr/>
        </p:nvSpPr>
        <p:spPr>
          <a:xfrm>
            <a:off x="585360" y="1188720"/>
            <a:ext cx="79732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:repo/topics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:db/valueType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:db.type/string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:db/cardinality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:db.cardinality/many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that's the whole migration.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composite tuple, declared back in repo-schema: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:repo/owner+slug  :db/tupleAttrs [:repo/owner :repo/slug]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                :db/unique     :db.unique/identity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let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tonsky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d/entid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d/pull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:repo/owner+slug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tonsky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"datascript"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{:repo/slug "datascript", :repo/owner {:user/name "tonsky"}}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640080" y="44805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7BD88F"/>
                </a:solidFill>
                <a:effectLst/>
                <a:uFillTx/>
                <a:latin typeface="Calibri"/>
                <a:ea typeface="Calibri"/>
              </a:rPr>
              <a:t>No ALTER TABLE, no migration window, no downtime. Old data untouched; old queries still true.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Enums are idents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4"/>
          <p:cNvSpPr/>
          <p:nvPr/>
        </p:nvSpPr>
        <p:spPr>
          <a:xfrm>
            <a:off x="457200" y="1097280"/>
            <a:ext cx="8229240" cy="2742840"/>
          </a:xfrm>
          <a:prstGeom prst="roundRect">
            <a:avLst>
              <a:gd name="adj" fmla="val 2333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585360" y="1188720"/>
            <a:ext cx="79732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:repo.visibility/public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:repo.visibility/private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:repo/visibility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:db/valueType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:db.type/ref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:db/cardinality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:db.cardinality/one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repo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"datascript"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:repo/visibility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:repo.visibility/private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6"/>
          <p:cNvSpPr/>
          <p:nvPr/>
        </p:nvSpPr>
        <p:spPr>
          <a:xfrm>
            <a:off x="640080" y="402336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An ident is a free foreign key into a one-row dimension table.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Typo-proof: transacting an unknown ident fails the tx. Renamable. Queryable. Pull shows {:db/ident :repo.visibility/private} — a name, not a string.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"/>
          <p:cNvSpPr/>
          <p:nvPr/>
        </p:nvSpPr>
        <p:spPr>
          <a:xfrm>
            <a:off x="640080" y="1051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2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Time — columns four and five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3"/>
          <p:cNvSpPr/>
          <p:nvPr/>
        </p:nvSpPr>
        <p:spPr>
          <a:xfrm>
            <a:off x="640080" y="288036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E-A-V models your domain at rest. Tx and Op model change — and give you provenance, time travel, what-ifs, and permissions.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4"/>
          <p:cNvSpPr/>
          <p:nvPr/>
        </p:nvSpPr>
        <p:spPr>
          <a:xfrm>
            <a:off x="640080" y="4069080"/>
            <a:ext cx="114264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~15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5"/>
          <p:cNvSpPr/>
          <p:nvPr/>
        </p:nvSpPr>
        <p:spPr>
          <a:xfrm>
            <a:off x="1920240" y="406908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REPL §4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6"/>
          <p:cNvSpPr/>
          <p:nvPr/>
        </p:nvSpPr>
        <p:spPr>
          <a:xfrm>
            <a:off x="603504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7"/>
          <p:cNvSpPr/>
          <p:nvPr/>
        </p:nvSpPr>
        <p:spPr>
          <a:xfrm>
            <a:off x="658368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8"/>
          <p:cNvSpPr/>
          <p:nvPr/>
        </p:nvSpPr>
        <p:spPr>
          <a:xfrm>
            <a:off x="713232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9"/>
          <p:cNvSpPr/>
          <p:nvPr/>
        </p:nvSpPr>
        <p:spPr>
          <a:xfrm>
            <a:off x="768096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10"/>
          <p:cNvSpPr/>
          <p:nvPr/>
        </p:nvSpPr>
        <p:spPr>
          <a:xfrm>
            <a:off x="822960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§4.1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“Update” is not a primitive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§4.1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640080" y="1143000"/>
            <a:ext cx="502560" cy="383760"/>
          </a:xfrm>
          <a:prstGeom prst="roundRect">
            <a:avLst>
              <a:gd name="adj" fmla="val 11905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5"/>
          <p:cNvSpPr/>
          <p:nvPr/>
        </p:nvSpPr>
        <p:spPr>
          <a:xfrm>
            <a:off x="1234440" y="1143000"/>
            <a:ext cx="1371240" cy="383760"/>
          </a:xfrm>
          <a:prstGeom prst="roundRect">
            <a:avLst>
              <a:gd name="adj" fmla="val 11905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6"/>
          <p:cNvSpPr/>
          <p:nvPr/>
        </p:nvSpPr>
        <p:spPr>
          <a:xfrm>
            <a:off x="2697480" y="1143000"/>
            <a:ext cx="2651400" cy="383760"/>
          </a:xfrm>
          <a:prstGeom prst="roundRect">
            <a:avLst>
              <a:gd name="adj" fmla="val 11905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"victor@example.com"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7"/>
          <p:cNvSpPr/>
          <p:nvPr/>
        </p:nvSpPr>
        <p:spPr>
          <a:xfrm>
            <a:off x="5440680" y="1143000"/>
            <a:ext cx="776880" cy="383760"/>
          </a:xfrm>
          <a:prstGeom prst="roundRect">
            <a:avLst>
              <a:gd name="adj" fmla="val 11905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tx₄₂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8"/>
          <p:cNvSpPr/>
          <p:nvPr/>
        </p:nvSpPr>
        <p:spPr>
          <a:xfrm>
            <a:off x="6309360" y="1143000"/>
            <a:ext cx="822600" cy="383760"/>
          </a:xfrm>
          <a:prstGeom prst="roundRect">
            <a:avLst>
              <a:gd name="adj" fmla="val 11905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false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9"/>
          <p:cNvSpPr/>
          <p:nvPr/>
        </p:nvSpPr>
        <p:spPr>
          <a:xfrm>
            <a:off x="640080" y="1627560"/>
            <a:ext cx="502560" cy="383760"/>
          </a:xfrm>
          <a:prstGeom prst="roundRect">
            <a:avLst>
              <a:gd name="adj" fmla="val 11905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0"/>
          <p:cNvSpPr/>
          <p:nvPr/>
        </p:nvSpPr>
        <p:spPr>
          <a:xfrm>
            <a:off x="1234440" y="1627560"/>
            <a:ext cx="1371240" cy="383760"/>
          </a:xfrm>
          <a:prstGeom prst="roundRect">
            <a:avLst>
              <a:gd name="adj" fmla="val 11905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11"/>
          <p:cNvSpPr/>
          <p:nvPr/>
        </p:nvSpPr>
        <p:spPr>
          <a:xfrm>
            <a:off x="2697480" y="1627560"/>
            <a:ext cx="2651400" cy="383760"/>
          </a:xfrm>
          <a:prstGeom prst="roundRect">
            <a:avLst>
              <a:gd name="adj" fmla="val 11905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"victor@4coders.com.br"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2"/>
          <p:cNvSpPr/>
          <p:nvPr/>
        </p:nvSpPr>
        <p:spPr>
          <a:xfrm>
            <a:off x="5440680" y="1627560"/>
            <a:ext cx="776880" cy="383760"/>
          </a:xfrm>
          <a:prstGeom prst="roundRect">
            <a:avLst>
              <a:gd name="adj" fmla="val 11905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tx₄₂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3"/>
          <p:cNvSpPr/>
          <p:nvPr/>
        </p:nvSpPr>
        <p:spPr>
          <a:xfrm>
            <a:off x="6309360" y="1627560"/>
            <a:ext cx="822600" cy="383760"/>
          </a:xfrm>
          <a:prstGeom prst="roundRect">
            <a:avLst>
              <a:gd name="adj" fmla="val 11905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true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4"/>
          <p:cNvSpPr/>
          <p:nvPr/>
        </p:nvSpPr>
        <p:spPr>
          <a:xfrm>
            <a:off x="7269480" y="1298520"/>
            <a:ext cx="1462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retract + assert, same transaction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5"/>
          <p:cNvSpPr/>
          <p:nvPr/>
        </p:nvSpPr>
        <p:spPr>
          <a:xfrm>
            <a:off x="457200" y="2240280"/>
            <a:ext cx="8229240" cy="2377080"/>
          </a:xfrm>
          <a:prstGeom prst="roundRect">
            <a:avLst>
              <a:gd name="adj" fmla="val 269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6"/>
          <p:cNvSpPr/>
          <p:nvPr/>
        </p:nvSpPr>
        <p:spPr>
          <a:xfrm>
            <a:off x="585360" y="2331720"/>
            <a:ext cx="7973280" cy="21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"victor@4coders.com.br"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?v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?tx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?op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?v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?tx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?op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d/history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(["victor@example.com"    …4319 true 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["victor@4coders.com.br" …4342 true ]   ← assert, and…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["victor@example.com"    …4342 false])  ← …auto-retract, same tx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7"/>
          <p:cNvSpPr/>
          <p:nvPr/>
        </p:nvSpPr>
        <p:spPr>
          <a:xfrm>
            <a:off x="640080" y="466344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Nothing was overwritten. The past is immutable; the present is a fold of the log.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§4.1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Surgical writes: retract &amp; CAS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§4.1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4"/>
          <p:cNvSpPr/>
          <p:nvPr/>
        </p:nvSpPr>
        <p:spPr>
          <a:xfrm>
            <a:off x="457200" y="1097280"/>
            <a:ext cx="8229240" cy="3062880"/>
          </a:xfrm>
          <a:prstGeom prst="roundRect">
            <a:avLst>
              <a:gd name="adj" fmla="val 209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5"/>
          <p:cNvSpPr/>
          <p:nvPr/>
        </p:nvSpPr>
        <p:spPr>
          <a:xfrm>
            <a:off x="585360" y="1188720"/>
            <a:ext cx="7973280" cy="28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:db/retract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repo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"clojure"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"clojure"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)]])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un-star, nothing else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:db/cas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"victor@4coders.com.br"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"v@4coders.com.br"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:db/cas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"stale@old"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"x@y"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ExceptionInfo :db.error/cas-failed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6"/>
          <p:cNvSpPr/>
          <p:nvPr/>
        </p:nvSpPr>
        <p:spPr>
          <a:xfrm>
            <a:off x="640080" y="4297680"/>
            <a:ext cx="8046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Explicit :db/retract forgets one specific fact — cardinality-many stays intact otherwise.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4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 stale CAS fails the WHOLE transaction: optimistic concurrency with atomicity built in.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§4.2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Transactions are entities — annotate them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§4.2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4"/>
          <p:cNvSpPr/>
          <p:nvPr/>
        </p:nvSpPr>
        <p:spPr>
          <a:xfrm>
            <a:off x="457200" y="1097280"/>
            <a:ext cx="8229240" cy="3382920"/>
          </a:xfrm>
          <a:prstGeom prst="roundRect">
            <a:avLst>
              <a:gd name="adj" fmla="val 189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5"/>
          <p:cNvSpPr/>
          <p:nvPr/>
        </p:nvSpPr>
        <p:spPr>
          <a:xfrm>
            <a:off x="585360" y="1188720"/>
            <a:ext cx="79732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"datomic.tx"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← the tx's OWN tempid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:audit/actor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"bruna"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:audit/reason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"COI import batch #42"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"richhickey"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:user/twitter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"@richhickey"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?v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?inst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?actor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?why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$hist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</a:t>
            </a: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two db inputs!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$hist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:user/twitter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?v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?tx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28FAD"/>
                </a:solidFill>
                <a:effectLst/>
                <a:uFillTx/>
                <a:latin typeface="Courier New"/>
                <a:ea typeface="Courier New"/>
              </a:rPr>
              <a:t>true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?tx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:db/txInstant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?inst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get-else $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?tx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:audit/actor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"?"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?actor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get-else $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?tx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:audit/reason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"?"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?why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d/history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"richhickey"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#{["@richhickey" #inst "2026-…" "bruna" "COI import batch #42"]}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6"/>
          <p:cNvSpPr/>
          <p:nvPr/>
        </p:nvSpPr>
        <p:spPr>
          <a:xfrm>
            <a:off x="640080" y="457200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7BD88F"/>
                </a:solidFill>
                <a:effectLst/>
                <a:uFillTx/>
                <a:latin typeface="Calibri"/>
                <a:ea typeface="Calibri"/>
              </a:rPr>
              <a:t>“Three months later — WHY does this row say that?” Answered in one query, forever, for free. This alone sells the model.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§4.3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Time-travel APIs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§4.3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4"/>
          <p:cNvSpPr/>
          <p:nvPr/>
        </p:nvSpPr>
        <p:spPr>
          <a:xfrm>
            <a:off x="822960" y="1600200"/>
            <a:ext cx="7498080" cy="360"/>
          </a:xfrm>
          <a:prstGeom prst="line">
            <a:avLst/>
          </a:prstGeom>
          <a:ln w="25400">
            <a:solidFill>
              <a:srgbClr val="7C8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5"/>
          <p:cNvSpPr/>
          <p:nvPr/>
        </p:nvSpPr>
        <p:spPr>
          <a:xfrm>
            <a:off x="1371600" y="1517760"/>
            <a:ext cx="360" cy="164520"/>
          </a:xfrm>
          <a:prstGeom prst="line">
            <a:avLst/>
          </a:prstGeom>
          <a:ln w="3175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6"/>
          <p:cNvSpPr/>
          <p:nvPr/>
        </p:nvSpPr>
        <p:spPr>
          <a:xfrm>
            <a:off x="1097280" y="1710000"/>
            <a:ext cx="548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ourier New"/>
                <a:ea typeface="Courier New"/>
              </a:rPr>
              <a:t>tx1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Shape 7"/>
          <p:cNvSpPr/>
          <p:nvPr/>
        </p:nvSpPr>
        <p:spPr>
          <a:xfrm>
            <a:off x="2971800" y="1517760"/>
            <a:ext cx="360" cy="164520"/>
          </a:xfrm>
          <a:prstGeom prst="line">
            <a:avLst/>
          </a:prstGeom>
          <a:ln w="3175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8"/>
          <p:cNvSpPr/>
          <p:nvPr/>
        </p:nvSpPr>
        <p:spPr>
          <a:xfrm>
            <a:off x="2697480" y="1710000"/>
            <a:ext cx="548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ourier New"/>
                <a:ea typeface="Courier New"/>
              </a:rPr>
              <a:t>tx2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Shape 9"/>
          <p:cNvSpPr/>
          <p:nvPr/>
        </p:nvSpPr>
        <p:spPr>
          <a:xfrm>
            <a:off x="4572000" y="1517760"/>
            <a:ext cx="360" cy="164520"/>
          </a:xfrm>
          <a:prstGeom prst="line">
            <a:avLst/>
          </a:prstGeom>
          <a:ln w="3175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10"/>
          <p:cNvSpPr/>
          <p:nvPr/>
        </p:nvSpPr>
        <p:spPr>
          <a:xfrm>
            <a:off x="4297680" y="1710000"/>
            <a:ext cx="548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ourier New"/>
                <a:ea typeface="Courier New"/>
              </a:rPr>
              <a:t>tx3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1"/>
          <p:cNvSpPr/>
          <p:nvPr/>
        </p:nvSpPr>
        <p:spPr>
          <a:xfrm>
            <a:off x="6172200" y="1517760"/>
            <a:ext cx="360" cy="164520"/>
          </a:xfrm>
          <a:prstGeom prst="line">
            <a:avLst/>
          </a:prstGeom>
          <a:ln w="3175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2"/>
          <p:cNvSpPr/>
          <p:nvPr/>
        </p:nvSpPr>
        <p:spPr>
          <a:xfrm>
            <a:off x="5897880" y="1710000"/>
            <a:ext cx="548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ourier New"/>
                <a:ea typeface="Courier New"/>
              </a:rPr>
              <a:t>tx4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13"/>
          <p:cNvSpPr/>
          <p:nvPr/>
        </p:nvSpPr>
        <p:spPr>
          <a:xfrm>
            <a:off x="7772400" y="1517760"/>
            <a:ext cx="360" cy="164520"/>
          </a:xfrm>
          <a:prstGeom prst="line">
            <a:avLst/>
          </a:prstGeom>
          <a:ln w="3175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4"/>
          <p:cNvSpPr/>
          <p:nvPr/>
        </p:nvSpPr>
        <p:spPr>
          <a:xfrm>
            <a:off x="7498080" y="1710000"/>
            <a:ext cx="5482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ourier New"/>
                <a:ea typeface="Courier New"/>
              </a:rPr>
              <a:t>tx5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5"/>
          <p:cNvSpPr/>
          <p:nvPr/>
        </p:nvSpPr>
        <p:spPr>
          <a:xfrm>
            <a:off x="822960" y="1307520"/>
            <a:ext cx="4068720" cy="182520"/>
          </a:xfrm>
          <a:prstGeom prst="rect">
            <a:avLst/>
          </a:prstGeom>
          <a:solidFill>
            <a:srgbClr val="7BD88F">
              <a:alpha val="28000"/>
            </a:srgbClr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6"/>
          <p:cNvSpPr/>
          <p:nvPr/>
        </p:nvSpPr>
        <p:spPr>
          <a:xfrm>
            <a:off x="822960" y="1033200"/>
            <a:ext cx="40230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alibri"/>
                <a:ea typeface="Calibri"/>
              </a:rPr>
              <a:t>as-of tx3 — everything up to here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17"/>
          <p:cNvSpPr/>
          <p:nvPr/>
        </p:nvSpPr>
        <p:spPr>
          <a:xfrm>
            <a:off x="4892040" y="1984320"/>
            <a:ext cx="3428640" cy="182520"/>
          </a:xfrm>
          <a:prstGeom prst="rect">
            <a:avLst/>
          </a:prstGeom>
          <a:solidFill>
            <a:srgbClr val="6FA8FF">
              <a:alpha val="28000"/>
            </a:srgbClr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8"/>
          <p:cNvSpPr/>
          <p:nvPr/>
        </p:nvSpPr>
        <p:spPr>
          <a:xfrm>
            <a:off x="3566160" y="2203560"/>
            <a:ext cx="5120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alibri"/>
                <a:ea typeface="Calibri"/>
              </a:rPr>
              <a:t>since tx3 — only what's new (⚠ identity attrs may be missing: join with the present)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9"/>
          <p:cNvSpPr/>
          <p:nvPr/>
        </p:nvSpPr>
        <p:spPr>
          <a:xfrm>
            <a:off x="457200" y="2743200"/>
            <a:ext cx="8229240" cy="1691280"/>
          </a:xfrm>
          <a:prstGeom prst="roundRect">
            <a:avLst>
              <a:gd name="adj" fmla="val 3784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20"/>
          <p:cNvSpPr/>
          <p:nvPr/>
        </p:nvSpPr>
        <p:spPr>
          <a:xfrm>
            <a:off x="585360" y="2834640"/>
            <a:ext cx="797328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d/as-of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t-before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"victor@example.com"        the db AS IT WAS — same query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"v@4coders.com.br"          now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1"/>
          <p:cNvSpPr/>
          <p:nvPr/>
        </p:nvSpPr>
        <p:spPr>
          <a:xfrm>
            <a:off x="640080" y="45720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history = the whole line, with Op — you queried it three slides ago.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§4.4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What-if: a database you can lie to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§4.4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4"/>
          <p:cNvSpPr/>
          <p:nvPr/>
        </p:nvSpPr>
        <p:spPr>
          <a:xfrm>
            <a:off x="457200" y="1097280"/>
            <a:ext cx="8229240" cy="2880000"/>
          </a:xfrm>
          <a:prstGeom prst="roundRect">
            <a:avLst>
              <a:gd name="adj" fmla="val 222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5"/>
          <p:cNvSpPr/>
          <p:nvPr/>
        </p:nvSpPr>
        <p:spPr>
          <a:xfrm>
            <a:off x="585360" y="1188720"/>
            <a:ext cx="7973280" cy="26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let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spec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:db-after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d/with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"lupii"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:repo/language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#{</a:t>
            </a:r>
            <a:r>
              <a:rPr lang="en-US" sz="12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"Clojure"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}}])]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:speculative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spec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:real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))})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{:speculative 5, :real 4}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6"/>
          <p:cNvSpPr/>
          <p:nvPr/>
        </p:nvSpPr>
        <p:spPr>
          <a:xfrm>
            <a:off x="640080" y="411480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Transaction + query + rollback — with no lock, no cleanup, no connection touched.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Test suites against real data, dry-run endpoints, “preview this change” UIs: all d/with. It's how part 6 will cascade a delete safely.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§4.5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Permissions as datom predicates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§4.5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4"/>
          <p:cNvSpPr/>
          <p:nvPr/>
        </p:nvSpPr>
        <p:spPr>
          <a:xfrm>
            <a:off x="457200" y="1097280"/>
            <a:ext cx="8229240" cy="2651400"/>
          </a:xfrm>
          <a:prstGeom prst="roundRect">
            <a:avLst>
              <a:gd name="adj" fmla="val 2414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5"/>
          <p:cNvSpPr/>
          <p:nvPr/>
        </p:nvSpPr>
        <p:spPr>
          <a:xfrm>
            <a:off x="585360" y="1188720"/>
            <a:ext cx="79732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let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email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d/entid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public-db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d/filter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     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fn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_ dtm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not= email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dtm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))))]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d/pull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public-db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*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{:db/id …, :user/name "victor", :user/follows […], …}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no :user/email key AT ALL — those facts do not exist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from this db value's point of view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6"/>
          <p:cNvSpPr/>
          <p:nvPr/>
        </p:nvSpPr>
        <p:spPr>
          <a:xfrm>
            <a:off x="640080" y="3886200"/>
            <a:ext cx="80463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6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Not WHERE-clause discipline, not view soup: filter the datoms once, then hand the db to ANY query — “go ahead, the sky's the limit.”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6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Composes with as-of, with, history — they're all just db values.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601"/>
              </a:spcAft>
              <a:buClr>
                <a:srgbClr val="8FA0B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True deletion for GDPR exists too: excision — removes datoms, leaves a tombstone.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"/>
          <p:cNvSpPr/>
          <p:nvPr/>
        </p:nvSpPr>
        <p:spPr>
          <a:xfrm>
            <a:off x="640080" y="1051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2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Architecture, heuristics, homework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3"/>
          <p:cNvSpPr/>
          <p:nvPr/>
        </p:nvSpPr>
        <p:spPr>
          <a:xfrm>
            <a:off x="640080" y="288036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How the machine actually runs, the cousins that share the model, eight rules of thumb, and five exercises.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4"/>
          <p:cNvSpPr/>
          <p:nvPr/>
        </p:nvSpPr>
        <p:spPr>
          <a:xfrm>
            <a:off x="640080" y="4069080"/>
            <a:ext cx="114264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~10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5"/>
          <p:cNvSpPr/>
          <p:nvPr/>
        </p:nvSpPr>
        <p:spPr>
          <a:xfrm>
            <a:off x="1920240" y="406908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REPL §5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6"/>
          <p:cNvSpPr/>
          <p:nvPr/>
        </p:nvSpPr>
        <p:spPr>
          <a:xfrm>
            <a:off x="603504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7"/>
          <p:cNvSpPr/>
          <p:nvPr/>
        </p:nvSpPr>
        <p:spPr>
          <a:xfrm>
            <a:off x="658368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8"/>
          <p:cNvSpPr/>
          <p:nvPr/>
        </p:nvSpPr>
        <p:spPr>
          <a:xfrm>
            <a:off x="713232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9"/>
          <p:cNvSpPr/>
          <p:nvPr/>
        </p:nvSpPr>
        <p:spPr>
          <a:xfrm>
            <a:off x="768096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0"/>
          <p:cNvSpPr/>
          <p:nvPr/>
        </p:nvSpPr>
        <p:spPr>
          <a:xfrm>
            <a:off x="822960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REPL §5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Architecture in one slide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3"/>
          <p:cNvSpPr/>
          <p:nvPr/>
        </p:nvSpPr>
        <p:spPr>
          <a:xfrm>
            <a:off x="502920" y="1234440"/>
            <a:ext cx="2742840" cy="2148480"/>
          </a:xfrm>
          <a:prstGeom prst="roundRect">
            <a:avLst>
              <a:gd name="adj" fmla="val 3404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4"/>
          <p:cNvSpPr/>
          <p:nvPr/>
        </p:nvSpPr>
        <p:spPr>
          <a:xfrm>
            <a:off x="685800" y="1371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PEERS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5"/>
          <p:cNvSpPr/>
          <p:nvPr/>
        </p:nvSpPr>
        <p:spPr>
          <a:xfrm>
            <a:off x="685800" y="1664280"/>
            <a:ext cx="2422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your app processes.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indexes' working set in local RAM;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queries run HERE.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6"/>
          <p:cNvSpPr/>
          <p:nvPr/>
        </p:nvSpPr>
        <p:spPr>
          <a:xfrm>
            <a:off x="5897880" y="1234440"/>
            <a:ext cx="2742840" cy="2148480"/>
          </a:xfrm>
          <a:prstGeom prst="roundRect">
            <a:avLst>
              <a:gd name="adj" fmla="val 3404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7"/>
          <p:cNvSpPr/>
          <p:nvPr/>
        </p:nvSpPr>
        <p:spPr>
          <a:xfrm>
            <a:off x="6080760" y="13716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8FAD"/>
                </a:solidFill>
                <a:effectLst/>
                <a:uFillTx/>
                <a:latin typeface="Arial"/>
                <a:ea typeface="Arial"/>
              </a:rPr>
              <a:t>TRANSACTOR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8"/>
          <p:cNvSpPr/>
          <p:nvPr/>
        </p:nvSpPr>
        <p:spPr>
          <a:xfrm>
            <a:off x="6080760" y="1664280"/>
            <a:ext cx="24228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single writer: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serializes txs ⇒ ACID + one total order of time.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9"/>
          <p:cNvSpPr/>
          <p:nvPr/>
        </p:nvSpPr>
        <p:spPr>
          <a:xfrm>
            <a:off x="3200400" y="3063240"/>
            <a:ext cx="2742840" cy="1462680"/>
          </a:xfrm>
          <a:prstGeom prst="roundRect">
            <a:avLst>
              <a:gd name="adj" fmla="val 50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0"/>
          <p:cNvSpPr/>
          <p:nvPr/>
        </p:nvSpPr>
        <p:spPr>
          <a:xfrm>
            <a:off x="3383280" y="318204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C66D"/>
                </a:solidFill>
                <a:effectLst/>
                <a:uFillTx/>
                <a:latin typeface="Arial"/>
                <a:ea typeface="Arial"/>
              </a:rPr>
              <a:t>STORAGE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1"/>
          <p:cNvSpPr/>
          <p:nvPr/>
        </p:nvSpPr>
        <p:spPr>
          <a:xfrm>
            <a:off x="3383280" y="3456360"/>
            <a:ext cx="24228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pluggable &amp; dumb: Postgres, DynamoDB, Cassandra, files, memory. It stores blocks, not semantics.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12"/>
          <p:cNvSpPr/>
          <p:nvPr/>
        </p:nvSpPr>
        <p:spPr>
          <a:xfrm flipH="1">
            <a:off x="3246120" y="2286000"/>
            <a:ext cx="2651760" cy="360"/>
          </a:xfrm>
          <a:prstGeom prst="line">
            <a:avLst/>
          </a:prstGeom>
          <a:ln w="22225">
            <a:solidFill>
              <a:srgbClr val="7C8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3"/>
          <p:cNvSpPr/>
          <p:nvPr/>
        </p:nvSpPr>
        <p:spPr>
          <a:xfrm>
            <a:off x="3520440" y="1974960"/>
            <a:ext cx="21027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novelty (live txs)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14"/>
          <p:cNvSpPr/>
          <p:nvPr/>
        </p:nvSpPr>
        <p:spPr>
          <a:xfrm flipV="1">
            <a:off x="6126480" y="2880360"/>
            <a:ext cx="548640" cy="502920"/>
          </a:xfrm>
          <a:prstGeom prst="line">
            <a:avLst/>
          </a:prstGeom>
          <a:ln w="22225">
            <a:solidFill>
              <a:srgbClr val="7C8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5"/>
          <p:cNvSpPr/>
          <p:nvPr/>
        </p:nvSpPr>
        <p:spPr>
          <a:xfrm>
            <a:off x="6309360" y="3127320"/>
            <a:ext cx="1188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writes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16"/>
          <p:cNvSpPr/>
          <p:nvPr/>
        </p:nvSpPr>
        <p:spPr>
          <a:xfrm flipH="1" flipV="1">
            <a:off x="2560320" y="2880360"/>
            <a:ext cx="640080" cy="502920"/>
          </a:xfrm>
          <a:prstGeom prst="line">
            <a:avLst/>
          </a:prstGeom>
          <a:ln w="22225">
            <a:solidFill>
              <a:srgbClr val="7C8A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17"/>
          <p:cNvSpPr/>
          <p:nvPr/>
        </p:nvSpPr>
        <p:spPr>
          <a:xfrm>
            <a:off x="1600200" y="3127320"/>
            <a:ext cx="1554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index segments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8"/>
          <p:cNvSpPr/>
          <p:nvPr/>
        </p:nvSpPr>
        <p:spPr>
          <a:xfrm>
            <a:off x="502920" y="4590360"/>
            <a:ext cx="81378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Reads scale by adding peers — most queries never cross the wire. Every db value carries its basis-t, so “eventual-consistency surprise” is structurally impossible.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39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SAME MODEL, OTHER BODIES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The family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3"/>
          <p:cNvSpPr/>
          <p:nvPr/>
        </p:nvSpPr>
        <p:spPr>
          <a:xfrm>
            <a:off x="457200" y="1188720"/>
            <a:ext cx="2651400" cy="288000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4"/>
          <p:cNvSpPr/>
          <p:nvPr/>
        </p:nvSpPr>
        <p:spPr>
          <a:xfrm>
            <a:off x="640080" y="13716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DataScript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5"/>
          <p:cNvSpPr/>
          <p:nvPr/>
        </p:nvSpPr>
        <p:spPr>
          <a:xfrm>
            <a:off x="640080" y="1828800"/>
            <a:ext cx="2285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this entire model, in the browser (tonsky's — you queried its repo tonight). re-frame app-db as a triple store; pull/EQL as your wire protocol.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6"/>
          <p:cNvSpPr/>
          <p:nvPr/>
        </p:nvSpPr>
        <p:spPr>
          <a:xfrm>
            <a:off x="3291840" y="1188720"/>
            <a:ext cx="2651400" cy="288000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7"/>
          <p:cNvSpPr/>
          <p:nvPr/>
        </p:nvSpPr>
        <p:spPr>
          <a:xfrm>
            <a:off x="3474720" y="13716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FA8FF"/>
                </a:solidFill>
                <a:effectLst/>
                <a:uFillTx/>
                <a:latin typeface="Arial"/>
                <a:ea typeface="Arial"/>
              </a:rPr>
              <a:t>Datahike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8"/>
          <p:cNvSpPr/>
          <p:nvPr/>
        </p:nvSpPr>
        <p:spPr>
          <a:xfrm>
            <a:off x="3474720" y="1828800"/>
            <a:ext cx="2285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open-source, durable, Datomic-flavored. Same Datalog, same schema style, runs where a peer can't.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9"/>
          <p:cNvSpPr/>
          <p:nvPr/>
        </p:nvSpPr>
        <p:spPr>
          <a:xfrm>
            <a:off x="6126480" y="1188720"/>
            <a:ext cx="2651400" cy="2880000"/>
          </a:xfrm>
          <a:prstGeom prst="roundRect">
            <a:avLst>
              <a:gd name="adj" fmla="val 2759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10"/>
          <p:cNvSpPr/>
          <p:nvPr/>
        </p:nvSpPr>
        <p:spPr>
          <a:xfrm>
            <a:off x="6309360" y="13716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09BFF"/>
                </a:solidFill>
                <a:effectLst/>
                <a:uFillTx/>
                <a:latin typeface="Arial"/>
                <a:ea typeface="Arial"/>
              </a:rPr>
              <a:t>XTDB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1"/>
          <p:cNvSpPr/>
          <p:nvPr/>
        </p:nvSpPr>
        <p:spPr>
          <a:xfrm>
            <a:off x="6309360" y="1828800"/>
            <a:ext cx="22856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bitemporal Datalog: valid-time AND transaction-time. When the domain itself argues about when things were true.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12"/>
          <p:cNvSpPr/>
          <p:nvPr/>
        </p:nvSpPr>
        <p:spPr>
          <a:xfrm>
            <a:off x="457200" y="434340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One mental model from the browser to the warehouse. Queries you wrote tonight port with almost no edits — that's exercise E5.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TAKE THESE HOME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Eight modeling heuristics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4"/>
          <p:cNvSpPr/>
          <p:nvPr/>
        </p:nvSpPr>
        <p:spPr>
          <a:xfrm>
            <a:off x="457200" y="118872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5"/>
          <p:cNvSpPr/>
          <p:nvPr/>
        </p:nvSpPr>
        <p:spPr>
          <a:xfrm>
            <a:off x="576000" y="128016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6"/>
          <p:cNvSpPr/>
          <p:nvPr/>
        </p:nvSpPr>
        <p:spPr>
          <a:xfrm>
            <a:off x="576000" y="160020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Attributes, not tables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7"/>
          <p:cNvSpPr/>
          <p:nvPr/>
        </p:nvSpPr>
        <p:spPr>
          <a:xfrm>
            <a:off x="576000" y="205740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namespaces group concepts; they aren't containers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8"/>
          <p:cNvSpPr/>
          <p:nvPr/>
        </p:nvSpPr>
        <p:spPr>
          <a:xfrm>
            <a:off x="2578680" y="118872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9"/>
          <p:cNvSpPr/>
          <p:nvPr/>
        </p:nvSpPr>
        <p:spPr>
          <a:xfrm>
            <a:off x="2697480" y="128016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 10"/>
          <p:cNvSpPr/>
          <p:nvPr/>
        </p:nvSpPr>
        <p:spPr>
          <a:xfrm>
            <a:off x="2697480" y="160020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Identity is explicit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11"/>
          <p:cNvSpPr/>
          <p:nvPr/>
        </p:nvSpPr>
        <p:spPr>
          <a:xfrm>
            <a:off x="2697480" y="205740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:db.unique/identity + :db/tupleAttrs for composites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12"/>
          <p:cNvSpPr/>
          <p:nvPr/>
        </p:nvSpPr>
        <p:spPr>
          <a:xfrm>
            <a:off x="4700160" y="118872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13"/>
          <p:cNvSpPr/>
          <p:nvPr/>
        </p:nvSpPr>
        <p:spPr>
          <a:xfrm>
            <a:off x="4818960" y="128016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14"/>
          <p:cNvSpPr/>
          <p:nvPr/>
        </p:nvSpPr>
        <p:spPr>
          <a:xfrm>
            <a:off x="4818960" y="160020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Relationships are refs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15"/>
          <p:cNvSpPr/>
          <p:nvPr/>
        </p:nvSpPr>
        <p:spPr>
          <a:xfrm>
            <a:off x="4818960" y="205740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pick the natural direction — VAET reverses free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16"/>
          <p:cNvSpPr/>
          <p:nvPr/>
        </p:nvSpPr>
        <p:spPr>
          <a:xfrm>
            <a:off x="6821280" y="118872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7"/>
          <p:cNvSpPr/>
          <p:nvPr/>
        </p:nvSpPr>
        <p:spPr>
          <a:xfrm>
            <a:off x="6940440" y="128016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8"/>
          <p:cNvSpPr/>
          <p:nvPr/>
        </p:nvSpPr>
        <p:spPr>
          <a:xfrm>
            <a:off x="6940440" y="160020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Ownership = component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9"/>
          <p:cNvSpPr/>
          <p:nvPr/>
        </p:nvSpPr>
        <p:spPr>
          <a:xfrm>
            <a:off x="6940440" y="205740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delete-together? :db/isComponent. else plain ref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20"/>
          <p:cNvSpPr/>
          <p:nvPr/>
        </p:nvSpPr>
        <p:spPr>
          <a:xfrm>
            <a:off x="457200" y="288036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21"/>
          <p:cNvSpPr/>
          <p:nvPr/>
        </p:nvSpPr>
        <p:spPr>
          <a:xfrm>
            <a:off x="576000" y="29718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22"/>
          <p:cNvSpPr/>
          <p:nvPr/>
        </p:nvSpPr>
        <p:spPr>
          <a:xfrm>
            <a:off x="576000" y="329184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Enums are idents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23"/>
          <p:cNvSpPr/>
          <p:nvPr/>
        </p:nvSpPr>
        <p:spPr>
          <a:xfrm>
            <a:off x="576000" y="374904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refs to well-known names, never strings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24"/>
          <p:cNvSpPr/>
          <p:nvPr/>
        </p:nvSpPr>
        <p:spPr>
          <a:xfrm>
            <a:off x="2578680" y="288036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5"/>
          <p:cNvSpPr/>
          <p:nvPr/>
        </p:nvSpPr>
        <p:spPr>
          <a:xfrm>
            <a:off x="2697480" y="29718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26"/>
          <p:cNvSpPr/>
          <p:nvPr/>
        </p:nvSpPr>
        <p:spPr>
          <a:xfrm>
            <a:off x="2697480" y="329184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Absence beats null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7"/>
          <p:cNvSpPr/>
          <p:nvPr/>
        </p:nvSpPr>
        <p:spPr>
          <a:xfrm>
            <a:off x="2697480" y="374904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don't transact placeholder values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28"/>
          <p:cNvSpPr/>
          <p:nvPr/>
        </p:nvSpPr>
        <p:spPr>
          <a:xfrm>
            <a:off x="4700160" y="288036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9"/>
          <p:cNvSpPr/>
          <p:nvPr/>
        </p:nvSpPr>
        <p:spPr>
          <a:xfrm>
            <a:off x="4818960" y="29718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30"/>
          <p:cNvSpPr/>
          <p:nvPr/>
        </p:nvSpPr>
        <p:spPr>
          <a:xfrm>
            <a:off x="4818960" y="329184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Annotate transactions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31"/>
          <p:cNvSpPr/>
          <p:nvPr/>
        </p:nvSpPr>
        <p:spPr>
          <a:xfrm>
            <a:off x="4818960" y="374904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who/why from day one — 2am-you says thanks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32"/>
          <p:cNvSpPr/>
          <p:nvPr/>
        </p:nvSpPr>
        <p:spPr>
          <a:xfrm>
            <a:off x="6821280" y="2880360"/>
            <a:ext cx="1983960" cy="1535760"/>
          </a:xfrm>
          <a:prstGeom prst="roundRect">
            <a:avLst>
              <a:gd name="adj" fmla="val 4762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33"/>
          <p:cNvSpPr/>
          <p:nvPr/>
        </p:nvSpPr>
        <p:spPr>
          <a:xfrm>
            <a:off x="6940440" y="2971800"/>
            <a:ext cx="365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34"/>
          <p:cNvSpPr/>
          <p:nvPr/>
        </p:nvSpPr>
        <p:spPr>
          <a:xfrm>
            <a:off x="6940440" y="3291840"/>
            <a:ext cx="1755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Know when NOT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35"/>
          <p:cNvSpPr/>
          <p:nvPr/>
        </p:nvSpPr>
        <p:spPr>
          <a:xfrm>
            <a:off x="6940440" y="3749040"/>
            <a:ext cx="1755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unbounded churn streams, blobs, extreme write rates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HOMEWORK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Five exercises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4"/>
          <p:cNvSpPr/>
          <p:nvPr/>
        </p:nvSpPr>
        <p:spPr>
          <a:xfrm>
            <a:off x="502920" y="1161360"/>
            <a:ext cx="502560" cy="365400"/>
          </a:xfrm>
          <a:prstGeom prst="roundRect">
            <a:avLst>
              <a:gd name="adj" fmla="val 125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5"/>
          <p:cNvSpPr/>
          <p:nvPr/>
        </p:nvSpPr>
        <p:spPr>
          <a:xfrm>
            <a:off x="1188720" y="1115640"/>
            <a:ext cx="749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Pull requests: design PR attributes (fork branch → target repo, state enum); transact one; query “open PRs targeting repos I own”.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6"/>
          <p:cNvSpPr/>
          <p:nvPr/>
        </p:nvSpPr>
        <p:spPr>
          <a:xfrm>
            <a:off x="502920" y="1865520"/>
            <a:ext cx="502560" cy="365400"/>
          </a:xfrm>
          <a:prstGeom prst="roundRect">
            <a:avLst>
              <a:gd name="adj" fmla="val 125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7"/>
          <p:cNvSpPr/>
          <p:nvPr/>
        </p:nvSpPr>
        <p:spPr>
          <a:xfrm>
            <a:off x="1188720" y="1819800"/>
            <a:ext cx="749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Teams &amp; roles: orgs → teams → members with :role/* idents. “Which repos can victor push to?” is a 3-hop rule.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8"/>
          <p:cNvSpPr/>
          <p:nvPr/>
        </p:nvSpPr>
        <p:spPr>
          <a:xfrm>
            <a:off x="502920" y="2569320"/>
            <a:ext cx="502560" cy="365400"/>
          </a:xfrm>
          <a:prstGeom prst="roundRect">
            <a:avLst>
              <a:gd name="adj" fmla="val 125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9"/>
          <p:cNvSpPr/>
          <p:nvPr/>
        </p:nvSpPr>
        <p:spPr>
          <a:xfrm>
            <a:off x="1188720" y="2523600"/>
            <a:ext cx="749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Stars over time: d/history + :db/txInstant → [[date delta] …] for clojure. Hint: ?op true = +1, false = −1.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10"/>
          <p:cNvSpPr/>
          <p:nvPr/>
        </p:nvSpPr>
        <p:spPr>
          <a:xfrm>
            <a:off x="502920" y="3273480"/>
            <a:ext cx="502560" cy="365400"/>
          </a:xfrm>
          <a:prstGeom prst="roundRect">
            <a:avLst>
              <a:gd name="adj" fmla="val 125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1"/>
          <p:cNvSpPr/>
          <p:nvPr/>
        </p:nvSpPr>
        <p:spPr>
          <a:xfrm>
            <a:off x="1188720" y="3227760"/>
            <a:ext cx="749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Rectangle detox: take one real table from your last project (nullable cols, type column, join table). Remodel as attributes. Count what disappeared.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12"/>
          <p:cNvSpPr/>
          <p:nvPr/>
        </p:nvSpPr>
        <p:spPr>
          <a:xfrm>
            <a:off x="502920" y="3977640"/>
            <a:ext cx="502560" cy="365400"/>
          </a:xfrm>
          <a:prstGeom prst="roundRect">
            <a:avLst>
              <a:gd name="adj" fmla="val 125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E5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13"/>
          <p:cNvSpPr/>
          <p:nvPr/>
        </p:nvSpPr>
        <p:spPr>
          <a:xfrm>
            <a:off x="1188720" y="3931920"/>
            <a:ext cx="7497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DataScript field trip: paste the §6.5 recommender into a DataScript REPL. Note precisely what changed. (Spoiler: the schema shrinks; the query survives.)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14"/>
          <p:cNvSpPr/>
          <p:nvPr/>
        </p:nvSpPr>
        <p:spPr>
          <a:xfrm>
            <a:off x="502920" y="4663440"/>
            <a:ext cx="813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Solutions: honor system — the REPL doesn't lie.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"/>
          <p:cNvSpPr/>
          <p:nvPr/>
        </p:nvSpPr>
        <p:spPr>
          <a:xfrm>
            <a:off x="640080" y="105156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pc="4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2"/>
          <p:cNvSpPr/>
          <p:nvPr/>
        </p:nvSpPr>
        <p:spPr>
          <a:xfrm>
            <a:off x="640080" y="1463040"/>
            <a:ext cx="78634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One store, seven shapes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3"/>
          <p:cNvSpPr/>
          <p:nvPr/>
        </p:nvSpPr>
        <p:spPr>
          <a:xfrm>
            <a:off x="640080" y="2880360"/>
            <a:ext cx="6034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The pitch of the whole class: sort the same datoms four ways and you get four databases — then wear seven costumes with one query language.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"/>
          <p:cNvSpPr/>
          <p:nvPr/>
        </p:nvSpPr>
        <p:spPr>
          <a:xfrm>
            <a:off x="640080" y="4069080"/>
            <a:ext cx="114264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~30 min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5"/>
          <p:cNvSpPr/>
          <p:nvPr/>
        </p:nvSpPr>
        <p:spPr>
          <a:xfrm>
            <a:off x="1920240" y="4069080"/>
            <a:ext cx="1325520" cy="383760"/>
          </a:xfrm>
          <a:prstGeom prst="roundRect">
            <a:avLst>
              <a:gd name="adj" fmla="val 11905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REPL §6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6"/>
          <p:cNvSpPr/>
          <p:nvPr/>
        </p:nvSpPr>
        <p:spPr>
          <a:xfrm>
            <a:off x="603504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7"/>
          <p:cNvSpPr/>
          <p:nvPr/>
        </p:nvSpPr>
        <p:spPr>
          <a:xfrm>
            <a:off x="658368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8"/>
          <p:cNvSpPr/>
          <p:nvPr/>
        </p:nvSpPr>
        <p:spPr>
          <a:xfrm>
            <a:off x="713232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9"/>
          <p:cNvSpPr/>
          <p:nvPr/>
        </p:nvSpPr>
        <p:spPr>
          <a:xfrm>
            <a:off x="768096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0"/>
          <p:cNvSpPr/>
          <p:nvPr/>
        </p:nvSpPr>
        <p:spPr>
          <a:xfrm>
            <a:off x="8229600" y="4206240"/>
            <a:ext cx="475200" cy="328680"/>
          </a:xfrm>
          <a:prstGeom prst="roundRect">
            <a:avLst>
              <a:gd name="adj" fmla="val 13889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CORE TRICK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Sort the same datoms four ways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4"/>
          <p:cNvSpPr/>
          <p:nvPr/>
        </p:nvSpPr>
        <p:spPr>
          <a:xfrm>
            <a:off x="457200" y="1143000"/>
            <a:ext cx="1983960" cy="3017160"/>
          </a:xfrm>
          <a:prstGeom prst="roundRect">
            <a:avLst>
              <a:gd name="adj" fmla="val 368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5"/>
          <p:cNvSpPr/>
          <p:nvPr/>
        </p:nvSpPr>
        <p:spPr>
          <a:xfrm>
            <a:off x="594360" y="12985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EAVT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6"/>
          <p:cNvSpPr/>
          <p:nvPr/>
        </p:nvSpPr>
        <p:spPr>
          <a:xfrm>
            <a:off x="594360" y="16275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entity-first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7"/>
          <p:cNvSpPr/>
          <p:nvPr/>
        </p:nvSpPr>
        <p:spPr>
          <a:xfrm>
            <a:off x="60336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8"/>
          <p:cNvSpPr/>
          <p:nvPr/>
        </p:nvSpPr>
        <p:spPr>
          <a:xfrm>
            <a:off x="104256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9"/>
          <p:cNvSpPr/>
          <p:nvPr/>
        </p:nvSpPr>
        <p:spPr>
          <a:xfrm>
            <a:off x="148140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0"/>
          <p:cNvSpPr/>
          <p:nvPr/>
        </p:nvSpPr>
        <p:spPr>
          <a:xfrm>
            <a:off x="192024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1"/>
          <p:cNvSpPr/>
          <p:nvPr/>
        </p:nvSpPr>
        <p:spPr>
          <a:xfrm>
            <a:off x="594360" y="26060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row store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2"/>
          <p:cNvSpPr/>
          <p:nvPr/>
        </p:nvSpPr>
        <p:spPr>
          <a:xfrm>
            <a:off x="594360" y="28803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PostgreSQL-ish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3"/>
          <p:cNvSpPr/>
          <p:nvPr/>
        </p:nvSpPr>
        <p:spPr>
          <a:xfrm>
            <a:off x="594360" y="35204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d/datoms (db) :eavt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14"/>
          <p:cNvSpPr/>
          <p:nvPr/>
        </p:nvSpPr>
        <p:spPr>
          <a:xfrm>
            <a:off x="2578680" y="1143000"/>
            <a:ext cx="1983960" cy="3017160"/>
          </a:xfrm>
          <a:prstGeom prst="roundRect">
            <a:avLst>
              <a:gd name="adj" fmla="val 368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15"/>
          <p:cNvSpPr/>
          <p:nvPr/>
        </p:nvSpPr>
        <p:spPr>
          <a:xfrm>
            <a:off x="2715840" y="12985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AEVT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6"/>
          <p:cNvSpPr/>
          <p:nvPr/>
        </p:nvSpPr>
        <p:spPr>
          <a:xfrm>
            <a:off x="2715840" y="16275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attribute-first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7"/>
          <p:cNvSpPr/>
          <p:nvPr/>
        </p:nvSpPr>
        <p:spPr>
          <a:xfrm>
            <a:off x="272484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8"/>
          <p:cNvSpPr/>
          <p:nvPr/>
        </p:nvSpPr>
        <p:spPr>
          <a:xfrm>
            <a:off x="316368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9"/>
          <p:cNvSpPr/>
          <p:nvPr/>
        </p:nvSpPr>
        <p:spPr>
          <a:xfrm>
            <a:off x="360288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0"/>
          <p:cNvSpPr/>
          <p:nvPr/>
        </p:nvSpPr>
        <p:spPr>
          <a:xfrm>
            <a:off x="404172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21"/>
          <p:cNvSpPr/>
          <p:nvPr/>
        </p:nvSpPr>
        <p:spPr>
          <a:xfrm>
            <a:off x="2715840" y="26060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column store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22"/>
          <p:cNvSpPr/>
          <p:nvPr/>
        </p:nvSpPr>
        <p:spPr>
          <a:xfrm>
            <a:off x="2715840" y="28803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warehouse-ish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23"/>
          <p:cNvSpPr/>
          <p:nvPr/>
        </p:nvSpPr>
        <p:spPr>
          <a:xfrm>
            <a:off x="2715840" y="35204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d/datoms (db) :aevt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24"/>
          <p:cNvSpPr/>
          <p:nvPr/>
        </p:nvSpPr>
        <p:spPr>
          <a:xfrm>
            <a:off x="4700160" y="1143000"/>
            <a:ext cx="1983960" cy="3017160"/>
          </a:xfrm>
          <a:prstGeom prst="roundRect">
            <a:avLst>
              <a:gd name="adj" fmla="val 368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5"/>
          <p:cNvSpPr/>
          <p:nvPr/>
        </p:nvSpPr>
        <p:spPr>
          <a:xfrm>
            <a:off x="4837320" y="12985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AVET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6"/>
          <p:cNvSpPr/>
          <p:nvPr/>
        </p:nvSpPr>
        <p:spPr>
          <a:xfrm>
            <a:off x="4837320" y="16275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 + value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7"/>
          <p:cNvSpPr/>
          <p:nvPr/>
        </p:nvSpPr>
        <p:spPr>
          <a:xfrm>
            <a:off x="484632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8"/>
          <p:cNvSpPr/>
          <p:nvPr/>
        </p:nvSpPr>
        <p:spPr>
          <a:xfrm>
            <a:off x="528516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9"/>
          <p:cNvSpPr/>
          <p:nvPr/>
        </p:nvSpPr>
        <p:spPr>
          <a:xfrm>
            <a:off x="572400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0"/>
          <p:cNvSpPr/>
          <p:nvPr/>
        </p:nvSpPr>
        <p:spPr>
          <a:xfrm>
            <a:off x="616320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31"/>
          <p:cNvSpPr/>
          <p:nvPr/>
        </p:nvSpPr>
        <p:spPr>
          <a:xfrm>
            <a:off x="4837320" y="26060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key-value store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2"/>
          <p:cNvSpPr/>
          <p:nvPr/>
        </p:nvSpPr>
        <p:spPr>
          <a:xfrm>
            <a:off x="4837320" y="28803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Redis-ish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33"/>
          <p:cNvSpPr/>
          <p:nvPr/>
        </p:nvSpPr>
        <p:spPr>
          <a:xfrm>
            <a:off x="4837320" y="35204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d/datoms (db) :avet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34"/>
          <p:cNvSpPr/>
          <p:nvPr/>
        </p:nvSpPr>
        <p:spPr>
          <a:xfrm>
            <a:off x="6821280" y="1143000"/>
            <a:ext cx="1983960" cy="3017160"/>
          </a:xfrm>
          <a:prstGeom prst="roundRect">
            <a:avLst>
              <a:gd name="adj" fmla="val 368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35"/>
          <p:cNvSpPr/>
          <p:nvPr/>
        </p:nvSpPr>
        <p:spPr>
          <a:xfrm>
            <a:off x="6958440" y="12985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VAET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36"/>
          <p:cNvSpPr/>
          <p:nvPr/>
        </p:nvSpPr>
        <p:spPr>
          <a:xfrm>
            <a:off x="6958440" y="16275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value-first (refs)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37"/>
          <p:cNvSpPr/>
          <p:nvPr/>
        </p:nvSpPr>
        <p:spPr>
          <a:xfrm>
            <a:off x="696780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38"/>
          <p:cNvSpPr/>
          <p:nvPr/>
        </p:nvSpPr>
        <p:spPr>
          <a:xfrm>
            <a:off x="740664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39"/>
          <p:cNvSpPr/>
          <p:nvPr/>
        </p:nvSpPr>
        <p:spPr>
          <a:xfrm>
            <a:off x="784548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40"/>
          <p:cNvSpPr/>
          <p:nvPr/>
        </p:nvSpPr>
        <p:spPr>
          <a:xfrm>
            <a:off x="8284320" y="2011680"/>
            <a:ext cx="383760" cy="383760"/>
          </a:xfrm>
          <a:prstGeom prst="roundRect">
            <a:avLst>
              <a:gd name="adj" fmla="val 11905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41"/>
          <p:cNvSpPr/>
          <p:nvPr/>
        </p:nvSpPr>
        <p:spPr>
          <a:xfrm>
            <a:off x="6958440" y="260604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reverse graph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42"/>
          <p:cNvSpPr/>
          <p:nvPr/>
        </p:nvSpPr>
        <p:spPr>
          <a:xfrm>
            <a:off x="6958440" y="2880360"/>
            <a:ext cx="17370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Neo4j-ish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43"/>
          <p:cNvSpPr/>
          <p:nvPr/>
        </p:nvSpPr>
        <p:spPr>
          <a:xfrm>
            <a:off x="6958440" y="3520440"/>
            <a:ext cx="1782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d/datoms (db) :vaet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44"/>
          <p:cNvSpPr/>
          <p:nvPr/>
        </p:nvSpPr>
        <p:spPr>
          <a:xfrm>
            <a:off x="457200" y="434340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Datomic maintains all four continuously. The query engine is “just” a constraint solver walking these sorted sets — and d/datoms hands you raw, lazy access to each.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1 OF 7 · AVET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Key-value store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4"/>
          <p:cNvSpPr/>
          <p:nvPr/>
        </p:nvSpPr>
        <p:spPr>
          <a:xfrm>
            <a:off x="457200" y="1097280"/>
            <a:ext cx="8229240" cy="3017160"/>
          </a:xfrm>
          <a:prstGeom prst="roundRect">
            <a:avLst>
              <a:gd name="adj" fmla="val 2121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5"/>
          <p:cNvSpPr/>
          <p:nvPr/>
        </p:nvSpPr>
        <p:spPr>
          <a:xfrm>
            <a:off x="585360" y="1188720"/>
            <a:ext cx="79732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d/pull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{:user/email "tonsky@example.com"}      GET by natural key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d/datoms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:avet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map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juxt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:v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:e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(["pithyless" …420] ["richhickey" …418] ["tonsky" …419]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["victor" …424])                       sorted by (A,V)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d/index-range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"p"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"u"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map </a:t>
            </a:r>
            <a:r>
              <a:rPr lang="en-US" sz="12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:v</a:t>
            </a:r>
            <a:r>
              <a:rPr lang="en-US" sz="12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("pithyless" "richhickey" "tonsky")     range scan too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6"/>
          <p:cNvSpPr/>
          <p:nvPr/>
        </p:nvSpPr>
        <p:spPr>
          <a:xfrm>
            <a:off x="640080" y="429768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SET = transact · GET = lookup ref · DEL = retract · range scans included. Redis, minus the second database you keep consistent by hand.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2 OF 7 · EAVT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Relational rows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4"/>
          <p:cNvSpPr/>
          <p:nvPr/>
        </p:nvSpPr>
        <p:spPr>
          <a:xfrm>
            <a:off x="457200" y="1097280"/>
            <a:ext cx="8229240" cy="3428640"/>
          </a:xfrm>
          <a:prstGeom prst="roundRect">
            <a:avLst>
              <a:gd name="adj" fmla="val 1867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5"/>
          <p:cNvSpPr/>
          <p:nvPr/>
        </p:nvSpPr>
        <p:spPr>
          <a:xfrm>
            <a:off x="585360" y="1188720"/>
            <a:ext cx="7973280" cy="324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SELECT u.name, u.email, count(s.repo_id)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FROM users u JOIN stars s ON s.user_id = u.id GROUP BY u.id;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:keys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user email starred     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maps out = rows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get-else $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:user/email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"—"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?email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sort-by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print-table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| :user     | :email             | :starred |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| pithyless | —                  |        2 |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| tonsky    | tonsky@example.com |        1 |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| victor    | victor@example.com |        1 |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6"/>
          <p:cNvSpPr/>
          <p:nvPr/>
        </p:nvSpPr>
        <p:spPr>
          <a:xfrm>
            <a:off x="640080" y="457200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entity = row · attribute = column · :keys = named columns. The row is a VIEW you asked for, not storage physics you're stuck with.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3 OF 7 · AEVT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Column store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"/>
          <p:cNvSpPr/>
          <p:nvPr/>
        </p:nvSpPr>
        <p:spPr>
          <a:xfrm>
            <a:off x="457200" y="1097280"/>
            <a:ext cx="8229240" cy="2651400"/>
          </a:xfrm>
          <a:prstGeom prst="roundRect">
            <a:avLst>
              <a:gd name="adj" fmla="val 2414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5"/>
          <p:cNvSpPr/>
          <p:nvPr/>
        </p:nvSpPr>
        <p:spPr>
          <a:xfrm>
            <a:off x="585360" y="1188720"/>
            <a:ext cx="79732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d/datoms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:aevt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:repo/language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map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:v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frequencies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{"Clojure" 4, "Java" 1, "ClojureScript" 1}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?lang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:repo/language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?lang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[["Clojure" 4] ["ClojureScript" 1] ["Java" 1]]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6"/>
          <p:cNvSpPr/>
          <p:nvPr/>
        </p:nvSpPr>
        <p:spPr>
          <a:xfrm>
            <a:off x="640080" y="3931920"/>
            <a:ext cx="80463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One attribute, physically clustered across all entities — the definition of columnar. Touch the column, never load a row.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700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The talk: “where SQL falls down is aggregations… what you really need is an index attribute-first.” You have it, continuously, for free.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4 OF 7 · DOCUMENTS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Write a document: nested maps in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4"/>
          <p:cNvSpPr/>
          <p:nvPr/>
        </p:nvSpPr>
        <p:spPr>
          <a:xfrm>
            <a:off x="457200" y="1097280"/>
            <a:ext cx="8229240" cy="3474360"/>
          </a:xfrm>
          <a:prstGeom prst="roundRect">
            <a:avLst>
              <a:gd name="adj" fmla="val 184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5"/>
          <p:cNvSpPr/>
          <p:nvPr/>
        </p:nvSpPr>
        <p:spPr>
          <a:xfrm>
            <a:off x="585360" y="1188720"/>
            <a:ext cx="7973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schema highlights: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:repo/issues    ref, many, :db/isComponent true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:issue/comments ref, many, :db/isComponent true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:issue/title    string,    :db/fulltext true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repo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"datascript"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:repo/issues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:issue/title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"Support tuple bindings in :find"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:issue/state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:issue.state/open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:issue/comments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:comment/body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"PR incoming — same trick as Datomic?"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:comment/author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"pithyless"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:comment/body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"Yes. Keep the API surface identical."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:comment/author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]}]}]}])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6"/>
          <p:cNvSpPr/>
          <p:nvPr/>
        </p:nvSpPr>
        <p:spPr>
          <a:xfrm>
            <a:off x="640080" y="46177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One nested map in, a tree of datoms out — exactly what you'd POST as JSON. Datomic shreds it for you.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4 OF 7 · DOCUMENTS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Read a document: pull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4"/>
          <p:cNvSpPr/>
          <p:nvPr/>
        </p:nvSpPr>
        <p:spPr>
          <a:xfrm>
            <a:off x="457200" y="1097280"/>
            <a:ext cx="8229240" cy="3474360"/>
          </a:xfrm>
          <a:prstGeom prst="roundRect">
            <a:avLst>
              <a:gd name="adj" fmla="val 184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5"/>
          <p:cNvSpPr/>
          <p:nvPr/>
        </p:nvSpPr>
        <p:spPr>
          <a:xfrm>
            <a:off x="585360" y="1188720"/>
            <a:ext cx="7973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d/pull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:repo/owner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:repo/issues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:issue/title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:issue/state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:db/ident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:issue/comments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:comment/body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:comment/author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]}]}]}]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repo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"datascript"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{:repo/slug "datascript"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:repo/owner {:user/name "tonsky"}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:repo/issues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[{:issue/title "Support tuple bindings in :find"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  :issue/state {:db/ident :issue.state/open}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  :issue/comments [{:comment/body "PR incoming — …"} …]}]}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6"/>
          <p:cNvSpPr/>
          <p:nvPr/>
        </p:nvSpPr>
        <p:spPr>
          <a:xfrm>
            <a:off x="640080" y="461772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GraphQL on steroids — except the query is data, not a string DSL. MongoDB gives you ONE document shape; here the boundary is drawn per query.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49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4 OF 7 · DOCUMENTS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Reverse refs, cascades, fulltext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4"/>
          <p:cNvSpPr/>
          <p:nvPr/>
        </p:nvSpPr>
        <p:spPr>
          <a:xfrm>
            <a:off x="457200" y="1097280"/>
            <a:ext cx="8229240" cy="3611520"/>
          </a:xfrm>
          <a:prstGeom prst="roundRect">
            <a:avLst>
              <a:gd name="adj" fmla="val 177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5"/>
          <p:cNvSpPr/>
          <p:nvPr/>
        </p:nvSpPr>
        <p:spPr>
          <a:xfrm>
            <a:off x="585360" y="1188720"/>
            <a:ext cx="797328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d/pull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:comment/_author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← who points at me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:comment/body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:issue/_comments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:issue/title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]}]}]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"pithyless"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components cascade — run speculatively (d/with, from part 4):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let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db2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:db-after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d/with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:db/retractEntity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repo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"datascript"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)]])]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?c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?c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:comment/body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db2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nil          was 2 — the issue and its comments went too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?title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?score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fulltext $ </a:t>
            </a:r>
            <a:r>
              <a:rPr lang="en-US" sz="110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:issue/title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"tuple"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[[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?i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?title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_ </a:t>
            </a:r>
            <a:r>
              <a:rPr lang="en-US" sz="11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?score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]]]]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0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0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#{["Support tuple bindings in :find" 1.0]}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6"/>
          <p:cNvSpPr/>
          <p:nvPr/>
        </p:nvSpPr>
        <p:spPr>
          <a:xfrm>
            <a:off x="640080" y="4709160"/>
            <a:ext cx="80463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Reverse refs (_attr) flip the document inside-out per query · Lucene lives in-process, addressed from Datalog (indexes in the background — re-run if empty right after a transact).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 5 OF 7 · VAET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Graph database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4"/>
          <p:cNvSpPr/>
          <p:nvPr/>
        </p:nvSpPr>
        <p:spPr>
          <a:xfrm>
            <a:off x="457200" y="1097280"/>
            <a:ext cx="8229240" cy="3474360"/>
          </a:xfrm>
          <a:prstGeom prst="roundRect">
            <a:avLst>
              <a:gd name="adj" fmla="val 1842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"/>
          <p:cNvSpPr/>
          <p:nvPr/>
        </p:nvSpPr>
        <p:spPr>
          <a:xfrm>
            <a:off x="585360" y="1188720"/>
            <a:ext cx="797328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rules (excerpt) — a rule may call ITSELF: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[(follows ?a ?b) [?a :user/follows ?b]]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[(follows ?a ?b) [?a :user/follows ?x] (follows ?x ?b)]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d/entity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:user/_follows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map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("pithyless")            ← incoming edge, free (VAET)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...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%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?start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follows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?start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?x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</a:t>
            </a: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recursion!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?x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rules 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1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1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1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["pithyless" "richhickey" "tonsky"]     arbitrary depth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6"/>
          <p:cNvSpPr/>
          <p:nvPr/>
        </p:nvSpPr>
        <p:spPr>
          <a:xfrm>
            <a:off x="640080" y="4617720"/>
            <a:ext cx="8046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Every ref is bidirectional for free — VAET is the reverse index over every ref in the system. No edge tables, no recursive CTE, no max-hops guess. This is the Kevin Bacon query.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MESH PAYOFF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A recommender in five clauses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4"/>
          <p:cNvSpPr/>
          <p:nvPr/>
        </p:nvSpPr>
        <p:spPr>
          <a:xfrm>
            <a:off x="457200" y="1097280"/>
            <a:ext cx="8229240" cy="2925720"/>
          </a:xfrm>
          <a:prstGeom prst="roundRect">
            <a:avLst>
              <a:gd name="adj" fmla="val 2188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5"/>
          <p:cNvSpPr/>
          <p:nvPr/>
        </p:nvSpPr>
        <p:spPr>
          <a:xfrm>
            <a:off x="585360" y="1188720"/>
            <a:ext cx="79732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repos starred by people I (transitively) follow, minus mine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?owner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:in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$ %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?me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follows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?me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?friend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?friend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not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?me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:user/stars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:repo/slug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?slug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owner-name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?r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?owner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)]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rules 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2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2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2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"victor"</a:t>
            </a:r>
            <a:r>
              <a:rPr lang="en-US" sz="12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#{["tonsky" "datascript"]}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6"/>
          <p:cNvSpPr/>
          <p:nvPr/>
        </p:nvSpPr>
        <p:spPr>
          <a:xfrm>
            <a:off x="640080" y="416052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601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Users, follows, stars, repos, owners — five “tables”, zero JOINs written, one recursive hop, one polymorphic rule.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601"/>
              </a:spcAft>
              <a:buClr>
                <a:srgbClr val="7BD88F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7BD88F"/>
                </a:solidFill>
                <a:effectLst/>
                <a:uFillTx/>
                <a:latin typeface="Calibri"/>
                <a:ea typeface="Calibri"/>
              </a:rPr>
              <a:t>This query is why the class exists.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SHAPES 6 &amp; 7 OF 7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Event log · sparse matrix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"/>
          <p:cNvSpPr/>
          <p:nvPr/>
        </p:nvSpPr>
        <p:spPr>
          <a:xfrm>
            <a:off x="7635240" y="311040"/>
            <a:ext cx="1051200" cy="310680"/>
          </a:xfrm>
          <a:prstGeom prst="roundRect">
            <a:avLst>
              <a:gd name="adj" fmla="val 17647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§6.6–7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502920" y="1051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C09BFF"/>
                </a:solidFill>
                <a:effectLst/>
                <a:uFillTx/>
                <a:latin typeface="Arial"/>
                <a:ea typeface="Arial"/>
              </a:rPr>
              <a:t>6 · the log IS the database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457200" y="1371600"/>
            <a:ext cx="4068720" cy="2285640"/>
          </a:xfrm>
          <a:prstGeom prst="roundRect">
            <a:avLst>
              <a:gd name="adj" fmla="val 280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585360" y="1463040"/>
            <a:ext cx="38127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-&gt;&gt;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d/tx-range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d/log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    </a:t>
            </a:r>
            <a:r>
              <a:rPr lang="en-US" sz="1050" b="0" u="none" strike="noStrike">
                <a:solidFill>
                  <a:srgbClr val="F28FAD"/>
                </a:solidFill>
                <a:effectLst/>
                <a:uFillTx/>
                <a:latin typeface="Courier New"/>
                <a:ea typeface="Courier New"/>
              </a:rPr>
              <a:t>nil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F28FAD"/>
                </a:solidFill>
                <a:effectLst/>
                <a:uFillTx/>
                <a:latin typeface="Courier New"/>
                <a:ea typeface="Courier New"/>
              </a:rPr>
              <a:t>nil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take 3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map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fn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:keys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t data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]}]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{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:t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   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:datoms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count data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)})))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({:t 1000 :datoms 13}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    {:t 1001 :datoms 4} …)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502920" y="3794760"/>
            <a:ext cx="3977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Event sourcing without the migration problem: events are plain facts, not versioned payloads. Projections? The four indexes. You've run CQRS since §0.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8"/>
          <p:cNvSpPr/>
          <p:nvPr/>
        </p:nvSpPr>
        <p:spPr>
          <a:xfrm>
            <a:off x="4663440" y="1051560"/>
            <a:ext cx="3931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C66D"/>
                </a:solidFill>
                <a:effectLst/>
                <a:uFillTx/>
                <a:latin typeface="Arial"/>
                <a:ea typeface="Arial"/>
              </a:rPr>
              <a:t>7 · sparse without nulls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9"/>
          <p:cNvSpPr/>
          <p:nvPr/>
        </p:nvSpPr>
        <p:spPr>
          <a:xfrm>
            <a:off x="4617720" y="1371600"/>
            <a:ext cx="4068720" cy="2285640"/>
          </a:xfrm>
          <a:prstGeom prst="roundRect">
            <a:avLst>
              <a:gd name="adj" fmla="val 280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3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0"/>
          <p:cNvSpPr/>
          <p:nvPr/>
        </p:nvSpPr>
        <p:spPr>
          <a:xfrm>
            <a:off x="4745880" y="1463040"/>
            <a:ext cx="38127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@(</a:t>
            </a:r>
            <a:r>
              <a:rPr lang="en-US" sz="10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d/transact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conn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[{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:db/id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"tonsky"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:user/twitter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"@tonsky"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}])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d/q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'[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:find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?tw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:where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</a:t>
            </a:r>
            <a:r>
              <a:rPr lang="en-US" sz="10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:user/name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?name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[(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get-else $ </a:t>
            </a:r>
            <a:r>
              <a:rPr lang="en-US" sz="10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?u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     </a:t>
            </a:r>
            <a:r>
              <a:rPr lang="en-US" sz="1050" b="0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:user/twitter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"—"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5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?tw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]]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(</a:t>
            </a:r>
            <a:r>
              <a:rPr lang="en-US" sz="1050" b="0" u="none" strike="noStrike">
                <a:solidFill>
                  <a:srgbClr val="E8EDF6"/>
                </a:solidFill>
                <a:effectLst/>
                <a:uFillTx/>
                <a:latin typeface="Courier New"/>
                <a:ea typeface="Courier New"/>
              </a:rPr>
              <a:t>db</a:t>
            </a:r>
            <a:r>
              <a:rPr lang="en-US" sz="1050" b="0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))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4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A7891"/>
                </a:solidFill>
                <a:effectLst/>
                <a:uFillTx/>
                <a:latin typeface="Courier New"/>
                <a:ea typeface="Courier New"/>
              </a:rPr>
              <a:t>;; =&gt; 1 has it, 3 show "—"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1"/>
          <p:cNvSpPr/>
          <p:nvPr/>
        </p:nvSpPr>
        <p:spPr>
          <a:xfrm>
            <a:off x="4663440" y="3794760"/>
            <a:ext cx="39772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A 500-optional-column “table” costs 500×N nulls in a rectangle. Here an absent fact occupies zero bytes — and still means something.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PART 6 RECAP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Same datoms, seven costumes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3"/>
          <p:cNvSpPr/>
          <p:nvPr/>
        </p:nvSpPr>
        <p:spPr>
          <a:xfrm>
            <a:off x="457200" y="118872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4"/>
          <p:cNvSpPr/>
          <p:nvPr/>
        </p:nvSpPr>
        <p:spPr>
          <a:xfrm>
            <a:off x="594360" y="13168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Key-value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5"/>
          <p:cNvSpPr/>
          <p:nvPr/>
        </p:nvSpPr>
        <p:spPr>
          <a:xfrm>
            <a:off x="594360" y="175572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AVET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Shape 6"/>
          <p:cNvSpPr/>
          <p:nvPr/>
        </p:nvSpPr>
        <p:spPr>
          <a:xfrm>
            <a:off x="2578680" y="118872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7"/>
          <p:cNvSpPr/>
          <p:nvPr/>
        </p:nvSpPr>
        <p:spPr>
          <a:xfrm>
            <a:off x="2715840" y="13168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Relational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8"/>
          <p:cNvSpPr/>
          <p:nvPr/>
        </p:nvSpPr>
        <p:spPr>
          <a:xfrm>
            <a:off x="2715840" y="175572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EAVT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9"/>
          <p:cNvSpPr/>
          <p:nvPr/>
        </p:nvSpPr>
        <p:spPr>
          <a:xfrm>
            <a:off x="4700160" y="118872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0"/>
          <p:cNvSpPr/>
          <p:nvPr/>
        </p:nvSpPr>
        <p:spPr>
          <a:xfrm>
            <a:off x="4837320" y="13168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Columnar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1"/>
          <p:cNvSpPr/>
          <p:nvPr/>
        </p:nvSpPr>
        <p:spPr>
          <a:xfrm>
            <a:off x="4837320" y="175572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6FA8FF"/>
                </a:solidFill>
                <a:effectLst/>
                <a:uFillTx/>
                <a:latin typeface="Courier New"/>
                <a:ea typeface="Courier New"/>
              </a:rPr>
              <a:t>AEVT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2"/>
          <p:cNvSpPr/>
          <p:nvPr/>
        </p:nvSpPr>
        <p:spPr>
          <a:xfrm>
            <a:off x="6821280" y="118872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3"/>
          <p:cNvSpPr/>
          <p:nvPr/>
        </p:nvSpPr>
        <p:spPr>
          <a:xfrm>
            <a:off x="6958440" y="131688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Document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4"/>
          <p:cNvSpPr/>
          <p:nvPr/>
        </p:nvSpPr>
        <p:spPr>
          <a:xfrm>
            <a:off x="6958440" y="175572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28FAD"/>
                </a:solidFill>
                <a:effectLst/>
                <a:uFillTx/>
                <a:latin typeface="Courier New"/>
                <a:ea typeface="Courier New"/>
              </a:rPr>
              <a:t>pull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5"/>
          <p:cNvSpPr/>
          <p:nvPr/>
        </p:nvSpPr>
        <p:spPr>
          <a:xfrm>
            <a:off x="457200" y="251460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6"/>
          <p:cNvSpPr/>
          <p:nvPr/>
        </p:nvSpPr>
        <p:spPr>
          <a:xfrm>
            <a:off x="594360" y="26427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Graph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7"/>
          <p:cNvSpPr/>
          <p:nvPr/>
        </p:nvSpPr>
        <p:spPr>
          <a:xfrm>
            <a:off x="594360" y="308160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C09BFF"/>
                </a:solidFill>
                <a:effectLst/>
                <a:uFillTx/>
                <a:latin typeface="Courier New"/>
                <a:ea typeface="Courier New"/>
              </a:rPr>
              <a:t>VAET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18"/>
          <p:cNvSpPr/>
          <p:nvPr/>
        </p:nvSpPr>
        <p:spPr>
          <a:xfrm>
            <a:off x="2578680" y="251460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9"/>
          <p:cNvSpPr/>
          <p:nvPr/>
        </p:nvSpPr>
        <p:spPr>
          <a:xfrm>
            <a:off x="2715840" y="26427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Event log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0"/>
          <p:cNvSpPr/>
          <p:nvPr/>
        </p:nvSpPr>
        <p:spPr>
          <a:xfrm>
            <a:off x="2715840" y="308160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7C8AA5"/>
                </a:solidFill>
                <a:effectLst/>
                <a:uFillTx/>
                <a:latin typeface="Courier New"/>
                <a:ea typeface="Courier New"/>
              </a:rPr>
              <a:t>d/log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1"/>
          <p:cNvSpPr/>
          <p:nvPr/>
        </p:nvSpPr>
        <p:spPr>
          <a:xfrm>
            <a:off x="4700160" y="2514600"/>
            <a:ext cx="1983960" cy="1142640"/>
          </a:xfrm>
          <a:prstGeom prst="roundRect">
            <a:avLst>
              <a:gd name="adj" fmla="val 6400"/>
            </a:avLst>
          </a:prstGeom>
          <a:solidFill>
            <a:srgbClr val="18202F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2"/>
          <p:cNvSpPr/>
          <p:nvPr/>
        </p:nvSpPr>
        <p:spPr>
          <a:xfrm>
            <a:off x="4837320" y="264276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Sparse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3"/>
          <p:cNvSpPr/>
          <p:nvPr/>
        </p:nvSpPr>
        <p:spPr>
          <a:xfrm>
            <a:off x="4837320" y="3081600"/>
            <a:ext cx="914040" cy="328680"/>
          </a:xfrm>
          <a:prstGeom prst="roundRect">
            <a:avLst>
              <a:gd name="adj" fmla="val 13889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C66D"/>
                </a:solidFill>
                <a:effectLst/>
                <a:uFillTx/>
                <a:latin typeface="Courier New"/>
                <a:ea typeface="Courier New"/>
              </a:rPr>
              <a:t>absence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24"/>
          <p:cNvSpPr/>
          <p:nvPr/>
        </p:nvSpPr>
        <p:spPr>
          <a:xfrm>
            <a:off x="6821280" y="2514600"/>
            <a:ext cx="1865160" cy="1142640"/>
          </a:xfrm>
          <a:prstGeom prst="roundRect">
            <a:avLst>
              <a:gd name="adj" fmla="val 6400"/>
            </a:avLst>
          </a:prstGeom>
          <a:solidFill>
            <a:srgbClr val="141B29"/>
          </a:solidFill>
          <a:ln w="12700">
            <a:solidFill>
              <a:srgbClr val="2A3550"/>
            </a:solidFill>
            <a:round/>
          </a:ln>
          <a:effectLst>
            <a:outerShdw algn="bl" blurRad="10152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5"/>
          <p:cNvSpPr/>
          <p:nvPr/>
        </p:nvSpPr>
        <p:spPr>
          <a:xfrm>
            <a:off x="6949440" y="263340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what changed: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6"/>
          <p:cNvSpPr/>
          <p:nvPr/>
        </p:nvSpPr>
        <p:spPr>
          <a:xfrm>
            <a:off x="6949440" y="2871360"/>
            <a:ext cx="16455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index order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7BD88F"/>
                </a:solidFill>
                <a:effectLst/>
                <a:uFillTx/>
                <a:latin typeface="Arial"/>
                <a:ea typeface="Arial"/>
              </a:rPr>
              <a:t>+ projection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7"/>
          <p:cNvSpPr/>
          <p:nvPr/>
        </p:nvSpPr>
        <p:spPr>
          <a:xfrm>
            <a:off x="457200" y="411480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Query language, transaction shape, storage: identical throughout. You never chose a database — you chose a fact model, and the shapes came free.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"/>
          <p:cNvSpPr/>
          <p:nvPr/>
        </p:nvSpPr>
        <p:spPr>
          <a:xfrm>
            <a:off x="548640" y="77724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201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The whole class in one sentence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2"/>
          <p:cNvSpPr/>
          <p:nvPr/>
        </p:nvSpPr>
        <p:spPr>
          <a:xfrm>
            <a:off x="914400" y="1371600"/>
            <a:ext cx="7314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Model facts as datoms; let index order give you every database you used to run — and let columns four and five give you time.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3"/>
          <p:cNvSpPr/>
          <p:nvPr/>
        </p:nvSpPr>
        <p:spPr>
          <a:xfrm>
            <a:off x="2148840" y="3154680"/>
            <a:ext cx="914040" cy="456840"/>
          </a:xfrm>
          <a:prstGeom prst="roundRect">
            <a:avLst>
              <a:gd name="adj" fmla="val 10000"/>
            </a:avLst>
          </a:prstGeom>
          <a:solidFill>
            <a:srgbClr val="7BD88F"/>
          </a:solidFill>
          <a:ln w="12700">
            <a:solidFill>
              <a:srgbClr val="7BD8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4"/>
          <p:cNvSpPr/>
          <p:nvPr/>
        </p:nvSpPr>
        <p:spPr>
          <a:xfrm>
            <a:off x="2148840" y="36486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entity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5"/>
          <p:cNvSpPr/>
          <p:nvPr/>
        </p:nvSpPr>
        <p:spPr>
          <a:xfrm>
            <a:off x="3154680" y="3154680"/>
            <a:ext cx="914040" cy="456840"/>
          </a:xfrm>
          <a:prstGeom prst="roundRect">
            <a:avLst>
              <a:gd name="adj" fmla="val 10000"/>
            </a:avLst>
          </a:prstGeom>
          <a:solidFill>
            <a:srgbClr val="6FA8FF"/>
          </a:solidFill>
          <a:ln w="12700">
            <a:solidFill>
              <a:srgbClr val="6F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6"/>
          <p:cNvSpPr/>
          <p:nvPr/>
        </p:nvSpPr>
        <p:spPr>
          <a:xfrm>
            <a:off x="3154680" y="36486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attribute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7"/>
          <p:cNvSpPr/>
          <p:nvPr/>
        </p:nvSpPr>
        <p:spPr>
          <a:xfrm>
            <a:off x="4160520" y="3154680"/>
            <a:ext cx="914040" cy="456840"/>
          </a:xfrm>
          <a:prstGeom prst="roundRect">
            <a:avLst>
              <a:gd name="adj" fmla="val 10000"/>
            </a:avLst>
          </a:prstGeom>
          <a:solidFill>
            <a:srgbClr val="FFC66D"/>
          </a:solidFill>
          <a:ln w="12700">
            <a:solidFill>
              <a:srgbClr val="FFC6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V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8"/>
          <p:cNvSpPr/>
          <p:nvPr/>
        </p:nvSpPr>
        <p:spPr>
          <a:xfrm>
            <a:off x="4160520" y="36486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value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9"/>
          <p:cNvSpPr/>
          <p:nvPr/>
        </p:nvSpPr>
        <p:spPr>
          <a:xfrm>
            <a:off x="5166360" y="3154680"/>
            <a:ext cx="914040" cy="456840"/>
          </a:xfrm>
          <a:prstGeom prst="roundRect">
            <a:avLst>
              <a:gd name="adj" fmla="val 10000"/>
            </a:avLst>
          </a:prstGeom>
          <a:solidFill>
            <a:srgbClr val="C09BFF"/>
          </a:solidFill>
          <a:ln w="12700">
            <a:solidFill>
              <a:srgbClr val="C09B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Tx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10"/>
          <p:cNvSpPr/>
          <p:nvPr/>
        </p:nvSpPr>
        <p:spPr>
          <a:xfrm>
            <a:off x="5166360" y="36486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transaction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1"/>
          <p:cNvSpPr/>
          <p:nvPr/>
        </p:nvSpPr>
        <p:spPr>
          <a:xfrm>
            <a:off x="6172200" y="3154680"/>
            <a:ext cx="914040" cy="456840"/>
          </a:xfrm>
          <a:prstGeom prst="roundRect">
            <a:avLst>
              <a:gd name="adj" fmla="val 10000"/>
            </a:avLst>
          </a:prstGeom>
          <a:solidFill>
            <a:srgbClr val="F28FAD"/>
          </a:solidFill>
          <a:ln w="12700">
            <a:solidFill>
              <a:srgbClr val="F28FA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1420"/>
                </a:solidFill>
                <a:effectLst/>
                <a:uFillTx/>
                <a:latin typeface="Courier New"/>
                <a:ea typeface="Courier New"/>
              </a:rPr>
              <a:t>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2"/>
          <p:cNvSpPr/>
          <p:nvPr/>
        </p:nvSpPr>
        <p:spPr>
          <a:xfrm>
            <a:off x="6172200" y="3648600"/>
            <a:ext cx="9140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8FA0B8"/>
                </a:solidFill>
                <a:effectLst/>
                <a:uFillTx/>
                <a:latin typeface="Calibri"/>
                <a:ea typeface="Calibri"/>
              </a:rPr>
              <a:t>added?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3"/>
          <p:cNvSpPr/>
          <p:nvPr/>
        </p:nvSpPr>
        <p:spPr>
          <a:xfrm>
            <a:off x="548640" y="425196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7BD88F"/>
                </a:solidFill>
                <a:effectLst/>
                <a:uFillTx/>
                <a:latin typeface="Courier New"/>
                <a:ea typeface="Courier New"/>
              </a:rPr>
              <a:t>datoms  →  indexes  →  shapes  →  time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Text 0"/>
          <p:cNvSpPr/>
          <p:nvPr/>
        </p:nvSpPr>
        <p:spPr>
          <a:xfrm>
            <a:off x="8641080" y="4864680"/>
            <a:ext cx="3654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A7891"/>
                </a:solidFill>
                <a:effectLst/>
                <a:uFillTx/>
                <a:latin typeface="Calibri"/>
                <a:ea typeface="Calibri"/>
              </a:rPr>
              <a:t>55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1"/>
          <p:cNvSpPr/>
          <p:nvPr/>
        </p:nvSpPr>
        <p:spPr>
          <a:xfrm>
            <a:off x="457200" y="255960"/>
            <a:ext cx="67662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300" strike="noStrike">
                <a:solidFill>
                  <a:srgbClr val="8FA0B8"/>
                </a:solidFill>
                <a:effectLst/>
                <a:uFillTx/>
                <a:latin typeface="Arial"/>
                <a:ea typeface="Arial"/>
              </a:rPr>
              <a:t>GO DEEPER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"/>
          <p:cNvSpPr/>
          <p:nvPr/>
        </p:nvSpPr>
        <p:spPr>
          <a:xfrm>
            <a:off x="457200" y="457200"/>
            <a:ext cx="7223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E8EDF6"/>
                </a:solidFill>
                <a:effectLst/>
                <a:uFillTx/>
                <a:latin typeface="Arial"/>
                <a:ea typeface="Arial"/>
              </a:rPr>
              <a:t>References &amp; files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3"/>
          <p:cNvSpPr/>
          <p:nvPr/>
        </p:nvSpPr>
        <p:spPr>
          <a:xfrm>
            <a:off x="548640" y="1234440"/>
            <a:ext cx="813780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Norbert Wójtowicz — “Domain Modeling with Datalog” (Pivorak Conf 2.0, 2019): youtube.com/watch?v=oo-7mN9WXTw — the talk this class rebuilds (originally a 2-hour workshop; the speaker's gist has the rest).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docs.datomic.com — query reference, pull, indexes, filters/as-of/since/history, transaction functions.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Datomic Pro is free under Apache-2.0; peer library on Maven Central (com.datomic/peer 1.0.7705).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DataScript — github.com/tonsky/datascript · Datahike — github.com/replikativ/datahike · XTDB — xtdb.com.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52280" indent="-152280" defTabSz="914400">
              <a:lnSpc>
                <a:spcPct val="100000"/>
              </a:lnSpc>
              <a:spcAft>
                <a:spcPts val="1199"/>
              </a:spcAft>
              <a:buClr>
                <a:srgbClr val="E8EDF6"/>
              </a:buClr>
              <a:buFont typeface="Symbol" charset="2"/>
              <a:buChar char=""/>
            </a:pPr>
            <a:r>
              <a:rPr lang="en-US" sz="1350" b="1" u="none" strike="noStrike">
                <a:solidFill>
                  <a:srgbClr val="E8EDF6"/>
                </a:solidFill>
                <a:effectLst/>
                <a:uFillTx/>
                <a:latin typeface="Calibri"/>
                <a:ea typeface="Calibri"/>
              </a:rPr>
              <a:t>Class files: domain_modeling_repl.clj (§0–§6, every slide's code, evaluable form-by-form) + deps.edn (clj -M:repl and go).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4"/>
          <p:cNvSpPr/>
          <p:nvPr/>
        </p:nvSpPr>
        <p:spPr>
          <a:xfrm>
            <a:off x="548640" y="457200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7BD88F"/>
                </a:solidFill>
                <a:effectLst/>
                <a:uFillTx/>
                <a:latin typeface="Calibri"/>
                <a:ea typeface="Calibri"/>
              </a:rPr>
              <a:t>Obrigado — happy hammocking.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2026-07-02T19:10:50Z</dcterms:created>
  <dc:creator>Walnut Exporter</dc:creator>
  <dc:description/>
  <dc:language>en-US</dc:language>
  <cp:lastModifiedBy>Walnut Exporter</cp:lastModifiedBy>
  <dcterms:modified xsi:type="dcterms:W3CDTF">2026-07-02T19:10:50Z</dcterms:modified>
  <cp:revision>0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