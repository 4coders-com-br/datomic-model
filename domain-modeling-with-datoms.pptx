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</p:sldIdLst>
  <p:sldSz cx="9144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0:00. Welcome. Housekeeping: everyone should have deps.edn + domain_modeling_repl.clj and a running REPL (clj -M:repl or editor jack-in). The whole class is live: every code slide has a matching § in the file. Credit the source talk up front — it was originally a 2-hour workshop compressed to 40 minutes; tonight we run the uncompressed version in Datomic. Fun fact to drop later: 'pithyless' in our sample data IS the speaker.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0:03. One breath per row. Sell part 6 as the headline: same data, same query language, seven database shapes. Time budget totals 110 min of content + 10 min slack for questions. Ask people to interrupt — the REPL makes detours cheap.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0:08. The Spotify analogy: only three real node kinds. Album, playlist, subscribe, share, collab-playlist — all just new edges over existing nodes. Land the bolded line hard; it is the thesis for why relational schemas keep hurting: every feature is another implicit join.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0:10. Everyone to the REPL now. domain_modeling_repl.clj §0. Confirm (fresh!) returns :ok for the room before moving on. From here on, every code slide is evaluated live.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0:12. Point at each cell while naming it. The motif on every slide from here is these five colors: mint E, blue A, amber V, violet Tx, coral Op. Emphasize 'no record anywhere' — that's the mental unlearning step for SQL and document people alike.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0:14. Evaluate live. The ~268 count lands the 'turtles' point: the system describes itself with the same 5-tuples. Mention (fresh!) exists for a clean slate between sections. Hammer 'db is a value' — it's deref on an atom, and it's why time travel will be trivial later.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0:17. Keep it quick — schema gets its own section later. The one thing to plant now: unique/identity is what makes [:user/name "tonsky"] addressable in two slides.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0:19. Transact live. Point out :tempids in the returned map. The pithyless cameo is a nice beat: our sample data's third user is the author of the source talk (and of DataScript's fork in a minute... no wait, tonsky owns datascript; pithyless will fork it).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0:21. This is the 'right-hand side of the talk' — the append-only structure Wójtowicz kept on screen the whole time. Eids will differ per machine; the shapes won't. Leave this sentence ringing: everything else is a view.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0:23. Sugar the talk showed as 'replace 44 with [org 44]'. We'll use lookup refs relentlessly from here — including as VALUES inside transactions in part 2. Check the room, then divider.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0:30. Longest lecture stretch. Keep the REPL cadence: every query on the slides gets evaluated. Encourage heckling — the constraint solver rewards 'what if I flip this?' questions.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0:32. Mirror the talk's pattern-matching ladder. Quiz the room: what does each pattern match against our three datoms? The unification sentence is the single most important sentence in part 2.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0:35. Run the scalar query twice; it may return different names. This was the talk's million-points quiz ('why did it return tonsky?'). Sets dedupe and have no order — burn it in now, it explains the :with trap later.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0:38. Note the transact: new facts APPENDED to existing entities via lookup refs — nothing rewritten, the users just grew. Then the constraint-solver magic from the talk: found 11 here, go find all the other 11s. Flip known/unknown freely; same engine.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0:41. :in binds scalars, tuples, collections, relations — collections shown here. The host predicate is the talk's 'your database will never know everything' point: you get logic programming interspersed with arbitrary platform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0:44. 'Once we leave the rectangular world, we don't need nulls' — the fact of not having an attribute signifies information. This pays off twice more: forks (originals lack :repo/fork) and the sparse-matrix shape.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0:47. The talk literally pauses to make the audience design this in SQL — do the same for ten seconds. Then the reveal: values can be REFERENCES, and a ref points at any entity. Note lookup refs used AS values, and string :db/id tempids resolvable within the tx. Transact repo-schema + seed from §2.7 now (also loads stars, forks, follows for later).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0:51. This is the talk's schema-on-read moment. Show the two single-clause queries in the REPL first (user-owner vs org-owner), then the rule that unifies them. A rule is a named, reusable set of clauses — a function call inside your logic.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0:54. The talk's fork move: we did NOT go back and write :repo/fork nil on old repos. Absence signifies 'original'. The same entity plays ?f in one binding and ?orig in another — the solver backtracks so all clauses hold simultaneously.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0:57. Languages: 'I never said an entity can have an attribute only once.' Stars: model the fact (WHO starred WHAT), aggregate at read. GitHub jokes about stars land well here.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1:00. Quiz the 2-vs-4 before revealing. Then not/not-join for negation. Part 2 done — we can now express everything the talk's first hour covered. Water break if needed; schema section is short.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1:00. Short section, big consequences. Everything here is a corollary of 'turtles all the way down' from slide 8.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1:02. The talk: 'username is not a keyword — it's a first-class entity, which is amazing.' valueType/cardinality/unique/doc/fulltext are just attributes ON the attribute. Docs on a flat model matter — encourage :db/doc from day one.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1:05. Accretion: product asks for topics; you transact one map. Composite tuples are the grown-up answer to 'slug is only unique per owner' — auto-maintained, unique, lookup-ref-able. Note the tuple wants the owner's eid, hence d/entid.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1:08. Contrast with string enums (typos pass silently) and int enums (magic numbers). Idents are entities too — you can hang :db/doc or display metadata on the enum values themselves. On to the headline section.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1:35. THE section. Slow down. Everything before was setup; everything after is corollary.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1:37. The talk's performance answer: switch the order of the columns and you can emulate any database. Walk each card: EAVT clusters a row; AEVT clusters a column; AVET is a sorted key→entity map; VAET (refs only) answers 'who points at me'. Next: seven shapes, each tagged with the index doing the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1:40. Lookup refs from part 1 were AVET all along. index-range shows it's a sorted map, not a hash — you get prefix/range queries a plain KV store makes you fake with key naming.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1:43. richhickey is absent — datom clauses are inner joins; get-else only defaults an attribute, it doesn't outer-join the stars clause. Want him with 0? pull per entity or or-join. EAVT keeps an entity's datoms contiguous — 'the row' materialized on demand.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1:45. Warehouse question answered without a warehouse. In query form the engine picks AEVT for you; d/datoms shows what it's walking. Same datoms as the 'rows' one slide ago.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1:48. isComponent = ownership: issues belong to their repo, comments to their issue — cascade in two slides. fulltext true must be set at attribute creation. Transact §6.4's issue-schema first, then this document.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1:51. The talk's pull section verbatim in spirit: vector of attrs, map notation = joins, nesting arbitrary. This lineage is real: EQL and Fulcro grew out of this syntax; pull-as-wire-protocol returns on the DataScript slide.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1:54. Three punches: (1) _author navigates the same data as comments-by-author — the document boundary was never real; (2) retractEntity on a component root cascades — shown safely via d/with, recalling part 4; (3) fulltext is the host-platform door from part 2, now with Lucene scores.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1:57. Also show d/datoms :vaet on the datascript repo in the REPL: the fork and the star point at it — 'you have the answer, find the question.' Fork ancestry uses the same recursion on a different edge (fork-of): victor's fork-of-a-fork returns two ancestors.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2:00. Read it aloud clause by clause — it reads like the product spec. Invite the room to imagine the SQL (recursive CTE + 4 joins + NOT EXISTS + polymorphic owner). Pause here; this is the emotional peak.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2:02. Left: d/tx-range is your Kafka-shaped view — t 1000 is YOUR first tx (the user schema) — the bootstrap isn't in the log. Right: one-off attributes with no guilt; only tonsky gets a twitter handle and nobody migrated anything.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2:05. The money slide. Slow read of the bottom line. If someone asks 'so I never need Redis/Mongo/Neo4j again?' — honest answer: at scale extremes, specialized engines win; the point is that ONE model covers the whole mesh until they genuinely do (part 5's heuristic #8 has the when-not list).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1:10. Bring back the 5-chip motif: we've only used three cells so far. Everything in this part is one idea — the past is immutable — cashed out five ways.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1:12. The talk's trick question ('how do you update an append-only db?') answered: for cardinality-one, Datomic expands your map into retract+assert automatically. d/history returns EVERY 5-tuple ever true — proof on screen. Save t-before (d/basis-t) first; the time-travel slide needs it.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1:14. Retraction = 'forget this one instance of truth' — the talk stressed all cells must match except tx/op, which is exactly what protects multi-cardinality. CAS is your read-modify-write guard without locks.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1:17. Turtles again: the tx is an entity, so hang actor/reason on it via the "datomic.tx" tempid. The query takes TWO db inputs — $hist for the fact's history, $ (present) for tx metadata; multi-db queries are just more inputs. The talk's war story: tracing a bug to a JSON import three months prior.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1:19. as-of/since/history are just different windows over the same immutable log — the QUERY does not change. The since gotcha is real production pain: a since-db lacks the entity's identity datoms, so resolve names against the present db.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1:21. Possible only because db is a value: d/with returns a NEW value with your tx applied; the real conn never hears about it. The 'hypothetical database' from the talk.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1:23. The talk's permission model: 'we filter out datoms you can't see, then let you run anything.' One predicate guards every query path — no forgotten WHERE clause. Mention excision only briefly; it's the compliance escape hatch.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1:25. Land the plane. Architecture in one slide, then practical takeaways.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1:27. Storage doesn't understand datoms — it stores immutable index segments, which is why 'run it on anything' works. Peers pull segments + live novelty and query in-process: the talk's 'almost all the data you need is almost always in memory.' basis-t is why you always know exactly which point in time you're querying.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1:30. The full-circle beat: our sample repo datascript is tonsky's real project — the talk's own frontend story (replace React state management with a queryable db). EQL grew out of pull syntax; front-back communication as data.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1:32. One breath each; the REPL file has the long form (§5). On #8 be concrete: mouse moves, tick-by-tick order books, blob storage — Kafka/Pulsar/S3 territory; and write volume beyond one transactor's serialization point.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1:34. E1–E2 exercise modeling, E3 exercises time, E4 is the mindset shift, E5 proves portability. Offer to review solutions async.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2:10. Recap arc: smallest fact → four sort orders → seven shapes → immutable time. Questions from here; the recommender query is the go-to callback if energy dips.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1143000"/>
            <a:ext cx="5486400" cy="6858000"/>
          </a:xfrm>
          <a:prstGeom prst="rect">
            <a:avLst/>
          </a:prstGeom>
        </p:spPr>
        <p:txBody>
          <a:bodyPr/>
          <a:lstStyle/>
          <a:p>
            <a:r>
              <a:rPr lang="en-US" sz="1200"/>
              <a:t>End. Point at the REPL file one last time — it's designed for self-study: expected results inline, exercises at the bottom, fresh! to reset. Share both files with attendees.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8046360" cy="822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3900" b="1">
                <a:solidFill>
                  <a:srgbClr val="E8EDF6"/>
                </a:solidFill>
                <a:latin typeface="Arial"/>
              </a:rPr>
              <a:t>ONE DATABASE, MANY SHAPES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8046360" cy="411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700">
                <a:solidFill>
                  <a:srgbClr val="8FA0B8"/>
                </a:solidFill>
                <a:latin typeface="Calibri"/>
              </a:rPr>
              <a:t>Domain modeling with datoms — a 2-hour, REPL-first class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371600" y="2514600"/>
            <a:ext cx="1234080" cy="50256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0F1420"/>
                </a:solidFill>
                <a:latin typeface="Courier New"/>
              </a:rPr>
              <a:t>17592…419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1371600" y="3054240"/>
            <a:ext cx="12340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entity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2697480" y="2514600"/>
            <a:ext cx="1371240" cy="50256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0F1420"/>
                </a:solidFill>
                <a:latin typeface="Courier New"/>
              </a:rPr>
              <a:t>:user/name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2697480" y="3054240"/>
            <a:ext cx="13712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attribute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4160520" y="2514600"/>
            <a:ext cx="1188360" cy="50256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0F1420"/>
                </a:solidFill>
                <a:latin typeface="Courier New"/>
              </a:rPr>
              <a:t>"tonsky"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160520" y="3054240"/>
            <a:ext cx="118836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value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5440680" y="2514600"/>
            <a:ext cx="1234080" cy="50256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0F1420"/>
                </a:solidFill>
                <a:latin typeface="Courier New"/>
              </a:rPr>
              <a:t>13194…313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5440680" y="3054240"/>
            <a:ext cx="12340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transaction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6766560" y="2514600"/>
            <a:ext cx="914040" cy="50256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0F1420"/>
                </a:solidFill>
                <a:latin typeface="Courier New"/>
              </a:rPr>
              <a:t>true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6766560" y="3054240"/>
            <a:ext cx="9140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added?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548640" y="3886200"/>
            <a:ext cx="804636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50" i="1">
                <a:solidFill>
                  <a:srgbClr val="6A7891"/>
                </a:solidFill>
                <a:latin typeface="Calibri"/>
              </a:rPr>
              <a:t>Examples rebuilt from Norbert Wójtowicz — “Domain Modeling with Datalog” (Pivorak Conf 2.0, 2019) · youtube.com/watch?v=oo-7mN9WXTw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548640" y="4224600"/>
            <a:ext cx="804636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ourier New"/>
              </a:rPr>
              <a:t>Datomic Pro (Apache-2.0) · datomic:mem:// — no transactor process · companion file: domain_modeling_repl.clj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TONIGHT'S ROUTE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Two hours, six moves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502920" y="1161360"/>
            <a:ext cx="383760" cy="383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Arial"/>
              </a:rPr>
              <a:t>1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1051560" y="1115640"/>
            <a:ext cx="539460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>
                <a:solidFill>
                  <a:srgbClr val="E8EDF6"/>
                </a:solidFill>
                <a:latin typeface="Calibri"/>
              </a:rPr>
              <a:t>The datom — the smallest fact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537960" y="1115640"/>
            <a:ext cx="91404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BD88F"/>
                </a:solidFill>
                <a:latin typeface="Courier New"/>
              </a:rPr>
              <a:t>§0–§1</a:t>
            </a:r>
          </a:p>
        </p:txBody>
      </p:sp>
      <p:sp>
        <p:nvSpPr>
          <p:cNvPr id="8" name="Text 7"/>
          <p:cNvSpPr txBox="1"/>
          <p:nvPr/>
        </p:nvSpPr>
        <p:spPr>
          <a:xfrm>
            <a:off x="7589520" y="1115640"/>
            <a:ext cx="109692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1300">
                <a:solidFill>
                  <a:srgbClr val="8FA0B8"/>
                </a:solidFill>
                <a:latin typeface="Calibri"/>
              </a:rPr>
              <a:t>20 min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02920" y="1783080"/>
            <a:ext cx="383760" cy="383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Arial"/>
              </a:rPr>
              <a:t>2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51560" y="1737360"/>
            <a:ext cx="539460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>
                <a:solidFill>
                  <a:srgbClr val="E8EDF6"/>
                </a:solidFill>
                <a:latin typeface="Calibri"/>
              </a:rPr>
              <a:t>Query — pattern matching all the way down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537960" y="1737360"/>
            <a:ext cx="91404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BD88F"/>
                </a:solidFill>
                <a:latin typeface="Courier New"/>
              </a:rPr>
              <a:t>§2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589520" y="1737360"/>
            <a:ext cx="109692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1300">
                <a:solidFill>
                  <a:srgbClr val="8FA0B8"/>
                </a:solidFill>
                <a:latin typeface="Calibri"/>
              </a:rPr>
              <a:t>25 min</a:t>
            </a:r>
          </a:p>
        </p:txBody>
      </p:sp>
      <p:sp>
        <p:nvSpPr>
          <p:cNvPr id="13" name="Text 14"/>
          <p:cNvSpPr txBox="1"/>
          <p:nvPr/>
        </p:nvSpPr>
        <p:spPr>
          <a:xfrm>
            <a:off x="502920" y="2404800"/>
            <a:ext cx="383760" cy="383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Arial"/>
              </a:rPr>
              <a:t>3</a:t>
            </a:r>
          </a:p>
        </p:txBody>
      </p:sp>
      <p:sp>
        <p:nvSpPr>
          <p:cNvPr id="14" name="Text 15"/>
          <p:cNvSpPr txBox="1"/>
          <p:nvPr/>
        </p:nvSpPr>
        <p:spPr>
          <a:xfrm>
            <a:off x="1051560" y="2359080"/>
            <a:ext cx="539460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>
                <a:solidFill>
                  <a:srgbClr val="E8EDF6"/>
                </a:solidFill>
                <a:latin typeface="Calibri"/>
              </a:rPr>
              <a:t>Schema is data</a:t>
            </a:r>
          </a:p>
        </p:txBody>
      </p:sp>
      <p:sp>
        <p:nvSpPr>
          <p:cNvPr id="15" name="Text 16"/>
          <p:cNvSpPr txBox="1"/>
          <p:nvPr/>
        </p:nvSpPr>
        <p:spPr>
          <a:xfrm>
            <a:off x="6537960" y="2359080"/>
            <a:ext cx="91404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BD88F"/>
                </a:solidFill>
                <a:latin typeface="Courier New"/>
              </a:rPr>
              <a:t>§3</a:t>
            </a:r>
          </a:p>
        </p:txBody>
      </p:sp>
      <p:sp>
        <p:nvSpPr>
          <p:cNvPr id="16" name="Text 17"/>
          <p:cNvSpPr txBox="1"/>
          <p:nvPr/>
        </p:nvSpPr>
        <p:spPr>
          <a:xfrm>
            <a:off x="7589520" y="2359080"/>
            <a:ext cx="109692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1300">
                <a:solidFill>
                  <a:srgbClr val="8FA0B8"/>
                </a:solidFill>
                <a:latin typeface="Calibri"/>
              </a:rPr>
              <a:t>10 min</a:t>
            </a:r>
          </a:p>
        </p:txBody>
      </p:sp>
      <p:sp>
        <p:nvSpPr>
          <p:cNvPr id="17" name="Text 19"/>
          <p:cNvSpPr txBox="1"/>
          <p:nvPr/>
        </p:nvSpPr>
        <p:spPr>
          <a:xfrm>
            <a:off x="502920" y="3026520"/>
            <a:ext cx="383760" cy="383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Arial"/>
              </a:rPr>
              <a:t>4</a:t>
            </a:r>
          </a:p>
        </p:txBody>
      </p:sp>
      <p:sp>
        <p:nvSpPr>
          <p:cNvPr id="18" name="Text 20"/>
          <p:cNvSpPr txBox="1"/>
          <p:nvPr/>
        </p:nvSpPr>
        <p:spPr>
          <a:xfrm>
            <a:off x="1051560" y="2980800"/>
            <a:ext cx="539460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>
                <a:solidFill>
                  <a:srgbClr val="E8EDF6"/>
                </a:solidFill>
                <a:latin typeface="Calibri"/>
              </a:rPr>
              <a:t>Time — columns four and five</a:t>
            </a:r>
          </a:p>
        </p:txBody>
      </p:sp>
      <p:sp>
        <p:nvSpPr>
          <p:cNvPr id="19" name="Text 21"/>
          <p:cNvSpPr txBox="1"/>
          <p:nvPr/>
        </p:nvSpPr>
        <p:spPr>
          <a:xfrm>
            <a:off x="6537960" y="2980800"/>
            <a:ext cx="91404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BD88F"/>
                </a:solidFill>
                <a:latin typeface="Courier New"/>
              </a:rPr>
              <a:t>§4</a:t>
            </a:r>
          </a:p>
        </p:txBody>
      </p:sp>
      <p:sp>
        <p:nvSpPr>
          <p:cNvPr id="20" name="Text 22"/>
          <p:cNvSpPr txBox="1"/>
          <p:nvPr/>
        </p:nvSpPr>
        <p:spPr>
          <a:xfrm>
            <a:off x="7589520" y="2980800"/>
            <a:ext cx="109692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1300">
                <a:solidFill>
                  <a:srgbClr val="8FA0B8"/>
                </a:solidFill>
                <a:latin typeface="Calibri"/>
              </a:rPr>
              <a:t>15 min</a:t>
            </a:r>
          </a:p>
        </p:txBody>
      </p:sp>
      <p:sp>
        <p:nvSpPr>
          <p:cNvPr id="21" name="Text 24"/>
          <p:cNvSpPr txBox="1"/>
          <p:nvPr/>
        </p:nvSpPr>
        <p:spPr>
          <a:xfrm>
            <a:off x="502920" y="3648600"/>
            <a:ext cx="383760" cy="383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Arial"/>
              </a:rPr>
              <a:t>5</a:t>
            </a:r>
          </a:p>
        </p:txBody>
      </p:sp>
      <p:sp>
        <p:nvSpPr>
          <p:cNvPr id="22" name="Text 25"/>
          <p:cNvSpPr txBox="1"/>
          <p:nvPr/>
        </p:nvSpPr>
        <p:spPr>
          <a:xfrm>
            <a:off x="1051560" y="3602880"/>
            <a:ext cx="539460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>
                <a:solidFill>
                  <a:srgbClr val="E8EDF6"/>
                </a:solidFill>
                <a:latin typeface="Calibri"/>
              </a:rPr>
              <a:t>Architecture, heuristics, homework</a:t>
            </a:r>
          </a:p>
        </p:txBody>
      </p:sp>
      <p:sp>
        <p:nvSpPr>
          <p:cNvPr id="23" name="Text 26"/>
          <p:cNvSpPr txBox="1"/>
          <p:nvPr/>
        </p:nvSpPr>
        <p:spPr>
          <a:xfrm>
            <a:off x="6537960" y="3602880"/>
            <a:ext cx="91404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BD88F"/>
                </a:solidFill>
                <a:latin typeface="Courier New"/>
              </a:rPr>
              <a:t>§5</a:t>
            </a:r>
          </a:p>
        </p:txBody>
      </p:sp>
      <p:sp>
        <p:nvSpPr>
          <p:cNvPr id="24" name="Text 27"/>
          <p:cNvSpPr txBox="1"/>
          <p:nvPr/>
        </p:nvSpPr>
        <p:spPr>
          <a:xfrm>
            <a:off x="7589520" y="3602880"/>
            <a:ext cx="109692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1300">
                <a:solidFill>
                  <a:srgbClr val="8FA0B8"/>
                </a:solidFill>
                <a:latin typeface="Calibri"/>
              </a:rPr>
              <a:t>10 min</a:t>
            </a:r>
          </a:p>
        </p:txBody>
      </p:sp>
      <p:sp>
        <p:nvSpPr>
          <p:cNvPr id="25" name="Text 29"/>
          <p:cNvSpPr txBox="1"/>
          <p:nvPr/>
        </p:nvSpPr>
        <p:spPr>
          <a:xfrm>
            <a:off x="502920" y="4270320"/>
            <a:ext cx="383760" cy="383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Arial"/>
              </a:rPr>
              <a:t>6</a:t>
            </a:r>
          </a:p>
        </p:txBody>
      </p:sp>
      <p:sp>
        <p:nvSpPr>
          <p:cNvPr id="26" name="Text 30"/>
          <p:cNvSpPr txBox="1"/>
          <p:nvPr/>
        </p:nvSpPr>
        <p:spPr>
          <a:xfrm>
            <a:off x="1051560" y="4224600"/>
            <a:ext cx="539460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>
                <a:solidFill>
                  <a:srgbClr val="E8EDF6"/>
                </a:solidFill>
                <a:latin typeface="Calibri"/>
              </a:rPr>
              <a:t>One store, seven shapes</a:t>
            </a:r>
          </a:p>
        </p:txBody>
      </p:sp>
      <p:sp>
        <p:nvSpPr>
          <p:cNvPr id="27" name="Text 31"/>
          <p:cNvSpPr txBox="1"/>
          <p:nvPr/>
        </p:nvSpPr>
        <p:spPr>
          <a:xfrm>
            <a:off x="6537960" y="4224600"/>
            <a:ext cx="91404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BD88F"/>
                </a:solidFill>
                <a:latin typeface="Courier New"/>
              </a:rPr>
              <a:t>§6</a:t>
            </a:r>
          </a:p>
        </p:txBody>
      </p:sp>
      <p:sp>
        <p:nvSpPr>
          <p:cNvPr id="28" name="Text 32"/>
          <p:cNvSpPr txBox="1"/>
          <p:nvPr/>
        </p:nvSpPr>
        <p:spPr>
          <a:xfrm>
            <a:off x="7589520" y="4224600"/>
            <a:ext cx="1096920" cy="475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1300">
                <a:solidFill>
                  <a:srgbClr val="8FA0B8"/>
                </a:solidFill>
                <a:latin typeface="Calibri"/>
              </a:rPr>
              <a:t>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THE ONE THEORY SLIDE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Three data structures rule everything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640080" y="1325880"/>
            <a:ext cx="22856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6FA8FF"/>
                </a:solidFill>
                <a:latin typeface="Arial"/>
              </a:rPr>
              <a:t>STREAMS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640080" y="1627560"/>
            <a:ext cx="228564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i="1">
                <a:solidFill>
                  <a:srgbClr val="8FA0B8"/>
                </a:solidFill>
                <a:latin typeface="Calibri"/>
              </a:rPr>
              <a:t>order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520440"/>
            <a:ext cx="228564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events arriving, queues backing up, the log of what happened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FFC66D"/>
                </a:solidFill>
                <a:latin typeface="Arial"/>
              </a:rPr>
              <a:t>TREES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i="1">
                <a:solidFill>
                  <a:srgbClr val="8FA0B8"/>
                </a:solidFill>
                <a:latin typeface="Calibri"/>
              </a:rPr>
              <a:t>hierarchy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your UI, the DOM, JSON documents, the call stack</a:t>
            </a:r>
          </a:p>
        </p:txBody>
      </p:sp>
      <p:sp>
        <p:nvSpPr>
          <p:cNvPr id="11" name="Text 12"/>
          <p:cNvSpPr txBox="1"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MESHES</a:t>
            </a:r>
          </a:p>
        </p:txBody>
      </p:sp>
      <p:sp>
        <p:nvSpPr>
          <p:cNvPr id="12" name="Text 13"/>
          <p:cNvSpPr txBox="1"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i="1">
                <a:solidFill>
                  <a:srgbClr val="8FA0B8"/>
                </a:solidFill>
                <a:latin typeface="Calibri"/>
              </a:rPr>
              <a:t>relationships</a:t>
            </a:r>
          </a:p>
        </p:txBody>
      </p:sp>
      <p:sp>
        <p:nvSpPr>
          <p:cNvPr id="13" name="Text 14"/>
          <p:cNvSpPr txBox="1"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your business domain — whether you admit it or not</a:t>
            </a:r>
          </a:p>
        </p:txBody>
      </p:sp>
      <p:sp>
        <p:nvSpPr>
          <p:cNvPr id="14" name="Text 44"/>
          <p:cNvSpPr txBox="1"/>
          <p:nvPr/>
        </p:nvSpPr>
        <p:spPr>
          <a:xfrm>
            <a:off x="457200" y="4526280"/>
            <a:ext cx="82292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i="1">
                <a:solidFill>
                  <a:srgbClr val="8FA0B8"/>
                </a:solidFill>
                <a:latin typeface="Calibri"/>
              </a:rPr>
              <a:t>Tonight is about the mesh.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INFORMATION THEORY FOR THIS CLASS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The Matrix is all signals at once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640080" y="1325880"/>
            <a:ext cx="22856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6FA8FF"/>
                </a:solidFill>
                <a:latin typeface="Arial"/>
              </a:rPr>
              <a:t>MATRIX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640080" y="1627560"/>
            <a:ext cx="228564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i="1">
                <a:solidFill>
                  <a:srgbClr val="8FA0B8"/>
                </a:solidFill>
                <a:latin typeface="Calibri"/>
              </a:rPr>
              <a:t>raw possibility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520440"/>
            <a:ext cx="228564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every click, name, relationship, absence, change, and timestamp before modeling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FFC66D"/>
                </a:solidFill>
                <a:latin typeface="Arial"/>
              </a:rPr>
              <a:t>QUESTIONS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i="1">
                <a:solidFill>
                  <a:srgbClr val="8FA0B8"/>
                </a:solidFill>
                <a:latin typeface="Calibri"/>
              </a:rPr>
              <a:t>what must be true?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choose the distinctions that matter: who, what, value, when, and asserted or retracted</a:t>
            </a:r>
          </a:p>
        </p:txBody>
      </p:sp>
      <p:sp>
        <p:nvSpPr>
          <p:cNvPr id="11" name="Text 12"/>
          <p:cNvSpPr txBox="1"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DATOMS</a:t>
            </a:r>
          </a:p>
        </p:txBody>
      </p:sp>
      <p:sp>
        <p:nvSpPr>
          <p:cNvPr id="12" name="Text 13"/>
          <p:cNvSpPr txBox="1"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i="1">
                <a:solidFill>
                  <a:srgbClr val="8FA0B8"/>
                </a:solidFill>
                <a:latin typeface="Calibri"/>
              </a:rPr>
              <a:t>atomic facts</a:t>
            </a:r>
          </a:p>
        </p:txBody>
      </p:sp>
      <p:sp>
        <p:nvSpPr>
          <p:cNvPr id="13" name="Text 14"/>
          <p:cNvSpPr txBox="1"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the smallest granular unit we keep: one entity, one attribute, one value</a:t>
            </a:r>
          </a:p>
        </p:txBody>
      </p:sp>
      <p:sp>
        <p:nvSpPr>
          <p:cNvPr id="14" name="Text 44"/>
          <p:cNvSpPr txBox="1"/>
          <p:nvPr/>
        </p:nvSpPr>
        <p:spPr>
          <a:xfrm>
            <a:off x="457200" y="4526280"/>
            <a:ext cx="822924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i="1">
                <a:solidFill>
                  <a:srgbClr val="8FA0B8"/>
                </a:solidFill>
                <a:latin typeface="Calibri"/>
              </a:rPr>
              <a:t>Modeling is distillation: from continuous information to durable 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THE DISTILLATION MOVE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Turn the Matrix into datoms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685800" y="1261800"/>
            <a:ext cx="35658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b="1">
                <a:solidFill>
                  <a:srgbClr val="F28FAD"/>
                </a:solidFill>
                <a:latin typeface="Arial"/>
              </a:rPr>
              <a:t>The Matrix view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everything is connected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meaning depends on relationships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change is part of the fact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absence can be meaningful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raw data is not yet a model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b="1">
                <a:solidFill>
                  <a:srgbClr val="7BD88F"/>
                </a:solidFill>
                <a:latin typeface="Arial"/>
              </a:rPr>
              <a:t>The datom cut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A datom records one indivisible proposition: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983480" y="2377440"/>
            <a:ext cx="1051200" cy="41112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entity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126480" y="2377440"/>
            <a:ext cx="1051200" cy="41112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attribute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269480" y="2377440"/>
            <a:ext cx="1051200" cy="41112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value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 i="1">
                <a:solidFill>
                  <a:srgbClr val="8FA0B8"/>
                </a:solidFill>
                <a:latin typeface="Calibri"/>
              </a:rPr>
              <a:t>+ Tx and Op say when it became true or stopped being true.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 b="1">
                <a:solidFill>
                  <a:srgbClr val="E8EDF6"/>
                </a:solidFill>
                <a:latin typeface="Calibri"/>
              </a:rPr>
              <a:t>Small granular unit: data, made atomic.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6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WHY DOMAINS ARE MESHES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You are Spotify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1828800" y="251460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50" i="1">
                <a:solidFill>
                  <a:srgbClr val="8FA0B8"/>
                </a:solidFill>
                <a:latin typeface="Calibri"/>
              </a:rPr>
              <a:t>album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394960" y="251460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50" i="1">
                <a:solidFill>
                  <a:srgbClr val="8FA0B8"/>
                </a:solidFill>
                <a:latin typeface="Calibri"/>
              </a:rPr>
              <a:t>playlist</a:t>
            </a:r>
          </a:p>
        </p:txBody>
      </p:sp>
      <p:sp>
        <p:nvSpPr>
          <p:cNvPr id="7" name="Text 8"/>
          <p:cNvSpPr txBox="1"/>
          <p:nvPr/>
        </p:nvSpPr>
        <p:spPr>
          <a:xfrm>
            <a:off x="3703320" y="141732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50" i="1">
                <a:solidFill>
                  <a:srgbClr val="8FA0B8"/>
                </a:solidFill>
                <a:latin typeface="Calibri"/>
              </a:rPr>
              <a:t>follows</a:t>
            </a:r>
          </a:p>
        </p:txBody>
      </p:sp>
      <p:sp>
        <p:nvSpPr>
          <p:cNvPr id="8" name="Text 10"/>
          <p:cNvSpPr txBox="1"/>
          <p:nvPr/>
        </p:nvSpPr>
        <p:spPr>
          <a:xfrm>
            <a:off x="1554480" y="1463040"/>
            <a:ext cx="1371240" cy="6854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FFC66D"/>
                </a:solidFill>
                <a:latin typeface="Arial"/>
              </a:rPr>
              <a:t>artist</a:t>
            </a:r>
          </a:p>
        </p:txBody>
      </p:sp>
      <p:sp>
        <p:nvSpPr>
          <p:cNvPr id="9" name="Text 12"/>
          <p:cNvSpPr txBox="1"/>
          <p:nvPr/>
        </p:nvSpPr>
        <p:spPr>
          <a:xfrm>
            <a:off x="3931920" y="3291840"/>
            <a:ext cx="1371240" cy="6854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6FA8FF"/>
                </a:solidFill>
                <a:latin typeface="Arial"/>
              </a:rPr>
              <a:t>song</a:t>
            </a:r>
          </a:p>
        </p:txBody>
      </p:sp>
      <p:sp>
        <p:nvSpPr>
          <p:cNvPr id="10" name="Text 14"/>
          <p:cNvSpPr txBox="1"/>
          <p:nvPr/>
        </p:nvSpPr>
        <p:spPr>
          <a:xfrm>
            <a:off x="6309360" y="1463040"/>
            <a:ext cx="1371240" cy="6854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BD88F"/>
                </a:solidFill>
                <a:latin typeface="Arial"/>
              </a:rPr>
              <a:t>listener</a:t>
            </a:r>
          </a:p>
        </p:txBody>
      </p:sp>
      <p:sp>
        <p:nvSpPr>
          <p:cNvPr id="11" name="Text 15"/>
          <p:cNvSpPr txBox="1"/>
          <p:nvPr/>
        </p:nvSpPr>
        <p:spPr>
          <a:xfrm>
            <a:off x="640080" y="4160520"/>
            <a:ext cx="8046360" cy="8683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E8EDF6"/>
                </a:solidFill>
                <a:latin typeface="Calibri"/>
              </a:rPr>
              <a:t>album = artist ↔ songs, plus metadata (title, release date)</a:t>
            </a:r>
          </a:p>
          <a:p>
            <a:r>
              <a:rPr lang="en-US" sz="1300">
                <a:solidFill>
                  <a:srgbClr val="E8EDF6"/>
                </a:solidFill>
                <a:latin typeface="Calibri"/>
              </a:rPr>
              <a:t>playlist = listener ↔ songs; subscription = listener ↔ playlist</a:t>
            </a:r>
          </a:p>
          <a:p>
            <a:r>
              <a:rPr lang="en-US" sz="1300" b="1">
                <a:solidFill>
                  <a:srgbClr val="E8EDF6"/>
                </a:solidFill>
                <a:latin typeface="Calibri"/>
              </a:rPr>
              <a:t>Every feature you will ever ship = a new relationship between things that already exist.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7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THE PROBLEM, THEN THE BET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Rectangles fight the mesh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685800" y="1261800"/>
            <a:ext cx="35658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b="1">
                <a:solidFill>
                  <a:srgbClr val="F28FAD"/>
                </a:solidFill>
                <a:latin typeface="Arial"/>
              </a:rPr>
              <a:t>Life in rectangles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every feature → another join table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optional data → NULL-riddled columns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user-OR-org owner → polymorphic FK hacks + a type column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the ORM papers over it with if-soup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eventually: “move it to NoSQL / Elasticsearch” = giving up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b="1">
                <a:solidFill>
                  <a:srgbClr val="7BD88F"/>
                </a:solidFill>
                <a:latin typeface="Arial"/>
              </a:rPr>
              <a:t>The Datalog bet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No matter how complicated the domain, this is enough to describe it: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983480" y="2377440"/>
            <a:ext cx="1051200" cy="41112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entity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126480" y="2377440"/>
            <a:ext cx="1051200" cy="41112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attribute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269480" y="2377440"/>
            <a:ext cx="1051200" cy="41112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value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 i="1">
                <a:solidFill>
                  <a:srgbClr val="8FA0B8"/>
                </a:solidFill>
                <a:latin typeface="Calibri"/>
              </a:rPr>
              <a:t>+ time and assert/retract when we get to change (§4)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 b="1">
                <a:solidFill>
                  <a:srgbClr val="E8EDF6"/>
                </a:solidFill>
                <a:latin typeface="Calibri"/>
              </a:rPr>
              <a:t>The next two hours are the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8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164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8FA0B8"/>
                </a:solidFill>
                <a:latin typeface="Arial"/>
              </a:rPr>
              <a:t>PART 1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3600" b="1">
                <a:solidFill>
                  <a:srgbClr val="E8EDF6"/>
                </a:solidFill>
                <a:latin typeface="Arial"/>
              </a:rPr>
              <a:t>The datom — the smallest fact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60346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i="1">
                <a:solidFill>
                  <a:srgbClr val="8FA0B8"/>
                </a:solidFill>
                <a:latin typeface="Calibri"/>
              </a:rPr>
              <a:t>A database in one expression; three users; the raw 5-tuples that ARE the database.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069080"/>
            <a:ext cx="114264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E8EDF6"/>
                </a:solidFill>
                <a:latin typeface="Calibri"/>
              </a:rPr>
              <a:t>~20 min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920240" y="4069080"/>
            <a:ext cx="132552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REPL §0–§1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035040" y="4206240"/>
            <a:ext cx="475200" cy="32868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583680" y="4206240"/>
            <a:ext cx="475200" cy="32868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132320" y="4206240"/>
            <a:ext cx="475200" cy="32868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7680960" y="4206240"/>
            <a:ext cx="475200" cy="32868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29600" y="4206240"/>
            <a:ext cx="475200" cy="32868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9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THE UNIT OF EVERYTHING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 datom is a five-tuple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§1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1554480"/>
            <a:ext cx="1919880" cy="56664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50" b="1">
                <a:solidFill>
                  <a:srgbClr val="0F1420"/>
                </a:solidFill>
                <a:latin typeface="Courier New"/>
              </a:rPr>
              <a:t>17592186045419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0080" y="2157840"/>
            <a:ext cx="19198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entity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2651760" y="1554480"/>
            <a:ext cx="1462680" cy="56664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50" b="1">
                <a:solidFill>
                  <a:srgbClr val="0F1420"/>
                </a:solidFill>
                <a:latin typeface="Courier New"/>
              </a:rPr>
              <a:t>:user/name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2651760" y="2157840"/>
            <a:ext cx="14626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attribute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4206240" y="1554480"/>
            <a:ext cx="1234080" cy="56664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50" b="1">
                <a:solidFill>
                  <a:srgbClr val="0F1420"/>
                </a:solidFill>
                <a:latin typeface="Courier New"/>
              </a:rPr>
              <a:t>"tonsky"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4206240" y="2157840"/>
            <a:ext cx="12340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value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5532120" y="1554480"/>
            <a:ext cx="1919880" cy="56664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50" b="1">
                <a:solidFill>
                  <a:srgbClr val="0F1420"/>
                </a:solidFill>
                <a:latin typeface="Courier New"/>
              </a:rPr>
              <a:t>13194139534313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5532120" y="2157840"/>
            <a:ext cx="19198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transaction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7543800" y="1554480"/>
            <a:ext cx="776880" cy="56664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50" b="1">
                <a:solidFill>
                  <a:srgbClr val="0F1420"/>
                </a:solidFill>
                <a:latin typeface="Courier New"/>
              </a:rPr>
              <a:t>true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7543800" y="2157840"/>
            <a:ext cx="7768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added?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640080" y="2606040"/>
            <a:ext cx="786348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i="1">
                <a:solidFill>
                  <a:srgbClr val="8FA0B8"/>
                </a:solidFill>
                <a:latin typeface="Calibri"/>
              </a:rPr>
              <a:t>who · what · how · when · assert-or-retract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40080" y="3200400"/>
            <a:ext cx="7863480" cy="1554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>
                <a:solidFill>
                  <a:srgbClr val="E8EDF6"/>
                </a:solidFill>
                <a:latin typeface="Calibri"/>
              </a:rPr>
              <a:t>That is the entire physical model. Rows, documents, graphs, key-value pairs, event logs — every “shape” tonight is an arrangement of these.</a:t>
            </a:r>
          </a:p>
          <a:p>
            <a:r>
              <a:rPr lang="en-US" sz="1400">
                <a:solidFill>
                  <a:srgbClr val="E8EDF6"/>
                </a:solidFill>
                <a:latin typeface="Calibri"/>
              </a:rPr>
              <a:t>An entity is nothing more than all datoms sharing an E. There is no user record anywhere.</a:t>
            </a:r>
          </a:p>
          <a:p>
            <a:r>
              <a:rPr lang="en-US" sz="1400">
                <a:solidFill>
                  <a:srgbClr val="8FA0B8"/>
                </a:solidFill>
                <a:latin typeface="Calibri"/>
              </a:rPr>
              <a:t>We start with the E-A-V core; Tx and Op join the party in part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10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§0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 database in one expression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§0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4955760" cy="3382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(def uri "datomic:mem://github")</a:t>
            </a:r>
          </a:p>
          <a:p>
            <a:endParaRPr lang="en-US" sz="1250"/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(defonce conn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(do (d/create-database uri)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(d/connect uri)))</a:t>
            </a:r>
          </a:p>
          <a:p>
            <a:endParaRPr lang="en-US" sz="1250"/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(defn db [] (d/db conn))    ;; the CURRENT db VALUE</a:t>
            </a:r>
          </a:p>
          <a:p>
            <a:endParaRPr lang="en-US" sz="1250"/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(count (seq (d/datoms (db) :eavt)))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266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Datomic's own schema, as datoms.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Turtles all the way down.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5897880" y="1234440"/>
            <a:ext cx="2788560" cy="3382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com.datomic/peer on Maven Central, Apache-2.0. No account, no transactor process.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datomic:mem:// runs everything in-process with the full feature set: history, log, fulltext, speculative dbs.</a:t>
            </a:r>
          </a:p>
          <a:p>
            <a:r>
              <a:rPr lang="en-US" sz="1250" b="1">
                <a:solidFill>
                  <a:srgbClr val="E8EDF6"/>
                </a:solidFill>
                <a:latin typeface="Calibri"/>
              </a:rPr>
              <a:t>(db) returns a value — a pointer into a persistent structure. Queries never see later writes.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11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§1.1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Attributes first: a little schema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§1.1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5321520" cy="3382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(def user-schema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[{:db/ident       :user/name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:db/valueType   :db.type/string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:db/cardinality :db.cardinality/one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:db/unique      :db.unique/identity}  ;; upsert + lookup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{:db/ident       :user/email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:db/valueType   :db.type/string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:db/cardinality :db.cardinality/one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:db/unique      :db.unique/value}])   ;; no sharing</a:t>
            </a:r>
          </a:p>
          <a:p>
            <a:endParaRPr lang="en-US" sz="1250"/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@(d/transact conn user-schema)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263640" y="1234440"/>
            <a:ext cx="2422800" cy="3382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Schema is transacted like any other data — because it IS data (part 3).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:db.unique/identity ⇒ this attribute is an external key: upserts + lookup refs.</a:t>
            </a:r>
          </a:p>
          <a:p>
            <a:r>
              <a:rPr lang="en-US" sz="1250">
                <a:solidFill>
                  <a:srgbClr val="8FA0B8"/>
                </a:solidFill>
                <a:latin typeface="Calibri"/>
              </a:rPr>
              <a:t>:db.unique/value ⇒ uniqueness constraint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12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§1.2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First facts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§1.2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102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300">
                <a:solidFill>
                  <a:srgbClr val="E8EDF6"/>
                </a:solidFill>
                <a:latin typeface="Courier New"/>
              </a:rPr>
              <a:t>   [{:user/name "richhickey"}</a:t>
            </a:r>
          </a:p>
          <a:p>
            <a:r>
              <a:rPr lang="en-US" sz="1300">
                <a:solidFill>
                  <a:srgbClr val="E8EDF6"/>
                </a:solidFill>
                <a:latin typeface="Courier New"/>
              </a:rPr>
              <a:t>    {:user/name "tonsky"}</a:t>
            </a:r>
          </a:p>
          <a:p>
            <a:r>
              <a:rPr lang="en-US" sz="1300">
                <a:solidFill>
                  <a:srgbClr val="E8EDF6"/>
                </a:solidFill>
                <a:latin typeface="Courier New"/>
              </a:rPr>
              <a:t>    {:user/name "pithyless"}])</a:t>
            </a:r>
          </a:p>
          <a:p>
            <a:endParaRPr lang="en-US" sz="1300"/>
          </a:p>
          <a:p>
            <a:r>
              <a:rPr lang="en-US" sz="1300">
                <a:solidFill>
                  <a:srgbClr val="6A7891"/>
                </a:solidFill>
                <a:latin typeface="Courier New"/>
              </a:rPr>
              <a:t>;; map syntax is sugar — what actually hit the log is list form:</a:t>
            </a:r>
          </a:p>
          <a:p>
            <a:r>
              <a:rPr lang="en-US" sz="1300">
                <a:solidFill>
                  <a:srgbClr val="6A7891"/>
                </a:solidFill>
                <a:latin typeface="Courier New"/>
              </a:rPr>
              <a:t>;;   [:db/add &lt;new-eid&gt; :user/name "richhickey"]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>
                <a:solidFill>
                  <a:srgbClr val="E8EDF6"/>
                </a:solidFill>
                <a:latin typeface="Calibri"/>
              </a:rPr>
              <a:t>One datom per attribute. Three maps → three entities → three datoms.</a:t>
            </a:r>
          </a:p>
          <a:p>
            <a:r>
              <a:rPr lang="en-US" sz="1350">
                <a:solidFill>
                  <a:srgbClr val="E8EDF6"/>
                </a:solidFill>
                <a:latin typeface="Calibri"/>
              </a:rPr>
              <a:t>The cast, straight from the talk: Rich Hickey, Nikita “tonsky” Prokopov, and pithyless — who is the speaker himself.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13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§1.3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Look at the raw datoms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§1.3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2856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7C8AA5"/>
                </a:solidFill>
                <a:latin typeface="Courier New"/>
              </a:rPr>
              <a:t>(-&gt;&gt; (d/datoms (db) :avet :user/name)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(map #(datom-&gt;vec (db) %)))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([17592186045420 :user/name "pithyless"  13194139534313 true]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    [17592186045418 :user/name "richhickey" 13194139534313 true]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    [17592186045419 :user/name "tonsky"     13194139534313 true])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794760"/>
            <a:ext cx="8046360" cy="1005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>
                <a:solidFill>
                  <a:srgbClr val="E8EDF6"/>
                </a:solidFill>
                <a:latin typeface="Calibri"/>
              </a:rPr>
              <a:t>Five positions, as promised. Same Tx on all three — one transaction. :added true — assertions.</a:t>
            </a:r>
          </a:p>
          <a:p>
            <a:r>
              <a:rPr lang="en-US" sz="1350" b="1">
                <a:solidFill>
                  <a:srgbClr val="E8EDF6"/>
                </a:solidFill>
                <a:latin typeface="Calibri"/>
              </a:rPr>
              <a:t>This flat, sorted bag of tuples is the entire database. Everything else tonight is a 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14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§1.4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Lookup refs: identity that travels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§1.4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148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7C8AA5"/>
                </a:solidFill>
                <a:latin typeface="Courier New"/>
              </a:rPr>
              <a:t>(d/entid  (db) [:user/name "tonsky"])   ;; =&gt; 17592186045419</a:t>
            </a:r>
          </a:p>
          <a:p>
            <a:r>
              <a:rPr lang="en-US" sz="1300">
                <a:solidFill>
                  <a:srgbClr val="7C8AA5"/>
                </a:solidFill>
                <a:latin typeface="Courier New"/>
              </a:rPr>
              <a:t>(d/entity (db) [:user/name "tonsky"])   ;; =&gt; lazy entity map</a:t>
            </a:r>
          </a:p>
          <a:p>
            <a:endParaRPr lang="en-US" sz="1300"/>
          </a:p>
          <a:p>
            <a:r>
              <a:rPr lang="en-US" sz="1300">
                <a:solidFill>
                  <a:srgbClr val="7C8AA5"/>
                </a:solidFill>
                <a:latin typeface="Courier New"/>
              </a:rPr>
              <a:t>(d/touch (d/entity (db) [:user/name "tonsky"]))</a:t>
            </a:r>
          </a:p>
          <a:p>
            <a:r>
              <a:rPr lang="en-US" sz="1300">
                <a:solidFill>
                  <a:srgbClr val="6A7891"/>
                </a:solidFill>
                <a:latin typeface="Courier New"/>
              </a:rPr>
              <a:t>;; =&gt; {:db/id 17592186045419, :user/name "tonsky"}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>
                <a:solidFill>
                  <a:srgbClr val="E8EDF6"/>
                </a:solidFill>
                <a:latin typeface="Calibri"/>
              </a:rPr>
              <a:t>A two-element vector [unique-attr value] is an ADDRESS — usable anywhere an eid is expected: transactions, queries, pulls, ref values.</a:t>
            </a:r>
          </a:p>
          <a:p>
            <a:r>
              <a:rPr lang="en-US" sz="1350">
                <a:solidFill>
                  <a:srgbClr val="E8EDF6"/>
                </a:solidFill>
                <a:latin typeface="Calibri"/>
              </a:rPr>
              <a:t>This is your primary key, and it travels with the meaning, not the storage.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15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164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8FA0B8"/>
                </a:solidFill>
                <a:latin typeface="Arial"/>
              </a:rPr>
              <a:t>PART 2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3600" b="1">
                <a:solidFill>
                  <a:srgbClr val="E8EDF6"/>
                </a:solidFill>
                <a:latin typeface="Arial"/>
              </a:rPr>
              <a:t>Query — pattern matching all the way down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60346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i="1">
                <a:solidFill>
                  <a:srgbClr val="8FA0B8"/>
                </a:solidFill>
                <a:latin typeface="Calibri"/>
              </a:rPr>
              <a:t>Holes in datoms, unification joins, refs and polymorphism, recursion-ready rules, aggregation.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069080"/>
            <a:ext cx="114264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E8EDF6"/>
                </a:solidFill>
                <a:latin typeface="Calibri"/>
              </a:rPr>
              <a:t>~25 min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920240" y="4069080"/>
            <a:ext cx="132552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REPL §2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035040" y="4206240"/>
            <a:ext cx="475200" cy="32868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583680" y="4206240"/>
            <a:ext cx="475200" cy="32868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132320" y="4206240"/>
            <a:ext cx="475200" cy="32868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7680960" y="4206240"/>
            <a:ext cx="475200" cy="32868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29600" y="4206240"/>
            <a:ext cx="475200" cy="32868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16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 where-clause is a datom with holes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1599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>
                <a:solidFill>
                  <a:srgbClr val="7C8AA5"/>
                </a:solidFill>
                <a:latin typeface="Courier New"/>
              </a:rPr>
              <a:t>[?e :user/name "tonsky"]   ;; ?x → variable: bind it</a:t>
            </a:r>
          </a:p>
          <a:p>
            <a:r>
              <a:rPr lang="en-US" sz="1350">
                <a:solidFill>
                  <a:srgbClr val="7C8AA5"/>
                </a:solidFill>
                <a:latin typeface="Courier New"/>
              </a:rPr>
              <a:t>[?e :user/name _       ]   ;; _  → wildcard: don't care</a:t>
            </a:r>
          </a:p>
          <a:p>
            <a:r>
              <a:rPr lang="en-US" sz="1350">
                <a:solidFill>
                  <a:srgbClr val="7C8AA5"/>
                </a:solidFill>
                <a:latin typeface="Courier New"/>
              </a:rPr>
              <a:t>[?e ?a         ?v      ]   ;; all vars → full scan (legal, dumb)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154680"/>
            <a:ext cx="8046360" cy="1554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>
                <a:solidFill>
                  <a:srgbClr val="E8EDF6"/>
                </a:solidFill>
                <a:latin typeface="Calibri"/>
              </a:rPr>
              <a:t>The engine finds every datom the pattern matches. That's the whole DSL.</a:t>
            </a:r>
          </a:p>
          <a:p>
            <a:r>
              <a:rPr lang="en-US" sz="1400">
                <a:solidFill>
                  <a:srgbClr val="E8EDF6"/>
                </a:solidFill>
                <a:latin typeface="Calibri"/>
              </a:rPr>
              <a:t>Multiple clauses UNIFY: reuse a variable name and its values must agree everywhere.</a:t>
            </a:r>
          </a:p>
          <a:p>
            <a:r>
              <a:rPr lang="en-US" sz="1400" b="1">
                <a:solidFill>
                  <a:srgbClr val="E8EDF6"/>
                </a:solidFill>
                <a:latin typeface="Calibri"/>
              </a:rPr>
              <a:t>That is a join. You never write JOIN again.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17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§2.1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Four result shapes (and a trap)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§2.1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?name  :where [_ :user/name ?name]]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#{["pithyless"] ["richhickey"] ["tonsky"]}    relation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[?name ...] :where [_ :user/name ?name]]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["pithyless" "richhickey" "tonsky"]           collection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?name .     :where [_ :user/name ?name]]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"pithyless"                          scalar — but WHICH one?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[?name ?email]                         single tuple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[?e :user/name ?name] [?e :user/email ?email]]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nil    nobody has an email yet — no nulls, just no facts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526280"/>
            <a:ext cx="804636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FFC66D"/>
                </a:solidFill>
                <a:latin typeface="Calibri"/>
              </a:rPr>
              <a:t>Results are SETS. No order. Want order? (sort (d/q …)) — in Clojure, after.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18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§2.2–2.3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Flip what you know; joins for free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§2.3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382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[{:db/id [:user/name "richhickey"] :user/email "rich@example.com"}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{:db/id [:user/name "tonsky"]     :user/email "tonsky@example.com"}])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?email .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[?e :user/name "tonsky"]      ;; bind ?e ...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[?e :user/email ?email]]      ;; ... reuse ?e ⇒ JOIN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"tonsky@example.com"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?name .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[?e :user/email "rich@example.com"]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[?e :user/name ?name]] (db))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"richhickey"              flipped — declarative has no direction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19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§2.4–2.5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Parameterize; call the host mid-query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§2.5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[?name ...]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:in $ [?name ...]                ;; collection binding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[?e :user/name ?name]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[?e :user/email _]]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(db) ["tonsky" "pithyless" "richhickey"])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["richhickey" "tonsky"]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[?name ...]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[?e :user/name ?name]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[(clojure.string/starts-with? ?name "t")]]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["tonsky"]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251960"/>
            <a:ext cx="804636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The parentheses clause is the escape hatch to the host platform: any pure fn or method — (.startsWith ?name "t"), (&lt; ?stars 100) …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Same syntax brokers to the JVM under Datomic and to JS under DataScript. Lucene fulltext rides this door too (part 6).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20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§2.6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Absence is information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§2.6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[?name ...]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[?e :user/name ?name]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[(missing? $ ?e :user/email)]]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["pithyless"]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?name ?email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[?e :user/name ?name]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[(get-else $ ?e :user/email "—") ?email]]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#{["pithyless" "—"] ["richhickey" "rich@example.com"]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     ["tonsky" "tonsky@example.com"]}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297680"/>
            <a:ext cx="8046360" cy="7311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No nulls: the fact simply isn't there, and NOT having it costs zero bytes and means something.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missing? queries the absence; get-else is your COALESCE / LEFT JOIN default.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21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§2.7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Refs: the owner interview question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§2.7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685800" y="1280160"/>
            <a:ext cx="28342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b="1">
                <a:solidFill>
                  <a:srgbClr val="E8EDF6"/>
                </a:solidFill>
                <a:latin typeface="Arial"/>
              </a:rPr>
              <a:t>Repos are owned by</a:t>
            </a:r>
          </a:p>
          <a:p>
            <a:r>
              <a:rPr lang="en-US" sz="1500" b="1">
                <a:solidFill>
                  <a:srgbClr val="E8EDF6"/>
                </a:solidFill>
                <a:latin typeface="Arial"/>
              </a:rPr>
              <a:t>users OR orgs.</a:t>
            </a:r>
          </a:p>
          <a:p>
            <a:r>
              <a:rPr lang="en-US" sz="1500" b="1">
                <a:solidFill>
                  <a:srgbClr val="E8EDF6"/>
                </a:solidFill>
                <a:latin typeface="Arial"/>
              </a:rPr>
              <a:t>Model it in SQL.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713160" y="2331720"/>
            <a:ext cx="2834280" cy="2194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nullable owner_user_id + owner_org_id?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a join table per owner type?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polymorphic FK + type column?</a:t>
            </a:r>
          </a:p>
          <a:p>
            <a:r>
              <a:rPr lang="en-US" sz="1250" b="1">
                <a:solidFill>
                  <a:srgbClr val="F28FAD"/>
                </a:solidFill>
                <a:latin typeface="Calibri"/>
              </a:rPr>
              <a:t>all of them hurt.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060080" y="1188720"/>
            <a:ext cx="4498560" cy="3382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{:db/ident       :repo/owner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:db/valueType   :db.type/ref     ;; ← ANY entity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:db/cardinality :db.cardinality/one}</a:t>
            </a:r>
          </a:p>
          <a:p>
            <a:endParaRPr lang="en-US" sz="1150"/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seed (owners pre-exist) — one attr, two kinds of value:</a:t>
            </a:r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{:db/id "clj" :repo/slug "clojure"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:repo/owner [:org/name "clojure"]}   ;; an org…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{:db/id "ds"  :repo/slug "datascript"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:repo/owner [:user/name "tonsky"]}   ;; …or a user.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                        ;; same attribute.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22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§2.8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Polymorphism happens at read time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§2.8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(def rules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'[[(owner-name ?r ?n) [?r :repo/owner ?o] [?o :user/name ?n]]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[(owner-name ?r ?n) [?r :repo/owner ?o] [?o :org/name  ?n]]])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?owner ?slug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:in $ %                          ;; % = the rules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(owner-name ?r ?owner)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[?r :repo/slug ?slug]]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(db) rules)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#{["clojure" "clojure"]      ["tonsky"    "datascript"]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     ["pithyless" "datascript"] ["victor"    "datascript"]}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343400"/>
            <a:ext cx="8046360" cy="7311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Two rule heads with the same name = OR. Rules can also call themselves — recursion arrives in part 6.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Swap one clause and the “type” of the owner changes. Schema applied at READ, not write: an entity with both attrs would be both.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23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§2.9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Forks: self-joins &amp; meaningful absence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§2.9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?fork-owner ?orig-owner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:in $ %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[?f :repo/fork ?orig]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(owner-name ?f    ?fork-owner)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(owner-name ?orig ?orig-owner)]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(db) rules)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#{["pithyless" "tonsky"] ["victor" "pithyless"]}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victor forked the fork — a chain, for part 6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[?slug ...]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[?r :repo/slug ?slug]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[(missing? $ ?r :repo/fork)]] (db))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["clojure" "datascript"]           the originals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389120"/>
            <a:ext cx="8046360" cy="5482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In SQL: a self-join with aliases and a nullable origin column. Here: two variable names, and originals are the rows that simply lack the attribute.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24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§2.10–2.11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Cardinality-many &amp; the only metric that matters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§2.11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(d/q '[:find [?lang ...] :where [_ :repo/language ?lang]] (db))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["Java" "ClojureScript" "Clojure"]    6 datoms → 3 (sets)</a:t>
            </a:r>
          </a:p>
          <a:p>
            <a:endParaRPr lang="en-US" sz="1250"/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(d/q '[:find ?slug (count ?u)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:where [?u :user/stars ?r]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[?r :repo/slug ?slug]]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[["clojure" 3] ["datascript" 1]]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886200"/>
            <a:ext cx="8046360" cy="1005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E8EDF6"/>
                </a:solidFill>
                <a:latin typeface="Calibri"/>
              </a:rPr>
              <a:t>Multiple values? Just repeat the datom. Multiple references? Same: a star is user ─stars→ repo, cardinality many.</a:t>
            </a:r>
          </a:p>
          <a:p>
            <a:r>
              <a:rPr lang="en-US" sz="1300">
                <a:solidFill>
                  <a:srgbClr val="E8EDF6"/>
                </a:solidFill>
                <a:latin typeface="Calibri"/>
              </a:rPr>
              <a:t>Non-aggregated find vars group; (count …) folds each group. sum, avg, max, min, count-distinct, variance, stddev — built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25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§2.11–2.12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The :with trap; negation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§2.12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(count ?r) .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[?u :user/stars ?r]]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2        distinct repos… probably not what you meant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(count ?r) .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:with ?u                     ;; keep (u,r) pairs alive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[?u :user/stars ?r]]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4        total star events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(d/q '[:find [?name ...]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:where [?u :user/name ?name]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(not [?u :user/stars _])] (db))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["richhickey"]     too busy hammocking to star repos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480560"/>
            <a:ext cx="804636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FFC66D"/>
                </a:solidFill>
                <a:latin typeface="Calibri"/>
              </a:rPr>
              <a:t>:with = “don't dedupe over these”. Sets collapse duplicates BEFORE aggregation — the #1 aggregate bug in real Datomic code.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26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164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8FA0B8"/>
                </a:solidFill>
                <a:latin typeface="Arial"/>
              </a:rPr>
              <a:t>PART 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3600" b="1">
                <a:solidFill>
                  <a:srgbClr val="E8EDF6"/>
                </a:solidFill>
                <a:latin typeface="Arial"/>
              </a:rPr>
              <a:t>Schema is data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60346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i="1">
                <a:solidFill>
                  <a:srgbClr val="8FA0B8"/>
                </a:solidFill>
                <a:latin typeface="Calibri"/>
              </a:rPr>
              <a:t>Attributes are entities; growth is accretion; composite tuples; enums as idents.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069080"/>
            <a:ext cx="114264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E8EDF6"/>
                </a:solidFill>
                <a:latin typeface="Calibri"/>
              </a:rPr>
              <a:t>~10 min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920240" y="4069080"/>
            <a:ext cx="132552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REPL §3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035040" y="4206240"/>
            <a:ext cx="475200" cy="32868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583680" y="4206240"/>
            <a:ext cx="475200" cy="32868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132320" y="4206240"/>
            <a:ext cx="475200" cy="32868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7680960" y="4206240"/>
            <a:ext cx="475200" cy="32868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29600" y="4206240"/>
            <a:ext cx="475200" cy="32868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27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Attributes are entities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§3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0171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(d/pull (db) '[*] :user/name)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{:db/id 72, :db/ident :user/name,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:db/valueType   {:db/id 23},    ;; ← 23 = :db.type/string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:db/cardinality {:db/id 35},    ;; refs come back as ids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:db/unique      {:db/id 38}, ...}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[?ident ...]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[?a :db/valueType :db.type/ref]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[?a :db/ident ?ident]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[(namespace ?ident) ?ns] [(= ?ns "repo")]]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[:repo/fork :repo/owner]      querying the schema itself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434840"/>
            <a:ext cx="8046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:user/name is not a row in a catalog. It's an entity in the same database, with datoms about it — so you query your schema with the same language.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28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Growth = accretion; composite identity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§3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[{:db/ident       :repo/topics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:db/valueType   :db.type/string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:db/cardinality :db.cardinality/many}])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that's the whole migration.</a:t>
            </a:r>
          </a:p>
          <a:p>
            <a:endParaRPr lang="en-US" sz="1150"/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composite tuple, declared back in repo-schema: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:repo/owner+slug  :db/tupleAttrs [:repo/owner :repo/slug]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                :db/unique     :db.unique/identity</a:t>
            </a:r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(let [tonsky (d/entid (db) [:user/name "tonsky"])]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(d/pull (db) [:repo/slug {:repo/owner [:user/name]}]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[:repo/owner+slug [tonsky "datascript"]]))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{:repo/slug "datascript", :repo/owner {:user/name "tonsky"}}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480560"/>
            <a:ext cx="804636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7BD88F"/>
                </a:solidFill>
                <a:latin typeface="Calibri"/>
              </a:rPr>
              <a:t>No ALTER TABLE, no migration window, no downtime. Old data untouched; old queries still true.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29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Enums are idents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§3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559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[{:db/ident :repo.visibility/public}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{:db/ident :repo.visibility/private}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{:db/ident       :repo/visibility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:db/valueType   :db.type/ref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:db/cardinality :db.cardinality/one}])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[{:db/id (repo (db) "victor" "datascript")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:repo/visibility :repo.visibility/private}])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023360"/>
            <a:ext cx="804636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E8EDF6"/>
                </a:solidFill>
                <a:latin typeface="Calibri"/>
              </a:rPr>
              <a:t>An ident is a free foreign key into a one-row dimension table.</a:t>
            </a:r>
          </a:p>
          <a:p>
            <a:r>
              <a:rPr lang="en-US" sz="1300">
                <a:solidFill>
                  <a:srgbClr val="E8EDF6"/>
                </a:solidFill>
                <a:latin typeface="Calibri"/>
              </a:rPr>
              <a:t>Typo-proof: transacting an unknown ident fails the tx. Renamable. Queryable. Pull shows {:db/ident :repo.visibility/private} — a name, not a string.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30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164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8FA0B8"/>
                </a:solidFill>
                <a:latin typeface="Arial"/>
              </a:rPr>
              <a:t>PART 4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3600" b="1">
                <a:solidFill>
                  <a:srgbClr val="E8EDF6"/>
                </a:solidFill>
                <a:latin typeface="Arial"/>
              </a:rPr>
              <a:t>Time — columns four and five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60346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i="1">
                <a:solidFill>
                  <a:srgbClr val="8FA0B8"/>
                </a:solidFill>
                <a:latin typeface="Calibri"/>
              </a:rPr>
              <a:t>E-A-V models your domain at rest. Tx and Op model change — and give you provenance, time travel, what-ifs, and permissions.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069080"/>
            <a:ext cx="114264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E8EDF6"/>
                </a:solidFill>
                <a:latin typeface="Calibri"/>
              </a:rPr>
              <a:t>~15 min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920240" y="4069080"/>
            <a:ext cx="132552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REPL §4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035040" y="4206240"/>
            <a:ext cx="475200" cy="32868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583680" y="4206240"/>
            <a:ext cx="475200" cy="32868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132320" y="4206240"/>
            <a:ext cx="475200" cy="32868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7680960" y="4206240"/>
            <a:ext cx="475200" cy="32868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29600" y="4206240"/>
            <a:ext cx="475200" cy="32868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31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§4.1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“Update” is not a primitive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§4.1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502560" cy="38376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234440" y="1143000"/>
            <a:ext cx="1371240" cy="38376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:user/email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2697480" y="1143000"/>
            <a:ext cx="2651400" cy="38376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"victor@example.com"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5440680" y="1143000"/>
            <a:ext cx="776880" cy="38376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tx₄₂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6309360" y="1143000"/>
            <a:ext cx="822600" cy="38376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false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640080" y="1627560"/>
            <a:ext cx="502560" cy="38376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1234440" y="1627560"/>
            <a:ext cx="1371240" cy="38376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:user/email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2697480" y="1627560"/>
            <a:ext cx="2651400" cy="38376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"victor@4coders.com.br"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5440680" y="1627560"/>
            <a:ext cx="776880" cy="38376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tx₄₂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6309360" y="1627560"/>
            <a:ext cx="822600" cy="38376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0F1420"/>
                </a:solidFill>
                <a:latin typeface="Courier New"/>
              </a:rPr>
              <a:t>true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7269480" y="1298520"/>
            <a:ext cx="1462680" cy="5940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 i="1">
                <a:solidFill>
                  <a:srgbClr val="8FA0B8"/>
                </a:solidFill>
                <a:latin typeface="Calibri"/>
              </a:rPr>
              <a:t>retract + assert, same transaction</a:t>
            </a:r>
          </a:p>
        </p:txBody>
      </p:sp>
      <p:sp>
        <p:nvSpPr>
          <p:cNvPr id="17" name="Text 16"/>
          <p:cNvSpPr txBox="1"/>
          <p:nvPr/>
        </p:nvSpPr>
        <p:spPr>
          <a:xfrm>
            <a:off x="585360" y="2331720"/>
            <a:ext cx="7973280" cy="2194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@(d/transact conn [{:db/id [:user/name "victor"]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      :user/email "victor@4coders.com.br"}])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?v ?tx ?op :in $ ?e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[?e :user/email ?v ?tx ?op]]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(d/history (db)) [:user/name "victor"])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(["victor@example.com"    …4319 true ]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["victor@4coders.com.br" …4342 true ]   ← assert, and…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["victor@example.com"    …4342 false])  ← …auto-retract, same tx</a:t>
            </a:r>
          </a:p>
        </p:txBody>
      </p:sp>
      <p:sp>
        <p:nvSpPr>
          <p:cNvPr id="18" name="Text 17"/>
          <p:cNvSpPr txBox="1"/>
          <p:nvPr/>
        </p:nvSpPr>
        <p:spPr>
          <a:xfrm>
            <a:off x="640080" y="4663440"/>
            <a:ext cx="804636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E8EDF6"/>
                </a:solidFill>
                <a:latin typeface="Calibri"/>
              </a:rPr>
              <a:t>Nothing was overwritten. The past is immutable; the present is a fold of the log.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32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§4.1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Surgical writes: retract &amp; CAS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§4.1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[[:db/retract [:user/name "victor"] :user/stars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(repo (db) "clojure" "clojure")]])   ;; un-star, nothing else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[[:db/cas [:user/name "victor"] :user/email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"victor@4coders.com.br" "v@4coders.com.br"]])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[[:db/cas [:user/name "victor"] :user/email "stale@old" "x@y"]])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ExceptionInfo :db.error/cas-failed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297680"/>
            <a:ext cx="8046360" cy="7768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Explicit :db/retract forgets one specific fact — cardinality-many stays intact otherwise.</a:t>
            </a:r>
          </a:p>
          <a:p>
            <a:r>
              <a:rPr lang="en-US" sz="1250" b="1">
                <a:solidFill>
                  <a:srgbClr val="E8EDF6"/>
                </a:solidFill>
                <a:latin typeface="Calibri"/>
              </a:rPr>
              <a:t>A stale CAS fails the WHOLE transaction: optimistic concurrency with atomicity built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33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§4.2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Transactions are entities — annotate them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§4.2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200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[{:db/id "datomic.tx"             ;; ← the tx's OWN tempid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:audit/actor  "bruna"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:audit/reason "COI import batch #42"}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{:db/id [:user/name "richhickey"] :user/twitter "@richhickey"}])</a:t>
            </a:r>
          </a:p>
          <a:p>
            <a:endParaRPr lang="en-US" sz="1100"/>
          </a:p>
          <a:p>
            <a:r>
              <a:rPr lang="en-US" sz="1100">
                <a:solidFill>
                  <a:srgbClr val="7C8AA5"/>
                </a:solidFill>
                <a:latin typeface="Courier New"/>
              </a:rPr>
              <a:t>(d/q '[:find ?v ?inst ?actor ?why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:in $ $hist ?e                ;; two db inputs!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:where [$hist ?e :user/twitter ?v ?tx true]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      [?tx :db/txInstant ?inst]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      [(get-else $ ?tx :audit/actor  "?") ?actor]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      [(get-else $ ?tx :audit/reason "?") ?why]]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(db) (d/history (db)) [:user/name "richhickey"])</a:t>
            </a:r>
          </a:p>
          <a:p>
            <a:r>
              <a:rPr lang="en-US" sz="1100">
                <a:solidFill>
                  <a:srgbClr val="6A7891"/>
                </a:solidFill>
                <a:latin typeface="Courier New"/>
              </a:rPr>
              <a:t>;; =&gt; #{["@richhickey" #inst "2026-…" "bruna" "COI import batch #42"]}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572000"/>
            <a:ext cx="8046360" cy="411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b="1">
                <a:solidFill>
                  <a:srgbClr val="7BD88F"/>
                </a:solidFill>
                <a:latin typeface="Calibri"/>
              </a:rPr>
              <a:t>“Three months later — WHY does this row say that?” Answered in one query, forever, for free. This alone sells the model.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34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§4.3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Time-travel APIs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§4.3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097280" y="1710000"/>
            <a:ext cx="5482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8FA0B8"/>
                </a:solidFill>
                <a:latin typeface="Courier New"/>
              </a:rPr>
              <a:t>tx1</a:t>
            </a:r>
          </a:p>
        </p:txBody>
      </p:sp>
      <p:sp>
        <p:nvSpPr>
          <p:cNvPr id="7" name="Text 8"/>
          <p:cNvSpPr txBox="1"/>
          <p:nvPr/>
        </p:nvSpPr>
        <p:spPr>
          <a:xfrm>
            <a:off x="2697480" y="1710000"/>
            <a:ext cx="5482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8FA0B8"/>
                </a:solidFill>
                <a:latin typeface="Courier New"/>
              </a:rPr>
              <a:t>tx2</a:t>
            </a:r>
          </a:p>
        </p:txBody>
      </p:sp>
      <p:sp>
        <p:nvSpPr>
          <p:cNvPr id="8" name="Text 10"/>
          <p:cNvSpPr txBox="1"/>
          <p:nvPr/>
        </p:nvSpPr>
        <p:spPr>
          <a:xfrm>
            <a:off x="4297680" y="1710000"/>
            <a:ext cx="5482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8FA0B8"/>
                </a:solidFill>
                <a:latin typeface="Courier New"/>
              </a:rPr>
              <a:t>tx3</a:t>
            </a:r>
          </a:p>
        </p:txBody>
      </p:sp>
      <p:sp>
        <p:nvSpPr>
          <p:cNvPr id="9" name="Text 12"/>
          <p:cNvSpPr txBox="1"/>
          <p:nvPr/>
        </p:nvSpPr>
        <p:spPr>
          <a:xfrm>
            <a:off x="5897880" y="1710000"/>
            <a:ext cx="5482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8FA0B8"/>
                </a:solidFill>
                <a:latin typeface="Courier New"/>
              </a:rPr>
              <a:t>tx4</a:t>
            </a:r>
          </a:p>
        </p:txBody>
      </p:sp>
      <p:sp>
        <p:nvSpPr>
          <p:cNvPr id="10" name="Text 14"/>
          <p:cNvSpPr txBox="1"/>
          <p:nvPr/>
        </p:nvSpPr>
        <p:spPr>
          <a:xfrm>
            <a:off x="7498080" y="1710000"/>
            <a:ext cx="54828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8FA0B8"/>
                </a:solidFill>
                <a:latin typeface="Courier New"/>
              </a:rPr>
              <a:t>tx5</a:t>
            </a:r>
          </a:p>
        </p:txBody>
      </p:sp>
      <p:sp>
        <p:nvSpPr>
          <p:cNvPr id="11" name="Text 16"/>
          <p:cNvSpPr txBox="1"/>
          <p:nvPr/>
        </p:nvSpPr>
        <p:spPr>
          <a:xfrm>
            <a:off x="822960" y="1033200"/>
            <a:ext cx="40230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7BD88F"/>
                </a:solidFill>
                <a:latin typeface="Calibri"/>
              </a:rPr>
              <a:t>as-of tx3 — everything up to here</a:t>
            </a:r>
          </a:p>
        </p:txBody>
      </p:sp>
      <p:sp>
        <p:nvSpPr>
          <p:cNvPr id="12" name="Text 18"/>
          <p:cNvSpPr txBox="1"/>
          <p:nvPr/>
        </p:nvSpPr>
        <p:spPr>
          <a:xfrm>
            <a:off x="3566160" y="2203560"/>
            <a:ext cx="512028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6FA8FF"/>
                </a:solidFill>
                <a:latin typeface="Calibri"/>
              </a:rPr>
              <a:t>since tx3 — only what's new (⚠ identity attrs may be missing: join with the present)</a:t>
            </a:r>
          </a:p>
        </p:txBody>
      </p:sp>
      <p:sp>
        <p:nvSpPr>
          <p:cNvPr id="13" name="Text 20"/>
          <p:cNvSpPr txBox="1"/>
          <p:nvPr/>
        </p:nvSpPr>
        <p:spPr>
          <a:xfrm>
            <a:off x="585360" y="2834640"/>
            <a:ext cx="7973280" cy="1508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?email . :in $ ?e :where [?e :user/email ?email]]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(d/as-of (db) t-before) [:user/name "victor"])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"victor@example.com"        the db AS IT WAS — same query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?email . :in $ ?e :where [?e :user/email ?email]]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(db) [:user/name "victor"])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"v@4coders.com.br"          now</a:t>
            </a:r>
          </a:p>
        </p:txBody>
      </p:sp>
      <p:sp>
        <p:nvSpPr>
          <p:cNvPr id="14" name="Text 21"/>
          <p:cNvSpPr txBox="1"/>
          <p:nvPr/>
        </p:nvSpPr>
        <p:spPr>
          <a:xfrm>
            <a:off x="640080" y="4572000"/>
            <a:ext cx="804636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i="1">
                <a:solidFill>
                  <a:srgbClr val="8FA0B8"/>
                </a:solidFill>
                <a:latin typeface="Calibri"/>
              </a:rPr>
              <a:t>history = the whole line, with Op — you queried it three slides ago.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35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§4.4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What-if: a database you can lie to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§4.4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697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7C8AA5"/>
                </a:solidFill>
                <a:latin typeface="Courier New"/>
              </a:rPr>
              <a:t>(let [{spec :db-after}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(d/with (db) [{:repo/slug "lupii"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       :repo/owner [:user/name "victor"]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       :repo/language #{"Clojure"}}])]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{:speculative (d/q '[:find (count ?r) .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         :where [?r :repo/slug _]] spec)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:real        (d/q '[:find (count ?r) .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         :where [?r :repo/slug _]] (db))})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{:speculative 5, :real 4}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114800"/>
            <a:ext cx="804636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E8EDF6"/>
                </a:solidFill>
                <a:latin typeface="Calibri"/>
              </a:rPr>
              <a:t>Transaction + query + rollback — with no lock, no cleanup, no connection touched.</a:t>
            </a:r>
          </a:p>
          <a:p>
            <a:r>
              <a:rPr lang="en-US" sz="1300" b="1">
                <a:solidFill>
                  <a:srgbClr val="E8EDF6"/>
                </a:solidFill>
                <a:latin typeface="Calibri"/>
              </a:rPr>
              <a:t>Test suites against real data, dry-run endpoints, “preview this change” UIs: all d/with. It's how part 6 will cascade a delete safely.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36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§4.5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Permissions as datom predicates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§4.5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(let [email     (d/entid (db) :user/email)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public-db (d/filter (db)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                        (fn [_ dtm] (not= email (:a dtm))))]</a:t>
            </a:r>
          </a:p>
          <a:p>
            <a:r>
              <a:rPr lang="en-US" sz="1200">
                <a:solidFill>
                  <a:srgbClr val="E8EDF6"/>
                </a:solidFill>
                <a:latin typeface="Courier New"/>
              </a:rPr>
              <a:t>  (d/pull public-db '[*] [:user/name "victor"]))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{:db/id …, :user/name "victor", :user/follows […], …}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   no :user/email key AT ALL — those facts do not exist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   from this db value's point of view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886200"/>
            <a:ext cx="8046360" cy="10512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E8EDF6"/>
                </a:solidFill>
                <a:latin typeface="Calibri"/>
              </a:rPr>
              <a:t>Not WHERE-clause discipline, not view soup: filter the datoms once, then hand the db to ANY query — “go ahead, the sky's the limit.”</a:t>
            </a:r>
          </a:p>
          <a:p>
            <a:r>
              <a:rPr lang="en-US" sz="1250">
                <a:solidFill>
                  <a:srgbClr val="E8EDF6"/>
                </a:solidFill>
                <a:latin typeface="Calibri"/>
              </a:rPr>
              <a:t>Composes with as-of, with, history — they're all just db values.</a:t>
            </a:r>
          </a:p>
          <a:p>
            <a:r>
              <a:rPr lang="en-US" sz="1250">
                <a:solidFill>
                  <a:srgbClr val="8FA0B8"/>
                </a:solidFill>
                <a:latin typeface="Calibri"/>
              </a:rPr>
              <a:t>True deletion for GDPR exists too: excision — removes datoms, leaves a tombstone.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37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164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8FA0B8"/>
                </a:solidFill>
                <a:latin typeface="Arial"/>
              </a:rPr>
              <a:t>PART 5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3600" b="1">
                <a:solidFill>
                  <a:srgbClr val="E8EDF6"/>
                </a:solidFill>
                <a:latin typeface="Arial"/>
              </a:rPr>
              <a:t>Architecture, heuristics, homework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60346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i="1">
                <a:solidFill>
                  <a:srgbClr val="8FA0B8"/>
                </a:solidFill>
                <a:latin typeface="Calibri"/>
              </a:rPr>
              <a:t>How the machine actually runs, the cousins that share the model, eight rules of thumb, and five exercises.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069080"/>
            <a:ext cx="114264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E8EDF6"/>
                </a:solidFill>
                <a:latin typeface="Calibri"/>
              </a:rPr>
              <a:t>~10 min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920240" y="4069080"/>
            <a:ext cx="132552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REPL §5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035040" y="4206240"/>
            <a:ext cx="475200" cy="32868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583680" y="4206240"/>
            <a:ext cx="475200" cy="32868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132320" y="4206240"/>
            <a:ext cx="475200" cy="32868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7680960" y="4206240"/>
            <a:ext cx="475200" cy="32868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29600" y="4206240"/>
            <a:ext cx="475200" cy="32868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38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REPL §5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Architecture in one slide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685800" y="1371600"/>
            <a:ext cx="237708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 b="1">
                <a:solidFill>
                  <a:srgbClr val="7BD88F"/>
                </a:solidFill>
                <a:latin typeface="Arial"/>
              </a:rPr>
              <a:t>PEERS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685800" y="1664280"/>
            <a:ext cx="2422800" cy="1188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E8EDF6"/>
                </a:solidFill>
                <a:latin typeface="Calibri"/>
              </a:rPr>
              <a:t>your app processes.</a:t>
            </a:r>
          </a:p>
          <a:p>
            <a:r>
              <a:rPr lang="en-US" sz="1150">
                <a:solidFill>
                  <a:srgbClr val="E8EDF6"/>
                </a:solidFill>
                <a:latin typeface="Calibri"/>
              </a:rPr>
              <a:t>indexes' working set in local RAM;</a:t>
            </a:r>
          </a:p>
          <a:p>
            <a:r>
              <a:rPr lang="en-US" sz="1150">
                <a:solidFill>
                  <a:srgbClr val="E8EDF6"/>
                </a:solidFill>
                <a:latin typeface="Calibri"/>
              </a:rPr>
              <a:t>queries run HERE.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080760" y="1371600"/>
            <a:ext cx="237708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 b="1">
                <a:solidFill>
                  <a:srgbClr val="F28FAD"/>
                </a:solidFill>
                <a:latin typeface="Arial"/>
              </a:rPr>
              <a:t>TRANSACTOR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080760" y="1664280"/>
            <a:ext cx="2422800" cy="10969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E8EDF6"/>
                </a:solidFill>
                <a:latin typeface="Calibri"/>
              </a:rPr>
              <a:t>single writer:</a:t>
            </a:r>
          </a:p>
          <a:p>
            <a:r>
              <a:rPr lang="en-US" sz="1150">
                <a:solidFill>
                  <a:srgbClr val="E8EDF6"/>
                </a:solidFill>
                <a:latin typeface="Calibri"/>
              </a:rPr>
              <a:t>serializes txs ⇒ ACID + one total order of time.</a:t>
            </a:r>
          </a:p>
        </p:txBody>
      </p:sp>
      <p:sp>
        <p:nvSpPr>
          <p:cNvPr id="9" name="Text 10"/>
          <p:cNvSpPr txBox="1"/>
          <p:nvPr/>
        </p:nvSpPr>
        <p:spPr>
          <a:xfrm>
            <a:off x="3383280" y="3182040"/>
            <a:ext cx="237708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00" b="1">
                <a:solidFill>
                  <a:srgbClr val="FFC66D"/>
                </a:solidFill>
                <a:latin typeface="Arial"/>
              </a:rPr>
              <a:t>STORAGE</a:t>
            </a:r>
          </a:p>
        </p:txBody>
      </p:sp>
      <p:sp>
        <p:nvSpPr>
          <p:cNvPr id="10" name="Text 11"/>
          <p:cNvSpPr txBox="1"/>
          <p:nvPr/>
        </p:nvSpPr>
        <p:spPr>
          <a:xfrm>
            <a:off x="3383280" y="3456360"/>
            <a:ext cx="2422800" cy="1005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E8EDF6"/>
                </a:solidFill>
                <a:latin typeface="Calibri"/>
              </a:rPr>
              <a:t>pluggable &amp; dumb: Postgres, DynamoDB, Cassandra, files, memory. It stores blocks, not semantics.</a:t>
            </a:r>
          </a:p>
        </p:txBody>
      </p:sp>
      <p:sp>
        <p:nvSpPr>
          <p:cNvPr id="11" name="Text 13"/>
          <p:cNvSpPr txBox="1"/>
          <p:nvPr/>
        </p:nvSpPr>
        <p:spPr>
          <a:xfrm>
            <a:off x="3520440" y="1974960"/>
            <a:ext cx="210276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 i="1">
                <a:solidFill>
                  <a:srgbClr val="8FA0B8"/>
                </a:solidFill>
                <a:latin typeface="Calibri"/>
              </a:rPr>
              <a:t>novelty (live txs)</a:t>
            </a:r>
          </a:p>
        </p:txBody>
      </p:sp>
      <p:sp>
        <p:nvSpPr>
          <p:cNvPr id="12" name="Text 15"/>
          <p:cNvSpPr txBox="1"/>
          <p:nvPr/>
        </p:nvSpPr>
        <p:spPr>
          <a:xfrm>
            <a:off x="6309360" y="3127320"/>
            <a:ext cx="118836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i="1">
                <a:solidFill>
                  <a:srgbClr val="8FA0B8"/>
                </a:solidFill>
                <a:latin typeface="Calibri"/>
              </a:rPr>
              <a:t>writes</a:t>
            </a:r>
          </a:p>
        </p:txBody>
      </p:sp>
      <p:sp>
        <p:nvSpPr>
          <p:cNvPr id="13" name="Text 17"/>
          <p:cNvSpPr txBox="1"/>
          <p:nvPr/>
        </p:nvSpPr>
        <p:spPr>
          <a:xfrm>
            <a:off x="1600200" y="3127320"/>
            <a:ext cx="155412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i="1">
                <a:solidFill>
                  <a:srgbClr val="8FA0B8"/>
                </a:solidFill>
                <a:latin typeface="Calibri"/>
              </a:rPr>
              <a:t>index segments</a:t>
            </a:r>
          </a:p>
        </p:txBody>
      </p:sp>
      <p:sp>
        <p:nvSpPr>
          <p:cNvPr id="14" name="Text 18"/>
          <p:cNvSpPr txBox="1"/>
          <p:nvPr/>
        </p:nvSpPr>
        <p:spPr>
          <a:xfrm>
            <a:off x="502920" y="4590360"/>
            <a:ext cx="81378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Calibri"/>
              </a:rPr>
              <a:t>Reads scale by adding peers — most queries never cross the wire. Every db value carries its basis-t, so “eventual-consistency surprise” is structurally impossible.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39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SAME MODEL, OTHER BODIES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The family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640080" y="1371600"/>
            <a:ext cx="228564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7BD88F"/>
                </a:solidFill>
                <a:latin typeface="Arial"/>
              </a:rPr>
              <a:t>DataScript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640080" y="1828800"/>
            <a:ext cx="2285640" cy="2102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this entire model, in the browser (tonsky's — you queried its repo tonight). re-frame app-db as a triple store; pull/EQL as your wire protocol.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474720" y="1371600"/>
            <a:ext cx="228564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6FA8FF"/>
                </a:solidFill>
                <a:latin typeface="Arial"/>
              </a:rPr>
              <a:t>Datahike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474720" y="1828800"/>
            <a:ext cx="2285640" cy="2102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open-source, durable, Datomic-flavored. Same Datalog, same schema style, runs where a peer can't.</a:t>
            </a:r>
          </a:p>
        </p:txBody>
      </p:sp>
      <p:sp>
        <p:nvSpPr>
          <p:cNvPr id="9" name="Text 10"/>
          <p:cNvSpPr txBox="1"/>
          <p:nvPr/>
        </p:nvSpPr>
        <p:spPr>
          <a:xfrm>
            <a:off x="6309360" y="1371600"/>
            <a:ext cx="228564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C09BFF"/>
                </a:solidFill>
                <a:latin typeface="Arial"/>
              </a:rPr>
              <a:t>XTDB</a:t>
            </a:r>
          </a:p>
        </p:txBody>
      </p:sp>
      <p:sp>
        <p:nvSpPr>
          <p:cNvPr id="10" name="Text 11"/>
          <p:cNvSpPr txBox="1"/>
          <p:nvPr/>
        </p:nvSpPr>
        <p:spPr>
          <a:xfrm>
            <a:off x="6309360" y="1828800"/>
            <a:ext cx="2285640" cy="2102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bitemporal Datalog: valid-time AND transaction-time. When the domain itself argues about when things were true.</a:t>
            </a:r>
          </a:p>
        </p:txBody>
      </p:sp>
      <p:sp>
        <p:nvSpPr>
          <p:cNvPr id="11" name="Text 12"/>
          <p:cNvSpPr txBox="1"/>
          <p:nvPr/>
        </p:nvSpPr>
        <p:spPr>
          <a:xfrm>
            <a:off x="457200" y="4343400"/>
            <a:ext cx="822924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i="1">
                <a:solidFill>
                  <a:srgbClr val="8FA0B8"/>
                </a:solidFill>
                <a:latin typeface="Calibri"/>
              </a:rPr>
              <a:t>One mental model from the browser to the warehouse. Queries you wrote tonight port with almost no edits — that's exercise E5.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40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TAKE THESE HOME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Eight modeling heuristics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§5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76000" y="128016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1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576000" y="160020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Attributes, not tables</a:t>
            </a:r>
          </a:p>
        </p:txBody>
      </p:sp>
      <p:sp>
        <p:nvSpPr>
          <p:cNvPr id="8" name="Text 7"/>
          <p:cNvSpPr txBox="1"/>
          <p:nvPr/>
        </p:nvSpPr>
        <p:spPr>
          <a:xfrm>
            <a:off x="576000" y="205740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namespaces group concepts; they aren't containers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697480" y="128016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2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697480" y="160020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Identity is explicit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697480" y="205740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:db.unique/identity + :db/tupleAttrs for composites</a:t>
            </a:r>
          </a:p>
        </p:txBody>
      </p:sp>
      <p:sp>
        <p:nvSpPr>
          <p:cNvPr id="12" name="Text 13"/>
          <p:cNvSpPr txBox="1"/>
          <p:nvPr/>
        </p:nvSpPr>
        <p:spPr>
          <a:xfrm>
            <a:off x="4818960" y="128016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3</a:t>
            </a:r>
          </a:p>
        </p:txBody>
      </p:sp>
      <p:sp>
        <p:nvSpPr>
          <p:cNvPr id="13" name="Text 14"/>
          <p:cNvSpPr txBox="1"/>
          <p:nvPr/>
        </p:nvSpPr>
        <p:spPr>
          <a:xfrm>
            <a:off x="4818960" y="160020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Relationships are refs</a:t>
            </a:r>
          </a:p>
        </p:txBody>
      </p:sp>
      <p:sp>
        <p:nvSpPr>
          <p:cNvPr id="14" name="Text 15"/>
          <p:cNvSpPr txBox="1"/>
          <p:nvPr/>
        </p:nvSpPr>
        <p:spPr>
          <a:xfrm>
            <a:off x="4818960" y="205740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pick the natural direction — VAET reverses free</a:t>
            </a:r>
          </a:p>
        </p:txBody>
      </p:sp>
      <p:sp>
        <p:nvSpPr>
          <p:cNvPr id="15" name="Text 17"/>
          <p:cNvSpPr txBox="1"/>
          <p:nvPr/>
        </p:nvSpPr>
        <p:spPr>
          <a:xfrm>
            <a:off x="6940440" y="128016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4</a:t>
            </a:r>
          </a:p>
        </p:txBody>
      </p:sp>
      <p:sp>
        <p:nvSpPr>
          <p:cNvPr id="16" name="Text 18"/>
          <p:cNvSpPr txBox="1"/>
          <p:nvPr/>
        </p:nvSpPr>
        <p:spPr>
          <a:xfrm>
            <a:off x="6940440" y="160020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Ownership = component</a:t>
            </a:r>
          </a:p>
        </p:txBody>
      </p:sp>
      <p:sp>
        <p:nvSpPr>
          <p:cNvPr id="17" name="Text 19"/>
          <p:cNvSpPr txBox="1"/>
          <p:nvPr/>
        </p:nvSpPr>
        <p:spPr>
          <a:xfrm>
            <a:off x="6940440" y="205740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delete-together? :db/isComponent. else plain ref</a:t>
            </a:r>
          </a:p>
        </p:txBody>
      </p:sp>
      <p:sp>
        <p:nvSpPr>
          <p:cNvPr id="18" name="Text 21"/>
          <p:cNvSpPr txBox="1"/>
          <p:nvPr/>
        </p:nvSpPr>
        <p:spPr>
          <a:xfrm>
            <a:off x="576000" y="297180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5</a:t>
            </a:r>
          </a:p>
        </p:txBody>
      </p:sp>
      <p:sp>
        <p:nvSpPr>
          <p:cNvPr id="19" name="Text 22"/>
          <p:cNvSpPr txBox="1"/>
          <p:nvPr/>
        </p:nvSpPr>
        <p:spPr>
          <a:xfrm>
            <a:off x="576000" y="329184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Enums are idents</a:t>
            </a:r>
          </a:p>
        </p:txBody>
      </p:sp>
      <p:sp>
        <p:nvSpPr>
          <p:cNvPr id="20" name="Text 23"/>
          <p:cNvSpPr txBox="1"/>
          <p:nvPr/>
        </p:nvSpPr>
        <p:spPr>
          <a:xfrm>
            <a:off x="576000" y="374904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refs to well-known names, never strings</a:t>
            </a:r>
          </a:p>
        </p:txBody>
      </p:sp>
      <p:sp>
        <p:nvSpPr>
          <p:cNvPr id="21" name="Text 25"/>
          <p:cNvSpPr txBox="1"/>
          <p:nvPr/>
        </p:nvSpPr>
        <p:spPr>
          <a:xfrm>
            <a:off x="2697480" y="297180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6</a:t>
            </a:r>
          </a:p>
        </p:txBody>
      </p:sp>
      <p:sp>
        <p:nvSpPr>
          <p:cNvPr id="22" name="Text 26"/>
          <p:cNvSpPr txBox="1"/>
          <p:nvPr/>
        </p:nvSpPr>
        <p:spPr>
          <a:xfrm>
            <a:off x="2697480" y="329184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Absence beats null</a:t>
            </a:r>
          </a:p>
        </p:txBody>
      </p:sp>
      <p:sp>
        <p:nvSpPr>
          <p:cNvPr id="23" name="Text 27"/>
          <p:cNvSpPr txBox="1"/>
          <p:nvPr/>
        </p:nvSpPr>
        <p:spPr>
          <a:xfrm>
            <a:off x="2697480" y="374904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don't transact placeholder values</a:t>
            </a:r>
          </a:p>
        </p:txBody>
      </p:sp>
      <p:sp>
        <p:nvSpPr>
          <p:cNvPr id="24" name="Text 29"/>
          <p:cNvSpPr txBox="1"/>
          <p:nvPr/>
        </p:nvSpPr>
        <p:spPr>
          <a:xfrm>
            <a:off x="4818960" y="297180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7</a:t>
            </a:r>
          </a:p>
        </p:txBody>
      </p:sp>
      <p:sp>
        <p:nvSpPr>
          <p:cNvPr id="25" name="Text 30"/>
          <p:cNvSpPr txBox="1"/>
          <p:nvPr/>
        </p:nvSpPr>
        <p:spPr>
          <a:xfrm>
            <a:off x="4818960" y="329184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Annotate transactions</a:t>
            </a:r>
          </a:p>
        </p:txBody>
      </p:sp>
      <p:sp>
        <p:nvSpPr>
          <p:cNvPr id="26" name="Text 31"/>
          <p:cNvSpPr txBox="1"/>
          <p:nvPr/>
        </p:nvSpPr>
        <p:spPr>
          <a:xfrm>
            <a:off x="4818960" y="374904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who/why from day one — 2am-you says thanks</a:t>
            </a:r>
          </a:p>
        </p:txBody>
      </p:sp>
      <p:sp>
        <p:nvSpPr>
          <p:cNvPr id="27" name="Text 33"/>
          <p:cNvSpPr txBox="1"/>
          <p:nvPr/>
        </p:nvSpPr>
        <p:spPr>
          <a:xfrm>
            <a:off x="6940440" y="2971800"/>
            <a:ext cx="3654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7BD88F"/>
                </a:solidFill>
                <a:latin typeface="Arial"/>
              </a:rPr>
              <a:t>8</a:t>
            </a:r>
          </a:p>
        </p:txBody>
      </p:sp>
      <p:sp>
        <p:nvSpPr>
          <p:cNvPr id="28" name="Text 34"/>
          <p:cNvSpPr txBox="1"/>
          <p:nvPr/>
        </p:nvSpPr>
        <p:spPr>
          <a:xfrm>
            <a:off x="6940440" y="3291840"/>
            <a:ext cx="175536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Arial"/>
              </a:rPr>
              <a:t>Know when NOT</a:t>
            </a:r>
          </a:p>
        </p:txBody>
      </p:sp>
      <p:sp>
        <p:nvSpPr>
          <p:cNvPr id="29" name="Text 35"/>
          <p:cNvSpPr txBox="1"/>
          <p:nvPr/>
        </p:nvSpPr>
        <p:spPr>
          <a:xfrm>
            <a:off x="6940440" y="3749040"/>
            <a:ext cx="1755360" cy="6213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00">
                <a:solidFill>
                  <a:srgbClr val="8FA0B8"/>
                </a:solidFill>
                <a:latin typeface="Calibri"/>
              </a:rPr>
              <a:t>unbounded churn streams, blobs, extreme write rates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41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HOMEWORK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Five exercises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§5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502920" y="1161360"/>
            <a:ext cx="502560" cy="36540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E1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188720" y="1115640"/>
            <a:ext cx="7497720" cy="6580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Pull requests: design PR attributes (fork branch → target repo, state enum); transact one; query “open PRs targeting repos I own”.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502920" y="1865520"/>
            <a:ext cx="502560" cy="36540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E2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1188720" y="1819800"/>
            <a:ext cx="7497720" cy="6580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Teams &amp; roles: orgs → teams → members with :role/* idents. “Which repos can victor push to?” is a 3-hop rule.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502920" y="2569320"/>
            <a:ext cx="502560" cy="36540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E3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1188720" y="2523600"/>
            <a:ext cx="7497720" cy="6580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Stars over time: d/history + :db/txInstant → [[date delta] …] for clojure. Hint: ?op true = +1, false = −1.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502920" y="3273480"/>
            <a:ext cx="502560" cy="36540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E4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1188720" y="3227760"/>
            <a:ext cx="7497720" cy="6580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Rectangle detox: take one real table from your last project (nullable cols, type column, join table). Remodel as attributes. Count what disappeared.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502920" y="3977640"/>
            <a:ext cx="502560" cy="36540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E5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1188720" y="3931920"/>
            <a:ext cx="7497720" cy="6580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E8EDF6"/>
                </a:solidFill>
                <a:latin typeface="Calibri"/>
              </a:rPr>
              <a:t>DataScript field trip: paste the §6.5 recommender into a DataScript REPL. Note precisely what changed. (Spoiler: the schema shrinks; the query survives.)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81378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i="1">
                <a:solidFill>
                  <a:srgbClr val="8FA0B8"/>
                </a:solidFill>
                <a:latin typeface="Calibri"/>
              </a:rPr>
              <a:t>Solutions: honor system — the REPL doesn't lie.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42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164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600" b="1">
                <a:solidFill>
                  <a:srgbClr val="8FA0B8"/>
                </a:solidFill>
                <a:latin typeface="Arial"/>
              </a:rPr>
              <a:t>PART 6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3600" b="1">
                <a:solidFill>
                  <a:srgbClr val="E8EDF6"/>
                </a:solidFill>
                <a:latin typeface="Arial"/>
              </a:rPr>
              <a:t>One store, seven shapes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6034680" cy="914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500" i="1">
                <a:solidFill>
                  <a:srgbClr val="8FA0B8"/>
                </a:solidFill>
                <a:latin typeface="Calibri"/>
              </a:rPr>
              <a:t>The pitch of the whole class: sort the same datoms four ways and you get four databases — then wear seven costumes with one query language.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0080" y="4069080"/>
            <a:ext cx="114264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E8EDF6"/>
                </a:solidFill>
                <a:latin typeface="Calibri"/>
              </a:rPr>
              <a:t>~30 min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920240" y="4069080"/>
            <a:ext cx="1325520" cy="38376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200" b="1">
                <a:solidFill>
                  <a:srgbClr val="7BD88F"/>
                </a:solidFill>
                <a:latin typeface="Courier New"/>
              </a:rPr>
              <a:t>REPL §6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035040" y="4206240"/>
            <a:ext cx="475200" cy="32868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583680" y="4206240"/>
            <a:ext cx="475200" cy="32868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132320" y="4206240"/>
            <a:ext cx="475200" cy="32868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7680960" y="4206240"/>
            <a:ext cx="475200" cy="32868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29600" y="4206240"/>
            <a:ext cx="475200" cy="32868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43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THE CORE TRICK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Sort the same datoms four ways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94360" y="129852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7BD88F"/>
                </a:solidFill>
                <a:latin typeface="Courier New"/>
              </a:rPr>
              <a:t>EAVT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594360" y="16275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 i="1">
                <a:solidFill>
                  <a:srgbClr val="8FA0B8"/>
                </a:solidFill>
                <a:latin typeface="Calibri"/>
              </a:rPr>
              <a:t>entity-first</a:t>
            </a:r>
          </a:p>
        </p:txBody>
      </p:sp>
      <p:sp>
        <p:nvSpPr>
          <p:cNvPr id="8" name="Text 7"/>
          <p:cNvSpPr txBox="1"/>
          <p:nvPr/>
        </p:nvSpPr>
        <p:spPr>
          <a:xfrm>
            <a:off x="603360" y="2011680"/>
            <a:ext cx="383760" cy="38376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9" name="Text 8"/>
          <p:cNvSpPr txBox="1"/>
          <p:nvPr/>
        </p:nvSpPr>
        <p:spPr>
          <a:xfrm>
            <a:off x="104256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A</a:t>
            </a:r>
          </a:p>
        </p:txBody>
      </p:sp>
      <p:sp>
        <p:nvSpPr>
          <p:cNvPr id="10" name="Text 9"/>
          <p:cNvSpPr txBox="1"/>
          <p:nvPr/>
        </p:nvSpPr>
        <p:spPr>
          <a:xfrm>
            <a:off x="148140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V</a:t>
            </a:r>
          </a:p>
        </p:txBody>
      </p:sp>
      <p:sp>
        <p:nvSpPr>
          <p:cNvPr id="11" name="Text 10"/>
          <p:cNvSpPr txBox="1"/>
          <p:nvPr/>
        </p:nvSpPr>
        <p:spPr>
          <a:xfrm>
            <a:off x="192024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T</a:t>
            </a:r>
          </a:p>
        </p:txBody>
      </p:sp>
      <p:sp>
        <p:nvSpPr>
          <p:cNvPr id="12" name="Text 11"/>
          <p:cNvSpPr txBox="1"/>
          <p:nvPr/>
        </p:nvSpPr>
        <p:spPr>
          <a:xfrm>
            <a:off x="594360" y="260604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E8EDF6"/>
                </a:solidFill>
                <a:latin typeface="Arial"/>
              </a:rPr>
              <a:t>row store</a:t>
            </a:r>
          </a:p>
        </p:txBody>
      </p:sp>
      <p:sp>
        <p:nvSpPr>
          <p:cNvPr id="13" name="Text 12"/>
          <p:cNvSpPr txBox="1"/>
          <p:nvPr/>
        </p:nvSpPr>
        <p:spPr>
          <a:xfrm>
            <a:off x="594360" y="28803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8FA0B8"/>
                </a:solidFill>
                <a:latin typeface="Calibri"/>
              </a:rPr>
              <a:t>PostgreSQL-ish</a:t>
            </a:r>
          </a:p>
        </p:txBody>
      </p:sp>
      <p:sp>
        <p:nvSpPr>
          <p:cNvPr id="14" name="Text 13"/>
          <p:cNvSpPr txBox="1"/>
          <p:nvPr/>
        </p:nvSpPr>
        <p:spPr>
          <a:xfrm>
            <a:off x="594360" y="3520440"/>
            <a:ext cx="178272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950">
                <a:solidFill>
                  <a:srgbClr val="6A7891"/>
                </a:solidFill>
                <a:latin typeface="Courier New"/>
              </a:rPr>
              <a:t>d/datoms (db) :eavt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715840" y="129852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6FA8FF"/>
                </a:solidFill>
                <a:latin typeface="Courier New"/>
              </a:rPr>
              <a:t>AEVT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2715840" y="16275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 i="1">
                <a:solidFill>
                  <a:srgbClr val="8FA0B8"/>
                </a:solidFill>
                <a:latin typeface="Calibri"/>
              </a:rPr>
              <a:t>attribute-first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2724840" y="2011680"/>
            <a:ext cx="383760" cy="38376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16368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E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60288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V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404172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T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2715840" y="260604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E8EDF6"/>
                </a:solidFill>
                <a:latin typeface="Arial"/>
              </a:rPr>
              <a:t>column store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2715840" y="28803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8FA0B8"/>
                </a:solidFill>
                <a:latin typeface="Calibri"/>
              </a:rPr>
              <a:t>warehouse-ish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715840" y="3520440"/>
            <a:ext cx="178272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950">
                <a:solidFill>
                  <a:srgbClr val="6A7891"/>
                </a:solidFill>
                <a:latin typeface="Courier New"/>
              </a:rPr>
              <a:t>d/datoms (db) :aevt</a:t>
            </a:r>
          </a:p>
        </p:txBody>
      </p:sp>
      <p:sp>
        <p:nvSpPr>
          <p:cNvPr id="24" name="Text 25"/>
          <p:cNvSpPr txBox="1"/>
          <p:nvPr/>
        </p:nvSpPr>
        <p:spPr>
          <a:xfrm>
            <a:off x="4837320" y="129852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FFC66D"/>
                </a:solidFill>
                <a:latin typeface="Courier New"/>
              </a:rPr>
              <a:t>AVET</a:t>
            </a:r>
          </a:p>
        </p:txBody>
      </p:sp>
      <p:sp>
        <p:nvSpPr>
          <p:cNvPr id="25" name="Text 26"/>
          <p:cNvSpPr txBox="1"/>
          <p:nvPr/>
        </p:nvSpPr>
        <p:spPr>
          <a:xfrm>
            <a:off x="4837320" y="16275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 i="1">
                <a:solidFill>
                  <a:srgbClr val="8FA0B8"/>
                </a:solidFill>
                <a:latin typeface="Calibri"/>
              </a:rPr>
              <a:t>attr + value</a:t>
            </a:r>
          </a:p>
        </p:txBody>
      </p:sp>
      <p:sp>
        <p:nvSpPr>
          <p:cNvPr id="26" name="Text 27"/>
          <p:cNvSpPr txBox="1"/>
          <p:nvPr/>
        </p:nvSpPr>
        <p:spPr>
          <a:xfrm>
            <a:off x="4846320" y="2011680"/>
            <a:ext cx="383760" cy="38376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27" name="Text 28"/>
          <p:cNvSpPr txBox="1"/>
          <p:nvPr/>
        </p:nvSpPr>
        <p:spPr>
          <a:xfrm>
            <a:off x="528516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V</a:t>
            </a:r>
          </a:p>
        </p:txBody>
      </p:sp>
      <p:sp>
        <p:nvSpPr>
          <p:cNvPr id="28" name="Text 29"/>
          <p:cNvSpPr txBox="1"/>
          <p:nvPr/>
        </p:nvSpPr>
        <p:spPr>
          <a:xfrm>
            <a:off x="572400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E</a:t>
            </a:r>
          </a:p>
        </p:txBody>
      </p:sp>
      <p:sp>
        <p:nvSpPr>
          <p:cNvPr id="29" name="Text 30"/>
          <p:cNvSpPr txBox="1"/>
          <p:nvPr/>
        </p:nvSpPr>
        <p:spPr>
          <a:xfrm>
            <a:off x="616320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T</a:t>
            </a:r>
          </a:p>
        </p:txBody>
      </p:sp>
      <p:sp>
        <p:nvSpPr>
          <p:cNvPr id="30" name="Text 31"/>
          <p:cNvSpPr txBox="1"/>
          <p:nvPr/>
        </p:nvSpPr>
        <p:spPr>
          <a:xfrm>
            <a:off x="4837320" y="260604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E8EDF6"/>
                </a:solidFill>
                <a:latin typeface="Arial"/>
              </a:rPr>
              <a:t>key-value store</a:t>
            </a:r>
          </a:p>
        </p:txBody>
      </p:sp>
      <p:sp>
        <p:nvSpPr>
          <p:cNvPr id="31" name="Text 32"/>
          <p:cNvSpPr txBox="1"/>
          <p:nvPr/>
        </p:nvSpPr>
        <p:spPr>
          <a:xfrm>
            <a:off x="4837320" y="28803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8FA0B8"/>
                </a:solidFill>
                <a:latin typeface="Calibri"/>
              </a:rPr>
              <a:t>Redis-ish</a:t>
            </a:r>
          </a:p>
        </p:txBody>
      </p:sp>
      <p:sp>
        <p:nvSpPr>
          <p:cNvPr id="32" name="Text 33"/>
          <p:cNvSpPr txBox="1"/>
          <p:nvPr/>
        </p:nvSpPr>
        <p:spPr>
          <a:xfrm>
            <a:off x="4837320" y="3520440"/>
            <a:ext cx="178272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950">
                <a:solidFill>
                  <a:srgbClr val="6A7891"/>
                </a:solidFill>
                <a:latin typeface="Courier New"/>
              </a:rPr>
              <a:t>d/datoms (db) :avet</a:t>
            </a:r>
          </a:p>
        </p:txBody>
      </p:sp>
      <p:sp>
        <p:nvSpPr>
          <p:cNvPr id="33" name="Text 35"/>
          <p:cNvSpPr txBox="1"/>
          <p:nvPr/>
        </p:nvSpPr>
        <p:spPr>
          <a:xfrm>
            <a:off x="6958440" y="129852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700" b="1">
                <a:solidFill>
                  <a:srgbClr val="C09BFF"/>
                </a:solidFill>
                <a:latin typeface="Courier New"/>
              </a:rPr>
              <a:t>VAET</a:t>
            </a:r>
          </a:p>
        </p:txBody>
      </p:sp>
      <p:sp>
        <p:nvSpPr>
          <p:cNvPr id="34" name="Text 36"/>
          <p:cNvSpPr txBox="1"/>
          <p:nvPr/>
        </p:nvSpPr>
        <p:spPr>
          <a:xfrm>
            <a:off x="6958440" y="16275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 i="1">
                <a:solidFill>
                  <a:srgbClr val="8FA0B8"/>
                </a:solidFill>
                <a:latin typeface="Calibri"/>
              </a:rPr>
              <a:t>value-first (refs)</a:t>
            </a:r>
          </a:p>
        </p:txBody>
      </p:sp>
      <p:sp>
        <p:nvSpPr>
          <p:cNvPr id="35" name="Text 37"/>
          <p:cNvSpPr txBox="1"/>
          <p:nvPr/>
        </p:nvSpPr>
        <p:spPr>
          <a:xfrm>
            <a:off x="6967800" y="2011680"/>
            <a:ext cx="383760" cy="38376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36" name="Text 38"/>
          <p:cNvSpPr txBox="1"/>
          <p:nvPr/>
        </p:nvSpPr>
        <p:spPr>
          <a:xfrm>
            <a:off x="740664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A</a:t>
            </a:r>
          </a:p>
        </p:txBody>
      </p:sp>
      <p:sp>
        <p:nvSpPr>
          <p:cNvPr id="37" name="Text 39"/>
          <p:cNvSpPr txBox="1"/>
          <p:nvPr/>
        </p:nvSpPr>
        <p:spPr>
          <a:xfrm>
            <a:off x="784548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E</a:t>
            </a:r>
          </a:p>
        </p:txBody>
      </p:sp>
      <p:sp>
        <p:nvSpPr>
          <p:cNvPr id="38" name="Text 40"/>
          <p:cNvSpPr txBox="1"/>
          <p:nvPr/>
        </p:nvSpPr>
        <p:spPr>
          <a:xfrm>
            <a:off x="8284320" y="2011680"/>
            <a:ext cx="383760" cy="38376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7C8AA5"/>
                </a:solidFill>
                <a:latin typeface="Courier New"/>
              </a:rPr>
              <a:t>T</a:t>
            </a:r>
          </a:p>
        </p:txBody>
      </p:sp>
      <p:sp>
        <p:nvSpPr>
          <p:cNvPr id="39" name="Text 41"/>
          <p:cNvSpPr txBox="1"/>
          <p:nvPr/>
        </p:nvSpPr>
        <p:spPr>
          <a:xfrm>
            <a:off x="6958440" y="2606040"/>
            <a:ext cx="173700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E8EDF6"/>
                </a:solidFill>
                <a:latin typeface="Arial"/>
              </a:rPr>
              <a:t>reverse graph</a:t>
            </a:r>
          </a:p>
        </p:txBody>
      </p:sp>
      <p:sp>
        <p:nvSpPr>
          <p:cNvPr id="40" name="Text 42"/>
          <p:cNvSpPr txBox="1"/>
          <p:nvPr/>
        </p:nvSpPr>
        <p:spPr>
          <a:xfrm>
            <a:off x="6958440" y="2880360"/>
            <a:ext cx="1737000" cy="255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8FA0B8"/>
                </a:solidFill>
                <a:latin typeface="Calibri"/>
              </a:rPr>
              <a:t>Neo4j-ish</a:t>
            </a:r>
          </a:p>
        </p:txBody>
      </p:sp>
      <p:sp>
        <p:nvSpPr>
          <p:cNvPr id="41" name="Text 43"/>
          <p:cNvSpPr txBox="1"/>
          <p:nvPr/>
        </p:nvSpPr>
        <p:spPr>
          <a:xfrm>
            <a:off x="6958440" y="3520440"/>
            <a:ext cx="178272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950">
                <a:solidFill>
                  <a:srgbClr val="6A7891"/>
                </a:solidFill>
                <a:latin typeface="Courier New"/>
              </a:rPr>
              <a:t>d/datoms (db) :vaet</a:t>
            </a:r>
          </a:p>
        </p:txBody>
      </p:sp>
      <p:sp>
        <p:nvSpPr>
          <p:cNvPr id="42" name="Text 44"/>
          <p:cNvSpPr txBox="1"/>
          <p:nvPr/>
        </p:nvSpPr>
        <p:spPr>
          <a:xfrm>
            <a:off x="457200" y="4343400"/>
            <a:ext cx="8229240" cy="5940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300">
                <a:solidFill>
                  <a:srgbClr val="E8EDF6"/>
                </a:solidFill>
                <a:latin typeface="Calibri"/>
              </a:rPr>
              <a:t>Datomic maintains all four continuously. The query engine is “just” a constraint solver walking these sorted sets — and d/datoms hands you raw, lazy access to each.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44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1 OF 7 · AVET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Key-value store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§6.1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>
                <a:solidFill>
                  <a:srgbClr val="7C8AA5"/>
                </a:solidFill>
                <a:latin typeface="Courier New"/>
              </a:rPr>
              <a:t>(d/pull (db) [:user/email] [:user/name "tonsky"])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{:user/email "tonsky@example.com"}      GET by natural key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(-&gt;&gt; (d/datoms (db) :avet :user/name) (map (juxt :v :e)))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(["pithyless" …420] ["richhickey" …418] ["tonsky" …419]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    ["victor" …424])                       sorted by (A,V)</a:t>
            </a:r>
          </a:p>
          <a:p>
            <a:endParaRPr lang="en-US" sz="1200"/>
          </a:p>
          <a:p>
            <a:r>
              <a:rPr lang="en-US" sz="1200">
                <a:solidFill>
                  <a:srgbClr val="7C8AA5"/>
                </a:solidFill>
                <a:latin typeface="Courier New"/>
              </a:rPr>
              <a:t>(-&gt;&gt; (d/index-range (db) :user/name "p" "u") (map :v))</a:t>
            </a:r>
          </a:p>
          <a:p>
            <a:r>
              <a:rPr lang="en-US" sz="1200">
                <a:solidFill>
                  <a:srgbClr val="6A7891"/>
                </a:solidFill>
                <a:latin typeface="Courier New"/>
              </a:rPr>
              <a:t>;; =&gt; ("pithyless" "richhickey" "tonsky")     range scan too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297680"/>
            <a:ext cx="8046360" cy="5482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E8EDF6"/>
                </a:solidFill>
                <a:latin typeface="Calibri"/>
              </a:rPr>
              <a:t>SET = transact · GET = lookup ref · DEL = retract · range scans included. Redis, minus the second database you keep consistent by hand.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45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2 OF 7 · EAVT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Relational rows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§6.2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245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SELECT u.name, u.email, count(s.repo_id)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FROM users u JOIN stars s ON s.user_id = u.id GROUP BY u.id;</a:t>
            </a:r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(-&gt;&gt; (d/q '[:find ?name ?email (count ?r)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:keys  user email starred        ;; maps out = rows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:where [?u :user/name ?name]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     [(get-else $ ?u :user/email "—") ?email]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     [?u :user/stars ?r]]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(db))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(sort-by :user) print-table)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| :user     | :email             | :starred |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| pithyless | —                  |        2 |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| tonsky    | tonsky@example.com |        1 |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| victor    | victor@example.com |        1 |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572000"/>
            <a:ext cx="8046360" cy="411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b="1">
                <a:solidFill>
                  <a:srgbClr val="E8EDF6"/>
                </a:solidFill>
                <a:latin typeface="Calibri"/>
              </a:rPr>
              <a:t>entity = row · attribute = column · :keys = named columns. The row is a VIEW you asked for, not storage physics you're stuck with.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46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3 OF 7 · AEVT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Column store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§6.3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7C8AA5"/>
                </a:solidFill>
                <a:latin typeface="Courier New"/>
              </a:rPr>
              <a:t>(-&gt;&gt; (d/datoms (db) :aevt :repo/language)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(map :v)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frequencies)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{"Clojure" 4, "Java" 1, "ClojureScript" 1}</a:t>
            </a:r>
          </a:p>
          <a:p>
            <a:endParaRPr lang="en-US" sz="1250"/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(d/q '[:find ?lang (count ?r)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:where [?r :repo/language ?lang]] (db))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[["Clojure" 4] ["ClojureScript" 1] ["Java" 1]]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3931920"/>
            <a:ext cx="8046360" cy="1005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>
                <a:solidFill>
                  <a:srgbClr val="E8EDF6"/>
                </a:solidFill>
                <a:latin typeface="Calibri"/>
              </a:rPr>
              <a:t>One attribute, physically clustered across all entities — the definition of columnar. Touch the column, never load a row.</a:t>
            </a:r>
          </a:p>
          <a:p>
            <a:r>
              <a:rPr lang="en-US" sz="1300">
                <a:solidFill>
                  <a:srgbClr val="E8EDF6"/>
                </a:solidFill>
                <a:latin typeface="Calibri"/>
              </a:rPr>
              <a:t>The talk: “where SQL falls down is aggregations… what you really need is an index attribute-first.” You have it, continuously, for free.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47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4 OF 7 · DOCUMENTS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Write a document: nested maps in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§6.4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schema highlights: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:repo/issues    ref, many, :db/isComponent true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:issue/comments ref, many, :db/isComponent true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:issue/title    string,    :db/fulltext true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[{:db/id (repo (db) "tonsky" "datascript")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:repo/issues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[{:issue/title "Support tuple bindings in :find"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:issue/state :issue.state/open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:issue/comments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[{:comment/body   "PR incoming — same trick as Datomic?"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:comment/author [:user/name "pithyless"]}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{:comment/body   "Yes. Keep the API surface identical."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:comment/author [:user/name "tonsky"]}]}]}])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617720"/>
            <a:ext cx="804636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b="1">
                <a:solidFill>
                  <a:srgbClr val="E8EDF6"/>
                </a:solidFill>
                <a:latin typeface="Calibri"/>
              </a:rPr>
              <a:t>One nested map in, a tree of datoms out — exactly what you'd POST as JSON. Datomic shreds it for you.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48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4 OF 7 · DOCUMENTS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Read a document: pull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§6.4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(d/pull (db)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'[:repo/slug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{:repo/owner [:user/name]}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{:repo/issues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[:issue/title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{:issue/state [:db/ident]}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{:issue/comments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[:comment/body {:comment/author [:user/name]}]}]}]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(repo (db) "tonsky" "datascript"))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{:repo/slug "datascript"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:repo/owner {:user/name "tonsky"}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:repo/issues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[{:issue/title "Support tuple bindings in :find"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  :issue/state {:db/ident :issue.state/open}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    :issue/comments [{:comment/body "PR incoming — …"} …]}]}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617720"/>
            <a:ext cx="8046360" cy="411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 b="1">
                <a:solidFill>
                  <a:srgbClr val="E8EDF6"/>
                </a:solidFill>
                <a:latin typeface="Calibri"/>
              </a:rPr>
              <a:t>GraphQL on steroids — except the query is data, not a string DSL. MongoDB gives you ONE document shape; here the boundary is drawn per query.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49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4 OF 7 · DOCUMENTS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Reverse refs, cascades, fulltext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§6.4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4286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>
                <a:solidFill>
                  <a:srgbClr val="7C8AA5"/>
                </a:solidFill>
                <a:latin typeface="Courier New"/>
              </a:rPr>
              <a:t>(d/pull (db) '[:user/name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       {:comment/_author       ;; ← who points at me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        [:comment/body {:issue/_comments [:issue/title]}]}]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[:user/name "pithyless"])</a:t>
            </a:r>
          </a:p>
          <a:p>
            <a:endParaRPr lang="en-US" sz="1100"/>
          </a:p>
          <a:p>
            <a:r>
              <a:rPr lang="en-US" sz="1100">
                <a:solidFill>
                  <a:srgbClr val="6A7891"/>
                </a:solidFill>
                <a:latin typeface="Courier New"/>
              </a:rPr>
              <a:t>;; components cascade — run speculatively (d/with, from part 4):</a:t>
            </a:r>
          </a:p>
          <a:p>
            <a:r>
              <a:rPr lang="en-US" sz="1100">
                <a:solidFill>
                  <a:srgbClr val="7C8AA5"/>
                </a:solidFill>
                <a:latin typeface="Courier New"/>
              </a:rPr>
              <a:t>(let [{db2 :db-after} (d/with (db)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[[:db/retractEntity (repo (db) "tonsky" "datascript")]])]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(d/q '[:find (count ?c) . :where [?c :comment/body _]] db2))</a:t>
            </a:r>
          </a:p>
          <a:p>
            <a:r>
              <a:rPr lang="en-US" sz="1100">
                <a:solidFill>
                  <a:srgbClr val="6A7891"/>
                </a:solidFill>
                <a:latin typeface="Courier New"/>
              </a:rPr>
              <a:t>;; =&gt; nil          was 2 — the issue and its comments went too</a:t>
            </a:r>
          </a:p>
          <a:p>
            <a:endParaRPr lang="en-US" sz="1100"/>
          </a:p>
          <a:p>
            <a:r>
              <a:rPr lang="en-US" sz="1100">
                <a:solidFill>
                  <a:srgbClr val="7C8AA5"/>
                </a:solidFill>
                <a:latin typeface="Courier New"/>
              </a:rPr>
              <a:t>(d/q '[:find ?title ?score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:where [(fulltext $ :issue/title "tuple")</a:t>
            </a:r>
          </a:p>
          <a:p>
            <a:r>
              <a:rPr lang="en-US" sz="1100">
                <a:solidFill>
                  <a:srgbClr val="E8EDF6"/>
                </a:solidFill>
                <a:latin typeface="Courier New"/>
              </a:rPr>
              <a:t>               [[?i ?title _ ?score]]]] (db))</a:t>
            </a:r>
          </a:p>
          <a:p>
            <a:r>
              <a:rPr lang="en-US" sz="1100">
                <a:solidFill>
                  <a:srgbClr val="6A7891"/>
                </a:solidFill>
                <a:latin typeface="Courier New"/>
              </a:rPr>
              <a:t>;; =&gt; #{["Support tuple bindings in :find" 1.0]}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709160"/>
            <a:ext cx="8046360" cy="4111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8FA0B8"/>
                </a:solidFill>
                <a:latin typeface="Calibri"/>
              </a:rPr>
              <a:t>Reverse refs (_attr) flip the document inside-out per query · Lucene lives in-process, addressed from Datalog (indexes in the background — re-run if empty right after a transact).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50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 5 OF 7 · VAET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Graph database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§6.5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rules (excerpt) — a rule may call ITSELF: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[(follows ?a ?b) [?a :user/follows ?b]]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  [(follows ?a ?b) [?a :user/follows ?x] (follows ?x ?b)]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(-&gt;&gt; (d/entity (db) [:user/name "tonsky"])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:user/_follows (map :user/name))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("pithyless")            ← incoming edge, free (VAET)</a:t>
            </a:r>
          </a:p>
          <a:p>
            <a:endParaRPr lang="en-US" sz="1150"/>
          </a:p>
          <a:p>
            <a:r>
              <a:rPr lang="en-US" sz="1150">
                <a:solidFill>
                  <a:srgbClr val="7C8AA5"/>
                </a:solidFill>
                <a:latin typeface="Courier New"/>
              </a:rPr>
              <a:t>(d/q '[:find [?name ...]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:in $ % ?start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:where (follows ?start ?x)        ;; recursion!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         [?x :user/name ?name]]</a:t>
            </a:r>
          </a:p>
          <a:p>
            <a:r>
              <a:rPr lang="en-US" sz="1150">
                <a:solidFill>
                  <a:srgbClr val="E8EDF6"/>
                </a:solidFill>
                <a:latin typeface="Courier New"/>
              </a:rPr>
              <a:t>     (db) rules [:user/name "victor"])</a:t>
            </a:r>
          </a:p>
          <a:p>
            <a:r>
              <a:rPr lang="en-US" sz="1150">
                <a:solidFill>
                  <a:srgbClr val="6A7891"/>
                </a:solidFill>
                <a:latin typeface="Courier New"/>
              </a:rPr>
              <a:t>;; =&gt; ["pithyless" "richhickey" "tonsky"]     arbitrary depth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617720"/>
            <a:ext cx="8046360" cy="456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00" b="1">
                <a:solidFill>
                  <a:srgbClr val="E8EDF6"/>
                </a:solidFill>
                <a:latin typeface="Calibri"/>
              </a:rPr>
              <a:t>Every ref is bidirectional for free — VAET is the reverse index over every ref in the system. No edge tables, no recursive CTE, no max-hops guess. This is the Kevin Bacon query.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51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THE MESH PAYOFF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A recommender in five clauses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§6.5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85360" y="1188720"/>
            <a:ext cx="7973280" cy="27428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repos starred by people I (transitively) follow, minus mine</a:t>
            </a:r>
          </a:p>
          <a:p>
            <a:r>
              <a:rPr lang="en-US" sz="1250">
                <a:solidFill>
                  <a:srgbClr val="7C8AA5"/>
                </a:solidFill>
                <a:latin typeface="Courier New"/>
              </a:rPr>
              <a:t>(d/q '[:find ?owner ?slug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:in $ % ?me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:where (follows ?me ?friend)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[?friend :user/stars ?r]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(not [?me :user/stars ?r])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[?r :repo/slug ?slug]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         (owner-name ?r ?owner)]</a:t>
            </a:r>
          </a:p>
          <a:p>
            <a:r>
              <a:rPr lang="en-US" sz="1250">
                <a:solidFill>
                  <a:srgbClr val="E8EDF6"/>
                </a:solidFill>
                <a:latin typeface="Courier New"/>
              </a:rPr>
              <a:t>     (db) rules [:user/name "victor"])</a:t>
            </a:r>
          </a:p>
          <a:p>
            <a:r>
              <a:rPr lang="en-US" sz="1250">
                <a:solidFill>
                  <a:srgbClr val="6A7891"/>
                </a:solidFill>
                <a:latin typeface="Courier New"/>
              </a:rPr>
              <a:t>;; =&gt; #{["tonsky" "datascript"]}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640080" y="4160520"/>
            <a:ext cx="8046360" cy="8226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>
                <a:solidFill>
                  <a:srgbClr val="E8EDF6"/>
                </a:solidFill>
                <a:latin typeface="Calibri"/>
              </a:rPr>
              <a:t>Users, follows, stars, repos, owners — five “tables”, zero JOINs written, one recursive hop, one polymorphic rule.</a:t>
            </a:r>
          </a:p>
          <a:p>
            <a:r>
              <a:rPr lang="en-US" sz="1350" b="1">
                <a:solidFill>
                  <a:srgbClr val="7BD88F"/>
                </a:solidFill>
                <a:latin typeface="Calibri"/>
              </a:rPr>
              <a:t>This query is why the class exists.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52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SHAPES 6 &amp; 7 OF 7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Event log · sparse matrix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635240" y="311040"/>
            <a:ext cx="1051200" cy="310680"/>
          </a:xfrm>
          <a:prstGeom prst="roundRect">
            <a:avLst/>
          </a:prstGeom>
          <a:solidFill>
            <a:srgbClr val="18202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00">
                <a:solidFill>
                  <a:srgbClr val="7BD88F"/>
                </a:solidFill>
                <a:latin typeface="Courier New"/>
              </a:rPr>
              <a:t>§6.6–7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502920" y="1051560"/>
            <a:ext cx="393156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C09BFF"/>
                </a:solidFill>
                <a:latin typeface="Arial"/>
              </a:rPr>
              <a:t>6 · the log IS the database</a:t>
            </a:r>
          </a:p>
        </p:txBody>
      </p:sp>
      <p:sp>
        <p:nvSpPr>
          <p:cNvPr id="7" name="Text 6"/>
          <p:cNvSpPr txBox="1"/>
          <p:nvPr/>
        </p:nvSpPr>
        <p:spPr>
          <a:xfrm>
            <a:off x="585360" y="1463040"/>
            <a:ext cx="3812760" cy="2102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>
                <a:solidFill>
                  <a:srgbClr val="7C8AA5"/>
                </a:solidFill>
                <a:latin typeface="Courier New"/>
              </a:rPr>
              <a:t>(-&gt;&gt; (d/tx-range (d/log conn)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          nil nil)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(take 3)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(map (fn [{:keys [t data]}]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     {:t t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      :datoms (count data)})))</a:t>
            </a:r>
          </a:p>
          <a:p>
            <a:r>
              <a:rPr lang="en-US" sz="1050">
                <a:solidFill>
                  <a:srgbClr val="6A7891"/>
                </a:solidFill>
                <a:latin typeface="Courier New"/>
              </a:rPr>
              <a:t>;; =&gt; ({:t 1000 :datoms 13}</a:t>
            </a:r>
          </a:p>
          <a:p>
            <a:r>
              <a:rPr lang="en-US" sz="1050">
                <a:solidFill>
                  <a:srgbClr val="6A7891"/>
                </a:solidFill>
                <a:latin typeface="Courier New"/>
              </a:rPr>
              <a:t>;;     {:t 1001 :datoms 4} …)</a:t>
            </a:r>
          </a:p>
        </p:txBody>
      </p:sp>
      <p:sp>
        <p:nvSpPr>
          <p:cNvPr id="8" name="Text 7"/>
          <p:cNvSpPr txBox="1"/>
          <p:nvPr/>
        </p:nvSpPr>
        <p:spPr>
          <a:xfrm>
            <a:off x="502920" y="3794760"/>
            <a:ext cx="3977280" cy="1005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E8EDF6"/>
                </a:solidFill>
                <a:latin typeface="Calibri"/>
              </a:rPr>
              <a:t>Event sourcing without the migration problem: events are plain facts, not versioned payloads. Projections? The four indexes. You've run CQRS since §0.</a:t>
            </a:r>
          </a:p>
        </p:txBody>
      </p:sp>
      <p:sp>
        <p:nvSpPr>
          <p:cNvPr id="9" name="Text 8"/>
          <p:cNvSpPr txBox="1"/>
          <p:nvPr/>
        </p:nvSpPr>
        <p:spPr>
          <a:xfrm>
            <a:off x="4663440" y="1051560"/>
            <a:ext cx="393156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b="1">
                <a:solidFill>
                  <a:srgbClr val="FFC66D"/>
                </a:solidFill>
                <a:latin typeface="Arial"/>
              </a:rPr>
              <a:t>7 · sparse without nulls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745880" y="1463040"/>
            <a:ext cx="3812760" cy="21027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>
                <a:solidFill>
                  <a:srgbClr val="7C8AA5"/>
                </a:solidFill>
                <a:latin typeface="Courier New"/>
              </a:rPr>
              <a:t>@(d/transact conn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[{:db/id [:user/name "tonsky"]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:user/twitter "@tonsky"}])</a:t>
            </a:r>
          </a:p>
          <a:p>
            <a:endParaRPr lang="en-US" sz="1050"/>
          </a:p>
          <a:p>
            <a:r>
              <a:rPr lang="en-US" sz="1050">
                <a:solidFill>
                  <a:srgbClr val="7C8AA5"/>
                </a:solidFill>
                <a:latin typeface="Courier New"/>
              </a:rPr>
              <a:t>(d/q '[:find ?name ?tw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:where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[?u :user/name ?name]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[(get-else $ ?u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     :user/twitter "—") ?tw]]</a:t>
            </a:r>
          </a:p>
          <a:p>
            <a:r>
              <a:rPr lang="en-US" sz="1050">
                <a:solidFill>
                  <a:srgbClr val="E8EDF6"/>
                </a:solidFill>
                <a:latin typeface="Courier New"/>
              </a:rPr>
              <a:t>     (db))</a:t>
            </a:r>
          </a:p>
          <a:p>
            <a:r>
              <a:rPr lang="en-US" sz="1050">
                <a:solidFill>
                  <a:srgbClr val="6A7891"/>
                </a:solidFill>
                <a:latin typeface="Courier New"/>
              </a:rPr>
              <a:t>;; =&gt; 1 has it, 3 show "—"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4663440" y="3794760"/>
            <a:ext cx="3977280" cy="10054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50">
                <a:solidFill>
                  <a:srgbClr val="E8EDF6"/>
                </a:solidFill>
                <a:latin typeface="Calibri"/>
              </a:rPr>
              <a:t>A 500-optional-column “table” costs 500×N nulls in a rectangle. Here an absent fact occupies zero bytes — and still means something.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53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PART 6 RECAP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Same datoms, seven costumes</a:t>
            </a:r>
          </a:p>
        </p:txBody>
      </p:sp>
      <p:sp>
        <p:nvSpPr>
          <p:cNvPr id="5" name="Text 4"/>
          <p:cNvSpPr txBox="1"/>
          <p:nvPr/>
        </p:nvSpPr>
        <p:spPr>
          <a:xfrm>
            <a:off x="594360" y="131688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Key-value</a:t>
            </a:r>
          </a:p>
        </p:txBody>
      </p:sp>
      <p:sp>
        <p:nvSpPr>
          <p:cNvPr id="6" name="Text 5"/>
          <p:cNvSpPr txBox="1"/>
          <p:nvPr/>
        </p:nvSpPr>
        <p:spPr>
          <a:xfrm>
            <a:off x="594360" y="175572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FFC66D"/>
                </a:solidFill>
                <a:latin typeface="Courier New"/>
              </a:rPr>
              <a:t>AVET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715840" y="131688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Relational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715840" y="175572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7BD88F"/>
                </a:solidFill>
                <a:latin typeface="Courier New"/>
              </a:rPr>
              <a:t>EAVT</a:t>
            </a:r>
          </a:p>
        </p:txBody>
      </p:sp>
      <p:sp>
        <p:nvSpPr>
          <p:cNvPr id="9" name="Text 10"/>
          <p:cNvSpPr txBox="1"/>
          <p:nvPr/>
        </p:nvSpPr>
        <p:spPr>
          <a:xfrm>
            <a:off x="4837320" y="131688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Columnar</a:t>
            </a:r>
          </a:p>
        </p:txBody>
      </p:sp>
      <p:sp>
        <p:nvSpPr>
          <p:cNvPr id="10" name="Text 11"/>
          <p:cNvSpPr txBox="1"/>
          <p:nvPr/>
        </p:nvSpPr>
        <p:spPr>
          <a:xfrm>
            <a:off x="4837320" y="175572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6FA8FF"/>
                </a:solidFill>
                <a:latin typeface="Courier New"/>
              </a:rPr>
              <a:t>AEVT</a:t>
            </a:r>
          </a:p>
        </p:txBody>
      </p:sp>
      <p:sp>
        <p:nvSpPr>
          <p:cNvPr id="11" name="Text 13"/>
          <p:cNvSpPr txBox="1"/>
          <p:nvPr/>
        </p:nvSpPr>
        <p:spPr>
          <a:xfrm>
            <a:off x="6958440" y="131688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Document</a:t>
            </a:r>
          </a:p>
        </p:txBody>
      </p:sp>
      <p:sp>
        <p:nvSpPr>
          <p:cNvPr id="12" name="Text 14"/>
          <p:cNvSpPr txBox="1"/>
          <p:nvPr/>
        </p:nvSpPr>
        <p:spPr>
          <a:xfrm>
            <a:off x="6958440" y="175572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F28FAD"/>
                </a:solidFill>
                <a:latin typeface="Courier New"/>
              </a:rPr>
              <a:t>pull</a:t>
            </a:r>
          </a:p>
        </p:txBody>
      </p:sp>
      <p:sp>
        <p:nvSpPr>
          <p:cNvPr id="13" name="Text 16"/>
          <p:cNvSpPr txBox="1"/>
          <p:nvPr/>
        </p:nvSpPr>
        <p:spPr>
          <a:xfrm>
            <a:off x="594360" y="264276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Graph</a:t>
            </a:r>
          </a:p>
        </p:txBody>
      </p:sp>
      <p:sp>
        <p:nvSpPr>
          <p:cNvPr id="14" name="Text 17"/>
          <p:cNvSpPr txBox="1"/>
          <p:nvPr/>
        </p:nvSpPr>
        <p:spPr>
          <a:xfrm>
            <a:off x="594360" y="308160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C09BFF"/>
                </a:solidFill>
                <a:latin typeface="Courier New"/>
              </a:rPr>
              <a:t>VAET</a:t>
            </a:r>
          </a:p>
        </p:txBody>
      </p:sp>
      <p:sp>
        <p:nvSpPr>
          <p:cNvPr id="15" name="Text 19"/>
          <p:cNvSpPr txBox="1"/>
          <p:nvPr/>
        </p:nvSpPr>
        <p:spPr>
          <a:xfrm>
            <a:off x="2715840" y="264276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Event log</a:t>
            </a:r>
          </a:p>
        </p:txBody>
      </p:sp>
      <p:sp>
        <p:nvSpPr>
          <p:cNvPr id="16" name="Text 20"/>
          <p:cNvSpPr txBox="1"/>
          <p:nvPr/>
        </p:nvSpPr>
        <p:spPr>
          <a:xfrm>
            <a:off x="2715840" y="308160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7C8AA5"/>
                </a:solidFill>
                <a:latin typeface="Courier New"/>
              </a:rPr>
              <a:t>d/log</a:t>
            </a:r>
          </a:p>
        </p:txBody>
      </p:sp>
      <p:sp>
        <p:nvSpPr>
          <p:cNvPr id="17" name="Text 22"/>
          <p:cNvSpPr txBox="1"/>
          <p:nvPr/>
        </p:nvSpPr>
        <p:spPr>
          <a:xfrm>
            <a:off x="4837320" y="2642760"/>
            <a:ext cx="17370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450" b="1">
                <a:solidFill>
                  <a:srgbClr val="E8EDF6"/>
                </a:solidFill>
                <a:latin typeface="Arial"/>
              </a:rPr>
              <a:t>Sparse</a:t>
            </a:r>
          </a:p>
        </p:txBody>
      </p:sp>
      <p:sp>
        <p:nvSpPr>
          <p:cNvPr id="18" name="Text 23"/>
          <p:cNvSpPr txBox="1"/>
          <p:nvPr/>
        </p:nvSpPr>
        <p:spPr>
          <a:xfrm>
            <a:off x="4837320" y="3081600"/>
            <a:ext cx="914040" cy="328680"/>
          </a:xfrm>
          <a:prstGeom prst="roundRect">
            <a:avLst/>
          </a:prstGeom>
          <a:solidFill>
            <a:srgbClr val="141B29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100" b="1">
                <a:solidFill>
                  <a:srgbClr val="FFC66D"/>
                </a:solidFill>
                <a:latin typeface="Courier New"/>
              </a:rPr>
              <a:t>absence</a:t>
            </a:r>
          </a:p>
        </p:txBody>
      </p:sp>
      <p:sp>
        <p:nvSpPr>
          <p:cNvPr id="19" name="Text 25"/>
          <p:cNvSpPr txBox="1"/>
          <p:nvPr/>
        </p:nvSpPr>
        <p:spPr>
          <a:xfrm>
            <a:off x="6949440" y="2633400"/>
            <a:ext cx="1645560" cy="2739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100" i="1">
                <a:solidFill>
                  <a:srgbClr val="8FA0B8"/>
                </a:solidFill>
                <a:latin typeface="Calibri"/>
              </a:rPr>
              <a:t>what changed:</a:t>
            </a:r>
          </a:p>
        </p:txBody>
      </p:sp>
      <p:sp>
        <p:nvSpPr>
          <p:cNvPr id="20" name="Text 26"/>
          <p:cNvSpPr txBox="1"/>
          <p:nvPr/>
        </p:nvSpPr>
        <p:spPr>
          <a:xfrm>
            <a:off x="6949440" y="2871360"/>
            <a:ext cx="1645560" cy="6397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 b="1">
                <a:solidFill>
                  <a:srgbClr val="7BD88F"/>
                </a:solidFill>
                <a:latin typeface="Arial"/>
              </a:rPr>
              <a:t>index order</a:t>
            </a:r>
          </a:p>
          <a:p>
            <a:r>
              <a:rPr lang="en-US" sz="1350" b="1">
                <a:solidFill>
                  <a:srgbClr val="7BD88F"/>
                </a:solidFill>
                <a:latin typeface="Arial"/>
              </a:rPr>
              <a:t>+ projection</a:t>
            </a:r>
          </a:p>
        </p:txBody>
      </p:sp>
      <p:sp>
        <p:nvSpPr>
          <p:cNvPr id="21" name="Text 27"/>
          <p:cNvSpPr txBox="1"/>
          <p:nvPr/>
        </p:nvSpPr>
        <p:spPr>
          <a:xfrm>
            <a:off x="457200" y="4114800"/>
            <a:ext cx="8229240" cy="63972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E8EDF6"/>
                </a:solidFill>
                <a:latin typeface="Calibri"/>
              </a:rPr>
              <a:t>Query language, transaction shape, storage: identical throughout. You never chose a database — you chose a fact model, and the shapes came free.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54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36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 b="1">
                <a:solidFill>
                  <a:srgbClr val="8FA0B8"/>
                </a:solidFill>
                <a:latin typeface="Arial"/>
              </a:rPr>
              <a:t>The whole class in one sentence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914400" y="1371600"/>
            <a:ext cx="7314840" cy="1462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2400" b="1">
                <a:solidFill>
                  <a:srgbClr val="E8EDF6"/>
                </a:solidFill>
                <a:latin typeface="Arial"/>
              </a:rPr>
              <a:t>Model facts as datoms; let index order give you every database you used to run — and let columns four and five give you time.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2148840" y="3154680"/>
            <a:ext cx="914040" cy="456840"/>
          </a:xfrm>
          <a:prstGeom prst="roundRect">
            <a:avLst/>
          </a:prstGeom>
          <a:solidFill>
            <a:srgbClr val="7BD88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Courier New"/>
              </a:rPr>
              <a:t>E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2148840" y="3648600"/>
            <a:ext cx="9140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entity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3154680" y="3154680"/>
            <a:ext cx="914040" cy="456840"/>
          </a:xfrm>
          <a:prstGeom prst="roundRect">
            <a:avLst/>
          </a:prstGeom>
          <a:solidFill>
            <a:srgbClr val="6FA8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Courier New"/>
              </a:rPr>
              <a:t>A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154680" y="3648600"/>
            <a:ext cx="9140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attribute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160520" y="3154680"/>
            <a:ext cx="914040" cy="456840"/>
          </a:xfrm>
          <a:prstGeom prst="roundRect">
            <a:avLst/>
          </a:prstGeom>
          <a:solidFill>
            <a:srgbClr val="FFC66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Courier New"/>
              </a:rPr>
              <a:t>V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4160520" y="3648600"/>
            <a:ext cx="9140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value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5166360" y="3154680"/>
            <a:ext cx="914040" cy="456840"/>
          </a:xfrm>
          <a:prstGeom prst="roundRect">
            <a:avLst/>
          </a:prstGeom>
          <a:solidFill>
            <a:srgbClr val="C09BFF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Courier New"/>
              </a:rPr>
              <a:t>Tx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5166360" y="3648600"/>
            <a:ext cx="9140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transaction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6172200" y="3154680"/>
            <a:ext cx="914040" cy="456840"/>
          </a:xfrm>
          <a:prstGeom prst="roundRect">
            <a:avLst/>
          </a:prstGeom>
          <a:solidFill>
            <a:srgbClr val="F28FAD"/>
          </a:solidFill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500" b="1">
                <a:solidFill>
                  <a:srgbClr val="0F1420"/>
                </a:solidFill>
                <a:latin typeface="Courier New"/>
              </a:rPr>
              <a:t>Op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172200" y="3648600"/>
            <a:ext cx="914040" cy="219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050">
                <a:solidFill>
                  <a:srgbClr val="8FA0B8"/>
                </a:solidFill>
                <a:latin typeface="Calibri"/>
              </a:rPr>
              <a:t>added?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548640" y="4251960"/>
            <a:ext cx="8046360" cy="36540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ctr"/>
            <a:r>
              <a:rPr lang="en-US" sz="1400">
                <a:solidFill>
                  <a:srgbClr val="7BD88F"/>
                </a:solidFill>
                <a:latin typeface="Courier New"/>
              </a:rPr>
              <a:t>datoms  →  indexes  →  shapes  →  time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41080" y="4864680"/>
            <a:ext cx="365400" cy="228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pPr algn="r"/>
            <a:r>
              <a:rPr lang="en-US" sz="900">
                <a:solidFill>
                  <a:srgbClr val="6A7891"/>
                </a:solidFill>
                <a:latin typeface="Calibri"/>
              </a:rPr>
              <a:t>55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457200" y="255960"/>
            <a:ext cx="6766200" cy="2372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050" b="1">
                <a:solidFill>
                  <a:srgbClr val="8FA0B8"/>
                </a:solidFill>
                <a:latin typeface="Arial"/>
              </a:rPr>
              <a:t>GO DEEPER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457200" y="457200"/>
            <a:ext cx="7223400" cy="50256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2500" b="1">
                <a:solidFill>
                  <a:srgbClr val="E8EDF6"/>
                </a:solidFill>
                <a:latin typeface="Arial"/>
              </a:rPr>
              <a:t>References &amp; files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8137800" cy="320004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50">
                <a:solidFill>
                  <a:srgbClr val="E8EDF6"/>
                </a:solidFill>
                <a:latin typeface="Calibri"/>
              </a:rPr>
              <a:t>Norbert Wójtowicz — “Domain Modeling with Datalog” (Pivorak Conf 2.0, 2019): youtube.com/watch?v=oo-7mN9WXTw — the talk this class rebuilds (originally a 2-hour workshop; the speaker's gist has the rest).</a:t>
            </a:r>
          </a:p>
          <a:p>
            <a:r>
              <a:rPr lang="en-US" sz="1350">
                <a:solidFill>
                  <a:srgbClr val="E8EDF6"/>
                </a:solidFill>
                <a:latin typeface="Calibri"/>
              </a:rPr>
              <a:t>docs.datomic.com — query reference, pull, indexes, filters/as-of/since/history, transaction functions.</a:t>
            </a:r>
          </a:p>
          <a:p>
            <a:r>
              <a:rPr lang="en-US" sz="1350">
                <a:solidFill>
                  <a:srgbClr val="E8EDF6"/>
                </a:solidFill>
                <a:latin typeface="Calibri"/>
              </a:rPr>
              <a:t>Datomic Pro is free under Apache-2.0; peer library on Maven Central (com.datomic/peer 1.0.7705).</a:t>
            </a:r>
          </a:p>
          <a:p>
            <a:r>
              <a:rPr lang="en-US" sz="1350">
                <a:solidFill>
                  <a:srgbClr val="E8EDF6"/>
                </a:solidFill>
                <a:latin typeface="Calibri"/>
              </a:rPr>
              <a:t>DataScript — github.com/tonsky/datascript · Datahike — github.com/replikativ/datahike · XTDB — xtdb.com.</a:t>
            </a:r>
          </a:p>
          <a:p>
            <a:r>
              <a:rPr lang="en-US" sz="1350" b="1">
                <a:solidFill>
                  <a:srgbClr val="E8EDF6"/>
                </a:solidFill>
                <a:latin typeface="Calibri"/>
              </a:rPr>
              <a:t>Class files: domain_modeling_repl.clj (§0–§6, every slide's code, evaluable form-by-form) + deps.edn (clj -M:repl and go).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548640" y="4572000"/>
            <a:ext cx="8137800" cy="319680"/>
          </a:xfrm>
          <a:prstGeom prst="rect">
            <a:avLst/>
          </a:prstGeom>
        </p:spPr>
        <p:txBody>
          <a:bodyPr wrap="square" lIns="91440" tIns="45720" rIns="91440" bIns="45720">
            <a:noAutofit/>
          </a:bodyPr>
          <a:lstStyle/>
          <a:p>
            <a:r>
              <a:rPr lang="en-US" sz="1300" i="1">
                <a:solidFill>
                  <a:srgbClr val="7BD88F"/>
                </a:solidFill>
                <a:latin typeface="Calibri"/>
              </a:rPr>
              <a:t>Obrigado — happy hammocking.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deck_builder.py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One Database, Many Shapes — Domain Modeling with Datoms</dc:title>
  <dc:creator>4coders</dc:creator>
  <cp:lastModifiedBy>deck_builder.py</cp:lastModifiedBy>
  <dcterms:created xsi:type="dcterms:W3CDTF">2026-07-23T00:00:00Z</dcterms:created>
  <dcterms:modified xsi:type="dcterms:W3CDTF">2026-07-23T00:00:00Z</dcterms:modified>
</cp:coreProperties>
</file>