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Lst>
  <p:sldSz cx="9144000" cy="5143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p:defaultTextStyle>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89"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Companion to the domain-modeling class. That one asked "what shape should my data take?" This one asks "what actually runs, where does a byte land, and who caches it?"</a:t>
            </a:r>
          </a:p>
          <a:p>
            <a:r>
              <a:rPr lang="en-US" sz="1200"/>
              <a:t>Every lab runs Datomic Pro against a PostgreSQL container on the student laptop. Cloud and Local appear in every session as comparison, not as lab work.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Ground rule for the whole course: we are not modeling data. We are asking what runs, what it costs, and what breaks.</a:t>
            </a:r>
          </a:p>
          <a:p>
            <a:r>
              <a:rPr lang="en-US" sz="1200"/>
              <a:t>By the end of today everyone has a working Datomic Pro on Postgres on their own laptop, and has created and deleted a database with their own hands.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Start here even with people who know Datomic well. Almost every operational surprise comes from expecting the RDBMS shape.</a:t>
            </a:r>
          </a:p>
          <a:p>
            <a:r>
              <a:rPr lang="en-US" sz="1200"/>
              <a:t>The row that surprises people most is query execution. Your app process IS the query engine, with all the memory that implies.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Five boxes. Everything in this course is a statement about how these connect.</a:t>
            </a:r>
          </a:p>
          <a:p>
            <a:r>
              <a:rPr lang="en-US" sz="1200"/>
              <a:t>Note which of these you install versus which you depend on: you run a transactor and maybe a Peer Server; the peer is just a dependency in your deps.edn.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Emphasise: peers never have the transactor address in their config. They learn it. Which means bad transactor config looks like a peer problem.</a:t>
            </a:r>
          </a:p>
          <a:p>
            <a:r>
              <a:rPr lang="en-US" sz="1200"/>
              <a:t>Diagnostic tell: a storage failure throws a PSQLException; a transactor failure throws an ActiveMQ "Cannot connect to server".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Our labs are all Pro on Postgres. Cloud and Local get theory treatment, mostly in session 4.</a:t>
            </a:r>
          </a:p>
          <a:p>
            <a:r>
              <a:rPr lang="en-US" sz="1200"/>
              <a:t>Licensing note worth saying out loud: since April 2023 the peer and transactor binaries are Apache 2.0 and there is no license key. If you find license-key in a properties file, it is a fossil.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If people remember three sentences from the whole course, these are two of them.</a:t>
            </a:r>
          </a:p>
          <a:p>
            <a:r>
              <a:rPr lang="en-US" sz="1200"/>
              <a:t>The third is "Datomic caches only immutable data", which is session three.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Put these side by side on the screen and let them read for a minute. This is the single clearest picture of what "one API family" means.</a:t>
            </a:r>
          </a:p>
          <a:p>
            <a:r>
              <a:rPr lang="en-US" sz="1200"/>
              <a:t>Do not oversell the arg-map difference. Verified live against client-pro 1.0.81: (c/pull db pattern eid) and (c/q query db) both work and return exactly what the peer returns. transact and connect are the ones that are arg-map only.</a:t>
            </a:r>
          </a:p>
          <a:p>
            <a:r>
              <a:rPr lang="en-US" sz="1200"/>
              <a:t>The arg map earns its keep on the options: :timeout, :limit, :offset, :chunk and :io-context, none of which need a new arity.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payoff slide for the Client API. One map changes, nothing else does.</a:t>
            </a:r>
          </a:p>
          <a:p>
            <a:r>
              <a:rPr lang="en-US" sz="1200"/>
              <a:t>validate-hostnames false is not optional sloppiness — the Peer Server ships a self-signed cert, and the docs say to keep both inside a trust boundary.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row people are surprised by is the entity API. It is lazy navigation over an in-process database, so it cannot cross a wire.</a:t>
            </a:r>
          </a:p>
          <a:p>
            <a:r>
              <a:rPr lang="en-US" sz="1200"/>
              <a:t>tx-report-queue matters operationally: if you build change feeds on it, you have chosen the peer library, and that is a deployment decision, not an API preference.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Resist making this a religious question. Most shops end up with both: peers for the heavy read services, clients for everything small.</a:t>
            </a:r>
          </a:p>
          <a:p>
            <a:r>
              <a:rPr lang="en-US" sz="1200"/>
              <a:t>Flag forward to session three: the real cost difference is where the object cache lives, not which function names you type.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Point out mem: it is not a "lite" Datomic, it is the same code with no durability. Also: do not benchmark against it, and backup/restore do not work with it.</a:t>
            </a:r>
          </a:p>
          <a:p>
            <a:r>
              <a:rPr lang="en-US" sz="1200"/>
              <a:t>Datomic Free is discontinued. If someone brings a datomic:free:// URI to class, that is a very old system.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Have them read the URI out loud once. The nested question mark is the single most common typo in the lab.</a:t>
            </a:r>
          </a:p>
          <a:p>
            <a:r>
              <a:rPr lang="en-US" sz="1200"/>
              <a:t>The one-JDBC-database-many-Datomic-databases point matters for the admin section: delete-database does not drop a Postgres database, it removes rows.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slide kills the most persistent wrong mental model in the room: that there is a table per entity type somewhere.</a:t>
            </a:r>
          </a:p>
          <a:p>
            <a:r>
              <a:rPr lang="en-US" sz="1200"/>
              <a:t>All Datomic asks of storage is: get a key, put a key, and one conditional put for the roots. That is why the same product runs on Postgres, DynamoDB and Cassandra.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Ask the room: given this contract, what would you look for when choosing a storage? Answers should be latency, durability, operability — not features.</a:t>
            </a:r>
          </a:p>
          <a:p>
            <a:r>
              <a:rPr lang="en-US" sz="1200"/>
              <a:t>Consequence worth saying: because segments are immutable, storage never sees an UPDATE on the hot path. Your Postgres is doing inserts and primary-key lookups, which is the easiest workload it will ever get.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column that decides it in practice is the last one, not the first. Setup is a day; operating is forever.</a:t>
            </a:r>
          </a:p>
          <a:p>
            <a:r>
              <a:rPr lang="en-US" sz="1200"/>
              <a:t>Backup/restore works between any two storage services. That is the escape hatch if you choose wrong — session four.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peer-needs-the-driver point catches people. The peer is a storage client, not a transactor client. It is stated outright in config/samples/sql-transactor-template.properties.</a:t>
            </a:r>
          </a:p>
          <a:p>
            <a:r>
              <a:rPr lang="en-US" sz="1200"/>
              <a:t>Trivia if anyone asks: that same template calls sql-driver-params "semicolon-separated pairs" one line above a placeholder that uses ampersands. The docs use ampersands. Use ampersands.</a:t>
            </a:r>
          </a:p>
          <a:p>
            <a:r>
              <a:rPr lang="en-US" sz="1200"/>
              <a:t>sql-driver-params is the escape hatch for anything JDBC-specific: TLS, application_name, socket timeouts.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provisioning story is the whole story. Datomic does not queue on your behalf — throttling propagates back as transaction back pressure, which is session two.</a:t>
            </a:r>
          </a:p>
          <a:p>
            <a:r>
              <a:rPr lang="en-US" sz="1200"/>
              <a:t>Even split of budget gives you more read capacity than write, because reads are cheaper. That is intentional.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Cassandra is a real option and a demanding one. Nobody should adopt Cassandra FOR Datomic; adopt it if you already have it.</a:t>
            </a:r>
          </a:p>
          <a:p>
            <a:r>
              <a:rPr lang="en-US" sz="1200"/>
              <a:t>The multi-datacenter limitation is the one that surprises people, and it is deliberate — quorum across datacenters would wreck write latency.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Have everyone run these two ls commands. Knowing what is in the box is half of operating it.</a:t>
            </a:r>
          </a:p>
          <a:p>
            <a:r>
              <a:rPr lang="en-US" sz="1200"/>
              <a:t>There is no bin/shutdown-transactor — graceful shutdown is a signal to the pid in pid-file. People go looking for one.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Everything here ships in the Datomic distribution under bin/sql. Nothing is invented for this class.</a:t>
            </a:r>
          </a:p>
          <a:p>
            <a:r>
              <a:rPr lang="en-US" sz="1200"/>
              <a:t>Security note for later: postgres-user.sql grants nothing — the table script grants ALL to public. Fine for a laptop, not for production.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A successful start prints two lines: the Java options echo and a bare "System started". No URI, no banner. Silence after that is what success looks like.</a:t>
            </a:r>
          </a:p>
          <a:p>
            <a:r>
              <a:rPr lang="en-US" sz="1200"/>
              <a:t>These three memory values are the -Xmx1g development set. Production is 32m / 512m / 1g on a 4 GB heap.</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Java options echo is genuinely useful: this is where you confirm the GC flags survived whatever you added.</a:t>
            </a:r>
          </a:p>
          <a:p>
            <a:r>
              <a:rPr lang="en-US" sz="1200"/>
              <a:t>Run lsof live. Seeing exactly one listening port on a sql transactor makes the "storage is external" point better than any diagram.</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count-after-create moment is the payoff for the whole session: they can see their database as rows in a table they own.</a:t>
            </a:r>
          </a:p>
          <a:p>
            <a:r>
              <a:rPr lang="en-US" sz="1200"/>
              <a:t>Real numbers from a rehearsal: an empty database is about 30 rows of bootstrap schema. Transact 5,000 entities and you get roughly 77 rows totalling ~108 kB, with individual blobs over 25 kB. Five thousand entities, seventy-seven rows — that is the segment story, two sessions early.</a:t>
            </a:r>
          </a:p>
          <a:p>
            <a:r>
              <a:rPr lang="en-US" sz="1200"/>
              <a:t>Creating two databases in one storage is the thing to do here — it makes the single-table story concrete.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Keep this psql session open for the rest of the course. Every session has a moment where the answer is visible in this table.</a:t>
            </a:r>
          </a:p>
          <a:p>
            <a:r>
              <a:rPr lang="en-US" sz="1200"/>
              <a:t>Ask them to try to find a SKU in here with a LIKE query. They cannot — val is compressed and opaque. That failure is the lesson.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People look for a CLI here and do not find one. The answer is a REPL or a small admin namespace in your app.</a:t>
            </a:r>
          </a:p>
          <a:p>
            <a:r>
              <a:rPr lang="en-US" sz="1200"/>
              <a:t>delete-database does not reclaim space. That is gc-deleted-dbs, in session four.</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lab that makes the client/peer distinction physical: two processes, one of which is a peer on the students' behalf.</a:t>
            </a:r>
          </a:p>
          <a:p>
            <a:r>
              <a:rPr lang="en-US" sz="1200"/>
              <a:t>The create-database refusal is worth doing live. It is the same point as the admin-lifecycle slide, but they feel it.</a:t>
            </a:r>
          </a:p>
          <a:p>
            <a:r>
              <a:rPr lang="en-US" sz="1200"/>
              <a:t>If a client iterates a large result, it must keep talking to the SAME Peer Server. Behind a load balancer that means sticky sessions.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That last box is the highest-value operational trivia in the whole course. Long GC pauses cause missed heartbeats, which cause the standby to take over, which causes a latency spike.</a:t>
            </a:r>
          </a:p>
          <a:p>
            <a:r>
              <a:rPr lang="en-US" sz="1200"/>
              <a:t>If you pass any -D to bin/transactor, re-specify the GC flags yourself.</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A useful heuristic: pick the storage your team can already operate at 3am. Datomic is agnostic; your on-call is not.</a:t>
            </a:r>
          </a:p>
          <a:p>
            <a:r>
              <a:rPr lang="en-US" sz="1200"/>
              <a:t>The Cassandra option is real but demanding — three nodes minimum, replication factor three, and no multi-datacenter support.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Homework, optional: create three databases in your storage, put a trivial schema in each, and look at how datomic_kvs grows.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Session 1 laid out the boxes. This session follows a single transaction all the way from d/transact to bytes in Postgres, and then to a rewritten index.</a:t>
            </a:r>
          </a:p>
          <a:p>
            <a:r>
              <a:rPr lang="en-US" sz="1200"/>
              <a:t>The theme: writes are serialized and coordinated; reads are not. Everything odd about Datomic ops falls out of that one choice.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Ask the room: what do you lose by having one writer? Then reframe — you lose write scale-out, and you gain the ability for every reader to be a full query engine with no coordination at all.</a:t>
            </a:r>
          </a:p>
          <a:p>
            <a:r>
              <a:rPr lang="en-US" sz="1200"/>
              <a:t>Cloud does not change this. Cloud has a preferred node per database and DynamoDB conditional writes instead of a standby transactor, but it is still one writer per database at a time.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Walk the arrows one at a time. The number to burn in is step 3: the system always waits for storage confirmation before reporting completion.</a:t>
            </a:r>
          </a:p>
          <a:p>
            <a:r>
              <a:rPr lang="en-US" sz="1200"/>
              <a:t>Step 5 is what makes peers current without polling. Every peer gets a report for every transaction while it is connected — including ones submitted by other peers.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Common misconception: that data is only safe once it is indexed. No — the log write is the durability point. Indexing is a read-performance optimisation that happens later.</a:t>
            </a:r>
          </a:p>
          <a:p>
            <a:r>
              <a:rPr lang="en-US" sz="1200"/>
              <a:t>This is why a transactor crash between the log write and the broadcast is survivable: the transaction is in the log, and the new transactor replays the log on takeover.</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report is the whole audit record of the transaction. In the domain-modeling class we used :tx-data for provenance; here notice that it is also what gets broadcast.</a:t>
            </a:r>
          </a:p>
          <a:p>
            <a:r>
              <a:rPr lang="en-US" sz="1200"/>
              <a:t>transact-async plus pipelining is the standard import pattern — the docs suggest around 20 transactions in flight, 100 datoms each.</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infra consequence of a modeling decision. Every tx-fn you write is code running inside the single writer.</a:t>
            </a:r>
          </a:p>
          <a:p>
            <a:r>
              <a:rPr lang="en-US" sz="1200"/>
              <a:t>In Cloud the equivalent is an ion listed under :allow in ion-config.edn — same execution model, different deployment story.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Draw the triangle: log (always current, badly sorted for queries), index (well sorted, slightly stale), memory index (bridges the gap).</a:t>
            </a:r>
          </a:p>
          <a:p>
            <a:r>
              <a:rPr lang="en-US" sz="1200"/>
              <a:t>Every read merges the index with the memory index. That merge is why peers can be current without ever asking the transactor anything.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coupling people get wrong: they tune the transactor in isolation and then their app processes start OOMing after a restart.</a:t>
            </a:r>
          </a:p>
          <a:p>
            <a:r>
              <a:rPr lang="en-US" sz="1200"/>
              <a:t>A restart is the worst moment: the process must rebuild the memory index from the log before it can serve current reads.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Threshold schedules. Max throttles. Those two words are the whole mental model.</a:t>
            </a:r>
          </a:p>
          <a:p>
            <a:r>
              <a:rPr lang="en-US" sz="1200"/>
              <a:t>Sublinear rewrite is why a 500 GB database does not take proportionally longer to index than a 5 GB one — new datoms usually touch a small part of the tree.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Back pressure is a feature, not a bug. The alternative is an unbounded memory index and an OOM.</a:t>
            </a:r>
          </a:p>
          <a:p>
            <a:r>
              <a:rPr lang="en-US" sz="1200"/>
              <a:t>Bulk import is where everyone meets it. The documented pattern is around 20 async transactions in flight with 100 datoms each, and squuids rather than random UUIDs so writes have temporal locality.</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point of the psql count is visceral: Datomic uses Postgres as a dumb key/value store. One row per segment or log write, not one row per datom, and the value is an opaque compressed blob.</a:t>
            </a:r>
          </a:p>
          <a:p>
            <a:r>
              <a:rPr lang="en-US" sz="1200"/>
              <a:t>If students expect a table per entity type they will never get the cache story. Kill that expectation here.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Sequence matters: the index job WRITES new segments and publishes a new root. The old segments are simply orphaned. Only gc-storage reclaims them, and only those older than the date you pass.</a:t>
            </a:r>
          </a:p>
          <a:p>
            <a:r>
              <a:rPr lang="en-US" sz="1200"/>
              <a:t>Warn them: any db value pinned to a reclaimed index root is no longer usable. In practice that means long-lived as-of values held across a gc window.</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single most common production bug in Datomic systems: treating a timeout as a failure and retrying a non-idempotent write.</a:t>
            </a:r>
          </a:p>
          <a:p>
            <a:r>
              <a:rPr lang="en-US" sz="1200"/>
              <a:t>Tie it back to modeling: an external id with :db/unique :db.unique/identity turns a retry into an upsert.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Most teams should model erasable data by reference instead — keep the personal data in a cell you can retract and re-key, so excision is a rare event rather than a routine one.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Print this one. It is the triage table for the write path.</a:t>
            </a:r>
          </a:p>
          <a:p>
            <a:r>
              <a:rPr lang="en-US" sz="1200"/>
              <a:t>The last row is the genuine emergency: if index jobs are failing, the memory index grows unbounded and you are on a clock.</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Recap fast, then set up session 3 with a question: if peers never ask the transactor anything to read, where do the bytes come from, and who is caching them?</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session people come for. By the end everyone should be able to draw the cache hierarchy from memory and say what invalidates each tier.</a:t>
            </a:r>
          </a:p>
          <a:p>
            <a:r>
              <a:rPr lang="en-US" sz="1200"/>
              <a:t>Keep returning to the one-line answer: Datomic caches only immutable data, so nothing ever needs invalidating.</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Contrast with a classic RDBMS: every read is a request to the one server that also handles writes. Here, reads are a library call.</a:t>
            </a:r>
          </a:p>
          <a:p>
            <a:r>
              <a:rPr lang="en-US" sz="1200"/>
              <a:t>The cost of this is that each peer needs memory and a warm cache. That trade is the whole subject of this session.</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Draw it: a big cold tree on disk, a small hot pile in RAM, merged on the fly.</a:t>
            </a:r>
          </a:p>
          <a:p>
            <a:r>
              <a:rPr lang="en-US" sz="1200"/>
              <a:t>The memory index is bounded by memory-index-max. The persisted index is bounded by your storage. That asymmetry is the design.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Connect to the modeling class: :db/index true is not a free "make it fast" switch — it is a storage and write-amplification decision made in the schema.</a:t>
            </a:r>
          </a:p>
          <a:p>
            <a:r>
              <a:rPr lang="en-US" sz="1200"/>
              <a:t>Every datom is stored at least three times: log, EAVT, AEVT. Refs add VAET; indexed and unique attributes add AVET.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sentence that makes the cache story make sense: the unit of caching is a segment of thousands of datoms, not a row and not an entity.</a:t>
            </a:r>
          </a:p>
          <a:p>
            <a:r>
              <a:rPr lang="en-US" sz="1200"/>
              <a:t>So a cache hit does not mean "this entity was cached" — it means "the neighbourhood this entity sorts into was cached". Locality in your entity ids is therefore a performance property. Hence squuids.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Have them copy this diagram. Everything else in the session hangs off it.</a:t>
            </a:r>
          </a:p>
          <a:p>
            <a:r>
              <a:rPr lang="en-US" sz="1200"/>
              <a:t>Note what is not on this diagram: no cache of query results, no cache of entities, no cache keyed by your domain. Only segments.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Note the ordering trap on peers: datomic.objectCacheMax must be set before the peer library is loaded, so a System/setProperty in your main is often too late.</a:t>
            </a:r>
          </a:p>
          <a:p>
            <a:r>
              <a:rPr lang="en-US" sz="1200"/>
              <a:t>A peer holds up to memory-index-max PER CONNECTED DATABASE. Serving ten databases from one process multiplies that cost and shares one object cache between them.</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restart-warm property is the big one operationally. With only an object cache, every deploy of your application throws away the cache and hammers storage.</a:t>
            </a:r>
          </a:p>
          <a:p>
            <a:r>
              <a:rPr lang="en-US" sz="1200"/>
              <a:t>In Datomic Cloud this same mechanism is built in and switches on automatically when you run i3-family instances.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shared-warmth property is why memcached still earns its place in fleets with many short-lived peer processes, or on hosts with no SSD.</a:t>
            </a:r>
          </a:p>
          <a:p>
            <a:r>
              <a:rPr lang="en-US" sz="1200"/>
              <a:t>Sequence for the room: object cache is per process, valcache is per machine, memcached is per fleet.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Ask which topology has better read latency (peer) and which has a better hit ratio per gigabyte of RAM in the fleet (peer server, because one working set is shared rather than duplicated).</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Let this land. In most systems the cache tier is the hardest thing to operate, because of invalidation. Here the hard problem is deleted by the data model.</a:t>
            </a:r>
          </a:p>
          <a:p>
            <a:r>
              <a:rPr lang="en-US" sz="1200"/>
              <a:t>The follow-on question is the good one: if nothing is ever stale, how does a peer ever see a new value? Answer on the next slide — through the one mutable thing in the system.</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storage requirement is therefore small: a key/value interface plus compare-and-swap on a handful of keys.</a:t>
            </a:r>
          </a:p>
          <a:p>
            <a:r>
              <a:rPr lang="en-US" sz="1200"/>
              <a:t>That is the whole reason DynamoDB, Cassandra and Postgres can all be the same storage from Datomic's point of view.</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Rows three to six are the real operational rules. Everything else is just caching hygiene.</a:t>
            </a:r>
          </a:p>
          <a:p>
            <a:r>
              <a:rPr lang="en-US" sz="1200"/>
              <a:t>The restore row is the one that bites people: restoring under a live database name while peers are connected is undefined behaviour. Stop the peers.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Tie this to deploy strategy: rolling deploys with many small peers and no shared cache tier is the worst combination for storage load.</a:t>
            </a:r>
          </a:p>
          <a:p>
            <a:r>
              <a:rPr lang="en-US" sz="1200"/>
              <a:t>If your storage is metered — DynamoDB — a cold fleet is also directly a cost event, not just a latency event.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point is not the exact numbers, it is the shape: the first run pays storage latency per segment, the second pays nothing.</a:t>
            </a:r>
          </a:p>
          <a:p>
            <a:r>
              <a:rPr lang="en-US" sz="1200"/>
              <a:t>The third experiment is the memorable one. Shrinking the object cache below the working set is exactly what happens in production when the data grows and nobody re-sizes anything.</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Seeing curr_items climb by hundreds rather than by the number of entities queried is the moment the segment concept becomes concrete.</a:t>
            </a:r>
          </a:p>
          <a:p>
            <a:r>
              <a:rPr lang="en-US" sz="1200"/>
              <a:t>If a student asks why the transactor also points at memcached: because the transactor reads segments too, during transaction processing and during index jobs.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Peer Server is itself a peer. It holds storage connections, the object cache, the memory index and the query engine, and it submits transactions on the client's behalf.</a:t>
            </a:r>
          </a:p>
          <a:p>
            <a:r>
              <a:rPr lang="en-US" sz="1200"/>
              <a:t>Choose the client when you have many application processes, or a non-JVM language, or you want code that will also run against Cloud and Local unchanged.</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read-your-writes discussion. In a monolith peer it never comes up; in a service fleet it comes up in week one.</a:t>
            </a:r>
          </a:p>
          <a:p>
            <a:r>
              <a:rPr lang="en-US" sz="1200"/>
              <a:t>The fix is to pass the basis-t across the wire and sync on it, not to sleep and retry.</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Ask someone to draw the cache hierarchy on the board from memory before you break. If they can, the session worked.</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Sessions 1-3 built the model. Today we assemble it into things you would actually deploy, and then talk about keeping them running.</a:t>
            </a:r>
          </a:p>
          <a:p>
            <a:r>
              <a:rPr lang="en-US" sz="1200"/>
              <a:t>The lab today is backup and restore, because it is the one admin operation that everybody needs and nobody practises.</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Worth naming explicitly because the dev-storage inversion catches people during their first restore.</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That last note is genuinely reassuring for on-call: a dead transactor is a write outage, not a read outage.</a:t>
            </a:r>
          </a:p>
          <a:p>
            <a:r>
              <a:rPr lang="en-US" sz="1200"/>
              <a:t>Which also means your health checks should distinguish the two.</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Identical properties files is not a suggestion — the standby must be able to become the active transactor with exactly the same config.</a:t>
            </a:r>
          </a:p>
          <a:p>
            <a:r>
              <a:rPr lang="en-US" sz="1200"/>
              <a:t>CloudFormation users: this is autoscaling-group-size = 2.</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Failover is not free and not instant. Design the application to tolerate an 11-second write outage and a retry storm after it.</a:t>
            </a:r>
          </a:p>
          <a:p>
            <a:r>
              <a:rPr lang="en-US" sz="1200"/>
              <a:t>Also worth saying: a transactor whose storage writes get slow will deliberately kill itself so the standby can take over. Slow storage looks like flapping transactors.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split storage/compute stack layout is required now, and it is a prerequisite for upgrades. Storage first, then compute; primary group before query groups.</a:t>
            </a:r>
          </a:p>
          <a:p>
            <a:r>
              <a:rPr lang="en-US" sz="1200"/>
              <a:t>The old bastion / access gateway instance is deprecated and gone. Client access is API Gateway now.</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the Cloud answer to the standby transactor: no standby, just CAS on the log table and a preferred node per database.</a:t>
            </a:r>
          </a:p>
          <a:p>
            <a:r>
              <a:rPr lang="en-US" sz="1200"/>
              <a:t>It is still one writer per database at a time. The single-writer rule from session two survives the move to Cloud.</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EFS is the interesting one: it is the answer to "every new node is cold". It is also a real cost line, because it holds the whole index.</a:t>
            </a:r>
          </a:p>
          <a:p>
            <a:r>
              <a:rPr lang="en-US" sz="1200"/>
              <a:t>Cache invalidation story is identical to Pro: immutable segments, nothing to invalidate.</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This is where Cloud transaction functions live: an ion listed under :allow. You cannot drop a jar on a transactor classpath in Cloud.</a:t>
            </a:r>
          </a:p>
          <a:p>
            <a:r>
              <a:rPr lang="en-US" sz="1200"/>
              <a:t>HTTP direct beats lambda ions for web apps: no 6 MB response cap, no 900 second timeout, lower latency.</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Say this plainly, because the docs do not. Teams choose Cloud for the reduced ops burden and then discover the backup gap during their first compliance review.</a:t>
            </a:r>
          </a:p>
          <a:p>
            <a:r>
              <a:rPr lang="en-US" sz="1200"/>
              <a:t>Workarounds in the wild replay tx-range into a fresh database. That is not a consistent Datomic-level backup and it is not endorsed.</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Print this table. It is the one people photograph.</a:t>
            </a:r>
          </a:p>
          <a:p>
            <a:r>
              <a:rPr lang="en-US" sz="1200"/>
              <a:t>Note the symmetry in the write row: neither product scales writes horizontally. Anyone choosing Cloud to solve a write bottleneck is choosing wrong.</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differential behaviour is what makes nightly backups of a large database practical. Point the job at the same URI every night.</a:t>
            </a:r>
          </a:p>
          <a:p>
            <a:r>
              <a:rPr lang="en-US" sz="1200"/>
              <a:t>verify-backup with read-all false checks that segments are present; with true it reads every one of them and catches bit-rot.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Walk the dev-storage inversion again. It is the number one reason a first restore attempt fails.</a:t>
            </a:r>
          </a:p>
          <a:p>
            <a:r>
              <a:rPr lang="en-US" sz="1200"/>
              <a:t>Not a cloning tool is worth stressing: people try to spin up a staging copy this way and hit the claim-failed error.</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Everyone must actually do step 3. Deleting the database is the only way the drill teaches anything, and it is the step people flinch at.</a:t>
            </a:r>
          </a:p>
          <a:p>
            <a:r>
              <a:rPr lang="en-US" sz="1200"/>
              <a:t>Watch the segment counts: the second backup copies 0 and skips what it already has. And the restore after a delete also reports skipped segments, because delete-database did not reclaim the storage — that is what gc-deleted-dbs is for.</a:t>
            </a:r>
          </a:p>
          <a:p>
            <a:r>
              <a:rPr lang="en-US" sz="1200"/>
              <a:t>To rehearse point-in-time recovery, delete again and pass the earlier t from list-backups to restore-db.</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last bullet is a real money-saver on DynamoDB: bulk-load against a local Postgres, then restore into DDB rather than paying for provisioned writes during the import.</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The month-old rule for gc-storage exists because reclaiming recent index roots breaks long-running processes still using them.</a:t>
            </a:r>
          </a:p>
          <a:p>
            <a:r>
              <a:rPr lang="en-US" sz="1200"/>
              <a:t>On SQL storage you may also need a VACUUM afterwards — Datomic deletes rows, Postgres still has to reclaim the pages.</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Getting metrics out is a fifteen-minute job that teams postpone for years. Do it on day one of any Datomic deployment.</a:t>
            </a:r>
          </a:p>
          <a:p>
            <a:r>
              <a:rPr lang="en-US" sz="1200"/>
              <a:t>The class of bug you cannot debug without metrics: slow storage causing heartbeat misses causing failover.</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If you can only have one alert, alert on Alarm being non-zero.</a:t>
            </a:r>
          </a:p>
          <a:p>
            <a:r>
              <a:rPr lang="en-US" sz="1200"/>
              <a:t>MemoryIndexMB at the midpoint between threshold and max — 144 MB with the defaults — is the early warning that you need more transactor CPU before you hit back pressure.</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Hand this out as a page. It is the deliverable of the course for anyone who will be on call.</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Fifteen minutes in groups, then five minutes each.</a:t>
            </a:r>
          </a:p>
          <a:p>
            <a:r>
              <a:rPr lang="en-US" sz="1200"/>
              <a:t>A: Cloud is defensible, but make them say the backup gap out loud. B: Pro on SQL storage — the auditor requirement is a restore drill, which Cloud cannot give them. C: the write path is the ceiling; talk about batching, async transacts, index-parallelism, storage provisioning, and whether this data belongs in Datomic at all.</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1143000"/>
            <a:ext cx="5486400" cy="6858000"/>
          </a:xfrm>
          <a:prstGeom prst="rect">
            <a:avLst/>
          </a:prstGeom>
        </p:spPr>
        <p:txBody>
          <a:bodyPr/>
          <a:lstStyle/>
          <a:p>
            <a:r>
              <a:rPr lang="en-US" sz="1200"/>
              <a:t>Close on the three sentences. If they remember nothing else, those three reconstruct most of the architecture.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868680"/>
            <a:ext cx="8138160" cy="685800"/>
          </a:xfrm>
          <a:prstGeom prst="rect">
            <a:avLst/>
          </a:prstGeom>
        </p:spPr>
        <p:txBody>
          <a:bodyPr wrap="square" lIns="91440" tIns="45720" rIns="91440" bIns="45720">
            <a:noAutofit/>
          </a:bodyPr>
          <a:lstStyle/>
          <a:p>
            <a:pPr algn="ctr"/>
            <a:r>
              <a:rPr lang="en-US" sz="3400" b="1">
                <a:solidFill>
                  <a:srgbClr val="E8EDF6"/>
                </a:solidFill>
                <a:latin typeface="Arial"/>
              </a:rPr>
              <a:t>DATOMIC IN PRODUCTION</a:t>
            </a:r>
          </a:p>
        </p:txBody>
      </p:sp>
      <p:sp>
        <p:nvSpPr>
          <p:cNvPr id="3" name="t"/>
          <p:cNvSpPr txBox="1"/>
          <p:nvPr/>
        </p:nvSpPr>
        <p:spPr>
          <a:xfrm>
            <a:off x="502920" y="1600200"/>
            <a:ext cx="8138160" cy="320040"/>
          </a:xfrm>
          <a:prstGeom prst="rect">
            <a:avLst/>
          </a:prstGeom>
        </p:spPr>
        <p:txBody>
          <a:bodyPr wrap="square" lIns="91440" tIns="45720" rIns="91440" bIns="45720">
            <a:noAutofit/>
          </a:bodyPr>
          <a:lstStyle/>
          <a:p>
            <a:pPr algn="ctr"/>
            <a:r>
              <a:rPr lang="en-US" sz="1600">
                <a:solidFill>
                  <a:srgbClr val="8FA0B8"/>
                </a:solidFill>
                <a:latin typeface="Calibri"/>
              </a:rPr>
              <a:t>Infrastructure, storage and caches — four hands-on sessions</a:t>
            </a:r>
          </a:p>
        </p:txBody>
      </p:sp>
      <p:sp>
        <p:nvSpPr>
          <p:cNvPr id="4" name="t"/>
          <p:cNvSpPr txBox="1"/>
          <p:nvPr/>
        </p:nvSpPr>
        <p:spPr>
          <a:xfrm>
            <a:off x="502920" y="2400300"/>
            <a:ext cx="8138160" cy="251460"/>
          </a:xfrm>
          <a:prstGeom prst="rect">
            <a:avLst/>
          </a:prstGeom>
        </p:spPr>
        <p:txBody>
          <a:bodyPr wrap="square" lIns="91440" tIns="45720" rIns="91440" bIns="45720">
            <a:noAutofit/>
          </a:bodyPr>
          <a:lstStyle/>
          <a:p>
            <a:pPr algn="ctr"/>
            <a:r>
              <a:rPr lang="en-US" sz="1150">
                <a:solidFill>
                  <a:srgbClr val="8FA0B8"/>
                </a:solidFill>
                <a:latin typeface="Calibri"/>
              </a:rPr>
              <a:t>1  The deployment map        ·   2  The write path</a:t>
            </a:r>
          </a:p>
        </p:txBody>
      </p:sp>
      <p:sp>
        <p:nvSpPr>
          <p:cNvPr id="5" name="t"/>
          <p:cNvSpPr txBox="1"/>
          <p:nvPr/>
        </p:nvSpPr>
        <p:spPr>
          <a:xfrm>
            <a:off x="502920" y="2674620"/>
            <a:ext cx="8138160" cy="251460"/>
          </a:xfrm>
          <a:prstGeom prst="rect">
            <a:avLst/>
          </a:prstGeom>
        </p:spPr>
        <p:txBody>
          <a:bodyPr wrap="square" lIns="91440" tIns="45720" rIns="91440" bIns="45720">
            <a:noAutofit/>
          </a:bodyPr>
          <a:lstStyle/>
          <a:p>
            <a:pPr algn="ctr"/>
            <a:r>
              <a:rPr lang="en-US" sz="1150">
                <a:solidFill>
                  <a:srgbClr val="8FA0B8"/>
                </a:solidFill>
                <a:latin typeface="Calibri"/>
              </a:rPr>
              <a:t>3  The read path and caches  ·   4  Topologies and operations</a:t>
            </a:r>
          </a:p>
        </p:txBody>
      </p:sp>
      <p:sp>
        <p:nvSpPr>
          <p:cNvPr id="6" name="t"/>
          <p:cNvSpPr txBox="1"/>
          <p:nvPr/>
        </p:nvSpPr>
        <p:spPr>
          <a:xfrm>
            <a:off x="502920" y="2948940"/>
            <a:ext cx="8138160" cy="251460"/>
          </a:xfrm>
          <a:prstGeom prst="rect">
            <a:avLst/>
          </a:prstGeom>
        </p:spPr>
        <p:txBody>
          <a:bodyPr wrap="square" lIns="91440" tIns="45720" rIns="91440" bIns="45720">
            <a:noAutofit/>
          </a:bodyPr>
          <a:lstStyle/>
          <a:p>
            <a:pPr algn="ctr"/>
            <a:endParaRPr lang="en-US" sz="1150"/>
          </a:p>
        </p:txBody>
      </p:sp>
      <p:sp>
        <p:nvSpPr>
          <p:cNvPr id="7" name="t"/>
          <p:cNvSpPr txBox="1"/>
          <p:nvPr/>
        </p:nvSpPr>
        <p:spPr>
          <a:xfrm>
            <a:off x="502920" y="3223260"/>
            <a:ext cx="8138160" cy="251460"/>
          </a:xfrm>
          <a:prstGeom prst="rect">
            <a:avLst/>
          </a:prstGeom>
        </p:spPr>
        <p:txBody>
          <a:bodyPr wrap="square" lIns="91440" tIns="45720" rIns="91440" bIns="45720">
            <a:noAutofit/>
          </a:bodyPr>
          <a:lstStyle/>
          <a:p>
            <a:pPr algn="ctr"/>
            <a:r>
              <a:rPr lang="en-US" sz="1150">
                <a:solidFill>
                  <a:srgbClr val="6A7891"/>
                </a:solidFill>
                <a:latin typeface="Calibri"/>
              </a:rPr>
              <a:t>Hands-on on Datomic Pro against PostgreSQL in Docker.</a:t>
            </a:r>
          </a:p>
        </p:txBody>
      </p:sp>
      <p:sp>
        <p:nvSpPr>
          <p:cNvPr id="8" name="t"/>
          <p:cNvSpPr txBox="1"/>
          <p:nvPr/>
        </p:nvSpPr>
        <p:spPr>
          <a:xfrm>
            <a:off x="502920" y="3497580"/>
            <a:ext cx="8138160" cy="251460"/>
          </a:xfrm>
          <a:prstGeom prst="rect">
            <a:avLst/>
          </a:prstGeom>
        </p:spPr>
        <p:txBody>
          <a:bodyPr wrap="square" lIns="91440" tIns="45720" rIns="91440" bIns="45720">
            <a:noAutofit/>
          </a:bodyPr>
          <a:lstStyle/>
          <a:p>
            <a:pPr algn="ctr"/>
            <a:r>
              <a:rPr lang="en-US" sz="1150">
                <a:solidFill>
                  <a:srgbClr val="6A7891"/>
                </a:solidFill>
                <a:latin typeface="Calibri"/>
              </a:rPr>
              <a:t>Datomic Cloud and Datomic Local are covered by comparison.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640080"/>
            <a:ext cx="8138160" cy="274320"/>
          </a:xfrm>
          <a:prstGeom prst="rect">
            <a:avLst/>
          </a:prstGeom>
        </p:spPr>
        <p:txBody>
          <a:bodyPr wrap="square" lIns="91440" tIns="45720" rIns="91440" bIns="45720">
            <a:noAutofit/>
          </a:bodyPr>
          <a:lstStyle/>
          <a:p>
            <a:r>
              <a:rPr lang="en-US" sz="1200" b="1">
                <a:solidFill>
                  <a:srgbClr val="FFC66D"/>
                </a:solidFill>
                <a:latin typeface="Calibri"/>
              </a:rPr>
              <a:t>SESSION 1</a:t>
            </a:r>
          </a:p>
        </p:txBody>
      </p:sp>
      <p:sp>
        <p:nvSpPr>
          <p:cNvPr id="3" name="t"/>
          <p:cNvSpPr txBox="1"/>
          <p:nvPr/>
        </p:nvSpPr>
        <p:spPr>
          <a:xfrm>
            <a:off x="502920" y="960120"/>
            <a:ext cx="8138160" cy="502920"/>
          </a:xfrm>
          <a:prstGeom prst="rect">
            <a:avLst/>
          </a:prstGeom>
        </p:spPr>
        <p:txBody>
          <a:bodyPr wrap="square" lIns="91440" tIns="45720" rIns="91440" bIns="45720">
            <a:noAutofit/>
          </a:bodyPr>
          <a:lstStyle/>
          <a:p>
            <a:r>
              <a:rPr lang="en-US" sz="2800" b="1">
                <a:solidFill>
                  <a:srgbClr val="E8EDF6"/>
                </a:solidFill>
                <a:latin typeface="Arial"/>
              </a:rPr>
              <a:t>The deployment map</a:t>
            </a:r>
          </a:p>
        </p:txBody>
      </p:sp>
      <p:sp>
        <p:nvSpPr>
          <p:cNvPr id="4" name="t"/>
          <p:cNvSpPr txBox="1"/>
          <p:nvPr/>
        </p:nvSpPr>
        <p:spPr>
          <a:xfrm>
            <a:off x="502920" y="1508760"/>
            <a:ext cx="8138160" cy="274320"/>
          </a:xfrm>
          <a:prstGeom prst="rect">
            <a:avLst/>
          </a:prstGeom>
        </p:spPr>
        <p:txBody>
          <a:bodyPr wrap="square" lIns="91440" tIns="45720" rIns="91440" bIns="45720">
            <a:noAutofit/>
          </a:bodyPr>
          <a:lstStyle/>
          <a:p>
            <a:r>
              <a:rPr lang="en-US" sz="1350">
                <a:solidFill>
                  <a:srgbClr val="8FA0B8"/>
                </a:solidFill>
                <a:latin typeface="Calibri"/>
              </a:rPr>
              <a:t>What processes exist, what they talk to, and where the bytes land</a:t>
            </a:r>
          </a:p>
        </p:txBody>
      </p:sp>
      <p:sp>
        <p:nvSpPr>
          <p:cNvPr id="5" name="t"/>
          <p:cNvSpPr txBox="1"/>
          <p:nvPr/>
        </p:nvSpPr>
        <p:spPr>
          <a:xfrm>
            <a:off x="502920" y="2011680"/>
            <a:ext cx="8138160" cy="195072"/>
          </a:xfrm>
          <a:prstGeom prst="rect">
            <a:avLst/>
          </a:prstGeom>
        </p:spPr>
        <p:txBody>
          <a:bodyPr wrap="square" lIns="91440" tIns="45720" rIns="91440" bIns="45720">
            <a:noAutofit/>
          </a:bodyPr>
          <a:lstStyle/>
          <a:p>
            <a:r>
              <a:rPr lang="en-US" sz="1200">
                <a:solidFill>
                  <a:srgbClr val="E8EDF6"/>
                </a:solidFill>
                <a:latin typeface="Calibri"/>
              </a:rPr>
              <a:t>· The decomposed database: which classic RDBMS job went where</a:t>
            </a:r>
          </a:p>
        </p:txBody>
      </p:sp>
      <p:sp>
        <p:nvSpPr>
          <p:cNvPr id="6" name="t"/>
          <p:cNvSpPr txBox="1"/>
          <p:nvPr/>
        </p:nvSpPr>
        <p:spPr>
          <a:xfrm>
            <a:off x="502920" y="2206752"/>
            <a:ext cx="8138160" cy="195072"/>
          </a:xfrm>
          <a:prstGeom prst="rect">
            <a:avLst/>
          </a:prstGeom>
        </p:spPr>
        <p:txBody>
          <a:bodyPr wrap="square" lIns="91440" tIns="45720" rIns="91440" bIns="45720">
            <a:noAutofit/>
          </a:bodyPr>
          <a:lstStyle/>
          <a:p>
            <a:r>
              <a:rPr lang="en-US" sz="1200">
                <a:solidFill>
                  <a:srgbClr val="E8EDF6"/>
                </a:solidFill>
                <a:latin typeface="Calibri"/>
              </a:rPr>
              <a:t>· The process inventory — transactor, peer, Peer Server, client, storage</a:t>
            </a:r>
          </a:p>
        </p:txBody>
      </p:sp>
      <p:sp>
        <p:nvSpPr>
          <p:cNvPr id="7" name="t"/>
          <p:cNvSpPr txBox="1"/>
          <p:nvPr/>
        </p:nvSpPr>
        <p:spPr>
          <a:xfrm>
            <a:off x="502920" y="2401824"/>
            <a:ext cx="8138160" cy="195072"/>
          </a:xfrm>
          <a:prstGeom prst="rect">
            <a:avLst/>
          </a:prstGeom>
        </p:spPr>
        <p:txBody>
          <a:bodyPr wrap="square" lIns="91440" tIns="45720" rIns="91440" bIns="45720">
            <a:noAutofit/>
          </a:bodyPr>
          <a:lstStyle/>
          <a:p>
            <a:r>
              <a:rPr lang="en-US" sz="1200">
                <a:solidFill>
                  <a:srgbClr val="E8EDF6"/>
                </a:solidFill>
                <a:latin typeface="Calibri"/>
              </a:rPr>
              <a:t>· Three products, and the two APIs: Peer and Client, side by side</a:t>
            </a:r>
          </a:p>
        </p:txBody>
      </p:sp>
      <p:sp>
        <p:nvSpPr>
          <p:cNvPr id="8" name="t"/>
          <p:cNvSpPr txBox="1"/>
          <p:nvPr/>
        </p:nvSpPr>
        <p:spPr>
          <a:xfrm>
            <a:off x="502920" y="2596896"/>
            <a:ext cx="8138160" cy="195072"/>
          </a:xfrm>
          <a:prstGeom prst="rect">
            <a:avLst/>
          </a:prstGeom>
        </p:spPr>
        <p:txBody>
          <a:bodyPr wrap="square" lIns="91440" tIns="45720" rIns="91440" bIns="45720">
            <a:noAutofit/>
          </a:bodyPr>
          <a:lstStyle/>
          <a:p>
            <a:r>
              <a:rPr lang="en-US" sz="1200">
                <a:solidFill>
                  <a:srgbClr val="E8EDF6"/>
                </a:solidFill>
                <a:latin typeface="Calibri"/>
              </a:rPr>
              <a:t>· Every persistence mode, and how to read a connection URI</a:t>
            </a:r>
          </a:p>
        </p:txBody>
      </p:sp>
      <p:sp>
        <p:nvSpPr>
          <p:cNvPr id="9" name="t"/>
          <p:cNvSpPr txBox="1"/>
          <p:nvPr/>
        </p:nvSpPr>
        <p:spPr>
          <a:xfrm>
            <a:off x="502920" y="2791968"/>
            <a:ext cx="8138160" cy="195072"/>
          </a:xfrm>
          <a:prstGeom prst="rect">
            <a:avLst/>
          </a:prstGeom>
        </p:spPr>
        <p:txBody>
          <a:bodyPr wrap="square" lIns="91440" tIns="45720" rIns="91440" bIns="45720">
            <a:noAutofit/>
          </a:bodyPr>
          <a:lstStyle/>
          <a:p>
            <a:r>
              <a:rPr lang="en-US" sz="1200">
                <a:solidFill>
                  <a:srgbClr val="E8EDF6"/>
                </a:solidFill>
                <a:latin typeface="Calibri"/>
              </a:rPr>
              <a:t>· Every storage service, with its pros, its cons and its throughput knob</a:t>
            </a:r>
          </a:p>
        </p:txBody>
      </p:sp>
      <p:sp>
        <p:nvSpPr>
          <p:cNvPr id="10" name="t"/>
          <p:cNvSpPr txBox="1"/>
          <p:nvPr/>
        </p:nvSpPr>
        <p:spPr>
          <a:xfrm>
            <a:off x="502920" y="2987040"/>
            <a:ext cx="8138160" cy="195072"/>
          </a:xfrm>
          <a:prstGeom prst="rect">
            <a:avLst/>
          </a:prstGeom>
        </p:spPr>
        <p:txBody>
          <a:bodyPr wrap="square" lIns="91440" tIns="45720" rIns="91440" bIns="45720">
            <a:noAutofit/>
          </a:bodyPr>
          <a:lstStyle/>
          <a:p>
            <a:r>
              <a:rPr lang="en-US" sz="1200">
                <a:solidFill>
                  <a:srgbClr val="E8EDF6"/>
                </a:solidFill>
                <a:latin typeface="Calibri"/>
              </a:rPr>
              <a:t>· Lab: PostgreSQL in Docker, a transactor, your first database, psql</a:t>
            </a:r>
          </a:p>
        </p:txBody>
      </p:sp>
      <p:sp>
        <p:nvSpPr>
          <p:cNvPr id="11" name="t"/>
          <p:cNvSpPr txBox="1"/>
          <p:nvPr/>
        </p:nvSpPr>
        <p:spPr>
          <a:xfrm>
            <a:off x="502920" y="3182112"/>
            <a:ext cx="8138160" cy="195072"/>
          </a:xfrm>
          <a:prstGeom prst="rect">
            <a:avLst/>
          </a:prstGeom>
        </p:spPr>
        <p:txBody>
          <a:bodyPr wrap="square" lIns="91440" tIns="45720" rIns="91440" bIns="45720">
            <a:noAutofit/>
          </a:bodyPr>
          <a:lstStyle/>
          <a:p>
            <a:r>
              <a:rPr lang="en-US" sz="1200">
                <a:solidFill>
                  <a:srgbClr val="E8EDF6"/>
                </a:solidFill>
                <a:latin typeface="Calibri"/>
              </a:rPr>
              <a:t>· Lab: a Peer Server, and the same database through the Client API</a:t>
            </a:r>
          </a:p>
        </p:txBody>
      </p:sp>
      <p:sp>
        <p:nvSpPr>
          <p:cNvPr id="12" name="t"/>
          <p:cNvSpPr txBox="1"/>
          <p:nvPr/>
        </p:nvSpPr>
        <p:spPr>
          <a:xfrm>
            <a:off x="502920" y="3377184"/>
            <a:ext cx="8138160" cy="195072"/>
          </a:xfrm>
          <a:prstGeom prst="rect">
            <a:avLst/>
          </a:prstGeom>
        </p:spPr>
        <p:txBody>
          <a:bodyPr wrap="square" lIns="91440" tIns="45720" rIns="91440" bIns="45720">
            <a:noAutofit/>
          </a:bodyPr>
          <a:lstStyle/>
          <a:p>
            <a:r>
              <a:rPr lang="en-US" sz="1200">
                <a:solidFill>
                  <a:srgbClr val="E8EDF6"/>
                </a:solidFill>
                <a:latin typeface="Calibri"/>
              </a:rPr>
              <a:t>· Admin use case #1: the database lifecycle</a:t>
            </a:r>
          </a:p>
        </p:txBody>
      </p:sp>
      <p:sp>
        <p:nvSpPr>
          <p:cNvPr id="13"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4"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A relational database, taken apart</a:t>
            </a:r>
          </a:p>
        </p:txBody>
      </p:sp>
      <p:sp>
        <p:nvSpPr>
          <p:cNvPr id="3" name="t"/>
          <p:cNvSpPr txBox="1"/>
          <p:nvPr/>
        </p:nvSpPr>
        <p:spPr>
          <a:xfrm>
            <a:off x="502920" y="766064"/>
            <a:ext cx="8138160" cy="406400"/>
          </a:xfrm>
          <a:prstGeom prst="rect">
            <a:avLst/>
          </a:prstGeom>
        </p:spPr>
        <p:txBody>
          <a:bodyPr wrap="square" lIns="91440" tIns="45720" rIns="91440" bIns="45720">
            <a:noAutofit/>
          </a:bodyPr>
          <a:lstStyle/>
          <a:p>
            <a:r>
              <a:rPr lang="en-US" sz="1250">
                <a:solidFill>
                  <a:srgbClr val="E8EDF6"/>
                </a:solidFill>
                <a:latin typeface="Calibri"/>
              </a:rPr>
              <a:t>A classic RDBMS is one process that does five jobs. Datomic splits them across different machines — and that split IS the architecture.</a:t>
            </a:r>
          </a:p>
        </p:txBody>
      </p:sp>
      <p:sp>
        <p:nvSpPr>
          <p:cNvPr id="4" name="t"/>
          <p:cNvSpPr txBox="1"/>
          <p:nvPr/>
        </p:nvSpPr>
        <p:spPr>
          <a:xfrm>
            <a:off x="502920" y="1359916"/>
            <a:ext cx="2115921" cy="239268"/>
          </a:xfrm>
          <a:prstGeom prst="rect">
            <a:avLst/>
          </a:prstGeom>
        </p:spPr>
        <p:txBody>
          <a:bodyPr wrap="square" lIns="91440" tIns="45720" rIns="91440" bIns="45720">
            <a:noAutofit/>
          </a:bodyPr>
          <a:lstStyle/>
          <a:p>
            <a:r>
              <a:rPr lang="en-US" sz="1050" b="1">
                <a:solidFill>
                  <a:srgbClr val="6FA8FF"/>
                </a:solidFill>
                <a:latin typeface="Calibri"/>
              </a:rPr>
              <a:t>Job</a:t>
            </a:r>
          </a:p>
        </p:txBody>
      </p:sp>
      <p:sp>
        <p:nvSpPr>
          <p:cNvPr id="5" name="t"/>
          <p:cNvSpPr txBox="1"/>
          <p:nvPr/>
        </p:nvSpPr>
        <p:spPr>
          <a:xfrm>
            <a:off x="2618841" y="1359916"/>
            <a:ext cx="2278684" cy="239268"/>
          </a:xfrm>
          <a:prstGeom prst="rect">
            <a:avLst/>
          </a:prstGeom>
        </p:spPr>
        <p:txBody>
          <a:bodyPr wrap="square" lIns="91440" tIns="45720" rIns="91440" bIns="45720">
            <a:noAutofit/>
          </a:bodyPr>
          <a:lstStyle/>
          <a:p>
            <a:r>
              <a:rPr lang="en-US" sz="1050" b="1">
                <a:solidFill>
                  <a:srgbClr val="6FA8FF"/>
                </a:solidFill>
                <a:latin typeface="Calibri"/>
              </a:rPr>
              <a:t>In PostgreSQL</a:t>
            </a:r>
          </a:p>
        </p:txBody>
      </p:sp>
      <p:sp>
        <p:nvSpPr>
          <p:cNvPr id="6" name="t"/>
          <p:cNvSpPr txBox="1"/>
          <p:nvPr/>
        </p:nvSpPr>
        <p:spPr>
          <a:xfrm>
            <a:off x="4897526" y="1359916"/>
            <a:ext cx="3743553" cy="239268"/>
          </a:xfrm>
          <a:prstGeom prst="rect">
            <a:avLst/>
          </a:prstGeom>
        </p:spPr>
        <p:txBody>
          <a:bodyPr wrap="square" lIns="91440" tIns="45720" rIns="91440" bIns="45720">
            <a:noAutofit/>
          </a:bodyPr>
          <a:lstStyle/>
          <a:p>
            <a:r>
              <a:rPr lang="en-US" sz="1050" b="1">
                <a:solidFill>
                  <a:srgbClr val="6FA8FF"/>
                </a:solidFill>
                <a:latin typeface="Calibri"/>
              </a:rPr>
              <a:t>In Datomic</a:t>
            </a:r>
          </a:p>
        </p:txBody>
      </p:sp>
      <p:sp>
        <p:nvSpPr>
          <p:cNvPr id="7" name="t"/>
          <p:cNvSpPr txBox="1"/>
          <p:nvPr/>
        </p:nvSpPr>
        <p:spPr>
          <a:xfrm>
            <a:off x="457200" y="1599184"/>
            <a:ext cx="8229600" cy="239268"/>
          </a:xfrm>
          <a:prstGeom prst="rect">
            <a:avLst/>
          </a:prstGeom>
          <a:solidFill>
            <a:srgbClr val="141B28"/>
          </a:solidFill>
        </p:spPr>
        <p:txBody>
          <a:bodyPr wrap="square" lIns="91440" tIns="45720" rIns="91440" bIns="45720">
            <a:noAutofit/>
          </a:bodyPr>
          <a:lstStyle/>
        </p:txBody>
      </p:sp>
      <p:sp>
        <p:nvSpPr>
          <p:cNvPr id="8" name="t"/>
          <p:cNvSpPr txBox="1"/>
          <p:nvPr/>
        </p:nvSpPr>
        <p:spPr>
          <a:xfrm>
            <a:off x="502920" y="1599184"/>
            <a:ext cx="2115921" cy="239268"/>
          </a:xfrm>
          <a:prstGeom prst="rect">
            <a:avLst/>
          </a:prstGeom>
        </p:spPr>
        <p:txBody>
          <a:bodyPr wrap="square" lIns="91440" tIns="45720" rIns="91440" bIns="45720">
            <a:noAutofit/>
          </a:bodyPr>
          <a:lstStyle/>
          <a:p>
            <a:r>
              <a:rPr lang="en-US" sz="1050" b="1">
                <a:solidFill>
                  <a:srgbClr val="E8EDF6"/>
                </a:solidFill>
                <a:latin typeface="Calibri"/>
              </a:rPr>
              <a:t>Accept and order writes</a:t>
            </a:r>
          </a:p>
        </p:txBody>
      </p:sp>
      <p:sp>
        <p:nvSpPr>
          <p:cNvPr id="9" name="t"/>
          <p:cNvSpPr txBox="1"/>
          <p:nvPr/>
        </p:nvSpPr>
        <p:spPr>
          <a:xfrm>
            <a:off x="2618841" y="1599184"/>
            <a:ext cx="2278684" cy="239268"/>
          </a:xfrm>
          <a:prstGeom prst="rect">
            <a:avLst/>
          </a:prstGeom>
        </p:spPr>
        <p:txBody>
          <a:bodyPr wrap="square" lIns="91440" tIns="45720" rIns="91440" bIns="45720">
            <a:noAutofit/>
          </a:bodyPr>
          <a:lstStyle/>
          <a:p>
            <a:r>
              <a:rPr lang="en-US" sz="1050">
                <a:solidFill>
                  <a:srgbClr val="8FA0B8"/>
                </a:solidFill>
                <a:latin typeface="Calibri"/>
              </a:rPr>
              <a:t>the server</a:t>
            </a:r>
          </a:p>
        </p:txBody>
      </p:sp>
      <p:sp>
        <p:nvSpPr>
          <p:cNvPr id="10" name="t"/>
          <p:cNvSpPr txBox="1"/>
          <p:nvPr/>
        </p:nvSpPr>
        <p:spPr>
          <a:xfrm>
            <a:off x="4897526" y="1599184"/>
            <a:ext cx="3743553" cy="239268"/>
          </a:xfrm>
          <a:prstGeom prst="rect">
            <a:avLst/>
          </a:prstGeom>
        </p:spPr>
        <p:txBody>
          <a:bodyPr wrap="square" lIns="91440" tIns="45720" rIns="91440" bIns="45720">
            <a:noAutofit/>
          </a:bodyPr>
          <a:lstStyle/>
          <a:p>
            <a:r>
              <a:rPr lang="en-US" sz="1050">
                <a:solidFill>
                  <a:srgbClr val="8FA0B8"/>
                </a:solidFill>
                <a:latin typeface="Calibri"/>
              </a:rPr>
              <a:t>the transactor — one, serial</a:t>
            </a:r>
          </a:p>
        </p:txBody>
      </p:sp>
      <p:sp>
        <p:nvSpPr>
          <p:cNvPr id="11" name="t"/>
          <p:cNvSpPr txBox="1"/>
          <p:nvPr/>
        </p:nvSpPr>
        <p:spPr>
          <a:xfrm>
            <a:off x="502920" y="1838452"/>
            <a:ext cx="2115921" cy="239268"/>
          </a:xfrm>
          <a:prstGeom prst="rect">
            <a:avLst/>
          </a:prstGeom>
        </p:spPr>
        <p:txBody>
          <a:bodyPr wrap="square" lIns="91440" tIns="45720" rIns="91440" bIns="45720">
            <a:noAutofit/>
          </a:bodyPr>
          <a:lstStyle/>
          <a:p>
            <a:r>
              <a:rPr lang="en-US" sz="1050" b="1">
                <a:solidFill>
                  <a:srgbClr val="E8EDF6"/>
                </a:solidFill>
                <a:latin typeface="Calibri"/>
              </a:rPr>
              <a:t>Durable storage</a:t>
            </a:r>
          </a:p>
        </p:txBody>
      </p:sp>
      <p:sp>
        <p:nvSpPr>
          <p:cNvPr id="12" name="t"/>
          <p:cNvSpPr txBox="1"/>
          <p:nvPr/>
        </p:nvSpPr>
        <p:spPr>
          <a:xfrm>
            <a:off x="2618841" y="1838452"/>
            <a:ext cx="2278684" cy="239268"/>
          </a:xfrm>
          <a:prstGeom prst="rect">
            <a:avLst/>
          </a:prstGeom>
        </p:spPr>
        <p:txBody>
          <a:bodyPr wrap="square" lIns="91440" tIns="45720" rIns="91440" bIns="45720">
            <a:noAutofit/>
          </a:bodyPr>
          <a:lstStyle/>
          <a:p>
            <a:r>
              <a:rPr lang="en-US" sz="1050">
                <a:solidFill>
                  <a:srgbClr val="8FA0B8"/>
                </a:solidFill>
                <a:latin typeface="Calibri"/>
              </a:rPr>
              <a:t>the server's files</a:t>
            </a:r>
          </a:p>
        </p:txBody>
      </p:sp>
      <p:sp>
        <p:nvSpPr>
          <p:cNvPr id="13" name="t"/>
          <p:cNvSpPr txBox="1"/>
          <p:nvPr/>
        </p:nvSpPr>
        <p:spPr>
          <a:xfrm>
            <a:off x="4897526" y="1838452"/>
            <a:ext cx="3743553" cy="239268"/>
          </a:xfrm>
          <a:prstGeom prst="rect">
            <a:avLst/>
          </a:prstGeom>
        </p:spPr>
        <p:txBody>
          <a:bodyPr wrap="square" lIns="91440" tIns="45720" rIns="91440" bIns="45720">
            <a:noAutofit/>
          </a:bodyPr>
          <a:lstStyle/>
          <a:p>
            <a:r>
              <a:rPr lang="en-US" sz="1050">
                <a:solidFill>
                  <a:srgbClr val="8FA0B8"/>
                </a:solidFill>
                <a:latin typeface="Calibri"/>
              </a:rPr>
              <a:t>pluggable: SQL, DynamoDB, S3, ...</a:t>
            </a:r>
          </a:p>
        </p:txBody>
      </p:sp>
      <p:sp>
        <p:nvSpPr>
          <p:cNvPr id="14" name="t"/>
          <p:cNvSpPr txBox="1"/>
          <p:nvPr/>
        </p:nvSpPr>
        <p:spPr>
          <a:xfrm>
            <a:off x="457200" y="2077720"/>
            <a:ext cx="8229600" cy="239268"/>
          </a:xfrm>
          <a:prstGeom prst="rect">
            <a:avLst/>
          </a:prstGeom>
          <a:solidFill>
            <a:srgbClr val="141B28"/>
          </a:solidFill>
        </p:spPr>
        <p:txBody>
          <a:bodyPr wrap="square" lIns="91440" tIns="45720" rIns="91440" bIns="45720">
            <a:noAutofit/>
          </a:bodyPr>
          <a:lstStyle/>
        </p:txBody>
      </p:sp>
      <p:sp>
        <p:nvSpPr>
          <p:cNvPr id="15" name="t"/>
          <p:cNvSpPr txBox="1"/>
          <p:nvPr/>
        </p:nvSpPr>
        <p:spPr>
          <a:xfrm>
            <a:off x="502920" y="2077720"/>
            <a:ext cx="2115921" cy="239268"/>
          </a:xfrm>
          <a:prstGeom prst="rect">
            <a:avLst/>
          </a:prstGeom>
        </p:spPr>
        <p:txBody>
          <a:bodyPr wrap="square" lIns="91440" tIns="45720" rIns="91440" bIns="45720">
            <a:noAutofit/>
          </a:bodyPr>
          <a:lstStyle/>
          <a:p>
            <a:r>
              <a:rPr lang="en-US" sz="1050" b="1">
                <a:solidFill>
                  <a:srgbClr val="E8EDF6"/>
                </a:solidFill>
                <a:latin typeface="Calibri"/>
              </a:rPr>
              <a:t>Index maintenance</a:t>
            </a:r>
          </a:p>
        </p:txBody>
      </p:sp>
      <p:sp>
        <p:nvSpPr>
          <p:cNvPr id="16" name="t"/>
          <p:cNvSpPr txBox="1"/>
          <p:nvPr/>
        </p:nvSpPr>
        <p:spPr>
          <a:xfrm>
            <a:off x="2618841" y="2077720"/>
            <a:ext cx="2278684" cy="239268"/>
          </a:xfrm>
          <a:prstGeom prst="rect">
            <a:avLst/>
          </a:prstGeom>
        </p:spPr>
        <p:txBody>
          <a:bodyPr wrap="square" lIns="91440" tIns="45720" rIns="91440" bIns="45720">
            <a:noAutofit/>
          </a:bodyPr>
          <a:lstStyle/>
          <a:p>
            <a:r>
              <a:rPr lang="en-US" sz="1050">
                <a:solidFill>
                  <a:srgbClr val="8FA0B8"/>
                </a:solidFill>
                <a:latin typeface="Calibri"/>
              </a:rPr>
              <a:t>the server</a:t>
            </a:r>
          </a:p>
        </p:txBody>
      </p:sp>
      <p:sp>
        <p:nvSpPr>
          <p:cNvPr id="17" name="t"/>
          <p:cNvSpPr txBox="1"/>
          <p:nvPr/>
        </p:nvSpPr>
        <p:spPr>
          <a:xfrm>
            <a:off x="4897526" y="2077720"/>
            <a:ext cx="3743553" cy="239268"/>
          </a:xfrm>
          <a:prstGeom prst="rect">
            <a:avLst/>
          </a:prstGeom>
        </p:spPr>
        <p:txBody>
          <a:bodyPr wrap="square" lIns="91440" tIns="45720" rIns="91440" bIns="45720">
            <a:noAutofit/>
          </a:bodyPr>
          <a:lstStyle/>
          <a:p>
            <a:r>
              <a:rPr lang="en-US" sz="1050">
                <a:solidFill>
                  <a:srgbClr val="8FA0B8"/>
                </a:solidFill>
                <a:latin typeface="Calibri"/>
              </a:rPr>
              <a:t>a background job on the transactor</a:t>
            </a:r>
          </a:p>
        </p:txBody>
      </p:sp>
      <p:sp>
        <p:nvSpPr>
          <p:cNvPr id="18" name="t"/>
          <p:cNvSpPr txBox="1"/>
          <p:nvPr/>
        </p:nvSpPr>
        <p:spPr>
          <a:xfrm>
            <a:off x="502920" y="2316988"/>
            <a:ext cx="2115921" cy="239268"/>
          </a:xfrm>
          <a:prstGeom prst="rect">
            <a:avLst/>
          </a:prstGeom>
        </p:spPr>
        <p:txBody>
          <a:bodyPr wrap="square" lIns="91440" tIns="45720" rIns="91440" bIns="45720">
            <a:noAutofit/>
          </a:bodyPr>
          <a:lstStyle/>
          <a:p>
            <a:r>
              <a:rPr lang="en-US" sz="1050" b="1">
                <a:solidFill>
                  <a:srgbClr val="E8EDF6"/>
                </a:solidFill>
                <a:latin typeface="Calibri"/>
              </a:rPr>
              <a:t>Query execution</a:t>
            </a:r>
          </a:p>
        </p:txBody>
      </p:sp>
      <p:sp>
        <p:nvSpPr>
          <p:cNvPr id="19" name="t"/>
          <p:cNvSpPr txBox="1"/>
          <p:nvPr/>
        </p:nvSpPr>
        <p:spPr>
          <a:xfrm>
            <a:off x="2618841" y="2316988"/>
            <a:ext cx="2278684" cy="239268"/>
          </a:xfrm>
          <a:prstGeom prst="rect">
            <a:avLst/>
          </a:prstGeom>
        </p:spPr>
        <p:txBody>
          <a:bodyPr wrap="square" lIns="91440" tIns="45720" rIns="91440" bIns="45720">
            <a:noAutofit/>
          </a:bodyPr>
          <a:lstStyle/>
          <a:p>
            <a:r>
              <a:rPr lang="en-US" sz="1050">
                <a:solidFill>
                  <a:srgbClr val="8FA0B8"/>
                </a:solidFill>
                <a:latin typeface="Calibri"/>
              </a:rPr>
              <a:t>the server</a:t>
            </a:r>
          </a:p>
        </p:txBody>
      </p:sp>
      <p:sp>
        <p:nvSpPr>
          <p:cNvPr id="20" name="t"/>
          <p:cNvSpPr txBox="1"/>
          <p:nvPr/>
        </p:nvSpPr>
        <p:spPr>
          <a:xfrm>
            <a:off x="4897526" y="2316988"/>
            <a:ext cx="3743553" cy="239268"/>
          </a:xfrm>
          <a:prstGeom prst="rect">
            <a:avLst/>
          </a:prstGeom>
        </p:spPr>
        <p:txBody>
          <a:bodyPr wrap="square" lIns="91440" tIns="45720" rIns="91440" bIns="45720">
            <a:noAutofit/>
          </a:bodyPr>
          <a:lstStyle/>
          <a:p>
            <a:r>
              <a:rPr lang="en-US" sz="1050">
                <a:solidFill>
                  <a:srgbClr val="8FA0B8"/>
                </a:solidFill>
                <a:latin typeface="Calibri"/>
              </a:rPr>
              <a:t>your application process (a peer)</a:t>
            </a:r>
          </a:p>
        </p:txBody>
      </p:sp>
      <p:sp>
        <p:nvSpPr>
          <p:cNvPr id="21" name="t"/>
          <p:cNvSpPr txBox="1"/>
          <p:nvPr/>
        </p:nvSpPr>
        <p:spPr>
          <a:xfrm>
            <a:off x="457200" y="2556256"/>
            <a:ext cx="8229600" cy="239268"/>
          </a:xfrm>
          <a:prstGeom prst="rect">
            <a:avLst/>
          </a:prstGeom>
          <a:solidFill>
            <a:srgbClr val="141B28"/>
          </a:solidFill>
        </p:spPr>
        <p:txBody>
          <a:bodyPr wrap="square" lIns="91440" tIns="45720" rIns="91440" bIns="45720">
            <a:noAutofit/>
          </a:bodyPr>
          <a:lstStyle/>
        </p:txBody>
      </p:sp>
      <p:sp>
        <p:nvSpPr>
          <p:cNvPr id="22" name="t"/>
          <p:cNvSpPr txBox="1"/>
          <p:nvPr/>
        </p:nvSpPr>
        <p:spPr>
          <a:xfrm>
            <a:off x="502920" y="2556256"/>
            <a:ext cx="2115921" cy="239268"/>
          </a:xfrm>
          <a:prstGeom prst="rect">
            <a:avLst/>
          </a:prstGeom>
        </p:spPr>
        <p:txBody>
          <a:bodyPr wrap="square" lIns="91440" tIns="45720" rIns="91440" bIns="45720">
            <a:noAutofit/>
          </a:bodyPr>
          <a:lstStyle/>
          <a:p>
            <a:r>
              <a:rPr lang="en-US" sz="1050" b="1">
                <a:solidFill>
                  <a:srgbClr val="E8EDF6"/>
                </a:solidFill>
                <a:latin typeface="Calibri"/>
              </a:rPr>
              <a:t>Caching</a:t>
            </a:r>
          </a:p>
        </p:txBody>
      </p:sp>
      <p:sp>
        <p:nvSpPr>
          <p:cNvPr id="23" name="t"/>
          <p:cNvSpPr txBox="1"/>
          <p:nvPr/>
        </p:nvSpPr>
        <p:spPr>
          <a:xfrm>
            <a:off x="2618841" y="2556256"/>
            <a:ext cx="2278684" cy="239268"/>
          </a:xfrm>
          <a:prstGeom prst="rect">
            <a:avLst/>
          </a:prstGeom>
        </p:spPr>
        <p:txBody>
          <a:bodyPr wrap="square" lIns="91440" tIns="45720" rIns="91440" bIns="45720">
            <a:noAutofit/>
          </a:bodyPr>
          <a:lstStyle/>
          <a:p>
            <a:r>
              <a:rPr lang="en-US" sz="1050">
                <a:solidFill>
                  <a:srgbClr val="8FA0B8"/>
                </a:solidFill>
                <a:latin typeface="Calibri"/>
              </a:rPr>
              <a:t>the server's buffer pool</a:t>
            </a:r>
          </a:p>
        </p:txBody>
      </p:sp>
      <p:sp>
        <p:nvSpPr>
          <p:cNvPr id="24" name="t"/>
          <p:cNvSpPr txBox="1"/>
          <p:nvPr/>
        </p:nvSpPr>
        <p:spPr>
          <a:xfrm>
            <a:off x="4897526" y="2556256"/>
            <a:ext cx="3743553" cy="239268"/>
          </a:xfrm>
          <a:prstGeom prst="rect">
            <a:avLst/>
          </a:prstGeom>
        </p:spPr>
        <p:txBody>
          <a:bodyPr wrap="square" lIns="91440" tIns="45720" rIns="91440" bIns="45720">
            <a:noAutofit/>
          </a:bodyPr>
          <a:lstStyle/>
          <a:p>
            <a:r>
              <a:rPr lang="en-US" sz="1050">
                <a:solidFill>
                  <a:srgbClr val="8FA0B8"/>
                </a:solidFill>
                <a:latin typeface="Calibri"/>
              </a:rPr>
              <a:t>every peer, plus optional shared tiers</a:t>
            </a:r>
          </a:p>
        </p:txBody>
      </p:sp>
      <p:sp>
        <p:nvSpPr>
          <p:cNvPr id="25" name="t"/>
          <p:cNvSpPr txBox="1"/>
          <p:nvPr/>
        </p:nvSpPr>
        <p:spPr>
          <a:xfrm>
            <a:off x="502920" y="2960116"/>
            <a:ext cx="45720" cy="449072"/>
          </a:xfrm>
          <a:prstGeom prst="rect">
            <a:avLst/>
          </a:prstGeom>
          <a:solidFill>
            <a:srgbClr val="FFC66D"/>
          </a:solidFill>
        </p:spPr>
        <p:txBody>
          <a:bodyPr wrap="square" lIns="91440" tIns="45720" rIns="91440" bIns="45720">
            <a:noAutofit/>
          </a:bodyPr>
          <a:lstStyle/>
        </p:txBody>
      </p:sp>
      <p:sp>
        <p:nvSpPr>
          <p:cNvPr id="26" name="t"/>
          <p:cNvSpPr txBox="1"/>
          <p:nvPr/>
        </p:nvSpPr>
        <p:spPr>
          <a:xfrm>
            <a:off x="594360" y="2960116"/>
            <a:ext cx="8046720" cy="449072"/>
          </a:xfrm>
          <a:prstGeom prst="rect">
            <a:avLst/>
          </a:prstGeom>
        </p:spPr>
        <p:txBody>
          <a:bodyPr wrap="square" lIns="91440" tIns="45720" rIns="91440" bIns="45720">
            <a:noAutofit/>
          </a:bodyPr>
          <a:lstStyle/>
          <a:p>
            <a:r>
              <a:rPr lang="en-US" sz="1100">
                <a:solidFill>
                  <a:srgbClr val="E8EDF6"/>
                </a:solidFill>
                <a:latin typeface="Calibri"/>
              </a:rPr>
              <a:t>★  Two of those five moved INTO your application. That is why "how do I deploy Datomic" is really a question about your app servers.</a:t>
            </a:r>
          </a:p>
        </p:txBody>
      </p:sp>
      <p:sp>
        <p:nvSpPr>
          <p:cNvPr id="2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2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process inventory</a:t>
            </a:r>
          </a:p>
        </p:txBody>
      </p:sp>
      <p:sp>
        <p:nvSpPr>
          <p:cNvPr id="3" name="t"/>
          <p:cNvSpPr txBox="1"/>
          <p:nvPr/>
        </p:nvSpPr>
        <p:spPr>
          <a:xfrm>
            <a:off x="502920" y="766064"/>
            <a:ext cx="1554480" cy="457200"/>
          </a:xfrm>
          <a:prstGeom prst="roundRect">
            <a:avLst/>
          </a:prstGeom>
          <a:solidFill>
            <a:srgbClr val="6FA8FF"/>
          </a:solidFill>
        </p:spPr>
        <p:txBody>
          <a:bodyPr wrap="square" lIns="91440" tIns="45720" rIns="91440" bIns="45720">
            <a:noAutofit/>
          </a:bodyPr>
          <a:lstStyle/>
          <a:p>
            <a:pPr algn="ctr"/>
            <a:r>
              <a:rPr lang="en-US" sz="1100" b="1">
                <a:solidFill>
                  <a:srgbClr val="0F1420"/>
                </a:solidFill>
                <a:latin typeface="Calibri"/>
              </a:rPr>
              <a:t>Storage</a:t>
            </a:r>
          </a:p>
        </p:txBody>
      </p:sp>
      <p:sp>
        <p:nvSpPr>
          <p:cNvPr id="4" name="t"/>
          <p:cNvSpPr txBox="1"/>
          <p:nvPr/>
        </p:nvSpPr>
        <p:spPr>
          <a:xfrm>
            <a:off x="2148840" y="766064"/>
            <a:ext cx="1554480" cy="457200"/>
          </a:xfrm>
          <a:prstGeom prst="roundRect">
            <a:avLst/>
          </a:prstGeom>
          <a:solidFill>
            <a:srgbClr val="FFC66D"/>
          </a:solidFill>
        </p:spPr>
        <p:txBody>
          <a:bodyPr wrap="square" lIns="91440" tIns="45720" rIns="91440" bIns="45720">
            <a:noAutofit/>
          </a:bodyPr>
          <a:lstStyle/>
          <a:p>
            <a:pPr algn="ctr"/>
            <a:r>
              <a:rPr lang="en-US" sz="1100" b="1">
                <a:solidFill>
                  <a:srgbClr val="0F1420"/>
                </a:solidFill>
                <a:latin typeface="Calibri"/>
              </a:rPr>
              <a:t>Transactor</a:t>
            </a:r>
          </a:p>
        </p:txBody>
      </p:sp>
      <p:sp>
        <p:nvSpPr>
          <p:cNvPr id="5" name="t"/>
          <p:cNvSpPr txBox="1"/>
          <p:nvPr/>
        </p:nvSpPr>
        <p:spPr>
          <a:xfrm>
            <a:off x="3794760" y="766064"/>
            <a:ext cx="1554480" cy="457200"/>
          </a:xfrm>
          <a:prstGeom prst="roundRect">
            <a:avLst/>
          </a:prstGeom>
          <a:solidFill>
            <a:srgbClr val="7BD88F"/>
          </a:solidFill>
        </p:spPr>
        <p:txBody>
          <a:bodyPr wrap="square" lIns="91440" tIns="45720" rIns="91440" bIns="45720">
            <a:noAutofit/>
          </a:bodyPr>
          <a:lstStyle/>
          <a:p>
            <a:pPr algn="ctr"/>
            <a:r>
              <a:rPr lang="en-US" sz="1100" b="1">
                <a:solidFill>
                  <a:srgbClr val="0F1420"/>
                </a:solidFill>
                <a:latin typeface="Calibri"/>
              </a:rPr>
              <a:t>Peer</a:t>
            </a:r>
          </a:p>
        </p:txBody>
      </p:sp>
      <p:sp>
        <p:nvSpPr>
          <p:cNvPr id="6" name="t"/>
          <p:cNvSpPr txBox="1"/>
          <p:nvPr/>
        </p:nvSpPr>
        <p:spPr>
          <a:xfrm>
            <a:off x="5440680" y="766064"/>
            <a:ext cx="1554480" cy="457200"/>
          </a:xfrm>
          <a:prstGeom prst="roundRect">
            <a:avLst/>
          </a:prstGeom>
          <a:solidFill>
            <a:srgbClr val="6FE3D2"/>
          </a:solidFill>
        </p:spPr>
        <p:txBody>
          <a:bodyPr wrap="square" lIns="91440" tIns="45720" rIns="91440" bIns="45720">
            <a:noAutofit/>
          </a:bodyPr>
          <a:lstStyle/>
          <a:p>
            <a:pPr algn="ctr"/>
            <a:r>
              <a:rPr lang="en-US" sz="1100" b="1">
                <a:solidFill>
                  <a:srgbClr val="0F1420"/>
                </a:solidFill>
                <a:latin typeface="Calibri"/>
              </a:rPr>
              <a:t>Peer Server</a:t>
            </a:r>
          </a:p>
        </p:txBody>
      </p:sp>
      <p:sp>
        <p:nvSpPr>
          <p:cNvPr id="7" name="t"/>
          <p:cNvSpPr txBox="1"/>
          <p:nvPr/>
        </p:nvSpPr>
        <p:spPr>
          <a:xfrm>
            <a:off x="7086600" y="766064"/>
            <a:ext cx="1554480" cy="457200"/>
          </a:xfrm>
          <a:prstGeom prst="roundRect">
            <a:avLst/>
          </a:prstGeom>
          <a:solidFill>
            <a:srgbClr val="C09BFF"/>
          </a:solidFill>
        </p:spPr>
        <p:txBody>
          <a:bodyPr wrap="square" lIns="91440" tIns="45720" rIns="91440" bIns="45720">
            <a:noAutofit/>
          </a:bodyPr>
          <a:lstStyle/>
          <a:p>
            <a:pPr algn="ctr"/>
            <a:r>
              <a:rPr lang="en-US" sz="1100" b="1">
                <a:solidFill>
                  <a:srgbClr val="0F1420"/>
                </a:solidFill>
                <a:latin typeface="Calibri"/>
              </a:rPr>
              <a:t>Client</a:t>
            </a:r>
          </a:p>
        </p:txBody>
      </p:sp>
      <p:sp>
        <p:nvSpPr>
          <p:cNvPr id="8" name="t"/>
          <p:cNvSpPr txBox="1"/>
          <p:nvPr/>
        </p:nvSpPr>
        <p:spPr>
          <a:xfrm>
            <a:off x="502920" y="1433576"/>
            <a:ext cx="8138160" cy="357632"/>
          </a:xfrm>
          <a:prstGeom prst="rect">
            <a:avLst/>
          </a:prstGeom>
        </p:spPr>
        <p:txBody>
          <a:bodyPr wrap="square" lIns="91440" tIns="45720" rIns="91440" bIns="45720">
            <a:noAutofit/>
          </a:bodyPr>
          <a:lstStyle/>
          <a:p>
            <a:r>
              <a:rPr lang="en-US" sz="1100">
                <a:solidFill>
                  <a:srgbClr val="6FA8FF"/>
                </a:solidFill>
                <a:latin typeface="Calibri"/>
              </a:rPr>
              <a:t>▸ Storage — a key/value service you already operate: Postgres, MySQL, DynamoDB, Cassandra, or the transactor's embedded H2</a:t>
            </a:r>
          </a:p>
        </p:txBody>
      </p:sp>
      <p:sp>
        <p:nvSpPr>
          <p:cNvPr id="9" name="t"/>
          <p:cNvSpPr txBox="1"/>
          <p:nvPr/>
        </p:nvSpPr>
        <p:spPr>
          <a:xfrm>
            <a:off x="502920" y="1791208"/>
            <a:ext cx="8138160" cy="178816"/>
          </a:xfrm>
          <a:prstGeom prst="rect">
            <a:avLst/>
          </a:prstGeom>
        </p:spPr>
        <p:txBody>
          <a:bodyPr wrap="square" lIns="91440" tIns="45720" rIns="91440" bIns="45720">
            <a:noAutofit/>
          </a:bodyPr>
          <a:lstStyle/>
          <a:p>
            <a:r>
              <a:rPr lang="en-US" sz="1100">
                <a:solidFill>
                  <a:srgbClr val="FFC66D"/>
                </a:solidFill>
                <a:latin typeface="Calibri"/>
              </a:rPr>
              <a:t>▸ Transactor — the single writer. Also runs indexing. One active, one standby for HA.</a:t>
            </a:r>
          </a:p>
        </p:txBody>
      </p:sp>
      <p:sp>
        <p:nvSpPr>
          <p:cNvPr id="10" name="t"/>
          <p:cNvSpPr txBox="1"/>
          <p:nvPr/>
        </p:nvSpPr>
        <p:spPr>
          <a:xfrm>
            <a:off x="502920" y="1970024"/>
            <a:ext cx="8138160" cy="178816"/>
          </a:xfrm>
          <a:prstGeom prst="rect">
            <a:avLst/>
          </a:prstGeom>
        </p:spPr>
        <p:txBody>
          <a:bodyPr wrap="square" lIns="91440" tIns="45720" rIns="91440" bIns="45720">
            <a:noAutofit/>
          </a:bodyPr>
          <a:lstStyle/>
          <a:p>
            <a:r>
              <a:rPr lang="en-US" sz="1100">
                <a:solidFill>
                  <a:srgbClr val="7BD88F"/>
                </a:solidFill>
                <a:latin typeface="Calibri"/>
              </a:rPr>
              <a:t>▸ Peer — a library inside YOUR process. Query engine plus cache. As many as you like.</a:t>
            </a:r>
          </a:p>
        </p:txBody>
      </p:sp>
      <p:sp>
        <p:nvSpPr>
          <p:cNvPr id="11" name="t"/>
          <p:cNvSpPr txBox="1"/>
          <p:nvPr/>
        </p:nvSpPr>
        <p:spPr>
          <a:xfrm>
            <a:off x="502920" y="2148840"/>
            <a:ext cx="8138160" cy="178816"/>
          </a:xfrm>
          <a:prstGeom prst="rect">
            <a:avLst/>
          </a:prstGeom>
        </p:spPr>
        <p:txBody>
          <a:bodyPr wrap="square" lIns="91440" tIns="45720" rIns="91440" bIns="45720">
            <a:noAutofit/>
          </a:bodyPr>
          <a:lstStyle/>
          <a:p>
            <a:r>
              <a:rPr lang="en-US" sz="1100">
                <a:solidFill>
                  <a:srgbClr val="6FE3D2"/>
                </a:solidFill>
                <a:latin typeface="Calibri"/>
              </a:rPr>
              <a:t>▸ Peer Server — a peer run as a standalone server, so thin clients can use it</a:t>
            </a:r>
          </a:p>
        </p:txBody>
      </p:sp>
      <p:sp>
        <p:nvSpPr>
          <p:cNvPr id="12" name="t"/>
          <p:cNvSpPr txBox="1"/>
          <p:nvPr/>
        </p:nvSpPr>
        <p:spPr>
          <a:xfrm>
            <a:off x="502920" y="2327656"/>
            <a:ext cx="8138160" cy="178816"/>
          </a:xfrm>
          <a:prstGeom prst="rect">
            <a:avLst/>
          </a:prstGeom>
        </p:spPr>
        <p:txBody>
          <a:bodyPr wrap="square" lIns="91440" tIns="45720" rIns="91440" bIns="45720">
            <a:noAutofit/>
          </a:bodyPr>
          <a:lstStyle/>
          <a:p>
            <a:r>
              <a:rPr lang="en-US" sz="1100">
                <a:solidFill>
                  <a:srgbClr val="C09BFF"/>
                </a:solidFill>
                <a:latin typeface="Calibri"/>
              </a:rPr>
              <a:t>▸ Client — a light library that talks to a Peer Server (or to Cloud, or to Local)</a:t>
            </a:r>
          </a:p>
        </p:txBody>
      </p:sp>
      <p:sp>
        <p:nvSpPr>
          <p:cNvPr id="13" name="t"/>
          <p:cNvSpPr txBox="1"/>
          <p:nvPr/>
        </p:nvSpPr>
        <p:spPr>
          <a:xfrm>
            <a:off x="502920" y="2506472"/>
            <a:ext cx="8138160" cy="178816"/>
          </a:xfrm>
          <a:prstGeom prst="rect">
            <a:avLst/>
          </a:prstGeom>
        </p:spPr>
        <p:txBody>
          <a:bodyPr wrap="square" lIns="91440" tIns="45720" rIns="91440" bIns="45720">
            <a:noAutofit/>
          </a:bodyPr>
          <a:lstStyle/>
          <a:p>
            <a:r>
              <a:rPr lang="en-US" sz="1100">
                <a:solidFill>
                  <a:srgbClr val="8FA0B8"/>
                </a:solidFill>
                <a:latin typeface="Calibri"/>
              </a:rPr>
              <a:t>▸ Optional: a memcached cluster and/or SSD valcache as shared cache tiers</a:t>
            </a:r>
          </a:p>
        </p:txBody>
      </p:sp>
      <p:sp>
        <p:nvSpPr>
          <p:cNvPr id="14"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5"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How a peer finds everything</a:t>
            </a:r>
          </a:p>
        </p:txBody>
      </p:sp>
      <p:sp>
        <p:nvSpPr>
          <p:cNvPr id="3" name="t"/>
          <p:cNvSpPr txBox="1"/>
          <p:nvPr/>
        </p:nvSpPr>
        <p:spPr>
          <a:xfrm>
            <a:off x="502920" y="766064"/>
            <a:ext cx="1760220" cy="457200"/>
          </a:xfrm>
          <a:prstGeom prst="roundRect">
            <a:avLst/>
          </a:prstGeom>
          <a:solidFill>
            <a:srgbClr val="7BD88F"/>
          </a:solidFill>
        </p:spPr>
        <p:txBody>
          <a:bodyPr wrap="square" lIns="91440" tIns="45720" rIns="91440" bIns="45720">
            <a:noAutofit/>
          </a:bodyPr>
          <a:lstStyle/>
          <a:p>
            <a:pPr algn="ctr"/>
            <a:r>
              <a:rPr lang="en-US" sz="1000" b="1">
                <a:solidFill>
                  <a:srgbClr val="0F1420"/>
                </a:solidFill>
                <a:latin typeface="Calibri"/>
              </a:rPr>
              <a:t>peer starts</a:t>
            </a:r>
          </a:p>
        </p:txBody>
      </p:sp>
      <p:sp>
        <p:nvSpPr>
          <p:cNvPr id="4" name="t"/>
          <p:cNvSpPr txBox="1"/>
          <p:nvPr/>
        </p:nvSpPr>
        <p:spPr>
          <a:xfrm>
            <a:off x="2354580" y="88036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5" name="t"/>
          <p:cNvSpPr txBox="1"/>
          <p:nvPr/>
        </p:nvSpPr>
        <p:spPr>
          <a:xfrm>
            <a:off x="2628900" y="766064"/>
            <a:ext cx="1760220" cy="457200"/>
          </a:xfrm>
          <a:prstGeom prst="roundRect">
            <a:avLst/>
          </a:prstGeom>
          <a:solidFill>
            <a:srgbClr val="6FA8FF"/>
          </a:solidFill>
        </p:spPr>
        <p:txBody>
          <a:bodyPr wrap="square" lIns="91440" tIns="45720" rIns="91440" bIns="45720">
            <a:noAutofit/>
          </a:bodyPr>
          <a:lstStyle/>
          <a:p>
            <a:pPr algn="ctr"/>
            <a:r>
              <a:rPr lang="en-US" sz="1000" b="1">
                <a:solidFill>
                  <a:srgbClr val="0F1420"/>
                </a:solidFill>
                <a:latin typeface="Calibri"/>
              </a:rPr>
              <a:t>connects to storage</a:t>
            </a:r>
          </a:p>
        </p:txBody>
      </p:sp>
      <p:sp>
        <p:nvSpPr>
          <p:cNvPr id="6" name="t"/>
          <p:cNvSpPr txBox="1"/>
          <p:nvPr/>
        </p:nvSpPr>
        <p:spPr>
          <a:xfrm>
            <a:off x="4480560" y="88036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7" name="t"/>
          <p:cNvSpPr txBox="1"/>
          <p:nvPr/>
        </p:nvSpPr>
        <p:spPr>
          <a:xfrm>
            <a:off x="4754880" y="766064"/>
            <a:ext cx="1760220" cy="457200"/>
          </a:xfrm>
          <a:prstGeom prst="roundRect">
            <a:avLst/>
          </a:prstGeom>
          <a:solidFill>
            <a:srgbClr val="FFC66D"/>
          </a:solidFill>
        </p:spPr>
        <p:txBody>
          <a:bodyPr wrap="square" lIns="91440" tIns="45720" rIns="91440" bIns="45720">
            <a:noAutofit/>
          </a:bodyPr>
          <a:lstStyle/>
          <a:p>
            <a:pPr algn="ctr"/>
            <a:r>
              <a:rPr lang="en-US" sz="1000" b="1">
                <a:solidFill>
                  <a:srgbClr val="0F1420"/>
                </a:solidFill>
                <a:latin typeface="Calibri"/>
              </a:rPr>
              <a:t>reads transactor address</a:t>
            </a:r>
          </a:p>
        </p:txBody>
      </p:sp>
      <p:sp>
        <p:nvSpPr>
          <p:cNvPr id="8" name="t"/>
          <p:cNvSpPr txBox="1"/>
          <p:nvPr/>
        </p:nvSpPr>
        <p:spPr>
          <a:xfrm>
            <a:off x="6606540" y="88036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9" name="t"/>
          <p:cNvSpPr txBox="1"/>
          <p:nvPr/>
        </p:nvSpPr>
        <p:spPr>
          <a:xfrm>
            <a:off x="6880860" y="766064"/>
            <a:ext cx="1760220" cy="457200"/>
          </a:xfrm>
          <a:prstGeom prst="roundRect">
            <a:avLst/>
          </a:prstGeom>
          <a:solidFill>
            <a:srgbClr val="FFC66D"/>
          </a:solidFill>
        </p:spPr>
        <p:txBody>
          <a:bodyPr wrap="square" lIns="91440" tIns="45720" rIns="91440" bIns="45720">
            <a:noAutofit/>
          </a:bodyPr>
          <a:lstStyle/>
          <a:p>
            <a:pPr algn="ctr"/>
            <a:r>
              <a:rPr lang="en-US" sz="1000" b="1">
                <a:solidFill>
                  <a:srgbClr val="0F1420"/>
                </a:solidFill>
                <a:latin typeface="Calibri"/>
              </a:rPr>
              <a:t>connects to transactor</a:t>
            </a:r>
          </a:p>
        </p:txBody>
      </p:sp>
      <p:sp>
        <p:nvSpPr>
          <p:cNvPr id="10" name="t"/>
          <p:cNvSpPr txBox="1"/>
          <p:nvPr/>
        </p:nvSpPr>
        <p:spPr>
          <a:xfrm>
            <a:off x="502920" y="1433576"/>
            <a:ext cx="8138160" cy="195072"/>
          </a:xfrm>
          <a:prstGeom prst="rect">
            <a:avLst/>
          </a:prstGeom>
        </p:spPr>
        <p:txBody>
          <a:bodyPr wrap="square" lIns="91440" tIns="45720" rIns="91440" bIns="45720">
            <a:noAutofit/>
          </a:bodyPr>
          <a:lstStyle/>
          <a:p>
            <a:r>
              <a:rPr lang="en-US" sz="1200">
                <a:solidFill>
                  <a:srgbClr val="E8EDF6"/>
                </a:solidFill>
                <a:latin typeface="Calibri"/>
              </a:rPr>
              <a:t>▸ The peer's only configuration is the storage URI</a:t>
            </a:r>
          </a:p>
        </p:txBody>
      </p:sp>
      <p:sp>
        <p:nvSpPr>
          <p:cNvPr id="11" name="t"/>
          <p:cNvSpPr txBox="1"/>
          <p:nvPr/>
        </p:nvSpPr>
        <p:spPr>
          <a:xfrm>
            <a:off x="502920" y="1628648"/>
            <a:ext cx="8138160" cy="195072"/>
          </a:xfrm>
          <a:prstGeom prst="rect">
            <a:avLst/>
          </a:prstGeom>
        </p:spPr>
        <p:txBody>
          <a:bodyPr wrap="square" lIns="91440" tIns="45720" rIns="91440" bIns="45720">
            <a:noAutofit/>
          </a:bodyPr>
          <a:lstStyle/>
          <a:p>
            <a:r>
              <a:rPr lang="en-US" sz="1200">
                <a:solidFill>
                  <a:srgbClr val="E8EDF6"/>
                </a:solidFill>
                <a:latin typeface="Calibri"/>
              </a:rPr>
              <a:t>▸ The active transactor writes its own host (and alt-host) into storage on every heartbeat</a:t>
            </a:r>
          </a:p>
        </p:txBody>
      </p:sp>
      <p:sp>
        <p:nvSpPr>
          <p:cNvPr id="12" name="t"/>
          <p:cNvSpPr txBox="1"/>
          <p:nvPr/>
        </p:nvSpPr>
        <p:spPr>
          <a:xfrm>
            <a:off x="502920" y="1823720"/>
            <a:ext cx="8138160" cy="390144"/>
          </a:xfrm>
          <a:prstGeom prst="rect">
            <a:avLst/>
          </a:prstGeom>
        </p:spPr>
        <p:txBody>
          <a:bodyPr wrap="square" lIns="91440" tIns="45720" rIns="91440" bIns="45720">
            <a:noAutofit/>
          </a:bodyPr>
          <a:lstStyle/>
          <a:p>
            <a:r>
              <a:rPr lang="en-US" sz="1200">
                <a:solidFill>
                  <a:srgbClr val="7BD88F"/>
                </a:solidFill>
                <a:latin typeface="Calibri"/>
              </a:rPr>
              <a:t>▸ The peer reads that record to find the transactor — which is also how failover works without any peer reconfiguration</a:t>
            </a:r>
          </a:p>
        </p:txBody>
      </p:sp>
      <p:sp>
        <p:nvSpPr>
          <p:cNvPr id="13" name="t"/>
          <p:cNvSpPr txBox="1"/>
          <p:nvPr/>
        </p:nvSpPr>
        <p:spPr>
          <a:xfrm>
            <a:off x="502920" y="2378456"/>
            <a:ext cx="45720" cy="449072"/>
          </a:xfrm>
          <a:prstGeom prst="rect">
            <a:avLst/>
          </a:prstGeom>
          <a:solidFill>
            <a:srgbClr val="F28FAD"/>
          </a:solidFill>
        </p:spPr>
        <p:txBody>
          <a:bodyPr wrap="square" lIns="91440" tIns="45720" rIns="91440" bIns="45720">
            <a:noAutofit/>
          </a:bodyPr>
          <a:lstStyle/>
        </p:txBody>
      </p:sp>
      <p:sp>
        <p:nvSpPr>
          <p:cNvPr id="14" name="t"/>
          <p:cNvSpPr txBox="1"/>
          <p:nvPr/>
        </p:nvSpPr>
        <p:spPr>
          <a:xfrm>
            <a:off x="594360" y="2378456"/>
            <a:ext cx="8046720" cy="449072"/>
          </a:xfrm>
          <a:prstGeom prst="rect">
            <a:avLst/>
          </a:prstGeom>
        </p:spPr>
        <p:txBody>
          <a:bodyPr wrap="square" lIns="91440" tIns="45720" rIns="91440" bIns="45720">
            <a:noAutofit/>
          </a:bodyPr>
          <a:lstStyle/>
          <a:p>
            <a:r>
              <a:rPr lang="en-US" sz="1100">
                <a:solidFill>
                  <a:srgbClr val="E8EDF6"/>
                </a:solidFill>
                <a:latin typeface="Calibri"/>
              </a:rPr>
              <a:t>⚠  The most common connection failure in the world is a transactor with the wrong host / alt-host. The peer is fine; it is dialling the address the transactor published. In containers, generate these at launch.</a:t>
            </a:r>
          </a:p>
        </p:txBody>
      </p:sp>
      <p:sp>
        <p:nvSpPr>
          <p:cNvPr id="15"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6"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Three products, one API family</a:t>
            </a:r>
          </a:p>
        </p:txBody>
      </p:sp>
      <p:sp>
        <p:nvSpPr>
          <p:cNvPr id="3" name="t"/>
          <p:cNvSpPr txBox="1"/>
          <p:nvPr/>
        </p:nvSpPr>
        <p:spPr>
          <a:xfrm>
            <a:off x="502920" y="766064"/>
            <a:ext cx="2621280" cy="1424635"/>
          </a:xfrm>
          <a:prstGeom prst="roundRect">
            <a:avLst/>
          </a:prstGeom>
          <a:solidFill>
            <a:srgbClr val="18202F"/>
          </a:solidFill>
        </p:spPr>
        <p:txBody>
          <a:bodyPr wrap="square" lIns="91440" tIns="45720" rIns="91440" bIns="45720">
            <a:noAutofit/>
          </a:bodyPr>
          <a:lstStyle/>
          <a:p>
            <a:r>
              <a:rPr lang="en-US" sz="1200" b="1">
                <a:solidFill>
                  <a:srgbClr val="7BD88F"/>
                </a:solidFill>
                <a:latin typeface="Calibri"/>
              </a:rPr>
              <a:t>Datomic Pro</a:t>
            </a:r>
          </a:p>
          <a:p>
            <a:endParaRPr lang="en-US" sz="500"/>
          </a:p>
          <a:p>
            <a:r>
              <a:rPr lang="en-US" sz="1000">
                <a:solidFill>
                  <a:srgbClr val="E8EDF6"/>
                </a:solidFill>
                <a:latin typeface="Calibri"/>
              </a:rPr>
              <a:t>Runs anywhere: your VMs, k8s, on-prem</a:t>
            </a:r>
          </a:p>
          <a:p>
            <a:r>
              <a:rPr lang="en-US" sz="1000">
                <a:solidFill>
                  <a:srgbClr val="E8EDF6"/>
                </a:solidFill>
                <a:latin typeface="Calibri"/>
              </a:rPr>
              <a:t>You run the transactor</a:t>
            </a:r>
          </a:p>
          <a:p>
            <a:r>
              <a:rPr lang="en-US" sz="1000">
                <a:solidFill>
                  <a:srgbClr val="E8EDF6"/>
                </a:solidFill>
                <a:latin typeface="Calibri"/>
              </a:rPr>
              <a:t>Pluggable storage</a:t>
            </a:r>
          </a:p>
          <a:p>
            <a:r>
              <a:rPr lang="en-US" sz="1000">
                <a:solidFill>
                  <a:srgbClr val="E8EDF6"/>
                </a:solidFill>
                <a:latin typeface="Calibri"/>
              </a:rPr>
              <a:t>Peer API and Client API</a:t>
            </a:r>
          </a:p>
          <a:p>
            <a:r>
              <a:rPr lang="en-US" sz="1000">
                <a:solidFill>
                  <a:srgbClr val="E8EDF6"/>
                </a:solidFill>
                <a:latin typeface="Calibri"/>
              </a:rPr>
              <a:t>Backup/restore tooling</a:t>
            </a:r>
          </a:p>
          <a:p>
            <a:r>
              <a:rPr lang="en-US" sz="1000">
                <a:solidFill>
                  <a:srgbClr val="E8EDF6"/>
                </a:solidFill>
                <a:latin typeface="Calibri"/>
              </a:rPr>
              <a:t>Apache 2.0, free since 2023</a:t>
            </a:r>
          </a:p>
        </p:txBody>
      </p:sp>
      <p:sp>
        <p:nvSpPr>
          <p:cNvPr id="4" name="t"/>
          <p:cNvSpPr txBox="1"/>
          <p:nvPr/>
        </p:nvSpPr>
        <p:spPr>
          <a:xfrm>
            <a:off x="3261360" y="766064"/>
            <a:ext cx="2621280" cy="1424635"/>
          </a:xfrm>
          <a:prstGeom prst="roundRect">
            <a:avLst/>
          </a:prstGeom>
          <a:solidFill>
            <a:srgbClr val="18202F"/>
          </a:solidFill>
        </p:spPr>
        <p:txBody>
          <a:bodyPr wrap="square" lIns="91440" tIns="45720" rIns="91440" bIns="45720">
            <a:noAutofit/>
          </a:bodyPr>
          <a:lstStyle/>
          <a:p>
            <a:r>
              <a:rPr lang="en-US" sz="1200" b="1">
                <a:solidFill>
                  <a:srgbClr val="6FE3D2"/>
                </a:solidFill>
                <a:latin typeface="Calibri"/>
              </a:rPr>
              <a:t>Datomic Cloud</a:t>
            </a:r>
          </a:p>
          <a:p>
            <a:endParaRPr lang="en-US" sz="500"/>
          </a:p>
          <a:p>
            <a:r>
              <a:rPr lang="en-US" sz="1000">
                <a:solidFill>
                  <a:srgbClr val="E8EDF6"/>
                </a:solidFill>
                <a:latin typeface="Calibri"/>
              </a:rPr>
              <a:t>AWS only, CloudFormation-managed</a:t>
            </a:r>
          </a:p>
          <a:p>
            <a:r>
              <a:rPr lang="en-US" sz="1000">
                <a:solidFill>
                  <a:srgbClr val="E8EDF6"/>
                </a:solidFill>
                <a:latin typeface="Calibri"/>
              </a:rPr>
              <a:t>No transactor process to run</a:t>
            </a:r>
          </a:p>
          <a:p>
            <a:r>
              <a:rPr lang="en-US" sz="1000">
                <a:solidFill>
                  <a:srgbClr val="E8EDF6"/>
                </a:solidFill>
                <a:latin typeface="Calibri"/>
              </a:rPr>
              <a:t>DynamoDB + S3 + EFS, fixed</a:t>
            </a:r>
          </a:p>
          <a:p>
            <a:r>
              <a:rPr lang="en-US" sz="1000">
                <a:solidFill>
                  <a:srgbClr val="E8EDF6"/>
                </a:solidFill>
                <a:latin typeface="Calibri"/>
              </a:rPr>
              <a:t>Client API only; code via ions</a:t>
            </a:r>
          </a:p>
          <a:p>
            <a:r>
              <a:rPr lang="en-US" sz="1000">
                <a:solidFill>
                  <a:srgbClr val="E8EDF6"/>
                </a:solidFill>
                <a:latin typeface="Calibri"/>
              </a:rPr>
              <a:t>No backup/restore tooling</a:t>
            </a:r>
          </a:p>
          <a:p>
            <a:r>
              <a:rPr lang="en-US" sz="1000">
                <a:solidFill>
                  <a:srgbClr val="E8EDF6"/>
                </a:solidFill>
                <a:latin typeface="Calibri"/>
              </a:rPr>
              <a:t>Free licence, you pay AWS</a:t>
            </a:r>
          </a:p>
        </p:txBody>
      </p:sp>
      <p:sp>
        <p:nvSpPr>
          <p:cNvPr id="5" name="t"/>
          <p:cNvSpPr txBox="1"/>
          <p:nvPr/>
        </p:nvSpPr>
        <p:spPr>
          <a:xfrm>
            <a:off x="6019800" y="766064"/>
            <a:ext cx="2621280" cy="1424635"/>
          </a:xfrm>
          <a:prstGeom prst="roundRect">
            <a:avLst/>
          </a:prstGeom>
          <a:solidFill>
            <a:srgbClr val="18202F"/>
          </a:solidFill>
        </p:spPr>
        <p:txBody>
          <a:bodyPr wrap="square" lIns="91440" tIns="45720" rIns="91440" bIns="45720">
            <a:noAutofit/>
          </a:bodyPr>
          <a:lstStyle/>
          <a:p>
            <a:r>
              <a:rPr lang="en-US" sz="1200" b="1">
                <a:solidFill>
                  <a:srgbClr val="C09BFF"/>
                </a:solidFill>
                <a:latin typeface="Calibri"/>
              </a:rPr>
              <a:t>Datomic Local</a:t>
            </a:r>
          </a:p>
          <a:p>
            <a:endParaRPr lang="en-US" sz="500"/>
          </a:p>
          <a:p>
            <a:r>
              <a:rPr lang="en-US" sz="1000">
                <a:solidFill>
                  <a:srgbClr val="E8EDF6"/>
                </a:solidFill>
                <a:latin typeface="Calibri"/>
              </a:rPr>
              <a:t>Embedded in your JVM process</a:t>
            </a:r>
          </a:p>
          <a:p>
            <a:r>
              <a:rPr lang="en-US" sz="1000">
                <a:solidFill>
                  <a:srgbClr val="E8EDF6"/>
                </a:solidFill>
                <a:latin typeface="Calibri"/>
              </a:rPr>
              <a:t>No transactor, no server</a:t>
            </a:r>
          </a:p>
          <a:p>
            <a:r>
              <a:rPr lang="en-US" sz="1000">
                <a:solidFill>
                  <a:srgbClr val="E8EDF6"/>
                </a:solidFill>
                <a:latin typeface="Calibri"/>
              </a:rPr>
              <a:t>A directory, or :mem</a:t>
            </a:r>
          </a:p>
          <a:p>
            <a:r>
              <a:rPr lang="en-US" sz="1000">
                <a:solidFill>
                  <a:srgbClr val="E8EDF6"/>
                </a:solidFill>
                <a:latin typeface="Calibri"/>
              </a:rPr>
              <a:t>Client API only</a:t>
            </a:r>
          </a:p>
          <a:p>
            <a:r>
              <a:rPr lang="en-US" sz="1000">
                <a:solidFill>
                  <a:srgbClr val="E8EDF6"/>
                </a:solidFill>
                <a:latin typeface="Calibri"/>
              </a:rPr>
              <a:t>Copy the directory = backup</a:t>
            </a:r>
          </a:p>
          <a:p>
            <a:r>
              <a:rPr lang="en-US" sz="1000">
                <a:solidFill>
                  <a:srgbClr val="E8EDF6"/>
                </a:solidFill>
                <a:latin typeface="Calibri"/>
              </a:rPr>
              <a:t>Dev, tests and CI only</a:t>
            </a:r>
          </a:p>
        </p:txBody>
      </p:sp>
      <p:sp>
        <p:nvSpPr>
          <p:cNvPr id="6" name="t"/>
          <p:cNvSpPr txBox="1"/>
          <p:nvPr/>
        </p:nvSpPr>
        <p:spPr>
          <a:xfrm>
            <a:off x="502920" y="2378151"/>
            <a:ext cx="8138160" cy="357632"/>
          </a:xfrm>
          <a:prstGeom prst="rect">
            <a:avLst/>
          </a:prstGeom>
        </p:spPr>
        <p:txBody>
          <a:bodyPr wrap="square" lIns="91440" tIns="45720" rIns="91440" bIns="45720">
            <a:noAutofit/>
          </a:bodyPr>
          <a:lstStyle/>
          <a:p>
            <a:r>
              <a:rPr lang="en-US" sz="1100">
                <a:solidFill>
                  <a:srgbClr val="8FA0B8"/>
                </a:solidFill>
                <a:latin typeface="Calibri"/>
              </a:rPr>
              <a:t>The Client API is the portable one: the same application code runs against Local in CI, Pro via a Peer Server, and Cloud in production.</a:t>
            </a:r>
          </a:p>
        </p:txBody>
      </p:sp>
      <p:sp>
        <p:nvSpPr>
          <p:cNvPr id="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Two framings worth remembering</a:t>
            </a:r>
          </a:p>
        </p:txBody>
      </p:sp>
      <p:sp>
        <p:nvSpPr>
          <p:cNvPr id="3" name="t"/>
          <p:cNvSpPr txBox="1"/>
          <p:nvPr/>
        </p:nvSpPr>
        <p:spPr>
          <a:xfrm>
            <a:off x="502920" y="766064"/>
            <a:ext cx="8138160" cy="243840"/>
          </a:xfrm>
          <a:prstGeom prst="rect">
            <a:avLst/>
          </a:prstGeom>
        </p:spPr>
        <p:txBody>
          <a:bodyPr wrap="square" lIns="91440" tIns="45720" rIns="91440" bIns="45720">
            <a:noAutofit/>
          </a:bodyPr>
          <a:lstStyle/>
          <a:p>
            <a:r>
              <a:rPr lang="en-US" sz="1500" b="1">
                <a:solidFill>
                  <a:srgbClr val="7BD88F"/>
                </a:solidFill>
                <a:latin typeface="Calibri"/>
              </a:rPr>
              <a:t>Pro moves the query engine to your code.</a:t>
            </a:r>
          </a:p>
        </p:txBody>
      </p:sp>
      <p:sp>
        <p:nvSpPr>
          <p:cNvPr id="4" name="t"/>
          <p:cNvSpPr txBox="1"/>
          <p:nvPr/>
        </p:nvSpPr>
        <p:spPr>
          <a:xfrm>
            <a:off x="502920" y="1128776"/>
            <a:ext cx="8138160" cy="243840"/>
          </a:xfrm>
          <a:prstGeom prst="rect">
            <a:avLst/>
          </a:prstGeom>
        </p:spPr>
        <p:txBody>
          <a:bodyPr wrap="square" lIns="91440" tIns="45720" rIns="91440" bIns="45720">
            <a:noAutofit/>
          </a:bodyPr>
          <a:lstStyle/>
          <a:p>
            <a:r>
              <a:rPr lang="en-US" sz="1500" b="1">
                <a:solidFill>
                  <a:srgbClr val="6FE3D2"/>
                </a:solidFill>
                <a:latin typeface="Calibri"/>
              </a:rPr>
              <a:t>Cloud moves your code to the query engine.</a:t>
            </a:r>
          </a:p>
        </p:txBody>
      </p:sp>
      <p:sp>
        <p:nvSpPr>
          <p:cNvPr id="5" name="t"/>
          <p:cNvSpPr txBox="1"/>
          <p:nvPr/>
        </p:nvSpPr>
        <p:spPr>
          <a:xfrm>
            <a:off x="502920" y="1582928"/>
            <a:ext cx="8138160" cy="373888"/>
          </a:xfrm>
          <a:prstGeom prst="rect">
            <a:avLst/>
          </a:prstGeom>
        </p:spPr>
        <p:txBody>
          <a:bodyPr wrap="square" lIns="91440" tIns="45720" rIns="91440" bIns="45720">
            <a:noAutofit/>
          </a:bodyPr>
          <a:lstStyle/>
          <a:p>
            <a:r>
              <a:rPr lang="en-US" sz="1150">
                <a:solidFill>
                  <a:srgbClr val="7BD88F"/>
                </a:solidFill>
                <a:latin typeface="Calibri"/>
              </a:rPr>
              <a:t>▸ A peer embeds the database in your application — no network hop for reads, at the cost of memory in every process</a:t>
            </a:r>
          </a:p>
        </p:txBody>
      </p:sp>
      <p:sp>
        <p:nvSpPr>
          <p:cNvPr id="6" name="t"/>
          <p:cNvSpPr txBox="1"/>
          <p:nvPr/>
        </p:nvSpPr>
        <p:spPr>
          <a:xfrm>
            <a:off x="502920" y="1956816"/>
            <a:ext cx="8138160" cy="373888"/>
          </a:xfrm>
          <a:prstGeom prst="rect">
            <a:avLst/>
          </a:prstGeom>
        </p:spPr>
        <p:txBody>
          <a:bodyPr wrap="square" lIns="91440" tIns="45720" rIns="91440" bIns="45720">
            <a:noAutofit/>
          </a:bodyPr>
          <a:lstStyle/>
          <a:p>
            <a:r>
              <a:rPr lang="en-US" sz="1150">
                <a:solidFill>
                  <a:srgbClr val="6FE3D2"/>
                </a:solidFill>
                <a:latin typeface="Calibri"/>
              </a:rPr>
              <a:t>▸ An ion embeds your application in the database nodes — no network hop for reads, at the cost of deploying through CodeDeploy</a:t>
            </a:r>
          </a:p>
        </p:txBody>
      </p:sp>
      <p:sp>
        <p:nvSpPr>
          <p:cNvPr id="7" name="t"/>
          <p:cNvSpPr txBox="1"/>
          <p:nvPr/>
        </p:nvSpPr>
        <p:spPr>
          <a:xfrm>
            <a:off x="502920" y="2330704"/>
            <a:ext cx="8138160" cy="186944"/>
          </a:xfrm>
          <a:prstGeom prst="rect">
            <a:avLst/>
          </a:prstGeom>
        </p:spPr>
        <p:txBody>
          <a:bodyPr wrap="square" lIns="91440" tIns="45720" rIns="91440" bIns="45720">
            <a:noAutofit/>
          </a:bodyPr>
          <a:lstStyle/>
          <a:p>
            <a:r>
              <a:rPr lang="en-US" sz="1150">
                <a:solidFill>
                  <a:srgbClr val="8FA0B8"/>
                </a:solidFill>
                <a:latin typeface="Calibri"/>
              </a:rPr>
              <a:t>▸ The bare Client API does neither, and pays a hop per query. That is the price of being thin and portable.</a:t>
            </a:r>
          </a:p>
        </p:txBody>
      </p:sp>
      <p:sp>
        <p:nvSpPr>
          <p:cNvPr id="8" name="t"/>
          <p:cNvSpPr txBox="1"/>
          <p:nvPr/>
        </p:nvSpPr>
        <p:spPr>
          <a:xfrm>
            <a:off x="502920" y="2682240"/>
            <a:ext cx="8138160" cy="203200"/>
          </a:xfrm>
          <a:prstGeom prst="rect">
            <a:avLst/>
          </a:prstGeom>
        </p:spPr>
        <p:txBody>
          <a:bodyPr wrap="square" lIns="91440" tIns="45720" rIns="91440" bIns="45720">
            <a:noAutofit/>
          </a:bodyPr>
          <a:lstStyle/>
          <a:p>
            <a:r>
              <a:rPr lang="en-US" sz="1250" b="1">
                <a:solidFill>
                  <a:srgbClr val="FFC66D"/>
                </a:solidFill>
                <a:latin typeface="Calibri"/>
              </a:rPr>
              <a:t>And in every configuration: writes never scale horizontally.</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Two APIs, side by side</a:t>
            </a:r>
          </a:p>
        </p:txBody>
      </p:sp>
      <p:sp>
        <p:nvSpPr>
          <p:cNvPr id="3" name="t"/>
          <p:cNvSpPr txBox="1"/>
          <p:nvPr/>
        </p:nvSpPr>
        <p:spPr>
          <a:xfrm>
            <a:off x="502920" y="766064"/>
            <a:ext cx="3954780" cy="178816"/>
          </a:xfrm>
          <a:prstGeom prst="rect">
            <a:avLst/>
          </a:prstGeom>
        </p:spPr>
        <p:txBody>
          <a:bodyPr wrap="square" lIns="91440" tIns="45720" rIns="91440" bIns="45720">
            <a:noAutofit/>
          </a:bodyPr>
          <a:lstStyle/>
          <a:p>
            <a:r>
              <a:rPr lang="en-US" sz="1100" b="1">
                <a:solidFill>
                  <a:srgbClr val="7BD88F"/>
                </a:solidFill>
                <a:latin typeface="Calibri"/>
              </a:rPr>
              <a:t>Peer API — com.datomic/peer</a:t>
            </a:r>
          </a:p>
        </p:txBody>
      </p:sp>
      <p:sp>
        <p:nvSpPr>
          <p:cNvPr id="4" name="t"/>
          <p:cNvSpPr txBox="1"/>
          <p:nvPr/>
        </p:nvSpPr>
        <p:spPr>
          <a:xfrm>
            <a:off x="502920" y="1063752"/>
            <a:ext cx="3954780" cy="2347976"/>
          </a:xfrm>
          <a:prstGeom prst="roundRect">
            <a:avLst/>
          </a:prstGeom>
          <a:solidFill>
            <a:srgbClr val="141B28"/>
          </a:solidFill>
        </p:spPr>
        <p:txBody>
          <a:bodyPr wrap="square" lIns="91440" tIns="45720" rIns="91440" bIns="45720">
            <a:noAutofit/>
          </a:bodyPr>
          <a:lstStyle/>
          <a:p>
            <a:r>
              <a:rPr lang="en-US" sz="850">
                <a:solidFill>
                  <a:srgbClr val="7BD88F"/>
                </a:solidFill>
                <a:latin typeface="Courier New"/>
              </a:rPr>
              <a:t>(require '[datomic.api :as d])</a:t>
            </a:r>
          </a:p>
          <a:p>
            <a:endParaRPr lang="en-US" sz="850"/>
          </a:p>
          <a:p>
            <a:r>
              <a:rPr lang="en-US" sz="850">
                <a:solidFill>
                  <a:srgbClr val="7BD88F"/>
                </a:solidFill>
                <a:latin typeface="Courier New"/>
              </a:rPr>
              <a:t>(d/create-database uri)</a:t>
            </a:r>
          </a:p>
          <a:p>
            <a:r>
              <a:rPr lang="en-US" sz="850">
                <a:solidFill>
                  <a:srgbClr val="7BD88F"/>
                </a:solidFill>
                <a:latin typeface="Courier New"/>
              </a:rPr>
              <a:t>(def conn (d/connect uri))</a:t>
            </a:r>
          </a:p>
          <a:p>
            <a:endParaRPr lang="en-US" sz="850"/>
          </a:p>
          <a:p>
            <a:r>
              <a:rPr lang="en-US" sz="850">
                <a:solidFill>
                  <a:srgbClr val="7BD88F"/>
                </a:solidFill>
                <a:latin typeface="Courier New"/>
              </a:rPr>
              <a:t>(def db (d/db conn))</a:t>
            </a:r>
          </a:p>
          <a:p>
            <a:endParaRPr lang="en-US" sz="850"/>
          </a:p>
          <a:p>
            <a:r>
              <a:rPr lang="en-US" sz="850">
                <a:solidFill>
                  <a:srgbClr val="7BD88F"/>
                </a:solidFill>
                <a:latin typeface="Courier New"/>
              </a:rPr>
              <a:t>(d/q '[:find ?sku</a:t>
            </a:r>
          </a:p>
          <a:p>
            <a:r>
              <a:rPr lang="en-US" sz="850">
                <a:solidFill>
                  <a:srgbClr val="7BD88F"/>
                </a:solidFill>
                <a:latin typeface="Courier New"/>
              </a:rPr>
              <a:t>       :where [_ :inventory/sku ?sku]]</a:t>
            </a:r>
          </a:p>
          <a:p>
            <a:r>
              <a:rPr lang="en-US" sz="850">
                <a:solidFill>
                  <a:srgbClr val="7BD88F"/>
                </a:solidFill>
                <a:latin typeface="Courier New"/>
              </a:rPr>
              <a:t>     db)</a:t>
            </a:r>
          </a:p>
          <a:p>
            <a:endParaRPr lang="en-US" sz="850"/>
          </a:p>
          <a:p>
            <a:r>
              <a:rPr lang="en-US" sz="850">
                <a:solidFill>
                  <a:srgbClr val="7BD88F"/>
                </a:solidFill>
                <a:latin typeface="Courier New"/>
              </a:rPr>
              <a:t>@(d/transact conn tx-data)</a:t>
            </a:r>
          </a:p>
          <a:p>
            <a:endParaRPr lang="en-US" sz="850"/>
          </a:p>
          <a:p>
            <a:r>
              <a:rPr lang="en-US" sz="850">
                <a:solidFill>
                  <a:srgbClr val="7BD88F"/>
                </a:solidFill>
                <a:latin typeface="Courier New"/>
              </a:rPr>
              <a:t>(d/pull db pattern eid)</a:t>
            </a:r>
          </a:p>
          <a:p>
            <a:endParaRPr lang="en-US" sz="850"/>
          </a:p>
          <a:p>
            <a:r>
              <a:rPr lang="en-US" sz="850">
                <a:solidFill>
                  <a:srgbClr val="7BD88F"/>
                </a:solidFill>
                <a:latin typeface="Courier New"/>
              </a:rPr>
              <a:t>(:inventory/sku (d/entity db eid))</a:t>
            </a:r>
          </a:p>
        </p:txBody>
      </p:sp>
      <p:sp>
        <p:nvSpPr>
          <p:cNvPr id="5" name="t"/>
          <p:cNvSpPr txBox="1"/>
          <p:nvPr/>
        </p:nvSpPr>
        <p:spPr>
          <a:xfrm>
            <a:off x="4686300" y="766064"/>
            <a:ext cx="3954780" cy="178816"/>
          </a:xfrm>
          <a:prstGeom prst="rect">
            <a:avLst/>
          </a:prstGeom>
        </p:spPr>
        <p:txBody>
          <a:bodyPr wrap="square" lIns="91440" tIns="45720" rIns="91440" bIns="45720">
            <a:noAutofit/>
          </a:bodyPr>
          <a:lstStyle/>
          <a:p>
            <a:r>
              <a:rPr lang="en-US" sz="1100" b="1">
                <a:solidFill>
                  <a:srgbClr val="6FE3D2"/>
                </a:solidFill>
                <a:latin typeface="Calibri"/>
              </a:rPr>
              <a:t>Client API — com.datomic/client-pro</a:t>
            </a:r>
          </a:p>
        </p:txBody>
      </p:sp>
      <p:sp>
        <p:nvSpPr>
          <p:cNvPr id="6" name="t"/>
          <p:cNvSpPr txBox="1"/>
          <p:nvPr/>
        </p:nvSpPr>
        <p:spPr>
          <a:xfrm>
            <a:off x="4686300" y="1063752"/>
            <a:ext cx="3954780" cy="2347976"/>
          </a:xfrm>
          <a:prstGeom prst="roundRect">
            <a:avLst/>
          </a:prstGeom>
          <a:solidFill>
            <a:srgbClr val="141B28"/>
          </a:solidFill>
        </p:spPr>
        <p:txBody>
          <a:bodyPr wrap="square" lIns="91440" tIns="45720" rIns="91440" bIns="45720">
            <a:noAutofit/>
          </a:bodyPr>
          <a:lstStyle/>
          <a:p>
            <a:r>
              <a:rPr lang="en-US" sz="850">
                <a:solidFill>
                  <a:srgbClr val="6FE3D2"/>
                </a:solidFill>
                <a:latin typeface="Courier New"/>
              </a:rPr>
              <a:t>(require '[datomic.client.api :as d])</a:t>
            </a:r>
          </a:p>
          <a:p>
            <a:endParaRPr lang="en-US" sz="850"/>
          </a:p>
          <a:p>
            <a:r>
              <a:rPr lang="en-US" sz="850">
                <a:solidFill>
                  <a:srgbClr val="6FE3D2"/>
                </a:solidFill>
                <a:latin typeface="Courier New"/>
              </a:rPr>
              <a:t>(def client (d/client cfg))</a:t>
            </a:r>
          </a:p>
          <a:p>
            <a:r>
              <a:rPr lang="en-US" sz="850">
                <a:solidFill>
                  <a:srgbClr val="6FE3D2"/>
                </a:solidFill>
                <a:latin typeface="Courier New"/>
              </a:rPr>
              <a:t>(def conn (d/connect client</a:t>
            </a:r>
          </a:p>
          <a:p>
            <a:r>
              <a:rPr lang="en-US" sz="850">
                <a:solidFill>
                  <a:srgbClr val="6FE3D2"/>
                </a:solidFill>
                <a:latin typeface="Courier New"/>
              </a:rPr>
              <a:t>                     {:db-name "inventory"}))</a:t>
            </a:r>
          </a:p>
          <a:p>
            <a:r>
              <a:rPr lang="en-US" sz="850">
                <a:solidFill>
                  <a:srgbClr val="6FE3D2"/>
                </a:solidFill>
                <a:latin typeface="Courier New"/>
              </a:rPr>
              <a:t>(def db (d/db conn))</a:t>
            </a:r>
          </a:p>
          <a:p>
            <a:endParaRPr lang="en-US" sz="850"/>
          </a:p>
          <a:p>
            <a:r>
              <a:rPr lang="en-US" sz="850">
                <a:solidFill>
                  <a:srgbClr val="6FE3D2"/>
                </a:solidFill>
                <a:latin typeface="Courier New"/>
              </a:rPr>
              <a:t>(d/q {:query '[:find ?sku</a:t>
            </a:r>
          </a:p>
          <a:p>
            <a:r>
              <a:rPr lang="en-US" sz="850">
                <a:solidFill>
                  <a:srgbClr val="6FE3D2"/>
                </a:solidFill>
                <a:latin typeface="Courier New"/>
              </a:rPr>
              <a:t>               :where [_ :inventory/sku ?sku]]</a:t>
            </a:r>
          </a:p>
          <a:p>
            <a:r>
              <a:rPr lang="en-US" sz="850">
                <a:solidFill>
                  <a:srgbClr val="6FE3D2"/>
                </a:solidFill>
                <a:latin typeface="Courier New"/>
              </a:rPr>
              <a:t>      :args [db]})</a:t>
            </a:r>
          </a:p>
          <a:p>
            <a:endParaRPr lang="en-US" sz="850"/>
          </a:p>
          <a:p>
            <a:r>
              <a:rPr lang="en-US" sz="850">
                <a:solidFill>
                  <a:srgbClr val="6FE3D2"/>
                </a:solidFill>
                <a:latin typeface="Courier New"/>
              </a:rPr>
              <a:t>(d/transact conn {:tx-data tx-data})</a:t>
            </a:r>
          </a:p>
          <a:p>
            <a:endParaRPr lang="en-US" sz="850"/>
          </a:p>
          <a:p>
            <a:r>
              <a:rPr lang="en-US" sz="850">
                <a:solidFill>
                  <a:srgbClr val="6FE3D2"/>
                </a:solidFill>
                <a:latin typeface="Courier New"/>
              </a:rPr>
              <a:t>(d/pull db pattern eid)   ;; same!</a:t>
            </a:r>
          </a:p>
          <a:p>
            <a:endParaRPr lang="en-US" sz="850"/>
          </a:p>
          <a:p>
            <a:r>
              <a:rPr lang="en-US" sz="850">
                <a:solidFill>
                  <a:srgbClr val="6FE3D2"/>
                </a:solidFill>
                <a:latin typeface="Courier New"/>
              </a:rPr>
              <a:t>;; no entity API, at all</a:t>
            </a:r>
          </a:p>
        </p:txBody>
      </p:sp>
      <p:sp>
        <p:nvSpPr>
          <p:cNvPr id="7" name="t"/>
          <p:cNvSpPr txBox="1"/>
          <p:nvPr/>
        </p:nvSpPr>
        <p:spPr>
          <a:xfrm>
            <a:off x="502920" y="3576320"/>
            <a:ext cx="8138160" cy="170688"/>
          </a:xfrm>
          <a:prstGeom prst="rect">
            <a:avLst/>
          </a:prstGeom>
        </p:spPr>
        <p:txBody>
          <a:bodyPr wrap="square" lIns="91440" tIns="45720" rIns="91440" bIns="45720">
            <a:noAutofit/>
          </a:bodyPr>
          <a:lstStyle/>
          <a:p>
            <a:r>
              <a:rPr lang="en-US" sz="1050">
                <a:solidFill>
                  <a:srgbClr val="E8EDF6"/>
                </a:solidFill>
                <a:latin typeface="Calibri"/>
              </a:rPr>
              <a:t>▸ Where the shapes really differ: connect, transact and datoms take an arg map in the Client API and nothing else</a:t>
            </a:r>
          </a:p>
        </p:txBody>
      </p:sp>
      <p:sp>
        <p:nvSpPr>
          <p:cNvPr id="8" name="t"/>
          <p:cNvSpPr txBox="1"/>
          <p:nvPr/>
        </p:nvSpPr>
        <p:spPr>
          <a:xfrm>
            <a:off x="502920" y="3747008"/>
            <a:ext cx="8138160" cy="341376"/>
          </a:xfrm>
          <a:prstGeom prst="rect">
            <a:avLst/>
          </a:prstGeom>
        </p:spPr>
        <p:txBody>
          <a:bodyPr wrap="square" lIns="91440" tIns="45720" rIns="91440" bIns="45720">
            <a:noAutofit/>
          </a:bodyPr>
          <a:lstStyle/>
          <a:p>
            <a:r>
              <a:rPr lang="en-US" sz="1050">
                <a:solidFill>
                  <a:srgbClr val="7BD88F"/>
                </a:solidFill>
                <a:latin typeface="Calibri"/>
              </a:rPr>
              <a:t>▸ q and pull have BOTH shapes — (d/pull db pattern eid) is valid in either API. The arg map is how you add :timeout and :io-context.</a:t>
            </a:r>
          </a:p>
        </p:txBody>
      </p:sp>
      <p:sp>
        <p:nvSpPr>
          <p:cNvPr id="9" name="t"/>
          <p:cNvSpPr txBox="1"/>
          <p:nvPr/>
        </p:nvSpPr>
        <p:spPr>
          <a:xfrm>
            <a:off x="502920" y="4088384"/>
            <a:ext cx="8138160" cy="170688"/>
          </a:xfrm>
          <a:prstGeom prst="rect">
            <a:avLst/>
          </a:prstGeom>
        </p:spPr>
        <p:txBody>
          <a:bodyPr wrap="square" lIns="91440" tIns="45720" rIns="91440" bIns="45720">
            <a:noAutofit/>
          </a:bodyPr>
          <a:lstStyle/>
          <a:p>
            <a:r>
              <a:rPr lang="en-US" sz="1050">
                <a:solidFill>
                  <a:srgbClr val="FFC66D"/>
                </a:solidFill>
                <a:latin typeface="Calibri"/>
              </a:rPr>
              <a:t>▸ The peer connects to a URI. The client connects to a CLIENT — and the client config is where the product lives.</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One client, three products</a:t>
            </a:r>
          </a:p>
        </p:txBody>
      </p:sp>
      <p:sp>
        <p:nvSpPr>
          <p:cNvPr id="3" name="t"/>
          <p:cNvSpPr txBox="1"/>
          <p:nvPr/>
        </p:nvSpPr>
        <p:spPr>
          <a:xfrm>
            <a:off x="502920" y="766064"/>
            <a:ext cx="8138160" cy="1835912"/>
          </a:xfrm>
          <a:prstGeom prst="roundRect">
            <a:avLst/>
          </a:prstGeom>
          <a:solidFill>
            <a:srgbClr val="141B28"/>
          </a:solidFill>
        </p:spPr>
        <p:txBody>
          <a:bodyPr wrap="square" lIns="91440" tIns="45720" rIns="91440" bIns="45720">
            <a:noAutofit/>
          </a:bodyPr>
          <a:lstStyle/>
          <a:p>
            <a:r>
              <a:rPr lang="en-US" sz="950">
                <a:solidFill>
                  <a:srgbClr val="6FE3D2"/>
                </a:solidFill>
                <a:latin typeface="Courier New"/>
              </a:rPr>
              <a:t>;; Datomic Local — no server at all, a directory on disk</a:t>
            </a:r>
          </a:p>
          <a:p>
            <a:r>
              <a:rPr lang="en-US" sz="950">
                <a:solidFill>
                  <a:srgbClr val="6FE3D2"/>
                </a:solidFill>
                <a:latin typeface="Courier New"/>
              </a:rPr>
              <a:t>{:server-type :datomic-local :system "dev" :storage-dir "/tmp/dl"}</a:t>
            </a:r>
          </a:p>
          <a:p>
            <a:endParaRPr lang="en-US" sz="950"/>
          </a:p>
          <a:p>
            <a:r>
              <a:rPr lang="en-US" sz="950">
                <a:solidFill>
                  <a:srgbClr val="6FE3D2"/>
                </a:solidFill>
                <a:latin typeface="Courier New"/>
              </a:rPr>
              <a:t>;; Datomic Pro — through a Peer Server you run</a:t>
            </a:r>
          </a:p>
          <a:p>
            <a:r>
              <a:rPr lang="en-US" sz="950">
                <a:solidFill>
                  <a:srgbClr val="6FE3D2"/>
                </a:solidFill>
                <a:latin typeface="Courier New"/>
              </a:rPr>
              <a:t>{:server-type :peer-server :endpoint "localhost:8998"</a:t>
            </a:r>
          </a:p>
          <a:p>
            <a:r>
              <a:rPr lang="en-US" sz="950">
                <a:solidFill>
                  <a:srgbClr val="6FE3D2"/>
                </a:solidFill>
                <a:latin typeface="Courier New"/>
              </a:rPr>
              <a:t> :access-key "myaccesskey" :secret "mysecret"</a:t>
            </a:r>
          </a:p>
          <a:p>
            <a:r>
              <a:rPr lang="en-US" sz="950">
                <a:solidFill>
                  <a:srgbClr val="6FE3D2"/>
                </a:solidFill>
                <a:latin typeface="Courier New"/>
              </a:rPr>
              <a:t> :validate-hostnames false}</a:t>
            </a:r>
          </a:p>
          <a:p>
            <a:endParaRPr lang="en-US" sz="950"/>
          </a:p>
          <a:p>
            <a:r>
              <a:rPr lang="en-US" sz="950">
                <a:solidFill>
                  <a:srgbClr val="6FE3D2"/>
                </a:solidFill>
                <a:latin typeface="Courier New"/>
              </a:rPr>
              <a:t>;; Datomic Cloud</a:t>
            </a:r>
          </a:p>
          <a:p>
            <a:r>
              <a:rPr lang="en-US" sz="950">
                <a:solidFill>
                  <a:srgbClr val="6FE3D2"/>
                </a:solidFill>
                <a:latin typeface="Courier New"/>
              </a:rPr>
              <a:t>{:server-type :cloud :region "us-east-1"</a:t>
            </a:r>
          </a:p>
          <a:p>
            <a:r>
              <a:rPr lang="en-US" sz="950">
                <a:solidFill>
                  <a:srgbClr val="6FE3D2"/>
                </a:solidFill>
                <a:latin typeface="Courier New"/>
              </a:rPr>
              <a:t> :system "my-system" :endpoint "https://..."}</a:t>
            </a:r>
          </a:p>
        </p:txBody>
      </p:sp>
      <p:sp>
        <p:nvSpPr>
          <p:cNvPr id="4" name="t"/>
          <p:cNvSpPr txBox="1"/>
          <p:nvPr/>
        </p:nvSpPr>
        <p:spPr>
          <a:xfrm>
            <a:off x="502920" y="2766568"/>
            <a:ext cx="8138160" cy="178816"/>
          </a:xfrm>
          <a:prstGeom prst="rect">
            <a:avLst/>
          </a:prstGeom>
        </p:spPr>
        <p:txBody>
          <a:bodyPr wrap="square" lIns="91440" tIns="45720" rIns="91440" bIns="45720">
            <a:noAutofit/>
          </a:bodyPr>
          <a:lstStyle/>
          <a:p>
            <a:r>
              <a:rPr lang="en-US" sz="1100">
                <a:solidFill>
                  <a:srgbClr val="7BD88F"/>
                </a:solidFill>
                <a:latin typeface="Calibri"/>
              </a:rPr>
              <a:t>▸ Everything below d/client is identical. This map is the entire porting effort between Local, Pro and Cloud.</a:t>
            </a:r>
          </a:p>
        </p:txBody>
      </p:sp>
      <p:sp>
        <p:nvSpPr>
          <p:cNvPr id="5" name="t"/>
          <p:cNvSpPr txBox="1"/>
          <p:nvPr/>
        </p:nvSpPr>
        <p:spPr>
          <a:xfrm>
            <a:off x="502920" y="2945384"/>
            <a:ext cx="8138160" cy="178816"/>
          </a:xfrm>
          <a:prstGeom prst="rect">
            <a:avLst/>
          </a:prstGeom>
        </p:spPr>
        <p:txBody>
          <a:bodyPr wrap="square" lIns="91440" tIns="45720" rIns="91440" bIns="45720">
            <a:noAutofit/>
          </a:bodyPr>
          <a:lstStyle/>
          <a:p>
            <a:r>
              <a:rPr lang="en-US" sz="1100">
                <a:solidFill>
                  <a:srgbClr val="E8EDF6"/>
                </a:solidFill>
                <a:latin typeface="Calibri"/>
              </a:rPr>
              <a:t>▸ Which is why CI on Datomic Local and production on Pro is a real strategy, not a compromise</a:t>
            </a:r>
          </a:p>
        </p:txBody>
      </p:sp>
      <p:sp>
        <p:nvSpPr>
          <p:cNvPr id="6" name="t"/>
          <p:cNvSpPr txBox="1"/>
          <p:nvPr/>
        </p:nvSpPr>
        <p:spPr>
          <a:xfrm>
            <a:off x="502920" y="3124200"/>
            <a:ext cx="8138160" cy="357632"/>
          </a:xfrm>
          <a:prstGeom prst="rect">
            <a:avLst/>
          </a:prstGeom>
        </p:spPr>
        <p:txBody>
          <a:bodyPr wrap="square" lIns="91440" tIns="45720" rIns="91440" bIns="45720">
            <a:noAutofit/>
          </a:bodyPr>
          <a:lstStyle/>
          <a:p>
            <a:r>
              <a:rPr lang="en-US" sz="1100">
                <a:solidFill>
                  <a:srgbClr val="FFC66D"/>
                </a:solidFill>
                <a:latin typeface="Calibri"/>
              </a:rPr>
              <a:t>▸ One artifact per target though: client-pro speaks to a Peer Server; Cloud and Local each need their own impl on the classpath</a:t>
            </a:r>
          </a:p>
        </p:txBody>
      </p:sp>
      <p:sp>
        <p:nvSpPr>
          <p:cNvPr id="7" name="t"/>
          <p:cNvSpPr txBox="1"/>
          <p:nvPr/>
        </p:nvSpPr>
        <p:spPr>
          <a:xfrm>
            <a:off x="502920" y="3481832"/>
            <a:ext cx="8138160" cy="357632"/>
          </a:xfrm>
          <a:prstGeom prst="rect">
            <a:avLst/>
          </a:prstGeom>
        </p:spPr>
        <p:txBody>
          <a:bodyPr wrap="square" lIns="91440" tIns="45720" rIns="91440" bIns="45720">
            <a:noAutofit/>
          </a:bodyPr>
          <a:lstStyle/>
          <a:p>
            <a:r>
              <a:rPr lang="en-US" sz="1100">
                <a:solidFill>
                  <a:srgbClr val="F28FAD"/>
                </a:solidFill>
                <a:latin typeface="Calibri"/>
              </a:rPr>
              <a:t>▸ The peer-server connection does not do SSL hostname validation — run clients and Peer Servers inside a trusted network</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What only the Peer API can do</a:t>
            </a:r>
          </a:p>
        </p:txBody>
      </p:sp>
      <p:sp>
        <p:nvSpPr>
          <p:cNvPr id="3" name="t"/>
          <p:cNvSpPr txBox="1"/>
          <p:nvPr/>
        </p:nvSpPr>
        <p:spPr>
          <a:xfrm>
            <a:off x="502920" y="766064"/>
            <a:ext cx="3743553" cy="227888"/>
          </a:xfrm>
          <a:prstGeom prst="rect">
            <a:avLst/>
          </a:prstGeom>
        </p:spPr>
        <p:txBody>
          <a:bodyPr wrap="square" lIns="91440" tIns="45720" rIns="91440" bIns="45720">
            <a:noAutofit/>
          </a:bodyPr>
          <a:lstStyle/>
          <a:p>
            <a:r>
              <a:rPr lang="en-US" sz="980" b="1">
                <a:solidFill>
                  <a:srgbClr val="7BD88F"/>
                </a:solidFill>
                <a:latin typeface="Calibri"/>
              </a:rPr>
              <a:t>Capability</a:t>
            </a:r>
          </a:p>
        </p:txBody>
      </p:sp>
      <p:sp>
        <p:nvSpPr>
          <p:cNvPr id="4" name="t"/>
          <p:cNvSpPr txBox="1"/>
          <p:nvPr/>
        </p:nvSpPr>
        <p:spPr>
          <a:xfrm>
            <a:off x="4246473" y="766064"/>
            <a:ext cx="2197303" cy="227888"/>
          </a:xfrm>
          <a:prstGeom prst="rect">
            <a:avLst/>
          </a:prstGeom>
        </p:spPr>
        <p:txBody>
          <a:bodyPr wrap="square" lIns="91440" tIns="45720" rIns="91440" bIns="45720">
            <a:noAutofit/>
          </a:bodyPr>
          <a:lstStyle/>
          <a:p>
            <a:r>
              <a:rPr lang="en-US" sz="980" b="1">
                <a:solidFill>
                  <a:srgbClr val="7BD88F"/>
                </a:solidFill>
                <a:latin typeface="Calibri"/>
              </a:rPr>
              <a:t>Peer API</a:t>
            </a:r>
          </a:p>
        </p:txBody>
      </p:sp>
      <p:sp>
        <p:nvSpPr>
          <p:cNvPr id="5" name="t"/>
          <p:cNvSpPr txBox="1"/>
          <p:nvPr/>
        </p:nvSpPr>
        <p:spPr>
          <a:xfrm>
            <a:off x="6443776" y="766064"/>
            <a:ext cx="2197303" cy="227888"/>
          </a:xfrm>
          <a:prstGeom prst="rect">
            <a:avLst/>
          </a:prstGeom>
        </p:spPr>
        <p:txBody>
          <a:bodyPr wrap="square" lIns="91440" tIns="45720" rIns="91440" bIns="45720">
            <a:noAutofit/>
          </a:bodyPr>
          <a:lstStyle/>
          <a:p>
            <a:r>
              <a:rPr lang="en-US" sz="980" b="1">
                <a:solidFill>
                  <a:srgbClr val="7BD88F"/>
                </a:solidFill>
                <a:latin typeface="Calibri"/>
              </a:rPr>
              <a:t>Client API</a:t>
            </a:r>
          </a:p>
        </p:txBody>
      </p:sp>
      <p:sp>
        <p:nvSpPr>
          <p:cNvPr id="6" name="t"/>
          <p:cNvSpPr txBox="1"/>
          <p:nvPr/>
        </p:nvSpPr>
        <p:spPr>
          <a:xfrm>
            <a:off x="457200" y="993952"/>
            <a:ext cx="8229600" cy="227888"/>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993952"/>
            <a:ext cx="3743553" cy="227888"/>
          </a:xfrm>
          <a:prstGeom prst="rect">
            <a:avLst/>
          </a:prstGeom>
        </p:spPr>
        <p:txBody>
          <a:bodyPr wrap="square" lIns="91440" tIns="45720" rIns="91440" bIns="45720">
            <a:noAutofit/>
          </a:bodyPr>
          <a:lstStyle/>
          <a:p>
            <a:r>
              <a:rPr lang="en-US" sz="980" b="1">
                <a:solidFill>
                  <a:srgbClr val="E8EDF6"/>
                </a:solidFill>
                <a:latin typeface="Calibri"/>
              </a:rPr>
              <a:t>Entity API — d/entity, d/touch, lazy navigation</a:t>
            </a:r>
          </a:p>
        </p:txBody>
      </p:sp>
      <p:sp>
        <p:nvSpPr>
          <p:cNvPr id="8" name="t"/>
          <p:cNvSpPr txBox="1"/>
          <p:nvPr/>
        </p:nvSpPr>
        <p:spPr>
          <a:xfrm>
            <a:off x="4246473" y="993952"/>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9" name="t"/>
          <p:cNvSpPr txBox="1"/>
          <p:nvPr/>
        </p:nvSpPr>
        <p:spPr>
          <a:xfrm>
            <a:off x="6443776" y="993952"/>
            <a:ext cx="2197303" cy="227888"/>
          </a:xfrm>
          <a:prstGeom prst="rect">
            <a:avLst/>
          </a:prstGeom>
        </p:spPr>
        <p:txBody>
          <a:bodyPr wrap="square" lIns="91440" tIns="45720" rIns="91440" bIns="45720">
            <a:noAutofit/>
          </a:bodyPr>
          <a:lstStyle/>
          <a:p>
            <a:r>
              <a:rPr lang="en-US" sz="980">
                <a:solidFill>
                  <a:srgbClr val="8FA0B8"/>
                </a:solidFill>
                <a:latin typeface="Calibri"/>
              </a:rPr>
              <a:t>no</a:t>
            </a:r>
          </a:p>
        </p:txBody>
      </p:sp>
      <p:sp>
        <p:nvSpPr>
          <p:cNvPr id="10" name="t"/>
          <p:cNvSpPr txBox="1"/>
          <p:nvPr/>
        </p:nvSpPr>
        <p:spPr>
          <a:xfrm>
            <a:off x="502920" y="1221840"/>
            <a:ext cx="3743553" cy="227888"/>
          </a:xfrm>
          <a:prstGeom prst="rect">
            <a:avLst/>
          </a:prstGeom>
        </p:spPr>
        <p:txBody>
          <a:bodyPr wrap="square" lIns="91440" tIns="45720" rIns="91440" bIns="45720">
            <a:noAutofit/>
          </a:bodyPr>
          <a:lstStyle/>
          <a:p>
            <a:r>
              <a:rPr lang="en-US" sz="980" b="1">
                <a:solidFill>
                  <a:srgbClr val="E8EDF6"/>
                </a:solidFill>
                <a:latin typeface="Calibri"/>
              </a:rPr>
              <a:t>Filtered databases — d/filter, predicate filters</a:t>
            </a:r>
          </a:p>
        </p:txBody>
      </p:sp>
      <p:sp>
        <p:nvSpPr>
          <p:cNvPr id="11" name="t"/>
          <p:cNvSpPr txBox="1"/>
          <p:nvPr/>
        </p:nvSpPr>
        <p:spPr>
          <a:xfrm>
            <a:off x="4246473" y="1221840"/>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12" name="t"/>
          <p:cNvSpPr txBox="1"/>
          <p:nvPr/>
        </p:nvSpPr>
        <p:spPr>
          <a:xfrm>
            <a:off x="6443776" y="1221840"/>
            <a:ext cx="2197303" cy="227888"/>
          </a:xfrm>
          <a:prstGeom prst="rect">
            <a:avLst/>
          </a:prstGeom>
        </p:spPr>
        <p:txBody>
          <a:bodyPr wrap="square" lIns="91440" tIns="45720" rIns="91440" bIns="45720">
            <a:noAutofit/>
          </a:bodyPr>
          <a:lstStyle/>
          <a:p>
            <a:r>
              <a:rPr lang="en-US" sz="980">
                <a:solidFill>
                  <a:srgbClr val="8FA0B8"/>
                </a:solidFill>
                <a:latin typeface="Calibri"/>
              </a:rPr>
              <a:t>no</a:t>
            </a:r>
          </a:p>
        </p:txBody>
      </p:sp>
      <p:sp>
        <p:nvSpPr>
          <p:cNvPr id="13" name="t"/>
          <p:cNvSpPr txBox="1"/>
          <p:nvPr/>
        </p:nvSpPr>
        <p:spPr>
          <a:xfrm>
            <a:off x="457200" y="1449728"/>
            <a:ext cx="8229600" cy="227888"/>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449728"/>
            <a:ext cx="3743553" cy="227888"/>
          </a:xfrm>
          <a:prstGeom prst="rect">
            <a:avLst/>
          </a:prstGeom>
        </p:spPr>
        <p:txBody>
          <a:bodyPr wrap="square" lIns="91440" tIns="45720" rIns="91440" bIns="45720">
            <a:noAutofit/>
          </a:bodyPr>
          <a:lstStyle/>
          <a:p>
            <a:r>
              <a:rPr lang="en-US" sz="980" b="1">
                <a:solidFill>
                  <a:srgbClr val="E8EDF6"/>
                </a:solidFill>
                <a:latin typeface="Calibri"/>
              </a:rPr>
              <a:t>The transaction report queue — d/tx-report-queue</a:t>
            </a:r>
          </a:p>
        </p:txBody>
      </p:sp>
      <p:sp>
        <p:nvSpPr>
          <p:cNvPr id="15" name="t"/>
          <p:cNvSpPr txBox="1"/>
          <p:nvPr/>
        </p:nvSpPr>
        <p:spPr>
          <a:xfrm>
            <a:off x="4246473" y="1449728"/>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16" name="t"/>
          <p:cNvSpPr txBox="1"/>
          <p:nvPr/>
        </p:nvSpPr>
        <p:spPr>
          <a:xfrm>
            <a:off x="6443776" y="1449728"/>
            <a:ext cx="2197303" cy="227888"/>
          </a:xfrm>
          <a:prstGeom prst="rect">
            <a:avLst/>
          </a:prstGeom>
        </p:spPr>
        <p:txBody>
          <a:bodyPr wrap="square" lIns="91440" tIns="45720" rIns="91440" bIns="45720">
            <a:noAutofit/>
          </a:bodyPr>
          <a:lstStyle/>
          <a:p>
            <a:r>
              <a:rPr lang="en-US" sz="980">
                <a:solidFill>
                  <a:srgbClr val="8FA0B8"/>
                </a:solidFill>
                <a:latin typeface="Calibri"/>
              </a:rPr>
              <a:t>no</a:t>
            </a:r>
          </a:p>
        </p:txBody>
      </p:sp>
      <p:sp>
        <p:nvSpPr>
          <p:cNvPr id="17" name="t"/>
          <p:cNvSpPr txBox="1"/>
          <p:nvPr/>
        </p:nvSpPr>
        <p:spPr>
          <a:xfrm>
            <a:off x="502920" y="1677616"/>
            <a:ext cx="3743553" cy="227888"/>
          </a:xfrm>
          <a:prstGeom prst="rect">
            <a:avLst/>
          </a:prstGeom>
        </p:spPr>
        <p:txBody>
          <a:bodyPr wrap="square" lIns="91440" tIns="45720" rIns="91440" bIns="45720">
            <a:noAutofit/>
          </a:bodyPr>
          <a:lstStyle/>
          <a:p>
            <a:r>
              <a:rPr lang="en-US" sz="980" b="1">
                <a:solidFill>
                  <a:srgbClr val="E8EDF6"/>
                </a:solidFill>
                <a:latin typeface="Calibri"/>
              </a:rPr>
              <a:t>Explicit partitions, d/tempid, d/resolve-tempid</a:t>
            </a:r>
          </a:p>
        </p:txBody>
      </p:sp>
      <p:sp>
        <p:nvSpPr>
          <p:cNvPr id="18" name="t"/>
          <p:cNvSpPr txBox="1"/>
          <p:nvPr/>
        </p:nvSpPr>
        <p:spPr>
          <a:xfrm>
            <a:off x="4246473" y="1677616"/>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19" name="t"/>
          <p:cNvSpPr txBox="1"/>
          <p:nvPr/>
        </p:nvSpPr>
        <p:spPr>
          <a:xfrm>
            <a:off x="6443776" y="1677616"/>
            <a:ext cx="2197303" cy="227888"/>
          </a:xfrm>
          <a:prstGeom prst="rect">
            <a:avLst/>
          </a:prstGeom>
        </p:spPr>
        <p:txBody>
          <a:bodyPr wrap="square" lIns="91440" tIns="45720" rIns="91440" bIns="45720">
            <a:noAutofit/>
          </a:bodyPr>
          <a:lstStyle/>
          <a:p>
            <a:r>
              <a:rPr lang="en-US" sz="980">
                <a:solidFill>
                  <a:srgbClr val="8FA0B8"/>
                </a:solidFill>
                <a:latin typeface="Calibri"/>
              </a:rPr>
              <a:t>implicit partitions only</a:t>
            </a:r>
          </a:p>
        </p:txBody>
      </p:sp>
      <p:sp>
        <p:nvSpPr>
          <p:cNvPr id="20" name="t"/>
          <p:cNvSpPr txBox="1"/>
          <p:nvPr/>
        </p:nvSpPr>
        <p:spPr>
          <a:xfrm>
            <a:off x="457200" y="1905504"/>
            <a:ext cx="8229600" cy="227888"/>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1905504"/>
            <a:ext cx="3743553" cy="227888"/>
          </a:xfrm>
          <a:prstGeom prst="rect">
            <a:avLst/>
          </a:prstGeom>
        </p:spPr>
        <p:txBody>
          <a:bodyPr wrap="square" lIns="91440" tIns="45720" rIns="91440" bIns="45720">
            <a:noAutofit/>
          </a:bodyPr>
          <a:lstStyle/>
          <a:p>
            <a:r>
              <a:rPr lang="en-US" sz="980" b="1">
                <a:solidFill>
                  <a:srgbClr val="E8EDF6"/>
                </a:solidFill>
                <a:latin typeface="Calibri"/>
              </a:rPr>
              <a:t>Database admin — rename, get-database-names, list-backups</a:t>
            </a:r>
          </a:p>
        </p:txBody>
      </p:sp>
      <p:sp>
        <p:nvSpPr>
          <p:cNvPr id="22" name="t"/>
          <p:cNvSpPr txBox="1"/>
          <p:nvPr/>
        </p:nvSpPr>
        <p:spPr>
          <a:xfrm>
            <a:off x="4246473" y="1905504"/>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23" name="t"/>
          <p:cNvSpPr txBox="1"/>
          <p:nvPr/>
        </p:nvSpPr>
        <p:spPr>
          <a:xfrm>
            <a:off x="6443776" y="1905504"/>
            <a:ext cx="2197303" cy="227888"/>
          </a:xfrm>
          <a:prstGeom prst="rect">
            <a:avLst/>
          </a:prstGeom>
        </p:spPr>
        <p:txBody>
          <a:bodyPr wrap="square" lIns="91440" tIns="45720" rIns="91440" bIns="45720">
            <a:noAutofit/>
          </a:bodyPr>
          <a:lstStyle/>
          <a:p>
            <a:r>
              <a:rPr lang="en-US" sz="980">
                <a:solidFill>
                  <a:srgbClr val="8FA0B8"/>
                </a:solidFill>
                <a:latin typeface="Calibri"/>
              </a:rPr>
              <a:t>partly: list/create/delete only</a:t>
            </a:r>
          </a:p>
        </p:txBody>
      </p:sp>
      <p:sp>
        <p:nvSpPr>
          <p:cNvPr id="24" name="t"/>
          <p:cNvSpPr txBox="1"/>
          <p:nvPr/>
        </p:nvSpPr>
        <p:spPr>
          <a:xfrm>
            <a:off x="502920" y="2133392"/>
            <a:ext cx="3743553" cy="227888"/>
          </a:xfrm>
          <a:prstGeom prst="rect">
            <a:avLst/>
          </a:prstGeom>
        </p:spPr>
        <p:txBody>
          <a:bodyPr wrap="square" lIns="91440" tIns="45720" rIns="91440" bIns="45720">
            <a:noAutofit/>
          </a:bodyPr>
          <a:lstStyle/>
          <a:p>
            <a:r>
              <a:rPr lang="en-US" sz="980" b="1">
                <a:solidFill>
                  <a:srgbClr val="E8EDF6"/>
                </a:solidFill>
                <a:latin typeface="Calibri"/>
              </a:rPr>
              <a:t>d/log — the transaction log as a queryable value</a:t>
            </a:r>
          </a:p>
        </p:txBody>
      </p:sp>
      <p:sp>
        <p:nvSpPr>
          <p:cNvPr id="25" name="t"/>
          <p:cNvSpPr txBox="1"/>
          <p:nvPr/>
        </p:nvSpPr>
        <p:spPr>
          <a:xfrm>
            <a:off x="4246473" y="2133392"/>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26" name="t"/>
          <p:cNvSpPr txBox="1"/>
          <p:nvPr/>
        </p:nvSpPr>
        <p:spPr>
          <a:xfrm>
            <a:off x="6443776" y="2133392"/>
            <a:ext cx="2197303" cy="227888"/>
          </a:xfrm>
          <a:prstGeom prst="rect">
            <a:avLst/>
          </a:prstGeom>
        </p:spPr>
        <p:txBody>
          <a:bodyPr wrap="square" lIns="91440" tIns="45720" rIns="91440" bIns="45720">
            <a:noAutofit/>
          </a:bodyPr>
          <a:lstStyle/>
          <a:p>
            <a:r>
              <a:rPr lang="en-US" sz="980">
                <a:solidFill>
                  <a:srgbClr val="8FA0B8"/>
                </a:solidFill>
                <a:latin typeface="Calibri"/>
              </a:rPr>
              <a:t>no (tx-range only)</a:t>
            </a:r>
          </a:p>
        </p:txBody>
      </p:sp>
      <p:sp>
        <p:nvSpPr>
          <p:cNvPr id="27" name="t"/>
          <p:cNvSpPr txBox="1"/>
          <p:nvPr/>
        </p:nvSpPr>
        <p:spPr>
          <a:xfrm>
            <a:off x="457200" y="2361280"/>
            <a:ext cx="8229600" cy="227888"/>
          </a:xfrm>
          <a:prstGeom prst="rect">
            <a:avLst/>
          </a:prstGeom>
          <a:solidFill>
            <a:srgbClr val="141B28"/>
          </a:solidFill>
        </p:spPr>
        <p:txBody>
          <a:bodyPr wrap="square" lIns="91440" tIns="45720" rIns="91440" bIns="45720">
            <a:noAutofit/>
          </a:bodyPr>
          <a:lstStyle/>
        </p:txBody>
      </p:sp>
      <p:sp>
        <p:nvSpPr>
          <p:cNvPr id="28" name="t"/>
          <p:cNvSpPr txBox="1"/>
          <p:nvPr/>
        </p:nvSpPr>
        <p:spPr>
          <a:xfrm>
            <a:off x="502920" y="2361280"/>
            <a:ext cx="3743553" cy="227888"/>
          </a:xfrm>
          <a:prstGeom prst="rect">
            <a:avLst/>
          </a:prstGeom>
        </p:spPr>
        <p:txBody>
          <a:bodyPr wrap="square" lIns="91440" tIns="45720" rIns="91440" bIns="45720">
            <a:noAutofit/>
          </a:bodyPr>
          <a:lstStyle/>
          <a:p>
            <a:r>
              <a:rPr lang="en-US" sz="980" b="1">
                <a:solidFill>
                  <a:srgbClr val="E8EDF6"/>
                </a:solidFill>
                <a:latin typeface="Calibri"/>
              </a:rPr>
              <a:t>Async / core.async API</a:t>
            </a:r>
          </a:p>
        </p:txBody>
      </p:sp>
      <p:sp>
        <p:nvSpPr>
          <p:cNvPr id="29" name="t"/>
          <p:cNvSpPr txBox="1"/>
          <p:nvPr/>
        </p:nvSpPr>
        <p:spPr>
          <a:xfrm>
            <a:off x="4246473" y="2361280"/>
            <a:ext cx="2197303" cy="227888"/>
          </a:xfrm>
          <a:prstGeom prst="rect">
            <a:avLst/>
          </a:prstGeom>
        </p:spPr>
        <p:txBody>
          <a:bodyPr wrap="square" lIns="91440" tIns="45720" rIns="91440" bIns="45720">
            <a:noAutofit/>
          </a:bodyPr>
          <a:lstStyle/>
          <a:p>
            <a:r>
              <a:rPr lang="en-US" sz="980">
                <a:solidFill>
                  <a:srgbClr val="8FA0B8"/>
                </a:solidFill>
                <a:latin typeface="Calibri"/>
              </a:rPr>
              <a:t>no (futures only)</a:t>
            </a:r>
          </a:p>
        </p:txBody>
      </p:sp>
      <p:sp>
        <p:nvSpPr>
          <p:cNvPr id="30" name="t"/>
          <p:cNvSpPr txBox="1"/>
          <p:nvPr/>
        </p:nvSpPr>
        <p:spPr>
          <a:xfrm>
            <a:off x="6443776" y="2361280"/>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31" name="t"/>
          <p:cNvSpPr txBox="1"/>
          <p:nvPr/>
        </p:nvSpPr>
        <p:spPr>
          <a:xfrm>
            <a:off x="502920" y="2589168"/>
            <a:ext cx="3743553" cy="227888"/>
          </a:xfrm>
          <a:prstGeom prst="rect">
            <a:avLst/>
          </a:prstGeom>
        </p:spPr>
        <p:txBody>
          <a:bodyPr wrap="square" lIns="91440" tIns="45720" rIns="91440" bIns="45720">
            <a:noAutofit/>
          </a:bodyPr>
          <a:lstStyle/>
          <a:p>
            <a:r>
              <a:rPr lang="en-US" sz="980" b="1">
                <a:solidFill>
                  <a:srgbClr val="E8EDF6"/>
                </a:solidFill>
                <a:latin typeface="Calibri"/>
              </a:rPr>
              <a:t>Runs against Cloud and Local</a:t>
            </a:r>
          </a:p>
        </p:txBody>
      </p:sp>
      <p:sp>
        <p:nvSpPr>
          <p:cNvPr id="32" name="t"/>
          <p:cNvSpPr txBox="1"/>
          <p:nvPr/>
        </p:nvSpPr>
        <p:spPr>
          <a:xfrm>
            <a:off x="4246473" y="2589168"/>
            <a:ext cx="2197303" cy="227888"/>
          </a:xfrm>
          <a:prstGeom prst="rect">
            <a:avLst/>
          </a:prstGeom>
        </p:spPr>
        <p:txBody>
          <a:bodyPr wrap="square" lIns="91440" tIns="45720" rIns="91440" bIns="45720">
            <a:noAutofit/>
          </a:bodyPr>
          <a:lstStyle/>
          <a:p>
            <a:r>
              <a:rPr lang="en-US" sz="980">
                <a:solidFill>
                  <a:srgbClr val="8FA0B8"/>
                </a:solidFill>
                <a:latin typeface="Calibri"/>
              </a:rPr>
              <a:t>no — Pro only</a:t>
            </a:r>
          </a:p>
        </p:txBody>
      </p:sp>
      <p:sp>
        <p:nvSpPr>
          <p:cNvPr id="33" name="t"/>
          <p:cNvSpPr txBox="1"/>
          <p:nvPr/>
        </p:nvSpPr>
        <p:spPr>
          <a:xfrm>
            <a:off x="6443776" y="2589168"/>
            <a:ext cx="2197303" cy="227888"/>
          </a:xfrm>
          <a:prstGeom prst="rect">
            <a:avLst/>
          </a:prstGeom>
        </p:spPr>
        <p:txBody>
          <a:bodyPr wrap="square" lIns="91440" tIns="45720" rIns="91440" bIns="45720">
            <a:noAutofit/>
          </a:bodyPr>
          <a:lstStyle/>
          <a:p>
            <a:r>
              <a:rPr lang="en-US" sz="980">
                <a:solidFill>
                  <a:srgbClr val="8FA0B8"/>
                </a:solidFill>
                <a:latin typeface="Calibri"/>
              </a:rPr>
              <a:t>yes</a:t>
            </a:r>
          </a:p>
        </p:txBody>
      </p:sp>
      <p:sp>
        <p:nvSpPr>
          <p:cNvPr id="34" name="t"/>
          <p:cNvSpPr txBox="1"/>
          <p:nvPr/>
        </p:nvSpPr>
        <p:spPr>
          <a:xfrm>
            <a:off x="502920" y="2981648"/>
            <a:ext cx="45720" cy="449072"/>
          </a:xfrm>
          <a:prstGeom prst="rect">
            <a:avLst/>
          </a:prstGeom>
          <a:solidFill>
            <a:srgbClr val="7BD88F"/>
          </a:solidFill>
        </p:spPr>
        <p:txBody>
          <a:bodyPr wrap="square" lIns="91440" tIns="45720" rIns="91440" bIns="45720">
            <a:noAutofit/>
          </a:bodyPr>
          <a:lstStyle/>
        </p:txBody>
      </p:sp>
      <p:sp>
        <p:nvSpPr>
          <p:cNvPr id="35" name="t"/>
          <p:cNvSpPr txBox="1"/>
          <p:nvPr/>
        </p:nvSpPr>
        <p:spPr>
          <a:xfrm>
            <a:off x="594360" y="2981648"/>
            <a:ext cx="8046720" cy="449072"/>
          </a:xfrm>
          <a:prstGeom prst="rect">
            <a:avLst/>
          </a:prstGeom>
        </p:spPr>
        <p:txBody>
          <a:bodyPr wrap="square" lIns="91440" tIns="45720" rIns="91440" bIns="45720">
            <a:noAutofit/>
          </a:bodyPr>
          <a:lstStyle/>
          <a:p>
            <a:r>
              <a:rPr lang="en-US" sz="1100">
                <a:solidFill>
                  <a:srgbClr val="E8EDF6"/>
                </a:solidFill>
                <a:latin typeface="Calibri"/>
              </a:rPr>
              <a:t>●  Query, pull, all four indexes, as-of / since / history, datoms, tx-range, db-stats and with are in BOTH. The Client API is not a reduced query engine — it is a reduced local-object story.</a:t>
            </a:r>
          </a:p>
        </p:txBody>
      </p:sp>
      <p:sp>
        <p:nvSpPr>
          <p:cNvPr id="36"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37"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Choosing an API</a:t>
            </a:r>
          </a:p>
        </p:txBody>
      </p:sp>
      <p:sp>
        <p:nvSpPr>
          <p:cNvPr id="3" name="t"/>
          <p:cNvSpPr txBox="1"/>
          <p:nvPr/>
        </p:nvSpPr>
        <p:spPr>
          <a:xfrm>
            <a:off x="502920" y="766064"/>
            <a:ext cx="4000500" cy="1302715"/>
          </a:xfrm>
          <a:prstGeom prst="roundRect">
            <a:avLst/>
          </a:prstGeom>
          <a:solidFill>
            <a:srgbClr val="18202F"/>
          </a:solidFill>
        </p:spPr>
        <p:txBody>
          <a:bodyPr wrap="square" lIns="91440" tIns="45720" rIns="91440" bIns="45720">
            <a:noAutofit/>
          </a:bodyPr>
          <a:lstStyle/>
          <a:p>
            <a:r>
              <a:rPr lang="en-US" sz="1200" b="1">
                <a:solidFill>
                  <a:srgbClr val="7BD88F"/>
                </a:solidFill>
                <a:latin typeface="Calibri"/>
              </a:rPr>
              <a:t>Take the Peer API</a:t>
            </a:r>
          </a:p>
          <a:p>
            <a:endParaRPr lang="en-US" sz="500"/>
          </a:p>
          <a:p>
            <a:r>
              <a:rPr lang="en-US" sz="1050">
                <a:solidFill>
                  <a:srgbClr val="E8EDF6"/>
                </a:solidFill>
                <a:latin typeface="Calibri"/>
              </a:rPr>
              <a:t>JVM app, Pro, and staying there</a:t>
            </a:r>
          </a:p>
          <a:p>
            <a:r>
              <a:rPr lang="en-US" sz="1050">
                <a:solidFill>
                  <a:srgbClr val="E8EDF6"/>
                </a:solidFill>
                <a:latin typeface="Calibri"/>
              </a:rPr>
              <a:t>You want reads at memory speed</a:t>
            </a:r>
          </a:p>
          <a:p>
            <a:r>
              <a:rPr lang="en-US" sz="1050">
                <a:solidFill>
                  <a:srgbClr val="E8EDF6"/>
                </a:solidFill>
                <a:latin typeface="Calibri"/>
              </a:rPr>
              <a:t>You need entities or d/filter</a:t>
            </a:r>
          </a:p>
          <a:p>
            <a:r>
              <a:rPr lang="en-US" sz="1050">
                <a:solidFill>
                  <a:srgbClr val="E8EDF6"/>
                </a:solidFill>
                <a:latin typeface="Calibri"/>
              </a:rPr>
              <a:t>You are building on tx-report-queue</a:t>
            </a:r>
          </a:p>
          <a:p>
            <a:r>
              <a:rPr lang="en-US" sz="1050">
                <a:solidFill>
                  <a:srgbClr val="E8EDF6"/>
                </a:solidFill>
                <a:latin typeface="Calibri"/>
              </a:rPr>
              <a:t>You accept peer-sized heaps everywhere</a:t>
            </a:r>
          </a:p>
        </p:txBody>
      </p:sp>
      <p:sp>
        <p:nvSpPr>
          <p:cNvPr id="4" name="t"/>
          <p:cNvSpPr txBox="1"/>
          <p:nvPr/>
        </p:nvSpPr>
        <p:spPr>
          <a:xfrm>
            <a:off x="4640580" y="766064"/>
            <a:ext cx="4000500" cy="1302715"/>
          </a:xfrm>
          <a:prstGeom prst="roundRect">
            <a:avLst/>
          </a:prstGeom>
          <a:solidFill>
            <a:srgbClr val="18202F"/>
          </a:solidFill>
        </p:spPr>
        <p:txBody>
          <a:bodyPr wrap="square" lIns="91440" tIns="45720" rIns="91440" bIns="45720">
            <a:noAutofit/>
          </a:bodyPr>
          <a:lstStyle/>
          <a:p>
            <a:r>
              <a:rPr lang="en-US" sz="1200" b="1">
                <a:solidFill>
                  <a:srgbClr val="6FE3D2"/>
                </a:solidFill>
                <a:latin typeface="Calibri"/>
              </a:rPr>
              <a:t>Take the Client API</a:t>
            </a:r>
          </a:p>
          <a:p>
            <a:endParaRPr lang="en-US" sz="500"/>
          </a:p>
          <a:p>
            <a:r>
              <a:rPr lang="en-US" sz="1050">
                <a:solidFill>
                  <a:srgbClr val="E8EDF6"/>
                </a:solidFill>
                <a:latin typeface="Calibri"/>
              </a:rPr>
              <a:t>Many small processes, or non-JVM</a:t>
            </a:r>
          </a:p>
          <a:p>
            <a:r>
              <a:rPr lang="en-US" sz="1050">
                <a:solidFill>
                  <a:srgbClr val="E8EDF6"/>
                </a:solidFill>
                <a:latin typeface="Calibri"/>
              </a:rPr>
              <a:t>You may move to Cloud or Local</a:t>
            </a:r>
          </a:p>
          <a:p>
            <a:r>
              <a:rPr lang="en-US" sz="1050">
                <a:solidFill>
                  <a:srgbClr val="E8EDF6"/>
                </a:solidFill>
                <a:latin typeface="Calibri"/>
              </a:rPr>
              <a:t>You want CI on Datomic Local</a:t>
            </a:r>
          </a:p>
          <a:p>
            <a:r>
              <a:rPr lang="en-US" sz="1050">
                <a:solidFill>
                  <a:srgbClr val="E8EDF6"/>
                </a:solidFill>
                <a:latin typeface="Calibri"/>
              </a:rPr>
              <a:t>Library code that must run anywhere</a:t>
            </a:r>
          </a:p>
          <a:p>
            <a:r>
              <a:rPr lang="en-US" sz="1050">
                <a:solidFill>
                  <a:srgbClr val="E8EDF6"/>
                </a:solidFill>
                <a:latin typeface="Calibri"/>
              </a:rPr>
              <a:t>You accept a hop per query</a:t>
            </a:r>
          </a:p>
        </p:txBody>
      </p:sp>
      <p:sp>
        <p:nvSpPr>
          <p:cNvPr id="5" name="t"/>
          <p:cNvSpPr txBox="1"/>
          <p:nvPr/>
        </p:nvSpPr>
        <p:spPr>
          <a:xfrm>
            <a:off x="502920" y="2233371"/>
            <a:ext cx="8138160" cy="357632"/>
          </a:xfrm>
          <a:prstGeom prst="rect">
            <a:avLst/>
          </a:prstGeom>
        </p:spPr>
        <p:txBody>
          <a:bodyPr wrap="square" lIns="91440" tIns="45720" rIns="91440" bIns="45720">
            <a:noAutofit/>
          </a:bodyPr>
          <a:lstStyle/>
          <a:p>
            <a:r>
              <a:rPr lang="en-US" sz="1100">
                <a:solidFill>
                  <a:srgbClr val="8FA0B8"/>
                </a:solidFill>
                <a:latin typeface="Calibri"/>
              </a:rPr>
              <a:t>▸ The docs' own summary: the Peer API is the most powerful API for a system that will always be Pro; the Client API is the one with the greatest reach</a:t>
            </a:r>
          </a:p>
        </p:txBody>
      </p:sp>
      <p:sp>
        <p:nvSpPr>
          <p:cNvPr id="6" name="t"/>
          <p:cNvSpPr txBox="1"/>
          <p:nvPr/>
        </p:nvSpPr>
        <p:spPr>
          <a:xfrm>
            <a:off x="502920" y="2591003"/>
            <a:ext cx="8138160" cy="178816"/>
          </a:xfrm>
          <a:prstGeom prst="rect">
            <a:avLst/>
          </a:prstGeom>
        </p:spPr>
        <p:txBody>
          <a:bodyPr wrap="square" lIns="91440" tIns="45720" rIns="91440" bIns="45720">
            <a:noAutofit/>
          </a:bodyPr>
          <a:lstStyle/>
          <a:p>
            <a:r>
              <a:rPr lang="en-US" sz="1100">
                <a:solidFill>
                  <a:srgbClr val="E8EDF6"/>
                </a:solidFill>
                <a:latin typeface="Calibri"/>
              </a:rPr>
              <a:t>▸ They coexist. Peer applications and client applications can hit the same databases at the same time.</a:t>
            </a:r>
          </a:p>
        </p:txBody>
      </p:sp>
      <p:sp>
        <p:nvSpPr>
          <p:cNvPr id="7" name="t"/>
          <p:cNvSpPr txBox="1"/>
          <p:nvPr/>
        </p:nvSpPr>
        <p:spPr>
          <a:xfrm>
            <a:off x="502920" y="2769819"/>
            <a:ext cx="8138160" cy="178816"/>
          </a:xfrm>
          <a:prstGeom prst="rect">
            <a:avLst/>
          </a:prstGeom>
        </p:spPr>
        <p:txBody>
          <a:bodyPr wrap="square" lIns="91440" tIns="45720" rIns="91440" bIns="45720">
            <a:noAutofit/>
          </a:bodyPr>
          <a:lstStyle/>
          <a:p>
            <a:r>
              <a:rPr lang="en-US" sz="1100">
                <a:solidFill>
                  <a:srgbClr val="C09BFF"/>
                </a:solidFill>
                <a:latin typeface="Calibri"/>
              </a:rPr>
              <a:t>▸ Session 3 revisits this as a CACHING decision — which is the version that actually decides your bill</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Every persistence mode</a:t>
            </a:r>
          </a:p>
        </p:txBody>
      </p:sp>
      <p:sp>
        <p:nvSpPr>
          <p:cNvPr id="3" name="t"/>
          <p:cNvSpPr txBox="1"/>
          <p:nvPr/>
        </p:nvSpPr>
        <p:spPr>
          <a:xfrm>
            <a:off x="502920" y="766064"/>
            <a:ext cx="1057960" cy="227888"/>
          </a:xfrm>
          <a:prstGeom prst="rect">
            <a:avLst/>
          </a:prstGeom>
        </p:spPr>
        <p:txBody>
          <a:bodyPr wrap="square" lIns="91440" tIns="45720" rIns="91440" bIns="45720">
            <a:noAutofit/>
          </a:bodyPr>
          <a:lstStyle/>
          <a:p>
            <a:r>
              <a:rPr lang="en-US" sz="980" b="1">
                <a:solidFill>
                  <a:srgbClr val="6FA8FF"/>
                </a:solidFill>
                <a:latin typeface="Calibri"/>
              </a:rPr>
              <a:t>Mode</a:t>
            </a:r>
          </a:p>
        </p:txBody>
      </p:sp>
      <p:sp>
        <p:nvSpPr>
          <p:cNvPr id="4" name="t"/>
          <p:cNvSpPr txBox="1"/>
          <p:nvPr/>
        </p:nvSpPr>
        <p:spPr>
          <a:xfrm>
            <a:off x="1560880" y="766064"/>
            <a:ext cx="3418027" cy="227888"/>
          </a:xfrm>
          <a:prstGeom prst="rect">
            <a:avLst/>
          </a:prstGeom>
        </p:spPr>
        <p:txBody>
          <a:bodyPr wrap="square" lIns="91440" tIns="45720" rIns="91440" bIns="45720">
            <a:noAutofit/>
          </a:bodyPr>
          <a:lstStyle/>
          <a:p>
            <a:r>
              <a:rPr lang="en-US" sz="980" b="1">
                <a:solidFill>
                  <a:srgbClr val="6FA8FF"/>
                </a:solidFill>
                <a:latin typeface="Calibri"/>
              </a:rPr>
              <a:t>URI</a:t>
            </a:r>
          </a:p>
        </p:txBody>
      </p:sp>
      <p:sp>
        <p:nvSpPr>
          <p:cNvPr id="5" name="t"/>
          <p:cNvSpPr txBox="1"/>
          <p:nvPr/>
        </p:nvSpPr>
        <p:spPr>
          <a:xfrm>
            <a:off x="4978908" y="766064"/>
            <a:ext cx="3662172" cy="227888"/>
          </a:xfrm>
          <a:prstGeom prst="rect">
            <a:avLst/>
          </a:prstGeom>
        </p:spPr>
        <p:txBody>
          <a:bodyPr wrap="square" lIns="91440" tIns="45720" rIns="91440" bIns="45720">
            <a:noAutofit/>
          </a:bodyPr>
          <a:lstStyle/>
          <a:p>
            <a:r>
              <a:rPr lang="en-US" sz="980" b="1">
                <a:solidFill>
                  <a:srgbClr val="6FA8FF"/>
                </a:solidFill>
                <a:latin typeface="Calibri"/>
              </a:rPr>
              <a:t>What it is for</a:t>
            </a:r>
          </a:p>
        </p:txBody>
      </p:sp>
      <p:sp>
        <p:nvSpPr>
          <p:cNvPr id="6" name="t"/>
          <p:cNvSpPr txBox="1"/>
          <p:nvPr/>
        </p:nvSpPr>
        <p:spPr>
          <a:xfrm>
            <a:off x="457200" y="993952"/>
            <a:ext cx="8229600" cy="227888"/>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993952"/>
            <a:ext cx="1057960" cy="227888"/>
          </a:xfrm>
          <a:prstGeom prst="rect">
            <a:avLst/>
          </a:prstGeom>
        </p:spPr>
        <p:txBody>
          <a:bodyPr wrap="square" lIns="91440" tIns="45720" rIns="91440" bIns="45720">
            <a:noAutofit/>
          </a:bodyPr>
          <a:lstStyle/>
          <a:p>
            <a:r>
              <a:rPr lang="en-US" sz="980" b="1">
                <a:solidFill>
                  <a:srgbClr val="E8EDF6"/>
                </a:solidFill>
                <a:latin typeface="Calibri"/>
              </a:rPr>
              <a:t>mem</a:t>
            </a:r>
          </a:p>
        </p:txBody>
      </p:sp>
      <p:sp>
        <p:nvSpPr>
          <p:cNvPr id="8" name="t"/>
          <p:cNvSpPr txBox="1"/>
          <p:nvPr/>
        </p:nvSpPr>
        <p:spPr>
          <a:xfrm>
            <a:off x="1560880" y="993952"/>
            <a:ext cx="3418027" cy="227888"/>
          </a:xfrm>
          <a:prstGeom prst="rect">
            <a:avLst/>
          </a:prstGeom>
        </p:spPr>
        <p:txBody>
          <a:bodyPr wrap="square" lIns="91440" tIns="45720" rIns="91440" bIns="45720">
            <a:noAutofit/>
          </a:bodyPr>
          <a:lstStyle/>
          <a:p>
            <a:r>
              <a:rPr lang="en-US" sz="980">
                <a:solidFill>
                  <a:srgbClr val="8FA0B8"/>
                </a:solidFill>
                <a:latin typeface="Calibri"/>
              </a:rPr>
              <a:t>datomic:mem://{db}</a:t>
            </a:r>
          </a:p>
        </p:txBody>
      </p:sp>
      <p:sp>
        <p:nvSpPr>
          <p:cNvPr id="9" name="t"/>
          <p:cNvSpPr txBox="1"/>
          <p:nvPr/>
        </p:nvSpPr>
        <p:spPr>
          <a:xfrm>
            <a:off x="4978908" y="993952"/>
            <a:ext cx="3662172" cy="227888"/>
          </a:xfrm>
          <a:prstGeom prst="rect">
            <a:avLst/>
          </a:prstGeom>
        </p:spPr>
        <p:txBody>
          <a:bodyPr wrap="square" lIns="91440" tIns="45720" rIns="91440" bIns="45720">
            <a:noAutofit/>
          </a:bodyPr>
          <a:lstStyle/>
          <a:p>
            <a:r>
              <a:rPr lang="en-US" sz="980">
                <a:solidFill>
                  <a:srgbClr val="8FA0B8"/>
                </a:solidFill>
                <a:latin typeface="Calibri"/>
              </a:rPr>
              <a:t>in the peer JVM, dies with it; tests only</a:t>
            </a:r>
          </a:p>
        </p:txBody>
      </p:sp>
      <p:sp>
        <p:nvSpPr>
          <p:cNvPr id="10" name="t"/>
          <p:cNvSpPr txBox="1"/>
          <p:nvPr/>
        </p:nvSpPr>
        <p:spPr>
          <a:xfrm>
            <a:off x="502920" y="1221840"/>
            <a:ext cx="1057960" cy="227888"/>
          </a:xfrm>
          <a:prstGeom prst="rect">
            <a:avLst/>
          </a:prstGeom>
        </p:spPr>
        <p:txBody>
          <a:bodyPr wrap="square" lIns="91440" tIns="45720" rIns="91440" bIns="45720">
            <a:noAutofit/>
          </a:bodyPr>
          <a:lstStyle/>
          <a:p>
            <a:r>
              <a:rPr lang="en-US" sz="980" b="1">
                <a:solidFill>
                  <a:srgbClr val="E8EDF6"/>
                </a:solidFill>
                <a:latin typeface="Calibri"/>
              </a:rPr>
              <a:t>dev</a:t>
            </a:r>
          </a:p>
        </p:txBody>
      </p:sp>
      <p:sp>
        <p:nvSpPr>
          <p:cNvPr id="11" name="t"/>
          <p:cNvSpPr txBox="1"/>
          <p:nvPr/>
        </p:nvSpPr>
        <p:spPr>
          <a:xfrm>
            <a:off x="1560880" y="1221840"/>
            <a:ext cx="3418027" cy="227888"/>
          </a:xfrm>
          <a:prstGeom prst="rect">
            <a:avLst/>
          </a:prstGeom>
        </p:spPr>
        <p:txBody>
          <a:bodyPr wrap="square" lIns="91440" tIns="45720" rIns="91440" bIns="45720">
            <a:noAutofit/>
          </a:bodyPr>
          <a:lstStyle/>
          <a:p>
            <a:r>
              <a:rPr lang="en-US" sz="980">
                <a:solidFill>
                  <a:srgbClr val="8FA0B8"/>
                </a:solidFill>
                <a:latin typeface="Calibri"/>
              </a:rPr>
              <a:t>datomic:dev://{host}:{port}/{db}</a:t>
            </a:r>
          </a:p>
        </p:txBody>
      </p:sp>
      <p:sp>
        <p:nvSpPr>
          <p:cNvPr id="12" name="t"/>
          <p:cNvSpPr txBox="1"/>
          <p:nvPr/>
        </p:nvSpPr>
        <p:spPr>
          <a:xfrm>
            <a:off x="4978908" y="1221840"/>
            <a:ext cx="3662172" cy="227888"/>
          </a:xfrm>
          <a:prstGeom prst="rect">
            <a:avLst/>
          </a:prstGeom>
        </p:spPr>
        <p:txBody>
          <a:bodyPr wrap="square" lIns="91440" tIns="45720" rIns="91440" bIns="45720">
            <a:noAutofit/>
          </a:bodyPr>
          <a:lstStyle/>
          <a:p>
            <a:r>
              <a:rPr lang="en-US" sz="980">
                <a:solidFill>
                  <a:srgbClr val="8FA0B8"/>
                </a:solidFill>
                <a:latin typeface="Calibri"/>
              </a:rPr>
              <a:t>embedded H2 inside the transactor; single machine</a:t>
            </a:r>
          </a:p>
        </p:txBody>
      </p:sp>
      <p:sp>
        <p:nvSpPr>
          <p:cNvPr id="13" name="t"/>
          <p:cNvSpPr txBox="1"/>
          <p:nvPr/>
        </p:nvSpPr>
        <p:spPr>
          <a:xfrm>
            <a:off x="457200" y="1449728"/>
            <a:ext cx="8229600" cy="387196"/>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449728"/>
            <a:ext cx="1057960" cy="387196"/>
          </a:xfrm>
          <a:prstGeom prst="rect">
            <a:avLst/>
          </a:prstGeom>
        </p:spPr>
        <p:txBody>
          <a:bodyPr wrap="square" lIns="91440" tIns="45720" rIns="91440" bIns="45720">
            <a:noAutofit/>
          </a:bodyPr>
          <a:lstStyle/>
          <a:p>
            <a:r>
              <a:rPr lang="en-US" sz="980" b="1">
                <a:solidFill>
                  <a:srgbClr val="E8EDF6"/>
                </a:solidFill>
                <a:latin typeface="Calibri"/>
              </a:rPr>
              <a:t>sql</a:t>
            </a:r>
          </a:p>
        </p:txBody>
      </p:sp>
      <p:sp>
        <p:nvSpPr>
          <p:cNvPr id="15" name="t"/>
          <p:cNvSpPr txBox="1"/>
          <p:nvPr/>
        </p:nvSpPr>
        <p:spPr>
          <a:xfrm>
            <a:off x="1560880" y="1449728"/>
            <a:ext cx="3418027" cy="387196"/>
          </a:xfrm>
          <a:prstGeom prst="rect">
            <a:avLst/>
          </a:prstGeom>
        </p:spPr>
        <p:txBody>
          <a:bodyPr wrap="square" lIns="91440" tIns="45720" rIns="91440" bIns="45720">
            <a:noAutofit/>
          </a:bodyPr>
          <a:lstStyle/>
          <a:p>
            <a:r>
              <a:rPr lang="en-US" sz="980">
                <a:solidFill>
                  <a:srgbClr val="8FA0B8"/>
                </a:solidFill>
                <a:latin typeface="Calibri"/>
              </a:rPr>
              <a:t>datomic:sql://{db}?{jdbc-uri}</a:t>
            </a:r>
          </a:p>
        </p:txBody>
      </p:sp>
      <p:sp>
        <p:nvSpPr>
          <p:cNvPr id="16" name="t"/>
          <p:cNvSpPr txBox="1"/>
          <p:nvPr/>
        </p:nvSpPr>
        <p:spPr>
          <a:xfrm>
            <a:off x="4978908" y="1449728"/>
            <a:ext cx="3662172" cy="387196"/>
          </a:xfrm>
          <a:prstGeom prst="rect">
            <a:avLst/>
          </a:prstGeom>
        </p:spPr>
        <p:txBody>
          <a:bodyPr wrap="square" lIns="91440" tIns="45720" rIns="91440" bIns="45720">
            <a:noAutofit/>
          </a:bodyPr>
          <a:lstStyle/>
          <a:p>
            <a:r>
              <a:rPr lang="en-US" sz="980">
                <a:solidFill>
                  <a:srgbClr val="8FA0B8"/>
                </a:solidFill>
                <a:latin typeface="Calibri"/>
              </a:rPr>
              <a:t>Postgres, MySQL, Oracle — our lab, and very common in production</a:t>
            </a:r>
          </a:p>
        </p:txBody>
      </p:sp>
      <p:sp>
        <p:nvSpPr>
          <p:cNvPr id="17" name="t"/>
          <p:cNvSpPr txBox="1"/>
          <p:nvPr/>
        </p:nvSpPr>
        <p:spPr>
          <a:xfrm>
            <a:off x="502920" y="1836924"/>
            <a:ext cx="1057960" cy="227888"/>
          </a:xfrm>
          <a:prstGeom prst="rect">
            <a:avLst/>
          </a:prstGeom>
        </p:spPr>
        <p:txBody>
          <a:bodyPr wrap="square" lIns="91440" tIns="45720" rIns="91440" bIns="45720">
            <a:noAutofit/>
          </a:bodyPr>
          <a:lstStyle/>
          <a:p>
            <a:r>
              <a:rPr lang="en-US" sz="980" b="1">
                <a:solidFill>
                  <a:srgbClr val="E8EDF6"/>
                </a:solidFill>
                <a:latin typeface="Calibri"/>
              </a:rPr>
              <a:t>ddb</a:t>
            </a:r>
          </a:p>
        </p:txBody>
      </p:sp>
      <p:sp>
        <p:nvSpPr>
          <p:cNvPr id="18" name="t"/>
          <p:cNvSpPr txBox="1"/>
          <p:nvPr/>
        </p:nvSpPr>
        <p:spPr>
          <a:xfrm>
            <a:off x="1560880" y="1836924"/>
            <a:ext cx="3418027" cy="227888"/>
          </a:xfrm>
          <a:prstGeom prst="rect">
            <a:avLst/>
          </a:prstGeom>
        </p:spPr>
        <p:txBody>
          <a:bodyPr wrap="square" lIns="91440" tIns="45720" rIns="91440" bIns="45720">
            <a:noAutofit/>
          </a:bodyPr>
          <a:lstStyle/>
          <a:p>
            <a:r>
              <a:rPr lang="en-US" sz="980">
                <a:solidFill>
                  <a:srgbClr val="8FA0B8"/>
                </a:solidFill>
                <a:latin typeface="Calibri"/>
              </a:rPr>
              <a:t>datomic:ddb://{region}/{table}/{db}</a:t>
            </a:r>
          </a:p>
        </p:txBody>
      </p:sp>
      <p:sp>
        <p:nvSpPr>
          <p:cNvPr id="19" name="t"/>
          <p:cNvSpPr txBox="1"/>
          <p:nvPr/>
        </p:nvSpPr>
        <p:spPr>
          <a:xfrm>
            <a:off x="4978908" y="1836924"/>
            <a:ext cx="3662172" cy="227888"/>
          </a:xfrm>
          <a:prstGeom prst="rect">
            <a:avLst/>
          </a:prstGeom>
        </p:spPr>
        <p:txBody>
          <a:bodyPr wrap="square" lIns="91440" tIns="45720" rIns="91440" bIns="45720">
            <a:noAutofit/>
          </a:bodyPr>
          <a:lstStyle/>
          <a:p>
            <a:r>
              <a:rPr lang="en-US" sz="980">
                <a:solidFill>
                  <a:srgbClr val="8FA0B8"/>
                </a:solidFill>
                <a:latin typeface="Calibri"/>
              </a:rPr>
              <a:t>DynamoDB; the AWS production default for Pro</a:t>
            </a:r>
          </a:p>
        </p:txBody>
      </p:sp>
      <p:sp>
        <p:nvSpPr>
          <p:cNvPr id="20" name="t"/>
          <p:cNvSpPr txBox="1"/>
          <p:nvPr/>
        </p:nvSpPr>
        <p:spPr>
          <a:xfrm>
            <a:off x="457200" y="2064812"/>
            <a:ext cx="8229600" cy="227888"/>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2064812"/>
            <a:ext cx="1057960" cy="227888"/>
          </a:xfrm>
          <a:prstGeom prst="rect">
            <a:avLst/>
          </a:prstGeom>
        </p:spPr>
        <p:txBody>
          <a:bodyPr wrap="square" lIns="91440" tIns="45720" rIns="91440" bIns="45720">
            <a:noAutofit/>
          </a:bodyPr>
          <a:lstStyle/>
          <a:p>
            <a:r>
              <a:rPr lang="en-US" sz="980" b="1">
                <a:solidFill>
                  <a:srgbClr val="E8EDF6"/>
                </a:solidFill>
                <a:latin typeface="Calibri"/>
              </a:rPr>
              <a:t>ddb-local</a:t>
            </a:r>
          </a:p>
        </p:txBody>
      </p:sp>
      <p:sp>
        <p:nvSpPr>
          <p:cNvPr id="22" name="t"/>
          <p:cNvSpPr txBox="1"/>
          <p:nvPr/>
        </p:nvSpPr>
        <p:spPr>
          <a:xfrm>
            <a:off x="1560880" y="2064812"/>
            <a:ext cx="3418027" cy="227888"/>
          </a:xfrm>
          <a:prstGeom prst="rect">
            <a:avLst/>
          </a:prstGeom>
        </p:spPr>
        <p:txBody>
          <a:bodyPr wrap="square" lIns="91440" tIns="45720" rIns="91440" bIns="45720">
            <a:noAutofit/>
          </a:bodyPr>
          <a:lstStyle/>
          <a:p>
            <a:r>
              <a:rPr lang="en-US" sz="980">
                <a:solidFill>
                  <a:srgbClr val="8FA0B8"/>
                </a:solidFill>
                <a:latin typeface="Calibri"/>
              </a:rPr>
              <a:t>datomic:ddb-local://{host}:{port}/{table}/{db}</a:t>
            </a:r>
          </a:p>
        </p:txBody>
      </p:sp>
      <p:sp>
        <p:nvSpPr>
          <p:cNvPr id="23" name="t"/>
          <p:cNvSpPr txBox="1"/>
          <p:nvPr/>
        </p:nvSpPr>
        <p:spPr>
          <a:xfrm>
            <a:off x="4978908" y="2064812"/>
            <a:ext cx="3662172" cy="227888"/>
          </a:xfrm>
          <a:prstGeom prst="rect">
            <a:avLst/>
          </a:prstGeom>
        </p:spPr>
        <p:txBody>
          <a:bodyPr wrap="square" lIns="91440" tIns="45720" rIns="91440" bIns="45720">
            <a:noAutofit/>
          </a:bodyPr>
          <a:lstStyle/>
          <a:p>
            <a:r>
              <a:rPr lang="en-US" sz="980">
                <a:solidFill>
                  <a:srgbClr val="8FA0B8"/>
                </a:solidFill>
                <a:latin typeface="Calibri"/>
              </a:rPr>
              <a:t>DynamoDB Local for development</a:t>
            </a:r>
          </a:p>
        </p:txBody>
      </p:sp>
      <p:sp>
        <p:nvSpPr>
          <p:cNvPr id="24" name="t"/>
          <p:cNvSpPr txBox="1"/>
          <p:nvPr/>
        </p:nvSpPr>
        <p:spPr>
          <a:xfrm>
            <a:off x="502920" y="2292700"/>
            <a:ext cx="1057960" cy="387196"/>
          </a:xfrm>
          <a:prstGeom prst="rect">
            <a:avLst/>
          </a:prstGeom>
        </p:spPr>
        <p:txBody>
          <a:bodyPr wrap="square" lIns="91440" tIns="45720" rIns="91440" bIns="45720">
            <a:noAutofit/>
          </a:bodyPr>
          <a:lstStyle/>
          <a:p>
            <a:r>
              <a:rPr lang="en-US" sz="980" b="1">
                <a:solidFill>
                  <a:srgbClr val="E8EDF6"/>
                </a:solidFill>
                <a:latin typeface="Calibri"/>
              </a:rPr>
              <a:t>cass3</a:t>
            </a:r>
          </a:p>
        </p:txBody>
      </p:sp>
      <p:sp>
        <p:nvSpPr>
          <p:cNvPr id="25" name="t"/>
          <p:cNvSpPr txBox="1"/>
          <p:nvPr/>
        </p:nvSpPr>
        <p:spPr>
          <a:xfrm>
            <a:off x="1560880" y="2292700"/>
            <a:ext cx="3418027" cy="387196"/>
          </a:xfrm>
          <a:prstGeom prst="rect">
            <a:avLst/>
          </a:prstGeom>
        </p:spPr>
        <p:txBody>
          <a:bodyPr wrap="square" lIns="91440" tIns="45720" rIns="91440" bIns="45720">
            <a:noAutofit/>
          </a:bodyPr>
          <a:lstStyle/>
          <a:p>
            <a:r>
              <a:rPr lang="en-US" sz="980">
                <a:solidFill>
                  <a:srgbClr val="8FA0B8"/>
                </a:solidFill>
                <a:latin typeface="Calibri"/>
              </a:rPr>
              <a:t>datomic:cass3://{host}/{keyspace}.{table}/{db}</a:t>
            </a:r>
          </a:p>
        </p:txBody>
      </p:sp>
      <p:sp>
        <p:nvSpPr>
          <p:cNvPr id="26" name="t"/>
          <p:cNvSpPr txBox="1"/>
          <p:nvPr/>
        </p:nvSpPr>
        <p:spPr>
          <a:xfrm>
            <a:off x="4978908" y="2292700"/>
            <a:ext cx="3662172" cy="387196"/>
          </a:xfrm>
          <a:prstGeom prst="rect">
            <a:avLst/>
          </a:prstGeom>
        </p:spPr>
        <p:txBody>
          <a:bodyPr wrap="square" lIns="91440" tIns="45720" rIns="91440" bIns="45720">
            <a:noAutofit/>
          </a:bodyPr>
          <a:lstStyle/>
          <a:p>
            <a:r>
              <a:rPr lang="en-US" sz="980">
                <a:solidFill>
                  <a:srgbClr val="8FA0B8"/>
                </a:solidFill>
                <a:latin typeface="Calibri"/>
              </a:rPr>
              <a:t>Cassandra 3+, AstraDB, AWS Keyspaces; needs 3 nodes, RF 3</a:t>
            </a:r>
          </a:p>
        </p:txBody>
      </p:sp>
      <p:sp>
        <p:nvSpPr>
          <p:cNvPr id="27" name="t"/>
          <p:cNvSpPr txBox="1"/>
          <p:nvPr/>
        </p:nvSpPr>
        <p:spPr>
          <a:xfrm>
            <a:off x="457200" y="2679896"/>
            <a:ext cx="8229600" cy="227888"/>
          </a:xfrm>
          <a:prstGeom prst="rect">
            <a:avLst/>
          </a:prstGeom>
          <a:solidFill>
            <a:srgbClr val="141B28"/>
          </a:solidFill>
        </p:spPr>
        <p:txBody>
          <a:bodyPr wrap="square" lIns="91440" tIns="45720" rIns="91440" bIns="45720">
            <a:noAutofit/>
          </a:bodyPr>
          <a:lstStyle/>
        </p:txBody>
      </p:sp>
      <p:sp>
        <p:nvSpPr>
          <p:cNvPr id="28" name="t"/>
          <p:cNvSpPr txBox="1"/>
          <p:nvPr/>
        </p:nvSpPr>
        <p:spPr>
          <a:xfrm>
            <a:off x="502920" y="2679896"/>
            <a:ext cx="1057960" cy="227888"/>
          </a:xfrm>
          <a:prstGeom prst="rect">
            <a:avLst/>
          </a:prstGeom>
        </p:spPr>
        <p:txBody>
          <a:bodyPr wrap="square" lIns="91440" tIns="45720" rIns="91440" bIns="45720">
            <a:noAutofit/>
          </a:bodyPr>
          <a:lstStyle/>
          <a:p>
            <a:r>
              <a:rPr lang="en-US" sz="980" b="1">
                <a:solidFill>
                  <a:srgbClr val="E8EDF6"/>
                </a:solidFill>
                <a:latin typeface="Calibri"/>
              </a:rPr>
              <a:t>backup</a:t>
            </a:r>
          </a:p>
        </p:txBody>
      </p:sp>
      <p:sp>
        <p:nvSpPr>
          <p:cNvPr id="29" name="t"/>
          <p:cNvSpPr txBox="1"/>
          <p:nvPr/>
        </p:nvSpPr>
        <p:spPr>
          <a:xfrm>
            <a:off x="1560880" y="2679896"/>
            <a:ext cx="3418027" cy="227888"/>
          </a:xfrm>
          <a:prstGeom prst="rect">
            <a:avLst/>
          </a:prstGeom>
        </p:spPr>
        <p:txBody>
          <a:bodyPr wrap="square" lIns="91440" tIns="45720" rIns="91440" bIns="45720">
            <a:noAutofit/>
          </a:bodyPr>
          <a:lstStyle/>
          <a:p>
            <a:r>
              <a:rPr lang="en-US" sz="980">
                <a:solidFill>
                  <a:srgbClr val="8FA0B8"/>
                </a:solidFill>
                <a:latin typeface="Calibri"/>
              </a:rPr>
              <a:t>datomic:backup:{backup-uri}?t={t}</a:t>
            </a:r>
          </a:p>
        </p:txBody>
      </p:sp>
      <p:sp>
        <p:nvSpPr>
          <p:cNvPr id="30" name="t"/>
          <p:cNvSpPr txBox="1"/>
          <p:nvPr/>
        </p:nvSpPr>
        <p:spPr>
          <a:xfrm>
            <a:off x="4978908" y="2679896"/>
            <a:ext cx="3662172" cy="227888"/>
          </a:xfrm>
          <a:prstGeom prst="rect">
            <a:avLst/>
          </a:prstGeom>
        </p:spPr>
        <p:txBody>
          <a:bodyPr wrap="square" lIns="91440" tIns="45720" rIns="91440" bIns="45720">
            <a:noAutofit/>
          </a:bodyPr>
          <a:lstStyle/>
          <a:p>
            <a:r>
              <a:rPr lang="en-US" sz="980">
                <a:solidFill>
                  <a:srgbClr val="8FA0B8"/>
                </a:solidFill>
                <a:latin typeface="Calibri"/>
              </a:rPr>
              <a:t>read-only connection straight to a backup</a:t>
            </a:r>
          </a:p>
        </p:txBody>
      </p:sp>
      <p:sp>
        <p:nvSpPr>
          <p:cNvPr id="31" name="t"/>
          <p:cNvSpPr txBox="1"/>
          <p:nvPr/>
        </p:nvSpPr>
        <p:spPr>
          <a:xfrm>
            <a:off x="502920" y="3072376"/>
            <a:ext cx="45720" cy="449072"/>
          </a:xfrm>
          <a:prstGeom prst="rect">
            <a:avLst/>
          </a:prstGeom>
          <a:solidFill>
            <a:srgbClr val="7BD88F"/>
          </a:solidFill>
        </p:spPr>
        <p:txBody>
          <a:bodyPr wrap="square" lIns="91440" tIns="45720" rIns="91440" bIns="45720">
            <a:noAutofit/>
          </a:bodyPr>
          <a:lstStyle/>
        </p:txBody>
      </p:sp>
      <p:sp>
        <p:nvSpPr>
          <p:cNvPr id="32" name="t"/>
          <p:cNvSpPr txBox="1"/>
          <p:nvPr/>
        </p:nvSpPr>
        <p:spPr>
          <a:xfrm>
            <a:off x="594360" y="3072376"/>
            <a:ext cx="8046720" cy="449072"/>
          </a:xfrm>
          <a:prstGeom prst="rect">
            <a:avLst/>
          </a:prstGeom>
        </p:spPr>
        <p:txBody>
          <a:bodyPr wrap="square" lIns="91440" tIns="45720" rIns="91440" bIns="45720">
            <a:noAutofit/>
          </a:bodyPr>
          <a:lstStyle/>
          <a:p>
            <a:r>
              <a:rPr lang="en-US" sz="1100">
                <a:solidFill>
                  <a:srgbClr val="E8EDF6"/>
                </a:solidFill>
                <a:latin typeface="Calibri"/>
              </a:rPr>
              <a:t>●  Storage is swappable. Moving from dev to Postgres to DynamoDB changes a connection string and a properties file — the API does not change at all.</a:t>
            </a:r>
          </a:p>
        </p:txBody>
      </p:sp>
      <p:sp>
        <p:nvSpPr>
          <p:cNvPr id="33"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34"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Reading a connection URI</a:t>
            </a:r>
          </a:p>
        </p:txBody>
      </p:sp>
      <p:sp>
        <p:nvSpPr>
          <p:cNvPr id="3" name="t"/>
          <p:cNvSpPr txBox="1"/>
          <p:nvPr/>
        </p:nvSpPr>
        <p:spPr>
          <a:xfrm>
            <a:off x="502920" y="766064"/>
            <a:ext cx="8138160" cy="1014984"/>
          </a:xfrm>
          <a:prstGeom prst="roundRect">
            <a:avLst/>
          </a:prstGeom>
          <a:solidFill>
            <a:srgbClr val="141B28"/>
          </a:solidFill>
        </p:spPr>
        <p:txBody>
          <a:bodyPr wrap="square" lIns="91440" tIns="45720" rIns="91440" bIns="45720">
            <a:noAutofit/>
          </a:bodyPr>
          <a:lstStyle/>
          <a:p>
            <a:r>
              <a:rPr lang="en-US" sz="900">
                <a:solidFill>
                  <a:srgbClr val="7BD88F"/>
                </a:solidFill>
                <a:latin typeface="Courier New"/>
              </a:rPr>
              <a:t>datomic:sql://inventory?jdbc:postgresql://localhost:5432/datomic?user=datomic&amp;password=datomic</a:t>
            </a:r>
          </a:p>
          <a:p>
            <a:r>
              <a:rPr lang="en-US" sz="900">
                <a:solidFill>
                  <a:srgbClr val="7BD88F"/>
                </a:solidFill>
                <a:latin typeface="Courier New"/>
              </a:rPr>
              <a:t>        ^^^   ^^^^^^^^^ ^^^^^^^^^^^^^^^^^^^^^^^^^^^^^^^^^^^^^^^^^^^^^^^^^^^^^^^^^^^^^^^^^^^^^^</a:t>
            </a:r>
          </a:p>
          <a:p>
            <a:r>
              <a:rPr lang="en-US" sz="900">
                <a:solidFill>
                  <a:srgbClr val="7BD88F"/>
                </a:solidFill>
                <a:latin typeface="Courier New"/>
              </a:rPr>
              <a:t>        |     |         |</a:t>
            </a:r>
          </a:p>
          <a:p>
            <a:r>
              <a:rPr lang="en-US" sz="900">
                <a:solidFill>
                  <a:srgbClr val="7BD88F"/>
                </a:solidFill>
                <a:latin typeface="Courier New"/>
              </a:rPr>
              <a:t>        |     |         the ENTIRE jdbc uri, as the query string</a:t>
            </a:r>
          </a:p>
          <a:p>
            <a:r>
              <a:rPr lang="en-US" sz="900">
                <a:solidFill>
                  <a:srgbClr val="7BD88F"/>
                </a:solidFill>
                <a:latin typeface="Courier New"/>
              </a:rPr>
              <a:t>        |     the Datomic database name</a:t>
            </a:r>
          </a:p>
          <a:p>
            <a:r>
              <a:rPr lang="en-US" sz="900">
                <a:solidFill>
                  <a:srgbClr val="7BD88F"/>
                </a:solidFill>
                <a:latin typeface="Courier New"/>
              </a:rPr>
              <a:t>        the storage protocol</a:t>
            </a:r>
          </a:p>
        </p:txBody>
      </p:sp>
      <p:sp>
        <p:nvSpPr>
          <p:cNvPr id="4" name="t"/>
          <p:cNvSpPr txBox="1"/>
          <p:nvPr/>
        </p:nvSpPr>
        <p:spPr>
          <a:xfrm>
            <a:off x="502920" y="1968500"/>
            <a:ext cx="8138160" cy="178816"/>
          </a:xfrm>
          <a:prstGeom prst="rect">
            <a:avLst/>
          </a:prstGeom>
        </p:spPr>
        <p:txBody>
          <a:bodyPr wrap="square" lIns="91440" tIns="45720" rIns="91440" bIns="45720">
            <a:noAutofit/>
          </a:bodyPr>
          <a:lstStyle/>
          <a:p>
            <a:r>
              <a:rPr lang="en-US" sz="1100">
                <a:solidFill>
                  <a:srgbClr val="FFC66D"/>
                </a:solidFill>
                <a:latin typeface="Calibri"/>
              </a:rPr>
              <a:t>▸ Yes — there are two question marks, and the second one belongs to JDBC. This trips up everyone once.</a:t>
            </a:r>
          </a:p>
        </p:txBody>
      </p:sp>
      <p:sp>
        <p:nvSpPr>
          <p:cNvPr id="5" name="t"/>
          <p:cNvSpPr txBox="1"/>
          <p:nvPr/>
        </p:nvSpPr>
        <p:spPr>
          <a:xfrm>
            <a:off x="502920" y="2147316"/>
            <a:ext cx="8138160" cy="178816"/>
          </a:xfrm>
          <a:prstGeom prst="rect">
            <a:avLst/>
          </a:prstGeom>
        </p:spPr>
        <p:txBody>
          <a:bodyPr wrap="square" lIns="91440" tIns="45720" rIns="91440" bIns="45720">
            <a:noAutofit/>
          </a:bodyPr>
          <a:lstStyle/>
          <a:p>
            <a:r>
              <a:rPr lang="en-US" sz="1100">
                <a:solidFill>
                  <a:srgbClr val="E8EDF6"/>
                </a:solidFill>
                <a:latin typeface="Calibri"/>
              </a:rPr>
              <a:t>▸ One JDBC database holds MANY Datomic databases. The name before the ? is the Datomic one.</a:t>
            </a:r>
          </a:p>
        </p:txBody>
      </p:sp>
      <p:sp>
        <p:nvSpPr>
          <p:cNvPr id="6" name="t"/>
          <p:cNvSpPr txBox="1"/>
          <p:nvPr/>
        </p:nvSpPr>
        <p:spPr>
          <a:xfrm>
            <a:off x="502920" y="2326132"/>
            <a:ext cx="8138160" cy="178816"/>
          </a:xfrm>
          <a:prstGeom prst="rect">
            <a:avLst/>
          </a:prstGeom>
        </p:spPr>
        <p:txBody>
          <a:bodyPr wrap="square" lIns="91440" tIns="45720" rIns="91440" bIns="45720">
            <a:noAutofit/>
          </a:bodyPr>
          <a:lstStyle/>
          <a:p>
            <a:r>
              <a:rPr lang="en-US" sz="1100">
                <a:solidFill>
                  <a:srgbClr val="E8EDF6"/>
                </a:solidFill>
                <a:latin typeface="Calibri"/>
              </a:rPr>
              <a:t>▸ Use * as the database name to list them: datomic:sql://*?jdbc:...</a:t>
            </a:r>
          </a:p>
        </p:txBody>
      </p:sp>
      <p:sp>
        <p:nvSpPr>
          <p:cNvPr id="7" name="t"/>
          <p:cNvSpPr txBox="1"/>
          <p:nvPr/>
        </p:nvSpPr>
        <p:spPr>
          <a:xfrm>
            <a:off x="502920" y="2504948"/>
            <a:ext cx="8138160" cy="178816"/>
          </a:xfrm>
          <a:prstGeom prst="rect">
            <a:avLst/>
          </a:prstGeom>
        </p:spPr>
        <p:txBody>
          <a:bodyPr wrap="square" lIns="91440" tIns="45720" rIns="91440" bIns="45720">
            <a:noAutofit/>
          </a:bodyPr>
          <a:lstStyle/>
          <a:p>
            <a:r>
              <a:rPr lang="en-US" sz="1100">
                <a:solidFill>
                  <a:srgbClr val="7BD88F"/>
                </a:solidFill>
                <a:latin typeface="Calibri"/>
              </a:rPr>
              <a:t>▸ Add read-only=true for a connection that needs no transactor at all (d/db and d/log only)</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Storage is a key/value store</a:t>
            </a:r>
          </a:p>
        </p:txBody>
      </p:sp>
      <p:sp>
        <p:nvSpPr>
          <p:cNvPr id="3" name="t"/>
          <p:cNvSpPr txBox="1"/>
          <p:nvPr/>
        </p:nvSpPr>
        <p:spPr>
          <a:xfrm>
            <a:off x="502920" y="766064"/>
            <a:ext cx="8138160" cy="1437640"/>
          </a:xfrm>
          <a:prstGeom prst="roundRect">
            <a:avLst/>
          </a:prstGeom>
          <a:solidFill>
            <a:srgbClr val="141B28"/>
          </a:solidFill>
        </p:spPr>
        <p:txBody>
          <a:bodyPr wrap="square" lIns="91440" tIns="45720" rIns="91440" bIns="45720">
            <a:noAutofit/>
          </a:bodyPr>
          <a:lstStyle/>
          <a:p>
            <a:r>
              <a:rPr lang="en-US" sz="1000">
                <a:solidFill>
                  <a:srgbClr val="7BD88F"/>
                </a:solidFill>
                <a:latin typeface="Courier New"/>
              </a:rPr>
              <a:t>-- bin/sql/postgres-table.sql, shipped with the distribution</a:t>
            </a:r>
          </a:p>
          <a:p>
            <a:r>
              <a:rPr lang="en-US" sz="1000">
                <a:solidFill>
                  <a:srgbClr val="7BD88F"/>
                </a:solidFill>
                <a:latin typeface="Courier New"/>
              </a:rPr>
              <a:t>CREATE TABLE datomic_kvs (</a:t>
            </a:r>
          </a:p>
          <a:p>
            <a:r>
              <a:rPr lang="en-US" sz="1000">
                <a:solidFill>
                  <a:srgbClr val="7BD88F"/>
                </a:solidFill>
                <a:latin typeface="Courier New"/>
              </a:rPr>
              <a:t>  id   text NOT NULL,</a:t>
            </a:r>
          </a:p>
          <a:p>
            <a:r>
              <a:rPr lang="en-US" sz="1000">
                <a:solidFill>
                  <a:srgbClr val="7BD88F"/>
                </a:solidFill>
                <a:latin typeface="Courier New"/>
              </a:rPr>
              <a:t>  rev  integer,</a:t>
            </a:r>
          </a:p>
          <a:p>
            <a:r>
              <a:rPr lang="en-US" sz="1000">
                <a:solidFill>
                  <a:srgbClr val="7BD88F"/>
                </a:solidFill>
                <a:latin typeface="Courier New"/>
              </a:rPr>
              <a:t>  map  text,</a:t>
            </a:r>
          </a:p>
          <a:p>
            <a:r>
              <a:rPr lang="en-US" sz="1000">
                <a:solidFill>
                  <a:srgbClr val="7BD88F"/>
                </a:solidFill>
                <a:latin typeface="Courier New"/>
              </a:rPr>
              <a:t>  val  bytea,</a:t>
            </a:r>
          </a:p>
          <a:p>
            <a:r>
              <a:rPr lang="en-US" sz="1000">
                <a:solidFill>
                  <a:srgbClr val="7BD88F"/>
                </a:solidFill>
                <a:latin typeface="Courier New"/>
              </a:rPr>
              <a:t>  CONSTRAINT pk_id PRIMARY KEY (id)</a:t>
            </a:r>
          </a:p>
          <a:p>
            <a:r>
              <a:rPr lang="en-US" sz="1000">
                <a:solidFill>
                  <a:srgbClr val="7BD88F"/>
                </a:solidFill>
                <a:latin typeface="Courier New"/>
              </a:rPr>
              <a:t>);</a:t>
            </a:r>
          </a:p>
        </p:txBody>
      </p:sp>
      <p:sp>
        <p:nvSpPr>
          <p:cNvPr id="4" name="t"/>
          <p:cNvSpPr txBox="1"/>
          <p:nvPr/>
        </p:nvSpPr>
        <p:spPr>
          <a:xfrm>
            <a:off x="502920" y="2391156"/>
            <a:ext cx="8138160" cy="178816"/>
          </a:xfrm>
          <a:prstGeom prst="rect">
            <a:avLst/>
          </a:prstGeom>
        </p:spPr>
        <p:txBody>
          <a:bodyPr wrap="square" lIns="91440" tIns="45720" rIns="91440" bIns="45720">
            <a:noAutofit/>
          </a:bodyPr>
          <a:lstStyle/>
          <a:p>
            <a:r>
              <a:rPr lang="en-US" sz="1100">
                <a:solidFill>
                  <a:srgbClr val="E8EDF6"/>
                </a:solidFill>
                <a:latin typeface="Calibri"/>
              </a:rPr>
              <a:t>▸ ONE table for the entire system — every Datomic database in this storage lives in it</a:t>
            </a:r>
          </a:p>
        </p:txBody>
      </p:sp>
      <p:sp>
        <p:nvSpPr>
          <p:cNvPr id="5" name="t"/>
          <p:cNvSpPr txBox="1"/>
          <p:nvPr/>
        </p:nvSpPr>
        <p:spPr>
          <a:xfrm>
            <a:off x="502920" y="2569972"/>
            <a:ext cx="8138160" cy="178816"/>
          </a:xfrm>
          <a:prstGeom prst="rect">
            <a:avLst/>
          </a:prstGeom>
        </p:spPr>
        <p:txBody>
          <a:bodyPr wrap="square" lIns="91440" tIns="45720" rIns="91440" bIns="45720">
            <a:noAutofit/>
          </a:bodyPr>
          <a:lstStyle/>
          <a:p>
            <a:r>
              <a:rPr lang="en-US" sz="1100">
                <a:solidFill>
                  <a:srgbClr val="E8EDF6"/>
                </a:solidFill>
                <a:latin typeface="Calibri"/>
              </a:rPr>
              <a:t>▸ val is a compressed segment: thousands of datoms in one opaque blob</a:t>
            </a:r>
          </a:p>
        </p:txBody>
      </p:sp>
      <p:sp>
        <p:nvSpPr>
          <p:cNvPr id="6" name="t"/>
          <p:cNvSpPr txBox="1"/>
          <p:nvPr/>
        </p:nvSpPr>
        <p:spPr>
          <a:xfrm>
            <a:off x="502920" y="2748788"/>
            <a:ext cx="8138160" cy="178816"/>
          </a:xfrm>
          <a:prstGeom prst="rect">
            <a:avLst/>
          </a:prstGeom>
        </p:spPr>
        <p:txBody>
          <a:bodyPr wrap="square" lIns="91440" tIns="45720" rIns="91440" bIns="45720">
            <a:noAutofit/>
          </a:bodyPr>
          <a:lstStyle/>
          <a:p>
            <a:r>
              <a:rPr lang="en-US" sz="1100">
                <a:solidFill>
                  <a:srgbClr val="FFC66D"/>
                </a:solidFill>
                <a:latin typeface="Calibri"/>
              </a:rPr>
              <a:t>▸ rev exists to support compare-and-swap on the root records</a:t>
            </a:r>
          </a:p>
        </p:txBody>
      </p:sp>
      <p:sp>
        <p:nvSpPr>
          <p:cNvPr id="7" name="t"/>
          <p:cNvSpPr txBox="1"/>
          <p:nvPr/>
        </p:nvSpPr>
        <p:spPr>
          <a:xfrm>
            <a:off x="502920" y="2927604"/>
            <a:ext cx="8138160" cy="178816"/>
          </a:xfrm>
          <a:prstGeom prst="rect">
            <a:avLst/>
          </a:prstGeom>
        </p:spPr>
        <p:txBody>
          <a:bodyPr wrap="square" lIns="91440" tIns="45720" rIns="91440" bIns="45720">
            <a:noAutofit/>
          </a:bodyPr>
          <a:lstStyle/>
          <a:p>
            <a:r>
              <a:rPr lang="en-US" sz="1100">
                <a:solidFill>
                  <a:srgbClr val="F28FAD"/>
                </a:solidFill>
                <a:latin typeface="Calibri"/>
              </a:rPr>
              <a:t>▸ There is no Datomic semantics visible in SQL. You cannot query your data here, and you should not try.</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What Datomic actually asks of storage</a:t>
            </a:r>
          </a:p>
        </p:txBody>
      </p:sp>
      <p:sp>
        <p:nvSpPr>
          <p:cNvPr id="3" name="t"/>
          <p:cNvSpPr txBox="1"/>
          <p:nvPr/>
        </p:nvSpPr>
        <p:spPr>
          <a:xfrm>
            <a:off x="502920" y="766064"/>
            <a:ext cx="2651760" cy="457200"/>
          </a:xfrm>
          <a:prstGeom prst="roundRect">
            <a:avLst/>
          </a:prstGeom>
          <a:solidFill>
            <a:srgbClr val="6FA8FF"/>
          </a:solidFill>
        </p:spPr>
        <p:txBody>
          <a:bodyPr wrap="square" lIns="91440" tIns="45720" rIns="91440" bIns="45720">
            <a:noAutofit/>
          </a:bodyPr>
          <a:lstStyle/>
          <a:p>
            <a:pPr algn="ctr"/>
            <a:r>
              <a:rPr lang="en-US" sz="1100" b="1">
                <a:solidFill>
                  <a:srgbClr val="0F1420"/>
                </a:solidFill>
                <a:latin typeface="Calibri"/>
              </a:rPr>
              <a:t>get a key</a:t>
            </a:r>
          </a:p>
        </p:txBody>
      </p:sp>
      <p:sp>
        <p:nvSpPr>
          <p:cNvPr id="4" name="t"/>
          <p:cNvSpPr txBox="1"/>
          <p:nvPr/>
        </p:nvSpPr>
        <p:spPr>
          <a:xfrm>
            <a:off x="3246120" y="766064"/>
            <a:ext cx="2651760" cy="457200"/>
          </a:xfrm>
          <a:prstGeom prst="roundRect">
            <a:avLst/>
          </a:prstGeom>
          <a:solidFill>
            <a:srgbClr val="6FA8FF"/>
          </a:solidFill>
        </p:spPr>
        <p:txBody>
          <a:bodyPr wrap="square" lIns="91440" tIns="45720" rIns="91440" bIns="45720">
            <a:noAutofit/>
          </a:bodyPr>
          <a:lstStyle/>
          <a:p>
            <a:pPr algn="ctr"/>
            <a:r>
              <a:rPr lang="en-US" sz="1100" b="1">
                <a:solidFill>
                  <a:srgbClr val="0F1420"/>
                </a:solidFill>
                <a:latin typeface="Calibri"/>
              </a:rPr>
              <a:t>put a key</a:t>
            </a:r>
          </a:p>
        </p:txBody>
      </p:sp>
      <p:sp>
        <p:nvSpPr>
          <p:cNvPr id="5" name="t"/>
          <p:cNvSpPr txBox="1"/>
          <p:nvPr/>
        </p:nvSpPr>
        <p:spPr>
          <a:xfrm>
            <a:off x="5989320" y="766064"/>
            <a:ext cx="2651760" cy="457200"/>
          </a:xfrm>
          <a:prstGeom prst="roundRect">
            <a:avLst/>
          </a:prstGeom>
          <a:solidFill>
            <a:srgbClr val="FFC66D"/>
          </a:solidFill>
        </p:spPr>
        <p:txBody>
          <a:bodyPr wrap="square" lIns="91440" tIns="45720" rIns="91440" bIns="45720">
            <a:noAutofit/>
          </a:bodyPr>
          <a:lstStyle/>
          <a:p>
            <a:pPr algn="ctr"/>
            <a:r>
              <a:rPr lang="en-US" sz="1100" b="1">
                <a:solidFill>
                  <a:srgbClr val="0F1420"/>
                </a:solidFill>
                <a:latin typeface="Calibri"/>
              </a:rPr>
              <a:t>conditional put on the root</a:t>
            </a:r>
          </a:p>
        </p:txBody>
      </p:sp>
      <p:sp>
        <p:nvSpPr>
          <p:cNvPr id="6" name="t"/>
          <p:cNvSpPr txBox="1"/>
          <p:nvPr/>
        </p:nvSpPr>
        <p:spPr>
          <a:xfrm>
            <a:off x="502920" y="1410716"/>
            <a:ext cx="8138160" cy="186944"/>
          </a:xfrm>
          <a:prstGeom prst="rect">
            <a:avLst/>
          </a:prstGeom>
        </p:spPr>
        <p:txBody>
          <a:bodyPr wrap="square" lIns="91440" tIns="45720" rIns="91440" bIns="45720">
            <a:noAutofit/>
          </a:bodyPr>
          <a:lstStyle/>
          <a:p>
            <a:r>
              <a:rPr lang="en-US" sz="1150">
                <a:solidFill>
                  <a:srgbClr val="6FA8FF"/>
                </a:solidFill>
                <a:latin typeface="Calibri"/>
              </a:rPr>
              <a:t>▸ Read a segment by id — the hot path, and the only one that has to be fast</a:t>
            </a:r>
          </a:p>
        </p:txBody>
      </p:sp>
      <p:sp>
        <p:nvSpPr>
          <p:cNvPr id="7" name="t"/>
          <p:cNvSpPr txBox="1"/>
          <p:nvPr/>
        </p:nvSpPr>
        <p:spPr>
          <a:xfrm>
            <a:off x="502920" y="1597660"/>
            <a:ext cx="8138160" cy="186944"/>
          </a:xfrm>
          <a:prstGeom prst="rect">
            <a:avLst/>
          </a:prstGeom>
        </p:spPr>
        <p:txBody>
          <a:bodyPr wrap="square" lIns="91440" tIns="45720" rIns="91440" bIns="45720">
            <a:noAutofit/>
          </a:bodyPr>
          <a:lstStyle/>
          <a:p>
            <a:r>
              <a:rPr lang="en-US" sz="1150">
                <a:solidFill>
                  <a:srgbClr val="6FA8FF"/>
                </a:solidFill>
                <a:latin typeface="Calibri"/>
              </a:rPr>
              <a:t>▸ Write a segment by id — immutable once written, so no locking and no read-modify-write</a:t>
            </a:r>
          </a:p>
        </p:txBody>
      </p:sp>
      <p:sp>
        <p:nvSpPr>
          <p:cNvPr id="8" name="t"/>
          <p:cNvSpPr txBox="1"/>
          <p:nvPr/>
        </p:nvSpPr>
        <p:spPr>
          <a:xfrm>
            <a:off x="502920" y="1784604"/>
            <a:ext cx="8138160" cy="373888"/>
          </a:xfrm>
          <a:prstGeom prst="rect">
            <a:avLst/>
          </a:prstGeom>
        </p:spPr>
        <p:txBody>
          <a:bodyPr wrap="square" lIns="91440" tIns="45720" rIns="91440" bIns="45720">
            <a:noAutofit/>
          </a:bodyPr>
          <a:lstStyle/>
          <a:p>
            <a:r>
              <a:rPr lang="en-US" sz="1150">
                <a:solidFill>
                  <a:srgbClr val="FFC66D"/>
                </a:solidFill>
                <a:latin typeface="Calibri"/>
              </a:rPr>
              <a:t>▸ Compare-and-swap the root pointer — the ONE place that needs consistency, and the reason rev exists in datomic_kvs</a:t>
            </a:r>
          </a:p>
        </p:txBody>
      </p:sp>
      <p:sp>
        <p:nvSpPr>
          <p:cNvPr id="9" name="t"/>
          <p:cNvSpPr txBox="1"/>
          <p:nvPr/>
        </p:nvSpPr>
        <p:spPr>
          <a:xfrm>
            <a:off x="502920" y="2323084"/>
            <a:ext cx="45720" cy="627888"/>
          </a:xfrm>
          <a:prstGeom prst="rect">
            <a:avLst/>
          </a:prstGeom>
          <a:solidFill>
            <a:srgbClr val="7BD88F"/>
          </a:solidFill>
        </p:spPr>
        <p:txBody>
          <a:bodyPr wrap="square" lIns="91440" tIns="45720" rIns="91440" bIns="45720">
            <a:noAutofit/>
          </a:bodyPr>
          <a:lstStyle/>
        </p:txBody>
      </p:sp>
      <p:sp>
        <p:nvSpPr>
          <p:cNvPr id="10" name="t"/>
          <p:cNvSpPr txBox="1"/>
          <p:nvPr/>
        </p:nvSpPr>
        <p:spPr>
          <a:xfrm>
            <a:off x="594360" y="2323084"/>
            <a:ext cx="8046720" cy="627888"/>
          </a:xfrm>
          <a:prstGeom prst="rect">
            <a:avLst/>
          </a:prstGeom>
        </p:spPr>
        <p:txBody>
          <a:bodyPr wrap="square" lIns="91440" tIns="45720" rIns="91440" bIns="45720">
            <a:noAutofit/>
          </a:bodyPr>
          <a:lstStyle/>
          <a:p>
            <a:r>
              <a:rPr lang="en-US" sz="1100">
                <a:solidFill>
                  <a:srgbClr val="E8EDF6"/>
                </a:solidFill>
                <a:latin typeface="Calibri"/>
              </a:rPr>
              <a:t>●  That is the whole contract. No joins, no transactions, no secondary indexes, no schema. Anything that can do those three things can be Datomic storage — which is why the same binary runs on Postgres, DynamoDB and Cassandra.</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storage scorecard</a:t>
            </a:r>
          </a:p>
        </p:txBody>
      </p:sp>
      <p:sp>
        <p:nvSpPr>
          <p:cNvPr id="3" name="t"/>
          <p:cNvSpPr txBox="1"/>
          <p:nvPr/>
        </p:nvSpPr>
        <p:spPr>
          <a:xfrm>
            <a:off x="502920" y="766064"/>
            <a:ext cx="1220724" cy="231140"/>
          </a:xfrm>
          <a:prstGeom prst="rect">
            <a:avLst/>
          </a:prstGeom>
        </p:spPr>
        <p:txBody>
          <a:bodyPr wrap="square" lIns="91440" tIns="45720" rIns="91440" bIns="45720">
            <a:noAutofit/>
          </a:bodyPr>
          <a:lstStyle/>
          <a:p>
            <a:r>
              <a:rPr lang="en-US" sz="1000" b="1">
                <a:solidFill>
                  <a:srgbClr val="6FA8FF"/>
                </a:solidFill>
                <a:latin typeface="Calibri"/>
              </a:rPr>
              <a:t>Storage</a:t>
            </a:r>
          </a:p>
        </p:txBody>
      </p:sp>
      <p:sp>
        <p:nvSpPr>
          <p:cNvPr id="4" name="t"/>
          <p:cNvSpPr txBox="1"/>
          <p:nvPr/>
        </p:nvSpPr>
        <p:spPr>
          <a:xfrm>
            <a:off x="1723644" y="766064"/>
            <a:ext cx="2115921" cy="231140"/>
          </a:xfrm>
          <a:prstGeom prst="rect">
            <a:avLst/>
          </a:prstGeom>
        </p:spPr>
        <p:txBody>
          <a:bodyPr wrap="square" lIns="91440" tIns="45720" rIns="91440" bIns="45720">
            <a:noAutofit/>
          </a:bodyPr>
          <a:lstStyle/>
          <a:p>
            <a:r>
              <a:rPr lang="en-US" sz="1000" b="1">
                <a:solidFill>
                  <a:srgbClr val="6FA8FF"/>
                </a:solidFill>
                <a:latin typeface="Calibri"/>
              </a:rPr>
              <a:t>Setup cost</a:t>
            </a:r>
          </a:p>
        </p:txBody>
      </p:sp>
      <p:sp>
        <p:nvSpPr>
          <p:cNvPr id="5" name="t"/>
          <p:cNvSpPr txBox="1"/>
          <p:nvPr/>
        </p:nvSpPr>
        <p:spPr>
          <a:xfrm>
            <a:off x="3839565" y="766064"/>
            <a:ext cx="1627632" cy="231140"/>
          </a:xfrm>
          <a:prstGeom prst="rect">
            <a:avLst/>
          </a:prstGeom>
        </p:spPr>
        <p:txBody>
          <a:bodyPr wrap="square" lIns="91440" tIns="45720" rIns="91440" bIns="45720">
            <a:noAutofit/>
          </a:bodyPr>
          <a:lstStyle/>
          <a:p>
            <a:r>
              <a:rPr lang="en-US" sz="1000" b="1">
                <a:solidFill>
                  <a:srgbClr val="6FA8FF"/>
                </a:solidFill>
                <a:latin typeface="Calibri"/>
              </a:rPr>
              <a:t>Throughput knob</a:t>
            </a:r>
          </a:p>
        </p:txBody>
      </p:sp>
      <p:sp>
        <p:nvSpPr>
          <p:cNvPr id="6" name="t"/>
          <p:cNvSpPr txBox="1"/>
          <p:nvPr/>
        </p:nvSpPr>
        <p:spPr>
          <a:xfrm>
            <a:off x="5467197" y="766064"/>
            <a:ext cx="3173882" cy="231140"/>
          </a:xfrm>
          <a:prstGeom prst="rect">
            <a:avLst/>
          </a:prstGeom>
        </p:spPr>
        <p:txBody>
          <a:bodyPr wrap="square" lIns="91440" tIns="45720" rIns="91440" bIns="45720">
            <a:noAutofit/>
          </a:bodyPr>
          <a:lstStyle/>
          <a:p>
            <a:r>
              <a:rPr lang="en-US" sz="1000" b="1">
                <a:solidFill>
                  <a:srgbClr val="6FA8FF"/>
                </a:solidFill>
                <a:latin typeface="Calibri"/>
              </a:rPr>
              <a:t>Watch out for</a:t>
            </a:r>
          </a:p>
        </p:txBody>
      </p:sp>
      <p:sp>
        <p:nvSpPr>
          <p:cNvPr id="7" name="t"/>
          <p:cNvSpPr txBox="1"/>
          <p:nvPr/>
        </p:nvSpPr>
        <p:spPr>
          <a:xfrm>
            <a:off x="457200" y="997204"/>
            <a:ext cx="8229600" cy="393700"/>
          </a:xfrm>
          <a:prstGeom prst="rect">
            <a:avLst/>
          </a:prstGeom>
          <a:solidFill>
            <a:srgbClr val="141B28"/>
          </a:solidFill>
        </p:spPr>
        <p:txBody>
          <a:bodyPr wrap="square" lIns="91440" tIns="45720" rIns="91440" bIns="45720">
            <a:noAutofit/>
          </a:bodyPr>
          <a:lstStyle/>
        </p:txBody>
      </p:sp>
      <p:sp>
        <p:nvSpPr>
          <p:cNvPr id="8" name="t"/>
          <p:cNvSpPr txBox="1"/>
          <p:nvPr/>
        </p:nvSpPr>
        <p:spPr>
          <a:xfrm>
            <a:off x="502920" y="997204"/>
            <a:ext cx="1220724" cy="393700"/>
          </a:xfrm>
          <a:prstGeom prst="rect">
            <a:avLst/>
          </a:prstGeom>
        </p:spPr>
        <p:txBody>
          <a:bodyPr wrap="square" lIns="91440" tIns="45720" rIns="91440" bIns="45720">
            <a:noAutofit/>
          </a:bodyPr>
          <a:lstStyle/>
          <a:p>
            <a:r>
              <a:rPr lang="en-US" sz="1000" b="1">
                <a:solidFill>
                  <a:srgbClr val="E8EDF6"/>
                </a:solidFill>
                <a:latin typeface="Calibri"/>
              </a:rPr>
              <a:t>dev (H2)</a:t>
            </a:r>
          </a:p>
        </p:txBody>
      </p:sp>
      <p:sp>
        <p:nvSpPr>
          <p:cNvPr id="9" name="t"/>
          <p:cNvSpPr txBox="1"/>
          <p:nvPr/>
        </p:nvSpPr>
        <p:spPr>
          <a:xfrm>
            <a:off x="1723644" y="997204"/>
            <a:ext cx="2115921" cy="393700"/>
          </a:xfrm>
          <a:prstGeom prst="rect">
            <a:avLst/>
          </a:prstGeom>
        </p:spPr>
        <p:txBody>
          <a:bodyPr wrap="square" lIns="91440" tIns="45720" rIns="91440" bIns="45720">
            <a:noAutofit/>
          </a:bodyPr>
          <a:lstStyle/>
          <a:p>
            <a:r>
              <a:rPr lang="en-US" sz="1000">
                <a:solidFill>
                  <a:srgbClr val="8FA0B8"/>
                </a:solidFill>
                <a:latin typeface="Calibri"/>
              </a:rPr>
              <a:t>none — it is in the transactor</a:t>
            </a:r>
          </a:p>
        </p:txBody>
      </p:sp>
      <p:sp>
        <p:nvSpPr>
          <p:cNvPr id="10" name="t"/>
          <p:cNvSpPr txBox="1"/>
          <p:nvPr/>
        </p:nvSpPr>
        <p:spPr>
          <a:xfrm>
            <a:off x="3839565" y="997204"/>
            <a:ext cx="1627632" cy="393700"/>
          </a:xfrm>
          <a:prstGeom prst="rect">
            <a:avLst/>
          </a:prstGeom>
        </p:spPr>
        <p:txBody>
          <a:bodyPr wrap="square" lIns="91440" tIns="45720" rIns="91440" bIns="45720">
            <a:noAutofit/>
          </a:bodyPr>
          <a:lstStyle/>
          <a:p>
            <a:r>
              <a:rPr lang="en-US" sz="1000">
                <a:solidFill>
                  <a:srgbClr val="8FA0B8"/>
                </a:solidFill>
                <a:latin typeface="Calibri"/>
              </a:rPr>
              <a:t>none</a:t>
            </a:r>
          </a:p>
        </p:txBody>
      </p:sp>
      <p:sp>
        <p:nvSpPr>
          <p:cNvPr id="11" name="t"/>
          <p:cNvSpPr txBox="1"/>
          <p:nvPr/>
        </p:nvSpPr>
        <p:spPr>
          <a:xfrm>
            <a:off x="5467197" y="997204"/>
            <a:ext cx="3173882" cy="393700"/>
          </a:xfrm>
          <a:prstGeom prst="rect">
            <a:avLst/>
          </a:prstGeom>
        </p:spPr>
        <p:txBody>
          <a:bodyPr wrap="square" lIns="91440" tIns="45720" rIns="91440" bIns="45720">
            <a:noAutofit/>
          </a:bodyPr>
          <a:lstStyle/>
          <a:p>
            <a:r>
              <a:rPr lang="en-US" sz="1000">
                <a:solidFill>
                  <a:srgbClr val="8FA0B8"/>
                </a:solidFill>
                <a:latin typeface="Calibri"/>
              </a:rPr>
              <a:t>one machine, dev only; passwords default to local-only</a:t>
            </a:r>
          </a:p>
        </p:txBody>
      </p:sp>
      <p:sp>
        <p:nvSpPr>
          <p:cNvPr id="12" name="t"/>
          <p:cNvSpPr txBox="1"/>
          <p:nvPr/>
        </p:nvSpPr>
        <p:spPr>
          <a:xfrm>
            <a:off x="502920" y="1390904"/>
            <a:ext cx="1220724" cy="393700"/>
          </a:xfrm>
          <a:prstGeom prst="rect">
            <a:avLst/>
          </a:prstGeom>
        </p:spPr>
        <p:txBody>
          <a:bodyPr wrap="square" lIns="91440" tIns="45720" rIns="91440" bIns="45720">
            <a:noAutofit/>
          </a:bodyPr>
          <a:lstStyle/>
          <a:p>
            <a:r>
              <a:rPr lang="en-US" sz="1000" b="1">
                <a:solidFill>
                  <a:srgbClr val="E8EDF6"/>
                </a:solidFill>
                <a:latin typeface="Calibri"/>
              </a:rPr>
              <a:t>SQL</a:t>
            </a:r>
          </a:p>
        </p:txBody>
      </p:sp>
      <p:sp>
        <p:nvSpPr>
          <p:cNvPr id="13" name="t"/>
          <p:cNvSpPr txBox="1"/>
          <p:nvPr/>
        </p:nvSpPr>
        <p:spPr>
          <a:xfrm>
            <a:off x="1723644" y="1390904"/>
            <a:ext cx="2115921" cy="393700"/>
          </a:xfrm>
          <a:prstGeom prst="rect">
            <a:avLst/>
          </a:prstGeom>
        </p:spPr>
        <p:txBody>
          <a:bodyPr wrap="square" lIns="91440" tIns="45720" rIns="91440" bIns="45720">
            <a:noAutofit/>
          </a:bodyPr>
          <a:lstStyle/>
          <a:p>
            <a:r>
              <a:rPr lang="en-US" sz="1000">
                <a:solidFill>
                  <a:srgbClr val="8FA0B8"/>
                </a:solidFill>
                <a:latin typeface="Calibri"/>
              </a:rPr>
              <a:t>three scripts from bin/sql</a:t>
            </a:r>
          </a:p>
        </p:txBody>
      </p:sp>
      <p:sp>
        <p:nvSpPr>
          <p:cNvPr id="14" name="t"/>
          <p:cNvSpPr txBox="1"/>
          <p:nvPr/>
        </p:nvSpPr>
        <p:spPr>
          <a:xfrm>
            <a:off x="3839565" y="1390904"/>
            <a:ext cx="1627632" cy="393700"/>
          </a:xfrm>
          <a:prstGeom prst="rect">
            <a:avLst/>
          </a:prstGeom>
        </p:spPr>
        <p:txBody>
          <a:bodyPr wrap="square" lIns="91440" tIns="45720" rIns="91440" bIns="45720">
            <a:noAutofit/>
          </a:bodyPr>
          <a:lstStyle/>
          <a:p>
            <a:r>
              <a:rPr lang="en-US" sz="1000">
                <a:solidFill>
                  <a:srgbClr val="8FA0B8"/>
                </a:solidFill>
                <a:latin typeface="Calibri"/>
              </a:rPr>
              <a:t>your database server</a:t>
            </a:r>
          </a:p>
        </p:txBody>
      </p:sp>
      <p:sp>
        <p:nvSpPr>
          <p:cNvPr id="15" name="t"/>
          <p:cNvSpPr txBox="1"/>
          <p:nvPr/>
        </p:nvSpPr>
        <p:spPr>
          <a:xfrm>
            <a:off x="5467197" y="1390904"/>
            <a:ext cx="3173882" cy="393700"/>
          </a:xfrm>
          <a:prstGeom prst="rect">
            <a:avLst/>
          </a:prstGeom>
        </p:spPr>
        <p:txBody>
          <a:bodyPr wrap="square" lIns="91440" tIns="45720" rIns="91440" bIns="45720">
            <a:noAutofit/>
          </a:bodyPr>
          <a:lstStyle/>
          <a:p>
            <a:r>
              <a:rPr lang="en-US" sz="1000">
                <a:solidFill>
                  <a:srgbClr val="8FA0B8"/>
                </a:solidFill>
                <a:latin typeface="Calibri"/>
              </a:rPr>
              <a:t>you now operate a database whose latency IS write latency</a:t>
            </a:r>
          </a:p>
        </p:txBody>
      </p:sp>
      <p:sp>
        <p:nvSpPr>
          <p:cNvPr id="16" name="t"/>
          <p:cNvSpPr txBox="1"/>
          <p:nvPr/>
        </p:nvSpPr>
        <p:spPr>
          <a:xfrm>
            <a:off x="457200" y="1784604"/>
            <a:ext cx="8229600" cy="393700"/>
          </a:xfrm>
          <a:prstGeom prst="rect">
            <a:avLst/>
          </a:prstGeom>
          <a:solidFill>
            <a:srgbClr val="141B28"/>
          </a:solidFill>
        </p:spPr>
        <p:txBody>
          <a:bodyPr wrap="square" lIns="91440" tIns="45720" rIns="91440" bIns="45720">
            <a:noAutofit/>
          </a:bodyPr>
          <a:lstStyle/>
        </p:txBody>
      </p:sp>
      <p:sp>
        <p:nvSpPr>
          <p:cNvPr id="17" name="t"/>
          <p:cNvSpPr txBox="1"/>
          <p:nvPr/>
        </p:nvSpPr>
        <p:spPr>
          <a:xfrm>
            <a:off x="502920" y="1784604"/>
            <a:ext cx="1220724" cy="393700"/>
          </a:xfrm>
          <a:prstGeom prst="rect">
            <a:avLst/>
          </a:prstGeom>
        </p:spPr>
        <p:txBody>
          <a:bodyPr wrap="square" lIns="91440" tIns="45720" rIns="91440" bIns="45720">
            <a:noAutofit/>
          </a:bodyPr>
          <a:lstStyle/>
          <a:p>
            <a:r>
              <a:rPr lang="en-US" sz="1000" b="1">
                <a:solidFill>
                  <a:srgbClr val="E8EDF6"/>
                </a:solidFill>
                <a:latin typeface="Calibri"/>
              </a:rPr>
              <a:t>DynamoDB</a:t>
            </a:r>
          </a:p>
        </p:txBody>
      </p:sp>
      <p:sp>
        <p:nvSpPr>
          <p:cNvPr id="18" name="t"/>
          <p:cNvSpPr txBox="1"/>
          <p:nvPr/>
        </p:nvSpPr>
        <p:spPr>
          <a:xfrm>
            <a:off x="1723644" y="1784604"/>
            <a:ext cx="2115921" cy="393700"/>
          </a:xfrm>
          <a:prstGeom prst="rect">
            <a:avLst/>
          </a:prstGeom>
        </p:spPr>
        <p:txBody>
          <a:bodyPr wrap="square" lIns="91440" tIns="45720" rIns="91440" bIns="45720">
            <a:noAutofit/>
          </a:bodyPr>
          <a:lstStyle/>
          <a:p>
            <a:r>
              <a:rPr lang="en-US" sz="1000">
                <a:solidFill>
                  <a:srgbClr val="8FA0B8"/>
                </a:solidFill>
                <a:latin typeface="Calibri"/>
              </a:rPr>
              <a:t>bin/datomic ensure-transactor</a:t>
            </a:r>
          </a:p>
        </p:txBody>
      </p:sp>
      <p:sp>
        <p:nvSpPr>
          <p:cNvPr id="19" name="t"/>
          <p:cNvSpPr txBox="1"/>
          <p:nvPr/>
        </p:nvSpPr>
        <p:spPr>
          <a:xfrm>
            <a:off x="3839565" y="1784604"/>
            <a:ext cx="1627632" cy="393700"/>
          </a:xfrm>
          <a:prstGeom prst="rect">
            <a:avLst/>
          </a:prstGeom>
        </p:spPr>
        <p:txBody>
          <a:bodyPr wrap="square" lIns="91440" tIns="45720" rIns="91440" bIns="45720">
            <a:noAutofit/>
          </a:bodyPr>
          <a:lstStyle/>
          <a:p>
            <a:r>
              <a:rPr lang="en-US" sz="1000">
                <a:solidFill>
                  <a:srgbClr val="8FA0B8"/>
                </a:solidFill>
                <a:latin typeface="Calibri"/>
              </a:rPr>
              <a:t>provisioned capacity</a:t>
            </a:r>
          </a:p>
        </p:txBody>
      </p:sp>
      <p:sp>
        <p:nvSpPr>
          <p:cNvPr id="20" name="t"/>
          <p:cNvSpPr txBox="1"/>
          <p:nvPr/>
        </p:nvSpPr>
        <p:spPr>
          <a:xfrm>
            <a:off x="5467197" y="1784604"/>
            <a:ext cx="3173882" cy="393700"/>
          </a:xfrm>
          <a:prstGeom prst="rect">
            <a:avLst/>
          </a:prstGeom>
        </p:spPr>
        <p:txBody>
          <a:bodyPr wrap="square" lIns="91440" tIns="45720" rIns="91440" bIns="45720">
            <a:noAutofit/>
          </a:bodyPr>
          <a:lstStyle/>
          <a:p>
            <a:r>
              <a:rPr lang="en-US" sz="1000">
                <a:solidFill>
                  <a:srgbClr val="8FA0B8"/>
                </a:solidFill>
                <a:latin typeface="Calibri"/>
              </a:rPr>
              <a:t>throttling shows up as back pressure; no Global Tables</a:t>
            </a:r>
          </a:p>
        </p:txBody>
      </p:sp>
      <p:sp>
        <p:nvSpPr>
          <p:cNvPr id="21" name="t"/>
          <p:cNvSpPr txBox="1"/>
          <p:nvPr/>
        </p:nvSpPr>
        <p:spPr>
          <a:xfrm>
            <a:off x="502920" y="2178304"/>
            <a:ext cx="1220724" cy="231140"/>
          </a:xfrm>
          <a:prstGeom prst="rect">
            <a:avLst/>
          </a:prstGeom>
        </p:spPr>
        <p:txBody>
          <a:bodyPr wrap="square" lIns="91440" tIns="45720" rIns="91440" bIns="45720">
            <a:noAutofit/>
          </a:bodyPr>
          <a:lstStyle/>
          <a:p>
            <a:r>
              <a:rPr lang="en-US" sz="1000" b="1">
                <a:solidFill>
                  <a:srgbClr val="E8EDF6"/>
                </a:solidFill>
                <a:latin typeface="Calibri"/>
              </a:rPr>
              <a:t>Cassandra 3</a:t>
            </a:r>
          </a:p>
        </p:txBody>
      </p:sp>
      <p:sp>
        <p:nvSpPr>
          <p:cNvPr id="22" name="t"/>
          <p:cNvSpPr txBox="1"/>
          <p:nvPr/>
        </p:nvSpPr>
        <p:spPr>
          <a:xfrm>
            <a:off x="1723644" y="2178304"/>
            <a:ext cx="2115921" cy="231140"/>
          </a:xfrm>
          <a:prstGeom prst="rect">
            <a:avLst/>
          </a:prstGeom>
        </p:spPr>
        <p:txBody>
          <a:bodyPr wrap="square" lIns="91440" tIns="45720" rIns="91440" bIns="45720">
            <a:noAutofit/>
          </a:bodyPr>
          <a:lstStyle/>
          <a:p>
            <a:r>
              <a:rPr lang="en-US" sz="1000">
                <a:solidFill>
                  <a:srgbClr val="8FA0B8"/>
                </a:solidFill>
                <a:latin typeface="Calibri"/>
              </a:rPr>
              <a:t>two CQL scripts, plus a cluster</a:t>
            </a:r>
          </a:p>
        </p:txBody>
      </p:sp>
      <p:sp>
        <p:nvSpPr>
          <p:cNvPr id="23" name="t"/>
          <p:cNvSpPr txBox="1"/>
          <p:nvPr/>
        </p:nvSpPr>
        <p:spPr>
          <a:xfrm>
            <a:off x="3839565" y="2178304"/>
            <a:ext cx="1627632" cy="231140"/>
          </a:xfrm>
          <a:prstGeom prst="rect">
            <a:avLst/>
          </a:prstGeom>
        </p:spPr>
        <p:txBody>
          <a:bodyPr wrap="square" lIns="91440" tIns="45720" rIns="91440" bIns="45720">
            <a:noAutofit/>
          </a:bodyPr>
          <a:lstStyle/>
          <a:p>
            <a:r>
              <a:rPr lang="en-US" sz="1000">
                <a:solidFill>
                  <a:srgbClr val="8FA0B8"/>
                </a:solidFill>
                <a:latin typeface="Calibri"/>
              </a:rPr>
              <a:t>nodes</a:t>
            </a:r>
          </a:p>
        </p:txBody>
      </p:sp>
      <p:sp>
        <p:nvSpPr>
          <p:cNvPr id="24" name="t"/>
          <p:cNvSpPr txBox="1"/>
          <p:nvPr/>
        </p:nvSpPr>
        <p:spPr>
          <a:xfrm>
            <a:off x="5467197" y="2178304"/>
            <a:ext cx="3173882" cy="231140"/>
          </a:xfrm>
          <a:prstGeom prst="rect">
            <a:avLst/>
          </a:prstGeom>
        </p:spPr>
        <p:txBody>
          <a:bodyPr wrap="square" lIns="91440" tIns="45720" rIns="91440" bIns="45720">
            <a:noAutofit/>
          </a:bodyPr>
          <a:lstStyle/>
          <a:p>
            <a:r>
              <a:rPr lang="en-US" sz="1000">
                <a:solidFill>
                  <a:srgbClr val="8FA0B8"/>
                </a:solidFill>
                <a:latin typeface="Calibri"/>
              </a:rPr>
              <a:t>3 nodes minimum, RF 3, single datacenter only</a:t>
            </a:r>
          </a:p>
        </p:txBody>
      </p:sp>
      <p:sp>
        <p:nvSpPr>
          <p:cNvPr id="25" name="t"/>
          <p:cNvSpPr txBox="1"/>
          <p:nvPr/>
        </p:nvSpPr>
        <p:spPr>
          <a:xfrm>
            <a:off x="457200" y="2409444"/>
            <a:ext cx="8229600" cy="231140"/>
          </a:xfrm>
          <a:prstGeom prst="rect">
            <a:avLst/>
          </a:prstGeom>
          <a:solidFill>
            <a:srgbClr val="141B28"/>
          </a:solidFill>
        </p:spPr>
        <p:txBody>
          <a:bodyPr wrap="square" lIns="91440" tIns="45720" rIns="91440" bIns="45720">
            <a:noAutofit/>
          </a:bodyPr>
          <a:lstStyle/>
        </p:txBody>
      </p:sp>
      <p:sp>
        <p:nvSpPr>
          <p:cNvPr id="26" name="t"/>
          <p:cNvSpPr txBox="1"/>
          <p:nvPr/>
        </p:nvSpPr>
        <p:spPr>
          <a:xfrm>
            <a:off x="502920" y="2409444"/>
            <a:ext cx="1220724" cy="231140"/>
          </a:xfrm>
          <a:prstGeom prst="rect">
            <a:avLst/>
          </a:prstGeom>
        </p:spPr>
        <p:txBody>
          <a:bodyPr wrap="square" lIns="91440" tIns="45720" rIns="91440" bIns="45720">
            <a:noAutofit/>
          </a:bodyPr>
          <a:lstStyle/>
          <a:p>
            <a:r>
              <a:rPr lang="en-US" sz="1000" b="1">
                <a:solidFill>
                  <a:srgbClr val="E8EDF6"/>
                </a:solidFill>
                <a:latin typeface="Calibri"/>
              </a:rPr>
              <a:t>mem</a:t>
            </a:r>
          </a:p>
        </p:txBody>
      </p:sp>
      <p:sp>
        <p:nvSpPr>
          <p:cNvPr id="27" name="t"/>
          <p:cNvSpPr txBox="1"/>
          <p:nvPr/>
        </p:nvSpPr>
        <p:spPr>
          <a:xfrm>
            <a:off x="1723644" y="2409444"/>
            <a:ext cx="2115921" cy="231140"/>
          </a:xfrm>
          <a:prstGeom prst="rect">
            <a:avLst/>
          </a:prstGeom>
        </p:spPr>
        <p:txBody>
          <a:bodyPr wrap="square" lIns="91440" tIns="45720" rIns="91440" bIns="45720">
            <a:noAutofit/>
          </a:bodyPr>
          <a:lstStyle/>
          <a:p>
            <a:r>
              <a:rPr lang="en-US" sz="1000">
                <a:solidFill>
                  <a:srgbClr val="8FA0B8"/>
                </a:solidFill>
                <a:latin typeface="Calibri"/>
              </a:rPr>
              <a:t>none</a:t>
            </a:r>
          </a:p>
        </p:txBody>
      </p:sp>
      <p:sp>
        <p:nvSpPr>
          <p:cNvPr id="28" name="t"/>
          <p:cNvSpPr txBox="1"/>
          <p:nvPr/>
        </p:nvSpPr>
        <p:spPr>
          <a:xfrm>
            <a:off x="3839565" y="2409444"/>
            <a:ext cx="1627632" cy="231140"/>
          </a:xfrm>
          <a:prstGeom prst="rect">
            <a:avLst/>
          </a:prstGeom>
        </p:spPr>
        <p:txBody>
          <a:bodyPr wrap="square" lIns="91440" tIns="45720" rIns="91440" bIns="45720">
            <a:noAutofit/>
          </a:bodyPr>
          <a:lstStyle/>
          <a:p>
            <a:r>
              <a:rPr lang="en-US" sz="1000">
                <a:solidFill>
                  <a:srgbClr val="8FA0B8"/>
                </a:solidFill>
                <a:latin typeface="Calibri"/>
              </a:rPr>
              <a:t>n/a</a:t>
            </a:r>
          </a:p>
        </p:txBody>
      </p:sp>
      <p:sp>
        <p:nvSpPr>
          <p:cNvPr id="29" name="t"/>
          <p:cNvSpPr txBox="1"/>
          <p:nvPr/>
        </p:nvSpPr>
        <p:spPr>
          <a:xfrm>
            <a:off x="5467197" y="2409444"/>
            <a:ext cx="3173882" cy="231140"/>
          </a:xfrm>
          <a:prstGeom prst="rect">
            <a:avLst/>
          </a:prstGeom>
        </p:spPr>
        <p:txBody>
          <a:bodyPr wrap="square" lIns="91440" tIns="45720" rIns="91440" bIns="45720">
            <a:noAutofit/>
          </a:bodyPr>
          <a:lstStyle/>
          <a:p>
            <a:r>
              <a:rPr lang="en-US" sz="1000">
                <a:solidFill>
                  <a:srgbClr val="8FA0B8"/>
                </a:solidFill>
                <a:latin typeface="Calibri"/>
              </a:rPr>
              <a:t>no durability at all; not a benchmark target</a:t>
            </a:r>
          </a:p>
        </p:txBody>
      </p:sp>
      <p:sp>
        <p:nvSpPr>
          <p:cNvPr id="30" name="t"/>
          <p:cNvSpPr txBox="1"/>
          <p:nvPr/>
        </p:nvSpPr>
        <p:spPr>
          <a:xfrm>
            <a:off x="502920" y="2805176"/>
            <a:ext cx="8138160" cy="357632"/>
          </a:xfrm>
          <a:prstGeom prst="rect">
            <a:avLst/>
          </a:prstGeom>
        </p:spPr>
        <p:txBody>
          <a:bodyPr wrap="square" lIns="91440" tIns="45720" rIns="91440" bIns="45720">
            <a:noAutofit/>
          </a:bodyPr>
          <a:lstStyle/>
          <a:p>
            <a:r>
              <a:rPr lang="en-US" sz="1100">
                <a:solidFill>
                  <a:srgbClr val="8FA0B8"/>
                </a:solidFill>
                <a:latin typeface="Calibri"/>
              </a:rPr>
              <a:t>All of them are API-compatible. You move between them by changing a connection string and a properties file — or, across storages, by backup and restore.</a:t>
            </a:r>
          </a:p>
        </p:txBody>
      </p:sp>
      <p:sp>
        <p:nvSpPr>
          <p:cNvPr id="3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3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SQL storage, up close</a:t>
            </a:r>
          </a:p>
        </p:txBody>
      </p:sp>
      <p:sp>
        <p:nvSpPr>
          <p:cNvPr id="3" name="t"/>
          <p:cNvSpPr txBox="1"/>
          <p:nvPr/>
        </p:nvSpPr>
        <p:spPr>
          <a:xfrm>
            <a:off x="502920" y="766064"/>
            <a:ext cx="3954780" cy="186944"/>
          </a:xfrm>
          <a:prstGeom prst="rect">
            <a:avLst/>
          </a:prstGeom>
        </p:spPr>
        <p:txBody>
          <a:bodyPr wrap="square" lIns="91440" tIns="45720" rIns="91440" bIns="45720">
            <a:noAutofit/>
          </a:bodyPr>
          <a:lstStyle/>
          <a:p>
            <a:r>
              <a:rPr lang="en-US" sz="1150" b="1">
                <a:solidFill>
                  <a:srgbClr val="7BD88F"/>
                </a:solidFill>
                <a:latin typeface="Calibri"/>
              </a:rPr>
              <a:t>Why teams pick it</a:t>
            </a:r>
          </a:p>
        </p:txBody>
      </p:sp>
      <p:sp>
        <p:nvSpPr>
          <p:cNvPr id="4" name="t"/>
          <p:cNvSpPr txBox="1"/>
          <p:nvPr/>
        </p:nvSpPr>
        <p:spPr>
          <a:xfrm>
            <a:off x="502920" y="1071880"/>
            <a:ext cx="3954780" cy="162560"/>
          </a:xfrm>
          <a:prstGeom prst="rect">
            <a:avLst/>
          </a:prstGeom>
        </p:spPr>
        <p:txBody>
          <a:bodyPr wrap="square" lIns="91440" tIns="45720" rIns="91440" bIns="45720">
            <a:noAutofit/>
          </a:bodyPr>
          <a:lstStyle/>
          <a:p>
            <a:r>
              <a:rPr lang="en-US" sz="1000">
                <a:solidFill>
                  <a:srgbClr val="E8EDF6"/>
                </a:solidFill>
                <a:latin typeface="Calibri"/>
              </a:rPr>
              <a:t>+ You already run Postgres</a:t>
            </a:r>
          </a:p>
        </p:txBody>
      </p:sp>
      <p:sp>
        <p:nvSpPr>
          <p:cNvPr id="5" name="t"/>
          <p:cNvSpPr txBox="1"/>
          <p:nvPr/>
        </p:nvSpPr>
        <p:spPr>
          <a:xfrm>
            <a:off x="502920" y="1234440"/>
            <a:ext cx="3954780" cy="162560"/>
          </a:xfrm>
          <a:prstGeom prst="rect">
            <a:avLst/>
          </a:prstGeom>
        </p:spPr>
        <p:txBody>
          <a:bodyPr wrap="square" lIns="91440" tIns="45720" rIns="91440" bIns="45720">
            <a:noAutofit/>
          </a:bodyPr>
          <a:lstStyle/>
          <a:p>
            <a:r>
              <a:rPr lang="en-US" sz="1000">
                <a:solidFill>
                  <a:srgbClr val="E8EDF6"/>
                </a:solidFill>
                <a:latin typeface="Calibri"/>
              </a:rPr>
              <a:t>+ You already back it up, monitor it, page on it</a:t>
            </a:r>
          </a:p>
        </p:txBody>
      </p:sp>
      <p:sp>
        <p:nvSpPr>
          <p:cNvPr id="6" name="t"/>
          <p:cNvSpPr txBox="1"/>
          <p:nvPr/>
        </p:nvSpPr>
        <p:spPr>
          <a:xfrm>
            <a:off x="502920" y="1397000"/>
            <a:ext cx="3954780" cy="162560"/>
          </a:xfrm>
          <a:prstGeom prst="rect">
            <a:avLst/>
          </a:prstGeom>
        </p:spPr>
        <p:txBody>
          <a:bodyPr wrap="square" lIns="91440" tIns="45720" rIns="91440" bIns="45720">
            <a:noAutofit/>
          </a:bodyPr>
          <a:lstStyle/>
          <a:p>
            <a:r>
              <a:rPr lang="en-US" sz="1000">
                <a:solidFill>
                  <a:srgbClr val="E8EDF6"/>
                </a:solidFill>
                <a:latin typeface="Calibri"/>
              </a:rPr>
              <a:t>+ Runs anywhere: on-prem, any cloud, a laptop</a:t>
            </a:r>
          </a:p>
        </p:txBody>
      </p:sp>
      <p:sp>
        <p:nvSpPr>
          <p:cNvPr id="7" name="t"/>
          <p:cNvSpPr txBox="1"/>
          <p:nvPr/>
        </p:nvSpPr>
        <p:spPr>
          <a:xfrm>
            <a:off x="502920" y="1559560"/>
            <a:ext cx="3954780" cy="162560"/>
          </a:xfrm>
          <a:prstGeom prst="rect">
            <a:avLst/>
          </a:prstGeom>
        </p:spPr>
        <p:txBody>
          <a:bodyPr wrap="square" lIns="91440" tIns="45720" rIns="91440" bIns="45720">
            <a:noAutofit/>
          </a:bodyPr>
          <a:lstStyle/>
          <a:p>
            <a:r>
              <a:rPr lang="en-US" sz="1000">
                <a:solidFill>
                  <a:srgbClr val="E8EDF6"/>
                </a:solidFill>
                <a:latin typeface="Calibri"/>
              </a:rPr>
              <a:t>+ One boring table to reason about</a:t>
            </a:r>
          </a:p>
        </p:txBody>
      </p:sp>
      <p:sp>
        <p:nvSpPr>
          <p:cNvPr id="8" name="t"/>
          <p:cNvSpPr txBox="1"/>
          <p:nvPr/>
        </p:nvSpPr>
        <p:spPr>
          <a:xfrm>
            <a:off x="502920" y="1722120"/>
            <a:ext cx="3954780" cy="162560"/>
          </a:xfrm>
          <a:prstGeom prst="rect">
            <a:avLst/>
          </a:prstGeom>
        </p:spPr>
        <p:txBody>
          <a:bodyPr wrap="square" lIns="91440" tIns="45720" rIns="91440" bIns="45720">
            <a:noAutofit/>
          </a:bodyPr>
          <a:lstStyle/>
          <a:p>
            <a:r>
              <a:rPr lang="en-US" sz="1000">
                <a:solidFill>
                  <a:srgbClr val="E8EDF6"/>
                </a:solidFill>
                <a:latin typeface="Calibri"/>
              </a:rPr>
              <a:t>+ Cheapest thing to get right on day one</a:t>
            </a:r>
          </a:p>
        </p:txBody>
      </p:sp>
      <p:sp>
        <p:nvSpPr>
          <p:cNvPr id="9" name="t"/>
          <p:cNvSpPr txBox="1"/>
          <p:nvPr/>
        </p:nvSpPr>
        <p:spPr>
          <a:xfrm>
            <a:off x="4686300" y="766064"/>
            <a:ext cx="3954780" cy="186944"/>
          </a:xfrm>
          <a:prstGeom prst="rect">
            <a:avLst/>
          </a:prstGeom>
        </p:spPr>
        <p:txBody>
          <a:bodyPr wrap="square" lIns="91440" tIns="45720" rIns="91440" bIns="45720">
            <a:noAutofit/>
          </a:bodyPr>
          <a:lstStyle/>
          <a:p>
            <a:r>
              <a:rPr lang="en-US" sz="1150" b="1">
                <a:solidFill>
                  <a:srgbClr val="F28FAD"/>
                </a:solidFill>
                <a:latin typeface="Calibri"/>
              </a:rPr>
              <a:t>What it costs you</a:t>
            </a:r>
          </a:p>
        </p:txBody>
      </p:sp>
      <p:sp>
        <p:nvSpPr>
          <p:cNvPr id="10" name="t"/>
          <p:cNvSpPr txBox="1"/>
          <p:nvPr/>
        </p:nvSpPr>
        <p:spPr>
          <a:xfrm>
            <a:off x="4686300" y="1071880"/>
            <a:ext cx="3954780" cy="162560"/>
          </a:xfrm>
          <a:prstGeom prst="rect">
            <a:avLst/>
          </a:prstGeom>
        </p:spPr>
        <p:txBody>
          <a:bodyPr wrap="square" lIns="91440" tIns="45720" rIns="91440" bIns="45720">
            <a:noAutofit/>
          </a:bodyPr>
          <a:lstStyle/>
          <a:p>
            <a:r>
              <a:rPr lang="en-US" sz="1000">
                <a:solidFill>
                  <a:srgbClr val="E8EDF6"/>
                </a:solidFill>
                <a:latin typeface="Calibri"/>
              </a:rPr>
              <a:t>- Storage latency is transaction latency</a:t>
            </a:r>
          </a:p>
        </p:txBody>
      </p:sp>
      <p:sp>
        <p:nvSpPr>
          <p:cNvPr id="11" name="t"/>
          <p:cNvSpPr txBox="1"/>
          <p:nvPr/>
        </p:nvSpPr>
        <p:spPr>
          <a:xfrm>
            <a:off x="4686300" y="1234440"/>
            <a:ext cx="3954780" cy="162560"/>
          </a:xfrm>
          <a:prstGeom prst="rect">
            <a:avLst/>
          </a:prstGeom>
        </p:spPr>
        <p:txBody>
          <a:bodyPr wrap="square" lIns="91440" tIns="45720" rIns="91440" bIns="45720">
            <a:noAutofit/>
          </a:bodyPr>
          <a:lstStyle/>
          <a:p>
            <a:r>
              <a:rPr lang="en-US" sz="1000">
                <a:solidFill>
                  <a:srgbClr val="E8EDF6"/>
                </a:solidFill>
                <a:latin typeface="Calibri"/>
              </a:rPr>
              <a:t>- Insert-heavy workload; watch autovacuum and bloat</a:t>
            </a:r>
          </a:p>
        </p:txBody>
      </p:sp>
      <p:sp>
        <p:nvSpPr>
          <p:cNvPr id="12" name="t"/>
          <p:cNvSpPr txBox="1"/>
          <p:nvPr/>
        </p:nvSpPr>
        <p:spPr>
          <a:xfrm>
            <a:off x="4686300" y="1397000"/>
            <a:ext cx="3954780" cy="162560"/>
          </a:xfrm>
          <a:prstGeom prst="rect">
            <a:avLst/>
          </a:prstGeom>
        </p:spPr>
        <p:txBody>
          <a:bodyPr wrap="square" lIns="91440" tIns="45720" rIns="91440" bIns="45720">
            <a:noAutofit/>
          </a:bodyPr>
          <a:lstStyle/>
          <a:p>
            <a:r>
              <a:rPr lang="en-US" sz="1000">
                <a:solidFill>
                  <a:srgbClr val="E8EDF6"/>
                </a:solidFill>
                <a:latin typeface="Calibri"/>
              </a:rPr>
              <a:t>- One table grows forever until you GC</a:t>
            </a:r>
          </a:p>
        </p:txBody>
      </p:sp>
      <p:sp>
        <p:nvSpPr>
          <p:cNvPr id="13" name="t"/>
          <p:cNvSpPr txBox="1"/>
          <p:nvPr/>
        </p:nvSpPr>
        <p:spPr>
          <a:xfrm>
            <a:off x="4686300" y="1559560"/>
            <a:ext cx="3954780" cy="325120"/>
          </a:xfrm>
          <a:prstGeom prst="rect">
            <a:avLst/>
          </a:prstGeom>
        </p:spPr>
        <p:txBody>
          <a:bodyPr wrap="square" lIns="91440" tIns="45720" rIns="91440" bIns="45720">
            <a:noAutofit/>
          </a:bodyPr>
          <a:lstStyle/>
          <a:p>
            <a:r>
              <a:rPr lang="en-US" sz="1000">
                <a:solidFill>
                  <a:srgbClr val="E8EDF6"/>
                </a:solidFill>
                <a:latin typeface="Calibri"/>
              </a:rPr>
              <a:t>- HA is your problem: replicas, failover, connection routing</a:t>
            </a:r>
          </a:p>
        </p:txBody>
      </p:sp>
      <p:sp>
        <p:nvSpPr>
          <p:cNvPr id="14" name="t"/>
          <p:cNvSpPr txBox="1"/>
          <p:nvPr/>
        </p:nvSpPr>
        <p:spPr>
          <a:xfrm>
            <a:off x="4686300" y="1884680"/>
            <a:ext cx="3954780" cy="162560"/>
          </a:xfrm>
          <a:prstGeom prst="rect">
            <a:avLst/>
          </a:prstGeom>
        </p:spPr>
        <p:txBody>
          <a:bodyPr wrap="square" lIns="91440" tIns="45720" rIns="91440" bIns="45720">
            <a:noAutofit/>
          </a:bodyPr>
          <a:lstStyle/>
          <a:p>
            <a:r>
              <a:rPr lang="en-US" sz="1000">
                <a:solidFill>
                  <a:srgbClr val="E8EDF6"/>
                </a:solidFill>
                <a:latin typeface="Calibri"/>
              </a:rPr>
              <a:t>- A read replica is NOT a Datomic backup</a:t>
            </a:r>
          </a:p>
        </p:txBody>
      </p:sp>
      <p:sp>
        <p:nvSpPr>
          <p:cNvPr id="15" name="t"/>
          <p:cNvSpPr txBox="1"/>
          <p:nvPr/>
        </p:nvSpPr>
        <p:spPr>
          <a:xfrm>
            <a:off x="502920" y="2211832"/>
            <a:ext cx="8138160" cy="868680"/>
          </a:xfrm>
          <a:prstGeom prst="roundRect">
            <a:avLst/>
          </a:prstGeom>
          <a:solidFill>
            <a:srgbClr val="141B28"/>
          </a:solidFill>
        </p:spPr>
        <p:txBody>
          <a:bodyPr wrap="square" lIns="91440" tIns="45720" rIns="91440" bIns="45720">
            <a:noAutofit/>
          </a:bodyPr>
          <a:lstStyle/>
          <a:p>
            <a:r>
              <a:rPr lang="en-US" sz="900">
                <a:solidFill>
                  <a:srgbClr val="7BD88F"/>
                </a:solidFill>
                <a:latin typeface="Courier New"/>
              </a:rPr>
              <a:t>sql-url=jdbc:postgresql://localhost:5432/datomic</a:t>
            </a:r>
          </a:p>
          <a:p>
            <a:r>
              <a:rPr lang="en-US" sz="900">
                <a:solidFill>
                  <a:srgbClr val="7BD88F"/>
                </a:solidFill>
                <a:latin typeface="Courier New"/>
              </a:rPr>
              <a:t>sql-user=datomic</a:t>
            </a:r>
          </a:p>
          <a:p>
            <a:r>
              <a:rPr lang="en-US" sz="900">
                <a:solidFill>
                  <a:srgbClr val="7BD88F"/>
                </a:solidFill>
                <a:latin typeface="Courier New"/>
              </a:rPr>
              <a:t>sql-password=datomic</a:t>
            </a:r>
          </a:p>
          <a:p>
            <a:r>
              <a:rPr lang="en-US" sz="900">
                <a:solidFill>
                  <a:srgbClr val="7BD88F"/>
                </a:solidFill>
                <a:latin typeface="Courier New"/>
              </a:rPr>
              <a:t>sql-driver-class=org.postgresql.Driver</a:t>
            </a:r>
          </a:p>
          <a:p>
            <a:r>
              <a:rPr lang="en-US" sz="900">
                <a:solidFill>
                  <a:srgbClr val="7BD88F"/>
                </a:solidFill>
                <a:latin typeface="Courier New"/>
              </a:rPr>
              <a:t>sql-driver-params=ssl=true&amp;sslfactory=org.postgresql.ssl.NonValidatingFactory</a:t>
            </a:r>
          </a:p>
        </p:txBody>
      </p:sp>
      <p:sp>
        <p:nvSpPr>
          <p:cNvPr id="16" name="t"/>
          <p:cNvSpPr txBox="1"/>
          <p:nvPr/>
        </p:nvSpPr>
        <p:spPr>
          <a:xfrm>
            <a:off x="502920" y="3199384"/>
            <a:ext cx="45720" cy="449072"/>
          </a:xfrm>
          <a:prstGeom prst="rect">
            <a:avLst/>
          </a:prstGeom>
          <a:solidFill>
            <a:srgbClr val="FFC66D"/>
          </a:solidFill>
        </p:spPr>
        <p:txBody>
          <a:bodyPr wrap="square" lIns="91440" tIns="45720" rIns="91440" bIns="45720">
            <a:noAutofit/>
          </a:bodyPr>
          <a:lstStyle/>
        </p:txBody>
      </p:sp>
      <p:sp>
        <p:nvSpPr>
          <p:cNvPr id="17" name="t"/>
          <p:cNvSpPr txBox="1"/>
          <p:nvPr/>
        </p:nvSpPr>
        <p:spPr>
          <a:xfrm>
            <a:off x="594360" y="3199384"/>
            <a:ext cx="8046720" cy="449072"/>
          </a:xfrm>
          <a:prstGeom prst="rect">
            <a:avLst/>
          </a:prstGeom>
        </p:spPr>
        <p:txBody>
          <a:bodyPr wrap="square" lIns="91440" tIns="45720" rIns="91440" bIns="45720">
            <a:noAutofit/>
          </a:bodyPr>
          <a:lstStyle/>
          <a:p>
            <a:r>
              <a:rPr lang="en-US" sz="1100">
                <a:solidFill>
                  <a:srgbClr val="E8EDF6"/>
                </a:solidFill>
                <a:latin typeface="Calibri"/>
              </a:rPr>
              <a:t>⚠  Only the PostgreSQL driver ships in the distribution. MySQL and Oracle drivers go in &lt;datomic&gt;/lib for the transactor AND in your peer's deps — the peer talks to storage directly, so it needs the driver too.</a:t>
            </a:r>
          </a:p>
        </p:txBody>
      </p:sp>
      <p:sp>
        <p:nvSpPr>
          <p:cNvPr id="1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DynamoDB, up close</a:t>
            </a:r>
          </a:p>
        </p:txBody>
      </p:sp>
      <p:sp>
        <p:nvSpPr>
          <p:cNvPr id="3" name="t"/>
          <p:cNvSpPr txBox="1"/>
          <p:nvPr/>
        </p:nvSpPr>
        <p:spPr>
          <a:xfrm>
            <a:off x="502920" y="766064"/>
            <a:ext cx="3954780" cy="186944"/>
          </a:xfrm>
          <a:prstGeom prst="rect">
            <a:avLst/>
          </a:prstGeom>
        </p:spPr>
        <p:txBody>
          <a:bodyPr wrap="square" lIns="91440" tIns="45720" rIns="91440" bIns="45720">
            <a:noAutofit/>
          </a:bodyPr>
          <a:lstStyle/>
          <a:p>
            <a:r>
              <a:rPr lang="en-US" sz="1150" b="1">
                <a:solidFill>
                  <a:srgbClr val="7BD88F"/>
                </a:solidFill>
                <a:latin typeface="Calibri"/>
              </a:rPr>
              <a:t>Why teams pick it</a:t>
            </a:r>
          </a:p>
        </p:txBody>
      </p:sp>
      <p:sp>
        <p:nvSpPr>
          <p:cNvPr id="4" name="t"/>
          <p:cNvSpPr txBox="1"/>
          <p:nvPr/>
        </p:nvSpPr>
        <p:spPr>
          <a:xfrm>
            <a:off x="502920" y="1071880"/>
            <a:ext cx="3954780" cy="162560"/>
          </a:xfrm>
          <a:prstGeom prst="rect">
            <a:avLst/>
          </a:prstGeom>
        </p:spPr>
        <p:txBody>
          <a:bodyPr wrap="square" lIns="91440" tIns="45720" rIns="91440" bIns="45720">
            <a:noAutofit/>
          </a:bodyPr>
          <a:lstStyle/>
          <a:p>
            <a:r>
              <a:rPr lang="en-US" sz="1000">
                <a:solidFill>
                  <a:srgbClr val="E8EDF6"/>
                </a:solidFill>
                <a:latin typeface="Calibri"/>
              </a:rPr>
              <a:t>+ No server to operate, at all</a:t>
            </a:r>
          </a:p>
        </p:txBody>
      </p:sp>
      <p:sp>
        <p:nvSpPr>
          <p:cNvPr id="5" name="t"/>
          <p:cNvSpPr txBox="1"/>
          <p:nvPr/>
        </p:nvSpPr>
        <p:spPr>
          <a:xfrm>
            <a:off x="502920" y="1234440"/>
            <a:ext cx="3954780" cy="162560"/>
          </a:xfrm>
          <a:prstGeom prst="rect">
            <a:avLst/>
          </a:prstGeom>
        </p:spPr>
        <p:txBody>
          <a:bodyPr wrap="square" lIns="91440" tIns="45720" rIns="91440" bIns="45720">
            <a:noAutofit/>
          </a:bodyPr>
          <a:lstStyle/>
          <a:p>
            <a:r>
              <a:rPr lang="en-US" sz="1000">
                <a:solidFill>
                  <a:srgbClr val="E8EDF6"/>
                </a:solidFill>
                <a:latin typeface="Calibri"/>
              </a:rPr>
              <a:t>+ The AWS default for Datomic Pro</a:t>
            </a:r>
          </a:p>
        </p:txBody>
      </p:sp>
      <p:sp>
        <p:nvSpPr>
          <p:cNvPr id="6" name="t"/>
          <p:cNvSpPr txBox="1"/>
          <p:nvPr/>
        </p:nvSpPr>
        <p:spPr>
          <a:xfrm>
            <a:off x="502920" y="1397000"/>
            <a:ext cx="3954780" cy="162560"/>
          </a:xfrm>
          <a:prstGeom prst="rect">
            <a:avLst/>
          </a:prstGeom>
        </p:spPr>
        <p:txBody>
          <a:bodyPr wrap="square" lIns="91440" tIns="45720" rIns="91440" bIns="45720">
            <a:noAutofit/>
          </a:bodyPr>
          <a:lstStyle/>
          <a:p>
            <a:r>
              <a:rPr lang="en-US" sz="1000">
                <a:solidFill>
                  <a:srgbClr val="E8EDF6"/>
                </a:solidFill>
                <a:latin typeface="Calibri"/>
              </a:rPr>
              <a:t>+ Scales by turning a dial, not by adding nodes</a:t>
            </a:r>
          </a:p>
        </p:txBody>
      </p:sp>
      <p:sp>
        <p:nvSpPr>
          <p:cNvPr id="7" name="t"/>
          <p:cNvSpPr txBox="1"/>
          <p:nvPr/>
        </p:nvSpPr>
        <p:spPr>
          <a:xfrm>
            <a:off x="502920" y="1559560"/>
            <a:ext cx="3954780" cy="162560"/>
          </a:xfrm>
          <a:prstGeom prst="rect">
            <a:avLst/>
          </a:prstGeom>
        </p:spPr>
        <p:txBody>
          <a:bodyPr wrap="square" lIns="91440" tIns="45720" rIns="91440" bIns="45720">
            <a:noAutofit/>
          </a:bodyPr>
          <a:lstStyle/>
          <a:p>
            <a:r>
              <a:rPr lang="en-US" sz="1000">
                <a:solidFill>
                  <a:srgbClr val="E8EDF6"/>
                </a:solidFill>
                <a:latin typeface="Calibri"/>
              </a:rPr>
              <a:t>+ Setup is one command: ensure-transactor</a:t>
            </a:r>
          </a:p>
        </p:txBody>
      </p:sp>
      <p:sp>
        <p:nvSpPr>
          <p:cNvPr id="8" name="t"/>
          <p:cNvSpPr txBox="1"/>
          <p:nvPr/>
        </p:nvSpPr>
        <p:spPr>
          <a:xfrm>
            <a:off x="502920" y="1722120"/>
            <a:ext cx="3954780" cy="162560"/>
          </a:xfrm>
          <a:prstGeom prst="rect">
            <a:avLst/>
          </a:prstGeom>
        </p:spPr>
        <p:txBody>
          <a:bodyPr wrap="square" lIns="91440" tIns="45720" rIns="91440" bIns="45720">
            <a:noAutofit/>
          </a:bodyPr>
          <a:lstStyle/>
          <a:p>
            <a:r>
              <a:rPr lang="en-US" sz="1000">
                <a:solidFill>
                  <a:srgbClr val="E8EDF6"/>
                </a:solidFill>
                <a:latin typeface="Calibri"/>
              </a:rPr>
              <a:t>+ Excellent CloudWatch metrics for free</a:t>
            </a:r>
          </a:p>
        </p:txBody>
      </p:sp>
      <p:sp>
        <p:nvSpPr>
          <p:cNvPr id="9" name="t"/>
          <p:cNvSpPr txBox="1"/>
          <p:nvPr/>
        </p:nvSpPr>
        <p:spPr>
          <a:xfrm>
            <a:off x="4686300" y="766064"/>
            <a:ext cx="3954780" cy="186944"/>
          </a:xfrm>
          <a:prstGeom prst="rect">
            <a:avLst/>
          </a:prstGeom>
        </p:spPr>
        <p:txBody>
          <a:bodyPr wrap="square" lIns="91440" tIns="45720" rIns="91440" bIns="45720">
            <a:noAutofit/>
          </a:bodyPr>
          <a:lstStyle/>
          <a:p>
            <a:r>
              <a:rPr lang="en-US" sz="1150" b="1">
                <a:solidFill>
                  <a:srgbClr val="F28FAD"/>
                </a:solidFill>
                <a:latin typeface="Calibri"/>
              </a:rPr>
              <a:t>What it costs you</a:t>
            </a:r>
          </a:p>
        </p:txBody>
      </p:sp>
      <p:sp>
        <p:nvSpPr>
          <p:cNvPr id="10" name="t"/>
          <p:cNvSpPr txBox="1"/>
          <p:nvPr/>
        </p:nvSpPr>
        <p:spPr>
          <a:xfrm>
            <a:off x="4686300" y="1071880"/>
            <a:ext cx="3954780" cy="162560"/>
          </a:xfrm>
          <a:prstGeom prst="rect">
            <a:avLst/>
          </a:prstGeom>
        </p:spPr>
        <p:txBody>
          <a:bodyPr wrap="square" lIns="91440" tIns="45720" rIns="91440" bIns="45720">
            <a:noAutofit/>
          </a:bodyPr>
          <a:lstStyle/>
          <a:p>
            <a:r>
              <a:rPr lang="en-US" sz="1000">
                <a:solidFill>
                  <a:srgbClr val="E8EDF6"/>
                </a:solidFill>
                <a:latin typeface="Calibri"/>
              </a:rPr>
              <a:t>- You pay for provisioned capacity, not usage</a:t>
            </a:r>
          </a:p>
        </p:txBody>
      </p:sp>
      <p:sp>
        <p:nvSpPr>
          <p:cNvPr id="11" name="t"/>
          <p:cNvSpPr txBox="1"/>
          <p:nvPr/>
        </p:nvSpPr>
        <p:spPr>
          <a:xfrm>
            <a:off x="4686300" y="1234440"/>
            <a:ext cx="3954780" cy="162560"/>
          </a:xfrm>
          <a:prstGeom prst="rect">
            <a:avLst/>
          </a:prstGeom>
        </p:spPr>
        <p:txBody>
          <a:bodyPr wrap="square" lIns="91440" tIns="45720" rIns="91440" bIns="45720">
            <a:noAutofit/>
          </a:bodyPr>
          <a:lstStyle/>
          <a:p>
            <a:r>
              <a:rPr lang="en-US" sz="1000">
                <a:solidFill>
                  <a:srgbClr val="E8EDF6"/>
                </a:solidFill>
                <a:latin typeface="Calibri"/>
              </a:rPr>
              <a:t>- Under-provisioned = throttling = back pressure</a:t>
            </a:r>
          </a:p>
        </p:txBody>
      </p:sp>
      <p:sp>
        <p:nvSpPr>
          <p:cNvPr id="12" name="t"/>
          <p:cNvSpPr txBox="1"/>
          <p:nvPr/>
        </p:nvSpPr>
        <p:spPr>
          <a:xfrm>
            <a:off x="4686300" y="1397000"/>
            <a:ext cx="3954780" cy="162560"/>
          </a:xfrm>
          <a:prstGeom prst="rect">
            <a:avLst/>
          </a:prstGeom>
        </p:spPr>
        <p:txBody>
          <a:bodyPr wrap="square" lIns="91440" tIns="45720" rIns="91440" bIns="45720">
            <a:noAutofit/>
          </a:bodyPr>
          <a:lstStyle/>
          <a:p>
            <a:r>
              <a:rPr lang="en-US" sz="1000">
                <a:solidFill>
                  <a:srgbClr val="E8EDF6"/>
                </a:solidFill>
                <a:latin typeface="Calibri"/>
              </a:rPr>
              <a:t>- AWS only, and IAM roles become part of your deploy</a:t>
            </a:r>
          </a:p>
        </p:txBody>
      </p:sp>
      <p:sp>
        <p:nvSpPr>
          <p:cNvPr id="13" name="t"/>
          <p:cNvSpPr txBox="1"/>
          <p:nvPr/>
        </p:nvSpPr>
        <p:spPr>
          <a:xfrm>
            <a:off x="4686300" y="1559560"/>
            <a:ext cx="3954780" cy="162560"/>
          </a:xfrm>
          <a:prstGeom prst="rect">
            <a:avLst/>
          </a:prstGeom>
        </p:spPr>
        <p:txBody>
          <a:bodyPr wrap="square" lIns="91440" tIns="45720" rIns="91440" bIns="45720">
            <a:noAutofit/>
          </a:bodyPr>
          <a:lstStyle/>
          <a:p>
            <a:r>
              <a:rPr lang="en-US" sz="1000">
                <a:solidFill>
                  <a:srgbClr val="E8EDF6"/>
                </a:solidFill>
                <a:latin typeface="Calibri"/>
              </a:rPr>
              <a:t>- Not compatible with DynamoDB Global Tables</a:t>
            </a:r>
          </a:p>
        </p:txBody>
      </p:sp>
      <p:sp>
        <p:nvSpPr>
          <p:cNvPr id="14" name="t"/>
          <p:cNvSpPr txBox="1"/>
          <p:nvPr/>
        </p:nvSpPr>
        <p:spPr>
          <a:xfrm>
            <a:off x="4686300" y="1722120"/>
            <a:ext cx="3954780" cy="162560"/>
          </a:xfrm>
          <a:prstGeom prst="rect">
            <a:avLst/>
          </a:prstGeom>
        </p:spPr>
        <p:txBody>
          <a:bodyPr wrap="square" lIns="91440" tIns="45720" rIns="91440" bIns="45720">
            <a:noAutofit/>
          </a:bodyPr>
          <a:lstStyle/>
          <a:p>
            <a:r>
              <a:rPr lang="en-US" sz="1000">
                <a:solidFill>
                  <a:srgbClr val="E8EDF6"/>
                </a:solidFill>
                <a:latin typeface="Calibri"/>
              </a:rPr>
              <a:t>- Bulk imports need the dial turned up, then back down</a:t>
            </a:r>
          </a:p>
        </p:txBody>
      </p:sp>
      <p:sp>
        <p:nvSpPr>
          <p:cNvPr id="15" name="t"/>
          <p:cNvSpPr txBox="1"/>
          <p:nvPr/>
        </p:nvSpPr>
        <p:spPr>
          <a:xfrm>
            <a:off x="502920" y="2049272"/>
            <a:ext cx="8138160" cy="341376"/>
          </a:xfrm>
          <a:prstGeom prst="rect">
            <a:avLst/>
          </a:prstGeom>
        </p:spPr>
        <p:txBody>
          <a:bodyPr wrap="square" lIns="91440" tIns="45720" rIns="91440" bIns="45720">
            <a:noAutofit/>
          </a:bodyPr>
          <a:lstStyle/>
          <a:p>
            <a:r>
              <a:rPr lang="en-US" sz="1050">
                <a:solidFill>
                  <a:srgbClr val="FFC66D"/>
                </a:solidFill>
                <a:latin typeface="Calibri"/>
              </a:rPr>
              <a:t>▸ The docs' own budgeting rule: spend at least as much on DynamoDB throughput as on transactor EC2 instances, split evenly between read and write capacity</a:t>
            </a:r>
          </a:p>
        </p:txBody>
      </p:sp>
      <p:sp>
        <p:nvSpPr>
          <p:cNvPr id="16" name="t"/>
          <p:cNvSpPr txBox="1"/>
          <p:nvPr/>
        </p:nvSpPr>
        <p:spPr>
          <a:xfrm>
            <a:off x="502920" y="2390648"/>
            <a:ext cx="8138160" cy="341376"/>
          </a:xfrm>
          <a:prstGeom prst="rect">
            <a:avLst/>
          </a:prstGeom>
        </p:spPr>
        <p:txBody>
          <a:bodyPr wrap="square" lIns="91440" tIns="45720" rIns="91440" bIns="45720">
            <a:noAutofit/>
          </a:bodyPr>
          <a:lstStyle/>
          <a:p>
            <a:r>
              <a:rPr lang="en-US" sz="1050">
                <a:solidFill>
                  <a:srgbClr val="E8EDF6"/>
                </a:solidFill>
                <a:latin typeface="Calibri"/>
              </a:rPr>
              <a:t>▸ datomic.ddbRequestTimeout defaults to 1000 ms — turn it down in a low-latency system to fail over faster when DDB misbehaves</a:t>
            </a:r>
          </a:p>
        </p:txBody>
      </p:sp>
      <p:sp>
        <p:nvSpPr>
          <p:cNvPr id="17" name="t"/>
          <p:cNvSpPr txBox="1"/>
          <p:nvPr/>
        </p:nvSpPr>
        <p:spPr>
          <a:xfrm>
            <a:off x="502920" y="2732024"/>
            <a:ext cx="8138160" cy="341376"/>
          </a:xfrm>
          <a:prstGeom prst="rect">
            <a:avLst/>
          </a:prstGeom>
        </p:spPr>
        <p:txBody>
          <a:bodyPr wrap="square" lIns="91440" tIns="45720" rIns="91440" bIns="45720">
            <a:noAutofit/>
          </a:bodyPr>
          <a:lstStyle/>
          <a:p>
            <a:r>
              <a:rPr lang="en-US" sz="1050">
                <a:solidFill>
                  <a:srgbClr val="7BD88F"/>
                </a:solidFill>
                <a:latin typeface="Calibri"/>
              </a:rPr>
              <a:t>▸ ensure-transactor creates the table, the IAM roles, the S3 log bucket and the permissions, and writes you a new properties file</a:t>
            </a:r>
          </a:p>
        </p:txBody>
      </p:sp>
      <p:sp>
        <p:nvSpPr>
          <p:cNvPr id="1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rest of the field</a:t>
            </a:r>
          </a:p>
        </p:txBody>
      </p:sp>
      <p:sp>
        <p:nvSpPr>
          <p:cNvPr id="3" name="t"/>
          <p:cNvSpPr txBox="1"/>
          <p:nvPr/>
        </p:nvSpPr>
        <p:spPr>
          <a:xfrm>
            <a:off x="502920" y="766064"/>
            <a:ext cx="2621280" cy="1564431"/>
          </a:xfrm>
          <a:prstGeom prst="roundRect">
            <a:avLst/>
          </a:prstGeom>
          <a:solidFill>
            <a:srgbClr val="18202F"/>
          </a:solidFill>
        </p:spPr>
        <p:txBody>
          <a:bodyPr wrap="square" lIns="91440" tIns="45720" rIns="91440" bIns="45720">
            <a:noAutofit/>
          </a:bodyPr>
          <a:lstStyle/>
          <a:p>
            <a:r>
              <a:rPr lang="en-US" sz="1200" b="1">
                <a:solidFill>
                  <a:srgbClr val="FFC66D"/>
                </a:solidFill>
                <a:latin typeface="Calibri"/>
              </a:rPr>
              <a:t>Cassandra 3</a:t>
            </a:r>
          </a:p>
          <a:p>
            <a:endParaRPr lang="en-US" sz="500"/>
          </a:p>
          <a:p>
            <a:r>
              <a:rPr lang="en-US" sz="980">
                <a:solidFill>
                  <a:srgbClr val="E8EDF6"/>
                </a:solidFill>
                <a:latin typeface="Calibri"/>
              </a:rPr>
              <a:t>For shops already running Cassandra</a:t>
            </a:r>
          </a:p>
          <a:p>
            <a:r>
              <a:rPr lang="en-US" sz="980">
                <a:solidFill>
                  <a:srgbClr val="E8EDF6"/>
                </a:solidFill>
                <a:latin typeface="Calibri"/>
              </a:rPr>
              <a:t>AstraDB and AWS Keyspaces work</a:t>
            </a:r>
          </a:p>
          <a:p>
            <a:r>
              <a:rPr lang="en-US" sz="980">
                <a:solidFill>
                  <a:srgbClr val="E8EDF6"/>
                </a:solidFill>
                <a:latin typeface="Calibri"/>
              </a:rPr>
              <a:t>Needs 3 nodes, replication factor 3</a:t>
            </a:r>
          </a:p>
          <a:p>
            <a:r>
              <a:rPr lang="en-US" sz="980">
                <a:solidFill>
                  <a:srgbClr val="E8EDF6"/>
                </a:solidFill>
                <a:latin typeface="Calibri"/>
              </a:rPr>
              <a:t>ONE datacenter — no multi-DC replication</a:t>
            </a:r>
          </a:p>
          <a:p>
            <a:r>
              <a:rPr lang="en-US" sz="980">
                <a:solidFill>
                  <a:srgbClr val="E8EDF6"/>
                </a:solidFill>
                <a:latin typeface="Calibri"/>
              </a:rPr>
              <a:t>cass, cass2 and cass3 are different storages</a:t>
            </a:r>
          </a:p>
        </p:txBody>
      </p:sp>
      <p:sp>
        <p:nvSpPr>
          <p:cNvPr id="4" name="t"/>
          <p:cNvSpPr txBox="1"/>
          <p:nvPr/>
        </p:nvSpPr>
        <p:spPr>
          <a:xfrm>
            <a:off x="3261360" y="766064"/>
            <a:ext cx="2621280" cy="1564431"/>
          </a:xfrm>
          <a:prstGeom prst="roundRect">
            <a:avLst/>
          </a:prstGeom>
          <a:solidFill>
            <a:srgbClr val="18202F"/>
          </a:solidFill>
        </p:spPr>
        <p:txBody>
          <a:bodyPr wrap="square" lIns="91440" tIns="45720" rIns="91440" bIns="45720">
            <a:noAutofit/>
          </a:bodyPr>
          <a:lstStyle/>
          <a:p>
            <a:r>
              <a:rPr lang="en-US" sz="1200" b="1">
                <a:solidFill>
                  <a:srgbClr val="C09BFF"/>
                </a:solidFill>
                <a:latin typeface="Calibri"/>
              </a:rPr>
              <a:t>dev / H2</a:t>
            </a:r>
          </a:p>
          <a:p>
            <a:endParaRPr lang="en-US" sz="500"/>
          </a:p>
          <a:p>
            <a:r>
              <a:rPr lang="en-US" sz="980">
                <a:solidFill>
                  <a:srgbClr val="E8EDF6"/>
                </a:solidFill>
                <a:latin typeface="Calibri"/>
              </a:rPr>
              <a:t>Storage embedded in the transactor</a:t>
            </a:r>
          </a:p>
          <a:p>
            <a:r>
              <a:rPr lang="en-US" sz="980">
                <a:solidFill>
                  <a:srgbClr val="E8EDF6"/>
                </a:solidFill>
                <a:latin typeface="Calibri"/>
              </a:rPr>
              <a:t>Real durability, on local disk</a:t>
            </a:r>
          </a:p>
          <a:p>
            <a:r>
              <a:rPr lang="en-US" sz="980">
                <a:solidFill>
                  <a:srgbClr val="E8EDF6"/>
                </a:solidFill>
                <a:latin typeface="Calibri"/>
              </a:rPr>
              <a:t>One machine, development intent</a:t>
            </a:r>
          </a:p>
          <a:p>
            <a:r>
              <a:rPr lang="en-US" sz="980">
                <a:solidFill>
                  <a:srgbClr val="E8EDF6"/>
                </a:solidFill>
                <a:latin typeface="Calibri"/>
              </a:rPr>
              <a:t>Remote peers need passwords set</a:t>
            </a:r>
          </a:p>
          <a:p>
            <a:r>
              <a:rPr lang="en-US" sz="980">
                <a:solidFill>
                  <a:srgbClr val="E8EDF6"/>
                </a:solidFill>
                <a:latin typeface="Calibri"/>
              </a:rPr>
              <a:t>Lose the password, restore from backup</a:t>
            </a:r>
          </a:p>
        </p:txBody>
      </p:sp>
      <p:sp>
        <p:nvSpPr>
          <p:cNvPr id="5" name="t"/>
          <p:cNvSpPr txBox="1"/>
          <p:nvPr/>
        </p:nvSpPr>
        <p:spPr>
          <a:xfrm>
            <a:off x="6019800" y="766064"/>
            <a:ext cx="2621280" cy="1564431"/>
          </a:xfrm>
          <a:prstGeom prst="roundRect">
            <a:avLst/>
          </a:prstGeom>
          <a:solidFill>
            <a:srgbClr val="18202F"/>
          </a:solidFill>
        </p:spPr>
        <p:txBody>
          <a:bodyPr wrap="square" lIns="91440" tIns="45720" rIns="91440" bIns="45720">
            <a:noAutofit/>
          </a:bodyPr>
          <a:lstStyle/>
          <a:p>
            <a:r>
              <a:rPr lang="en-US" sz="1200" b="1">
                <a:solidFill>
                  <a:srgbClr val="6A7891"/>
                </a:solidFill>
                <a:latin typeface="Calibri"/>
              </a:rPr>
              <a:t>Legacy</a:t>
            </a:r>
          </a:p>
          <a:p>
            <a:endParaRPr lang="en-US" sz="500"/>
          </a:p>
          <a:p>
            <a:r>
              <a:rPr lang="en-US" sz="980">
                <a:solidFill>
                  <a:srgbClr val="E8EDF6"/>
                </a:solidFill>
                <a:latin typeface="Calibri"/>
              </a:rPr>
              <a:t>Riak: gone after 1.0.6242</a:t>
            </a:r>
          </a:p>
          <a:p>
            <a:r>
              <a:rPr lang="en-US" sz="980">
                <a:solidFill>
                  <a:srgbClr val="E8EDF6"/>
                </a:solidFill>
                <a:latin typeface="Calibri"/>
              </a:rPr>
              <a:t>Couchbase, Infinispan: Enterprise only</a:t>
            </a:r>
          </a:p>
          <a:p>
            <a:r>
              <a:rPr lang="en-US" sz="980">
                <a:solidFill>
                  <a:srgbClr val="E8EDF6"/>
                </a:solidFill>
                <a:latin typeface="Calibri"/>
              </a:rPr>
              <a:t>Datomic Free: discontinued</a:t>
            </a:r>
          </a:p>
          <a:p>
            <a:r>
              <a:rPr lang="en-US" sz="980">
                <a:solidFill>
                  <a:srgbClr val="E8EDF6"/>
                </a:solidFill>
                <a:latin typeface="Calibri"/>
              </a:rPr>
              <a:t>If you see these, you are on an old system</a:t>
            </a:r>
          </a:p>
          <a:p>
            <a:r>
              <a:rPr lang="en-US" sz="980">
                <a:solidFill>
                  <a:srgbClr val="E8EDF6"/>
                </a:solidFill>
                <a:latin typeface="Calibri"/>
              </a:rPr>
              <a:t>Migration path is backup and restore</a:t>
            </a:r>
          </a:p>
        </p:txBody>
      </p:sp>
      <p:sp>
        <p:nvSpPr>
          <p:cNvPr id="6" name="t"/>
          <p:cNvSpPr txBox="1"/>
          <p:nvPr/>
        </p:nvSpPr>
        <p:spPr>
          <a:xfrm>
            <a:off x="502920" y="2495087"/>
            <a:ext cx="45720" cy="449072"/>
          </a:xfrm>
          <a:prstGeom prst="rect">
            <a:avLst/>
          </a:prstGeom>
          <a:solidFill>
            <a:srgbClr val="7BD88F"/>
          </a:solidFill>
        </p:spPr>
        <p:txBody>
          <a:bodyPr wrap="square" lIns="91440" tIns="45720" rIns="91440" bIns="45720">
            <a:noAutofit/>
          </a:bodyPr>
          <a:lstStyle/>
        </p:txBody>
      </p:sp>
      <p:sp>
        <p:nvSpPr>
          <p:cNvPr id="7" name="t"/>
          <p:cNvSpPr txBox="1"/>
          <p:nvPr/>
        </p:nvSpPr>
        <p:spPr>
          <a:xfrm>
            <a:off x="594360" y="2495087"/>
            <a:ext cx="8046720" cy="449072"/>
          </a:xfrm>
          <a:prstGeom prst="rect">
            <a:avLst/>
          </a:prstGeom>
        </p:spPr>
        <p:txBody>
          <a:bodyPr wrap="square" lIns="91440" tIns="45720" rIns="91440" bIns="45720">
            <a:noAutofit/>
          </a:bodyPr>
          <a:lstStyle/>
          <a:p>
            <a:r>
              <a:rPr lang="en-US" sz="1100">
                <a:solidFill>
                  <a:srgbClr val="E8EDF6"/>
                </a:solidFill>
                <a:latin typeface="Calibri"/>
              </a:rPr>
              <a:t>★  A useful rule: pick the storage your team can already operate at 3am. Datomic is agnostic about this. Your on-call rotation is not.</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A tour of the distribution</a:t>
            </a:r>
          </a:p>
        </p:txBody>
      </p:sp>
      <p:sp>
        <p:nvSpPr>
          <p:cNvPr id="4" name="t"/>
          <p:cNvSpPr txBox="1"/>
          <p:nvPr/>
        </p:nvSpPr>
        <p:spPr>
          <a:xfrm>
            <a:off x="502920" y="971804"/>
            <a:ext cx="8138160" cy="1453896"/>
          </a:xfrm>
          <a:prstGeom prst="roundRect">
            <a:avLst/>
          </a:prstGeom>
          <a:solidFill>
            <a:srgbClr val="141B28"/>
          </a:solidFill>
        </p:spPr>
        <p:txBody>
          <a:bodyPr wrap="square" lIns="91440" tIns="45720" rIns="91440" bIns="45720">
            <a:noAutofit/>
          </a:bodyPr>
          <a:lstStyle/>
          <a:p>
            <a:r>
              <a:rPr lang="en-US" sz="900">
                <a:solidFill>
                  <a:srgbClr val="7BD88F"/>
                </a:solidFill>
                <a:latin typeface="Courier New"/>
              </a:rPr>
              <a:t>$ ls datomic-pro-1.0.7705</a:t>
            </a:r>
          </a:p>
          <a:p>
            <a:r>
              <a:rPr lang="en-US" sz="900">
                <a:solidFill>
                  <a:srgbClr val="7BD88F"/>
                </a:solidFill>
                <a:latin typeface="Courier New"/>
              </a:rPr>
              <a:t>bin/    config/   lib/    resources/   samples/   presto-server/</a:t>
            </a:r>
          </a:p>
          <a:p>
            <a:r>
              <a:rPr lang="en-US" sz="900">
                <a:solidFill>
                  <a:srgbClr val="7BD88F"/>
                </a:solidFill>
                <a:latin typeface="Courier New"/>
              </a:rPr>
              <a:t>peer-1.0.7705.jar    datomic-transactor-pro-1.0.7705.jar</a:t>
            </a:r>
          </a:p>
          <a:p>
            <a:r>
              <a:rPr lang="en-US" sz="900">
                <a:solidFill>
                  <a:srgbClr val="7BD88F"/>
                </a:solidFill>
                <a:latin typeface="Courier New"/>
              </a:rPr>
              <a:t>pom.xml   VERSION   README   CHANGES.md</a:t>
            </a:r>
          </a:p>
          <a:p>
            <a:endParaRPr lang="en-US" sz="900"/>
          </a:p>
          <a:p>
            <a:r>
              <a:rPr lang="en-US" sz="900">
                <a:solidFill>
                  <a:srgbClr val="7BD88F"/>
                </a:solidFill>
                <a:latin typeface="Courier New"/>
              </a:rPr>
              <a:t>$ ls bin</a:t>
            </a:r>
          </a:p>
          <a:p>
            <a:r>
              <a:rPr lang="en-US" sz="900">
                <a:solidFill>
                  <a:srgbClr val="7BD88F"/>
                </a:solidFill>
                <a:latin typeface="Courier New"/>
              </a:rPr>
              <a:t>transactor   datomic    run       repl     repl-jline   shell</a:t>
            </a:r>
          </a:p>
          <a:p>
            <a:r>
              <a:rPr lang="en-US" sz="900">
                <a:solidFill>
                  <a:srgbClr val="7BD88F"/>
                </a:solidFill>
                <a:latin typeface="Courier New"/>
              </a:rPr>
              <a:t>classpath    console    rest      test     presto       maven-install</a:t>
            </a:r>
          </a:p>
          <a:p>
            <a:r>
              <a:rPr lang="en-US" sz="900">
                <a:solidFill>
                  <a:srgbClr val="7BD88F"/>
                </a:solidFill>
                <a:latin typeface="Courier New"/>
              </a:rPr>
              <a:t>sql/         cql/       inf/      logback.xml</a:t>
            </a:r>
          </a:p>
        </p:txBody>
      </p:sp>
      <p:sp>
        <p:nvSpPr>
          <p:cNvPr id="5" name="t"/>
          <p:cNvSpPr txBox="1"/>
          <p:nvPr/>
        </p:nvSpPr>
        <p:spPr>
          <a:xfrm>
            <a:off x="502920" y="2590292"/>
            <a:ext cx="8138160" cy="162560"/>
          </a:xfrm>
          <a:prstGeom prst="rect">
            <a:avLst/>
          </a:prstGeom>
        </p:spPr>
        <p:txBody>
          <a:bodyPr wrap="square" lIns="91440" tIns="45720" rIns="91440" bIns="45720">
            <a:noAutofit/>
          </a:bodyPr>
          <a:lstStyle/>
          <a:p>
            <a:r>
              <a:rPr lang="en-US" sz="1000">
                <a:solidFill>
                  <a:srgbClr val="FFC66D"/>
                </a:solidFill>
                <a:latin typeface="Calibri"/>
              </a:rPr>
              <a:t>▸ transactor — the only long-running process you start by hand</a:t>
            </a:r>
          </a:p>
        </p:txBody>
      </p:sp>
      <p:sp>
        <p:nvSpPr>
          <p:cNvPr id="6" name="t"/>
          <p:cNvSpPr txBox="1"/>
          <p:nvPr/>
        </p:nvSpPr>
        <p:spPr>
          <a:xfrm>
            <a:off x="502920" y="2752852"/>
            <a:ext cx="8138160" cy="162560"/>
          </a:xfrm>
          <a:prstGeom prst="rect">
            <a:avLst/>
          </a:prstGeom>
        </p:spPr>
        <p:txBody>
          <a:bodyPr wrap="square" lIns="91440" tIns="45720" rIns="91440" bIns="45720">
            <a:noAutofit/>
          </a:bodyPr>
          <a:lstStyle/>
          <a:p>
            <a:r>
              <a:rPr lang="en-US" sz="1000">
                <a:solidFill>
                  <a:srgbClr val="7BD88F"/>
                </a:solidFill>
                <a:latin typeface="Calibri"/>
              </a:rPr>
              <a:t>▸ datomic — the CLI: backup, restore, gc-deleted-dbs, AWS provisioning. It is just bin/run --main datomic.</a:t>
            </a:r>
          </a:p>
        </p:txBody>
      </p:sp>
      <p:sp>
        <p:nvSpPr>
          <p:cNvPr id="7" name="t"/>
          <p:cNvSpPr txBox="1"/>
          <p:nvPr/>
        </p:nvSpPr>
        <p:spPr>
          <a:xfrm>
            <a:off x="502920" y="2915412"/>
            <a:ext cx="8138160" cy="162560"/>
          </a:xfrm>
          <a:prstGeom prst="rect">
            <a:avLst/>
          </a:prstGeom>
        </p:spPr>
        <p:txBody>
          <a:bodyPr wrap="square" lIns="91440" tIns="45720" rIns="91440" bIns="45720">
            <a:noAutofit/>
          </a:bodyPr>
          <a:lstStyle/>
          <a:p>
            <a:r>
              <a:rPr lang="en-US" sz="1000">
                <a:solidFill>
                  <a:srgbClr val="6FE3D2"/>
                </a:solidFill>
                <a:latin typeface="Calibri"/>
              </a:rPr>
              <a:t>▸ run — the generic launcher; -X and -D go to the JVM, everything else to Clojure. This is how you start a Peer Server.</a:t>
            </a:r>
          </a:p>
        </p:txBody>
      </p:sp>
      <p:sp>
        <p:nvSpPr>
          <p:cNvPr id="8" name="t"/>
          <p:cNvSpPr txBox="1"/>
          <p:nvPr/>
        </p:nvSpPr>
        <p:spPr>
          <a:xfrm>
            <a:off x="502920" y="3077972"/>
            <a:ext cx="8138160" cy="162560"/>
          </a:xfrm>
          <a:prstGeom prst="rect">
            <a:avLst/>
          </a:prstGeom>
        </p:spPr>
        <p:txBody>
          <a:bodyPr wrap="square" lIns="91440" tIns="45720" rIns="91440" bIns="45720">
            <a:noAutofit/>
          </a:bodyPr>
          <a:lstStyle/>
          <a:p>
            <a:r>
              <a:rPr lang="en-US" sz="1000">
                <a:solidFill>
                  <a:srgbClr val="E8EDF6"/>
                </a:solidFill>
                <a:latin typeface="Calibri"/>
              </a:rPr>
              <a:t>▸ classpath, repl, shell, console — the tools you reach for when something is wrong at 3am</a:t>
            </a:r>
          </a:p>
        </p:txBody>
      </p:sp>
      <p:sp>
        <p:nvSpPr>
          <p:cNvPr id="9" name="t"/>
          <p:cNvSpPr txBox="1"/>
          <p:nvPr/>
        </p:nvSpPr>
        <p:spPr>
          <a:xfrm>
            <a:off x="502920" y="3240532"/>
            <a:ext cx="8138160" cy="162560"/>
          </a:xfrm>
          <a:prstGeom prst="rect">
            <a:avLst/>
          </a:prstGeom>
        </p:spPr>
        <p:txBody>
          <a:bodyPr wrap="square" lIns="91440" tIns="45720" rIns="91440" bIns="45720">
            <a:noAutofit/>
          </a:bodyPr>
          <a:lstStyle/>
          <a:p>
            <a:r>
              <a:rPr lang="en-US" sz="1000">
                <a:solidFill>
                  <a:srgbClr val="6FA8FF"/>
                </a:solidFill>
                <a:latin typeface="Calibri"/>
              </a:rPr>
              <a:t>▸ sql/ and cql/ — the storage setup scripts. config/samples/ has a properties template per protocol.</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Postgres in Docker</a:t>
            </a:r>
          </a:p>
        </p:txBody>
      </p:sp>
      <p:sp>
        <p:nvSpPr>
          <p:cNvPr id="4" name="t"/>
          <p:cNvSpPr txBox="1"/>
          <p:nvPr/>
        </p:nvSpPr>
        <p:spPr>
          <a:xfrm>
            <a:off x="502920" y="971804"/>
            <a:ext cx="8138160" cy="1835912"/>
          </a:xfrm>
          <a:prstGeom prst="roundRect">
            <a:avLst/>
          </a:prstGeom>
          <a:solidFill>
            <a:srgbClr val="141B28"/>
          </a:solidFill>
        </p:spPr>
        <p:txBody>
          <a:bodyPr wrap="square" lIns="91440" tIns="45720" rIns="91440" bIns="45720">
            <a:noAutofit/>
          </a:bodyPr>
          <a:lstStyle/>
          <a:p>
            <a:r>
              <a:rPr lang="en-US" sz="950">
                <a:solidFill>
                  <a:srgbClr val="7BD88F"/>
                </a:solidFill>
                <a:latin typeface="Courier New"/>
              </a:rPr>
              <a:t>docker run -d --name datomic-pg \</a:t>
            </a:r>
          </a:p>
          <a:p>
            <a:r>
              <a:rPr lang="en-US" sz="950">
                <a:solidFill>
                  <a:srgbClr val="7BD88F"/>
                </a:solidFill>
                <a:latin typeface="Courier New"/>
              </a:rPr>
              <a:t>  -e POSTGRES_PASSWORD=postgres \</a:t>
            </a:r>
          </a:p>
          <a:p>
            <a:r>
              <a:rPr lang="en-US" sz="950">
                <a:solidFill>
                  <a:srgbClr val="7BD88F"/>
                </a:solidFill>
                <a:latin typeface="Courier New"/>
              </a:rPr>
              <a:t>  -e POSTGRES_INITDB_ARGS="--encoding=UTF8 --locale=en_US.UTF-8" \</a:t>
            </a:r>
          </a:p>
          <a:p>
            <a:r>
              <a:rPr lang="en-US" sz="950">
                <a:solidFill>
                  <a:srgbClr val="7BD88F"/>
                </a:solidFill>
                <a:latin typeface="Courier New"/>
              </a:rPr>
              <a:t>  -p 5432:5432 postgres:16</a:t>
            </a:r>
          </a:p>
          <a:p>
            <a:endParaRPr lang="en-US" sz="950"/>
          </a:p>
          <a:p>
            <a:r>
              <a:rPr lang="en-US" sz="950">
                <a:solidFill>
                  <a:srgbClr val="7BD88F"/>
                </a:solidFill>
                <a:latin typeface="Courier New"/>
              </a:rPr>
              <a:t>cd datomic-pro-1.0.6735</a:t>
            </a:r>
          </a:p>
          <a:p>
            <a:r>
              <a:rPr lang="en-US" sz="950">
                <a:solidFill>
                  <a:srgbClr val="7BD88F"/>
                </a:solidFill>
                <a:latin typeface="Courier New"/>
              </a:rPr>
              <a:t>PGPASSWORD=postgres psql -h localhost -U postgres -f bin/sql/postgres-db.sql</a:t>
            </a:r>
          </a:p>
          <a:p>
            <a:r>
              <a:rPr lang="en-US" sz="950">
                <a:solidFill>
                  <a:srgbClr val="7BD88F"/>
                </a:solidFill>
                <a:latin typeface="Courier New"/>
              </a:rPr>
              <a:t>PGPASSWORD=postgres psql -h localhost -U postgres -d datomic \</a:t>
            </a:r>
          </a:p>
          <a:p>
            <a:r>
              <a:rPr lang="en-US" sz="950">
                <a:solidFill>
                  <a:srgbClr val="7BD88F"/>
                </a:solidFill>
                <a:latin typeface="Courier New"/>
              </a:rPr>
              <a:t>     -f bin/sql/postgres-table.sql</a:t>
            </a:r>
          </a:p>
          <a:p>
            <a:r>
              <a:rPr lang="en-US" sz="950">
                <a:solidFill>
                  <a:srgbClr val="7BD88F"/>
                </a:solidFill>
                <a:latin typeface="Courier New"/>
              </a:rPr>
              <a:t>PGPASSWORD=postgres psql -h localhost -U postgres -d datomic \</a:t>
            </a:r>
          </a:p>
          <a:p>
            <a:r>
              <a:rPr lang="en-US" sz="950">
                <a:solidFill>
                  <a:srgbClr val="7BD88F"/>
                </a:solidFill>
                <a:latin typeface="Courier New"/>
              </a:rPr>
              <a:t>     -f bin/sql/postgres-user.sql</a:t>
            </a:r>
          </a:p>
        </p:txBody>
      </p:sp>
      <p:sp>
        <p:nvSpPr>
          <p:cNvPr id="5" name="t"/>
          <p:cNvSpPr txBox="1"/>
          <p:nvPr/>
        </p:nvSpPr>
        <p:spPr>
          <a:xfrm>
            <a:off x="502920" y="2972308"/>
            <a:ext cx="8138160" cy="170688"/>
          </a:xfrm>
          <a:prstGeom prst="rect">
            <a:avLst/>
          </a:prstGeom>
        </p:spPr>
        <p:txBody>
          <a:bodyPr wrap="square" lIns="91440" tIns="45720" rIns="91440" bIns="45720">
            <a:noAutofit/>
          </a:bodyPr>
          <a:lstStyle/>
          <a:p>
            <a:r>
              <a:rPr lang="en-US" sz="1050">
                <a:solidFill>
                  <a:srgbClr val="E8EDF6"/>
                </a:solidFill>
                <a:latin typeface="Calibri"/>
              </a:rPr>
              <a:t>· postgres-db.sql creates the datomic database</a:t>
            </a:r>
          </a:p>
        </p:txBody>
      </p:sp>
      <p:sp>
        <p:nvSpPr>
          <p:cNvPr id="6" name="t"/>
          <p:cNvSpPr txBox="1"/>
          <p:nvPr/>
        </p:nvSpPr>
        <p:spPr>
          <a:xfrm>
            <a:off x="502920" y="3142996"/>
            <a:ext cx="8138160" cy="170688"/>
          </a:xfrm>
          <a:prstGeom prst="rect">
            <a:avLst/>
          </a:prstGeom>
        </p:spPr>
        <p:txBody>
          <a:bodyPr wrap="square" lIns="91440" tIns="45720" rIns="91440" bIns="45720">
            <a:noAutofit/>
          </a:bodyPr>
          <a:lstStyle/>
          <a:p>
            <a:r>
              <a:rPr lang="en-US" sz="1050">
                <a:solidFill>
                  <a:srgbClr val="E8EDF6"/>
                </a:solidFill>
                <a:latin typeface="Calibri"/>
              </a:rPr>
              <a:t>· postgres-table.sql creates datomic_kvs — the only table there will ever be</a:t>
            </a:r>
          </a:p>
        </p:txBody>
      </p:sp>
      <p:sp>
        <p:nvSpPr>
          <p:cNvPr id="7" name="t"/>
          <p:cNvSpPr txBox="1"/>
          <p:nvPr/>
        </p:nvSpPr>
        <p:spPr>
          <a:xfrm>
            <a:off x="502920" y="3313684"/>
            <a:ext cx="8138160" cy="170688"/>
          </a:xfrm>
          <a:prstGeom prst="rect">
            <a:avLst/>
          </a:prstGeom>
        </p:spPr>
        <p:txBody>
          <a:bodyPr wrap="square" lIns="91440" tIns="45720" rIns="91440" bIns="45720">
            <a:noAutofit/>
          </a:bodyPr>
          <a:lstStyle/>
          <a:p>
            <a:r>
              <a:rPr lang="en-US" sz="1050">
                <a:solidFill>
                  <a:srgbClr val="E8EDF6"/>
                </a:solidFill>
                <a:latin typeface="Calibri"/>
              </a:rPr>
              <a:t>· postgres-user.sql creates the datomic role with password datomic</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Configure and start the transactor</a:t>
            </a:r>
          </a:p>
        </p:txBody>
      </p:sp>
      <p:sp>
        <p:nvSpPr>
          <p:cNvPr id="4" name="t"/>
          <p:cNvSpPr txBox="1"/>
          <p:nvPr/>
        </p:nvSpPr>
        <p:spPr>
          <a:xfrm>
            <a:off x="502920" y="971804"/>
            <a:ext cx="8138160" cy="2144776"/>
          </a:xfrm>
          <a:prstGeom prst="roundRect">
            <a:avLst/>
          </a:prstGeom>
          <a:solidFill>
            <a:srgbClr val="141B28"/>
          </a:solidFill>
        </p:spPr>
        <p:txBody>
          <a:bodyPr wrap="square" lIns="91440" tIns="45720" rIns="91440" bIns="45720">
            <a:noAutofit/>
          </a:bodyPr>
          <a:lstStyle/>
          <a:p>
            <a:r>
              <a:rPr lang="en-US" sz="950">
                <a:solidFill>
                  <a:srgbClr val="7BD88F"/>
                </a:solidFill>
                <a:latin typeface="Courier New"/>
              </a:rPr>
              <a:t># config/pg-transactor.properties</a:t>
            </a:r>
          </a:p>
          <a:p>
            <a:r>
              <a:rPr lang="en-US" sz="950">
                <a:solidFill>
                  <a:srgbClr val="7BD88F"/>
                </a:solidFill>
                <a:latin typeface="Courier New"/>
              </a:rPr>
              <a:t>protocol=sql</a:t>
            </a:r>
          </a:p>
          <a:p>
            <a:r>
              <a:rPr lang="en-US" sz="950">
                <a:solidFill>
                  <a:srgbClr val="7BD88F"/>
                </a:solidFill>
                <a:latin typeface="Courier New"/>
              </a:rPr>
              <a:t>host=localhost</a:t>
            </a:r>
          </a:p>
          <a:p>
            <a:r>
              <a:rPr lang="en-US" sz="950">
                <a:solidFill>
                  <a:srgbClr val="7BD88F"/>
                </a:solidFill>
                <a:latin typeface="Courier New"/>
              </a:rPr>
              <a:t>port=4334</a:t>
            </a:r>
          </a:p>
          <a:p>
            <a:endParaRPr lang="en-US" sz="950"/>
          </a:p>
          <a:p>
            <a:r>
              <a:rPr lang="en-US" sz="950">
                <a:solidFill>
                  <a:srgbClr val="7BD88F"/>
                </a:solidFill>
                <a:latin typeface="Courier New"/>
              </a:rPr>
              <a:t>sql-url=jdbc:postgresql://localhost:5432/datomic</a:t>
            </a:r>
          </a:p>
          <a:p>
            <a:r>
              <a:rPr lang="en-US" sz="950">
                <a:solidFill>
                  <a:srgbClr val="7BD88F"/>
                </a:solidFill>
                <a:latin typeface="Courier New"/>
              </a:rPr>
              <a:t>sql-user=datomic</a:t>
            </a:r>
          </a:p>
          <a:p>
            <a:r>
              <a:rPr lang="en-US" sz="950">
                <a:solidFill>
                  <a:srgbClr val="7BD88F"/>
                </a:solidFill>
                <a:latin typeface="Courier New"/>
              </a:rPr>
              <a:t>sql-password=datomic</a:t>
            </a:r>
          </a:p>
          <a:p>
            <a:r>
              <a:rPr lang="en-US" sz="950">
                <a:solidFill>
                  <a:srgbClr val="7BD88F"/>
                </a:solidFill>
                <a:latin typeface="Courier New"/>
              </a:rPr>
              <a:t>sql-driver-class=org.postgresql.Driver</a:t>
            </a:r>
          </a:p>
          <a:p>
            <a:endParaRPr lang="en-US" sz="950"/>
          </a:p>
          <a:p>
            <a:r>
              <a:rPr lang="en-US" sz="950">
                <a:solidFill>
                  <a:srgbClr val="7BD88F"/>
                </a:solidFill>
                <a:latin typeface="Courier New"/>
              </a:rPr>
              <a:t>memory-index-threshold=32m</a:t>
            </a:r>
          </a:p>
          <a:p>
            <a:r>
              <a:rPr lang="en-US" sz="950">
                <a:solidFill>
                  <a:srgbClr val="7BD88F"/>
                </a:solidFill>
                <a:latin typeface="Courier New"/>
              </a:rPr>
              <a:t>memory-index-max=256m</a:t>
            </a:r>
          </a:p>
          <a:p>
            <a:r>
              <a:rPr lang="en-US" sz="950">
                <a:solidFill>
                  <a:srgbClr val="7BD88F"/>
                </a:solidFill>
                <a:latin typeface="Courier New"/>
              </a:rPr>
              <a:t>object-cache-max=128m</a:t>
            </a:r>
          </a:p>
        </p:txBody>
      </p:sp>
      <p:sp>
        <p:nvSpPr>
          <p:cNvPr id="5" name="t"/>
          <p:cNvSpPr txBox="1"/>
          <p:nvPr/>
        </p:nvSpPr>
        <p:spPr>
          <a:xfrm>
            <a:off x="502920" y="3235452"/>
            <a:ext cx="8138160" cy="307848"/>
          </a:xfrm>
          <a:prstGeom prst="roundRect">
            <a:avLst/>
          </a:prstGeom>
          <a:solidFill>
            <a:srgbClr val="141B28"/>
          </a:solidFill>
        </p:spPr>
        <p:txBody>
          <a:bodyPr wrap="square" lIns="91440" tIns="45720" rIns="91440" bIns="45720">
            <a:noAutofit/>
          </a:bodyPr>
          <a:lstStyle/>
          <a:p>
            <a:r>
              <a:rPr lang="en-US" sz="1050">
                <a:solidFill>
                  <a:srgbClr val="FFC66D"/>
                </a:solidFill>
                <a:latin typeface="Courier New"/>
              </a:rPr>
              <a:t>bin/transactor config/pg-transactor.properties</a:t>
            </a:r>
          </a:p>
        </p:txBody>
      </p:sp>
      <p:sp>
        <p:nvSpPr>
          <p:cNvPr id="6" name="t"/>
          <p:cNvSpPr txBox="1"/>
          <p:nvPr/>
        </p:nvSpPr>
        <p:spPr>
          <a:xfrm>
            <a:off x="502920" y="3662172"/>
            <a:ext cx="45720" cy="449072"/>
          </a:xfrm>
          <a:prstGeom prst="rect">
            <a:avLst/>
          </a:prstGeom>
          <a:solidFill>
            <a:srgbClr val="FFC66D"/>
          </a:solidFill>
        </p:spPr>
        <p:txBody>
          <a:bodyPr wrap="square" lIns="91440" tIns="45720" rIns="91440" bIns="45720">
            <a:noAutofit/>
          </a:bodyPr>
          <a:lstStyle/>
        </p:txBody>
      </p:sp>
      <p:sp>
        <p:nvSpPr>
          <p:cNvPr id="7" name="t"/>
          <p:cNvSpPr txBox="1"/>
          <p:nvPr/>
        </p:nvSpPr>
        <p:spPr>
          <a:xfrm>
            <a:off x="594360" y="3662172"/>
            <a:ext cx="8046720" cy="449072"/>
          </a:xfrm>
          <a:prstGeom prst="rect">
            <a:avLst/>
          </a:prstGeom>
        </p:spPr>
        <p:txBody>
          <a:bodyPr wrap="square" lIns="91440" tIns="45720" rIns="91440" bIns="45720">
            <a:noAutofit/>
          </a:bodyPr>
          <a:lstStyle/>
          <a:p>
            <a:r>
              <a:rPr lang="en-US" sz="1100">
                <a:solidFill>
                  <a:srgbClr val="E8EDF6"/>
                </a:solidFill>
                <a:latin typeface="Calibri"/>
              </a:rPr>
              <a:t>⚠  The properties file must be the LAST argument. Any JVM flags go before it — and see the sizing slide for why that matters more than it looks.</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Start the transactor and read the output</a:t>
            </a:r>
          </a:p>
        </p:txBody>
      </p:sp>
      <p:sp>
        <p:nvSpPr>
          <p:cNvPr id="4" name="t"/>
          <p:cNvSpPr txBox="1"/>
          <p:nvPr/>
        </p:nvSpPr>
        <p:spPr>
          <a:xfrm>
            <a:off x="502920" y="971804"/>
            <a:ext cx="8138160" cy="1453896"/>
          </a:xfrm>
          <a:prstGeom prst="roundRect">
            <a:avLst/>
          </a:prstGeom>
          <a:solidFill>
            <a:srgbClr val="141B28"/>
          </a:solidFill>
        </p:spPr>
        <p:txBody>
          <a:bodyPr wrap="square" lIns="91440" tIns="45720" rIns="91440" bIns="45720">
            <a:noAutofit/>
          </a:bodyPr>
          <a:lstStyle/>
          <a:p>
            <a:r>
              <a:rPr lang="en-US" sz="900">
                <a:solidFill>
                  <a:srgbClr val="7BD88F"/>
                </a:solidFill>
                <a:latin typeface="Courier New"/>
              </a:rPr>
              <a:t>$ bin/transactor config/pg-transactor.properties</a:t>
            </a:r>
          </a:p>
          <a:p>
            <a:r>
              <a:rPr lang="en-US" sz="900">
                <a:solidFill>
                  <a:srgbClr val="7BD88F"/>
                </a:solidFill>
                <a:latin typeface="Courier New"/>
              </a:rPr>
              <a:t>Launching with Java options -server -Xms1g -Xmx1g \</a:t>
            </a:r>
          </a:p>
          <a:p>
            <a:r>
              <a:rPr lang="en-US" sz="900">
                <a:solidFill>
                  <a:srgbClr val="7BD88F"/>
                </a:solidFill>
                <a:latin typeface="Courier New"/>
              </a:rPr>
              <a:t>  --enable-native-access=ALL-UNNAMED \</a:t>
            </a:r>
          </a:p>
          <a:p>
            <a:r>
              <a:rPr lang="en-US" sz="900">
                <a:solidFill>
                  <a:srgbClr val="7BD88F"/>
                </a:solidFill>
                <a:latin typeface="Courier New"/>
              </a:rPr>
              <a:t>  -XX:+UseG1GC -XX:MaxGCPauseMillis=50</a:t>
            </a:r>
          </a:p>
          <a:p>
            <a:r>
              <a:rPr lang="en-US" sz="900">
                <a:solidFill>
                  <a:srgbClr val="7BD88F"/>
                </a:solidFill>
                <a:latin typeface="Courier New"/>
              </a:rPr>
              <a:t>System started</a:t>
            </a:r>
          </a:p>
          <a:p>
            <a:endParaRPr lang="en-US" sz="900"/>
          </a:p>
          <a:p>
            <a:r>
              <a:rPr lang="en-US" sz="900">
                <a:solidFill>
                  <a:srgbClr val="7BD88F"/>
                </a:solidFill>
                <a:latin typeface="Courier New"/>
              </a:rPr>
              <a:t>$ jps -l                    # who is running?</a:t>
            </a:r>
          </a:p>
          <a:p>
            <a:r>
              <a:rPr lang="en-US" sz="900">
                <a:solidFill>
                  <a:srgbClr val="7BD88F"/>
                </a:solidFill>
                <a:latin typeface="Courier New"/>
              </a:rPr>
              <a:t>$ lsof -nP -p &lt;pid&gt; | grep LISTEN</a:t>
            </a:r>
          </a:p>
          <a:p>
            <a:r>
              <a:rPr lang="en-US" sz="900">
                <a:solidFill>
                  <a:srgbClr val="7BD88F"/>
                </a:solidFill>
                <a:latin typeface="Courier New"/>
              </a:rPr>
              <a:t>java  ...  TCP 127.0.0.1:4334 (LISTEN)</a:t>
            </a:r>
          </a:p>
        </p:txBody>
      </p:sp>
      <p:sp>
        <p:nvSpPr>
          <p:cNvPr id="5" name="t"/>
          <p:cNvSpPr txBox="1"/>
          <p:nvPr/>
        </p:nvSpPr>
        <p:spPr>
          <a:xfrm>
            <a:off x="502920" y="2590292"/>
            <a:ext cx="8138160" cy="325120"/>
          </a:xfrm>
          <a:prstGeom prst="rect">
            <a:avLst/>
          </a:prstGeom>
        </p:spPr>
        <p:txBody>
          <a:bodyPr wrap="square" lIns="91440" tIns="45720" rIns="91440" bIns="45720">
            <a:noAutofit/>
          </a:bodyPr>
          <a:lstStyle/>
          <a:p>
            <a:r>
              <a:rPr lang="en-US" sz="1000">
                <a:solidFill>
                  <a:srgbClr val="E8EDF6"/>
                </a:solidFill>
                <a:latin typeface="Calibri"/>
              </a:rPr>
              <a:t>▸ Two lines. That is the entire successful-start output — read the Java options line, it is the one that tells you whether you got G1GC.</a:t>
            </a:r>
          </a:p>
        </p:txBody>
      </p:sp>
      <p:sp>
        <p:nvSpPr>
          <p:cNvPr id="6" name="t"/>
          <p:cNvSpPr txBox="1"/>
          <p:nvPr/>
        </p:nvSpPr>
        <p:spPr>
          <a:xfrm>
            <a:off x="502920" y="2915412"/>
            <a:ext cx="8138160" cy="162560"/>
          </a:xfrm>
          <a:prstGeom prst="rect">
            <a:avLst/>
          </a:prstGeom>
        </p:spPr>
        <p:txBody>
          <a:bodyPr wrap="square" lIns="91440" tIns="45720" rIns="91440" bIns="45720">
            <a:noAutofit/>
          </a:bodyPr>
          <a:lstStyle/>
          <a:p>
            <a:r>
              <a:rPr lang="en-US" sz="1000">
                <a:solidFill>
                  <a:srgbClr val="6FA8FF"/>
                </a:solidFill>
                <a:latin typeface="Calibri"/>
              </a:rPr>
              <a:t>▸ With sql/ddb/cass storage the transactor binds ONE port: 4334. Storage is somebody else's process.</a:t>
            </a:r>
          </a:p>
        </p:txBody>
      </p:sp>
      <p:sp>
        <p:nvSpPr>
          <p:cNvPr id="7" name="t"/>
          <p:cNvSpPr txBox="1"/>
          <p:nvPr/>
        </p:nvSpPr>
        <p:spPr>
          <a:xfrm>
            <a:off x="502920" y="3077972"/>
            <a:ext cx="8138160" cy="162560"/>
          </a:xfrm>
          <a:prstGeom prst="rect">
            <a:avLst/>
          </a:prstGeom>
        </p:spPr>
        <p:txBody>
          <a:bodyPr wrap="square" lIns="91440" tIns="45720" rIns="91440" bIns="45720">
            <a:noAutofit/>
          </a:bodyPr>
          <a:lstStyle/>
          <a:p>
            <a:r>
              <a:rPr lang="en-US" sz="1000">
                <a:solidFill>
                  <a:srgbClr val="C09BFF"/>
                </a:solidFill>
                <a:latin typeface="Calibri"/>
              </a:rPr>
              <a:t>▸ With dev storage it binds two — port and port+1 — because the H2 storage is inside the transactor. Override with h2-port.</a:t>
            </a:r>
          </a:p>
        </p:txBody>
      </p:sp>
      <p:sp>
        <p:nvSpPr>
          <p:cNvPr id="8" name="t"/>
          <p:cNvSpPr txBox="1"/>
          <p:nvPr/>
        </p:nvSpPr>
        <p:spPr>
          <a:xfrm>
            <a:off x="502920" y="3240532"/>
            <a:ext cx="8138160" cy="325120"/>
          </a:xfrm>
          <a:prstGeom prst="rect">
            <a:avLst/>
          </a:prstGeom>
        </p:spPr>
        <p:txBody>
          <a:bodyPr wrap="square" lIns="91440" tIns="45720" rIns="91440" bIns="45720">
            <a:noAutofit/>
          </a:bodyPr>
          <a:lstStyle/>
          <a:p>
            <a:r>
              <a:rPr lang="en-US" sz="1000">
                <a:solidFill>
                  <a:srgbClr val="F28FAD"/>
                </a:solidFill>
                <a:latin typeface="Calibri"/>
              </a:rPr>
              <a:t>▸ Nothing tells you the peers can reach you. That is what host and alt-host are for, and they are only tested by a peer connecting.</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Your first database</a:t>
            </a:r>
          </a:p>
        </p:txBody>
      </p:sp>
      <p:sp>
        <p:nvSpPr>
          <p:cNvPr id="4" name="t"/>
          <p:cNvSpPr txBox="1"/>
          <p:nvPr/>
        </p:nvSpPr>
        <p:spPr>
          <a:xfrm>
            <a:off x="502920" y="971804"/>
            <a:ext cx="8138160" cy="1835912"/>
          </a:xfrm>
          <a:prstGeom prst="roundRect">
            <a:avLst/>
          </a:prstGeom>
          <a:solidFill>
            <a:srgbClr val="141B28"/>
          </a:solidFill>
        </p:spPr>
        <p:txBody>
          <a:bodyPr wrap="square" lIns="91440" tIns="45720" rIns="91440" bIns="45720">
            <a:noAutofit/>
          </a:bodyPr>
          <a:lstStyle/>
          <a:p>
            <a:r>
              <a:rPr lang="en-US" sz="950">
                <a:solidFill>
                  <a:srgbClr val="7BD88F"/>
                </a:solidFill>
                <a:latin typeface="Courier New"/>
              </a:rPr>
              <a:t>;; deps.edn: com.datomic/peer {:mvn/version "1.0.7705"}</a:t>
            </a:r>
          </a:p>
          <a:p>
            <a:r>
              <a:rPr lang="en-US" sz="950">
                <a:solidFill>
                  <a:srgbClr val="7BD88F"/>
                </a:solidFill>
                <a:latin typeface="Courier New"/>
              </a:rPr>
              <a:t>;;           org.postgresql/postgresql {:mvn/version "42.5.1"}</a:t>
            </a:r>
          </a:p>
          <a:p>
            <a:r>
              <a:rPr lang="en-US" sz="950">
                <a:solidFill>
                  <a:srgbClr val="7BD88F"/>
                </a:solidFill>
                <a:latin typeface="Courier New"/>
              </a:rPr>
              <a:t>(require '[datomic.api :as d])</a:t>
            </a:r>
          </a:p>
          <a:p>
            <a:endParaRPr lang="en-US" sz="950"/>
          </a:p>
          <a:p>
            <a:r>
              <a:rPr lang="en-US" sz="950">
                <a:solidFill>
                  <a:srgbClr val="7BD88F"/>
                </a:solidFill>
                <a:latin typeface="Courier New"/>
              </a:rPr>
              <a:t>(def uri (str "datomic:sql://inventory?"</a:t>
            </a:r>
          </a:p>
          <a:p>
            <a:r>
              <a:rPr lang="en-US" sz="950">
                <a:solidFill>
                  <a:srgbClr val="7BD88F"/>
                </a:solidFill>
                <a:latin typeface="Courier New"/>
              </a:rPr>
              <a:t>              "jdbc:postgresql://localhost:5432/datomic"</a:t>
            </a:r>
          </a:p>
          <a:p>
            <a:r>
              <a:rPr lang="en-US" sz="950">
                <a:solidFill>
                  <a:srgbClr val="7BD88F"/>
                </a:solidFill>
                <a:latin typeface="Courier New"/>
              </a:rPr>
              <a:t>              "?user=datomic&amp;password=datomic"))</a:t>
            </a:r>
          </a:p>
          <a:p>
            <a:endParaRPr lang="en-US" sz="950"/>
          </a:p>
          <a:p>
            <a:r>
              <a:rPr lang="en-US" sz="950">
                <a:solidFill>
                  <a:srgbClr val="7BD88F"/>
                </a:solidFill>
                <a:latin typeface="Courier New"/>
              </a:rPr>
              <a:t>(d/create-database uri)      ;; =&gt; true  (false if it existed)</a:t>
            </a:r>
          </a:p>
          <a:p>
            <a:r>
              <a:rPr lang="en-US" sz="950">
                <a:solidFill>
                  <a:srgbClr val="7BD88F"/>
                </a:solidFill>
                <a:latin typeface="Courier New"/>
              </a:rPr>
              <a:t>(def conn (d/connect uri))</a:t>
            </a:r>
          </a:p>
          <a:p>
            <a:r>
              <a:rPr lang="en-US" sz="950">
                <a:solidFill>
                  <a:srgbClr val="7BD88F"/>
                </a:solidFill>
                <a:latin typeface="Courier New"/>
              </a:rPr>
              <a:t>(d/get-database-names (str "datomic:sql://*?jdbc:..."))</a:t>
            </a:r>
          </a:p>
        </p:txBody>
      </p:sp>
      <p:sp>
        <p:nvSpPr>
          <p:cNvPr id="5" name="t"/>
          <p:cNvSpPr txBox="1"/>
          <p:nvPr/>
        </p:nvSpPr>
        <p:spPr>
          <a:xfrm>
            <a:off x="502920" y="2972308"/>
            <a:ext cx="8138160" cy="170688"/>
          </a:xfrm>
          <a:prstGeom prst="rect">
            <a:avLst/>
          </a:prstGeom>
        </p:spPr>
        <p:txBody>
          <a:bodyPr wrap="square" lIns="91440" tIns="45720" rIns="91440" bIns="45720">
            <a:noAutofit/>
          </a:bodyPr>
          <a:lstStyle/>
          <a:p>
            <a:r>
              <a:rPr lang="en-US" sz="1050">
                <a:solidFill>
                  <a:srgbClr val="E8EDF6"/>
                </a:solidFill>
                <a:latin typeface="Calibri"/>
              </a:rPr>
              <a:t>? Now look in Postgres: select count(*) from datomic_kvs;</a:t>
            </a:r>
          </a:p>
        </p:txBody>
      </p:sp>
      <p:sp>
        <p:nvSpPr>
          <p:cNvPr id="6" name="t"/>
          <p:cNvSpPr txBox="1"/>
          <p:nvPr/>
        </p:nvSpPr>
        <p:spPr>
          <a:xfrm>
            <a:off x="502920" y="3142996"/>
            <a:ext cx="8138160" cy="170688"/>
          </a:xfrm>
          <a:prstGeom prst="rect">
            <a:avLst/>
          </a:prstGeom>
        </p:spPr>
        <p:txBody>
          <a:bodyPr wrap="square" lIns="91440" tIns="45720" rIns="91440" bIns="45720">
            <a:noAutofit/>
          </a:bodyPr>
          <a:lstStyle/>
          <a:p>
            <a:r>
              <a:rPr lang="en-US" sz="1050">
                <a:solidFill>
                  <a:srgbClr val="E8EDF6"/>
                </a:solidFill>
                <a:latin typeface="Calibri"/>
              </a:rPr>
              <a:t>? An empty database is not zero rows — that is the bootstrap schema</a:t>
            </a:r>
          </a:p>
        </p:txBody>
      </p:sp>
      <p:sp>
        <p:nvSpPr>
          <p:cNvPr id="7" name="t"/>
          <p:cNvSpPr txBox="1"/>
          <p:nvPr/>
        </p:nvSpPr>
        <p:spPr>
          <a:xfrm>
            <a:off x="502920" y="3313684"/>
            <a:ext cx="8138160" cy="170688"/>
          </a:xfrm>
          <a:prstGeom prst="rect">
            <a:avLst/>
          </a:prstGeom>
        </p:spPr>
        <p:txBody>
          <a:bodyPr wrap="square" lIns="91440" tIns="45720" rIns="91440" bIns="45720">
            <a:noAutofit/>
          </a:bodyPr>
          <a:lstStyle/>
          <a:p>
            <a:r>
              <a:rPr lang="en-US" sz="1050">
                <a:solidFill>
                  <a:srgbClr val="E8EDF6"/>
                </a:solidFill>
                <a:latin typeface="Calibri"/>
              </a:rPr>
              <a:t>? Create a second database and count again. Same table.</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Storage from the psql side</a:t>
            </a:r>
          </a:p>
        </p:txBody>
      </p:sp>
      <p:sp>
        <p:nvSpPr>
          <p:cNvPr id="4" name="t"/>
          <p:cNvSpPr txBox="1"/>
          <p:nvPr/>
        </p:nvSpPr>
        <p:spPr>
          <a:xfrm>
            <a:off x="502920" y="971804"/>
            <a:ext cx="8138160" cy="2282940"/>
          </a:xfrm>
          <a:prstGeom prst="roundRect">
            <a:avLst/>
          </a:prstGeom>
          <a:solidFill>
            <a:srgbClr val="141B28"/>
          </a:solidFill>
        </p:spPr>
        <p:txBody>
          <a:bodyPr wrap="square" lIns="91440" tIns="45720" rIns="91440" bIns="45720">
            <a:noAutofit/>
          </a:bodyPr>
          <a:lstStyle/>
          <a:p>
            <a:r>
              <a:rPr lang="en-US" sz="880">
                <a:solidFill>
                  <a:srgbClr val="7BD88F"/>
                </a:solidFill>
                <a:latin typeface="Courier New"/>
              </a:rPr>
              <a:t>$ docker exec -it datomic-pg psql -U datomic -d datomic</a:t>
            </a:r>
          </a:p>
          <a:p>
            <a:endParaRPr lang="en-US" sz="880"/>
          </a:p>
          <a:p>
            <a:r>
              <a:rPr lang="en-US" sz="880">
                <a:solidFill>
                  <a:srgbClr val="7BD88F"/>
                </a:solidFill>
                <a:latin typeface="Courier New"/>
              </a:rPr>
              <a:t>datomic=&gt; \dt</a:t>
            </a:r>
          </a:p>
          <a:p>
            <a:r>
              <a:rPr lang="en-US" sz="880">
                <a:solidFill>
                  <a:srgbClr val="7BD88F"/>
                </a:solidFill>
                <a:latin typeface="Courier New"/>
              </a:rPr>
              <a:t>            List of relations</a:t>
            </a:r>
          </a:p>
          <a:p>
            <a:r>
              <a:rPr lang="en-US" sz="880">
                <a:solidFill>
                  <a:srgbClr val="7BD88F"/>
                </a:solidFill>
                <a:latin typeface="Courier New"/>
              </a:rPr>
              <a:t> Schema |    Name     | Type  |  Owner</a:t>
            </a:r>
          </a:p>
          <a:p>
            <a:r>
              <a:rPr lang="en-US" sz="880">
                <a:solidFill>
                  <a:srgbClr val="7BD88F"/>
                </a:solidFill>
                <a:latin typeface="Courier New"/>
              </a:rPr>
              <a:t>--------+-------------+-------+----------</a:t>
            </a:r>
          </a:p>
          <a:p>
            <a:r>
              <a:rPr lang="en-US" sz="880">
                <a:solidFill>
                  <a:srgbClr val="7BD88F"/>
                </a:solidFill>
                <a:latin typeface="Courier New"/>
              </a:rPr>
              <a:t> public | datomic_kvs | table | postgres</a:t>
            </a:r>
          </a:p>
          <a:p>
            <a:endParaRPr lang="en-US" sz="880"/>
          </a:p>
          <a:p>
            <a:r>
              <a:rPr lang="en-US" sz="880">
                <a:solidFill>
                  <a:srgbClr val="7BD88F"/>
                </a:solidFill>
                <a:latin typeface="Courier New"/>
              </a:rPr>
              <a:t>datomic=&gt; select count(*) filter (where val is null)     as roots,</a:t>
            </a:r>
          </a:p>
          <a:p>
            <a:r>
              <a:rPr lang="en-US" sz="880">
                <a:solidFill>
                  <a:srgbClr val="7BD88F"/>
                </a:solidFill>
                <a:latin typeface="Courier New"/>
              </a:rPr>
              <a:t>                  count(*) filter (where val is not null) as segments</a:t>
            </a:r>
          </a:p>
          <a:p>
            <a:r>
              <a:rPr lang="en-US" sz="880">
                <a:solidFill>
                  <a:srgbClr val="7BD88F"/>
                </a:solidFill>
                <a:latin typeface="Courier New"/>
              </a:rPr>
              <a:t>           from datomic_kvs;</a:t>
            </a:r>
          </a:p>
          <a:p>
            <a:r>
              <a:rPr lang="en-US" sz="880">
                <a:solidFill>
                  <a:srgbClr val="7BD88F"/>
                </a:solidFill>
                <a:latin typeface="Courier New"/>
              </a:rPr>
              <a:t>datomic=&gt; select id, rev, length(val) from datomic_kvs</a:t>
            </a:r>
          </a:p>
          <a:p>
            <a:r>
              <a:rPr lang="en-US" sz="880">
                <a:solidFill>
                  <a:srgbClr val="7BD88F"/>
                </a:solidFill>
                <a:latin typeface="Courier New"/>
              </a:rPr>
              <a:t>           where val is not null</a:t>
            </a:r>
          </a:p>
          <a:p>
            <a:r>
              <a:rPr lang="en-US" sz="880">
                <a:solidFill>
                  <a:srgbClr val="7BD88F"/>
                </a:solidFill>
                <a:latin typeface="Courier New"/>
              </a:rPr>
              <a:t>           order by length(val) desc limit 5;</a:t>
            </a:r>
          </a:p>
          <a:p>
            <a:r>
              <a:rPr lang="en-US" sz="880">
                <a:solidFill>
                  <a:srgbClr val="7BD88F"/>
                </a:solidFill>
                <a:latin typeface="Courier New"/>
              </a:rPr>
              <a:t>datomic=&gt; select pg_size_pretty(pg_total_relation_size('datomic_kvs'));</a:t>
            </a:r>
          </a:p>
        </p:txBody>
      </p:sp>
      <p:sp>
        <p:nvSpPr>
          <p:cNvPr id="5" name="t"/>
          <p:cNvSpPr txBox="1"/>
          <p:nvPr/>
        </p:nvSpPr>
        <p:spPr>
          <a:xfrm>
            <a:off x="502920" y="3419336"/>
            <a:ext cx="8138160" cy="162560"/>
          </a:xfrm>
          <a:prstGeom prst="rect">
            <a:avLst/>
          </a:prstGeom>
        </p:spPr>
        <p:txBody>
          <a:bodyPr wrap="square" lIns="91440" tIns="45720" rIns="91440" bIns="45720">
            <a:noAutofit/>
          </a:bodyPr>
          <a:lstStyle/>
          <a:p>
            <a:r>
              <a:rPr lang="en-US" sz="1000">
                <a:solidFill>
                  <a:srgbClr val="E8EDF6"/>
                </a:solidFill>
                <a:latin typeface="Calibri"/>
              </a:rPr>
              <a:t>? One table. Create a second Datomic database and it is still one table.</a:t>
            </a:r>
          </a:p>
        </p:txBody>
      </p:sp>
      <p:sp>
        <p:nvSpPr>
          <p:cNvPr id="6" name="t"/>
          <p:cNvSpPr txBox="1"/>
          <p:nvPr/>
        </p:nvSpPr>
        <p:spPr>
          <a:xfrm>
            <a:off x="502920" y="3581896"/>
            <a:ext cx="8138160" cy="162560"/>
          </a:xfrm>
          <a:prstGeom prst="rect">
            <a:avLst/>
          </a:prstGeom>
        </p:spPr>
        <p:txBody>
          <a:bodyPr wrap="square" lIns="91440" tIns="45720" rIns="91440" bIns="45720">
            <a:noAutofit/>
          </a:bodyPr>
          <a:lstStyle/>
          <a:p>
            <a:r>
              <a:rPr lang="en-US" sz="1000">
                <a:solidFill>
                  <a:srgbClr val="E8EDF6"/>
                </a:solidFill>
                <a:latin typeface="Calibri"/>
              </a:rPr>
              <a:t>? Segments carry val — opaque blobs, tens to hundreds of kB each</a:t>
            </a:r>
          </a:p>
        </p:txBody>
      </p:sp>
      <p:sp>
        <p:nvSpPr>
          <p:cNvPr id="7" name="t"/>
          <p:cNvSpPr txBox="1"/>
          <p:nvPr/>
        </p:nvSpPr>
        <p:spPr>
          <a:xfrm>
            <a:off x="502920" y="3744456"/>
            <a:ext cx="8138160" cy="162560"/>
          </a:xfrm>
          <a:prstGeom prst="rect">
            <a:avLst/>
          </a:prstGeom>
        </p:spPr>
        <p:txBody>
          <a:bodyPr wrap="square" lIns="91440" tIns="45720" rIns="91440" bIns="45720">
            <a:noAutofit/>
          </a:bodyPr>
          <a:lstStyle/>
          <a:p>
            <a:r>
              <a:rPr lang="en-US" sz="1000">
                <a:solidFill>
                  <a:srgbClr val="E8EDF6"/>
                </a:solidFill>
                <a:latin typeface="Calibri"/>
              </a:rPr>
              <a:t>? Roots carry rev and NO val: the handful of mutable rows in here</a:t>
            </a:r>
          </a:p>
        </p:txBody>
      </p:sp>
      <p:sp>
        <p:nvSpPr>
          <p:cNvPr id="8" name="t"/>
          <p:cNvSpPr txBox="1"/>
          <p:nvPr/>
        </p:nvSpPr>
        <p:spPr>
          <a:xfrm>
            <a:off x="502920" y="3907016"/>
            <a:ext cx="8138160" cy="162560"/>
          </a:xfrm>
          <a:prstGeom prst="rect">
            <a:avLst/>
          </a:prstGeom>
        </p:spPr>
        <p:txBody>
          <a:bodyPr wrap="square" lIns="91440" tIns="45720" rIns="91440" bIns="45720">
            <a:noAutofit/>
          </a:bodyPr>
          <a:lstStyle/>
          <a:p>
            <a:r>
              <a:rPr lang="en-US" sz="1000">
                <a:solidFill>
                  <a:srgbClr val="E8EDF6"/>
                </a:solidFill>
                <a:latin typeface="Calibri"/>
              </a:rPr>
              <a:t>? Mind the "where val is not null" — without it NULLs sort first and you get roots, not the big segments you were looking for</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Admin use case #1 — the database lifecycle</a:t>
            </a:r>
          </a:p>
        </p:txBody>
      </p:sp>
      <p:sp>
        <p:nvSpPr>
          <p:cNvPr id="3" name="t"/>
          <p:cNvSpPr txBox="1"/>
          <p:nvPr/>
        </p:nvSpPr>
        <p:spPr>
          <a:xfrm>
            <a:off x="502920" y="766064"/>
            <a:ext cx="1464868" cy="223012"/>
          </a:xfrm>
          <a:prstGeom prst="rect">
            <a:avLst/>
          </a:prstGeom>
        </p:spPr>
        <p:txBody>
          <a:bodyPr wrap="square" lIns="91440" tIns="45720" rIns="91440" bIns="45720">
            <a:noAutofit/>
          </a:bodyPr>
          <a:lstStyle/>
          <a:p>
            <a:r>
              <a:rPr lang="en-US" sz="950" b="1">
                <a:solidFill>
                  <a:srgbClr val="7BD88F"/>
                </a:solidFill>
                <a:latin typeface="Calibri"/>
              </a:rPr>
              <a:t>Operation</a:t>
            </a:r>
          </a:p>
        </p:txBody>
      </p:sp>
      <p:sp>
        <p:nvSpPr>
          <p:cNvPr id="4" name="t"/>
          <p:cNvSpPr txBox="1"/>
          <p:nvPr/>
        </p:nvSpPr>
        <p:spPr>
          <a:xfrm>
            <a:off x="1967788" y="766064"/>
            <a:ext cx="3418027" cy="223012"/>
          </a:xfrm>
          <a:prstGeom prst="rect">
            <a:avLst/>
          </a:prstGeom>
        </p:spPr>
        <p:txBody>
          <a:bodyPr wrap="square" lIns="91440" tIns="45720" rIns="91440" bIns="45720">
            <a:noAutofit/>
          </a:bodyPr>
          <a:lstStyle/>
          <a:p>
            <a:r>
              <a:rPr lang="en-US" sz="950" b="1">
                <a:solidFill>
                  <a:srgbClr val="7BD88F"/>
                </a:solidFill>
                <a:latin typeface="Calibri"/>
              </a:rPr>
              <a:t>Peer API (Pro)</a:t>
            </a:r>
          </a:p>
        </p:txBody>
      </p:sp>
      <p:sp>
        <p:nvSpPr>
          <p:cNvPr id="5" name="t"/>
          <p:cNvSpPr txBox="1"/>
          <p:nvPr/>
        </p:nvSpPr>
        <p:spPr>
          <a:xfrm>
            <a:off x="5385816" y="766064"/>
            <a:ext cx="3255264" cy="223012"/>
          </a:xfrm>
          <a:prstGeom prst="rect">
            <a:avLst/>
          </a:prstGeom>
        </p:spPr>
        <p:txBody>
          <a:bodyPr wrap="square" lIns="91440" tIns="45720" rIns="91440" bIns="45720">
            <a:noAutofit/>
          </a:bodyPr>
          <a:lstStyle/>
          <a:p>
            <a:r>
              <a:rPr lang="en-US" sz="950" b="1">
                <a:solidFill>
                  <a:srgbClr val="7BD88F"/>
                </a:solidFill>
                <a:latin typeface="Calibri"/>
              </a:rPr>
              <a:t>Client API (Cloud, Local, Peer Server)</a:t>
            </a:r>
          </a:p>
        </p:txBody>
      </p:sp>
      <p:sp>
        <p:nvSpPr>
          <p:cNvPr id="6" name="t"/>
          <p:cNvSpPr txBox="1"/>
          <p:nvPr/>
        </p:nvSpPr>
        <p:spPr>
          <a:xfrm>
            <a:off x="457200" y="989076"/>
            <a:ext cx="8229600" cy="223012"/>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989076"/>
            <a:ext cx="1464868" cy="223012"/>
          </a:xfrm>
          <a:prstGeom prst="rect">
            <a:avLst/>
          </a:prstGeom>
        </p:spPr>
        <p:txBody>
          <a:bodyPr wrap="square" lIns="91440" tIns="45720" rIns="91440" bIns="45720">
            <a:noAutofit/>
          </a:bodyPr>
          <a:lstStyle/>
          <a:p>
            <a:r>
              <a:rPr lang="en-US" sz="950" b="1">
                <a:solidFill>
                  <a:srgbClr val="E8EDF6"/>
                </a:solidFill>
                <a:latin typeface="Calibri"/>
              </a:rPr>
              <a:t>create</a:t>
            </a:r>
          </a:p>
        </p:txBody>
      </p:sp>
      <p:sp>
        <p:nvSpPr>
          <p:cNvPr id="8" name="t"/>
          <p:cNvSpPr txBox="1"/>
          <p:nvPr/>
        </p:nvSpPr>
        <p:spPr>
          <a:xfrm>
            <a:off x="1967788" y="989076"/>
            <a:ext cx="3418027" cy="223012"/>
          </a:xfrm>
          <a:prstGeom prst="rect">
            <a:avLst/>
          </a:prstGeom>
        </p:spPr>
        <p:txBody>
          <a:bodyPr wrap="square" lIns="91440" tIns="45720" rIns="91440" bIns="45720">
            <a:noAutofit/>
          </a:bodyPr>
          <a:lstStyle/>
          <a:p>
            <a:r>
              <a:rPr lang="en-US" sz="950">
                <a:solidFill>
                  <a:srgbClr val="8FA0B8"/>
                </a:solidFill>
                <a:latin typeface="Calibri"/>
              </a:rPr>
              <a:t>(d/create-database uri)</a:t>
            </a:r>
          </a:p>
        </p:txBody>
      </p:sp>
      <p:sp>
        <p:nvSpPr>
          <p:cNvPr id="9" name="t"/>
          <p:cNvSpPr txBox="1"/>
          <p:nvPr/>
        </p:nvSpPr>
        <p:spPr>
          <a:xfrm>
            <a:off x="5385816" y="989076"/>
            <a:ext cx="3255264" cy="223012"/>
          </a:xfrm>
          <a:prstGeom prst="rect">
            <a:avLst/>
          </a:prstGeom>
        </p:spPr>
        <p:txBody>
          <a:bodyPr wrap="square" lIns="91440" tIns="45720" rIns="91440" bIns="45720">
            <a:noAutofit/>
          </a:bodyPr>
          <a:lstStyle/>
          <a:p>
            <a:r>
              <a:rPr lang="en-US" sz="950">
                <a:solidFill>
                  <a:srgbClr val="8FA0B8"/>
                </a:solidFill>
                <a:latin typeface="Calibri"/>
              </a:rPr>
              <a:t>(d/create-database client {:db-name "x"})</a:t>
            </a:r>
          </a:p>
        </p:txBody>
      </p:sp>
      <p:sp>
        <p:nvSpPr>
          <p:cNvPr id="10" name="t"/>
          <p:cNvSpPr txBox="1"/>
          <p:nvPr/>
        </p:nvSpPr>
        <p:spPr>
          <a:xfrm>
            <a:off x="502920" y="1212088"/>
            <a:ext cx="1464868" cy="223012"/>
          </a:xfrm>
          <a:prstGeom prst="rect">
            <a:avLst/>
          </a:prstGeom>
        </p:spPr>
        <p:txBody>
          <a:bodyPr wrap="square" lIns="91440" tIns="45720" rIns="91440" bIns="45720">
            <a:noAutofit/>
          </a:bodyPr>
          <a:lstStyle/>
          <a:p>
            <a:r>
              <a:rPr lang="en-US" sz="950" b="1">
                <a:solidFill>
                  <a:srgbClr val="E8EDF6"/>
                </a:solidFill>
                <a:latin typeface="Calibri"/>
              </a:rPr>
              <a:t>list</a:t>
            </a:r>
          </a:p>
        </p:txBody>
      </p:sp>
      <p:sp>
        <p:nvSpPr>
          <p:cNvPr id="11" name="t"/>
          <p:cNvSpPr txBox="1"/>
          <p:nvPr/>
        </p:nvSpPr>
        <p:spPr>
          <a:xfrm>
            <a:off x="1967788" y="1212088"/>
            <a:ext cx="3418027" cy="223012"/>
          </a:xfrm>
          <a:prstGeom prst="rect">
            <a:avLst/>
          </a:prstGeom>
        </p:spPr>
        <p:txBody>
          <a:bodyPr wrap="square" lIns="91440" tIns="45720" rIns="91440" bIns="45720">
            <a:noAutofit/>
          </a:bodyPr>
          <a:lstStyle/>
          <a:p>
            <a:r>
              <a:rPr lang="en-US" sz="950">
                <a:solidFill>
                  <a:srgbClr val="8FA0B8"/>
                </a:solidFill>
                <a:latin typeface="Calibri"/>
              </a:rPr>
              <a:t>(d/get-database-names "datomic:sql://*?...")</a:t>
            </a:r>
          </a:p>
        </p:txBody>
      </p:sp>
      <p:sp>
        <p:nvSpPr>
          <p:cNvPr id="12" name="t"/>
          <p:cNvSpPr txBox="1"/>
          <p:nvPr/>
        </p:nvSpPr>
        <p:spPr>
          <a:xfrm>
            <a:off x="5385816" y="1212088"/>
            <a:ext cx="3255264" cy="223012"/>
          </a:xfrm>
          <a:prstGeom prst="rect">
            <a:avLst/>
          </a:prstGeom>
        </p:spPr>
        <p:txBody>
          <a:bodyPr wrap="square" lIns="91440" tIns="45720" rIns="91440" bIns="45720">
            <a:noAutofit/>
          </a:bodyPr>
          <a:lstStyle/>
          <a:p>
            <a:r>
              <a:rPr lang="en-US" sz="950">
                <a:solidFill>
                  <a:srgbClr val="8FA0B8"/>
                </a:solidFill>
                <a:latin typeface="Calibri"/>
              </a:rPr>
              <a:t>(d/list-databases client {})</a:t>
            </a:r>
          </a:p>
        </p:txBody>
      </p:sp>
      <p:sp>
        <p:nvSpPr>
          <p:cNvPr id="13" name="t"/>
          <p:cNvSpPr txBox="1"/>
          <p:nvPr/>
        </p:nvSpPr>
        <p:spPr>
          <a:xfrm>
            <a:off x="457200" y="1435100"/>
            <a:ext cx="8229600" cy="223012"/>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435100"/>
            <a:ext cx="1464868" cy="223012"/>
          </a:xfrm>
          <a:prstGeom prst="rect">
            <a:avLst/>
          </a:prstGeom>
        </p:spPr>
        <p:txBody>
          <a:bodyPr wrap="square" lIns="91440" tIns="45720" rIns="91440" bIns="45720">
            <a:noAutofit/>
          </a:bodyPr>
          <a:lstStyle/>
          <a:p>
            <a:r>
              <a:rPr lang="en-US" sz="950" b="1">
                <a:solidFill>
                  <a:srgbClr val="E8EDF6"/>
                </a:solidFill>
                <a:latin typeface="Calibri"/>
              </a:rPr>
              <a:t>connect</a:t>
            </a:r>
          </a:p>
        </p:txBody>
      </p:sp>
      <p:sp>
        <p:nvSpPr>
          <p:cNvPr id="15" name="t"/>
          <p:cNvSpPr txBox="1"/>
          <p:nvPr/>
        </p:nvSpPr>
        <p:spPr>
          <a:xfrm>
            <a:off x="1967788" y="1435100"/>
            <a:ext cx="3418027" cy="223012"/>
          </a:xfrm>
          <a:prstGeom prst="rect">
            <a:avLst/>
          </a:prstGeom>
        </p:spPr>
        <p:txBody>
          <a:bodyPr wrap="square" lIns="91440" tIns="45720" rIns="91440" bIns="45720">
            <a:noAutofit/>
          </a:bodyPr>
          <a:lstStyle/>
          <a:p>
            <a:r>
              <a:rPr lang="en-US" sz="950">
                <a:solidFill>
                  <a:srgbClr val="8FA0B8"/>
                </a:solidFill>
                <a:latin typeface="Calibri"/>
              </a:rPr>
              <a:t>(d/connect uri)</a:t>
            </a:r>
          </a:p>
        </p:txBody>
      </p:sp>
      <p:sp>
        <p:nvSpPr>
          <p:cNvPr id="16" name="t"/>
          <p:cNvSpPr txBox="1"/>
          <p:nvPr/>
        </p:nvSpPr>
        <p:spPr>
          <a:xfrm>
            <a:off x="5385816" y="1435100"/>
            <a:ext cx="3255264" cy="223012"/>
          </a:xfrm>
          <a:prstGeom prst="rect">
            <a:avLst/>
          </a:prstGeom>
        </p:spPr>
        <p:txBody>
          <a:bodyPr wrap="square" lIns="91440" tIns="45720" rIns="91440" bIns="45720">
            <a:noAutofit/>
          </a:bodyPr>
          <a:lstStyle/>
          <a:p>
            <a:r>
              <a:rPr lang="en-US" sz="950">
                <a:solidFill>
                  <a:srgbClr val="8FA0B8"/>
                </a:solidFill>
                <a:latin typeface="Calibri"/>
              </a:rPr>
              <a:t>(d/connect client {:db-name "x"})</a:t>
            </a:r>
          </a:p>
        </p:txBody>
      </p:sp>
      <p:sp>
        <p:nvSpPr>
          <p:cNvPr id="17" name="t"/>
          <p:cNvSpPr txBox="1"/>
          <p:nvPr/>
        </p:nvSpPr>
        <p:spPr>
          <a:xfrm>
            <a:off x="502920" y="1658112"/>
            <a:ext cx="1464868" cy="223012"/>
          </a:xfrm>
          <a:prstGeom prst="rect">
            <a:avLst/>
          </a:prstGeom>
        </p:spPr>
        <p:txBody>
          <a:bodyPr wrap="square" lIns="91440" tIns="45720" rIns="91440" bIns="45720">
            <a:noAutofit/>
          </a:bodyPr>
          <a:lstStyle/>
          <a:p>
            <a:r>
              <a:rPr lang="en-US" sz="950" b="1">
                <a:solidFill>
                  <a:srgbClr val="E8EDF6"/>
                </a:solidFill>
                <a:latin typeface="Calibri"/>
              </a:rPr>
              <a:t>rename</a:t>
            </a:r>
          </a:p>
        </p:txBody>
      </p:sp>
      <p:sp>
        <p:nvSpPr>
          <p:cNvPr id="18" name="t"/>
          <p:cNvSpPr txBox="1"/>
          <p:nvPr/>
        </p:nvSpPr>
        <p:spPr>
          <a:xfrm>
            <a:off x="1967788" y="1658112"/>
            <a:ext cx="3418027" cy="223012"/>
          </a:xfrm>
          <a:prstGeom prst="rect">
            <a:avLst/>
          </a:prstGeom>
        </p:spPr>
        <p:txBody>
          <a:bodyPr wrap="square" lIns="91440" tIns="45720" rIns="91440" bIns="45720">
            <a:noAutofit/>
          </a:bodyPr>
          <a:lstStyle/>
          <a:p>
            <a:r>
              <a:rPr lang="en-US" sz="950">
                <a:solidFill>
                  <a:srgbClr val="8FA0B8"/>
                </a:solidFill>
                <a:latin typeface="Calibri"/>
              </a:rPr>
              <a:t>(d/rename-database uri "new")</a:t>
            </a:r>
          </a:p>
        </p:txBody>
      </p:sp>
      <p:sp>
        <p:nvSpPr>
          <p:cNvPr id="19" name="t"/>
          <p:cNvSpPr txBox="1"/>
          <p:nvPr/>
        </p:nvSpPr>
        <p:spPr>
          <a:xfrm>
            <a:off x="5385816" y="1658112"/>
            <a:ext cx="3255264" cy="223012"/>
          </a:xfrm>
          <a:prstGeom prst="rect">
            <a:avLst/>
          </a:prstGeom>
        </p:spPr>
        <p:txBody>
          <a:bodyPr wrap="square" lIns="91440" tIns="45720" rIns="91440" bIns="45720">
            <a:noAutofit/>
          </a:bodyPr>
          <a:lstStyle/>
          <a:p>
            <a:r>
              <a:rPr lang="en-US" sz="950">
                <a:solidFill>
                  <a:srgbClr val="8FA0B8"/>
                </a:solidFill>
                <a:latin typeface="Calibri"/>
              </a:rPr>
              <a:t>not available</a:t>
            </a:r>
          </a:p>
        </p:txBody>
      </p:sp>
      <p:sp>
        <p:nvSpPr>
          <p:cNvPr id="20" name="t"/>
          <p:cNvSpPr txBox="1"/>
          <p:nvPr/>
        </p:nvSpPr>
        <p:spPr>
          <a:xfrm>
            <a:off x="457200" y="1881124"/>
            <a:ext cx="8229600" cy="223012"/>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1881124"/>
            <a:ext cx="1464868" cy="223012"/>
          </a:xfrm>
          <a:prstGeom prst="rect">
            <a:avLst/>
          </a:prstGeom>
        </p:spPr>
        <p:txBody>
          <a:bodyPr wrap="square" lIns="91440" tIns="45720" rIns="91440" bIns="45720">
            <a:noAutofit/>
          </a:bodyPr>
          <a:lstStyle/>
          <a:p>
            <a:r>
              <a:rPr lang="en-US" sz="950" b="1">
                <a:solidFill>
                  <a:srgbClr val="E8EDF6"/>
                </a:solidFill>
                <a:latin typeface="Calibri"/>
              </a:rPr>
              <a:t>delete</a:t>
            </a:r>
          </a:p>
        </p:txBody>
      </p:sp>
      <p:sp>
        <p:nvSpPr>
          <p:cNvPr id="22" name="t"/>
          <p:cNvSpPr txBox="1"/>
          <p:nvPr/>
        </p:nvSpPr>
        <p:spPr>
          <a:xfrm>
            <a:off x="1967788" y="1881124"/>
            <a:ext cx="3418027" cy="223012"/>
          </a:xfrm>
          <a:prstGeom prst="rect">
            <a:avLst/>
          </a:prstGeom>
        </p:spPr>
        <p:txBody>
          <a:bodyPr wrap="square" lIns="91440" tIns="45720" rIns="91440" bIns="45720">
            <a:noAutofit/>
          </a:bodyPr>
          <a:lstStyle/>
          <a:p>
            <a:r>
              <a:rPr lang="en-US" sz="950">
                <a:solidFill>
                  <a:srgbClr val="8FA0B8"/>
                </a:solidFill>
                <a:latin typeface="Calibri"/>
              </a:rPr>
              <a:t>(d/delete-database uri)</a:t>
            </a:r>
          </a:p>
        </p:txBody>
      </p:sp>
      <p:sp>
        <p:nvSpPr>
          <p:cNvPr id="23" name="t"/>
          <p:cNvSpPr txBox="1"/>
          <p:nvPr/>
        </p:nvSpPr>
        <p:spPr>
          <a:xfrm>
            <a:off x="5385816" y="1881124"/>
            <a:ext cx="3255264" cy="223012"/>
          </a:xfrm>
          <a:prstGeom prst="rect">
            <a:avLst/>
          </a:prstGeom>
        </p:spPr>
        <p:txBody>
          <a:bodyPr wrap="square" lIns="91440" tIns="45720" rIns="91440" bIns="45720">
            <a:noAutofit/>
          </a:bodyPr>
          <a:lstStyle/>
          <a:p>
            <a:r>
              <a:rPr lang="en-US" sz="950">
                <a:solidFill>
                  <a:srgbClr val="8FA0B8"/>
                </a:solidFill>
                <a:latin typeface="Calibri"/>
              </a:rPr>
              <a:t>(d/delete-database client {:db-name "x"})</a:t>
            </a:r>
          </a:p>
        </p:txBody>
      </p:sp>
      <p:sp>
        <p:nvSpPr>
          <p:cNvPr id="24" name="t"/>
          <p:cNvSpPr txBox="1"/>
          <p:nvPr/>
        </p:nvSpPr>
        <p:spPr>
          <a:xfrm>
            <a:off x="502920" y="2104136"/>
            <a:ext cx="1464868" cy="377444"/>
          </a:xfrm>
          <a:prstGeom prst="rect">
            <a:avLst/>
          </a:prstGeom>
        </p:spPr>
        <p:txBody>
          <a:bodyPr wrap="square" lIns="91440" tIns="45720" rIns="91440" bIns="45720">
            <a:noAutofit/>
          </a:bodyPr>
          <a:lstStyle/>
          <a:p>
            <a:r>
              <a:rPr lang="en-US" sz="950" b="1">
                <a:solidFill>
                  <a:srgbClr val="E8EDF6"/>
                </a:solidFill>
                <a:latin typeface="Calibri"/>
              </a:rPr>
              <a:t>upgrade schema</a:t>
            </a:r>
          </a:p>
        </p:txBody>
      </p:sp>
      <p:sp>
        <p:nvSpPr>
          <p:cNvPr id="25" name="t"/>
          <p:cNvSpPr txBox="1"/>
          <p:nvPr/>
        </p:nvSpPr>
        <p:spPr>
          <a:xfrm>
            <a:off x="1967788" y="2104136"/>
            <a:ext cx="3418027" cy="377444"/>
          </a:xfrm>
          <a:prstGeom prst="rect">
            <a:avLst/>
          </a:prstGeom>
        </p:spPr>
        <p:txBody>
          <a:bodyPr wrap="square" lIns="91440" tIns="45720" rIns="91440" bIns="45720">
            <a:noAutofit/>
          </a:bodyPr>
          <a:lstStyle/>
          <a:p>
            <a:r>
              <a:rPr lang="en-US" sz="950">
                <a:solidFill>
                  <a:srgbClr val="8FA0B8"/>
                </a:solidFill>
                <a:latin typeface="Calibri"/>
              </a:rPr>
              <a:t>(d/administer-system {:uri ... :action :upgrade-schema})</a:t>
            </a:r>
          </a:p>
        </p:txBody>
      </p:sp>
      <p:sp>
        <p:nvSpPr>
          <p:cNvPr id="26" name="t"/>
          <p:cNvSpPr txBox="1"/>
          <p:nvPr/>
        </p:nvSpPr>
        <p:spPr>
          <a:xfrm>
            <a:off x="5385816" y="2104136"/>
            <a:ext cx="3255264" cy="377444"/>
          </a:xfrm>
          <a:prstGeom prst="rect">
            <a:avLst/>
          </a:prstGeom>
        </p:spPr>
        <p:txBody>
          <a:bodyPr wrap="square" lIns="91440" tIns="45720" rIns="91440" bIns="45720">
            <a:noAutofit/>
          </a:bodyPr>
          <a:lstStyle/>
          <a:p>
            <a:r>
              <a:rPr lang="en-US" sz="950">
                <a:solidFill>
                  <a:srgbClr val="8FA0B8"/>
                </a:solidFill>
                <a:latin typeface="Calibri"/>
              </a:rPr>
              <a:t>(d/administer-system client {... :action :upgrade-schema})</a:t>
            </a:r>
          </a:p>
        </p:txBody>
      </p:sp>
      <p:sp>
        <p:nvSpPr>
          <p:cNvPr id="27" name="t"/>
          <p:cNvSpPr txBox="1"/>
          <p:nvPr/>
        </p:nvSpPr>
        <p:spPr>
          <a:xfrm>
            <a:off x="502920" y="2646172"/>
            <a:ext cx="45720" cy="449072"/>
          </a:xfrm>
          <a:prstGeom prst="rect">
            <a:avLst/>
          </a:prstGeom>
          <a:solidFill>
            <a:srgbClr val="FFC66D"/>
          </a:solidFill>
        </p:spPr>
        <p:txBody>
          <a:bodyPr wrap="square" lIns="91440" tIns="45720" rIns="91440" bIns="45720">
            <a:noAutofit/>
          </a:bodyPr>
          <a:lstStyle/>
        </p:txBody>
      </p:sp>
      <p:sp>
        <p:nvSpPr>
          <p:cNvPr id="28" name="t"/>
          <p:cNvSpPr txBox="1"/>
          <p:nvPr/>
        </p:nvSpPr>
        <p:spPr>
          <a:xfrm>
            <a:off x="594360" y="2646172"/>
            <a:ext cx="8046720" cy="449072"/>
          </a:xfrm>
          <a:prstGeom prst="rect">
            <a:avLst/>
          </a:prstGeom>
        </p:spPr>
        <p:txBody>
          <a:bodyPr wrap="square" lIns="91440" tIns="45720" rIns="91440" bIns="45720">
            <a:noAutofit/>
          </a:bodyPr>
          <a:lstStyle/>
          <a:p>
            <a:r>
              <a:rPr lang="en-US" sz="1100">
                <a:solidFill>
                  <a:srgbClr val="E8EDF6"/>
                </a:solidFill>
                <a:latin typeface="Calibri"/>
              </a:rPr>
              <a:t>⚠  There is no bin/datomic create-database. Database lifecycle is an API operation, not a CLI one — and a Peer Server cannot do it at all, because Peer Servers do not own databases.</a:t>
            </a:r>
          </a:p>
        </p:txBody>
      </p:sp>
      <p:sp>
        <p:nvSpPr>
          <p:cNvPr id="2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3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Run a Peer Server, connect a client</a:t>
            </a:r>
          </a:p>
        </p:txBody>
      </p:sp>
      <p:sp>
        <p:nvSpPr>
          <p:cNvPr id="4" name="t"/>
          <p:cNvSpPr txBox="1"/>
          <p:nvPr/>
        </p:nvSpPr>
        <p:spPr>
          <a:xfrm>
            <a:off x="502920" y="971804"/>
            <a:ext cx="8138160" cy="2139888"/>
          </a:xfrm>
          <a:prstGeom prst="roundRect">
            <a:avLst/>
          </a:prstGeom>
          <a:solidFill>
            <a:srgbClr val="141B28"/>
          </a:solidFill>
        </p:spPr>
        <p:txBody>
          <a:bodyPr wrap="square" lIns="91440" tIns="45720" rIns="91440" bIns="45720">
            <a:noAutofit/>
          </a:bodyPr>
          <a:lstStyle/>
          <a:p>
            <a:r>
              <a:rPr lang="en-US" sz="880">
                <a:solidFill>
                  <a:srgbClr val="7BD88F"/>
                </a:solidFill>
                <a:latin typeface="Courier New"/>
              </a:rPr>
              <a:t>$ bin/run -m datomic.peer-server \</a:t>
            </a:r>
          </a:p>
          <a:p>
            <a:r>
              <a:rPr lang="en-US" sz="880">
                <a:solidFill>
                  <a:srgbClr val="7BD88F"/>
                </a:solidFill>
                <a:latin typeface="Courier New"/>
              </a:rPr>
              <a:t>    -h localhost -p 8998 \</a:t>
            </a:r>
          </a:p>
          <a:p>
            <a:r>
              <a:rPr lang="en-US" sz="880">
                <a:solidFill>
                  <a:srgbClr val="7BD88F"/>
                </a:solidFill>
                <a:latin typeface="Courier New"/>
              </a:rPr>
              <a:t>    -a myaccesskey,mysecret \</a:t>
            </a:r>
          </a:p>
          <a:p>
            <a:r>
              <a:rPr lang="en-US" sz="880">
                <a:solidFill>
                  <a:srgbClr val="7BD88F"/>
                </a:solidFill>
                <a:latin typeface="Courier New"/>
              </a:rPr>
              <a:t>    -d inventory,datomic:sql://inventory?jdbc:postgresql://...</a:t>
            </a:r>
          </a:p>
          <a:p>
            <a:endParaRPr lang="en-US" sz="880"/>
          </a:p>
          <a:p>
            <a:r>
              <a:rPr lang="en-US" sz="880">
                <a:solidFill>
                  <a:srgbClr val="7BD88F"/>
                </a:solidFill>
                <a:latin typeface="Courier New"/>
              </a:rPr>
              <a:t>$ curl -k https://localhost:8998/health      # 200 = alive</a:t>
            </a:r>
          </a:p>
          <a:p>
            <a:endParaRPr lang="en-US" sz="880"/>
          </a:p>
          <a:p>
            <a:r>
              <a:rPr lang="en-US" sz="880">
                <a:solidFill>
                  <a:srgbClr val="7BD88F"/>
                </a:solidFill>
                <a:latin typeface="Courier New"/>
              </a:rPr>
              <a:t>;; and from a REPL with com.datomic/client-pro:</a:t>
            </a:r>
          </a:p>
          <a:p>
            <a:r>
              <a:rPr lang="en-US" sz="880">
                <a:solidFill>
                  <a:srgbClr val="7BD88F"/>
                </a:solidFill>
                <a:latin typeface="Courier New"/>
              </a:rPr>
              <a:t>(def client (d/client {:server-type :peer-server</a:t>
            </a:r>
          </a:p>
          <a:p>
            <a:r>
              <a:rPr lang="en-US" sz="880">
                <a:solidFill>
                  <a:srgbClr val="7BD88F"/>
                </a:solidFill>
                <a:latin typeface="Courier New"/>
              </a:rPr>
              <a:t>                       :endpoint "localhost:8998"</a:t>
            </a:r>
          </a:p>
          <a:p>
            <a:r>
              <a:rPr lang="en-US" sz="880">
                <a:solidFill>
                  <a:srgbClr val="7BD88F"/>
                </a:solidFill>
                <a:latin typeface="Courier New"/>
              </a:rPr>
              <a:t>                       :access-key "myaccesskey"</a:t>
            </a:r>
          </a:p>
          <a:p>
            <a:r>
              <a:rPr lang="en-US" sz="880">
                <a:solidFill>
                  <a:srgbClr val="7BD88F"/>
                </a:solidFill>
                <a:latin typeface="Courier New"/>
              </a:rPr>
              <a:t>                       :secret "mysecret"</a:t>
            </a:r>
          </a:p>
          <a:p>
            <a:r>
              <a:rPr lang="en-US" sz="880">
                <a:solidFill>
                  <a:srgbClr val="7BD88F"/>
                </a:solidFill>
                <a:latin typeface="Courier New"/>
              </a:rPr>
              <a:t>                       :validate-hostnames false}))</a:t>
            </a:r>
          </a:p>
          <a:p>
            <a:r>
              <a:rPr lang="en-US" sz="880">
                <a:solidFill>
                  <a:srgbClr val="7BD88F"/>
                </a:solidFill>
                <a:latin typeface="Courier New"/>
              </a:rPr>
              <a:t>(d/list-databases client {})</a:t>
            </a:r>
          </a:p>
        </p:txBody>
      </p:sp>
      <p:sp>
        <p:nvSpPr>
          <p:cNvPr id="5" name="t"/>
          <p:cNvSpPr txBox="1"/>
          <p:nvPr/>
        </p:nvSpPr>
        <p:spPr>
          <a:xfrm>
            <a:off x="502920" y="3276284"/>
            <a:ext cx="8138160" cy="162560"/>
          </a:xfrm>
          <a:prstGeom prst="rect">
            <a:avLst/>
          </a:prstGeom>
        </p:spPr>
        <p:txBody>
          <a:bodyPr wrap="square" lIns="91440" tIns="45720" rIns="91440" bIns="45720">
            <a:noAutofit/>
          </a:bodyPr>
          <a:lstStyle/>
          <a:p>
            <a:r>
              <a:rPr lang="en-US" sz="1000">
                <a:solidFill>
                  <a:srgbClr val="E8EDF6"/>
                </a:solidFill>
                <a:latin typeface="Calibri"/>
              </a:rPr>
              <a:t>▸ -d and -a are both repeatable: many databases, and many keys for rotation</a:t>
            </a:r>
          </a:p>
        </p:txBody>
      </p:sp>
      <p:sp>
        <p:nvSpPr>
          <p:cNvPr id="6" name="t"/>
          <p:cNvSpPr txBox="1"/>
          <p:nvPr/>
        </p:nvSpPr>
        <p:spPr>
          <a:xfrm>
            <a:off x="502920" y="3438844"/>
            <a:ext cx="8138160" cy="162560"/>
          </a:xfrm>
          <a:prstGeom prst="rect">
            <a:avLst/>
          </a:prstGeom>
        </p:spPr>
        <p:txBody>
          <a:bodyPr wrap="square" lIns="91440" tIns="45720" rIns="91440" bIns="45720">
            <a:noAutofit/>
          </a:bodyPr>
          <a:lstStyle/>
          <a:p>
            <a:r>
              <a:rPr lang="en-US" sz="1000">
                <a:solidFill>
                  <a:srgbClr val="FFC66D"/>
                </a:solidFill>
                <a:latin typeface="Calibri"/>
              </a:rPr>
              <a:t>▸ -c/--concurrency defaults to 16 — the max in-flight requests, and the first thing to raise under load</a:t>
            </a:r>
          </a:p>
        </p:txBody>
      </p:sp>
      <p:sp>
        <p:nvSpPr>
          <p:cNvPr id="7" name="t"/>
          <p:cNvSpPr txBox="1"/>
          <p:nvPr/>
        </p:nvSpPr>
        <p:spPr>
          <a:xfrm>
            <a:off x="502920" y="3601404"/>
            <a:ext cx="8138160" cy="162560"/>
          </a:xfrm>
          <a:prstGeom prst="rect">
            <a:avLst/>
          </a:prstGeom>
        </p:spPr>
        <p:txBody>
          <a:bodyPr wrap="square" lIns="91440" tIns="45720" rIns="91440" bIns="45720">
            <a:noAutofit/>
          </a:bodyPr>
          <a:lstStyle/>
          <a:p>
            <a:r>
              <a:rPr lang="en-US" sz="1000">
                <a:solidFill>
                  <a:srgbClr val="8FA0B8"/>
                </a:solidFill>
                <a:latin typeface="Calibri"/>
              </a:rPr>
              <a:t>▸ There is no --help. Run it with no arguments and it prints the option table.</a:t>
            </a:r>
          </a:p>
        </p:txBody>
      </p:sp>
      <p:sp>
        <p:nvSpPr>
          <p:cNvPr id="8" name="t"/>
          <p:cNvSpPr txBox="1"/>
          <p:nvPr/>
        </p:nvSpPr>
        <p:spPr>
          <a:xfrm>
            <a:off x="502920" y="3763964"/>
            <a:ext cx="8138160" cy="325120"/>
          </a:xfrm>
          <a:prstGeom prst="rect">
            <a:avLst/>
          </a:prstGeom>
        </p:spPr>
        <p:txBody>
          <a:bodyPr wrap="square" lIns="91440" tIns="45720" rIns="91440" bIns="45720">
            <a:noAutofit/>
          </a:bodyPr>
          <a:lstStyle/>
          <a:p>
            <a:r>
              <a:rPr lang="en-US" sz="1000">
                <a:solidFill>
                  <a:srgbClr val="F28FAD"/>
                </a:solidFill>
                <a:latin typeface="Calibri"/>
              </a:rPr>
              <a:t>▸ Try (d/create-database client {:db-name "x"}) and watch it refuse — Peer Servers do not own databases. The error is an ugly AbstractMethodError, not a friendly message.</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Sizing the transactor</a:t>
            </a:r>
          </a:p>
        </p:txBody>
      </p:sp>
      <p:sp>
        <p:nvSpPr>
          <p:cNvPr id="3" name="t"/>
          <p:cNvSpPr txBox="1"/>
          <p:nvPr/>
        </p:nvSpPr>
        <p:spPr>
          <a:xfrm>
            <a:off x="502920" y="766064"/>
            <a:ext cx="2278684" cy="239268"/>
          </a:xfrm>
          <a:prstGeom prst="rect">
            <a:avLst/>
          </a:prstGeom>
        </p:spPr>
        <p:txBody>
          <a:bodyPr wrap="square" lIns="91440" tIns="45720" rIns="91440" bIns="45720">
            <a:noAutofit/>
          </a:bodyPr>
          <a:lstStyle/>
          <a:p>
            <a:r>
              <a:rPr lang="en-US" sz="1050" b="1">
                <a:solidFill>
                  <a:srgbClr val="FFC66D"/>
                </a:solidFill>
                <a:latin typeface="Calibri"/>
              </a:rPr>
              <a:t>Heap</a:t>
            </a:r>
          </a:p>
        </p:txBody>
      </p:sp>
      <p:sp>
        <p:nvSpPr>
          <p:cNvPr id="4" name="t"/>
          <p:cNvSpPr txBox="1"/>
          <p:nvPr/>
        </p:nvSpPr>
        <p:spPr>
          <a:xfrm>
            <a:off x="2781604" y="766064"/>
            <a:ext cx="2115921" cy="239268"/>
          </a:xfrm>
          <a:prstGeom prst="rect">
            <a:avLst/>
          </a:prstGeom>
        </p:spPr>
        <p:txBody>
          <a:bodyPr wrap="square" lIns="91440" tIns="45720" rIns="91440" bIns="45720">
            <a:noAutofit/>
          </a:bodyPr>
          <a:lstStyle/>
          <a:p>
            <a:r>
              <a:rPr lang="en-US" sz="1050" b="1">
                <a:solidFill>
                  <a:srgbClr val="FFC66D"/>
                </a:solidFill>
                <a:latin typeface="Calibri"/>
              </a:rPr>
              <a:t>memory-index-threshold</a:t>
            </a:r>
          </a:p>
        </p:txBody>
      </p:sp>
      <p:sp>
        <p:nvSpPr>
          <p:cNvPr id="5" name="t"/>
          <p:cNvSpPr txBox="1"/>
          <p:nvPr/>
        </p:nvSpPr>
        <p:spPr>
          <a:xfrm>
            <a:off x="4897526" y="766064"/>
            <a:ext cx="1790395" cy="239268"/>
          </a:xfrm>
          <a:prstGeom prst="rect">
            <a:avLst/>
          </a:prstGeom>
        </p:spPr>
        <p:txBody>
          <a:bodyPr wrap="square" lIns="91440" tIns="45720" rIns="91440" bIns="45720">
            <a:noAutofit/>
          </a:bodyPr>
          <a:lstStyle/>
          <a:p>
            <a:r>
              <a:rPr lang="en-US" sz="1050" b="1">
                <a:solidFill>
                  <a:srgbClr val="FFC66D"/>
                </a:solidFill>
                <a:latin typeface="Calibri"/>
              </a:rPr>
              <a:t>memory-index-max</a:t>
            </a:r>
          </a:p>
        </p:txBody>
      </p:sp>
      <p:sp>
        <p:nvSpPr>
          <p:cNvPr id="6" name="t"/>
          <p:cNvSpPr txBox="1"/>
          <p:nvPr/>
        </p:nvSpPr>
        <p:spPr>
          <a:xfrm>
            <a:off x="6687921" y="766064"/>
            <a:ext cx="1953158" cy="239268"/>
          </a:xfrm>
          <a:prstGeom prst="rect">
            <a:avLst/>
          </a:prstGeom>
        </p:spPr>
        <p:txBody>
          <a:bodyPr wrap="square" lIns="91440" tIns="45720" rIns="91440" bIns="45720">
            <a:noAutofit/>
          </a:bodyPr>
          <a:lstStyle/>
          <a:p>
            <a:r>
              <a:rPr lang="en-US" sz="1050" b="1">
                <a:solidFill>
                  <a:srgbClr val="FFC66D"/>
                </a:solidFill>
                <a:latin typeface="Calibri"/>
              </a:rPr>
              <a:t>object-cache-max</a:t>
            </a:r>
          </a:p>
        </p:txBody>
      </p:sp>
      <p:sp>
        <p:nvSpPr>
          <p:cNvPr id="7" name="t"/>
          <p:cNvSpPr txBox="1"/>
          <p:nvPr/>
        </p:nvSpPr>
        <p:spPr>
          <a:xfrm>
            <a:off x="457200" y="1005332"/>
            <a:ext cx="8229600" cy="239268"/>
          </a:xfrm>
          <a:prstGeom prst="rect">
            <a:avLst/>
          </a:prstGeom>
          <a:solidFill>
            <a:srgbClr val="141B28"/>
          </a:solidFill>
        </p:spPr>
        <p:txBody>
          <a:bodyPr wrap="square" lIns="91440" tIns="45720" rIns="91440" bIns="45720">
            <a:noAutofit/>
          </a:bodyPr>
          <a:lstStyle/>
        </p:txBody>
      </p:sp>
      <p:sp>
        <p:nvSpPr>
          <p:cNvPr id="8" name="t"/>
          <p:cNvSpPr txBox="1"/>
          <p:nvPr/>
        </p:nvSpPr>
        <p:spPr>
          <a:xfrm>
            <a:off x="502920" y="1005332"/>
            <a:ext cx="2278684" cy="239268"/>
          </a:xfrm>
          <a:prstGeom prst="rect">
            <a:avLst/>
          </a:prstGeom>
        </p:spPr>
        <p:txBody>
          <a:bodyPr wrap="square" lIns="91440" tIns="45720" rIns="91440" bIns="45720">
            <a:noAutofit/>
          </a:bodyPr>
          <a:lstStyle/>
          <a:p>
            <a:r>
              <a:rPr lang="en-US" sz="1050" b="1">
                <a:solidFill>
                  <a:srgbClr val="E8EDF6"/>
                </a:solidFill>
                <a:latin typeface="Calibri"/>
              </a:rPr>
              <a:t>-Xmx1g  (dev)</a:t>
            </a:r>
          </a:p>
        </p:txBody>
      </p:sp>
      <p:sp>
        <p:nvSpPr>
          <p:cNvPr id="9" name="t"/>
          <p:cNvSpPr txBox="1"/>
          <p:nvPr/>
        </p:nvSpPr>
        <p:spPr>
          <a:xfrm>
            <a:off x="2781604" y="1005332"/>
            <a:ext cx="2115921" cy="239268"/>
          </a:xfrm>
          <a:prstGeom prst="rect">
            <a:avLst/>
          </a:prstGeom>
        </p:spPr>
        <p:txBody>
          <a:bodyPr wrap="square" lIns="91440" tIns="45720" rIns="91440" bIns="45720">
            <a:noAutofit/>
          </a:bodyPr>
          <a:lstStyle/>
          <a:p>
            <a:r>
              <a:rPr lang="en-US" sz="1050">
                <a:solidFill>
                  <a:srgbClr val="8FA0B8"/>
                </a:solidFill>
                <a:latin typeface="Calibri"/>
              </a:rPr>
              <a:t>32m</a:t>
            </a:r>
          </a:p>
        </p:txBody>
      </p:sp>
      <p:sp>
        <p:nvSpPr>
          <p:cNvPr id="10" name="t"/>
          <p:cNvSpPr txBox="1"/>
          <p:nvPr/>
        </p:nvSpPr>
        <p:spPr>
          <a:xfrm>
            <a:off x="4897526" y="1005332"/>
            <a:ext cx="1790395" cy="239268"/>
          </a:xfrm>
          <a:prstGeom prst="rect">
            <a:avLst/>
          </a:prstGeom>
        </p:spPr>
        <p:txBody>
          <a:bodyPr wrap="square" lIns="91440" tIns="45720" rIns="91440" bIns="45720">
            <a:noAutofit/>
          </a:bodyPr>
          <a:lstStyle/>
          <a:p>
            <a:r>
              <a:rPr lang="en-US" sz="1050">
                <a:solidFill>
                  <a:srgbClr val="8FA0B8"/>
                </a:solidFill>
                <a:latin typeface="Calibri"/>
              </a:rPr>
              <a:t>256m</a:t>
            </a:r>
          </a:p>
        </p:txBody>
      </p:sp>
      <p:sp>
        <p:nvSpPr>
          <p:cNvPr id="11" name="t"/>
          <p:cNvSpPr txBox="1"/>
          <p:nvPr/>
        </p:nvSpPr>
        <p:spPr>
          <a:xfrm>
            <a:off x="6687921" y="1005332"/>
            <a:ext cx="1953158" cy="239268"/>
          </a:xfrm>
          <a:prstGeom prst="rect">
            <a:avLst/>
          </a:prstGeom>
        </p:spPr>
        <p:txBody>
          <a:bodyPr wrap="square" lIns="91440" tIns="45720" rIns="91440" bIns="45720">
            <a:noAutofit/>
          </a:bodyPr>
          <a:lstStyle/>
          <a:p>
            <a:r>
              <a:rPr lang="en-US" sz="1050">
                <a:solidFill>
                  <a:srgbClr val="8FA0B8"/>
                </a:solidFill>
                <a:latin typeface="Calibri"/>
              </a:rPr>
              <a:t>128m</a:t>
            </a:r>
          </a:p>
        </p:txBody>
      </p:sp>
      <p:sp>
        <p:nvSpPr>
          <p:cNvPr id="12" name="t"/>
          <p:cNvSpPr txBox="1"/>
          <p:nvPr/>
        </p:nvSpPr>
        <p:spPr>
          <a:xfrm>
            <a:off x="502920" y="1244600"/>
            <a:ext cx="2278684" cy="239268"/>
          </a:xfrm>
          <a:prstGeom prst="rect">
            <a:avLst/>
          </a:prstGeom>
        </p:spPr>
        <p:txBody>
          <a:bodyPr wrap="square" lIns="91440" tIns="45720" rIns="91440" bIns="45720">
            <a:noAutofit/>
          </a:bodyPr>
          <a:lstStyle/>
          <a:p>
            <a:r>
              <a:rPr lang="en-US" sz="1050" b="1">
                <a:solidFill>
                  <a:srgbClr val="E8EDF6"/>
                </a:solidFill>
                <a:latin typeface="Calibri"/>
              </a:rPr>
              <a:t>-Xmx4g  (production)</a:t>
            </a:r>
          </a:p>
        </p:txBody>
      </p:sp>
      <p:sp>
        <p:nvSpPr>
          <p:cNvPr id="13" name="t"/>
          <p:cNvSpPr txBox="1"/>
          <p:nvPr/>
        </p:nvSpPr>
        <p:spPr>
          <a:xfrm>
            <a:off x="2781604" y="1244600"/>
            <a:ext cx="2115921" cy="239268"/>
          </a:xfrm>
          <a:prstGeom prst="rect">
            <a:avLst/>
          </a:prstGeom>
        </p:spPr>
        <p:txBody>
          <a:bodyPr wrap="square" lIns="91440" tIns="45720" rIns="91440" bIns="45720">
            <a:noAutofit/>
          </a:bodyPr>
          <a:lstStyle/>
          <a:p>
            <a:r>
              <a:rPr lang="en-US" sz="1050">
                <a:solidFill>
                  <a:srgbClr val="8FA0B8"/>
                </a:solidFill>
                <a:latin typeface="Calibri"/>
              </a:rPr>
              <a:t>32m</a:t>
            </a:r>
          </a:p>
        </p:txBody>
      </p:sp>
      <p:sp>
        <p:nvSpPr>
          <p:cNvPr id="14" name="t"/>
          <p:cNvSpPr txBox="1"/>
          <p:nvPr/>
        </p:nvSpPr>
        <p:spPr>
          <a:xfrm>
            <a:off x="4897526" y="1244600"/>
            <a:ext cx="1790395" cy="239268"/>
          </a:xfrm>
          <a:prstGeom prst="rect">
            <a:avLst/>
          </a:prstGeom>
        </p:spPr>
        <p:txBody>
          <a:bodyPr wrap="square" lIns="91440" tIns="45720" rIns="91440" bIns="45720">
            <a:noAutofit/>
          </a:bodyPr>
          <a:lstStyle/>
          <a:p>
            <a:r>
              <a:rPr lang="en-US" sz="1050">
                <a:solidFill>
                  <a:srgbClr val="8FA0B8"/>
                </a:solidFill>
                <a:latin typeface="Calibri"/>
              </a:rPr>
              <a:t>512m</a:t>
            </a:r>
          </a:p>
        </p:txBody>
      </p:sp>
      <p:sp>
        <p:nvSpPr>
          <p:cNvPr id="15" name="t"/>
          <p:cNvSpPr txBox="1"/>
          <p:nvPr/>
        </p:nvSpPr>
        <p:spPr>
          <a:xfrm>
            <a:off x="6687921" y="1244600"/>
            <a:ext cx="1953158" cy="239268"/>
          </a:xfrm>
          <a:prstGeom prst="rect">
            <a:avLst/>
          </a:prstGeom>
        </p:spPr>
        <p:txBody>
          <a:bodyPr wrap="square" lIns="91440" tIns="45720" rIns="91440" bIns="45720">
            <a:noAutofit/>
          </a:bodyPr>
          <a:lstStyle/>
          <a:p>
            <a:r>
              <a:rPr lang="en-US" sz="1050">
                <a:solidFill>
                  <a:srgbClr val="8FA0B8"/>
                </a:solidFill>
                <a:latin typeface="Calibri"/>
              </a:rPr>
              <a:t>1g</a:t>
            </a:r>
          </a:p>
        </p:txBody>
      </p:sp>
      <p:sp>
        <p:nvSpPr>
          <p:cNvPr id="16" name="t"/>
          <p:cNvSpPr txBox="1"/>
          <p:nvPr/>
        </p:nvSpPr>
        <p:spPr>
          <a:xfrm>
            <a:off x="502920" y="1671320"/>
            <a:ext cx="8138160" cy="178816"/>
          </a:xfrm>
          <a:prstGeom prst="rect">
            <a:avLst/>
          </a:prstGeom>
        </p:spPr>
        <p:txBody>
          <a:bodyPr wrap="square" lIns="91440" tIns="45720" rIns="91440" bIns="45720">
            <a:noAutofit/>
          </a:bodyPr>
          <a:lstStyle/>
          <a:p>
            <a:r>
              <a:rPr lang="en-US" sz="1100">
                <a:solidFill>
                  <a:srgbClr val="E8EDF6"/>
                </a:solidFill>
                <a:latin typeface="Calibri"/>
              </a:rPr>
              <a:t>▸ The heap must cover memory-index-max plus object-cache-max plus real headroom for the process itself</a:t>
            </a:r>
          </a:p>
        </p:txBody>
      </p:sp>
      <p:sp>
        <p:nvSpPr>
          <p:cNvPr id="17" name="t"/>
          <p:cNvSpPr txBox="1"/>
          <p:nvPr/>
        </p:nvSpPr>
        <p:spPr>
          <a:xfrm>
            <a:off x="502920" y="1850136"/>
            <a:ext cx="8138160" cy="357632"/>
          </a:xfrm>
          <a:prstGeom prst="rect">
            <a:avLst/>
          </a:prstGeom>
        </p:spPr>
        <p:txBody>
          <a:bodyPr wrap="square" lIns="91440" tIns="45720" rIns="91440" bIns="45720">
            <a:noAutofit/>
          </a:bodyPr>
          <a:lstStyle/>
          <a:p>
            <a:r>
              <a:rPr lang="en-US" sz="1100">
                <a:solidFill>
                  <a:srgbClr val="7BD88F"/>
                </a:solidFill>
                <a:latin typeface="Calibri"/>
              </a:rPr>
              <a:t>▸ The docs are blunt: adaptive indexing manages the memory index for you — use the standard values and do not tune</a:t>
            </a:r>
          </a:p>
        </p:txBody>
      </p:sp>
      <p:sp>
        <p:nvSpPr>
          <p:cNvPr id="18" name="t"/>
          <p:cNvSpPr txBox="1"/>
          <p:nvPr/>
        </p:nvSpPr>
        <p:spPr>
          <a:xfrm>
            <a:off x="502920" y="2207768"/>
            <a:ext cx="8138160" cy="178816"/>
          </a:xfrm>
          <a:prstGeom prst="rect">
            <a:avLst/>
          </a:prstGeom>
        </p:spPr>
        <p:txBody>
          <a:bodyPr wrap="square" lIns="91440" tIns="45720" rIns="91440" bIns="45720">
            <a:noAutofit/>
          </a:bodyPr>
          <a:lstStyle/>
          <a:p>
            <a:r>
              <a:rPr lang="en-US" sz="1100">
                <a:solidFill>
                  <a:srgbClr val="F28FAD"/>
                </a:solidFill>
                <a:latin typeface="Calibri"/>
              </a:rPr>
              <a:t>▸ Remember from session two: memory-index-max is also a floor on every peer's heap</a:t>
            </a:r>
          </a:p>
        </p:txBody>
      </p:sp>
      <p:sp>
        <p:nvSpPr>
          <p:cNvPr id="19" name="t"/>
          <p:cNvSpPr txBox="1"/>
          <p:nvPr/>
        </p:nvSpPr>
        <p:spPr>
          <a:xfrm>
            <a:off x="502920" y="2505456"/>
            <a:ext cx="45720" cy="449072"/>
          </a:xfrm>
          <a:prstGeom prst="rect">
            <a:avLst/>
          </a:prstGeom>
          <a:solidFill>
            <a:srgbClr val="F28FAD"/>
          </a:solidFill>
        </p:spPr>
        <p:txBody>
          <a:bodyPr wrap="square" lIns="91440" tIns="45720" rIns="91440" bIns="45720">
            <a:noAutofit/>
          </a:bodyPr>
          <a:lstStyle/>
        </p:txBody>
      </p:sp>
      <p:sp>
        <p:nvSpPr>
          <p:cNvPr id="20" name="t"/>
          <p:cNvSpPr txBox="1"/>
          <p:nvPr/>
        </p:nvSpPr>
        <p:spPr>
          <a:xfrm>
            <a:off x="594360" y="2505456"/>
            <a:ext cx="8046720" cy="449072"/>
          </a:xfrm>
          <a:prstGeom prst="rect">
            <a:avLst/>
          </a:prstGeom>
        </p:spPr>
        <p:txBody>
          <a:bodyPr wrap="square" lIns="91440" tIns="45720" rIns="91440" bIns="45720">
            <a:noAutofit/>
          </a:bodyPr>
          <a:lstStyle/>
          <a:p>
            <a:r>
              <a:rPr lang="en-US" sz="1100">
                <a:solidFill>
                  <a:srgbClr val="E8EDF6"/>
                </a:solidFill>
                <a:latin typeface="Calibri"/>
              </a:rPr>
              <a:t>⚠  bin/transactor only applies its G1GC defaults when you pass no other JVM args. Add a single -D flag and you have silently dropped -XX:+UseG1GC -XX:MaxGCPauseMillis=50 — a documented top cause of production failover.</a:t>
            </a:r>
          </a:p>
        </p:txBody>
      </p:sp>
      <p:sp>
        <p:nvSpPr>
          <p:cNvPr id="2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2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Choosing a persistence mode</a:t>
            </a:r>
          </a:p>
        </p:txBody>
      </p:sp>
      <p:sp>
        <p:nvSpPr>
          <p:cNvPr id="3" name="t"/>
          <p:cNvSpPr txBox="1"/>
          <p:nvPr/>
        </p:nvSpPr>
        <p:spPr>
          <a:xfrm>
            <a:off x="502920" y="766064"/>
            <a:ext cx="2621280" cy="1262075"/>
          </a:xfrm>
          <a:prstGeom prst="roundRect">
            <a:avLst/>
          </a:prstGeom>
          <a:solidFill>
            <a:srgbClr val="18202F"/>
          </a:solidFill>
        </p:spPr>
        <p:txBody>
          <a:bodyPr wrap="square" lIns="91440" tIns="45720" rIns="91440" bIns="45720">
            <a:noAutofit/>
          </a:bodyPr>
          <a:lstStyle/>
          <a:p>
            <a:r>
              <a:rPr lang="en-US" sz="1200" b="1">
                <a:solidFill>
                  <a:srgbClr val="C09BFF"/>
                </a:solidFill>
                <a:latin typeface="Calibri"/>
              </a:rPr>
              <a:t>Laptop / CI</a:t>
            </a:r>
          </a:p>
          <a:p>
            <a:endParaRPr lang="en-US" sz="500"/>
          </a:p>
          <a:p>
            <a:r>
              <a:rPr lang="en-US" sz="1000">
                <a:solidFill>
                  <a:srgbClr val="E8EDF6"/>
                </a:solidFill>
                <a:latin typeface="Calibri"/>
              </a:rPr>
              <a:t>datomic:mem:// for unit tests</a:t>
            </a:r>
          </a:p>
          <a:p>
            <a:r>
              <a:rPr lang="en-US" sz="1000">
                <a:solidFill>
                  <a:srgbClr val="E8EDF6"/>
                </a:solidFill>
                <a:latin typeface="Calibri"/>
              </a:rPr>
              <a:t>Datomic Local for client-API code</a:t>
            </a:r>
          </a:p>
          <a:p>
            <a:r>
              <a:rPr lang="en-US" sz="1000">
                <a:solidFill>
                  <a:srgbClr val="E8EDF6"/>
                </a:solidFill>
                <a:latin typeface="Calibri"/>
              </a:rPr>
              <a:t>dev storage if you want durability</a:t>
            </a:r>
          </a:p>
          <a:p>
            <a:r>
              <a:rPr lang="en-US" sz="1000">
                <a:solidFill>
                  <a:srgbClr val="E8EDF6"/>
                </a:solidFill>
                <a:latin typeface="Calibri"/>
              </a:rPr>
              <a:t>No transactor to run for mem/Local</a:t>
            </a:r>
          </a:p>
        </p:txBody>
      </p:sp>
      <p:sp>
        <p:nvSpPr>
          <p:cNvPr id="4" name="t"/>
          <p:cNvSpPr txBox="1"/>
          <p:nvPr/>
        </p:nvSpPr>
        <p:spPr>
          <a:xfrm>
            <a:off x="3261360" y="766064"/>
            <a:ext cx="2621280" cy="1262075"/>
          </a:xfrm>
          <a:prstGeom prst="roundRect">
            <a:avLst/>
          </a:prstGeom>
          <a:solidFill>
            <a:srgbClr val="18202F"/>
          </a:solidFill>
        </p:spPr>
        <p:txBody>
          <a:bodyPr wrap="square" lIns="91440" tIns="45720" rIns="91440" bIns="45720">
            <a:noAutofit/>
          </a:bodyPr>
          <a:lstStyle/>
          <a:p>
            <a:r>
              <a:rPr lang="en-US" sz="1200" b="1">
                <a:solidFill>
                  <a:srgbClr val="7BD88F"/>
                </a:solidFill>
                <a:latin typeface="Calibri"/>
              </a:rPr>
              <a:t>On-prem / any cloud</a:t>
            </a:r>
          </a:p>
          <a:p>
            <a:endParaRPr lang="en-US" sz="500"/>
          </a:p>
          <a:p>
            <a:r>
              <a:rPr lang="en-US" sz="1000">
                <a:solidFill>
                  <a:srgbClr val="E8EDF6"/>
                </a:solidFill>
                <a:latin typeface="Calibri"/>
              </a:rPr>
              <a:t>SQL storage: Postgres or MySQL</a:t>
            </a:r>
          </a:p>
          <a:p>
            <a:r>
              <a:rPr lang="en-US" sz="1000">
                <a:solidFill>
                  <a:srgbClr val="E8EDF6"/>
                </a:solidFill>
                <a:latin typeface="Calibri"/>
              </a:rPr>
              <a:t>You already know how to run it</a:t>
            </a:r>
          </a:p>
          <a:p>
            <a:r>
              <a:rPr lang="en-US" sz="1000">
                <a:solidFill>
                  <a:srgbClr val="E8EDF6"/>
                </a:solidFill>
                <a:latin typeface="Calibri"/>
              </a:rPr>
              <a:t>You already back it up and monitor it</a:t>
            </a:r>
          </a:p>
          <a:p>
            <a:r>
              <a:rPr lang="en-US" sz="1000">
                <a:solidFill>
                  <a:srgbClr val="E8EDF6"/>
                </a:solidFill>
                <a:latin typeface="Calibri"/>
              </a:rPr>
              <a:t>Watch: it is one more thing to keep fast</a:t>
            </a:r>
          </a:p>
        </p:txBody>
      </p:sp>
      <p:sp>
        <p:nvSpPr>
          <p:cNvPr id="5" name="t"/>
          <p:cNvSpPr txBox="1"/>
          <p:nvPr/>
        </p:nvSpPr>
        <p:spPr>
          <a:xfrm>
            <a:off x="6019800" y="766064"/>
            <a:ext cx="2621280" cy="1262075"/>
          </a:xfrm>
          <a:prstGeom prst="roundRect">
            <a:avLst/>
          </a:prstGeom>
          <a:solidFill>
            <a:srgbClr val="18202F"/>
          </a:solidFill>
        </p:spPr>
        <p:txBody>
          <a:bodyPr wrap="square" lIns="91440" tIns="45720" rIns="91440" bIns="45720">
            <a:noAutofit/>
          </a:bodyPr>
          <a:lstStyle/>
          <a:p>
            <a:r>
              <a:rPr lang="en-US" sz="1200" b="1">
                <a:solidFill>
                  <a:srgbClr val="6FA8FF"/>
                </a:solidFill>
                <a:latin typeface="Calibri"/>
              </a:rPr>
              <a:t>AWS</a:t>
            </a:r>
          </a:p>
          <a:p>
            <a:endParaRPr lang="en-US" sz="500"/>
          </a:p>
          <a:p>
            <a:r>
              <a:rPr lang="en-US" sz="1000">
                <a:solidFill>
                  <a:srgbClr val="E8EDF6"/>
                </a:solidFill>
                <a:latin typeface="Calibri"/>
              </a:rPr>
              <a:t>DynamoDB for Pro</a:t>
            </a:r>
          </a:p>
          <a:p>
            <a:r>
              <a:rPr lang="en-US" sz="1000">
                <a:solidFill>
                  <a:srgbClr val="E8EDF6"/>
                </a:solidFill>
                <a:latin typeface="Calibri"/>
              </a:rPr>
              <a:t>Provisioning is your throughput knob</a:t>
            </a:r>
          </a:p>
          <a:p>
            <a:r>
              <a:rPr lang="en-US" sz="1000">
                <a:solidFill>
                  <a:srgbClr val="E8EDF6"/>
                </a:solidFill>
                <a:latin typeface="Calibri"/>
              </a:rPr>
              <a:t>Or Datomic Cloud, and skip transactors</a:t>
            </a:r>
          </a:p>
          <a:p>
            <a:r>
              <a:rPr lang="en-US" sz="1000">
                <a:solidFill>
                  <a:srgbClr val="E8EDF6"/>
                </a:solidFill>
                <a:latin typeface="Calibri"/>
              </a:rPr>
              <a:t>Not compatible with Global Tables</a:t>
            </a:r>
          </a:p>
        </p:txBody>
      </p:sp>
      <p:sp>
        <p:nvSpPr>
          <p:cNvPr id="6" name="t"/>
          <p:cNvSpPr txBox="1"/>
          <p:nvPr/>
        </p:nvSpPr>
        <p:spPr>
          <a:xfrm>
            <a:off x="502920" y="2215591"/>
            <a:ext cx="8138160" cy="373888"/>
          </a:xfrm>
          <a:prstGeom prst="rect">
            <a:avLst/>
          </a:prstGeom>
        </p:spPr>
        <p:txBody>
          <a:bodyPr wrap="square" lIns="91440" tIns="45720" rIns="91440" bIns="45720">
            <a:noAutofit/>
          </a:bodyPr>
          <a:lstStyle/>
          <a:p>
            <a:r>
              <a:rPr lang="en-US" sz="1150">
                <a:solidFill>
                  <a:srgbClr val="FFC66D"/>
                </a:solidFill>
                <a:latin typeface="Calibri"/>
              </a:rPr>
              <a:t>Whatever you choose, storage latency is transaction latency. StoragePutMsec is the metric that tells you your storage choice was wrong.</a:t>
            </a:r>
          </a:p>
        </p:txBody>
      </p:sp>
      <p:sp>
        <p:nvSpPr>
          <p:cNvPr id="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Session 1 — what to take away</a:t>
            </a:r>
          </a:p>
        </p:txBody>
      </p:sp>
      <p:sp>
        <p:nvSpPr>
          <p:cNvPr id="3" name="t"/>
          <p:cNvSpPr txBox="1"/>
          <p:nvPr/>
        </p:nvSpPr>
        <p:spPr>
          <a:xfrm>
            <a:off x="502920" y="766064"/>
            <a:ext cx="8138160" cy="195072"/>
          </a:xfrm>
          <a:prstGeom prst="rect">
            <a:avLst/>
          </a:prstGeom>
        </p:spPr>
        <p:txBody>
          <a:bodyPr wrap="square" lIns="91440" tIns="45720" rIns="91440" bIns="45720">
            <a:noAutofit/>
          </a:bodyPr>
          <a:lstStyle/>
          <a:p>
            <a:r>
              <a:rPr lang="en-US" sz="1200">
                <a:solidFill>
                  <a:srgbClr val="6FA8FF"/>
                </a:solidFill>
                <a:latin typeface="Calibri"/>
              </a:rPr>
              <a:t>▸ Datomic splits the RDBMS: query and cache moved into your application</a:t>
            </a:r>
          </a:p>
        </p:txBody>
      </p:sp>
      <p:sp>
        <p:nvSpPr>
          <p:cNvPr id="4" name="t"/>
          <p:cNvSpPr txBox="1"/>
          <p:nvPr/>
        </p:nvSpPr>
        <p:spPr>
          <a:xfrm>
            <a:off x="502920" y="961136"/>
            <a:ext cx="8138160" cy="195072"/>
          </a:xfrm>
          <a:prstGeom prst="rect">
            <a:avLst/>
          </a:prstGeom>
        </p:spPr>
        <p:txBody>
          <a:bodyPr wrap="square" lIns="91440" tIns="45720" rIns="91440" bIns="45720">
            <a:noAutofit/>
          </a:bodyPr>
          <a:lstStyle/>
          <a:p>
            <a:r>
              <a:rPr lang="en-US" sz="1200">
                <a:solidFill>
                  <a:srgbClr val="E8EDF6"/>
                </a:solidFill>
                <a:latin typeface="Calibri"/>
              </a:rPr>
              <a:t>▸ Five processes: storage, transactor, peer, Peer Server, client</a:t>
            </a:r>
          </a:p>
        </p:txBody>
      </p:sp>
      <p:sp>
        <p:nvSpPr>
          <p:cNvPr id="5" name="t"/>
          <p:cNvSpPr txBox="1"/>
          <p:nvPr/>
        </p:nvSpPr>
        <p:spPr>
          <a:xfrm>
            <a:off x="502920" y="1156208"/>
            <a:ext cx="8138160" cy="195072"/>
          </a:xfrm>
          <a:prstGeom prst="rect">
            <a:avLst/>
          </a:prstGeom>
        </p:spPr>
        <p:txBody>
          <a:bodyPr wrap="square" lIns="91440" tIns="45720" rIns="91440" bIns="45720">
            <a:noAutofit/>
          </a:bodyPr>
          <a:lstStyle/>
          <a:p>
            <a:r>
              <a:rPr lang="en-US" sz="1200">
                <a:solidFill>
                  <a:srgbClr val="F28FAD"/>
                </a:solidFill>
                <a:latin typeface="Calibri"/>
              </a:rPr>
              <a:t>▸ Peers find the transactor THROUGH storage — so peer connection errors are usually transactor config</a:t>
            </a:r>
          </a:p>
        </p:txBody>
      </p:sp>
      <p:sp>
        <p:nvSpPr>
          <p:cNvPr id="6" name="t"/>
          <p:cNvSpPr txBox="1"/>
          <p:nvPr/>
        </p:nvSpPr>
        <p:spPr>
          <a:xfrm>
            <a:off x="502920" y="1351280"/>
            <a:ext cx="8138160" cy="390144"/>
          </a:xfrm>
          <a:prstGeom prst="rect">
            <a:avLst/>
          </a:prstGeom>
        </p:spPr>
        <p:txBody>
          <a:bodyPr wrap="square" lIns="91440" tIns="45720" rIns="91440" bIns="45720">
            <a:noAutofit/>
          </a:bodyPr>
          <a:lstStyle/>
          <a:p>
            <a:r>
              <a:rPr lang="en-US" sz="1200">
                <a:solidFill>
                  <a:srgbClr val="6FA8FF"/>
                </a:solidFill>
                <a:latin typeface="Calibri"/>
              </a:rPr>
              <a:t>▸ Storage owes Datomic three operations: get, put, and one compare-and-swap. Everything else is your operational taste.</a:t>
            </a:r>
          </a:p>
        </p:txBody>
      </p:sp>
      <p:sp>
        <p:nvSpPr>
          <p:cNvPr id="7" name="t"/>
          <p:cNvSpPr txBox="1"/>
          <p:nvPr/>
        </p:nvSpPr>
        <p:spPr>
          <a:xfrm>
            <a:off x="502920" y="1741424"/>
            <a:ext cx="8138160" cy="195072"/>
          </a:xfrm>
          <a:prstGeom prst="rect">
            <a:avLst/>
          </a:prstGeom>
        </p:spPr>
        <p:txBody>
          <a:bodyPr wrap="square" lIns="91440" tIns="45720" rIns="91440" bIns="45720">
            <a:noAutofit/>
          </a:bodyPr>
          <a:lstStyle/>
          <a:p>
            <a:r>
              <a:rPr lang="en-US" sz="1200">
                <a:solidFill>
                  <a:srgbClr val="7BD88F"/>
                </a:solidFill>
                <a:latin typeface="Calibri"/>
              </a:rPr>
              <a:t>▸ Peer API for power on Pro; Client API for reach across all three products</a:t>
            </a:r>
          </a:p>
        </p:txBody>
      </p:sp>
      <p:sp>
        <p:nvSpPr>
          <p:cNvPr id="8" name="t"/>
          <p:cNvSpPr txBox="1"/>
          <p:nvPr/>
        </p:nvSpPr>
        <p:spPr>
          <a:xfrm>
            <a:off x="502920" y="1936496"/>
            <a:ext cx="8138160" cy="195072"/>
          </a:xfrm>
          <a:prstGeom prst="rect">
            <a:avLst/>
          </a:prstGeom>
        </p:spPr>
        <p:txBody>
          <a:bodyPr wrap="square" lIns="91440" tIns="45720" rIns="91440" bIns="45720">
            <a:noAutofit/>
          </a:bodyPr>
          <a:lstStyle/>
          <a:p>
            <a:r>
              <a:rPr lang="en-US" sz="1200">
                <a:solidFill>
                  <a:srgbClr val="7BD88F"/>
                </a:solidFill>
                <a:latin typeface="Calibri"/>
              </a:rPr>
              <a:t>▸ The database lifecycle is an API, not a CLI</a:t>
            </a:r>
          </a:p>
        </p:txBody>
      </p:sp>
      <p:sp>
        <p:nvSpPr>
          <p:cNvPr id="9" name="t"/>
          <p:cNvSpPr txBox="1"/>
          <p:nvPr/>
        </p:nvSpPr>
        <p:spPr>
          <a:xfrm>
            <a:off x="502920" y="2131568"/>
            <a:ext cx="8138160" cy="195072"/>
          </a:xfrm>
          <a:prstGeom prst="rect">
            <a:avLst/>
          </a:prstGeom>
        </p:spPr>
        <p:txBody>
          <a:bodyPr wrap="square" lIns="91440" tIns="45720" rIns="91440" bIns="45720">
            <a:noAutofit/>
          </a:bodyPr>
          <a:lstStyle/>
          <a:p>
            <a:r>
              <a:rPr lang="en-US" sz="1200">
                <a:solidFill>
                  <a:srgbClr val="7BD88F"/>
                </a:solidFill>
                <a:latin typeface="Calibri"/>
              </a:rPr>
              <a:t>▸ You now have Pro on Postgres, a Peer Server, and both APIs running on your own machine</a:t>
            </a:r>
          </a:p>
        </p:txBody>
      </p:sp>
      <p:sp>
        <p:nvSpPr>
          <p:cNvPr id="10" name="t"/>
          <p:cNvSpPr txBox="1"/>
          <p:nvPr/>
        </p:nvSpPr>
        <p:spPr>
          <a:xfrm>
            <a:off x="502920" y="2536952"/>
            <a:ext cx="8138160" cy="195072"/>
          </a:xfrm>
          <a:prstGeom prst="rect">
            <a:avLst/>
          </a:prstGeom>
        </p:spPr>
        <p:txBody>
          <a:bodyPr wrap="square" lIns="91440" tIns="45720" rIns="91440" bIns="45720">
            <a:noAutofit/>
          </a:bodyPr>
          <a:lstStyle/>
          <a:p>
            <a:r>
              <a:rPr lang="en-US" sz="1200" i="1">
                <a:solidFill>
                  <a:srgbClr val="8FA0B8"/>
                </a:solidFill>
                <a:latin typeface="Calibri"/>
              </a:rPr>
              <a:t>Next session: follow one transaction from d/transact to bytes in that table.</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1 — The deployment map</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640080"/>
            <a:ext cx="8138160" cy="274320"/>
          </a:xfrm>
          <a:prstGeom prst="rect">
            <a:avLst/>
          </a:prstGeom>
        </p:spPr>
        <p:txBody>
          <a:bodyPr wrap="square" lIns="91440" tIns="45720" rIns="91440" bIns="45720">
            <a:noAutofit/>
          </a:bodyPr>
          <a:lstStyle/>
          <a:p>
            <a:r>
              <a:rPr lang="en-US" sz="1200" b="1">
                <a:solidFill>
                  <a:srgbClr val="FFC66D"/>
                </a:solidFill>
                <a:latin typeface="Calibri"/>
              </a:rPr>
              <a:t>SESSION 2</a:t>
            </a:r>
          </a:p>
        </p:txBody>
      </p:sp>
      <p:sp>
        <p:nvSpPr>
          <p:cNvPr id="3" name="t"/>
          <p:cNvSpPr txBox="1"/>
          <p:nvPr/>
        </p:nvSpPr>
        <p:spPr>
          <a:xfrm>
            <a:off x="502920" y="960120"/>
            <a:ext cx="8138160" cy="502920"/>
          </a:xfrm>
          <a:prstGeom prst="rect">
            <a:avLst/>
          </a:prstGeom>
        </p:spPr>
        <p:txBody>
          <a:bodyPr wrap="square" lIns="91440" tIns="45720" rIns="91440" bIns="45720">
            <a:noAutofit/>
          </a:bodyPr>
          <a:lstStyle/>
          <a:p>
            <a:r>
              <a:rPr lang="en-US" sz="2800" b="1">
                <a:solidFill>
                  <a:srgbClr val="E8EDF6"/>
                </a:solidFill>
                <a:latin typeface="Arial"/>
              </a:rPr>
              <a:t>The write path</a:t>
            </a:r>
          </a:p>
        </p:txBody>
      </p:sp>
      <p:sp>
        <p:nvSpPr>
          <p:cNvPr id="4" name="t"/>
          <p:cNvSpPr txBox="1"/>
          <p:nvPr/>
        </p:nvSpPr>
        <p:spPr>
          <a:xfrm>
            <a:off x="502920" y="1508760"/>
            <a:ext cx="8138160" cy="274320"/>
          </a:xfrm>
          <a:prstGeom prst="rect">
            <a:avLst/>
          </a:prstGeom>
        </p:spPr>
        <p:txBody>
          <a:bodyPr wrap="square" lIns="91440" tIns="45720" rIns="91440" bIns="45720">
            <a:noAutofit/>
          </a:bodyPr>
          <a:lstStyle/>
          <a:p>
            <a:r>
              <a:rPr lang="en-US" sz="1350">
                <a:solidFill>
                  <a:srgbClr val="8FA0B8"/>
                </a:solidFill>
                <a:latin typeface="Calibri"/>
              </a:rPr>
              <a:t>One writer, one log, and an index job that runs behind your back</a:t>
            </a:r>
          </a:p>
        </p:txBody>
      </p:sp>
      <p:sp>
        <p:nvSpPr>
          <p:cNvPr id="5" name="t"/>
          <p:cNvSpPr txBox="1"/>
          <p:nvPr/>
        </p:nvSpPr>
        <p:spPr>
          <a:xfrm>
            <a:off x="502920" y="2011680"/>
            <a:ext cx="8138160" cy="195072"/>
          </a:xfrm>
          <a:prstGeom prst="rect">
            <a:avLst/>
          </a:prstGeom>
        </p:spPr>
        <p:txBody>
          <a:bodyPr wrap="square" lIns="91440" tIns="45720" rIns="91440" bIns="45720">
            <a:noAutofit/>
          </a:bodyPr>
          <a:lstStyle/>
          <a:p>
            <a:r>
              <a:rPr lang="en-US" sz="1200">
                <a:solidFill>
                  <a:srgbClr val="E8EDF6"/>
                </a:solidFill>
                <a:latin typeface="Calibri"/>
              </a:rPr>
              <a:t>· Why there is exactly one writer, and what that buys you</a:t>
            </a:r>
          </a:p>
        </p:txBody>
      </p:sp>
      <p:sp>
        <p:nvSpPr>
          <p:cNvPr id="6" name="t"/>
          <p:cNvSpPr txBox="1"/>
          <p:nvPr/>
        </p:nvSpPr>
        <p:spPr>
          <a:xfrm>
            <a:off x="502920" y="2206752"/>
            <a:ext cx="8138160" cy="195072"/>
          </a:xfrm>
          <a:prstGeom prst="rect">
            <a:avLst/>
          </a:prstGeom>
        </p:spPr>
        <p:txBody>
          <a:bodyPr wrap="square" lIns="91440" tIns="45720" rIns="91440" bIns="45720">
            <a:noAutofit/>
          </a:bodyPr>
          <a:lstStyle/>
          <a:p>
            <a:r>
              <a:rPr lang="en-US" sz="1200">
                <a:solidFill>
                  <a:srgbClr val="E8EDF6"/>
                </a:solidFill>
                <a:latin typeface="Calibri"/>
              </a:rPr>
              <a:t>· A transaction end to end: submit, durable, acknowledged, broadcast</a:t>
            </a:r>
          </a:p>
        </p:txBody>
      </p:sp>
      <p:sp>
        <p:nvSpPr>
          <p:cNvPr id="7" name="t"/>
          <p:cNvSpPr txBox="1"/>
          <p:nvPr/>
        </p:nvSpPr>
        <p:spPr>
          <a:xfrm>
            <a:off x="502920" y="2401824"/>
            <a:ext cx="8138160" cy="195072"/>
          </a:xfrm>
          <a:prstGeom prst="rect">
            <a:avLst/>
          </a:prstGeom>
        </p:spPr>
        <p:txBody>
          <a:bodyPr wrap="square" lIns="91440" tIns="45720" rIns="91440" bIns="45720">
            <a:noAutofit/>
          </a:bodyPr>
          <a:lstStyle/>
          <a:p>
            <a:r>
              <a:rPr lang="en-US" sz="1200">
                <a:solidFill>
                  <a:srgbClr val="E8EDF6"/>
                </a:solidFill>
                <a:latin typeface="Calibri"/>
              </a:rPr>
              <a:t>· The log versus the index — two persistent structures</a:t>
            </a:r>
          </a:p>
        </p:txBody>
      </p:sp>
      <p:sp>
        <p:nvSpPr>
          <p:cNvPr id="8" name="t"/>
          <p:cNvSpPr txBox="1"/>
          <p:nvPr/>
        </p:nvSpPr>
        <p:spPr>
          <a:xfrm>
            <a:off x="502920" y="2596896"/>
            <a:ext cx="8138160" cy="195072"/>
          </a:xfrm>
          <a:prstGeom prst="rect">
            <a:avLst/>
          </a:prstGeom>
        </p:spPr>
        <p:txBody>
          <a:bodyPr wrap="square" lIns="91440" tIns="45720" rIns="91440" bIns="45720">
            <a:noAutofit/>
          </a:bodyPr>
          <a:lstStyle/>
          <a:p>
            <a:r>
              <a:rPr lang="en-US" sz="1200">
                <a:solidFill>
                  <a:srgbClr val="E8EDF6"/>
                </a:solidFill>
                <a:latin typeface="Calibri"/>
              </a:rPr>
              <a:t>· The memory index, the indexing job, and back pressure</a:t>
            </a:r>
          </a:p>
        </p:txBody>
      </p:sp>
      <p:sp>
        <p:nvSpPr>
          <p:cNvPr id="9" name="t"/>
          <p:cNvSpPr txBox="1"/>
          <p:nvPr/>
        </p:nvSpPr>
        <p:spPr>
          <a:xfrm>
            <a:off x="502920" y="2791968"/>
            <a:ext cx="8138160" cy="195072"/>
          </a:xfrm>
          <a:prstGeom prst="rect">
            <a:avLst/>
          </a:prstGeom>
        </p:spPr>
        <p:txBody>
          <a:bodyPr wrap="square" lIns="91440" tIns="45720" rIns="91440" bIns="45720">
            <a:noAutofit/>
          </a:bodyPr>
          <a:lstStyle/>
          <a:p>
            <a:r>
              <a:rPr lang="en-US" sz="1200">
                <a:solidFill>
                  <a:srgbClr val="E8EDF6"/>
                </a:solidFill>
                <a:latin typeface="Calibri"/>
              </a:rPr>
              <a:t>· Lab: watch a transaction land in Postgres, then force an index job</a:t>
            </a:r>
          </a:p>
        </p:txBody>
      </p:sp>
      <p:sp>
        <p:nvSpPr>
          <p:cNvPr id="10" name="t"/>
          <p:cNvSpPr txBox="1"/>
          <p:nvPr/>
        </p:nvSpPr>
        <p:spPr>
          <a:xfrm>
            <a:off x="502920" y="2987040"/>
            <a:ext cx="8138160" cy="195072"/>
          </a:xfrm>
          <a:prstGeom prst="rect">
            <a:avLst/>
          </a:prstGeom>
        </p:spPr>
        <p:txBody>
          <a:bodyPr wrap="square" lIns="91440" tIns="45720" rIns="91440" bIns="45720">
            <a:noAutofit/>
          </a:bodyPr>
          <a:lstStyle/>
          <a:p>
            <a:r>
              <a:rPr lang="en-US" sz="1200">
                <a:solidFill>
                  <a:srgbClr val="E8EDF6"/>
                </a:solidFill>
                <a:latin typeface="Calibri"/>
              </a:rPr>
              <a:t>· Timeouts, retries, and the failure modes you will actually hit</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One writer. On purpose.</a:t>
            </a:r>
          </a:p>
        </p:txBody>
      </p:sp>
      <p:sp>
        <p:nvSpPr>
          <p:cNvPr id="3" name="t"/>
          <p:cNvSpPr txBox="1"/>
          <p:nvPr/>
        </p:nvSpPr>
        <p:spPr>
          <a:xfrm>
            <a:off x="502920" y="766064"/>
            <a:ext cx="8138160" cy="438912"/>
          </a:xfrm>
          <a:prstGeom prst="rect">
            <a:avLst/>
          </a:prstGeom>
        </p:spPr>
        <p:txBody>
          <a:bodyPr wrap="square" lIns="91440" tIns="45720" rIns="91440" bIns="45720">
            <a:noAutofit/>
          </a:bodyPr>
          <a:lstStyle/>
          <a:p>
            <a:r>
              <a:rPr lang="en-US" sz="1350">
                <a:solidFill>
                  <a:srgbClr val="E8EDF6"/>
                </a:solidFill>
                <a:latin typeface="Calibri"/>
              </a:rPr>
              <a:t>Every transaction in a Datomic system is processed by a single transactor, serially, from one queue.</a:t>
            </a:r>
          </a:p>
        </p:txBody>
      </p:sp>
      <p:sp>
        <p:nvSpPr>
          <p:cNvPr id="4" name="t"/>
          <p:cNvSpPr txBox="1"/>
          <p:nvPr/>
        </p:nvSpPr>
        <p:spPr>
          <a:xfrm>
            <a:off x="502920" y="1369568"/>
            <a:ext cx="4000500" cy="1343355"/>
          </a:xfrm>
          <a:prstGeom prst="roundRect">
            <a:avLst/>
          </a:prstGeom>
          <a:solidFill>
            <a:srgbClr val="18202F"/>
          </a:solidFill>
        </p:spPr>
        <p:txBody>
          <a:bodyPr wrap="square" lIns="91440" tIns="45720" rIns="91440" bIns="45720">
            <a:noAutofit/>
          </a:bodyPr>
          <a:lstStyle/>
          <a:p>
            <a:r>
              <a:rPr lang="en-US" sz="1200" b="1">
                <a:solidFill>
                  <a:srgbClr val="7BD88F"/>
                </a:solidFill>
                <a:latin typeface="Calibri"/>
              </a:rPr>
              <a:t>What you get</a:t>
            </a:r>
          </a:p>
          <a:p>
            <a:endParaRPr lang="en-US" sz="500"/>
          </a:p>
          <a:p>
            <a:r>
              <a:rPr lang="en-US" sz="1100">
                <a:solidFill>
                  <a:srgbClr val="E8EDF6"/>
                </a:solidFill>
                <a:latin typeface="Calibri"/>
              </a:rPr>
              <a:t>Serializable isolation with no locks</a:t>
            </a:r>
          </a:p>
          <a:p>
            <a:r>
              <a:rPr lang="en-US" sz="1100">
                <a:solidFill>
                  <a:srgbClr val="E8EDF6"/>
                </a:solidFill>
                <a:latin typeface="Calibri"/>
              </a:rPr>
              <a:t>A single total order of transactions</a:t>
            </a:r>
          </a:p>
          <a:p>
            <a:r>
              <a:rPr lang="en-US" sz="1100">
                <a:solidFill>
                  <a:srgbClr val="E8EDF6"/>
                </a:solidFill>
                <a:latin typeface="Calibri"/>
              </a:rPr>
              <a:t>Every transaction sees a consistent db-before</a:t>
            </a:r>
          </a:p>
          <a:p>
            <a:r>
              <a:rPr lang="en-US" sz="1100">
                <a:solidFill>
                  <a:srgbClr val="E8EDF6"/>
                </a:solidFill>
                <a:latin typeface="Calibri"/>
              </a:rPr>
              <a:t>:db/cas and tx functions are trivially safe</a:t>
            </a:r>
          </a:p>
          <a:p>
            <a:r>
              <a:rPr lang="en-US" sz="1100">
                <a:solidFill>
                  <a:srgbClr val="E8EDF6"/>
                </a:solidFill>
                <a:latin typeface="Calibri"/>
              </a:rPr>
              <a:t>The log is a real, replayable audit trail</a:t>
            </a:r>
          </a:p>
        </p:txBody>
      </p:sp>
      <p:sp>
        <p:nvSpPr>
          <p:cNvPr id="5" name="t"/>
          <p:cNvSpPr txBox="1"/>
          <p:nvPr/>
        </p:nvSpPr>
        <p:spPr>
          <a:xfrm>
            <a:off x="4640580" y="1369568"/>
            <a:ext cx="4000500" cy="1343355"/>
          </a:xfrm>
          <a:prstGeom prst="roundRect">
            <a:avLst/>
          </a:prstGeom>
          <a:solidFill>
            <a:srgbClr val="18202F"/>
          </a:solidFill>
        </p:spPr>
        <p:txBody>
          <a:bodyPr wrap="square" lIns="91440" tIns="45720" rIns="91440" bIns="45720">
            <a:noAutofit/>
          </a:bodyPr>
          <a:lstStyle/>
          <a:p>
            <a:r>
              <a:rPr lang="en-US" sz="1200" b="1">
                <a:solidFill>
                  <a:srgbClr val="F28FAD"/>
                </a:solidFill>
                <a:latin typeface="Calibri"/>
              </a:rPr>
              <a:t>What you pay</a:t>
            </a:r>
          </a:p>
          <a:p>
            <a:endParaRPr lang="en-US" sz="500"/>
          </a:p>
          <a:p>
            <a:r>
              <a:rPr lang="en-US" sz="1100">
                <a:solidFill>
                  <a:srgbClr val="E8EDF6"/>
                </a:solidFill>
                <a:latin typeface="Calibri"/>
              </a:rPr>
              <a:t>Write throughput is a single-node ceiling</a:t>
            </a:r>
          </a:p>
          <a:p>
            <a:r>
              <a:rPr lang="en-US" sz="1100">
                <a:solidFill>
                  <a:srgbClr val="E8EDF6"/>
                </a:solidFill>
                <a:latin typeface="Calibri"/>
              </a:rPr>
              <a:t>You scale writes vertically, never horizontally</a:t>
            </a:r>
          </a:p>
          <a:p>
            <a:r>
              <a:rPr lang="en-US" sz="1100">
                <a:solidFill>
                  <a:srgbClr val="E8EDF6"/>
                </a:solidFill>
                <a:latin typeface="Calibri"/>
              </a:rPr>
              <a:t>A slow transaction function stalls the queue</a:t>
            </a:r>
          </a:p>
          <a:p>
            <a:r>
              <a:rPr lang="en-US" sz="1100">
                <a:solidFill>
                  <a:srgbClr val="E8EDF6"/>
                </a:solidFill>
                <a:latin typeface="Calibri"/>
              </a:rPr>
              <a:t>Failover means a gap, not a seamless handoff</a:t>
            </a:r>
          </a:p>
          <a:p>
            <a:r>
              <a:rPr lang="en-US" sz="1100">
                <a:solidFill>
                  <a:srgbClr val="E8EDF6"/>
                </a:solidFill>
                <a:latin typeface="Calibri"/>
              </a:rPr>
              <a:t>Batching matters more than in a sharded DB</a:t>
            </a:r>
          </a:p>
        </p:txBody>
      </p:sp>
      <p:sp>
        <p:nvSpPr>
          <p:cNvPr id="6" name="t"/>
          <p:cNvSpPr txBox="1"/>
          <p:nvPr/>
        </p:nvSpPr>
        <p:spPr>
          <a:xfrm>
            <a:off x="502920" y="2831795"/>
            <a:ext cx="45720" cy="449072"/>
          </a:xfrm>
          <a:prstGeom prst="rect">
            <a:avLst/>
          </a:prstGeom>
          <a:solidFill>
            <a:srgbClr val="FFC66D"/>
          </a:solidFill>
        </p:spPr>
        <p:txBody>
          <a:bodyPr wrap="square" lIns="91440" tIns="45720" rIns="91440" bIns="45720">
            <a:noAutofit/>
          </a:bodyPr>
          <a:lstStyle/>
        </p:txBody>
      </p:sp>
      <p:sp>
        <p:nvSpPr>
          <p:cNvPr id="7" name="t"/>
          <p:cNvSpPr txBox="1"/>
          <p:nvPr/>
        </p:nvSpPr>
        <p:spPr>
          <a:xfrm>
            <a:off x="594360" y="2831795"/>
            <a:ext cx="8046720" cy="449072"/>
          </a:xfrm>
          <a:prstGeom prst="rect">
            <a:avLst/>
          </a:prstGeom>
        </p:spPr>
        <p:txBody>
          <a:bodyPr wrap="square" lIns="91440" tIns="45720" rIns="91440" bIns="45720">
            <a:noAutofit/>
          </a:bodyPr>
          <a:lstStyle/>
          <a:p>
            <a:r>
              <a:rPr lang="en-US" sz="1100">
                <a:solidFill>
                  <a:srgbClr val="E8EDF6"/>
                </a:solidFill>
                <a:latin typeface="Calibri"/>
              </a:rPr>
              <a:t>★  This is the single most important sentence in the class: writes coordinate, reads do not. Almost every operational property of Datomic follows from it.</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A transaction, end to end</a:t>
            </a:r>
          </a:p>
        </p:txBody>
      </p:sp>
      <p:sp>
        <p:nvSpPr>
          <p:cNvPr id="3" name="t"/>
          <p:cNvSpPr txBox="1"/>
          <p:nvPr/>
        </p:nvSpPr>
        <p:spPr>
          <a:xfrm>
            <a:off x="502920" y="766064"/>
            <a:ext cx="1760220" cy="502920"/>
          </a:xfrm>
          <a:prstGeom prst="roundRect">
            <a:avLst/>
          </a:prstGeom>
          <a:solidFill>
            <a:srgbClr val="7BD88F"/>
          </a:solidFill>
        </p:spPr>
        <p:txBody>
          <a:bodyPr wrap="square" lIns="91440" tIns="45720" rIns="91440" bIns="45720">
            <a:noAutofit/>
          </a:bodyPr>
          <a:lstStyle/>
          <a:p>
            <a:pPr algn="ctr"/>
            <a:r>
              <a:rPr lang="en-US" sz="1150" b="1">
                <a:solidFill>
                  <a:srgbClr val="0F1420"/>
                </a:solidFill>
                <a:latin typeface="Calibri"/>
              </a:rPr>
              <a:t>Peer</a:t>
            </a:r>
          </a:p>
        </p:txBody>
      </p:sp>
      <p:sp>
        <p:nvSpPr>
          <p:cNvPr id="4" name="t"/>
          <p:cNvSpPr txBox="1"/>
          <p:nvPr/>
        </p:nvSpPr>
        <p:spPr>
          <a:xfrm>
            <a:off x="50292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submits tx data</a:t>
            </a:r>
          </a:p>
        </p:txBody>
      </p:sp>
      <p:sp>
        <p:nvSpPr>
          <p:cNvPr id="5" name="t"/>
          <p:cNvSpPr txBox="1"/>
          <p:nvPr/>
        </p:nvSpPr>
        <p:spPr>
          <a:xfrm>
            <a:off x="235458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6" name="t"/>
          <p:cNvSpPr txBox="1"/>
          <p:nvPr/>
        </p:nvSpPr>
        <p:spPr>
          <a:xfrm>
            <a:off x="2628900" y="766064"/>
            <a:ext cx="1760220" cy="502920"/>
          </a:xfrm>
          <a:prstGeom prst="roundRect">
            <a:avLst/>
          </a:prstGeom>
          <a:solidFill>
            <a:srgbClr val="FFC66D"/>
          </a:solidFill>
        </p:spPr>
        <p:txBody>
          <a:bodyPr wrap="square" lIns="91440" tIns="45720" rIns="91440" bIns="45720">
            <a:noAutofit/>
          </a:bodyPr>
          <a:lstStyle/>
          <a:p>
            <a:pPr algn="ctr"/>
            <a:r>
              <a:rPr lang="en-US" sz="1150" b="1">
                <a:solidFill>
                  <a:srgbClr val="0F1420"/>
                </a:solidFill>
                <a:latin typeface="Calibri"/>
              </a:rPr>
              <a:t>Transactor</a:t>
            </a:r>
          </a:p>
        </p:txBody>
      </p:sp>
      <p:sp>
        <p:nvSpPr>
          <p:cNvPr id="7" name="t"/>
          <p:cNvSpPr txBox="1"/>
          <p:nvPr/>
        </p:nvSpPr>
        <p:spPr>
          <a:xfrm>
            <a:off x="262890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expands + serializes</a:t>
            </a:r>
          </a:p>
        </p:txBody>
      </p:sp>
      <p:sp>
        <p:nvSpPr>
          <p:cNvPr id="8" name="t"/>
          <p:cNvSpPr txBox="1"/>
          <p:nvPr/>
        </p:nvSpPr>
        <p:spPr>
          <a:xfrm>
            <a:off x="448056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9" name="t"/>
          <p:cNvSpPr txBox="1"/>
          <p:nvPr/>
        </p:nvSpPr>
        <p:spPr>
          <a:xfrm>
            <a:off x="4754880" y="766064"/>
            <a:ext cx="1760220" cy="502920"/>
          </a:xfrm>
          <a:prstGeom prst="roundRect">
            <a:avLst/>
          </a:prstGeom>
          <a:solidFill>
            <a:srgbClr val="6FA8FF"/>
          </a:solidFill>
        </p:spPr>
        <p:txBody>
          <a:bodyPr wrap="square" lIns="91440" tIns="45720" rIns="91440" bIns="45720">
            <a:noAutofit/>
          </a:bodyPr>
          <a:lstStyle/>
          <a:p>
            <a:pPr algn="ctr"/>
            <a:r>
              <a:rPr lang="en-US" sz="1150" b="1">
                <a:solidFill>
                  <a:srgbClr val="0F1420"/>
                </a:solidFill>
                <a:latin typeface="Calibri"/>
              </a:rPr>
              <a:t>Storage log</a:t>
            </a:r>
          </a:p>
        </p:txBody>
      </p:sp>
      <p:sp>
        <p:nvSpPr>
          <p:cNvPr id="10" name="t"/>
          <p:cNvSpPr txBox="1"/>
          <p:nvPr/>
        </p:nvSpPr>
        <p:spPr>
          <a:xfrm>
            <a:off x="475488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durable write</a:t>
            </a:r>
          </a:p>
        </p:txBody>
      </p:sp>
      <p:sp>
        <p:nvSpPr>
          <p:cNvPr id="11" name="t"/>
          <p:cNvSpPr txBox="1"/>
          <p:nvPr/>
        </p:nvSpPr>
        <p:spPr>
          <a:xfrm>
            <a:off x="660654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12" name="t"/>
          <p:cNvSpPr txBox="1"/>
          <p:nvPr/>
        </p:nvSpPr>
        <p:spPr>
          <a:xfrm>
            <a:off x="6880860" y="766064"/>
            <a:ext cx="1760220" cy="502920"/>
          </a:xfrm>
          <a:prstGeom prst="roundRect">
            <a:avLst/>
          </a:prstGeom>
          <a:solidFill>
            <a:srgbClr val="7BD88F"/>
          </a:solidFill>
        </p:spPr>
        <p:txBody>
          <a:bodyPr wrap="square" lIns="91440" tIns="45720" rIns="91440" bIns="45720">
            <a:noAutofit/>
          </a:bodyPr>
          <a:lstStyle/>
          <a:p>
            <a:pPr algn="ctr"/>
            <a:r>
              <a:rPr lang="en-US" sz="1150" b="1">
                <a:solidFill>
                  <a:srgbClr val="0F1420"/>
                </a:solidFill>
                <a:latin typeface="Calibri"/>
              </a:rPr>
              <a:t>Peers</a:t>
            </a:r>
          </a:p>
        </p:txBody>
      </p:sp>
      <p:sp>
        <p:nvSpPr>
          <p:cNvPr id="13" name="t"/>
          <p:cNvSpPr txBox="1"/>
          <p:nvPr/>
        </p:nvSpPr>
        <p:spPr>
          <a:xfrm>
            <a:off x="688086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broadcast tx report</a:t>
            </a:r>
          </a:p>
        </p:txBody>
      </p:sp>
      <p:sp>
        <p:nvSpPr>
          <p:cNvPr id="14" name="t"/>
          <p:cNvSpPr txBox="1"/>
          <p:nvPr/>
        </p:nvSpPr>
        <p:spPr>
          <a:xfrm>
            <a:off x="502920" y="1707896"/>
            <a:ext cx="8138160" cy="186944"/>
          </a:xfrm>
          <a:prstGeom prst="rect">
            <a:avLst/>
          </a:prstGeom>
        </p:spPr>
        <p:txBody>
          <a:bodyPr wrap="square" lIns="91440" tIns="45720" rIns="91440" bIns="45720">
            <a:noAutofit/>
          </a:bodyPr>
          <a:lstStyle/>
          <a:p>
            <a:r>
              <a:rPr lang="en-US" sz="1150">
                <a:solidFill>
                  <a:srgbClr val="E8EDF6"/>
                </a:solidFill>
                <a:latin typeface="Calibri"/>
              </a:rPr>
              <a:t>▸ 1  Peer calls d/transact — tx data goes to the transactor over TCP</a:t>
            </a:r>
          </a:p>
        </p:txBody>
      </p:sp>
      <p:sp>
        <p:nvSpPr>
          <p:cNvPr id="15" name="t"/>
          <p:cNvSpPr txBox="1"/>
          <p:nvPr/>
        </p:nvSpPr>
        <p:spPr>
          <a:xfrm>
            <a:off x="502920" y="1894840"/>
            <a:ext cx="8138160" cy="373888"/>
          </a:xfrm>
          <a:prstGeom prst="rect">
            <a:avLst/>
          </a:prstGeom>
        </p:spPr>
        <p:txBody>
          <a:bodyPr wrap="square" lIns="91440" tIns="45720" rIns="91440" bIns="45720">
            <a:noAutofit/>
          </a:bodyPr>
          <a:lstStyle/>
          <a:p>
            <a:r>
              <a:rPr lang="en-US" sz="1150">
                <a:solidFill>
                  <a:srgbClr val="E8EDF6"/>
                </a:solidFill>
                <a:latin typeface="Calibri"/>
              </a:rPr>
              <a:t>▸ 2  Transactor resolves tempids, runs transaction functions and entity predicates, and produces the final set of datoms</a:t>
            </a:r>
          </a:p>
        </p:txBody>
      </p:sp>
      <p:sp>
        <p:nvSpPr>
          <p:cNvPr id="16" name="t"/>
          <p:cNvSpPr txBox="1"/>
          <p:nvPr/>
        </p:nvSpPr>
        <p:spPr>
          <a:xfrm>
            <a:off x="502920" y="2268728"/>
            <a:ext cx="8138160" cy="373888"/>
          </a:xfrm>
          <a:prstGeom prst="rect">
            <a:avLst/>
          </a:prstGeom>
        </p:spPr>
        <p:txBody>
          <a:bodyPr wrap="square" lIns="91440" tIns="45720" rIns="91440" bIns="45720">
            <a:noAutofit/>
          </a:bodyPr>
          <a:lstStyle/>
          <a:p>
            <a:r>
              <a:rPr lang="en-US" sz="1150">
                <a:solidFill>
                  <a:srgbClr val="FFC66D"/>
                </a:solidFill>
                <a:latin typeface="Calibri"/>
              </a:rPr>
              <a:t>▸ 3  Transactor writes the whole transaction to the log in storage as one atomic operation, and waits for storage to confirm</a:t>
            </a:r>
          </a:p>
        </p:txBody>
      </p:sp>
      <p:sp>
        <p:nvSpPr>
          <p:cNvPr id="17" name="t"/>
          <p:cNvSpPr txBox="1"/>
          <p:nvPr/>
        </p:nvSpPr>
        <p:spPr>
          <a:xfrm>
            <a:off x="502920" y="2642616"/>
            <a:ext cx="8138160" cy="186944"/>
          </a:xfrm>
          <a:prstGeom prst="rect">
            <a:avLst/>
          </a:prstGeom>
        </p:spPr>
        <p:txBody>
          <a:bodyPr wrap="square" lIns="91440" tIns="45720" rIns="91440" bIns="45720">
            <a:noAutofit/>
          </a:bodyPr>
          <a:lstStyle/>
          <a:p>
            <a:r>
              <a:rPr lang="en-US" sz="1150">
                <a:solidFill>
                  <a:srgbClr val="E8EDF6"/>
                </a:solidFill>
                <a:latin typeface="Calibri"/>
              </a:rPr>
              <a:t>▸ 4  Only then does it apply the datoms to its in-memory index and return</a:t>
            </a:r>
          </a:p>
        </p:txBody>
      </p:sp>
      <p:sp>
        <p:nvSpPr>
          <p:cNvPr id="18" name="t"/>
          <p:cNvSpPr txBox="1"/>
          <p:nvPr/>
        </p:nvSpPr>
        <p:spPr>
          <a:xfrm>
            <a:off x="502920" y="2829560"/>
            <a:ext cx="8138160" cy="186944"/>
          </a:xfrm>
          <a:prstGeom prst="rect">
            <a:avLst/>
          </a:prstGeom>
        </p:spPr>
        <p:txBody>
          <a:bodyPr wrap="square" lIns="91440" tIns="45720" rIns="91440" bIns="45720">
            <a:noAutofit/>
          </a:bodyPr>
          <a:lstStyle/>
          <a:p>
            <a:r>
              <a:rPr lang="en-US" sz="1150">
                <a:solidFill>
                  <a:srgbClr val="7BD88F"/>
                </a:solidFill>
                <a:latin typeface="Calibri"/>
              </a:rPr>
              <a:t>▸ 5  The tx report is broadcast to every connected peer, which applies it to its own in-memory index</a:t>
            </a:r>
          </a:p>
        </p:txBody>
      </p:sp>
      <p:sp>
        <p:nvSpPr>
          <p:cNvPr id="1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2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What is durable, and when</a:t>
            </a:r>
          </a:p>
        </p:txBody>
      </p:sp>
      <p:sp>
        <p:nvSpPr>
          <p:cNvPr id="3" name="t"/>
          <p:cNvSpPr txBox="1"/>
          <p:nvPr/>
        </p:nvSpPr>
        <p:spPr>
          <a:xfrm>
            <a:off x="502920" y="766064"/>
            <a:ext cx="3580790" cy="239268"/>
          </a:xfrm>
          <a:prstGeom prst="rect">
            <a:avLst/>
          </a:prstGeom>
        </p:spPr>
        <p:txBody>
          <a:bodyPr wrap="square" lIns="91440" tIns="45720" rIns="91440" bIns="45720">
            <a:noAutofit/>
          </a:bodyPr>
          <a:lstStyle/>
          <a:p>
            <a:r>
              <a:rPr lang="en-US" sz="1050" b="1">
                <a:solidFill>
                  <a:srgbClr val="FFC66D"/>
                </a:solidFill>
                <a:latin typeface="Calibri"/>
              </a:rPr>
              <a:t>Moment</a:t>
            </a:r>
          </a:p>
        </p:txBody>
      </p:sp>
      <p:sp>
        <p:nvSpPr>
          <p:cNvPr id="4" name="t"/>
          <p:cNvSpPr txBox="1"/>
          <p:nvPr/>
        </p:nvSpPr>
        <p:spPr>
          <a:xfrm>
            <a:off x="4083710" y="766064"/>
            <a:ext cx="1627632" cy="239268"/>
          </a:xfrm>
          <a:prstGeom prst="rect">
            <a:avLst/>
          </a:prstGeom>
        </p:spPr>
        <p:txBody>
          <a:bodyPr wrap="square" lIns="91440" tIns="45720" rIns="91440" bIns="45720">
            <a:noAutofit/>
          </a:bodyPr>
          <a:lstStyle/>
          <a:p>
            <a:r>
              <a:rPr lang="en-US" sz="1050" b="1">
                <a:solidFill>
                  <a:srgbClr val="FFC66D"/>
                </a:solidFill>
                <a:latin typeface="Calibri"/>
              </a:rPr>
              <a:t>Durable?</a:t>
            </a:r>
          </a:p>
        </p:txBody>
      </p:sp>
      <p:sp>
        <p:nvSpPr>
          <p:cNvPr id="5" name="t"/>
          <p:cNvSpPr txBox="1"/>
          <p:nvPr/>
        </p:nvSpPr>
        <p:spPr>
          <a:xfrm>
            <a:off x="5711342" y="766064"/>
            <a:ext cx="2929737" cy="239268"/>
          </a:xfrm>
          <a:prstGeom prst="rect">
            <a:avLst/>
          </a:prstGeom>
        </p:spPr>
        <p:txBody>
          <a:bodyPr wrap="square" lIns="91440" tIns="45720" rIns="91440" bIns="45720">
            <a:noAutofit/>
          </a:bodyPr>
          <a:lstStyle/>
          <a:p>
            <a:r>
              <a:rPr lang="en-US" sz="1050" b="1">
                <a:solidFill>
                  <a:srgbClr val="FFC66D"/>
                </a:solidFill>
                <a:latin typeface="Calibri"/>
              </a:rPr>
              <a:t>Visible to other peers?</a:t>
            </a:r>
          </a:p>
        </p:txBody>
      </p:sp>
      <p:sp>
        <p:nvSpPr>
          <p:cNvPr id="6" name="t"/>
          <p:cNvSpPr txBox="1"/>
          <p:nvPr/>
        </p:nvSpPr>
        <p:spPr>
          <a:xfrm>
            <a:off x="457200" y="1005332"/>
            <a:ext cx="8229600" cy="239268"/>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1005332"/>
            <a:ext cx="3580790" cy="239268"/>
          </a:xfrm>
          <a:prstGeom prst="rect">
            <a:avLst/>
          </a:prstGeom>
        </p:spPr>
        <p:txBody>
          <a:bodyPr wrap="square" lIns="91440" tIns="45720" rIns="91440" bIns="45720">
            <a:noAutofit/>
          </a:bodyPr>
          <a:lstStyle/>
          <a:p>
            <a:r>
              <a:rPr lang="en-US" sz="1050" b="1">
                <a:solidFill>
                  <a:srgbClr val="E8EDF6"/>
                </a:solidFill>
                <a:latin typeface="Calibri"/>
              </a:rPr>
              <a:t>Peer holds tx data</a:t>
            </a:r>
          </a:p>
        </p:txBody>
      </p:sp>
      <p:sp>
        <p:nvSpPr>
          <p:cNvPr id="8" name="t"/>
          <p:cNvSpPr txBox="1"/>
          <p:nvPr/>
        </p:nvSpPr>
        <p:spPr>
          <a:xfrm>
            <a:off x="4083710" y="1005332"/>
            <a:ext cx="1627632" cy="239268"/>
          </a:xfrm>
          <a:prstGeom prst="rect">
            <a:avLst/>
          </a:prstGeom>
        </p:spPr>
        <p:txBody>
          <a:bodyPr wrap="square" lIns="91440" tIns="45720" rIns="91440" bIns="45720">
            <a:noAutofit/>
          </a:bodyPr>
          <a:lstStyle/>
          <a:p>
            <a:r>
              <a:rPr lang="en-US" sz="1050">
                <a:solidFill>
                  <a:srgbClr val="8FA0B8"/>
                </a:solidFill>
                <a:latin typeface="Calibri"/>
              </a:rPr>
              <a:t>no</a:t>
            </a:r>
          </a:p>
        </p:txBody>
      </p:sp>
      <p:sp>
        <p:nvSpPr>
          <p:cNvPr id="9" name="t"/>
          <p:cNvSpPr txBox="1"/>
          <p:nvPr/>
        </p:nvSpPr>
        <p:spPr>
          <a:xfrm>
            <a:off x="5711342" y="1005332"/>
            <a:ext cx="2929737" cy="239268"/>
          </a:xfrm>
          <a:prstGeom prst="rect">
            <a:avLst/>
          </a:prstGeom>
        </p:spPr>
        <p:txBody>
          <a:bodyPr wrap="square" lIns="91440" tIns="45720" rIns="91440" bIns="45720">
            <a:noAutofit/>
          </a:bodyPr>
          <a:lstStyle/>
          <a:p>
            <a:r>
              <a:rPr lang="en-US" sz="1050">
                <a:solidFill>
                  <a:srgbClr val="8FA0B8"/>
                </a:solidFill>
                <a:latin typeface="Calibri"/>
              </a:rPr>
              <a:t>no</a:t>
            </a:r>
          </a:p>
        </p:txBody>
      </p:sp>
      <p:sp>
        <p:nvSpPr>
          <p:cNvPr id="10" name="t"/>
          <p:cNvSpPr txBox="1"/>
          <p:nvPr/>
        </p:nvSpPr>
        <p:spPr>
          <a:xfrm>
            <a:off x="502920" y="1244600"/>
            <a:ext cx="3580790" cy="239268"/>
          </a:xfrm>
          <a:prstGeom prst="rect">
            <a:avLst/>
          </a:prstGeom>
        </p:spPr>
        <p:txBody>
          <a:bodyPr wrap="square" lIns="91440" tIns="45720" rIns="91440" bIns="45720">
            <a:noAutofit/>
          </a:bodyPr>
          <a:lstStyle/>
          <a:p>
            <a:r>
              <a:rPr lang="en-US" sz="1050" b="1">
                <a:solidFill>
                  <a:srgbClr val="E8EDF6"/>
                </a:solidFill>
                <a:latin typeface="Calibri"/>
              </a:rPr>
              <a:t>Transactor has expanded the tx</a:t>
            </a:r>
          </a:p>
        </p:txBody>
      </p:sp>
      <p:sp>
        <p:nvSpPr>
          <p:cNvPr id="11" name="t"/>
          <p:cNvSpPr txBox="1"/>
          <p:nvPr/>
        </p:nvSpPr>
        <p:spPr>
          <a:xfrm>
            <a:off x="4083710" y="1244600"/>
            <a:ext cx="1627632" cy="239268"/>
          </a:xfrm>
          <a:prstGeom prst="rect">
            <a:avLst/>
          </a:prstGeom>
        </p:spPr>
        <p:txBody>
          <a:bodyPr wrap="square" lIns="91440" tIns="45720" rIns="91440" bIns="45720">
            <a:noAutofit/>
          </a:bodyPr>
          <a:lstStyle/>
          <a:p>
            <a:r>
              <a:rPr lang="en-US" sz="1050">
                <a:solidFill>
                  <a:srgbClr val="8FA0B8"/>
                </a:solidFill>
                <a:latin typeface="Calibri"/>
              </a:rPr>
              <a:t>no</a:t>
            </a:r>
          </a:p>
        </p:txBody>
      </p:sp>
      <p:sp>
        <p:nvSpPr>
          <p:cNvPr id="12" name="t"/>
          <p:cNvSpPr txBox="1"/>
          <p:nvPr/>
        </p:nvSpPr>
        <p:spPr>
          <a:xfrm>
            <a:off x="5711342" y="1244600"/>
            <a:ext cx="2929737" cy="239268"/>
          </a:xfrm>
          <a:prstGeom prst="rect">
            <a:avLst/>
          </a:prstGeom>
        </p:spPr>
        <p:txBody>
          <a:bodyPr wrap="square" lIns="91440" tIns="45720" rIns="91440" bIns="45720">
            <a:noAutofit/>
          </a:bodyPr>
          <a:lstStyle/>
          <a:p>
            <a:r>
              <a:rPr lang="en-US" sz="1050">
                <a:solidFill>
                  <a:srgbClr val="8FA0B8"/>
                </a:solidFill>
                <a:latin typeface="Calibri"/>
              </a:rPr>
              <a:t>no</a:t>
            </a:r>
          </a:p>
        </p:txBody>
      </p:sp>
      <p:sp>
        <p:nvSpPr>
          <p:cNvPr id="13" name="t"/>
          <p:cNvSpPr txBox="1"/>
          <p:nvPr/>
        </p:nvSpPr>
        <p:spPr>
          <a:xfrm>
            <a:off x="457200" y="1483868"/>
            <a:ext cx="8229600" cy="239268"/>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483868"/>
            <a:ext cx="3580790" cy="239268"/>
          </a:xfrm>
          <a:prstGeom prst="rect">
            <a:avLst/>
          </a:prstGeom>
        </p:spPr>
        <p:txBody>
          <a:bodyPr wrap="square" lIns="91440" tIns="45720" rIns="91440" bIns="45720">
            <a:noAutofit/>
          </a:bodyPr>
          <a:lstStyle/>
          <a:p>
            <a:r>
              <a:rPr lang="en-US" sz="1050" b="1">
                <a:solidFill>
                  <a:srgbClr val="E8EDF6"/>
                </a:solidFill>
                <a:latin typeface="Calibri"/>
              </a:rPr>
              <a:t>Log write acknowledged by storage</a:t>
            </a:r>
          </a:p>
        </p:txBody>
      </p:sp>
      <p:sp>
        <p:nvSpPr>
          <p:cNvPr id="15" name="t"/>
          <p:cNvSpPr txBox="1"/>
          <p:nvPr/>
        </p:nvSpPr>
        <p:spPr>
          <a:xfrm>
            <a:off x="4083710" y="1483868"/>
            <a:ext cx="1627632" cy="239268"/>
          </a:xfrm>
          <a:prstGeom prst="rect">
            <a:avLst/>
          </a:prstGeom>
        </p:spPr>
        <p:txBody>
          <a:bodyPr wrap="square" lIns="91440" tIns="45720" rIns="91440" bIns="45720">
            <a:noAutofit/>
          </a:bodyPr>
          <a:lstStyle/>
          <a:p>
            <a:r>
              <a:rPr lang="en-US" sz="1050">
                <a:solidFill>
                  <a:srgbClr val="8FA0B8"/>
                </a:solidFill>
                <a:latin typeface="Calibri"/>
              </a:rPr>
              <a:t>YES</a:t>
            </a:r>
          </a:p>
        </p:txBody>
      </p:sp>
      <p:sp>
        <p:nvSpPr>
          <p:cNvPr id="16" name="t"/>
          <p:cNvSpPr txBox="1"/>
          <p:nvPr/>
        </p:nvSpPr>
        <p:spPr>
          <a:xfrm>
            <a:off x="5711342" y="1483868"/>
            <a:ext cx="2929737" cy="239268"/>
          </a:xfrm>
          <a:prstGeom prst="rect">
            <a:avLst/>
          </a:prstGeom>
        </p:spPr>
        <p:txBody>
          <a:bodyPr wrap="square" lIns="91440" tIns="45720" rIns="91440" bIns="45720">
            <a:noAutofit/>
          </a:bodyPr>
          <a:lstStyle/>
          <a:p>
            <a:r>
              <a:rPr lang="en-US" sz="1050">
                <a:solidFill>
                  <a:srgbClr val="8FA0B8"/>
                </a:solidFill>
                <a:latin typeface="Calibri"/>
              </a:rPr>
              <a:t>not yet</a:t>
            </a:r>
          </a:p>
        </p:txBody>
      </p:sp>
      <p:sp>
        <p:nvSpPr>
          <p:cNvPr id="17" name="t"/>
          <p:cNvSpPr txBox="1"/>
          <p:nvPr/>
        </p:nvSpPr>
        <p:spPr>
          <a:xfrm>
            <a:off x="502920" y="1723136"/>
            <a:ext cx="3580790" cy="239268"/>
          </a:xfrm>
          <a:prstGeom prst="rect">
            <a:avLst/>
          </a:prstGeom>
        </p:spPr>
        <p:txBody>
          <a:bodyPr wrap="square" lIns="91440" tIns="45720" rIns="91440" bIns="45720">
            <a:noAutofit/>
          </a:bodyPr>
          <a:lstStyle/>
          <a:p>
            <a:r>
              <a:rPr lang="en-US" sz="1050" b="1">
                <a:solidFill>
                  <a:srgbClr val="E8EDF6"/>
                </a:solidFill>
                <a:latin typeface="Calibri"/>
              </a:rPr>
              <a:t>Transactor applies to memory index</a:t>
            </a:r>
          </a:p>
        </p:txBody>
      </p:sp>
      <p:sp>
        <p:nvSpPr>
          <p:cNvPr id="18" name="t"/>
          <p:cNvSpPr txBox="1"/>
          <p:nvPr/>
        </p:nvSpPr>
        <p:spPr>
          <a:xfrm>
            <a:off x="4083710" y="1723136"/>
            <a:ext cx="1627632" cy="239268"/>
          </a:xfrm>
          <a:prstGeom prst="rect">
            <a:avLst/>
          </a:prstGeom>
        </p:spPr>
        <p:txBody>
          <a:bodyPr wrap="square" lIns="91440" tIns="45720" rIns="91440" bIns="45720">
            <a:noAutofit/>
          </a:bodyPr>
          <a:lstStyle/>
          <a:p>
            <a:r>
              <a:rPr lang="en-US" sz="1050">
                <a:solidFill>
                  <a:srgbClr val="8FA0B8"/>
                </a:solidFill>
                <a:latin typeface="Calibri"/>
              </a:rPr>
              <a:t>yes</a:t>
            </a:r>
          </a:p>
        </p:txBody>
      </p:sp>
      <p:sp>
        <p:nvSpPr>
          <p:cNvPr id="19" name="t"/>
          <p:cNvSpPr txBox="1"/>
          <p:nvPr/>
        </p:nvSpPr>
        <p:spPr>
          <a:xfrm>
            <a:off x="5711342" y="1723136"/>
            <a:ext cx="2929737" cy="239268"/>
          </a:xfrm>
          <a:prstGeom prst="rect">
            <a:avLst/>
          </a:prstGeom>
        </p:spPr>
        <p:txBody>
          <a:bodyPr wrap="square" lIns="91440" tIns="45720" rIns="91440" bIns="45720">
            <a:noAutofit/>
          </a:bodyPr>
          <a:lstStyle/>
          <a:p>
            <a:r>
              <a:rPr lang="en-US" sz="1050">
                <a:solidFill>
                  <a:srgbClr val="8FA0B8"/>
                </a:solidFill>
                <a:latin typeface="Calibri"/>
              </a:rPr>
              <a:t>not yet</a:t>
            </a:r>
          </a:p>
        </p:txBody>
      </p:sp>
      <p:sp>
        <p:nvSpPr>
          <p:cNvPr id="20" name="t"/>
          <p:cNvSpPr txBox="1"/>
          <p:nvPr/>
        </p:nvSpPr>
        <p:spPr>
          <a:xfrm>
            <a:off x="457200" y="1962404"/>
            <a:ext cx="8229600" cy="239268"/>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1962404"/>
            <a:ext cx="3580790" cy="239268"/>
          </a:xfrm>
          <a:prstGeom prst="rect">
            <a:avLst/>
          </a:prstGeom>
        </p:spPr>
        <p:txBody>
          <a:bodyPr wrap="square" lIns="91440" tIns="45720" rIns="91440" bIns="45720">
            <a:noAutofit/>
          </a:bodyPr>
          <a:lstStyle/>
          <a:p>
            <a:r>
              <a:rPr lang="en-US" sz="1050" b="1">
                <a:solidFill>
                  <a:srgbClr val="E8EDF6"/>
                </a:solidFill>
                <a:latin typeface="Calibri"/>
              </a:rPr>
              <a:t>tx report returned / broadcast</a:t>
            </a:r>
          </a:p>
        </p:txBody>
      </p:sp>
      <p:sp>
        <p:nvSpPr>
          <p:cNvPr id="22" name="t"/>
          <p:cNvSpPr txBox="1"/>
          <p:nvPr/>
        </p:nvSpPr>
        <p:spPr>
          <a:xfrm>
            <a:off x="4083710" y="1962404"/>
            <a:ext cx="1627632" cy="239268"/>
          </a:xfrm>
          <a:prstGeom prst="rect">
            <a:avLst/>
          </a:prstGeom>
        </p:spPr>
        <p:txBody>
          <a:bodyPr wrap="square" lIns="91440" tIns="45720" rIns="91440" bIns="45720">
            <a:noAutofit/>
          </a:bodyPr>
          <a:lstStyle/>
          <a:p>
            <a:r>
              <a:rPr lang="en-US" sz="1050">
                <a:solidFill>
                  <a:srgbClr val="8FA0B8"/>
                </a:solidFill>
                <a:latin typeface="Calibri"/>
              </a:rPr>
              <a:t>yes</a:t>
            </a:r>
          </a:p>
        </p:txBody>
      </p:sp>
      <p:sp>
        <p:nvSpPr>
          <p:cNvPr id="23" name="t"/>
          <p:cNvSpPr txBox="1"/>
          <p:nvPr/>
        </p:nvSpPr>
        <p:spPr>
          <a:xfrm>
            <a:off x="5711342" y="1962404"/>
            <a:ext cx="2929737" cy="239268"/>
          </a:xfrm>
          <a:prstGeom prst="rect">
            <a:avLst/>
          </a:prstGeom>
        </p:spPr>
        <p:txBody>
          <a:bodyPr wrap="square" lIns="91440" tIns="45720" rIns="91440" bIns="45720">
            <a:noAutofit/>
          </a:bodyPr>
          <a:lstStyle/>
          <a:p>
            <a:r>
              <a:rPr lang="en-US" sz="1050">
                <a:solidFill>
                  <a:srgbClr val="8FA0B8"/>
                </a:solidFill>
                <a:latin typeface="Calibri"/>
              </a:rPr>
              <a:t>yes</a:t>
            </a:r>
          </a:p>
        </p:txBody>
      </p:sp>
      <p:sp>
        <p:nvSpPr>
          <p:cNvPr id="24" name="t"/>
          <p:cNvSpPr txBox="1"/>
          <p:nvPr/>
        </p:nvSpPr>
        <p:spPr>
          <a:xfrm>
            <a:off x="502920" y="2201672"/>
            <a:ext cx="3580790" cy="239268"/>
          </a:xfrm>
          <a:prstGeom prst="rect">
            <a:avLst/>
          </a:prstGeom>
        </p:spPr>
        <p:txBody>
          <a:bodyPr wrap="square" lIns="91440" tIns="45720" rIns="91440" bIns="45720">
            <a:noAutofit/>
          </a:bodyPr>
          <a:lstStyle/>
          <a:p>
            <a:r>
              <a:rPr lang="en-US" sz="1050" b="1">
                <a:solidFill>
                  <a:srgbClr val="E8EDF6"/>
                </a:solidFill>
                <a:latin typeface="Calibri"/>
              </a:rPr>
              <a:t>Index job merges novelty into the index</a:t>
            </a:r>
          </a:p>
        </p:txBody>
      </p:sp>
      <p:sp>
        <p:nvSpPr>
          <p:cNvPr id="25" name="t"/>
          <p:cNvSpPr txBox="1"/>
          <p:nvPr/>
        </p:nvSpPr>
        <p:spPr>
          <a:xfrm>
            <a:off x="4083710" y="2201672"/>
            <a:ext cx="1627632" cy="239268"/>
          </a:xfrm>
          <a:prstGeom prst="rect">
            <a:avLst/>
          </a:prstGeom>
        </p:spPr>
        <p:txBody>
          <a:bodyPr wrap="square" lIns="91440" tIns="45720" rIns="91440" bIns="45720">
            <a:noAutofit/>
          </a:bodyPr>
          <a:lstStyle/>
          <a:p>
            <a:r>
              <a:rPr lang="en-US" sz="1050">
                <a:solidFill>
                  <a:srgbClr val="8FA0B8"/>
                </a:solidFill>
                <a:latin typeface="Calibri"/>
              </a:rPr>
              <a:t>yes</a:t>
            </a:r>
          </a:p>
        </p:txBody>
      </p:sp>
      <p:sp>
        <p:nvSpPr>
          <p:cNvPr id="26" name="t"/>
          <p:cNvSpPr txBox="1"/>
          <p:nvPr/>
        </p:nvSpPr>
        <p:spPr>
          <a:xfrm>
            <a:off x="5711342" y="2201672"/>
            <a:ext cx="2929737" cy="239268"/>
          </a:xfrm>
          <a:prstGeom prst="rect">
            <a:avLst/>
          </a:prstGeom>
        </p:spPr>
        <p:txBody>
          <a:bodyPr wrap="square" lIns="91440" tIns="45720" rIns="91440" bIns="45720">
            <a:noAutofit/>
          </a:bodyPr>
          <a:lstStyle/>
          <a:p>
            <a:r>
              <a:rPr lang="en-US" sz="1050">
                <a:solidFill>
                  <a:srgbClr val="8FA0B8"/>
                </a:solidFill>
                <a:latin typeface="Calibri"/>
              </a:rPr>
              <a:t>yes (already was)</a:t>
            </a:r>
          </a:p>
        </p:txBody>
      </p:sp>
      <p:sp>
        <p:nvSpPr>
          <p:cNvPr id="27" name="t"/>
          <p:cNvSpPr txBox="1"/>
          <p:nvPr/>
        </p:nvSpPr>
        <p:spPr>
          <a:xfrm>
            <a:off x="502920" y="2628392"/>
            <a:ext cx="45720" cy="449072"/>
          </a:xfrm>
          <a:prstGeom prst="rect">
            <a:avLst/>
          </a:prstGeom>
          <a:solidFill>
            <a:srgbClr val="6FA8FF"/>
          </a:solidFill>
        </p:spPr>
        <p:txBody>
          <a:bodyPr wrap="square" lIns="91440" tIns="45720" rIns="91440" bIns="45720">
            <a:noAutofit/>
          </a:bodyPr>
          <a:lstStyle/>
        </p:txBody>
      </p:sp>
      <p:sp>
        <p:nvSpPr>
          <p:cNvPr id="28" name="t"/>
          <p:cNvSpPr txBox="1"/>
          <p:nvPr/>
        </p:nvSpPr>
        <p:spPr>
          <a:xfrm>
            <a:off x="594360" y="2628392"/>
            <a:ext cx="8046720" cy="449072"/>
          </a:xfrm>
          <a:prstGeom prst="rect">
            <a:avLst/>
          </a:prstGeom>
        </p:spPr>
        <p:txBody>
          <a:bodyPr wrap="square" lIns="91440" tIns="45720" rIns="91440" bIns="45720">
            <a:noAutofit/>
          </a:bodyPr>
          <a:lstStyle/>
          <a:p>
            <a:r>
              <a:rPr lang="en-US" sz="1100">
                <a:solidFill>
                  <a:srgbClr val="E8EDF6"/>
                </a:solidFill>
                <a:latin typeface="Calibri"/>
              </a:rPr>
              <a:t>●  Indexing is NOT part of durability. Datomic keeps two persistent structures: an immutable log written every transaction, and an index rewritten periodically. Losing an un-indexed transactor loses nothing.</a:t>
            </a:r>
          </a:p>
        </p:txBody>
      </p:sp>
      <p:sp>
        <p:nvSpPr>
          <p:cNvPr id="2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3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What comes back</a:t>
            </a:r>
          </a:p>
        </p:txBody>
      </p:sp>
      <p:sp>
        <p:nvSpPr>
          <p:cNvPr id="3" name="t"/>
          <p:cNvSpPr txBox="1"/>
          <p:nvPr/>
        </p:nvSpPr>
        <p:spPr>
          <a:xfrm>
            <a:off x="502920" y="766064"/>
            <a:ext cx="8138160" cy="1437640"/>
          </a:xfrm>
          <a:prstGeom prst="roundRect">
            <a:avLst/>
          </a:prstGeom>
          <a:solidFill>
            <a:srgbClr val="141B28"/>
          </a:solidFill>
        </p:spPr>
        <p:txBody>
          <a:bodyPr wrap="square" lIns="91440" tIns="45720" rIns="91440" bIns="45720">
            <a:noAutofit/>
          </a:bodyPr>
          <a:lstStyle/>
          <a:p>
            <a:r>
              <a:rPr lang="en-US" sz="1000">
                <a:solidFill>
                  <a:srgbClr val="7BD88F"/>
                </a:solidFill>
                <a:latin typeface="Courier New"/>
              </a:rPr>
              <a:t>(def report @(d/transact conn [{:db/id "acct"</a:t>
            </a:r>
          </a:p>
          <a:p>
            <a:r>
              <a:rPr lang="en-US" sz="1000">
                <a:solidFill>
                  <a:srgbClr val="7BD88F"/>
                </a:solidFill>
                <a:latin typeface="Courier New"/>
              </a:rPr>
              <a:t>                                :account/id  #uuid "..."</a:t>
            </a:r>
          </a:p>
          <a:p>
            <a:r>
              <a:rPr lang="en-US" sz="1000">
                <a:solidFill>
                  <a:srgbClr val="7BD88F"/>
                </a:solidFill>
                <a:latin typeface="Courier New"/>
              </a:rPr>
              <a:t>                                :account/balance 100M}]))</a:t>
            </a:r>
          </a:p>
          <a:p>
            <a:endParaRPr lang="en-US" sz="1000"/>
          </a:p>
          <a:p>
            <a:r>
              <a:rPr lang="en-US" sz="1000">
                <a:solidFill>
                  <a:srgbClr val="7BD88F"/>
                </a:solidFill>
                <a:latin typeface="Courier New"/>
              </a:rPr>
              <a:t>(:db-before report)   ;; the value of the db before this tx</a:t>
            </a:r>
          </a:p>
          <a:p>
            <a:r>
              <a:rPr lang="en-US" sz="1000">
                <a:solidFill>
                  <a:srgbClr val="7BD88F"/>
                </a:solidFill>
                <a:latin typeface="Courier New"/>
              </a:rPr>
              <a:t>(:db-after  report)   ;; the value of the db including this tx</a:t>
            </a:r>
          </a:p>
          <a:p>
            <a:r>
              <a:rPr lang="en-US" sz="1000">
                <a:solidFill>
                  <a:srgbClr val="7BD88F"/>
                </a:solidFill>
                <a:latin typeface="Courier New"/>
              </a:rPr>
              <a:t>(:tx-data   report)   ;; the datoms actually written</a:t>
            </a:r>
          </a:p>
          <a:p>
            <a:r>
              <a:rPr lang="en-US" sz="1000">
                <a:solidFill>
                  <a:srgbClr val="7BD88F"/>
                </a:solidFill>
                <a:latin typeface="Courier New"/>
              </a:rPr>
              <a:t>(:tempids   report)   ;; {"acct" 17592186045418}</a:t>
            </a:r>
          </a:p>
        </p:txBody>
      </p:sp>
      <p:sp>
        <p:nvSpPr>
          <p:cNvPr id="4" name="t"/>
          <p:cNvSpPr txBox="1"/>
          <p:nvPr/>
        </p:nvSpPr>
        <p:spPr>
          <a:xfrm>
            <a:off x="502920" y="2368296"/>
            <a:ext cx="8138160" cy="373888"/>
          </a:xfrm>
          <a:prstGeom prst="rect">
            <a:avLst/>
          </a:prstGeom>
        </p:spPr>
        <p:txBody>
          <a:bodyPr wrap="square" lIns="91440" tIns="45720" rIns="91440" bIns="45720">
            <a:noAutofit/>
          </a:bodyPr>
          <a:lstStyle/>
          <a:p>
            <a:r>
              <a:rPr lang="en-US" sz="1150">
                <a:solidFill>
                  <a:srgbClr val="E8EDF6"/>
                </a:solidFill>
                <a:latin typeface="Calibri"/>
              </a:rPr>
              <a:t>▸ d/transact blocks and returns a completed future; d/transact-async returns immediately and is how you get throughput</a:t>
            </a:r>
          </a:p>
        </p:txBody>
      </p:sp>
      <p:sp>
        <p:nvSpPr>
          <p:cNvPr id="5" name="t"/>
          <p:cNvSpPr txBox="1"/>
          <p:nvPr/>
        </p:nvSpPr>
        <p:spPr>
          <a:xfrm>
            <a:off x="502920" y="2742184"/>
            <a:ext cx="8138160" cy="186944"/>
          </a:xfrm>
          <a:prstGeom prst="rect">
            <a:avLst/>
          </a:prstGeom>
        </p:spPr>
        <p:txBody>
          <a:bodyPr wrap="square" lIns="91440" tIns="45720" rIns="91440" bIns="45720">
            <a:noAutofit/>
          </a:bodyPr>
          <a:lstStyle/>
          <a:p>
            <a:r>
              <a:rPr lang="en-US" sz="1150">
                <a:solidFill>
                  <a:srgbClr val="E8EDF6"/>
                </a:solidFill>
                <a:latin typeface="Calibri"/>
              </a:rPr>
              <a:t>▸ transact also swaps the connection's shared db reference, so d/db on this peer already sees your write</a:t>
            </a:r>
          </a:p>
        </p:txBody>
      </p:sp>
      <p:sp>
        <p:nvSpPr>
          <p:cNvPr id="6" name="t"/>
          <p:cNvSpPr txBox="1"/>
          <p:nvPr/>
        </p:nvSpPr>
        <p:spPr>
          <a:xfrm>
            <a:off x="502920" y="2929128"/>
            <a:ext cx="8138160" cy="373888"/>
          </a:xfrm>
          <a:prstGeom prst="rect">
            <a:avLst/>
          </a:prstGeom>
        </p:spPr>
        <p:txBody>
          <a:bodyPr wrap="square" lIns="91440" tIns="45720" rIns="91440" bIns="45720">
            <a:noAutofit/>
          </a:bodyPr>
          <a:lstStyle/>
          <a:p>
            <a:r>
              <a:rPr lang="en-US" sz="1150">
                <a:solidFill>
                  <a:srgbClr val="E8EDF6"/>
                </a:solidFill>
                <a:latin typeface="Calibri"/>
              </a:rPr>
              <a:t>▸ Other peers see it when the broadcast lands — use d/sync if you need a read-your-writes guarantee across processes</a:t>
            </a:r>
          </a:p>
        </p:txBody>
      </p:sp>
      <p:sp>
        <p:nvSpPr>
          <p:cNvPr id="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Transaction functions run on the transactor</a:t>
            </a:r>
          </a:p>
        </p:txBody>
      </p:sp>
      <p:sp>
        <p:nvSpPr>
          <p:cNvPr id="3" name="t"/>
          <p:cNvSpPr txBox="1"/>
          <p:nvPr/>
        </p:nvSpPr>
        <p:spPr>
          <a:xfrm>
            <a:off x="502920" y="766064"/>
            <a:ext cx="3954780" cy="195072"/>
          </a:xfrm>
          <a:prstGeom prst="rect">
            <a:avLst/>
          </a:prstGeom>
        </p:spPr>
        <p:txBody>
          <a:bodyPr wrap="square" lIns="91440" tIns="45720" rIns="91440" bIns="45720">
            <a:noAutofit/>
          </a:bodyPr>
          <a:lstStyle/>
          <a:p>
            <a:r>
              <a:rPr lang="en-US" sz="1200" b="1">
                <a:solidFill>
                  <a:srgbClr val="7BD88F"/>
                </a:solidFill>
                <a:latin typeface="Calibri"/>
              </a:rPr>
              <a:t>Database functions</a:t>
            </a:r>
          </a:p>
        </p:txBody>
      </p:sp>
      <p:sp>
        <p:nvSpPr>
          <p:cNvPr id="4" name="t"/>
          <p:cNvSpPr txBox="1"/>
          <p:nvPr/>
        </p:nvSpPr>
        <p:spPr>
          <a:xfrm>
            <a:off x="502920" y="1080008"/>
            <a:ext cx="3954780" cy="170688"/>
          </a:xfrm>
          <a:prstGeom prst="rect">
            <a:avLst/>
          </a:prstGeom>
        </p:spPr>
        <p:txBody>
          <a:bodyPr wrap="square" lIns="91440" tIns="45720" rIns="91440" bIns="45720">
            <a:noAutofit/>
          </a:bodyPr>
          <a:lstStyle/>
          <a:p>
            <a:r>
              <a:rPr lang="en-US" sz="1050">
                <a:solidFill>
                  <a:srgbClr val="E8EDF6"/>
                </a:solidFill>
                <a:latin typeface="Calibri"/>
              </a:rPr>
              <a:t>· Stored in the database as entities with :db/ident</a:t>
            </a:r>
          </a:p>
        </p:txBody>
      </p:sp>
      <p:sp>
        <p:nvSpPr>
          <p:cNvPr id="5" name="t"/>
          <p:cNvSpPr txBox="1"/>
          <p:nvPr/>
        </p:nvSpPr>
        <p:spPr>
          <a:xfrm>
            <a:off x="502920" y="1250696"/>
            <a:ext cx="3954780" cy="170688"/>
          </a:xfrm>
          <a:prstGeom prst="rect">
            <a:avLst/>
          </a:prstGeom>
        </p:spPr>
        <p:txBody>
          <a:bodyPr wrap="square" lIns="91440" tIns="45720" rIns="91440" bIns="45720">
            <a:noAutofit/>
          </a:bodyPr>
          <a:lstStyle/>
          <a:p>
            <a:r>
              <a:rPr lang="en-US" sz="1050">
                <a:solidFill>
                  <a:srgbClr val="E8EDF6"/>
                </a:solidFill>
                <a:latin typeface="Calibri"/>
              </a:rPr>
              <a:t>· Invoked by keyword in tx data</a:t>
            </a:r>
          </a:p>
        </p:txBody>
      </p:sp>
      <p:sp>
        <p:nvSpPr>
          <p:cNvPr id="6" name="t"/>
          <p:cNvSpPr txBox="1"/>
          <p:nvPr/>
        </p:nvSpPr>
        <p:spPr>
          <a:xfrm>
            <a:off x="502920" y="1421384"/>
            <a:ext cx="3954780" cy="170688"/>
          </a:xfrm>
          <a:prstGeom prst="rect">
            <a:avLst/>
          </a:prstGeom>
        </p:spPr>
        <p:txBody>
          <a:bodyPr wrap="square" lIns="91440" tIns="45720" rIns="91440" bIns="45720">
            <a:noAutofit/>
          </a:bodyPr>
          <a:lstStyle/>
          <a:p>
            <a:r>
              <a:rPr lang="en-US" sz="1050">
                <a:solidFill>
                  <a:srgbClr val="E8EDF6"/>
                </a:solidFill>
                <a:latin typeface="Calibri"/>
              </a:rPr>
              <a:t>· Versioned with your data, no deploy needed</a:t>
            </a:r>
          </a:p>
        </p:txBody>
      </p:sp>
      <p:sp>
        <p:nvSpPr>
          <p:cNvPr id="7" name="t"/>
          <p:cNvSpPr txBox="1"/>
          <p:nvPr/>
        </p:nvSpPr>
        <p:spPr>
          <a:xfrm>
            <a:off x="502920" y="1592072"/>
            <a:ext cx="3954780" cy="170688"/>
          </a:xfrm>
          <a:prstGeom prst="rect">
            <a:avLst/>
          </a:prstGeom>
        </p:spPr>
        <p:txBody>
          <a:bodyPr wrap="square" lIns="91440" tIns="45720" rIns="91440" bIns="45720">
            <a:noAutofit/>
          </a:bodyPr>
          <a:lstStyle/>
          <a:p>
            <a:r>
              <a:rPr lang="en-US" sz="1050">
                <a:solidFill>
                  <a:srgbClr val="E8EDF6"/>
                </a:solidFill>
                <a:latin typeface="Calibri"/>
              </a:rPr>
              <a:t>· Maximum 10 arguments</a:t>
            </a:r>
          </a:p>
        </p:txBody>
      </p:sp>
      <p:sp>
        <p:nvSpPr>
          <p:cNvPr id="8" name="t"/>
          <p:cNvSpPr txBox="1"/>
          <p:nvPr/>
        </p:nvSpPr>
        <p:spPr>
          <a:xfrm>
            <a:off x="4686300" y="766064"/>
            <a:ext cx="3954780" cy="195072"/>
          </a:xfrm>
          <a:prstGeom prst="rect">
            <a:avLst/>
          </a:prstGeom>
        </p:spPr>
        <p:txBody>
          <a:bodyPr wrap="square" lIns="91440" tIns="45720" rIns="91440" bIns="45720">
            <a:noAutofit/>
          </a:bodyPr>
          <a:lstStyle/>
          <a:p>
            <a:r>
              <a:rPr lang="en-US" sz="1200" b="1">
                <a:solidFill>
                  <a:srgbClr val="6FA8FF"/>
                </a:solidFill>
                <a:latin typeface="Calibri"/>
              </a:rPr>
              <a:t>Classpath functions</a:t>
            </a:r>
          </a:p>
        </p:txBody>
      </p:sp>
      <p:sp>
        <p:nvSpPr>
          <p:cNvPr id="9" name="t"/>
          <p:cNvSpPr txBox="1"/>
          <p:nvPr/>
        </p:nvSpPr>
        <p:spPr>
          <a:xfrm>
            <a:off x="4686300" y="1080008"/>
            <a:ext cx="3954780" cy="170688"/>
          </a:xfrm>
          <a:prstGeom prst="rect">
            <a:avLst/>
          </a:prstGeom>
        </p:spPr>
        <p:txBody>
          <a:bodyPr wrap="square" lIns="91440" tIns="45720" rIns="91440" bIns="45720">
            <a:noAutofit/>
          </a:bodyPr>
          <a:lstStyle/>
          <a:p>
            <a:r>
              <a:rPr lang="en-US" sz="1050">
                <a:solidFill>
                  <a:srgbClr val="E8EDF6"/>
                </a:solidFill>
                <a:latin typeface="Calibri"/>
              </a:rPr>
              <a:t>· Deployed to the transactor's DATOMIC_EXT_CLASSPATH</a:t>
            </a:r>
          </a:p>
        </p:txBody>
      </p:sp>
      <p:sp>
        <p:nvSpPr>
          <p:cNvPr id="10" name="t"/>
          <p:cNvSpPr txBox="1"/>
          <p:nvPr/>
        </p:nvSpPr>
        <p:spPr>
          <a:xfrm>
            <a:off x="4686300" y="1250696"/>
            <a:ext cx="3954780" cy="170688"/>
          </a:xfrm>
          <a:prstGeom prst="rect">
            <a:avLst/>
          </a:prstGeom>
        </p:spPr>
        <p:txBody>
          <a:bodyPr wrap="square" lIns="91440" tIns="45720" rIns="91440" bIns="45720">
            <a:noAutofit/>
          </a:bodyPr>
          <a:lstStyle/>
          <a:p>
            <a:r>
              <a:rPr lang="en-US" sz="1050">
                <a:solidFill>
                  <a:srgbClr val="E8EDF6"/>
                </a:solidFill>
                <a:latin typeface="Calibri"/>
              </a:rPr>
              <a:t>· Invoked by symbol</a:t>
            </a:r>
          </a:p>
        </p:txBody>
      </p:sp>
      <p:sp>
        <p:nvSpPr>
          <p:cNvPr id="11" name="t"/>
          <p:cNvSpPr txBox="1"/>
          <p:nvPr/>
        </p:nvSpPr>
        <p:spPr>
          <a:xfrm>
            <a:off x="4686300" y="1421384"/>
            <a:ext cx="3954780" cy="170688"/>
          </a:xfrm>
          <a:prstGeom prst="rect">
            <a:avLst/>
          </a:prstGeom>
        </p:spPr>
        <p:txBody>
          <a:bodyPr wrap="square" lIns="91440" tIns="45720" rIns="91440" bIns="45720">
            <a:noAutofit/>
          </a:bodyPr>
          <a:lstStyle/>
          <a:p>
            <a:r>
              <a:rPr lang="en-US" sz="1050">
                <a:solidFill>
                  <a:srgbClr val="E8EDF6"/>
                </a:solidFill>
                <a:latin typeface="Calibri"/>
              </a:rPr>
              <a:t>· No argument limit</a:t>
            </a:r>
          </a:p>
        </p:txBody>
      </p:sp>
      <p:sp>
        <p:nvSpPr>
          <p:cNvPr id="12" name="t"/>
          <p:cNvSpPr txBox="1"/>
          <p:nvPr/>
        </p:nvSpPr>
        <p:spPr>
          <a:xfrm>
            <a:off x="4686300" y="1592072"/>
            <a:ext cx="3954780" cy="170688"/>
          </a:xfrm>
          <a:prstGeom prst="rect">
            <a:avLst/>
          </a:prstGeom>
        </p:spPr>
        <p:txBody>
          <a:bodyPr wrap="square" lIns="91440" tIns="45720" rIns="91440" bIns="45720">
            <a:noAutofit/>
          </a:bodyPr>
          <a:lstStyle/>
          <a:p>
            <a:r>
              <a:rPr lang="en-US" sz="1050">
                <a:solidFill>
                  <a:srgbClr val="E8EDF6"/>
                </a:solidFill>
                <a:latin typeface="Calibri"/>
              </a:rPr>
              <a:t>· Needs a transactor restart to change</a:t>
            </a:r>
          </a:p>
        </p:txBody>
      </p:sp>
      <p:sp>
        <p:nvSpPr>
          <p:cNvPr id="13" name="t"/>
          <p:cNvSpPr txBox="1"/>
          <p:nvPr/>
        </p:nvSpPr>
        <p:spPr>
          <a:xfrm>
            <a:off x="502920" y="1950212"/>
            <a:ext cx="8138160" cy="178816"/>
          </a:xfrm>
          <a:prstGeom prst="rect">
            <a:avLst/>
          </a:prstGeom>
        </p:spPr>
        <p:txBody>
          <a:bodyPr wrap="square" lIns="91440" tIns="45720" rIns="91440" bIns="45720">
            <a:noAutofit/>
          </a:bodyPr>
          <a:lstStyle/>
          <a:p>
            <a:r>
              <a:rPr lang="en-US" sz="1100">
                <a:solidFill>
                  <a:srgbClr val="E8EDF6"/>
                </a:solidFill>
                <a:latin typeface="Calibri"/>
              </a:rPr>
              <a:t>▸ Both must be pure and side-effect free — they may be retried</a:t>
            </a:r>
          </a:p>
        </p:txBody>
      </p:sp>
      <p:sp>
        <p:nvSpPr>
          <p:cNvPr id="14" name="t"/>
          <p:cNvSpPr txBox="1"/>
          <p:nvPr/>
        </p:nvSpPr>
        <p:spPr>
          <a:xfrm>
            <a:off x="502920" y="2129028"/>
            <a:ext cx="8138160" cy="178816"/>
          </a:xfrm>
          <a:prstGeom prst="rect">
            <a:avLst/>
          </a:prstGeom>
        </p:spPr>
        <p:txBody>
          <a:bodyPr wrap="square" lIns="91440" tIns="45720" rIns="91440" bIns="45720">
            <a:noAutofit/>
          </a:bodyPr>
          <a:lstStyle/>
          <a:p>
            <a:r>
              <a:rPr lang="en-US" sz="1100">
                <a:solidFill>
                  <a:srgbClr val="E8EDF6"/>
                </a:solidFill>
                <a:latin typeface="Calibri"/>
              </a:rPr>
              <a:t>▸ First argument is db-before; they return more tx data</a:t>
            </a:r>
          </a:p>
        </p:txBody>
      </p:sp>
      <p:sp>
        <p:nvSpPr>
          <p:cNvPr id="15" name="t"/>
          <p:cNvSpPr txBox="1"/>
          <p:nvPr/>
        </p:nvSpPr>
        <p:spPr>
          <a:xfrm>
            <a:off x="502920" y="2307844"/>
            <a:ext cx="8138160" cy="178816"/>
          </a:xfrm>
          <a:prstGeom prst="rect">
            <a:avLst/>
          </a:prstGeom>
        </p:spPr>
        <p:txBody>
          <a:bodyPr wrap="square" lIns="91440" tIns="45720" rIns="91440" bIns="45720">
            <a:noAutofit/>
          </a:bodyPr>
          <a:lstStyle/>
          <a:p>
            <a:r>
              <a:rPr lang="en-US" sz="1100">
                <a:solidFill>
                  <a:srgbClr val="FFC66D"/>
                </a:solidFill>
                <a:latin typeface="Calibri"/>
              </a:rPr>
              <a:t>▸ They share the transactor heap with the memory index and object cache</a:t>
            </a:r>
          </a:p>
        </p:txBody>
      </p:sp>
      <p:sp>
        <p:nvSpPr>
          <p:cNvPr id="16" name="t"/>
          <p:cNvSpPr txBox="1"/>
          <p:nvPr/>
        </p:nvSpPr>
        <p:spPr>
          <a:xfrm>
            <a:off x="502920" y="2605532"/>
            <a:ext cx="45720" cy="449072"/>
          </a:xfrm>
          <a:prstGeom prst="rect">
            <a:avLst/>
          </a:prstGeom>
          <a:solidFill>
            <a:srgbClr val="F28FAD"/>
          </a:solidFill>
        </p:spPr>
        <p:txBody>
          <a:bodyPr wrap="square" lIns="91440" tIns="45720" rIns="91440" bIns="45720">
            <a:noAutofit/>
          </a:bodyPr>
          <a:lstStyle/>
        </p:txBody>
      </p:sp>
      <p:sp>
        <p:nvSpPr>
          <p:cNvPr id="17" name="t"/>
          <p:cNvSpPr txBox="1"/>
          <p:nvPr/>
        </p:nvSpPr>
        <p:spPr>
          <a:xfrm>
            <a:off x="594360" y="2605532"/>
            <a:ext cx="8046720" cy="449072"/>
          </a:xfrm>
          <a:prstGeom prst="rect">
            <a:avLst/>
          </a:prstGeom>
        </p:spPr>
        <p:txBody>
          <a:bodyPr wrap="square" lIns="91440" tIns="45720" rIns="91440" bIns="45720">
            <a:noAutofit/>
          </a:bodyPr>
          <a:lstStyle/>
          <a:p>
            <a:r>
              <a:rPr lang="en-US" sz="1100">
                <a:solidFill>
                  <a:srgbClr val="E8EDF6"/>
                </a:solidFill>
                <a:latin typeface="Calibri"/>
              </a:rPr>
              <a:t>⚠  A slow transaction function does not just slow its own transaction — it stalls every transaction queued behind it.</a:t>
            </a:r>
          </a:p>
        </p:txBody>
      </p:sp>
      <p:sp>
        <p:nvSpPr>
          <p:cNvPr id="1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1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Two persistent structures</a:t>
            </a:r>
          </a:p>
        </p:txBody>
      </p:sp>
      <p:sp>
        <p:nvSpPr>
          <p:cNvPr id="3" name="t"/>
          <p:cNvSpPr txBox="1"/>
          <p:nvPr/>
        </p:nvSpPr>
        <p:spPr>
          <a:xfrm>
            <a:off x="502920" y="766064"/>
            <a:ext cx="4000500" cy="1343355"/>
          </a:xfrm>
          <a:prstGeom prst="roundRect">
            <a:avLst/>
          </a:prstGeom>
          <a:solidFill>
            <a:srgbClr val="18202F"/>
          </a:solidFill>
        </p:spPr>
        <p:txBody>
          <a:bodyPr wrap="square" lIns="91440" tIns="45720" rIns="91440" bIns="45720">
            <a:noAutofit/>
          </a:bodyPr>
          <a:lstStyle/>
          <a:p>
            <a:r>
              <a:rPr lang="en-US" sz="1200" b="1">
                <a:solidFill>
                  <a:srgbClr val="FFC66D"/>
                </a:solidFill>
                <a:latin typeface="Calibri"/>
              </a:rPr>
              <a:t>The log</a:t>
            </a:r>
          </a:p>
          <a:p>
            <a:endParaRPr lang="en-US" sz="500"/>
          </a:p>
          <a:p>
            <a:r>
              <a:rPr lang="en-US" sz="1100">
                <a:solidFill>
                  <a:srgbClr val="E8EDF6"/>
                </a:solidFill>
                <a:latin typeface="Calibri"/>
              </a:rPr>
              <a:t>Written on every transaction</a:t>
            </a:r>
          </a:p>
          <a:p>
            <a:r>
              <a:rPr lang="en-US" sz="1100">
                <a:solidFill>
                  <a:srgbClr val="E8EDF6"/>
                </a:solidFill>
                <a:latin typeface="Calibri"/>
              </a:rPr>
              <a:t>Ordered by transaction time</a:t>
            </a:r>
          </a:p>
          <a:p>
            <a:r>
              <a:rPr lang="en-US" sz="1100">
                <a:solidFill>
                  <a:srgbClr val="E8EDF6"/>
                </a:solidFill>
                <a:latin typeface="Calibri"/>
              </a:rPr>
              <a:t>Atomic single write = ACID durability</a:t>
            </a:r>
          </a:p>
          <a:p>
            <a:r>
              <a:rPr lang="en-US" sz="1100">
                <a:solidFill>
                  <a:srgbClr val="E8EDF6"/>
                </a:solidFill>
                <a:latin typeface="Calibri"/>
              </a:rPr>
              <a:t>Immutable, append-only</a:t>
            </a:r>
          </a:p>
          <a:p>
            <a:r>
              <a:rPr lang="en-US" sz="1100">
                <a:solidFill>
                  <a:srgbClr val="E8EDF6"/>
                </a:solidFill>
                <a:latin typeface="Calibri"/>
              </a:rPr>
              <a:t>Read with d/log and d/tx-range</a:t>
            </a:r>
          </a:p>
        </p:txBody>
      </p:sp>
      <p:sp>
        <p:nvSpPr>
          <p:cNvPr id="4" name="t"/>
          <p:cNvSpPr txBox="1"/>
          <p:nvPr/>
        </p:nvSpPr>
        <p:spPr>
          <a:xfrm>
            <a:off x="4640580" y="766064"/>
            <a:ext cx="4000500" cy="1343355"/>
          </a:xfrm>
          <a:prstGeom prst="roundRect">
            <a:avLst/>
          </a:prstGeom>
          <a:solidFill>
            <a:srgbClr val="18202F"/>
          </a:solidFill>
        </p:spPr>
        <p:txBody>
          <a:bodyPr wrap="square" lIns="91440" tIns="45720" rIns="91440" bIns="45720">
            <a:noAutofit/>
          </a:bodyPr>
          <a:lstStyle/>
          <a:p>
            <a:r>
              <a:rPr lang="en-US" sz="1200" b="1">
                <a:solidFill>
                  <a:srgbClr val="6FA8FF"/>
                </a:solidFill>
                <a:latin typeface="Calibri"/>
              </a:rPr>
              <a:t>The indexes</a:t>
            </a:r>
          </a:p>
          <a:p>
            <a:endParaRPr lang="en-US" sz="500"/>
          </a:p>
          <a:p>
            <a:r>
              <a:rPr lang="en-US" sz="1100">
                <a:solidFill>
                  <a:srgbClr val="E8EDF6"/>
                </a:solidFill>
                <a:latin typeface="Calibri"/>
              </a:rPr>
              <a:t>Rewritten periodically by an index job</a:t>
            </a:r>
          </a:p>
          <a:p>
            <a:r>
              <a:rPr lang="en-US" sz="1100">
                <a:solidFill>
                  <a:srgbClr val="E8EDF6"/>
                </a:solidFill>
                <a:latin typeface="Calibri"/>
              </a:rPr>
              <a:t>Sorted trees of segments (EAVT, AEVT, ...)</a:t>
            </a:r>
          </a:p>
          <a:p>
            <a:r>
              <a:rPr lang="en-US" sz="1100">
                <a:solidFill>
                  <a:srgbClr val="E8EDF6"/>
                </a:solidFill>
                <a:latin typeface="Calibri"/>
              </a:rPr>
              <a:t>What queries actually walk</a:t>
            </a:r>
          </a:p>
          <a:p>
            <a:r>
              <a:rPr lang="en-US" sz="1100">
                <a:solidFill>
                  <a:srgbClr val="E8EDF6"/>
                </a:solidFill>
                <a:latin typeface="Calibri"/>
              </a:rPr>
              <a:t>Immutable segments, new root per job</a:t>
            </a:r>
          </a:p>
          <a:p>
            <a:r>
              <a:rPr lang="en-US" sz="1100">
                <a:solidFill>
                  <a:srgbClr val="E8EDF6"/>
                </a:solidFill>
                <a:latin typeface="Calibri"/>
              </a:rPr>
              <a:t>Old roots reclaimed by gc-storage</a:t>
            </a:r>
          </a:p>
        </p:txBody>
      </p:sp>
      <p:sp>
        <p:nvSpPr>
          <p:cNvPr id="5" name="t"/>
          <p:cNvSpPr txBox="1"/>
          <p:nvPr/>
        </p:nvSpPr>
        <p:spPr>
          <a:xfrm>
            <a:off x="502920" y="2296871"/>
            <a:ext cx="8138160" cy="390144"/>
          </a:xfrm>
          <a:prstGeom prst="rect">
            <a:avLst/>
          </a:prstGeom>
        </p:spPr>
        <p:txBody>
          <a:bodyPr wrap="square" lIns="91440" tIns="45720" rIns="91440" bIns="45720">
            <a:noAutofit/>
          </a:bodyPr>
          <a:lstStyle/>
          <a:p>
            <a:r>
              <a:rPr lang="en-US" sz="1200">
                <a:solidFill>
                  <a:srgbClr val="C09BFF"/>
                </a:solidFill>
                <a:latin typeface="Calibri"/>
              </a:rPr>
              <a:t>In between sits the memory index: everything transacted since the last index job, held in RAM on the transactor and on every peer.</a:t>
            </a:r>
          </a:p>
        </p:txBody>
      </p:sp>
      <p:sp>
        <p:nvSpPr>
          <p:cNvPr id="6"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7"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memory index</a:t>
            </a:r>
          </a:p>
        </p:txBody>
      </p:sp>
      <p:sp>
        <p:nvSpPr>
          <p:cNvPr id="3" name="t"/>
          <p:cNvSpPr txBox="1"/>
          <p:nvPr/>
        </p:nvSpPr>
        <p:spPr>
          <a:xfrm>
            <a:off x="502920" y="766064"/>
            <a:ext cx="8138160" cy="195072"/>
          </a:xfrm>
          <a:prstGeom prst="rect">
            <a:avLst/>
          </a:prstGeom>
        </p:spPr>
        <p:txBody>
          <a:bodyPr wrap="square" lIns="91440" tIns="45720" rIns="91440" bIns="45720">
            <a:noAutofit/>
          </a:bodyPr>
          <a:lstStyle/>
          <a:p>
            <a:r>
              <a:rPr lang="en-US" sz="1200">
                <a:solidFill>
                  <a:srgbClr val="E8EDF6"/>
                </a:solidFill>
                <a:latin typeface="Calibri"/>
              </a:rPr>
              <a:t>▸ Lives on the transactor AND in every peer process</a:t>
            </a:r>
          </a:p>
        </p:txBody>
      </p:sp>
      <p:sp>
        <p:nvSpPr>
          <p:cNvPr id="4" name="t"/>
          <p:cNvSpPr txBox="1"/>
          <p:nvPr/>
        </p:nvSpPr>
        <p:spPr>
          <a:xfrm>
            <a:off x="502920" y="961136"/>
            <a:ext cx="8138160" cy="195072"/>
          </a:xfrm>
          <a:prstGeom prst="rect">
            <a:avLst/>
          </a:prstGeom>
        </p:spPr>
        <p:txBody>
          <a:bodyPr wrap="square" lIns="91440" tIns="45720" rIns="91440" bIns="45720">
            <a:noAutofit/>
          </a:bodyPr>
          <a:lstStyle/>
          <a:p>
            <a:r>
              <a:rPr lang="en-US" sz="1200">
                <a:solidFill>
                  <a:srgbClr val="E8EDF6"/>
                </a:solidFill>
                <a:latin typeface="Calibri"/>
              </a:rPr>
              <a:t>▸ Holds all novelty since the last index job</a:t>
            </a:r>
          </a:p>
        </p:txBody>
      </p:sp>
      <p:sp>
        <p:nvSpPr>
          <p:cNvPr id="5" name="t"/>
          <p:cNvSpPr txBox="1"/>
          <p:nvPr/>
        </p:nvSpPr>
        <p:spPr>
          <a:xfrm>
            <a:off x="502920" y="1156208"/>
            <a:ext cx="8138160" cy="390144"/>
          </a:xfrm>
          <a:prstGeom prst="rect">
            <a:avLst/>
          </a:prstGeom>
        </p:spPr>
        <p:txBody>
          <a:bodyPr wrap="square" lIns="91440" tIns="45720" rIns="91440" bIns="45720">
            <a:noAutofit/>
          </a:bodyPr>
          <a:lstStyle/>
          <a:p>
            <a:r>
              <a:rPr lang="en-US" sz="1200">
                <a:solidFill>
                  <a:srgbClr val="FFC66D"/>
                </a:solidFill>
                <a:latin typeface="Calibri"/>
              </a:rPr>
              <a:t>▸ Must be rebuilt from the log whenever a process starts — so it can never be allowed to grow without bound</a:t>
            </a:r>
          </a:p>
        </p:txBody>
      </p:sp>
      <p:sp>
        <p:nvSpPr>
          <p:cNvPr id="6" name="t"/>
          <p:cNvSpPr txBox="1"/>
          <p:nvPr/>
        </p:nvSpPr>
        <p:spPr>
          <a:xfrm>
            <a:off x="502920" y="1546352"/>
            <a:ext cx="8138160" cy="195072"/>
          </a:xfrm>
          <a:prstGeom prst="rect">
            <a:avLst/>
          </a:prstGeom>
        </p:spPr>
        <p:txBody>
          <a:bodyPr wrap="square" lIns="91440" tIns="45720" rIns="91440" bIns="45720">
            <a:noAutofit/>
          </a:bodyPr>
          <a:lstStyle/>
          <a:p>
            <a:r>
              <a:rPr lang="en-US" sz="1200">
                <a:solidFill>
                  <a:srgbClr val="F28FAD"/>
                </a:solidFill>
                <a:latin typeface="Calibri"/>
              </a:rPr>
              <a:t>▸ Peer-side memory-index settings are meaningless: peers must accept whatever the transactor gives them</a:t>
            </a:r>
          </a:p>
        </p:txBody>
      </p:sp>
      <p:sp>
        <p:nvSpPr>
          <p:cNvPr id="7" name="t"/>
          <p:cNvSpPr txBox="1"/>
          <p:nvPr/>
        </p:nvSpPr>
        <p:spPr>
          <a:xfrm>
            <a:off x="502920" y="1906016"/>
            <a:ext cx="45720" cy="449072"/>
          </a:xfrm>
          <a:prstGeom prst="rect">
            <a:avLst/>
          </a:prstGeom>
          <a:solidFill>
            <a:srgbClr val="F28FAD"/>
          </a:solidFill>
        </p:spPr>
        <p:txBody>
          <a:bodyPr wrap="square" lIns="91440" tIns="45720" rIns="91440" bIns="45720">
            <a:noAutofit/>
          </a:bodyPr>
          <a:lstStyle/>
        </p:txBody>
      </p:sp>
      <p:sp>
        <p:nvSpPr>
          <p:cNvPr id="8" name="t"/>
          <p:cNvSpPr txBox="1"/>
          <p:nvPr/>
        </p:nvSpPr>
        <p:spPr>
          <a:xfrm>
            <a:off x="594360" y="1906016"/>
            <a:ext cx="8046720" cy="449072"/>
          </a:xfrm>
          <a:prstGeom prst="rect">
            <a:avLst/>
          </a:prstGeom>
        </p:spPr>
        <p:txBody>
          <a:bodyPr wrap="square" lIns="91440" tIns="45720" rIns="91440" bIns="45720">
            <a:noAutofit/>
          </a:bodyPr>
          <a:lstStyle/>
          <a:p>
            <a:r>
              <a:rPr lang="en-US" sz="1100">
                <a:solidFill>
                  <a:srgbClr val="E8EDF6"/>
                </a:solidFill>
                <a:latin typeface="Calibri"/>
              </a:rPr>
              <a:t>⚠  memory-index-max is effectively a floor on every peer's heap. Raise it on the transactor and you have silently raised the memory requirement of every application process in the fleet.</a:t>
            </a:r>
          </a:p>
        </p:txBody>
      </p:sp>
      <p:sp>
        <p:nvSpPr>
          <p:cNvPr id="9" name="t"/>
          <p:cNvSpPr txBox="1"/>
          <p:nvPr/>
        </p:nvSpPr>
        <p:spPr>
          <a:xfrm>
            <a:off x="502920" y="2519680"/>
            <a:ext cx="8138160" cy="178816"/>
          </a:xfrm>
          <a:prstGeom prst="rect">
            <a:avLst/>
          </a:prstGeom>
        </p:spPr>
        <p:txBody>
          <a:bodyPr wrap="square" lIns="91440" tIns="45720" rIns="91440" bIns="45720">
            <a:noAutofit/>
          </a:bodyPr>
          <a:lstStyle/>
          <a:p>
            <a:r>
              <a:rPr lang="en-US" sz="1100">
                <a:solidFill>
                  <a:srgbClr val="8FA0B8"/>
                </a:solidFill>
                <a:latin typeface="Calibri"/>
              </a:rPr>
              <a:t>Watch MemoryIndexMB. If it trends up and never comes back down, indexing is not keeping up with your write rate.</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indexing job</a:t>
            </a:r>
          </a:p>
        </p:txBody>
      </p:sp>
      <p:sp>
        <p:nvSpPr>
          <p:cNvPr id="3" name="t"/>
          <p:cNvSpPr txBox="1"/>
          <p:nvPr/>
        </p:nvSpPr>
        <p:spPr>
          <a:xfrm>
            <a:off x="502920" y="766064"/>
            <a:ext cx="1760220" cy="411480"/>
          </a:xfrm>
          <a:prstGeom prst="roundRect">
            <a:avLst/>
          </a:prstGeom>
          <a:solidFill>
            <a:srgbClr val="C09BFF"/>
          </a:solidFill>
        </p:spPr>
        <p:txBody>
          <a:bodyPr wrap="square" lIns="91440" tIns="45720" rIns="91440" bIns="45720">
            <a:noAutofit/>
          </a:bodyPr>
          <a:lstStyle/>
          <a:p>
            <a:pPr algn="ctr"/>
            <a:r>
              <a:rPr lang="en-US" sz="1050" b="1">
                <a:solidFill>
                  <a:srgbClr val="0F1420"/>
                </a:solidFill>
                <a:latin typeface="Calibri"/>
              </a:rPr>
              <a:t>novelty accumulates</a:t>
            </a:r>
          </a:p>
        </p:txBody>
      </p:sp>
      <p:sp>
        <p:nvSpPr>
          <p:cNvPr id="4" name="t"/>
          <p:cNvSpPr txBox="1"/>
          <p:nvPr/>
        </p:nvSpPr>
        <p:spPr>
          <a:xfrm>
            <a:off x="2354580" y="85750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5" name="t"/>
          <p:cNvSpPr txBox="1"/>
          <p:nvPr/>
        </p:nvSpPr>
        <p:spPr>
          <a:xfrm>
            <a:off x="2628900" y="766064"/>
            <a:ext cx="1760220" cy="411480"/>
          </a:xfrm>
          <a:prstGeom prst="roundRect">
            <a:avLst/>
          </a:prstGeom>
          <a:solidFill>
            <a:srgbClr val="FFC66D"/>
          </a:solidFill>
        </p:spPr>
        <p:txBody>
          <a:bodyPr wrap="square" lIns="91440" tIns="45720" rIns="91440" bIns="45720">
            <a:noAutofit/>
          </a:bodyPr>
          <a:lstStyle/>
          <a:p>
            <a:pPr algn="ctr"/>
            <a:r>
              <a:rPr lang="en-US" sz="1050" b="1">
                <a:solidFill>
                  <a:srgbClr val="0F1420"/>
                </a:solidFill>
                <a:latin typeface="Calibri"/>
              </a:rPr>
              <a:t>threshold hit</a:t>
            </a:r>
          </a:p>
        </p:txBody>
      </p:sp>
      <p:sp>
        <p:nvSpPr>
          <p:cNvPr id="6" name="t"/>
          <p:cNvSpPr txBox="1"/>
          <p:nvPr/>
        </p:nvSpPr>
        <p:spPr>
          <a:xfrm>
            <a:off x="4480560" y="85750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7" name="t"/>
          <p:cNvSpPr txBox="1"/>
          <p:nvPr/>
        </p:nvSpPr>
        <p:spPr>
          <a:xfrm>
            <a:off x="4754880" y="766064"/>
            <a:ext cx="1760220" cy="411480"/>
          </a:xfrm>
          <a:prstGeom prst="roundRect">
            <a:avLst/>
          </a:prstGeom>
          <a:solidFill>
            <a:srgbClr val="6FA8FF"/>
          </a:solidFill>
        </p:spPr>
        <p:txBody>
          <a:bodyPr wrap="square" lIns="91440" tIns="45720" rIns="91440" bIns="45720">
            <a:noAutofit/>
          </a:bodyPr>
          <a:lstStyle/>
          <a:p>
            <a:pPr algn="ctr"/>
            <a:r>
              <a:rPr lang="en-US" sz="1050" b="1">
                <a:solidFill>
                  <a:srgbClr val="0F1420"/>
                </a:solidFill>
                <a:latin typeface="Calibri"/>
              </a:rPr>
              <a:t>index job runs</a:t>
            </a:r>
          </a:p>
        </p:txBody>
      </p:sp>
      <p:sp>
        <p:nvSpPr>
          <p:cNvPr id="8" name="t"/>
          <p:cNvSpPr txBox="1"/>
          <p:nvPr/>
        </p:nvSpPr>
        <p:spPr>
          <a:xfrm>
            <a:off x="6606540" y="85750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9" name="t"/>
          <p:cNvSpPr txBox="1"/>
          <p:nvPr/>
        </p:nvSpPr>
        <p:spPr>
          <a:xfrm>
            <a:off x="6880860" y="766064"/>
            <a:ext cx="1760220" cy="41148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new root published</a:t>
            </a:r>
          </a:p>
        </p:txBody>
      </p:sp>
      <p:sp>
        <p:nvSpPr>
          <p:cNvPr id="10" name="t"/>
          <p:cNvSpPr txBox="1"/>
          <p:nvPr/>
        </p:nvSpPr>
        <p:spPr>
          <a:xfrm>
            <a:off x="502920" y="1387856"/>
            <a:ext cx="8138160" cy="178816"/>
          </a:xfrm>
          <a:prstGeom prst="rect">
            <a:avLst/>
          </a:prstGeom>
        </p:spPr>
        <p:txBody>
          <a:bodyPr wrap="square" lIns="91440" tIns="45720" rIns="91440" bIns="45720">
            <a:noAutofit/>
          </a:bodyPr>
          <a:lstStyle/>
          <a:p>
            <a:r>
              <a:rPr lang="en-US" sz="1100">
                <a:solidFill>
                  <a:srgbClr val="E8EDF6"/>
                </a:solidFill>
                <a:latin typeface="Calibri"/>
              </a:rPr>
              <a:t>▸ memory-index-threshold — how much novelty before the transactor schedules a background index job</a:t>
            </a:r>
          </a:p>
        </p:txBody>
      </p:sp>
      <p:sp>
        <p:nvSpPr>
          <p:cNvPr id="11" name="t"/>
          <p:cNvSpPr txBox="1"/>
          <p:nvPr/>
        </p:nvSpPr>
        <p:spPr>
          <a:xfrm>
            <a:off x="502920" y="1566672"/>
            <a:ext cx="8138160" cy="178816"/>
          </a:xfrm>
          <a:prstGeom prst="rect">
            <a:avLst/>
          </a:prstGeom>
        </p:spPr>
        <p:txBody>
          <a:bodyPr wrap="square" lIns="91440" tIns="45720" rIns="91440" bIns="45720">
            <a:noAutofit/>
          </a:bodyPr>
          <a:lstStyle/>
          <a:p>
            <a:r>
              <a:rPr lang="en-US" sz="1100">
                <a:solidFill>
                  <a:srgbClr val="E8EDF6"/>
                </a:solidFill>
                <a:latin typeface="Calibri"/>
              </a:rPr>
              <a:t>▸ memory-index-max — how much novelty before the transactor throttles transactions to let indexing catch up</a:t>
            </a:r>
          </a:p>
        </p:txBody>
      </p:sp>
      <p:sp>
        <p:nvSpPr>
          <p:cNvPr id="12" name="t"/>
          <p:cNvSpPr txBox="1"/>
          <p:nvPr/>
        </p:nvSpPr>
        <p:spPr>
          <a:xfrm>
            <a:off x="502920" y="1745488"/>
            <a:ext cx="8138160" cy="178816"/>
          </a:xfrm>
          <a:prstGeom prst="rect">
            <a:avLst/>
          </a:prstGeom>
        </p:spPr>
        <p:txBody>
          <a:bodyPr wrap="square" lIns="91440" tIns="45720" rIns="91440" bIns="45720">
            <a:noAutofit/>
          </a:bodyPr>
          <a:lstStyle/>
          <a:p>
            <a:r>
              <a:rPr lang="en-US" sz="1100">
                <a:solidFill>
                  <a:srgbClr val="E8EDF6"/>
                </a:solidFill>
                <a:latin typeface="Calibri"/>
              </a:rPr>
              <a:t>▸ Index jobs are CPU and I/O intensive, and in Pro they run on the transactor itself</a:t>
            </a:r>
          </a:p>
        </p:txBody>
      </p:sp>
      <p:sp>
        <p:nvSpPr>
          <p:cNvPr id="13" name="t"/>
          <p:cNvSpPr txBox="1"/>
          <p:nvPr/>
        </p:nvSpPr>
        <p:spPr>
          <a:xfrm>
            <a:off x="502920" y="1924304"/>
            <a:ext cx="8138160" cy="178816"/>
          </a:xfrm>
          <a:prstGeom prst="rect">
            <a:avLst/>
          </a:prstGeom>
        </p:spPr>
        <p:txBody>
          <a:bodyPr wrap="square" lIns="91440" tIns="45720" rIns="91440" bIns="45720">
            <a:noAutofit/>
          </a:bodyPr>
          <a:lstStyle/>
          <a:p>
            <a:r>
              <a:rPr lang="en-US" sz="1100">
                <a:solidFill>
                  <a:srgbClr val="E8EDF6"/>
                </a:solidFill>
                <a:latin typeface="Calibri"/>
              </a:rPr>
              <a:t>▸ Job time is sublinear in database size: Datomic rewrites only the segments it has to</a:t>
            </a:r>
          </a:p>
        </p:txBody>
      </p:sp>
      <p:sp>
        <p:nvSpPr>
          <p:cNvPr id="14" name="t"/>
          <p:cNvSpPr txBox="1"/>
          <p:nvPr/>
        </p:nvSpPr>
        <p:spPr>
          <a:xfrm>
            <a:off x="502920" y="2103120"/>
            <a:ext cx="8138160" cy="178816"/>
          </a:xfrm>
          <a:prstGeom prst="rect">
            <a:avLst/>
          </a:prstGeom>
        </p:spPr>
        <p:txBody>
          <a:bodyPr wrap="square" lIns="91440" tIns="45720" rIns="91440" bIns="45720">
            <a:noAutofit/>
          </a:bodyPr>
          <a:lstStyle/>
          <a:p>
            <a:r>
              <a:rPr lang="en-US" sz="1100">
                <a:solidFill>
                  <a:srgbClr val="E8EDF6"/>
                </a:solidFill>
                <a:latin typeface="Calibri"/>
              </a:rPr>
              <a:t>▸ Trigger one by hand with (d/request-index conn) — it returns immediately</a:t>
            </a:r>
          </a:p>
        </p:txBody>
      </p:sp>
      <p:sp>
        <p:nvSpPr>
          <p:cNvPr id="15"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16"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Back pressure</a:t>
            </a:r>
          </a:p>
        </p:txBody>
      </p:sp>
      <p:sp>
        <p:nvSpPr>
          <p:cNvPr id="3" name="t"/>
          <p:cNvSpPr txBox="1"/>
          <p:nvPr/>
        </p:nvSpPr>
        <p:spPr>
          <a:xfrm>
            <a:off x="502920" y="766064"/>
            <a:ext cx="8138160" cy="406400"/>
          </a:xfrm>
          <a:prstGeom prst="rect">
            <a:avLst/>
          </a:prstGeom>
        </p:spPr>
        <p:txBody>
          <a:bodyPr wrap="square" lIns="91440" tIns="45720" rIns="91440" bIns="45720">
            <a:noAutofit/>
          </a:bodyPr>
          <a:lstStyle/>
          <a:p>
            <a:r>
              <a:rPr lang="en-US" sz="1250">
                <a:solidFill>
                  <a:srgbClr val="FFC66D"/>
                </a:solidFill>
                <a:latin typeface="Calibri"/>
              </a:rPr>
              <a:t>When novelty passes memory-index-max before the index job finishes, the transactor deliberately slows down transaction processing.</a:t>
            </a:r>
          </a:p>
        </p:txBody>
      </p:sp>
      <p:sp>
        <p:nvSpPr>
          <p:cNvPr id="4" name="t"/>
          <p:cNvSpPr txBox="1"/>
          <p:nvPr/>
        </p:nvSpPr>
        <p:spPr>
          <a:xfrm>
            <a:off x="502920" y="1359916"/>
            <a:ext cx="4000500" cy="1343355"/>
          </a:xfrm>
          <a:prstGeom prst="roundRect">
            <a:avLst/>
          </a:prstGeom>
          <a:solidFill>
            <a:srgbClr val="18202F"/>
          </a:solidFill>
        </p:spPr>
        <p:txBody>
          <a:bodyPr wrap="square" lIns="91440" tIns="45720" rIns="91440" bIns="45720">
            <a:noAutofit/>
          </a:bodyPr>
          <a:lstStyle/>
          <a:p>
            <a:r>
              <a:rPr lang="en-US" sz="1200" b="1">
                <a:solidFill>
                  <a:srgbClr val="F28FAD"/>
                </a:solidFill>
                <a:latin typeface="Calibri"/>
              </a:rPr>
              <a:t>How it shows up</a:t>
            </a:r>
          </a:p>
          <a:p>
            <a:endParaRPr lang="en-US" sz="500"/>
          </a:p>
          <a:p>
            <a:r>
              <a:rPr lang="en-US" sz="1100">
                <a:solidFill>
                  <a:srgbClr val="E8EDF6"/>
                </a:solidFill>
                <a:latin typeface="Calibri"/>
              </a:rPr>
              <a:t>AlarmBackPressure in your metrics</a:t>
            </a:r>
          </a:p>
          <a:p>
            <a:r>
              <a:rPr lang="en-US" sz="1100">
                <a:solidFill>
                  <a:srgbClr val="E8EDF6"/>
                </a:solidFill>
                <a:latin typeface="Calibri"/>
              </a:rPr>
              <a:t>Transaction latency climbs, then climbs more</a:t>
            </a:r>
          </a:p>
          <a:p>
            <a:r>
              <a:rPr lang="en-US" sz="1100">
                <a:solidFill>
                  <a:srgbClr val="E8EDF6"/>
                </a:solidFill>
                <a:latin typeface="Calibri"/>
              </a:rPr>
              <a:t>MemoryIndexMB high and rising</a:t>
            </a:r>
          </a:p>
          <a:p>
            <a:r>
              <a:rPr lang="en-US" sz="1100">
                <a:solidFill>
                  <a:srgbClr val="E8EDF6"/>
                </a:solidFill>
                <a:latin typeface="Calibri"/>
              </a:rPr>
              <a:t>No errors — just everything getting slower</a:t>
            </a:r>
          </a:p>
        </p:txBody>
      </p:sp>
      <p:sp>
        <p:nvSpPr>
          <p:cNvPr id="5" name="t"/>
          <p:cNvSpPr txBox="1"/>
          <p:nvPr/>
        </p:nvSpPr>
        <p:spPr>
          <a:xfrm>
            <a:off x="4640580" y="1359916"/>
            <a:ext cx="4000500" cy="1343355"/>
          </a:xfrm>
          <a:prstGeom prst="roundRect">
            <a:avLst/>
          </a:prstGeom>
          <a:solidFill>
            <a:srgbClr val="18202F"/>
          </a:solidFill>
        </p:spPr>
        <p:txBody>
          <a:bodyPr wrap="square" lIns="91440" tIns="45720" rIns="91440" bIns="45720">
            <a:noAutofit/>
          </a:bodyPr>
          <a:lstStyle/>
          <a:p>
            <a:r>
              <a:rPr lang="en-US" sz="1200" b="1">
                <a:solidFill>
                  <a:srgbClr val="7BD88F"/>
                </a:solidFill>
                <a:latin typeface="Calibri"/>
              </a:rPr>
              <a:t>What to do about it</a:t>
            </a:r>
          </a:p>
          <a:p>
            <a:endParaRPr lang="en-US" sz="500"/>
          </a:p>
          <a:p>
            <a:r>
              <a:rPr lang="en-US" sz="1100">
                <a:solidFill>
                  <a:srgbClr val="E8EDF6"/>
                </a:solidFill>
                <a:latin typeface="Calibri"/>
              </a:rPr>
              <a:t>Give the transactor more CPU</a:t>
            </a:r>
          </a:p>
          <a:p>
            <a:r>
              <a:rPr lang="en-US" sz="1100">
                <a:solidFill>
                  <a:srgbClr val="E8EDF6"/>
                </a:solidFill>
                <a:latin typeface="Calibri"/>
              </a:rPr>
              <a:t>Raise memory-index-threshold so jobs start earlier</a:t>
            </a:r>
          </a:p>
          <a:p>
            <a:r>
              <a:rPr lang="en-US" sz="1100">
                <a:solidFill>
                  <a:srgbClr val="E8EDF6"/>
                </a:solidFill>
                <a:latin typeface="Calibri"/>
              </a:rPr>
              <a:t>Slow the writer down; pipeline instead of flooding</a:t>
            </a:r>
          </a:p>
          <a:p>
            <a:r>
              <a:rPr lang="en-US" sz="1100">
                <a:solidFill>
                  <a:srgbClr val="E8EDF6"/>
                </a:solidFill>
                <a:latin typeface="Calibri"/>
              </a:rPr>
              <a:t>Check storage write latency (StoragePutMsec)</a:t>
            </a:r>
          </a:p>
          <a:p>
            <a:r>
              <a:rPr lang="en-US" sz="1100">
                <a:solidFill>
                  <a:srgbClr val="E8EDF6"/>
                </a:solidFill>
                <a:latin typeface="Calibri"/>
              </a:rPr>
              <a:t>For bulk imports, expect it and plan for it</a:t>
            </a:r>
          </a:p>
        </p:txBody>
      </p:sp>
      <p:sp>
        <p:nvSpPr>
          <p:cNvPr id="6"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7"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Watch a transaction become bytes</a:t>
            </a:r>
          </a:p>
        </p:txBody>
      </p:sp>
      <p:sp>
        <p:nvSpPr>
          <p:cNvPr id="4" name="t"/>
          <p:cNvSpPr txBox="1"/>
          <p:nvPr/>
        </p:nvSpPr>
        <p:spPr>
          <a:xfrm>
            <a:off x="502920" y="971804"/>
            <a:ext cx="8138160" cy="178816"/>
          </a:xfrm>
          <a:prstGeom prst="rect">
            <a:avLst/>
          </a:prstGeom>
        </p:spPr>
        <p:txBody>
          <a:bodyPr wrap="square" lIns="91440" tIns="45720" rIns="91440" bIns="45720">
            <a:noAutofit/>
          </a:bodyPr>
          <a:lstStyle/>
          <a:p>
            <a:r>
              <a:rPr lang="en-US" sz="1100">
                <a:solidFill>
                  <a:srgbClr val="8FA0B8"/>
                </a:solidFill>
                <a:latin typeface="Calibri"/>
              </a:rPr>
              <a:t>Terminal 1 — the transactor is already running against Postgres.</a:t>
            </a:r>
          </a:p>
        </p:txBody>
      </p:sp>
      <p:sp>
        <p:nvSpPr>
          <p:cNvPr id="5" name="t"/>
          <p:cNvSpPr txBox="1"/>
          <p:nvPr/>
        </p:nvSpPr>
        <p:spPr>
          <a:xfrm>
            <a:off x="502920" y="1269492"/>
            <a:ext cx="8138160" cy="1889548"/>
          </a:xfrm>
          <a:prstGeom prst="roundRect">
            <a:avLst/>
          </a:prstGeom>
          <a:solidFill>
            <a:srgbClr val="141B28"/>
          </a:solidFill>
        </p:spPr>
        <p:txBody>
          <a:bodyPr wrap="square" lIns="91440" tIns="45720" rIns="91440" bIns="45720">
            <a:noAutofit/>
          </a:bodyPr>
          <a:lstStyle/>
          <a:p>
            <a:r>
              <a:rPr lang="en-US" sz="980">
                <a:solidFill>
                  <a:srgbClr val="7BD88F"/>
                </a:solidFill>
                <a:latin typeface="Courier New"/>
              </a:rPr>
              <a:t>-- terminal 2: before</a:t>
            </a:r>
          </a:p>
          <a:p>
            <a:r>
              <a:rPr lang="en-US" sz="980">
                <a:solidFill>
                  <a:srgbClr val="7BD88F"/>
                </a:solidFill>
                <a:latin typeface="Courier New"/>
              </a:rPr>
              <a:t>docker exec -it datomic-pg psql -U datomic -d datomic \</a:t>
            </a:r>
          </a:p>
          <a:p>
            <a:r>
              <a:rPr lang="en-US" sz="980">
                <a:solidFill>
                  <a:srgbClr val="7BD88F"/>
                </a:solidFill>
                <a:latin typeface="Courier New"/>
              </a:rPr>
              <a:t>  -c "select count(*) from datomic_kvs;"</a:t>
            </a:r>
          </a:p>
          <a:p>
            <a:endParaRPr lang="en-US" sz="980"/>
          </a:p>
          <a:p>
            <a:r>
              <a:rPr lang="en-US" sz="980">
                <a:solidFill>
                  <a:srgbClr val="7BD88F"/>
                </a:solidFill>
                <a:latin typeface="Courier New"/>
              </a:rPr>
              <a:t>;; terminal 3, at the REPL</a:t>
            </a:r>
          </a:p>
          <a:p>
            <a:r>
              <a:rPr lang="en-US" sz="980">
                <a:solidFill>
                  <a:srgbClr val="7BD88F"/>
                </a:solidFill>
                <a:latin typeface="Courier New"/>
              </a:rPr>
              <a:t>(def q (d/tx-report-queue conn))</a:t>
            </a:r>
          </a:p>
          <a:p>
            <a:r>
              <a:rPr lang="en-US" sz="980">
                <a:solidFill>
                  <a:srgbClr val="7BD88F"/>
                </a:solidFill>
                <a:latin typeface="Courier New"/>
              </a:rPr>
              <a:t>@(d/transact conn [{:db/ident :inventory/sku</a:t>
            </a:r>
          </a:p>
          <a:p>
            <a:r>
              <a:rPr lang="en-US" sz="980">
                <a:solidFill>
                  <a:srgbClr val="7BD88F"/>
                </a:solidFill>
                <a:latin typeface="Courier New"/>
              </a:rPr>
              <a:t>                    :db/valueType :db.type/string</a:t>
            </a:r>
          </a:p>
          <a:p>
            <a:r>
              <a:rPr lang="en-US" sz="980">
                <a:solidFill>
                  <a:srgbClr val="7BD88F"/>
                </a:solidFill>
                <a:latin typeface="Courier New"/>
              </a:rPr>
              <a:t>                    :db/cardinality :db.cardinality/one}])</a:t>
            </a:r>
          </a:p>
          <a:p>
            <a:r>
              <a:rPr lang="en-US" sz="980">
                <a:solidFill>
                  <a:srgbClr val="7BD88F"/>
                </a:solidFill>
                <a:latin typeface="Courier New"/>
              </a:rPr>
              <a:t>(:tx-data (.poll q))     ;; the datoms that just landed</a:t>
            </a:r>
          </a:p>
          <a:p>
            <a:r>
              <a:rPr lang="en-US" sz="980">
                <a:solidFill>
                  <a:srgbClr val="7BD88F"/>
                </a:solidFill>
                <a:latin typeface="Courier New"/>
              </a:rPr>
              <a:t>(d/basis-t (d/db conn))  ;; the t you are now reading at</a:t>
            </a:r>
          </a:p>
        </p:txBody>
      </p:sp>
      <p:sp>
        <p:nvSpPr>
          <p:cNvPr id="6" name="t"/>
          <p:cNvSpPr txBox="1"/>
          <p:nvPr/>
        </p:nvSpPr>
        <p:spPr>
          <a:xfrm>
            <a:off x="502920" y="3323632"/>
            <a:ext cx="8138160" cy="178816"/>
          </a:xfrm>
          <a:prstGeom prst="rect">
            <a:avLst/>
          </a:prstGeom>
        </p:spPr>
        <p:txBody>
          <a:bodyPr wrap="square" lIns="91440" tIns="45720" rIns="91440" bIns="45720">
            <a:noAutofit/>
          </a:bodyPr>
          <a:lstStyle/>
          <a:p>
            <a:r>
              <a:rPr lang="en-US" sz="1100">
                <a:solidFill>
                  <a:srgbClr val="E8EDF6"/>
                </a:solidFill>
                <a:latin typeface="Calibri"/>
              </a:rPr>
              <a:t>? Re-run the count in Postgres. Which rows appeared — one per datom, or one per transaction?</a:t>
            </a:r>
          </a:p>
        </p:txBody>
      </p:sp>
      <p:sp>
        <p:nvSpPr>
          <p:cNvPr id="7" name="t"/>
          <p:cNvSpPr txBox="1"/>
          <p:nvPr/>
        </p:nvSpPr>
        <p:spPr>
          <a:xfrm>
            <a:off x="502920" y="3502448"/>
            <a:ext cx="8138160" cy="178816"/>
          </a:xfrm>
          <a:prstGeom prst="rect">
            <a:avLst/>
          </a:prstGeom>
        </p:spPr>
        <p:txBody>
          <a:bodyPr wrap="square" lIns="91440" tIns="45720" rIns="91440" bIns="45720">
            <a:noAutofit/>
          </a:bodyPr>
          <a:lstStyle/>
          <a:p>
            <a:r>
              <a:rPr lang="en-US" sz="1100">
                <a:solidFill>
                  <a:srgbClr val="E8EDF6"/>
                </a:solidFill>
                <a:latin typeface="Calibri"/>
              </a:rPr>
              <a:t>? Now transact 10,000 datoms and watch the count again.</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Force an index job, then collect the garbage</a:t>
            </a:r>
          </a:p>
        </p:txBody>
      </p:sp>
      <p:sp>
        <p:nvSpPr>
          <p:cNvPr id="4" name="t"/>
          <p:cNvSpPr txBox="1"/>
          <p:nvPr/>
        </p:nvSpPr>
        <p:spPr>
          <a:xfrm>
            <a:off x="502920" y="971804"/>
            <a:ext cx="8138160" cy="1600200"/>
          </a:xfrm>
          <a:prstGeom prst="roundRect">
            <a:avLst/>
          </a:prstGeom>
          <a:solidFill>
            <a:srgbClr val="141B28"/>
          </a:solidFill>
        </p:spPr>
        <p:txBody>
          <a:bodyPr wrap="square" lIns="91440" tIns="45720" rIns="91440" bIns="45720">
            <a:noAutofit/>
          </a:bodyPr>
          <a:lstStyle/>
          <a:p>
            <a:r>
              <a:rPr lang="en-US" sz="1000">
                <a:solidFill>
                  <a:srgbClr val="7BD88F"/>
                </a:solidFill>
                <a:latin typeface="Courier New"/>
              </a:rPr>
              <a:t>;; how much novelty is sitting in memory right now?</a:t>
            </a:r>
          </a:p>
          <a:p>
            <a:r>
              <a:rPr lang="en-US" sz="1000">
                <a:solidFill>
                  <a:srgbClr val="7BD88F"/>
                </a:solidFill>
                <a:latin typeface="Courier New"/>
              </a:rPr>
              <a:t>(d/db-stats (d/db conn))</a:t>
            </a:r>
          </a:p>
          <a:p>
            <a:endParaRPr lang="en-US" sz="1000"/>
          </a:p>
          <a:p>
            <a:r>
              <a:rPr lang="en-US" sz="1000">
                <a:solidFill>
                  <a:srgbClr val="7BD88F"/>
                </a:solidFill>
                <a:latin typeface="Courier New"/>
              </a:rPr>
              <a:t>;; ask for an index job; it runs asynchronously</a:t>
            </a:r>
          </a:p>
          <a:p>
            <a:r>
              <a:rPr lang="en-US" sz="1000">
                <a:solidFill>
                  <a:srgbClr val="7BD88F"/>
                </a:solidFill>
                <a:latin typeface="Courier New"/>
              </a:rPr>
              <a:t>(d/request-index conn)</a:t>
            </a:r>
          </a:p>
          <a:p>
            <a:endParaRPr lang="en-US" sz="1000"/>
          </a:p>
          <a:p>
            <a:r>
              <a:rPr lang="en-US" sz="1000">
                <a:solidFill>
                  <a:srgbClr val="7BD88F"/>
                </a:solidFill>
                <a:latin typeface="Courier New"/>
              </a:rPr>
              <a:t>;; watch the transactor log for the job starting and finishing</a:t>
            </a:r>
          </a:p>
          <a:p>
            <a:r>
              <a:rPr lang="en-US" sz="1000">
                <a:solidFill>
                  <a:srgbClr val="7BD88F"/>
                </a:solidFill>
                <a:latin typeface="Courier New"/>
              </a:rPr>
              <a:t>;; then, much later in real life, reclaim superseded segments:</a:t>
            </a:r>
          </a:p>
          <a:p>
            <a:r>
              <a:rPr lang="en-US" sz="1000">
                <a:solidFill>
                  <a:srgbClr val="7BD88F"/>
                </a:solidFill>
                <a:latin typeface="Courier New"/>
              </a:rPr>
              <a:t>(d/gc-storage conn (java.util.Date.))</a:t>
            </a:r>
          </a:p>
        </p:txBody>
      </p:sp>
      <p:sp>
        <p:nvSpPr>
          <p:cNvPr id="5" name="t"/>
          <p:cNvSpPr txBox="1"/>
          <p:nvPr/>
        </p:nvSpPr>
        <p:spPr>
          <a:xfrm>
            <a:off x="502920" y="2736596"/>
            <a:ext cx="8138160" cy="178816"/>
          </a:xfrm>
          <a:prstGeom prst="rect">
            <a:avLst/>
          </a:prstGeom>
        </p:spPr>
        <p:txBody>
          <a:bodyPr wrap="square" lIns="91440" tIns="45720" rIns="91440" bIns="45720">
            <a:noAutofit/>
          </a:bodyPr>
          <a:lstStyle/>
          <a:p>
            <a:r>
              <a:rPr lang="en-US" sz="1100">
                <a:solidFill>
                  <a:srgbClr val="E8EDF6"/>
                </a:solidFill>
                <a:latin typeface="Calibri"/>
              </a:rPr>
              <a:t>▸ Count datomic_kvs rows before and after the index job — new segments are written, old ones are not deleted</a:t>
            </a:r>
          </a:p>
        </p:txBody>
      </p:sp>
      <p:sp>
        <p:nvSpPr>
          <p:cNvPr id="6" name="t"/>
          <p:cNvSpPr txBox="1"/>
          <p:nvPr/>
        </p:nvSpPr>
        <p:spPr>
          <a:xfrm>
            <a:off x="502920" y="2915412"/>
            <a:ext cx="8138160" cy="178816"/>
          </a:xfrm>
          <a:prstGeom prst="rect">
            <a:avLst/>
          </a:prstGeom>
        </p:spPr>
        <p:txBody>
          <a:bodyPr wrap="square" lIns="91440" tIns="45720" rIns="91440" bIns="45720">
            <a:noAutofit/>
          </a:bodyPr>
          <a:lstStyle/>
          <a:p>
            <a:r>
              <a:rPr lang="en-US" sz="1100">
                <a:solidFill>
                  <a:srgbClr val="E8EDF6"/>
                </a:solidFill>
                <a:latin typeface="Calibri"/>
              </a:rPr>
              <a:t>▸ Count again after gc-storage — now they are</a:t>
            </a:r>
          </a:p>
        </p:txBody>
      </p:sp>
      <p:sp>
        <p:nvSpPr>
          <p:cNvPr id="7" name="t"/>
          <p:cNvSpPr txBox="1"/>
          <p:nvPr/>
        </p:nvSpPr>
        <p:spPr>
          <a:xfrm>
            <a:off x="502920" y="3094228"/>
            <a:ext cx="8138160" cy="178816"/>
          </a:xfrm>
          <a:prstGeom prst="rect">
            <a:avLst/>
          </a:prstGeom>
        </p:spPr>
        <p:txBody>
          <a:bodyPr wrap="square" lIns="91440" tIns="45720" rIns="91440" bIns="45720">
            <a:noAutofit/>
          </a:bodyPr>
          <a:lstStyle/>
          <a:p>
            <a:r>
              <a:rPr lang="en-US" sz="1100">
                <a:solidFill>
                  <a:srgbClr val="FFC66D"/>
                </a:solidFill>
                <a:latin typeface="Calibri"/>
              </a:rPr>
              <a:t>▸ gc-storage is not a routine job. Weekly at most, and never in the middle of a busy import.</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Timeouts do not mean failure</a:t>
            </a:r>
          </a:p>
        </p:txBody>
      </p:sp>
      <p:sp>
        <p:nvSpPr>
          <p:cNvPr id="3" name="t"/>
          <p:cNvSpPr txBox="1"/>
          <p:nvPr/>
        </p:nvSpPr>
        <p:spPr>
          <a:xfrm>
            <a:off x="502920" y="766064"/>
            <a:ext cx="8138160" cy="307848"/>
          </a:xfrm>
          <a:prstGeom prst="roundRect">
            <a:avLst/>
          </a:prstGeom>
          <a:solidFill>
            <a:srgbClr val="141B28"/>
          </a:solidFill>
        </p:spPr>
        <p:txBody>
          <a:bodyPr wrap="square" lIns="91440" tIns="45720" rIns="91440" bIns="45720">
            <a:noAutofit/>
          </a:bodyPr>
          <a:lstStyle/>
          <a:p>
            <a:r>
              <a:rPr lang="en-US" sz="1050">
                <a:solidFill>
                  <a:srgbClr val="FFC66D"/>
                </a:solidFill>
                <a:latin typeface="Courier New"/>
              </a:rPr>
              <a:t>-Ddatomic.txTimeoutMsec=10000   ;; peer-side default</a:t>
            </a:r>
          </a:p>
        </p:txBody>
      </p:sp>
      <p:sp>
        <p:nvSpPr>
          <p:cNvPr id="4" name="t"/>
          <p:cNvSpPr txBox="1"/>
          <p:nvPr/>
        </p:nvSpPr>
        <p:spPr>
          <a:xfrm>
            <a:off x="502920" y="1238504"/>
            <a:ext cx="8138160" cy="186944"/>
          </a:xfrm>
          <a:prstGeom prst="rect">
            <a:avLst/>
          </a:prstGeom>
        </p:spPr>
        <p:txBody>
          <a:bodyPr wrap="square" lIns="91440" tIns="45720" rIns="91440" bIns="45720">
            <a:noAutofit/>
          </a:bodyPr>
          <a:lstStyle/>
          <a:p>
            <a:r>
              <a:rPr lang="en-US" sz="1150">
                <a:solidFill>
                  <a:srgbClr val="F28FAD"/>
                </a:solidFill>
                <a:latin typeface="Calibri"/>
              </a:rPr>
              <a:t>▸ When a transact times out, the peer does not know whether it succeeded</a:t>
            </a:r>
          </a:p>
        </p:txBody>
      </p:sp>
      <p:sp>
        <p:nvSpPr>
          <p:cNvPr id="5" name="t"/>
          <p:cNvSpPr txBox="1"/>
          <p:nvPr/>
        </p:nvSpPr>
        <p:spPr>
          <a:xfrm>
            <a:off x="502920" y="1425448"/>
            <a:ext cx="8138160" cy="186944"/>
          </a:xfrm>
          <a:prstGeom prst="rect">
            <a:avLst/>
          </a:prstGeom>
        </p:spPr>
        <p:txBody>
          <a:bodyPr wrap="square" lIns="91440" tIns="45720" rIns="91440" bIns="45720">
            <a:noAutofit/>
          </a:bodyPr>
          <a:lstStyle/>
          <a:p>
            <a:r>
              <a:rPr lang="en-US" sz="1150">
                <a:solidFill>
                  <a:srgbClr val="E8EDF6"/>
                </a:solidFill>
                <a:latin typeface="Calibri"/>
              </a:rPr>
              <a:t>▸ Datomic does not retry for you — retry policy is application policy</a:t>
            </a:r>
          </a:p>
        </p:txBody>
      </p:sp>
      <p:sp>
        <p:nvSpPr>
          <p:cNvPr id="6" name="t"/>
          <p:cNvSpPr txBox="1"/>
          <p:nvPr/>
        </p:nvSpPr>
        <p:spPr>
          <a:xfrm>
            <a:off x="502920" y="1612392"/>
            <a:ext cx="8138160" cy="186944"/>
          </a:xfrm>
          <a:prstGeom prst="rect">
            <a:avLst/>
          </a:prstGeom>
        </p:spPr>
        <p:txBody>
          <a:bodyPr wrap="square" lIns="91440" tIns="45720" rIns="91440" bIns="45720">
            <a:noAutofit/>
          </a:bodyPr>
          <a:lstStyle/>
          <a:p>
            <a:r>
              <a:rPr lang="en-US" sz="1150">
                <a:solidFill>
                  <a:srgbClr val="E8EDF6"/>
                </a:solidFill>
                <a:latin typeface="Calibri"/>
              </a:rPr>
              <a:t>▸ To find out what happened, read the log: d/tx-range from your last known t and look for your transaction</a:t>
            </a:r>
          </a:p>
        </p:txBody>
      </p:sp>
      <p:sp>
        <p:nvSpPr>
          <p:cNvPr id="7" name="t"/>
          <p:cNvSpPr txBox="1"/>
          <p:nvPr/>
        </p:nvSpPr>
        <p:spPr>
          <a:xfrm>
            <a:off x="502920" y="1799336"/>
            <a:ext cx="8138160" cy="373888"/>
          </a:xfrm>
          <a:prstGeom prst="rect">
            <a:avLst/>
          </a:prstGeom>
        </p:spPr>
        <p:txBody>
          <a:bodyPr wrap="square" lIns="91440" tIns="45720" rIns="91440" bIns="45720">
            <a:noAutofit/>
          </a:bodyPr>
          <a:lstStyle/>
          <a:p>
            <a:r>
              <a:rPr lang="en-US" sz="1150">
                <a:solidFill>
                  <a:srgbClr val="7BD88F"/>
                </a:solidFill>
                <a:latin typeface="Calibri"/>
              </a:rPr>
              <a:t>▸ This is why idempotent transactions matter: :db/cas, :db/unique identities, and a client-supplied tx id make a blind retry safe</a:t>
            </a:r>
          </a:p>
        </p:txBody>
      </p:sp>
      <p:sp>
        <p:nvSpPr>
          <p:cNvPr id="8" name="t"/>
          <p:cNvSpPr txBox="1"/>
          <p:nvPr/>
        </p:nvSpPr>
        <p:spPr>
          <a:xfrm>
            <a:off x="502920" y="2292096"/>
            <a:ext cx="45720" cy="270256"/>
          </a:xfrm>
          <a:prstGeom prst="rect">
            <a:avLst/>
          </a:prstGeom>
          <a:solidFill>
            <a:srgbClr val="7BD88F"/>
          </a:solidFill>
        </p:spPr>
        <p:txBody>
          <a:bodyPr wrap="square" lIns="91440" tIns="45720" rIns="91440" bIns="45720">
            <a:noAutofit/>
          </a:bodyPr>
          <a:lstStyle/>
        </p:txBody>
      </p:sp>
      <p:sp>
        <p:nvSpPr>
          <p:cNvPr id="9" name="t"/>
          <p:cNvSpPr txBox="1"/>
          <p:nvPr/>
        </p:nvSpPr>
        <p:spPr>
          <a:xfrm>
            <a:off x="594360" y="2292096"/>
            <a:ext cx="8046720" cy="270256"/>
          </a:xfrm>
          <a:prstGeom prst="rect">
            <a:avLst/>
          </a:prstGeom>
        </p:spPr>
        <p:txBody>
          <a:bodyPr wrap="square" lIns="91440" tIns="45720" rIns="91440" bIns="45720">
            <a:noAutofit/>
          </a:bodyPr>
          <a:lstStyle/>
          <a:p>
            <a:r>
              <a:rPr lang="en-US" sz="1100">
                <a:solidFill>
                  <a:srgbClr val="E8EDF6"/>
                </a:solidFill>
                <a:latin typeface="Calibri"/>
              </a:rPr>
              <a:t>★  Design your writes so that "did it land?" is answerable from the data, not from the return value.</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Excision — the one true delete</a:t>
            </a:r>
          </a:p>
        </p:txBody>
      </p:sp>
      <p:sp>
        <p:nvSpPr>
          <p:cNvPr id="3" name="t"/>
          <p:cNvSpPr txBox="1"/>
          <p:nvPr/>
        </p:nvSpPr>
        <p:spPr>
          <a:xfrm>
            <a:off x="502920" y="766064"/>
            <a:ext cx="8138160" cy="373888"/>
          </a:xfrm>
          <a:prstGeom prst="rect">
            <a:avLst/>
          </a:prstGeom>
        </p:spPr>
        <p:txBody>
          <a:bodyPr wrap="square" lIns="91440" tIns="45720" rIns="91440" bIns="45720">
            <a:noAutofit/>
          </a:bodyPr>
          <a:lstStyle/>
          <a:p>
            <a:r>
              <a:rPr lang="en-US" sz="1150">
                <a:solidFill>
                  <a:srgbClr val="E8EDF6"/>
                </a:solidFill>
                <a:latin typeface="Calibri"/>
              </a:rPr>
              <a:t>▸ Everything else in Datomic accumulates. Excision is the exception, and it exists for legal erasure, not for cleanup</a:t>
            </a:r>
          </a:p>
        </p:txBody>
      </p:sp>
      <p:sp>
        <p:nvSpPr>
          <p:cNvPr id="4" name="t"/>
          <p:cNvSpPr txBox="1"/>
          <p:nvPr/>
        </p:nvSpPr>
        <p:spPr>
          <a:xfrm>
            <a:off x="502920" y="1139952"/>
            <a:ext cx="8138160" cy="186944"/>
          </a:xfrm>
          <a:prstGeom prst="rect">
            <a:avLst/>
          </a:prstGeom>
        </p:spPr>
        <p:txBody>
          <a:bodyPr wrap="square" lIns="91440" tIns="45720" rIns="91440" bIns="45720">
            <a:noAutofit/>
          </a:bodyPr>
          <a:lstStyle/>
          <a:p>
            <a:r>
              <a:rPr lang="en-US" sz="1150">
                <a:solidFill>
                  <a:srgbClr val="FFC66D"/>
                </a:solidFill>
                <a:latin typeface="Calibri"/>
              </a:rPr>
              <a:t>▸ Not transactional: excision happens during the first index job after the excision transaction</a:t>
            </a:r>
          </a:p>
        </p:txBody>
      </p:sp>
      <p:sp>
        <p:nvSpPr>
          <p:cNvPr id="5" name="t"/>
          <p:cNvSpPr txBox="1"/>
          <p:nvPr/>
        </p:nvSpPr>
        <p:spPr>
          <a:xfrm>
            <a:off x="502920" y="1326896"/>
            <a:ext cx="8138160" cy="186944"/>
          </a:xfrm>
          <a:prstGeom prst="rect">
            <a:avLst/>
          </a:prstGeom>
        </p:spPr>
        <p:txBody>
          <a:bodyPr wrap="square" lIns="91440" tIns="45720" rIns="91440" bIns="45720">
            <a:noAutofit/>
          </a:bodyPr>
          <a:lstStyle/>
          <a:p>
            <a:r>
              <a:rPr lang="en-US" sz="1150">
                <a:solidFill>
                  <a:srgbClr val="E8EDF6"/>
                </a:solidFill>
                <a:latin typeface="Calibri"/>
              </a:rPr>
              <a:t>▸ Cannot excise schema, bootstrap or fulltext datoms</a:t>
            </a:r>
          </a:p>
        </p:txBody>
      </p:sp>
      <p:sp>
        <p:nvSpPr>
          <p:cNvPr id="6" name="t"/>
          <p:cNvSpPr txBox="1"/>
          <p:nvPr/>
        </p:nvSpPr>
        <p:spPr>
          <a:xfrm>
            <a:off x="502920" y="1513840"/>
            <a:ext cx="8138160" cy="186944"/>
          </a:xfrm>
          <a:prstGeom prst="rect">
            <a:avLst/>
          </a:prstGeom>
        </p:spPr>
        <p:txBody>
          <a:bodyPr wrap="square" lIns="91440" tIns="45720" rIns="91440" bIns="45720">
            <a:noAutofit/>
          </a:bodyPr>
          <a:lstStyle/>
          <a:p>
            <a:r>
              <a:rPr lang="en-US" sz="1150">
                <a:solidFill>
                  <a:srgbClr val="E8EDF6"/>
                </a:solidFill>
                <a:latin typeface="Calibri"/>
              </a:rPr>
              <a:t>▸ Space is only reclaimed later, by gc-storage</a:t>
            </a:r>
          </a:p>
        </p:txBody>
      </p:sp>
      <p:sp>
        <p:nvSpPr>
          <p:cNvPr id="7" name="t"/>
          <p:cNvSpPr txBox="1"/>
          <p:nvPr/>
        </p:nvSpPr>
        <p:spPr>
          <a:xfrm>
            <a:off x="502920" y="1700784"/>
            <a:ext cx="8138160" cy="186944"/>
          </a:xfrm>
          <a:prstGeom prst="rect">
            <a:avLst/>
          </a:prstGeom>
        </p:spPr>
        <p:txBody>
          <a:bodyPr wrap="square" lIns="91440" tIns="45720" rIns="91440" bIns="45720">
            <a:noAutofit/>
          </a:bodyPr>
          <a:lstStyle/>
          <a:p>
            <a:r>
              <a:rPr lang="en-US" sz="1150">
                <a:solidFill>
                  <a:srgbClr val="F28FAD"/>
                </a:solidFill>
                <a:latin typeface="Calibri"/>
              </a:rPr>
              <a:t>▸ Large excisions put a heavy load on indexing</a:t>
            </a:r>
          </a:p>
        </p:txBody>
      </p:sp>
      <p:sp>
        <p:nvSpPr>
          <p:cNvPr id="8" name="t"/>
          <p:cNvSpPr txBox="1"/>
          <p:nvPr/>
        </p:nvSpPr>
        <p:spPr>
          <a:xfrm>
            <a:off x="502920" y="2052320"/>
            <a:ext cx="45720" cy="449072"/>
          </a:xfrm>
          <a:prstGeom prst="rect">
            <a:avLst/>
          </a:prstGeom>
          <a:solidFill>
            <a:srgbClr val="F28FAD"/>
          </a:solidFill>
        </p:spPr>
        <p:txBody>
          <a:bodyPr wrap="square" lIns="91440" tIns="45720" rIns="91440" bIns="45720">
            <a:noAutofit/>
          </a:bodyPr>
          <a:lstStyle/>
        </p:txBody>
      </p:sp>
      <p:sp>
        <p:nvSpPr>
          <p:cNvPr id="9" name="t"/>
          <p:cNvSpPr txBox="1"/>
          <p:nvPr/>
        </p:nvSpPr>
        <p:spPr>
          <a:xfrm>
            <a:off x="594360" y="2052320"/>
            <a:ext cx="8046720" cy="449072"/>
          </a:xfrm>
          <a:prstGeom prst="rect">
            <a:avLst/>
          </a:prstGeom>
        </p:spPr>
        <p:txBody>
          <a:bodyPr wrap="square" lIns="91440" tIns="45720" rIns="91440" bIns="45720">
            <a:noAutofit/>
          </a:bodyPr>
          <a:lstStyle/>
          <a:p>
            <a:r>
              <a:rPr lang="en-US" sz="1100">
                <a:solidFill>
                  <a:srgbClr val="E8EDF6"/>
                </a:solidFill>
                <a:latin typeface="Calibri"/>
              </a:rPr>
              <a:t>⚠  If your answer to a GDPR request is "we will excise it", make sure you have measured an index job on production-sized data first.</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Write-path failure modes</a:t>
            </a:r>
          </a:p>
        </p:txBody>
      </p:sp>
      <p:sp>
        <p:nvSpPr>
          <p:cNvPr id="3" name="t"/>
          <p:cNvSpPr txBox="1"/>
          <p:nvPr/>
        </p:nvSpPr>
        <p:spPr>
          <a:xfrm>
            <a:off x="502920" y="766064"/>
            <a:ext cx="2766974" cy="231140"/>
          </a:xfrm>
          <a:prstGeom prst="rect">
            <a:avLst/>
          </a:prstGeom>
        </p:spPr>
        <p:txBody>
          <a:bodyPr wrap="square" lIns="91440" tIns="45720" rIns="91440" bIns="45720">
            <a:noAutofit/>
          </a:bodyPr>
          <a:lstStyle/>
          <a:p>
            <a:r>
              <a:rPr lang="en-US" sz="1000" b="1">
                <a:solidFill>
                  <a:srgbClr val="F28FAD"/>
                </a:solidFill>
                <a:latin typeface="Calibri"/>
              </a:rPr>
              <a:t>Symptom</a:t>
            </a:r>
          </a:p>
        </p:txBody>
      </p:sp>
      <p:sp>
        <p:nvSpPr>
          <p:cNvPr id="4" name="t"/>
          <p:cNvSpPr txBox="1"/>
          <p:nvPr/>
        </p:nvSpPr>
        <p:spPr>
          <a:xfrm>
            <a:off x="3269894" y="766064"/>
            <a:ext cx="2766974" cy="231140"/>
          </a:xfrm>
          <a:prstGeom prst="rect">
            <a:avLst/>
          </a:prstGeom>
        </p:spPr>
        <p:txBody>
          <a:bodyPr wrap="square" lIns="91440" tIns="45720" rIns="91440" bIns="45720">
            <a:noAutofit/>
          </a:bodyPr>
          <a:lstStyle/>
          <a:p>
            <a:r>
              <a:rPr lang="en-US" sz="1000" b="1">
                <a:solidFill>
                  <a:srgbClr val="F28FAD"/>
                </a:solidFill>
                <a:latin typeface="Calibri"/>
              </a:rPr>
              <a:t>Likely cause</a:t>
            </a:r>
          </a:p>
        </p:txBody>
      </p:sp>
      <p:sp>
        <p:nvSpPr>
          <p:cNvPr id="5" name="t"/>
          <p:cNvSpPr txBox="1"/>
          <p:nvPr/>
        </p:nvSpPr>
        <p:spPr>
          <a:xfrm>
            <a:off x="6036868" y="766064"/>
            <a:ext cx="2604211" cy="231140"/>
          </a:xfrm>
          <a:prstGeom prst="rect">
            <a:avLst/>
          </a:prstGeom>
        </p:spPr>
        <p:txBody>
          <a:bodyPr wrap="square" lIns="91440" tIns="45720" rIns="91440" bIns="45720">
            <a:noAutofit/>
          </a:bodyPr>
          <a:lstStyle/>
          <a:p>
            <a:r>
              <a:rPr lang="en-US" sz="1000" b="1">
                <a:solidFill>
                  <a:srgbClr val="F28FAD"/>
                </a:solidFill>
                <a:latin typeface="Calibri"/>
              </a:rPr>
              <a:t>First move</a:t>
            </a:r>
          </a:p>
        </p:txBody>
      </p:sp>
      <p:sp>
        <p:nvSpPr>
          <p:cNvPr id="6" name="t"/>
          <p:cNvSpPr txBox="1"/>
          <p:nvPr/>
        </p:nvSpPr>
        <p:spPr>
          <a:xfrm>
            <a:off x="457200" y="997204"/>
            <a:ext cx="8229600" cy="231140"/>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997204"/>
            <a:ext cx="2766974" cy="231140"/>
          </a:xfrm>
          <a:prstGeom prst="rect">
            <a:avLst/>
          </a:prstGeom>
        </p:spPr>
        <p:txBody>
          <a:bodyPr wrap="square" lIns="91440" tIns="45720" rIns="91440" bIns="45720">
            <a:noAutofit/>
          </a:bodyPr>
          <a:lstStyle/>
          <a:p>
            <a:r>
              <a:rPr lang="en-US" sz="1000" b="1">
                <a:solidFill>
                  <a:srgbClr val="E8EDF6"/>
                </a:solidFill>
                <a:latin typeface="Calibri"/>
              </a:rPr>
              <a:t>Transaction latency climbing steadily</a:t>
            </a:r>
          </a:p>
        </p:txBody>
      </p:sp>
      <p:sp>
        <p:nvSpPr>
          <p:cNvPr id="8" name="t"/>
          <p:cNvSpPr txBox="1"/>
          <p:nvPr/>
        </p:nvSpPr>
        <p:spPr>
          <a:xfrm>
            <a:off x="3269894" y="997204"/>
            <a:ext cx="2766974" cy="231140"/>
          </a:xfrm>
          <a:prstGeom prst="rect">
            <a:avLst/>
          </a:prstGeom>
        </p:spPr>
        <p:txBody>
          <a:bodyPr wrap="square" lIns="91440" tIns="45720" rIns="91440" bIns="45720">
            <a:noAutofit/>
          </a:bodyPr>
          <a:lstStyle/>
          <a:p>
            <a:r>
              <a:rPr lang="en-US" sz="1000">
                <a:solidFill>
                  <a:srgbClr val="8FA0B8"/>
                </a:solidFill>
                <a:latin typeface="Calibri"/>
              </a:rPr>
              <a:t>index job losing the race</a:t>
            </a:r>
          </a:p>
        </p:txBody>
      </p:sp>
      <p:sp>
        <p:nvSpPr>
          <p:cNvPr id="9" name="t"/>
          <p:cNvSpPr txBox="1"/>
          <p:nvPr/>
        </p:nvSpPr>
        <p:spPr>
          <a:xfrm>
            <a:off x="6036868" y="997204"/>
            <a:ext cx="2604211" cy="231140"/>
          </a:xfrm>
          <a:prstGeom prst="rect">
            <a:avLst/>
          </a:prstGeom>
        </p:spPr>
        <p:txBody>
          <a:bodyPr wrap="square" lIns="91440" tIns="45720" rIns="91440" bIns="45720">
            <a:noAutofit/>
          </a:bodyPr>
          <a:lstStyle/>
          <a:p>
            <a:r>
              <a:rPr lang="en-US" sz="1000">
                <a:solidFill>
                  <a:srgbClr val="8FA0B8"/>
                </a:solidFill>
                <a:latin typeface="Calibri"/>
              </a:rPr>
              <a:t>check MemoryIndexMB, AlarmBackPressure</a:t>
            </a:r>
          </a:p>
        </p:txBody>
      </p:sp>
      <p:sp>
        <p:nvSpPr>
          <p:cNvPr id="10" name="t"/>
          <p:cNvSpPr txBox="1"/>
          <p:nvPr/>
        </p:nvSpPr>
        <p:spPr>
          <a:xfrm>
            <a:off x="502920" y="1228344"/>
            <a:ext cx="2766974" cy="393700"/>
          </a:xfrm>
          <a:prstGeom prst="rect">
            <a:avLst/>
          </a:prstGeom>
        </p:spPr>
        <p:txBody>
          <a:bodyPr wrap="square" lIns="91440" tIns="45720" rIns="91440" bIns="45720">
            <a:noAutofit/>
          </a:bodyPr>
          <a:lstStyle/>
          <a:p>
            <a:r>
              <a:rPr lang="en-US" sz="1000" b="1">
                <a:solidFill>
                  <a:srgbClr val="E8EDF6"/>
                </a:solidFill>
                <a:latin typeface="Calibri"/>
              </a:rPr>
              <a:t>"Transactor not available"</a:t>
            </a:r>
          </a:p>
        </p:txBody>
      </p:sp>
      <p:sp>
        <p:nvSpPr>
          <p:cNvPr id="11" name="t"/>
          <p:cNvSpPr txBox="1"/>
          <p:nvPr/>
        </p:nvSpPr>
        <p:spPr>
          <a:xfrm>
            <a:off x="3269894" y="1228344"/>
            <a:ext cx="2766974" cy="393700"/>
          </a:xfrm>
          <a:prstGeom prst="rect">
            <a:avLst/>
          </a:prstGeom>
        </p:spPr>
        <p:txBody>
          <a:bodyPr wrap="square" lIns="91440" tIns="45720" rIns="91440" bIns="45720">
            <a:noAutofit/>
          </a:bodyPr>
          <a:lstStyle/>
          <a:p>
            <a:r>
              <a:rPr lang="en-US" sz="1000">
                <a:solidFill>
                  <a:srgbClr val="8FA0B8"/>
                </a:solidFill>
                <a:latin typeface="Calibri"/>
              </a:rPr>
              <a:t>transactor down, or peer cannot reach the host it read from storage</a:t>
            </a:r>
          </a:p>
        </p:txBody>
      </p:sp>
      <p:sp>
        <p:nvSpPr>
          <p:cNvPr id="12" name="t"/>
          <p:cNvSpPr txBox="1"/>
          <p:nvPr/>
        </p:nvSpPr>
        <p:spPr>
          <a:xfrm>
            <a:off x="6036868" y="1228344"/>
            <a:ext cx="2604211" cy="393700"/>
          </a:xfrm>
          <a:prstGeom prst="rect">
            <a:avLst/>
          </a:prstGeom>
        </p:spPr>
        <p:txBody>
          <a:bodyPr wrap="square" lIns="91440" tIns="45720" rIns="91440" bIns="45720">
            <a:noAutofit/>
          </a:bodyPr>
          <a:lstStyle/>
          <a:p>
            <a:r>
              <a:rPr lang="en-US" sz="1000">
                <a:solidFill>
                  <a:srgbClr val="8FA0B8"/>
                </a:solidFill>
                <a:latin typeface="Calibri"/>
              </a:rPr>
              <a:t>check alt-host, security groups, heartbeats</a:t>
            </a:r>
          </a:p>
        </p:txBody>
      </p:sp>
      <p:sp>
        <p:nvSpPr>
          <p:cNvPr id="13" name="t"/>
          <p:cNvSpPr txBox="1"/>
          <p:nvPr/>
        </p:nvSpPr>
        <p:spPr>
          <a:xfrm>
            <a:off x="457200" y="1622044"/>
            <a:ext cx="8229600" cy="393700"/>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622044"/>
            <a:ext cx="2766974" cy="393700"/>
          </a:xfrm>
          <a:prstGeom prst="rect">
            <a:avLst/>
          </a:prstGeom>
        </p:spPr>
        <p:txBody>
          <a:bodyPr wrap="square" lIns="91440" tIns="45720" rIns="91440" bIns="45720">
            <a:noAutofit/>
          </a:bodyPr>
          <a:lstStyle/>
          <a:p>
            <a:r>
              <a:rPr lang="en-US" sz="1000" b="1">
                <a:solidFill>
                  <a:srgbClr val="E8EDF6"/>
                </a:solidFill>
                <a:latin typeface="Calibri"/>
              </a:rPr>
              <a:t>Transactor OOM</a:t>
            </a:r>
          </a:p>
        </p:txBody>
      </p:sp>
      <p:sp>
        <p:nvSpPr>
          <p:cNvPr id="15" name="t"/>
          <p:cNvSpPr txBox="1"/>
          <p:nvPr/>
        </p:nvSpPr>
        <p:spPr>
          <a:xfrm>
            <a:off x="3269894" y="1622044"/>
            <a:ext cx="2766974" cy="393700"/>
          </a:xfrm>
          <a:prstGeom prst="rect">
            <a:avLst/>
          </a:prstGeom>
        </p:spPr>
        <p:txBody>
          <a:bodyPr wrap="square" lIns="91440" tIns="45720" rIns="91440" bIns="45720">
            <a:noAutofit/>
          </a:bodyPr>
          <a:lstStyle/>
          <a:p>
            <a:r>
              <a:rPr lang="en-US" sz="1000">
                <a:solidFill>
                  <a:srgbClr val="8FA0B8"/>
                </a:solidFill>
                <a:latin typeface="Calibri"/>
              </a:rPr>
              <a:t>memory index + object cache + tx functions over heap</a:t>
            </a:r>
          </a:p>
        </p:txBody>
      </p:sp>
      <p:sp>
        <p:nvSpPr>
          <p:cNvPr id="16" name="t"/>
          <p:cNvSpPr txBox="1"/>
          <p:nvPr/>
        </p:nvSpPr>
        <p:spPr>
          <a:xfrm>
            <a:off x="6036868" y="1622044"/>
            <a:ext cx="2604211" cy="393700"/>
          </a:xfrm>
          <a:prstGeom prst="rect">
            <a:avLst/>
          </a:prstGeom>
        </p:spPr>
        <p:txBody>
          <a:bodyPr wrap="square" lIns="91440" tIns="45720" rIns="91440" bIns="45720">
            <a:noAutofit/>
          </a:bodyPr>
          <a:lstStyle/>
          <a:p>
            <a:r>
              <a:rPr lang="en-US" sz="1000">
                <a:solidFill>
                  <a:srgbClr val="8FA0B8"/>
                </a:solidFill>
                <a:latin typeface="Calibri"/>
              </a:rPr>
              <a:t>re-check the memory sizing formula</a:t>
            </a:r>
          </a:p>
        </p:txBody>
      </p:sp>
      <p:sp>
        <p:nvSpPr>
          <p:cNvPr id="17" name="t"/>
          <p:cNvSpPr txBox="1"/>
          <p:nvPr/>
        </p:nvSpPr>
        <p:spPr>
          <a:xfrm>
            <a:off x="502920" y="2015744"/>
            <a:ext cx="2766974" cy="393700"/>
          </a:xfrm>
          <a:prstGeom prst="rect">
            <a:avLst/>
          </a:prstGeom>
        </p:spPr>
        <p:txBody>
          <a:bodyPr wrap="square" lIns="91440" tIns="45720" rIns="91440" bIns="45720">
            <a:noAutofit/>
          </a:bodyPr>
          <a:lstStyle/>
          <a:p>
            <a:r>
              <a:rPr lang="en-US" sz="1000" b="1">
                <a:solidFill>
                  <a:srgbClr val="E8EDF6"/>
                </a:solidFill>
                <a:latin typeface="Calibri"/>
              </a:rPr>
              <a:t>Peer OOM shortly after restart</a:t>
            </a:r>
          </a:p>
        </p:txBody>
      </p:sp>
      <p:sp>
        <p:nvSpPr>
          <p:cNvPr id="18" name="t"/>
          <p:cNvSpPr txBox="1"/>
          <p:nvPr/>
        </p:nvSpPr>
        <p:spPr>
          <a:xfrm>
            <a:off x="3269894" y="2015744"/>
            <a:ext cx="2766974" cy="393700"/>
          </a:xfrm>
          <a:prstGeom prst="rect">
            <a:avLst/>
          </a:prstGeom>
        </p:spPr>
        <p:txBody>
          <a:bodyPr wrap="square" lIns="91440" tIns="45720" rIns="91440" bIns="45720">
            <a:noAutofit/>
          </a:bodyPr>
          <a:lstStyle/>
          <a:p>
            <a:r>
              <a:rPr lang="en-US" sz="1000">
                <a:solidFill>
                  <a:srgbClr val="8FA0B8"/>
                </a:solidFill>
                <a:latin typeface="Calibri"/>
              </a:rPr>
              <a:t>rebuilding a large memory index from the log</a:t>
            </a:r>
          </a:p>
        </p:txBody>
      </p:sp>
      <p:sp>
        <p:nvSpPr>
          <p:cNvPr id="19" name="t"/>
          <p:cNvSpPr txBox="1"/>
          <p:nvPr/>
        </p:nvSpPr>
        <p:spPr>
          <a:xfrm>
            <a:off x="6036868" y="2015744"/>
            <a:ext cx="2604211" cy="393700"/>
          </a:xfrm>
          <a:prstGeom prst="rect">
            <a:avLst/>
          </a:prstGeom>
        </p:spPr>
        <p:txBody>
          <a:bodyPr wrap="square" lIns="91440" tIns="45720" rIns="91440" bIns="45720">
            <a:noAutofit/>
          </a:bodyPr>
          <a:lstStyle/>
          <a:p>
            <a:r>
              <a:rPr lang="en-US" sz="1000">
                <a:solidFill>
                  <a:srgbClr val="8FA0B8"/>
                </a:solidFill>
                <a:latin typeface="Calibri"/>
              </a:rPr>
              <a:t>lower memory-index-max, size peer heaps for it</a:t>
            </a:r>
          </a:p>
        </p:txBody>
      </p:sp>
      <p:sp>
        <p:nvSpPr>
          <p:cNvPr id="20" name="t"/>
          <p:cNvSpPr txBox="1"/>
          <p:nvPr/>
        </p:nvSpPr>
        <p:spPr>
          <a:xfrm>
            <a:off x="457200" y="2409444"/>
            <a:ext cx="8229600" cy="393700"/>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2409444"/>
            <a:ext cx="2766974" cy="393700"/>
          </a:xfrm>
          <a:prstGeom prst="rect">
            <a:avLst/>
          </a:prstGeom>
        </p:spPr>
        <p:txBody>
          <a:bodyPr wrap="square" lIns="91440" tIns="45720" rIns="91440" bIns="45720">
            <a:noAutofit/>
          </a:bodyPr>
          <a:lstStyle/>
          <a:p>
            <a:r>
              <a:rPr lang="en-US" sz="1000" b="1">
                <a:solidFill>
                  <a:srgbClr val="E8EDF6"/>
                </a:solidFill>
                <a:latin typeface="Calibri"/>
              </a:rPr>
              <a:t>StoragePutMsec spiking</a:t>
            </a:r>
          </a:p>
        </p:txBody>
      </p:sp>
      <p:sp>
        <p:nvSpPr>
          <p:cNvPr id="22" name="t"/>
          <p:cNvSpPr txBox="1"/>
          <p:nvPr/>
        </p:nvSpPr>
        <p:spPr>
          <a:xfrm>
            <a:off x="3269894" y="2409444"/>
            <a:ext cx="2766974" cy="393700"/>
          </a:xfrm>
          <a:prstGeom prst="rect">
            <a:avLst/>
          </a:prstGeom>
        </p:spPr>
        <p:txBody>
          <a:bodyPr wrap="square" lIns="91440" tIns="45720" rIns="91440" bIns="45720">
            <a:noAutofit/>
          </a:bodyPr>
          <a:lstStyle/>
          <a:p>
            <a:r>
              <a:rPr lang="en-US" sz="1000">
                <a:solidFill>
                  <a:srgbClr val="8FA0B8"/>
                </a:solidFill>
                <a:latin typeface="Calibri"/>
              </a:rPr>
              <a:t>storage is the bottleneck, not Datomic</a:t>
            </a:r>
          </a:p>
        </p:txBody>
      </p:sp>
      <p:sp>
        <p:nvSpPr>
          <p:cNvPr id="23" name="t"/>
          <p:cNvSpPr txBox="1"/>
          <p:nvPr/>
        </p:nvSpPr>
        <p:spPr>
          <a:xfrm>
            <a:off x="6036868" y="2409444"/>
            <a:ext cx="2604211" cy="393700"/>
          </a:xfrm>
          <a:prstGeom prst="rect">
            <a:avLst/>
          </a:prstGeom>
        </p:spPr>
        <p:txBody>
          <a:bodyPr wrap="square" lIns="91440" tIns="45720" rIns="91440" bIns="45720">
            <a:noAutofit/>
          </a:bodyPr>
          <a:lstStyle/>
          <a:p>
            <a:r>
              <a:rPr lang="en-US" sz="1000">
                <a:solidFill>
                  <a:srgbClr val="8FA0B8"/>
                </a:solidFill>
                <a:latin typeface="Calibri"/>
              </a:rPr>
              <a:t>look at Postgres/DynamoDB, not the transactor</a:t>
            </a:r>
          </a:p>
        </p:txBody>
      </p:sp>
      <p:sp>
        <p:nvSpPr>
          <p:cNvPr id="24" name="t"/>
          <p:cNvSpPr txBox="1"/>
          <p:nvPr/>
        </p:nvSpPr>
        <p:spPr>
          <a:xfrm>
            <a:off x="502920" y="2803144"/>
            <a:ext cx="2766974" cy="393700"/>
          </a:xfrm>
          <a:prstGeom prst="rect">
            <a:avLst/>
          </a:prstGeom>
        </p:spPr>
        <p:txBody>
          <a:bodyPr wrap="square" lIns="91440" tIns="45720" rIns="91440" bIns="45720">
            <a:noAutofit/>
          </a:bodyPr>
          <a:lstStyle/>
          <a:p>
            <a:r>
              <a:rPr lang="en-US" sz="1000" b="1">
                <a:solidFill>
                  <a:srgbClr val="E8EDF6"/>
                </a:solidFill>
                <a:latin typeface="Calibri"/>
              </a:rPr>
              <a:t>AlarmIndexingJobFailed</a:t>
            </a:r>
          </a:p>
        </p:txBody>
      </p:sp>
      <p:sp>
        <p:nvSpPr>
          <p:cNvPr id="25" name="t"/>
          <p:cNvSpPr txBox="1"/>
          <p:nvPr/>
        </p:nvSpPr>
        <p:spPr>
          <a:xfrm>
            <a:off x="3269894" y="2803144"/>
            <a:ext cx="2766974" cy="393700"/>
          </a:xfrm>
          <a:prstGeom prst="rect">
            <a:avLst/>
          </a:prstGeom>
        </p:spPr>
        <p:txBody>
          <a:bodyPr wrap="square" lIns="91440" tIns="45720" rIns="91440" bIns="45720">
            <a:noAutofit/>
          </a:bodyPr>
          <a:lstStyle/>
          <a:p>
            <a:r>
              <a:rPr lang="en-US" sz="1000">
                <a:solidFill>
                  <a:srgbClr val="8FA0B8"/>
                </a:solidFill>
                <a:latin typeface="Calibri"/>
              </a:rPr>
              <a:t>index job died — novelty keeps growing</a:t>
            </a:r>
          </a:p>
        </p:txBody>
      </p:sp>
      <p:sp>
        <p:nvSpPr>
          <p:cNvPr id="26" name="t"/>
          <p:cNvSpPr txBox="1"/>
          <p:nvPr/>
        </p:nvSpPr>
        <p:spPr>
          <a:xfrm>
            <a:off x="6036868" y="2803144"/>
            <a:ext cx="2604211" cy="393700"/>
          </a:xfrm>
          <a:prstGeom prst="rect">
            <a:avLst/>
          </a:prstGeom>
        </p:spPr>
        <p:txBody>
          <a:bodyPr wrap="square" lIns="91440" tIns="45720" rIns="91440" bIns="45720">
            <a:noAutofit/>
          </a:bodyPr>
          <a:lstStyle/>
          <a:p>
            <a:r>
              <a:rPr lang="en-US" sz="1000">
                <a:solidFill>
                  <a:srgbClr val="8FA0B8"/>
                </a:solidFill>
                <a:latin typeface="Calibri"/>
              </a:rPr>
              <a:t>read transactor logs immediately; this is urgent</a:t>
            </a:r>
          </a:p>
        </p:txBody>
      </p:sp>
      <p:sp>
        <p:nvSpPr>
          <p:cNvPr id="2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2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Session 2 — what to take away</a:t>
            </a:r>
          </a:p>
        </p:txBody>
      </p:sp>
      <p:sp>
        <p:nvSpPr>
          <p:cNvPr id="3" name="t"/>
          <p:cNvSpPr txBox="1"/>
          <p:nvPr/>
        </p:nvSpPr>
        <p:spPr>
          <a:xfrm>
            <a:off x="502920" y="766064"/>
            <a:ext cx="8138160" cy="203200"/>
          </a:xfrm>
          <a:prstGeom prst="rect">
            <a:avLst/>
          </a:prstGeom>
        </p:spPr>
        <p:txBody>
          <a:bodyPr wrap="square" lIns="91440" tIns="45720" rIns="91440" bIns="45720">
            <a:noAutofit/>
          </a:bodyPr>
          <a:lstStyle/>
          <a:p>
            <a:r>
              <a:rPr lang="en-US" sz="1250">
                <a:solidFill>
                  <a:srgbClr val="FFC66D"/>
                </a:solidFill>
                <a:latin typeface="Calibri"/>
              </a:rPr>
              <a:t>▸ One writer, serially, always — in Pro and in Cloud</a:t>
            </a:r>
          </a:p>
        </p:txBody>
      </p:sp>
      <p:sp>
        <p:nvSpPr>
          <p:cNvPr id="4" name="t"/>
          <p:cNvSpPr txBox="1"/>
          <p:nvPr/>
        </p:nvSpPr>
        <p:spPr>
          <a:xfrm>
            <a:off x="502920" y="969264"/>
            <a:ext cx="8138160" cy="203200"/>
          </a:xfrm>
          <a:prstGeom prst="rect">
            <a:avLst/>
          </a:prstGeom>
        </p:spPr>
        <p:txBody>
          <a:bodyPr wrap="square" lIns="91440" tIns="45720" rIns="91440" bIns="45720">
            <a:noAutofit/>
          </a:bodyPr>
          <a:lstStyle/>
          <a:p>
            <a:r>
              <a:rPr lang="en-US" sz="1250">
                <a:solidFill>
                  <a:srgbClr val="6FA8FF"/>
                </a:solidFill>
                <a:latin typeface="Calibri"/>
              </a:rPr>
              <a:t>▸ Durability is the log write, not the index</a:t>
            </a:r>
          </a:p>
        </p:txBody>
      </p:sp>
      <p:sp>
        <p:nvSpPr>
          <p:cNvPr id="5" name="t"/>
          <p:cNvSpPr txBox="1"/>
          <p:nvPr/>
        </p:nvSpPr>
        <p:spPr>
          <a:xfrm>
            <a:off x="502920" y="1172464"/>
            <a:ext cx="8138160" cy="203200"/>
          </a:xfrm>
          <a:prstGeom prst="rect">
            <a:avLst/>
          </a:prstGeom>
        </p:spPr>
        <p:txBody>
          <a:bodyPr wrap="square" lIns="91440" tIns="45720" rIns="91440" bIns="45720">
            <a:noAutofit/>
          </a:bodyPr>
          <a:lstStyle/>
          <a:p>
            <a:r>
              <a:rPr lang="en-US" sz="1250">
                <a:solidFill>
                  <a:srgbClr val="C09BFF"/>
                </a:solidFill>
                <a:latin typeface="Calibri"/>
              </a:rPr>
              <a:t>▸ The memory index lives in every process and is rebuilt on start</a:t>
            </a:r>
          </a:p>
        </p:txBody>
      </p:sp>
      <p:sp>
        <p:nvSpPr>
          <p:cNvPr id="6" name="t"/>
          <p:cNvSpPr txBox="1"/>
          <p:nvPr/>
        </p:nvSpPr>
        <p:spPr>
          <a:xfrm>
            <a:off x="502920" y="1375664"/>
            <a:ext cx="8138160" cy="203200"/>
          </a:xfrm>
          <a:prstGeom prst="rect">
            <a:avLst/>
          </a:prstGeom>
        </p:spPr>
        <p:txBody>
          <a:bodyPr wrap="square" lIns="91440" tIns="45720" rIns="91440" bIns="45720">
            <a:noAutofit/>
          </a:bodyPr>
          <a:lstStyle/>
          <a:p>
            <a:r>
              <a:rPr lang="en-US" sz="1250">
                <a:solidFill>
                  <a:srgbClr val="E8EDF6"/>
                </a:solidFill>
                <a:latin typeface="Calibri"/>
              </a:rPr>
              <a:t>▸ Threshold schedules an index job; max throttles your writes</a:t>
            </a:r>
          </a:p>
        </p:txBody>
      </p:sp>
      <p:sp>
        <p:nvSpPr>
          <p:cNvPr id="7" name="t"/>
          <p:cNvSpPr txBox="1"/>
          <p:nvPr/>
        </p:nvSpPr>
        <p:spPr>
          <a:xfrm>
            <a:off x="502920" y="1578864"/>
            <a:ext cx="8138160" cy="203200"/>
          </a:xfrm>
          <a:prstGeom prst="rect">
            <a:avLst/>
          </a:prstGeom>
        </p:spPr>
        <p:txBody>
          <a:bodyPr wrap="square" lIns="91440" tIns="45720" rIns="91440" bIns="45720">
            <a:noAutofit/>
          </a:bodyPr>
          <a:lstStyle/>
          <a:p>
            <a:r>
              <a:rPr lang="en-US" sz="1250">
                <a:solidFill>
                  <a:srgbClr val="6FA8FF"/>
                </a:solidFill>
                <a:latin typeface="Calibri"/>
              </a:rPr>
              <a:t>▸ Storage is a key/value store — one opaque blob per segment</a:t>
            </a:r>
          </a:p>
        </p:txBody>
      </p:sp>
      <p:sp>
        <p:nvSpPr>
          <p:cNvPr id="8" name="t"/>
          <p:cNvSpPr txBox="1"/>
          <p:nvPr/>
        </p:nvSpPr>
        <p:spPr>
          <a:xfrm>
            <a:off x="502920" y="1782064"/>
            <a:ext cx="8138160" cy="203200"/>
          </a:xfrm>
          <a:prstGeom prst="rect">
            <a:avLst/>
          </a:prstGeom>
        </p:spPr>
        <p:txBody>
          <a:bodyPr wrap="square" lIns="91440" tIns="45720" rIns="91440" bIns="45720">
            <a:noAutofit/>
          </a:bodyPr>
          <a:lstStyle/>
          <a:p>
            <a:r>
              <a:rPr lang="en-US" sz="1250">
                <a:solidFill>
                  <a:srgbClr val="7BD88F"/>
                </a:solidFill>
                <a:latin typeface="Calibri"/>
              </a:rPr>
              <a:t>▸ A timeout is an unknown, not a failure; make writes idempotent</a:t>
            </a:r>
          </a:p>
        </p:txBody>
      </p:sp>
      <p:sp>
        <p:nvSpPr>
          <p:cNvPr id="9" name="t"/>
          <p:cNvSpPr txBox="1"/>
          <p:nvPr/>
        </p:nvSpPr>
        <p:spPr>
          <a:xfrm>
            <a:off x="502920" y="2195576"/>
            <a:ext cx="8138160" cy="203200"/>
          </a:xfrm>
          <a:prstGeom prst="rect">
            <a:avLst/>
          </a:prstGeom>
        </p:spPr>
        <p:txBody>
          <a:bodyPr wrap="square" lIns="91440" tIns="45720" rIns="91440" bIns="45720">
            <a:noAutofit/>
          </a:bodyPr>
          <a:lstStyle/>
          <a:p>
            <a:r>
              <a:rPr lang="en-US" sz="1250" i="1">
                <a:solidFill>
                  <a:srgbClr val="8FA0B8"/>
                </a:solidFill>
                <a:latin typeface="Calibri"/>
              </a:rPr>
              <a:t>Next session: the read path — and why none of it needs the transactor.</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2 — The write path</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640080"/>
            <a:ext cx="8138160" cy="274320"/>
          </a:xfrm>
          <a:prstGeom prst="rect">
            <a:avLst/>
          </a:prstGeom>
        </p:spPr>
        <p:txBody>
          <a:bodyPr wrap="square" lIns="91440" tIns="45720" rIns="91440" bIns="45720">
            <a:noAutofit/>
          </a:bodyPr>
          <a:lstStyle/>
          <a:p>
            <a:r>
              <a:rPr lang="en-US" sz="1200" b="1">
                <a:solidFill>
                  <a:srgbClr val="FFC66D"/>
                </a:solidFill>
                <a:latin typeface="Calibri"/>
              </a:rPr>
              <a:t>SESSION 3</a:t>
            </a:r>
          </a:p>
        </p:txBody>
      </p:sp>
      <p:sp>
        <p:nvSpPr>
          <p:cNvPr id="3" name="t"/>
          <p:cNvSpPr txBox="1"/>
          <p:nvPr/>
        </p:nvSpPr>
        <p:spPr>
          <a:xfrm>
            <a:off x="502920" y="960120"/>
            <a:ext cx="8138160" cy="502920"/>
          </a:xfrm>
          <a:prstGeom prst="rect">
            <a:avLst/>
          </a:prstGeom>
        </p:spPr>
        <p:txBody>
          <a:bodyPr wrap="square" lIns="91440" tIns="45720" rIns="91440" bIns="45720">
            <a:noAutofit/>
          </a:bodyPr>
          <a:lstStyle/>
          <a:p>
            <a:r>
              <a:rPr lang="en-US" sz="2800" b="1">
                <a:solidFill>
                  <a:srgbClr val="E8EDF6"/>
                </a:solidFill>
                <a:latin typeface="Arial"/>
              </a:rPr>
              <a:t>The read path and the caches</a:t>
            </a:r>
          </a:p>
        </p:txBody>
      </p:sp>
      <p:sp>
        <p:nvSpPr>
          <p:cNvPr id="4" name="t"/>
          <p:cNvSpPr txBox="1"/>
          <p:nvPr/>
        </p:nvSpPr>
        <p:spPr>
          <a:xfrm>
            <a:off x="502920" y="1508760"/>
            <a:ext cx="8138160" cy="274320"/>
          </a:xfrm>
          <a:prstGeom prst="rect">
            <a:avLst/>
          </a:prstGeom>
        </p:spPr>
        <p:txBody>
          <a:bodyPr wrap="square" lIns="91440" tIns="45720" rIns="91440" bIns="45720">
            <a:noAutofit/>
          </a:bodyPr>
          <a:lstStyle/>
          <a:p>
            <a:r>
              <a:rPr lang="en-US" sz="1350">
                <a:solidFill>
                  <a:srgbClr val="8FA0B8"/>
                </a:solidFill>
                <a:latin typeface="Calibri"/>
              </a:rPr>
              <a:t>Where the bytes actually come from, and who is holding a copy</a:t>
            </a:r>
          </a:p>
        </p:txBody>
      </p:sp>
      <p:sp>
        <p:nvSpPr>
          <p:cNvPr id="5" name="t"/>
          <p:cNvSpPr txBox="1"/>
          <p:nvPr/>
        </p:nvSpPr>
        <p:spPr>
          <a:xfrm>
            <a:off x="502920" y="2011680"/>
            <a:ext cx="8138160" cy="195072"/>
          </a:xfrm>
          <a:prstGeom prst="rect">
            <a:avLst/>
          </a:prstGeom>
        </p:spPr>
        <p:txBody>
          <a:bodyPr wrap="square" lIns="91440" tIns="45720" rIns="91440" bIns="45720">
            <a:noAutofit/>
          </a:bodyPr>
          <a:lstStyle/>
          <a:p>
            <a:r>
              <a:rPr lang="en-US" sz="1200">
                <a:solidFill>
                  <a:srgbClr val="E8EDF6"/>
                </a:solidFill>
                <a:latin typeface="Calibri"/>
              </a:rPr>
              <a:t>· Reads never talk to the transactor — what a db value really is</a:t>
            </a:r>
          </a:p>
        </p:txBody>
      </p:sp>
      <p:sp>
        <p:nvSpPr>
          <p:cNvPr id="6" name="t"/>
          <p:cNvSpPr txBox="1"/>
          <p:nvPr/>
        </p:nvSpPr>
        <p:spPr>
          <a:xfrm>
            <a:off x="502920" y="2206752"/>
            <a:ext cx="8138160" cy="195072"/>
          </a:xfrm>
          <a:prstGeom prst="rect">
            <a:avLst/>
          </a:prstGeom>
        </p:spPr>
        <p:txBody>
          <a:bodyPr wrap="square" lIns="91440" tIns="45720" rIns="91440" bIns="45720">
            <a:noAutofit/>
          </a:bodyPr>
          <a:lstStyle/>
          <a:p>
            <a:r>
              <a:rPr lang="en-US" sz="1200">
                <a:solidFill>
                  <a:srgbClr val="E8EDF6"/>
                </a:solidFill>
                <a:latin typeface="Calibri"/>
              </a:rPr>
              <a:t>· Segments: the unit of storage, transfer and caching</a:t>
            </a:r>
          </a:p>
        </p:txBody>
      </p:sp>
      <p:sp>
        <p:nvSpPr>
          <p:cNvPr id="7" name="t"/>
          <p:cNvSpPr txBox="1"/>
          <p:nvPr/>
        </p:nvSpPr>
        <p:spPr>
          <a:xfrm>
            <a:off x="502920" y="2401824"/>
            <a:ext cx="8138160" cy="195072"/>
          </a:xfrm>
          <a:prstGeom prst="rect">
            <a:avLst/>
          </a:prstGeom>
        </p:spPr>
        <p:txBody>
          <a:bodyPr wrap="square" lIns="91440" tIns="45720" rIns="91440" bIns="45720">
            <a:noAutofit/>
          </a:bodyPr>
          <a:lstStyle/>
          <a:p>
            <a:r>
              <a:rPr lang="en-US" sz="1200">
                <a:solidFill>
                  <a:srgbClr val="E8EDF6"/>
                </a:solidFill>
                <a:latin typeface="Calibri"/>
              </a:rPr>
              <a:t>· The five index trees and how a query walks them</a:t>
            </a:r>
          </a:p>
        </p:txBody>
      </p:sp>
      <p:sp>
        <p:nvSpPr>
          <p:cNvPr id="8" name="t"/>
          <p:cNvSpPr txBox="1"/>
          <p:nvPr/>
        </p:nvSpPr>
        <p:spPr>
          <a:xfrm>
            <a:off x="502920" y="2596896"/>
            <a:ext cx="8138160" cy="195072"/>
          </a:xfrm>
          <a:prstGeom prst="rect">
            <a:avLst/>
          </a:prstGeom>
        </p:spPr>
        <p:txBody>
          <a:bodyPr wrap="square" lIns="91440" tIns="45720" rIns="91440" bIns="45720">
            <a:noAutofit/>
          </a:bodyPr>
          <a:lstStyle/>
          <a:p>
            <a:r>
              <a:rPr lang="en-US" sz="1200">
                <a:solidFill>
                  <a:srgbClr val="E8EDF6"/>
                </a:solidFill>
                <a:latin typeface="Calibri"/>
              </a:rPr>
              <a:t>· The physical cache tiers: object cache, valcache, memcached, storage</a:t>
            </a:r>
          </a:p>
        </p:txBody>
      </p:sp>
      <p:sp>
        <p:nvSpPr>
          <p:cNvPr id="9" name="t"/>
          <p:cNvSpPr txBox="1"/>
          <p:nvPr/>
        </p:nvSpPr>
        <p:spPr>
          <a:xfrm>
            <a:off x="502920" y="2791968"/>
            <a:ext cx="8138160" cy="195072"/>
          </a:xfrm>
          <a:prstGeom prst="rect">
            <a:avLst/>
          </a:prstGeom>
        </p:spPr>
        <p:txBody>
          <a:bodyPr wrap="square" lIns="91440" tIns="45720" rIns="91440" bIns="45720">
            <a:noAutofit/>
          </a:bodyPr>
          <a:lstStyle/>
          <a:p>
            <a:r>
              <a:rPr lang="en-US" sz="1200">
                <a:solidFill>
                  <a:srgbClr val="E8EDF6"/>
                </a:solidFill>
                <a:latin typeface="Calibri"/>
              </a:rPr>
              <a:t>· Why cache invalidation is almost not a problem — and the exceptions</a:t>
            </a:r>
          </a:p>
        </p:txBody>
      </p:sp>
      <p:sp>
        <p:nvSpPr>
          <p:cNvPr id="10" name="t"/>
          <p:cNvSpPr txBox="1"/>
          <p:nvPr/>
        </p:nvSpPr>
        <p:spPr>
          <a:xfrm>
            <a:off x="502920" y="2987040"/>
            <a:ext cx="8138160" cy="195072"/>
          </a:xfrm>
          <a:prstGeom prst="rect">
            <a:avLst/>
          </a:prstGeom>
        </p:spPr>
        <p:txBody>
          <a:bodyPr wrap="square" lIns="91440" tIns="45720" rIns="91440" bIns="45720">
            <a:noAutofit/>
          </a:bodyPr>
          <a:lstStyle/>
          <a:p>
            <a:r>
              <a:rPr lang="en-US" sz="1200">
                <a:solidFill>
                  <a:srgbClr val="E8EDF6"/>
                </a:solidFill>
                <a:latin typeface="Calibri"/>
              </a:rPr>
              <a:t>· Lab: measure a cold read, a warm read, and a memcached hit</a:t>
            </a:r>
          </a:p>
        </p:txBody>
      </p:sp>
      <p:sp>
        <p:nvSpPr>
          <p:cNvPr id="11" name="t"/>
          <p:cNvSpPr txBox="1"/>
          <p:nvPr/>
        </p:nvSpPr>
        <p:spPr>
          <a:xfrm>
            <a:off x="502920" y="3182112"/>
            <a:ext cx="8138160" cy="195072"/>
          </a:xfrm>
          <a:prstGeom prst="rect">
            <a:avLst/>
          </a:prstGeom>
        </p:spPr>
        <p:txBody>
          <a:bodyPr wrap="square" lIns="91440" tIns="45720" rIns="91440" bIns="45720">
            <a:noAutofit/>
          </a:bodyPr>
          <a:lstStyle/>
          <a:p>
            <a:r>
              <a:rPr lang="en-US" sz="1200">
                <a:solidFill>
                  <a:srgbClr val="E8EDF6"/>
                </a:solidFill>
                <a:latin typeface="Calibri"/>
              </a:rPr>
              <a:t>· Peer versus Peer Server: where the query runs, where the cache lives</a:t>
            </a:r>
          </a:p>
        </p:txBody>
      </p:sp>
      <p:sp>
        <p:nvSpPr>
          <p:cNvPr id="12"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3"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Reads do not coordinate</a:t>
            </a:r>
          </a:p>
        </p:txBody>
      </p:sp>
      <p:sp>
        <p:nvSpPr>
          <p:cNvPr id="3" name="t"/>
          <p:cNvSpPr txBox="1"/>
          <p:nvPr/>
        </p:nvSpPr>
        <p:spPr>
          <a:xfrm>
            <a:off x="502920" y="766064"/>
            <a:ext cx="8138160" cy="324104"/>
          </a:xfrm>
          <a:prstGeom prst="roundRect">
            <a:avLst/>
          </a:prstGeom>
          <a:solidFill>
            <a:srgbClr val="141B28"/>
          </a:solidFill>
        </p:spPr>
        <p:txBody>
          <a:bodyPr wrap="square" lIns="91440" tIns="45720" rIns="91440" bIns="45720">
            <a:noAutofit/>
          </a:bodyPr>
          <a:lstStyle/>
          <a:p>
            <a:r>
              <a:rPr lang="en-US" sz="1150">
                <a:solidFill>
                  <a:srgbClr val="7BD88F"/>
                </a:solidFill>
                <a:latin typeface="Courier New"/>
              </a:rPr>
              <a:t>(d/db conn)   ;; does not contact the transactor. does not block.</a:t>
            </a:r>
          </a:p>
        </p:txBody>
      </p:sp>
      <p:sp>
        <p:nvSpPr>
          <p:cNvPr id="4" name="t"/>
          <p:cNvSpPr txBox="1"/>
          <p:nvPr/>
        </p:nvSpPr>
        <p:spPr>
          <a:xfrm>
            <a:off x="502920" y="1277620"/>
            <a:ext cx="8138160" cy="203200"/>
          </a:xfrm>
          <a:prstGeom prst="rect">
            <a:avLst/>
          </a:prstGeom>
        </p:spPr>
        <p:txBody>
          <a:bodyPr wrap="square" lIns="91440" tIns="45720" rIns="91440" bIns="45720">
            <a:noAutofit/>
          </a:bodyPr>
          <a:lstStyle/>
          <a:p>
            <a:r>
              <a:rPr lang="en-US" sz="1250">
                <a:solidFill>
                  <a:srgbClr val="E8EDF6"/>
                </a:solidFill>
                <a:latin typeface="Calibri"/>
              </a:rPr>
              <a:t>▸ A db value is an immutable value pinned to a basis-t</a:t>
            </a:r>
          </a:p>
        </p:txBody>
      </p:sp>
      <p:sp>
        <p:nvSpPr>
          <p:cNvPr id="5" name="t"/>
          <p:cNvSpPr txBox="1"/>
          <p:nvPr/>
        </p:nvSpPr>
        <p:spPr>
          <a:xfrm>
            <a:off x="502920" y="1480820"/>
            <a:ext cx="8138160" cy="203200"/>
          </a:xfrm>
          <a:prstGeom prst="rect">
            <a:avLst/>
          </a:prstGeom>
        </p:spPr>
        <p:txBody>
          <a:bodyPr wrap="square" lIns="91440" tIns="45720" rIns="91440" bIns="45720">
            <a:noAutofit/>
          </a:bodyPr>
          <a:lstStyle/>
          <a:p>
            <a:r>
              <a:rPr lang="en-US" sz="1250">
                <a:solidFill>
                  <a:srgbClr val="E8EDF6"/>
                </a:solidFill>
                <a:latin typeface="Calibri"/>
              </a:rPr>
              <a:t>▸ Every query runs against that value, locally, in the peer process</a:t>
            </a:r>
          </a:p>
        </p:txBody>
      </p:sp>
      <p:sp>
        <p:nvSpPr>
          <p:cNvPr id="6" name="t"/>
          <p:cNvSpPr txBox="1"/>
          <p:nvPr/>
        </p:nvSpPr>
        <p:spPr>
          <a:xfrm>
            <a:off x="502920" y="1684020"/>
            <a:ext cx="8138160" cy="203200"/>
          </a:xfrm>
          <a:prstGeom prst="rect">
            <a:avLst/>
          </a:prstGeom>
        </p:spPr>
        <p:txBody>
          <a:bodyPr wrap="square" lIns="91440" tIns="45720" rIns="91440" bIns="45720">
            <a:noAutofit/>
          </a:bodyPr>
          <a:lstStyle/>
          <a:p>
            <a:r>
              <a:rPr lang="en-US" sz="1250">
                <a:solidFill>
                  <a:srgbClr val="E8EDF6"/>
                </a:solidFill>
                <a:latin typeface="Calibri"/>
              </a:rPr>
              <a:t>▸ Concurrent writes cannot change your results mid-query</a:t>
            </a:r>
          </a:p>
        </p:txBody>
      </p:sp>
      <p:sp>
        <p:nvSpPr>
          <p:cNvPr id="7" name="t"/>
          <p:cNvSpPr txBox="1"/>
          <p:nvPr/>
        </p:nvSpPr>
        <p:spPr>
          <a:xfrm>
            <a:off x="502920" y="1887220"/>
            <a:ext cx="8138160" cy="203200"/>
          </a:xfrm>
          <a:prstGeom prst="rect">
            <a:avLst/>
          </a:prstGeom>
        </p:spPr>
        <p:txBody>
          <a:bodyPr wrap="square" lIns="91440" tIns="45720" rIns="91440" bIns="45720">
            <a:noAutofit/>
          </a:bodyPr>
          <a:lstStyle/>
          <a:p>
            <a:r>
              <a:rPr lang="en-US" sz="1250">
                <a:solidFill>
                  <a:srgbClr val="E8EDF6"/>
                </a:solidFill>
                <a:latin typeface="Calibri"/>
              </a:rPr>
              <a:t>▸ Two peers can be at different t and both be correct</a:t>
            </a:r>
          </a:p>
        </p:txBody>
      </p:sp>
      <p:sp>
        <p:nvSpPr>
          <p:cNvPr id="8" name="t"/>
          <p:cNvSpPr txBox="1"/>
          <p:nvPr/>
        </p:nvSpPr>
        <p:spPr>
          <a:xfrm>
            <a:off x="502920" y="2090420"/>
            <a:ext cx="8138160" cy="203200"/>
          </a:xfrm>
          <a:prstGeom prst="rect">
            <a:avLst/>
          </a:prstGeom>
        </p:spPr>
        <p:txBody>
          <a:bodyPr wrap="square" lIns="91440" tIns="45720" rIns="91440" bIns="45720">
            <a:noAutofit/>
          </a:bodyPr>
          <a:lstStyle/>
          <a:p>
            <a:r>
              <a:rPr lang="en-US" sz="1250">
                <a:solidFill>
                  <a:srgbClr val="E8EDF6"/>
                </a:solidFill>
                <a:latin typeface="Calibri"/>
              </a:rPr>
              <a:t>▸ You can hold a db value for as long as you like</a:t>
            </a:r>
          </a:p>
        </p:txBody>
      </p:sp>
      <p:sp>
        <p:nvSpPr>
          <p:cNvPr id="9" name="t"/>
          <p:cNvSpPr txBox="1"/>
          <p:nvPr/>
        </p:nvSpPr>
        <p:spPr>
          <a:xfrm>
            <a:off x="502920" y="2458212"/>
            <a:ext cx="8138160" cy="390144"/>
          </a:xfrm>
          <a:prstGeom prst="rect">
            <a:avLst/>
          </a:prstGeom>
        </p:spPr>
        <p:txBody>
          <a:bodyPr wrap="square" lIns="91440" tIns="45720" rIns="91440" bIns="45720">
            <a:noAutofit/>
          </a:bodyPr>
          <a:lstStyle/>
          <a:p>
            <a:r>
              <a:rPr lang="en-US" sz="1200">
                <a:solidFill>
                  <a:srgbClr val="7BD88F"/>
                </a:solidFill>
                <a:latin typeface="Calibri"/>
              </a:rPr>
              <a:t>This is why read capacity scales by adding processes. There is no shared read path to contend on — only shared storage, and shared caches if you choose to have them.</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What a db value actually holds</a:t>
            </a:r>
          </a:p>
        </p:txBody>
      </p:sp>
      <p:sp>
        <p:nvSpPr>
          <p:cNvPr id="3" name="t"/>
          <p:cNvSpPr txBox="1"/>
          <p:nvPr/>
        </p:nvSpPr>
        <p:spPr>
          <a:xfrm>
            <a:off x="502920" y="766064"/>
            <a:ext cx="2651760" cy="548640"/>
          </a:xfrm>
          <a:prstGeom prst="roundRect">
            <a:avLst/>
          </a:prstGeom>
          <a:solidFill>
            <a:srgbClr val="6FA8FF"/>
          </a:solidFill>
        </p:spPr>
        <p:txBody>
          <a:bodyPr wrap="square" lIns="91440" tIns="45720" rIns="91440" bIns="45720">
            <a:noAutofit/>
          </a:bodyPr>
          <a:lstStyle/>
          <a:p>
            <a:pPr algn="ctr"/>
            <a:r>
              <a:rPr lang="en-US" sz="1150" b="1">
                <a:solidFill>
                  <a:srgbClr val="0F1420"/>
                </a:solidFill>
                <a:latin typeface="Calibri"/>
              </a:rPr>
              <a:t>index roots</a:t>
            </a:r>
          </a:p>
          <a:p>
            <a:pPr algn="ctr"/>
            <a:r>
              <a:rPr lang="en-US" sz="950">
                <a:solidFill>
                  <a:srgbClr val="0F1420"/>
                </a:solidFill>
                <a:latin typeface="Calibri"/>
              </a:rPr>
              <a:t>in storage</a:t>
            </a:r>
          </a:p>
        </p:txBody>
      </p:sp>
      <p:sp>
        <p:nvSpPr>
          <p:cNvPr id="4" name="t"/>
          <p:cNvSpPr txBox="1"/>
          <p:nvPr/>
        </p:nvSpPr>
        <p:spPr>
          <a:xfrm>
            <a:off x="3246120" y="766064"/>
            <a:ext cx="2651760" cy="548640"/>
          </a:xfrm>
          <a:prstGeom prst="roundRect">
            <a:avLst/>
          </a:prstGeom>
          <a:solidFill>
            <a:srgbClr val="C09BFF"/>
          </a:solidFill>
        </p:spPr>
        <p:txBody>
          <a:bodyPr wrap="square" lIns="91440" tIns="45720" rIns="91440" bIns="45720">
            <a:noAutofit/>
          </a:bodyPr>
          <a:lstStyle/>
          <a:p>
            <a:pPr algn="ctr"/>
            <a:r>
              <a:rPr lang="en-US" sz="1150" b="1">
                <a:solidFill>
                  <a:srgbClr val="0F1420"/>
                </a:solidFill>
                <a:latin typeface="Calibri"/>
              </a:rPr>
              <a:t>memory index</a:t>
            </a:r>
          </a:p>
          <a:p>
            <a:pPr algn="ctr"/>
            <a:r>
              <a:rPr lang="en-US" sz="950">
                <a:solidFill>
                  <a:srgbClr val="0F1420"/>
                </a:solidFill>
                <a:latin typeface="Calibri"/>
              </a:rPr>
              <a:t>in this process</a:t>
            </a:r>
          </a:p>
        </p:txBody>
      </p:sp>
      <p:sp>
        <p:nvSpPr>
          <p:cNvPr id="5" name="t"/>
          <p:cNvSpPr txBox="1"/>
          <p:nvPr/>
        </p:nvSpPr>
        <p:spPr>
          <a:xfrm>
            <a:off x="5989320" y="766064"/>
            <a:ext cx="2651760" cy="548640"/>
          </a:xfrm>
          <a:prstGeom prst="roundRect">
            <a:avLst/>
          </a:prstGeom>
          <a:solidFill>
            <a:srgbClr val="7BD88F"/>
          </a:solidFill>
        </p:spPr>
        <p:txBody>
          <a:bodyPr wrap="square" lIns="91440" tIns="45720" rIns="91440" bIns="45720">
            <a:noAutofit/>
          </a:bodyPr>
          <a:lstStyle/>
          <a:p>
            <a:pPr algn="ctr"/>
            <a:r>
              <a:rPr lang="en-US" sz="1150" b="1">
                <a:solidFill>
                  <a:srgbClr val="0F1420"/>
                </a:solidFill>
                <a:latin typeface="Calibri"/>
              </a:rPr>
              <a:t>basis-t</a:t>
            </a:r>
          </a:p>
          <a:p>
            <a:pPr algn="ctr"/>
            <a:r>
              <a:rPr lang="en-US" sz="950">
                <a:solidFill>
                  <a:srgbClr val="0F1420"/>
                </a:solidFill>
                <a:latin typeface="Calibri"/>
              </a:rPr>
              <a:t>a number</a:t>
            </a:r>
          </a:p>
        </p:txBody>
      </p:sp>
      <p:sp>
        <p:nvSpPr>
          <p:cNvPr id="6" name="t"/>
          <p:cNvSpPr txBox="1"/>
          <p:nvPr/>
        </p:nvSpPr>
        <p:spPr>
          <a:xfrm>
            <a:off x="502920" y="1525016"/>
            <a:ext cx="8138160" cy="186944"/>
          </a:xfrm>
          <a:prstGeom prst="rect">
            <a:avLst/>
          </a:prstGeom>
        </p:spPr>
        <p:txBody>
          <a:bodyPr wrap="square" lIns="91440" tIns="45720" rIns="91440" bIns="45720">
            <a:noAutofit/>
          </a:bodyPr>
          <a:lstStyle/>
          <a:p>
            <a:r>
              <a:rPr lang="en-US" sz="1150">
                <a:solidFill>
                  <a:srgbClr val="6FA8FF"/>
                </a:solidFill>
                <a:latin typeface="Calibri"/>
              </a:rPr>
              <a:t>▸ The persisted index trees, as of the last index job — shared, immutable, on disk in storage</a:t>
            </a:r>
          </a:p>
        </p:txBody>
      </p:sp>
      <p:sp>
        <p:nvSpPr>
          <p:cNvPr id="7" name="t"/>
          <p:cNvSpPr txBox="1"/>
          <p:nvPr/>
        </p:nvSpPr>
        <p:spPr>
          <a:xfrm>
            <a:off x="502920" y="1711960"/>
            <a:ext cx="8138160" cy="186944"/>
          </a:xfrm>
          <a:prstGeom prst="rect">
            <a:avLst/>
          </a:prstGeom>
        </p:spPr>
        <p:txBody>
          <a:bodyPr wrap="square" lIns="91440" tIns="45720" rIns="91440" bIns="45720">
            <a:noAutofit/>
          </a:bodyPr>
          <a:lstStyle/>
          <a:p>
            <a:r>
              <a:rPr lang="en-US" sz="1150">
                <a:solidFill>
                  <a:srgbClr val="C09BFF"/>
                </a:solidFill>
                <a:latin typeface="Calibri"/>
              </a:rPr>
              <a:t>▸ Plus the memory index: every datom transacted since that job, held in RAM by this process</a:t>
            </a:r>
          </a:p>
        </p:txBody>
      </p:sp>
      <p:sp>
        <p:nvSpPr>
          <p:cNvPr id="8" name="t"/>
          <p:cNvSpPr txBox="1"/>
          <p:nvPr/>
        </p:nvSpPr>
        <p:spPr>
          <a:xfrm>
            <a:off x="502920" y="1898904"/>
            <a:ext cx="8138160" cy="186944"/>
          </a:xfrm>
          <a:prstGeom prst="rect">
            <a:avLst/>
          </a:prstGeom>
        </p:spPr>
        <p:txBody>
          <a:bodyPr wrap="square" lIns="91440" tIns="45720" rIns="91440" bIns="45720">
            <a:noAutofit/>
          </a:bodyPr>
          <a:lstStyle/>
          <a:p>
            <a:r>
              <a:rPr lang="en-US" sz="1150">
                <a:solidFill>
                  <a:srgbClr val="E8EDF6"/>
                </a:solidFill>
                <a:latin typeface="Calibri"/>
              </a:rPr>
              <a:t>▸ Every read merges the two. That merge is invisible to you and is why peers are current without polling.</a:t>
            </a:r>
          </a:p>
        </p:txBody>
      </p:sp>
      <p:sp>
        <p:nvSpPr>
          <p:cNvPr id="9" name="t"/>
          <p:cNvSpPr txBox="1"/>
          <p:nvPr/>
        </p:nvSpPr>
        <p:spPr>
          <a:xfrm>
            <a:off x="502920" y="2250440"/>
            <a:ext cx="45720" cy="449072"/>
          </a:xfrm>
          <a:prstGeom prst="rect">
            <a:avLst/>
          </a:prstGeom>
          <a:solidFill>
            <a:srgbClr val="6FA8FF"/>
          </a:solidFill>
        </p:spPr>
        <p:txBody>
          <a:bodyPr wrap="square" lIns="91440" tIns="45720" rIns="91440" bIns="45720">
            <a:noAutofit/>
          </a:bodyPr>
          <a:lstStyle/>
        </p:txBody>
      </p:sp>
      <p:sp>
        <p:nvSpPr>
          <p:cNvPr id="10" name="t"/>
          <p:cNvSpPr txBox="1"/>
          <p:nvPr/>
        </p:nvSpPr>
        <p:spPr>
          <a:xfrm>
            <a:off x="594360" y="2250440"/>
            <a:ext cx="8046720" cy="449072"/>
          </a:xfrm>
          <a:prstGeom prst="rect">
            <a:avLst/>
          </a:prstGeom>
        </p:spPr>
        <p:txBody>
          <a:bodyPr wrap="square" lIns="91440" tIns="45720" rIns="91440" bIns="45720">
            <a:noAutofit/>
          </a:bodyPr>
          <a:lstStyle/>
          <a:p>
            <a:r>
              <a:rPr lang="en-US" sz="1100">
                <a:solidFill>
                  <a:srgbClr val="E8EDF6"/>
                </a:solidFill>
                <a:latin typeface="Calibri"/>
              </a:rPr>
              <a:t>●  A database can be far larger than the memory of any process that reads it. Segments are demand-paged out of storage as queries touch them.</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five indexes</a:t>
            </a:r>
          </a:p>
        </p:txBody>
      </p:sp>
      <p:sp>
        <p:nvSpPr>
          <p:cNvPr id="3" name="t"/>
          <p:cNvSpPr txBox="1"/>
          <p:nvPr/>
        </p:nvSpPr>
        <p:spPr>
          <a:xfrm>
            <a:off x="502920" y="766064"/>
            <a:ext cx="976579" cy="231140"/>
          </a:xfrm>
          <a:prstGeom prst="rect">
            <a:avLst/>
          </a:prstGeom>
        </p:spPr>
        <p:txBody>
          <a:bodyPr wrap="square" lIns="91440" tIns="45720" rIns="91440" bIns="45720">
            <a:noAutofit/>
          </a:bodyPr>
          <a:lstStyle/>
          <a:p>
            <a:r>
              <a:rPr lang="en-US" sz="1000" b="1">
                <a:solidFill>
                  <a:srgbClr val="6FA8FF"/>
                </a:solidFill>
                <a:latin typeface="Calibri"/>
              </a:rPr>
              <a:t>Index</a:t>
            </a:r>
          </a:p>
        </p:txBody>
      </p:sp>
      <p:sp>
        <p:nvSpPr>
          <p:cNvPr id="4" name="t"/>
          <p:cNvSpPr txBox="1"/>
          <p:nvPr/>
        </p:nvSpPr>
        <p:spPr>
          <a:xfrm>
            <a:off x="1479499" y="766064"/>
            <a:ext cx="1302105" cy="231140"/>
          </a:xfrm>
          <a:prstGeom prst="rect">
            <a:avLst/>
          </a:prstGeom>
        </p:spPr>
        <p:txBody>
          <a:bodyPr wrap="square" lIns="91440" tIns="45720" rIns="91440" bIns="45720">
            <a:noAutofit/>
          </a:bodyPr>
          <a:lstStyle/>
          <a:p>
            <a:r>
              <a:rPr lang="en-US" sz="1000" b="1">
                <a:solidFill>
                  <a:srgbClr val="6FA8FF"/>
                </a:solidFill>
                <a:latin typeface="Calibri"/>
              </a:rPr>
              <a:t>Sorted by</a:t>
            </a:r>
          </a:p>
        </p:txBody>
      </p:sp>
      <p:sp>
        <p:nvSpPr>
          <p:cNvPr id="5" name="t"/>
          <p:cNvSpPr txBox="1"/>
          <p:nvPr/>
        </p:nvSpPr>
        <p:spPr>
          <a:xfrm>
            <a:off x="2781604" y="766064"/>
            <a:ext cx="3092500" cy="231140"/>
          </a:xfrm>
          <a:prstGeom prst="rect">
            <a:avLst/>
          </a:prstGeom>
        </p:spPr>
        <p:txBody>
          <a:bodyPr wrap="square" lIns="91440" tIns="45720" rIns="91440" bIns="45720">
            <a:noAutofit/>
          </a:bodyPr>
          <a:lstStyle/>
          <a:p>
            <a:r>
              <a:rPr lang="en-US" sz="1000" b="1">
                <a:solidFill>
                  <a:srgbClr val="6FA8FF"/>
                </a:solidFill>
                <a:latin typeface="Calibri"/>
              </a:rPr>
              <a:t>Contains</a:t>
            </a:r>
          </a:p>
        </p:txBody>
      </p:sp>
      <p:sp>
        <p:nvSpPr>
          <p:cNvPr id="6" name="t"/>
          <p:cNvSpPr txBox="1"/>
          <p:nvPr/>
        </p:nvSpPr>
        <p:spPr>
          <a:xfrm>
            <a:off x="5874105" y="766064"/>
            <a:ext cx="2766974" cy="231140"/>
          </a:xfrm>
          <a:prstGeom prst="rect">
            <a:avLst/>
          </a:prstGeom>
        </p:spPr>
        <p:txBody>
          <a:bodyPr wrap="square" lIns="91440" tIns="45720" rIns="91440" bIns="45720">
            <a:noAutofit/>
          </a:bodyPr>
          <a:lstStyle/>
          <a:p>
            <a:r>
              <a:rPr lang="en-US" sz="1000" b="1">
                <a:solidFill>
                  <a:srgbClr val="6FA8FF"/>
                </a:solidFill>
                <a:latin typeface="Calibri"/>
              </a:rPr>
              <a:t>Use</a:t>
            </a:r>
          </a:p>
        </p:txBody>
      </p:sp>
      <p:sp>
        <p:nvSpPr>
          <p:cNvPr id="7" name="t"/>
          <p:cNvSpPr txBox="1"/>
          <p:nvPr/>
        </p:nvSpPr>
        <p:spPr>
          <a:xfrm>
            <a:off x="457200" y="997204"/>
            <a:ext cx="8229600" cy="231140"/>
          </a:xfrm>
          <a:prstGeom prst="rect">
            <a:avLst/>
          </a:prstGeom>
          <a:solidFill>
            <a:srgbClr val="141B28"/>
          </a:solidFill>
        </p:spPr>
        <p:txBody>
          <a:bodyPr wrap="square" lIns="91440" tIns="45720" rIns="91440" bIns="45720">
            <a:noAutofit/>
          </a:bodyPr>
          <a:lstStyle/>
        </p:txBody>
      </p:sp>
      <p:sp>
        <p:nvSpPr>
          <p:cNvPr id="8" name="t"/>
          <p:cNvSpPr txBox="1"/>
          <p:nvPr/>
        </p:nvSpPr>
        <p:spPr>
          <a:xfrm>
            <a:off x="502920" y="997204"/>
            <a:ext cx="976579" cy="231140"/>
          </a:xfrm>
          <a:prstGeom prst="rect">
            <a:avLst/>
          </a:prstGeom>
        </p:spPr>
        <p:txBody>
          <a:bodyPr wrap="square" lIns="91440" tIns="45720" rIns="91440" bIns="45720">
            <a:noAutofit/>
          </a:bodyPr>
          <a:lstStyle/>
          <a:p>
            <a:r>
              <a:rPr lang="en-US" sz="1000" b="1">
                <a:solidFill>
                  <a:srgbClr val="E8EDF6"/>
                </a:solidFill>
                <a:latin typeface="Calibri"/>
              </a:rPr>
              <a:t>EAVT</a:t>
            </a:r>
          </a:p>
        </p:txBody>
      </p:sp>
      <p:sp>
        <p:nvSpPr>
          <p:cNvPr id="9" name="t"/>
          <p:cNvSpPr txBox="1"/>
          <p:nvPr/>
        </p:nvSpPr>
        <p:spPr>
          <a:xfrm>
            <a:off x="1479499" y="997204"/>
            <a:ext cx="1302105" cy="231140"/>
          </a:xfrm>
          <a:prstGeom prst="rect">
            <a:avLst/>
          </a:prstGeom>
        </p:spPr>
        <p:txBody>
          <a:bodyPr wrap="square" lIns="91440" tIns="45720" rIns="91440" bIns="45720">
            <a:noAutofit/>
          </a:bodyPr>
          <a:lstStyle/>
          <a:p>
            <a:r>
              <a:rPr lang="en-US" sz="1000">
                <a:solidFill>
                  <a:srgbClr val="8FA0B8"/>
                </a:solidFill>
                <a:latin typeface="Calibri"/>
              </a:rPr>
              <a:t>entity</a:t>
            </a:r>
          </a:p>
        </p:txBody>
      </p:sp>
      <p:sp>
        <p:nvSpPr>
          <p:cNvPr id="10" name="t"/>
          <p:cNvSpPr txBox="1"/>
          <p:nvPr/>
        </p:nvSpPr>
        <p:spPr>
          <a:xfrm>
            <a:off x="2781604" y="997204"/>
            <a:ext cx="3092500" cy="231140"/>
          </a:xfrm>
          <a:prstGeom prst="rect">
            <a:avLst/>
          </a:prstGeom>
        </p:spPr>
        <p:txBody>
          <a:bodyPr wrap="square" lIns="91440" tIns="45720" rIns="91440" bIns="45720">
            <a:noAutofit/>
          </a:bodyPr>
          <a:lstStyle/>
          <a:p>
            <a:r>
              <a:rPr lang="en-US" sz="1000">
                <a:solidFill>
                  <a:srgbClr val="8FA0B8"/>
                </a:solidFill>
                <a:latin typeface="Calibri"/>
              </a:rPr>
              <a:t>all datoms</a:t>
            </a:r>
          </a:p>
        </p:txBody>
      </p:sp>
      <p:sp>
        <p:nvSpPr>
          <p:cNvPr id="11" name="t"/>
          <p:cNvSpPr txBox="1"/>
          <p:nvPr/>
        </p:nvSpPr>
        <p:spPr>
          <a:xfrm>
            <a:off x="5874105" y="997204"/>
            <a:ext cx="2766974" cy="231140"/>
          </a:xfrm>
          <a:prstGeom prst="rect">
            <a:avLst/>
          </a:prstGeom>
        </p:spPr>
        <p:txBody>
          <a:bodyPr wrap="square" lIns="91440" tIns="45720" rIns="91440" bIns="45720">
            <a:noAutofit/>
          </a:bodyPr>
          <a:lstStyle/>
          <a:p>
            <a:r>
              <a:rPr lang="en-US" sz="1000">
                <a:solidFill>
                  <a:srgbClr val="8FA0B8"/>
                </a:solidFill>
                <a:latin typeface="Calibri"/>
              </a:rPr>
              <a:t>the row: everything about an entity</a:t>
            </a:r>
          </a:p>
        </p:txBody>
      </p:sp>
      <p:sp>
        <p:nvSpPr>
          <p:cNvPr id="12" name="t"/>
          <p:cNvSpPr txBox="1"/>
          <p:nvPr/>
        </p:nvSpPr>
        <p:spPr>
          <a:xfrm>
            <a:off x="502920" y="1228344"/>
            <a:ext cx="976579" cy="231140"/>
          </a:xfrm>
          <a:prstGeom prst="rect">
            <a:avLst/>
          </a:prstGeom>
        </p:spPr>
        <p:txBody>
          <a:bodyPr wrap="square" lIns="91440" tIns="45720" rIns="91440" bIns="45720">
            <a:noAutofit/>
          </a:bodyPr>
          <a:lstStyle/>
          <a:p>
            <a:r>
              <a:rPr lang="en-US" sz="1000" b="1">
                <a:solidFill>
                  <a:srgbClr val="E8EDF6"/>
                </a:solidFill>
                <a:latin typeface="Calibri"/>
              </a:rPr>
              <a:t>AEVT</a:t>
            </a:r>
          </a:p>
        </p:txBody>
      </p:sp>
      <p:sp>
        <p:nvSpPr>
          <p:cNvPr id="13" name="t"/>
          <p:cNvSpPr txBox="1"/>
          <p:nvPr/>
        </p:nvSpPr>
        <p:spPr>
          <a:xfrm>
            <a:off x="1479499" y="1228344"/>
            <a:ext cx="1302105" cy="231140"/>
          </a:xfrm>
          <a:prstGeom prst="rect">
            <a:avLst/>
          </a:prstGeom>
        </p:spPr>
        <p:txBody>
          <a:bodyPr wrap="square" lIns="91440" tIns="45720" rIns="91440" bIns="45720">
            <a:noAutofit/>
          </a:bodyPr>
          <a:lstStyle/>
          <a:p>
            <a:r>
              <a:rPr lang="en-US" sz="1000">
                <a:solidFill>
                  <a:srgbClr val="8FA0B8"/>
                </a:solidFill>
                <a:latin typeface="Calibri"/>
              </a:rPr>
              <a:t>attribute</a:t>
            </a:r>
          </a:p>
        </p:txBody>
      </p:sp>
      <p:sp>
        <p:nvSpPr>
          <p:cNvPr id="14" name="t"/>
          <p:cNvSpPr txBox="1"/>
          <p:nvPr/>
        </p:nvSpPr>
        <p:spPr>
          <a:xfrm>
            <a:off x="2781604" y="1228344"/>
            <a:ext cx="3092500" cy="231140"/>
          </a:xfrm>
          <a:prstGeom prst="rect">
            <a:avLst/>
          </a:prstGeom>
        </p:spPr>
        <p:txBody>
          <a:bodyPr wrap="square" lIns="91440" tIns="45720" rIns="91440" bIns="45720">
            <a:noAutofit/>
          </a:bodyPr>
          <a:lstStyle/>
          <a:p>
            <a:r>
              <a:rPr lang="en-US" sz="1000">
                <a:solidFill>
                  <a:srgbClr val="8FA0B8"/>
                </a:solidFill>
                <a:latin typeface="Calibri"/>
              </a:rPr>
              <a:t>all datoms</a:t>
            </a:r>
          </a:p>
        </p:txBody>
      </p:sp>
      <p:sp>
        <p:nvSpPr>
          <p:cNvPr id="15" name="t"/>
          <p:cNvSpPr txBox="1"/>
          <p:nvPr/>
        </p:nvSpPr>
        <p:spPr>
          <a:xfrm>
            <a:off x="5874105" y="1228344"/>
            <a:ext cx="2766974" cy="231140"/>
          </a:xfrm>
          <a:prstGeom prst="rect">
            <a:avLst/>
          </a:prstGeom>
        </p:spPr>
        <p:txBody>
          <a:bodyPr wrap="square" lIns="91440" tIns="45720" rIns="91440" bIns="45720">
            <a:noAutofit/>
          </a:bodyPr>
          <a:lstStyle/>
          <a:p>
            <a:r>
              <a:rPr lang="en-US" sz="1000">
                <a:solidFill>
                  <a:srgbClr val="8FA0B8"/>
                </a:solidFill>
                <a:latin typeface="Calibri"/>
              </a:rPr>
              <a:t>the column: one attribute across entities</a:t>
            </a:r>
          </a:p>
        </p:txBody>
      </p:sp>
      <p:sp>
        <p:nvSpPr>
          <p:cNvPr id="16" name="t"/>
          <p:cNvSpPr txBox="1"/>
          <p:nvPr/>
        </p:nvSpPr>
        <p:spPr>
          <a:xfrm>
            <a:off x="457200" y="1459484"/>
            <a:ext cx="8229600" cy="231140"/>
          </a:xfrm>
          <a:prstGeom prst="rect">
            <a:avLst/>
          </a:prstGeom>
          <a:solidFill>
            <a:srgbClr val="141B28"/>
          </a:solidFill>
        </p:spPr>
        <p:txBody>
          <a:bodyPr wrap="square" lIns="91440" tIns="45720" rIns="91440" bIns="45720">
            <a:noAutofit/>
          </a:bodyPr>
          <a:lstStyle/>
        </p:txBody>
      </p:sp>
      <p:sp>
        <p:nvSpPr>
          <p:cNvPr id="17" name="t"/>
          <p:cNvSpPr txBox="1"/>
          <p:nvPr/>
        </p:nvSpPr>
        <p:spPr>
          <a:xfrm>
            <a:off x="502920" y="1459484"/>
            <a:ext cx="976579" cy="231140"/>
          </a:xfrm>
          <a:prstGeom prst="rect">
            <a:avLst/>
          </a:prstGeom>
        </p:spPr>
        <p:txBody>
          <a:bodyPr wrap="square" lIns="91440" tIns="45720" rIns="91440" bIns="45720">
            <a:noAutofit/>
          </a:bodyPr>
          <a:lstStyle/>
          <a:p>
            <a:r>
              <a:rPr lang="en-US" sz="1000" b="1">
                <a:solidFill>
                  <a:srgbClr val="E8EDF6"/>
                </a:solidFill>
                <a:latin typeface="Calibri"/>
              </a:rPr>
              <a:t>AVET</a:t>
            </a:r>
          </a:p>
        </p:txBody>
      </p:sp>
      <p:sp>
        <p:nvSpPr>
          <p:cNvPr id="18" name="t"/>
          <p:cNvSpPr txBox="1"/>
          <p:nvPr/>
        </p:nvSpPr>
        <p:spPr>
          <a:xfrm>
            <a:off x="1479499" y="1459484"/>
            <a:ext cx="1302105" cy="231140"/>
          </a:xfrm>
          <a:prstGeom prst="rect">
            <a:avLst/>
          </a:prstGeom>
        </p:spPr>
        <p:txBody>
          <a:bodyPr wrap="square" lIns="91440" tIns="45720" rIns="91440" bIns="45720">
            <a:noAutofit/>
          </a:bodyPr>
          <a:lstStyle/>
          <a:p>
            <a:r>
              <a:rPr lang="en-US" sz="1000">
                <a:solidFill>
                  <a:srgbClr val="8FA0B8"/>
                </a:solidFill>
                <a:latin typeface="Calibri"/>
              </a:rPr>
              <a:t>attr + value</a:t>
            </a:r>
          </a:p>
        </p:txBody>
      </p:sp>
      <p:sp>
        <p:nvSpPr>
          <p:cNvPr id="19" name="t"/>
          <p:cNvSpPr txBox="1"/>
          <p:nvPr/>
        </p:nvSpPr>
        <p:spPr>
          <a:xfrm>
            <a:off x="2781604" y="1459484"/>
            <a:ext cx="3092500" cy="231140"/>
          </a:xfrm>
          <a:prstGeom prst="rect">
            <a:avLst/>
          </a:prstGeom>
        </p:spPr>
        <p:txBody>
          <a:bodyPr wrap="square" lIns="91440" tIns="45720" rIns="91440" bIns="45720">
            <a:noAutofit/>
          </a:bodyPr>
          <a:lstStyle/>
          <a:p>
            <a:r>
              <a:rPr lang="en-US" sz="1000">
                <a:solidFill>
                  <a:srgbClr val="8FA0B8"/>
                </a:solidFill>
                <a:latin typeface="Calibri"/>
              </a:rPr>
              <a:t>only :db/index or :db/unique attrs (Pro)</a:t>
            </a:r>
          </a:p>
        </p:txBody>
      </p:sp>
      <p:sp>
        <p:nvSpPr>
          <p:cNvPr id="20" name="t"/>
          <p:cNvSpPr txBox="1"/>
          <p:nvPr/>
        </p:nvSpPr>
        <p:spPr>
          <a:xfrm>
            <a:off x="5874105" y="1459484"/>
            <a:ext cx="2766974" cy="231140"/>
          </a:xfrm>
          <a:prstGeom prst="rect">
            <a:avLst/>
          </a:prstGeom>
        </p:spPr>
        <p:txBody>
          <a:bodyPr wrap="square" lIns="91440" tIns="45720" rIns="91440" bIns="45720">
            <a:noAutofit/>
          </a:bodyPr>
          <a:lstStyle/>
          <a:p>
            <a:r>
              <a:rPr lang="en-US" sz="1000">
                <a:solidFill>
                  <a:srgbClr val="8FA0B8"/>
                </a:solidFill>
                <a:latin typeface="Calibri"/>
              </a:rPr>
              <a:t>lookup and range by value</a:t>
            </a:r>
          </a:p>
        </p:txBody>
      </p:sp>
      <p:sp>
        <p:nvSpPr>
          <p:cNvPr id="21" name="t"/>
          <p:cNvSpPr txBox="1"/>
          <p:nvPr/>
        </p:nvSpPr>
        <p:spPr>
          <a:xfrm>
            <a:off x="502920" y="1690624"/>
            <a:ext cx="976579" cy="231140"/>
          </a:xfrm>
          <a:prstGeom prst="rect">
            <a:avLst/>
          </a:prstGeom>
        </p:spPr>
        <p:txBody>
          <a:bodyPr wrap="square" lIns="91440" tIns="45720" rIns="91440" bIns="45720">
            <a:noAutofit/>
          </a:bodyPr>
          <a:lstStyle/>
          <a:p>
            <a:r>
              <a:rPr lang="en-US" sz="1000" b="1">
                <a:solidFill>
                  <a:srgbClr val="E8EDF6"/>
                </a:solidFill>
                <a:latin typeface="Calibri"/>
              </a:rPr>
              <a:t>VAET</a:t>
            </a:r>
          </a:p>
        </p:txBody>
      </p:sp>
      <p:sp>
        <p:nvSpPr>
          <p:cNvPr id="22" name="t"/>
          <p:cNvSpPr txBox="1"/>
          <p:nvPr/>
        </p:nvSpPr>
        <p:spPr>
          <a:xfrm>
            <a:off x="1479499" y="1690624"/>
            <a:ext cx="1302105" cy="231140"/>
          </a:xfrm>
          <a:prstGeom prst="rect">
            <a:avLst/>
          </a:prstGeom>
        </p:spPr>
        <p:txBody>
          <a:bodyPr wrap="square" lIns="91440" tIns="45720" rIns="91440" bIns="45720">
            <a:noAutofit/>
          </a:bodyPr>
          <a:lstStyle/>
          <a:p>
            <a:r>
              <a:rPr lang="en-US" sz="1000">
                <a:solidFill>
                  <a:srgbClr val="8FA0B8"/>
                </a:solidFill>
                <a:latin typeface="Calibri"/>
              </a:rPr>
              <a:t>value</a:t>
            </a:r>
          </a:p>
        </p:txBody>
      </p:sp>
      <p:sp>
        <p:nvSpPr>
          <p:cNvPr id="23" name="t"/>
          <p:cNvSpPr txBox="1"/>
          <p:nvPr/>
        </p:nvSpPr>
        <p:spPr>
          <a:xfrm>
            <a:off x="2781604" y="1690624"/>
            <a:ext cx="3092500" cy="231140"/>
          </a:xfrm>
          <a:prstGeom prst="rect">
            <a:avLst/>
          </a:prstGeom>
        </p:spPr>
        <p:txBody>
          <a:bodyPr wrap="square" lIns="91440" tIns="45720" rIns="91440" bIns="45720">
            <a:noAutofit/>
          </a:bodyPr>
          <a:lstStyle/>
          <a:p>
            <a:r>
              <a:rPr lang="en-US" sz="1000">
                <a:solidFill>
                  <a:srgbClr val="8FA0B8"/>
                </a:solidFill>
                <a:latin typeface="Calibri"/>
              </a:rPr>
              <a:t>only :db.type/ref datoms</a:t>
            </a:r>
          </a:p>
        </p:txBody>
      </p:sp>
      <p:sp>
        <p:nvSpPr>
          <p:cNvPr id="24" name="t"/>
          <p:cNvSpPr txBox="1"/>
          <p:nvPr/>
        </p:nvSpPr>
        <p:spPr>
          <a:xfrm>
            <a:off x="5874105" y="1690624"/>
            <a:ext cx="2766974" cy="231140"/>
          </a:xfrm>
          <a:prstGeom prst="rect">
            <a:avLst/>
          </a:prstGeom>
        </p:spPr>
        <p:txBody>
          <a:bodyPr wrap="square" lIns="91440" tIns="45720" rIns="91440" bIns="45720">
            <a:noAutofit/>
          </a:bodyPr>
          <a:lstStyle/>
          <a:p>
            <a:r>
              <a:rPr lang="en-US" sz="1000">
                <a:solidFill>
                  <a:srgbClr val="8FA0B8"/>
                </a:solidFill>
                <a:latin typeface="Calibri"/>
              </a:rPr>
              <a:t>reverse reference navigation</a:t>
            </a:r>
          </a:p>
        </p:txBody>
      </p:sp>
      <p:sp>
        <p:nvSpPr>
          <p:cNvPr id="25" name="t"/>
          <p:cNvSpPr txBox="1"/>
          <p:nvPr/>
        </p:nvSpPr>
        <p:spPr>
          <a:xfrm>
            <a:off x="457200" y="1921764"/>
            <a:ext cx="8229600" cy="231140"/>
          </a:xfrm>
          <a:prstGeom prst="rect">
            <a:avLst/>
          </a:prstGeom>
          <a:solidFill>
            <a:srgbClr val="141B28"/>
          </a:solidFill>
        </p:spPr>
        <p:txBody>
          <a:bodyPr wrap="square" lIns="91440" tIns="45720" rIns="91440" bIns="45720">
            <a:noAutofit/>
          </a:bodyPr>
          <a:lstStyle/>
        </p:txBody>
      </p:sp>
      <p:sp>
        <p:nvSpPr>
          <p:cNvPr id="26" name="t"/>
          <p:cNvSpPr txBox="1"/>
          <p:nvPr/>
        </p:nvSpPr>
        <p:spPr>
          <a:xfrm>
            <a:off x="502920" y="1921764"/>
            <a:ext cx="976579" cy="231140"/>
          </a:xfrm>
          <a:prstGeom prst="rect">
            <a:avLst/>
          </a:prstGeom>
        </p:spPr>
        <p:txBody>
          <a:bodyPr wrap="square" lIns="91440" tIns="45720" rIns="91440" bIns="45720">
            <a:noAutofit/>
          </a:bodyPr>
          <a:lstStyle/>
          <a:p>
            <a:r>
              <a:rPr lang="en-US" sz="1000" b="1">
                <a:solidFill>
                  <a:srgbClr val="E8EDF6"/>
                </a:solidFill>
                <a:latin typeface="Calibri"/>
              </a:rPr>
              <a:t>Log</a:t>
            </a:r>
          </a:p>
        </p:txBody>
      </p:sp>
      <p:sp>
        <p:nvSpPr>
          <p:cNvPr id="27" name="t"/>
          <p:cNvSpPr txBox="1"/>
          <p:nvPr/>
        </p:nvSpPr>
        <p:spPr>
          <a:xfrm>
            <a:off x="1479499" y="1921764"/>
            <a:ext cx="1302105" cy="231140"/>
          </a:xfrm>
          <a:prstGeom prst="rect">
            <a:avLst/>
          </a:prstGeom>
        </p:spPr>
        <p:txBody>
          <a:bodyPr wrap="square" lIns="91440" tIns="45720" rIns="91440" bIns="45720">
            <a:noAutofit/>
          </a:bodyPr>
          <a:lstStyle/>
          <a:p>
            <a:r>
              <a:rPr lang="en-US" sz="1000">
                <a:solidFill>
                  <a:srgbClr val="8FA0B8"/>
                </a:solidFill>
                <a:latin typeface="Calibri"/>
              </a:rPr>
              <a:t>transaction</a:t>
            </a:r>
          </a:p>
        </p:txBody>
      </p:sp>
      <p:sp>
        <p:nvSpPr>
          <p:cNvPr id="28" name="t"/>
          <p:cNvSpPr txBox="1"/>
          <p:nvPr/>
        </p:nvSpPr>
        <p:spPr>
          <a:xfrm>
            <a:off x="2781604" y="1921764"/>
            <a:ext cx="3092500" cy="231140"/>
          </a:xfrm>
          <a:prstGeom prst="rect">
            <a:avLst/>
          </a:prstGeom>
        </p:spPr>
        <p:txBody>
          <a:bodyPr wrap="square" lIns="91440" tIns="45720" rIns="91440" bIns="45720">
            <a:noAutofit/>
          </a:bodyPr>
          <a:lstStyle/>
          <a:p>
            <a:r>
              <a:rPr lang="en-US" sz="1000">
                <a:solidFill>
                  <a:srgbClr val="8FA0B8"/>
                </a:solidFill>
                <a:latin typeface="Calibri"/>
              </a:rPr>
              <a:t>all datoms</a:t>
            </a:r>
          </a:p>
        </p:txBody>
      </p:sp>
      <p:sp>
        <p:nvSpPr>
          <p:cNvPr id="29" name="t"/>
          <p:cNvSpPr txBox="1"/>
          <p:nvPr/>
        </p:nvSpPr>
        <p:spPr>
          <a:xfrm>
            <a:off x="5874105" y="1921764"/>
            <a:ext cx="2766974" cy="231140"/>
          </a:xfrm>
          <a:prstGeom prst="rect">
            <a:avLst/>
          </a:prstGeom>
        </p:spPr>
        <p:txBody>
          <a:bodyPr wrap="square" lIns="91440" tIns="45720" rIns="91440" bIns="45720">
            <a:noAutofit/>
          </a:bodyPr>
          <a:lstStyle/>
          <a:p>
            <a:r>
              <a:rPr lang="en-US" sz="1000">
                <a:solidFill>
                  <a:srgbClr val="8FA0B8"/>
                </a:solidFill>
                <a:latin typeface="Calibri"/>
              </a:rPr>
              <a:t>audit, replay, tx-range</a:t>
            </a:r>
          </a:p>
        </p:txBody>
      </p:sp>
      <p:sp>
        <p:nvSpPr>
          <p:cNvPr id="30" name="t"/>
          <p:cNvSpPr txBox="1"/>
          <p:nvPr/>
        </p:nvSpPr>
        <p:spPr>
          <a:xfrm>
            <a:off x="502920" y="2340356"/>
            <a:ext cx="45720" cy="449072"/>
          </a:xfrm>
          <a:prstGeom prst="rect">
            <a:avLst/>
          </a:prstGeom>
          <a:solidFill>
            <a:srgbClr val="FFC66D"/>
          </a:solidFill>
        </p:spPr>
        <p:txBody>
          <a:bodyPr wrap="square" lIns="91440" tIns="45720" rIns="91440" bIns="45720">
            <a:noAutofit/>
          </a:bodyPr>
          <a:lstStyle/>
        </p:txBody>
      </p:sp>
      <p:sp>
        <p:nvSpPr>
          <p:cNvPr id="31" name="t"/>
          <p:cNvSpPr txBox="1"/>
          <p:nvPr/>
        </p:nvSpPr>
        <p:spPr>
          <a:xfrm>
            <a:off x="594360" y="2340356"/>
            <a:ext cx="8046720" cy="449072"/>
          </a:xfrm>
          <a:prstGeom prst="rect">
            <a:avLst/>
          </a:prstGeom>
        </p:spPr>
        <p:txBody>
          <a:bodyPr wrap="square" lIns="91440" tIns="45720" rIns="91440" bIns="45720">
            <a:noAutofit/>
          </a:bodyPr>
          <a:lstStyle/>
          <a:p>
            <a:r>
              <a:rPr lang="en-US" sz="1100">
                <a:solidFill>
                  <a:srgbClr val="E8EDF6"/>
                </a:solidFill>
                <a:latin typeface="Calibri"/>
              </a:rPr>
              <a:t>⚠  AVET is the one you pay for. In Pro only attributes marked :db/index or :db/unique are in it; Datomic Cloud indexes everything. Marking an attribute indexed adds a fourth copy of every one of its datoms.</a:t>
            </a:r>
          </a:p>
        </p:txBody>
      </p:sp>
      <p:sp>
        <p:nvSpPr>
          <p:cNvPr id="32"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33"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Segments — the unit of everything</a:t>
            </a:r>
          </a:p>
        </p:txBody>
      </p:sp>
      <p:sp>
        <p:nvSpPr>
          <p:cNvPr id="3" name="t"/>
          <p:cNvSpPr txBox="1"/>
          <p:nvPr/>
        </p:nvSpPr>
        <p:spPr>
          <a:xfrm>
            <a:off x="502920" y="766064"/>
            <a:ext cx="8138160" cy="195072"/>
          </a:xfrm>
          <a:prstGeom prst="rect">
            <a:avLst/>
          </a:prstGeom>
        </p:spPr>
        <p:txBody>
          <a:bodyPr wrap="square" lIns="91440" tIns="45720" rIns="91440" bIns="45720">
            <a:noAutofit/>
          </a:bodyPr>
          <a:lstStyle/>
          <a:p>
            <a:r>
              <a:rPr lang="en-US" sz="1200">
                <a:solidFill>
                  <a:srgbClr val="E8EDF6"/>
                </a:solidFill>
                <a:latin typeface="Calibri"/>
              </a:rPr>
              <a:t>▸ Indexes are shallow trees of segments; a segment holds roughly one to twenty thousand datoms</a:t>
            </a:r>
          </a:p>
        </p:txBody>
      </p:sp>
      <p:sp>
        <p:nvSpPr>
          <p:cNvPr id="4" name="t"/>
          <p:cNvSpPr txBox="1"/>
          <p:nvPr/>
        </p:nvSpPr>
        <p:spPr>
          <a:xfrm>
            <a:off x="502920" y="961136"/>
            <a:ext cx="8138160" cy="195072"/>
          </a:xfrm>
          <a:prstGeom prst="rect">
            <a:avLst/>
          </a:prstGeom>
        </p:spPr>
        <p:txBody>
          <a:bodyPr wrap="square" lIns="91440" tIns="45720" rIns="91440" bIns="45720">
            <a:noAutofit/>
          </a:bodyPr>
          <a:lstStyle/>
          <a:p>
            <a:r>
              <a:rPr lang="en-US" sz="1200">
                <a:solidFill>
                  <a:srgbClr val="E8EDF6"/>
                </a:solidFill>
                <a:latin typeface="Calibri"/>
              </a:rPr>
              <a:t>▸ Branching factor is around a thousand, so reaching any leaf takes one or two storage reads</a:t>
            </a:r>
          </a:p>
        </p:txBody>
      </p:sp>
      <p:sp>
        <p:nvSpPr>
          <p:cNvPr id="5" name="t"/>
          <p:cNvSpPr txBox="1"/>
          <p:nvPr/>
        </p:nvSpPr>
        <p:spPr>
          <a:xfrm>
            <a:off x="502920" y="1156208"/>
            <a:ext cx="8138160" cy="195072"/>
          </a:xfrm>
          <a:prstGeom prst="rect">
            <a:avLst/>
          </a:prstGeom>
        </p:spPr>
        <p:txBody>
          <a:bodyPr wrap="square" lIns="91440" tIns="45720" rIns="91440" bIns="45720">
            <a:noAutofit/>
          </a:bodyPr>
          <a:lstStyle/>
          <a:p>
            <a:r>
              <a:rPr lang="en-US" sz="1200">
                <a:solidFill>
                  <a:srgbClr val="7BD88F"/>
                </a:solidFill>
                <a:latin typeface="Calibri"/>
              </a:rPr>
              <a:t>▸ Segments are compressed and, crucially, immutable — once written, never modified</a:t>
            </a:r>
          </a:p>
        </p:txBody>
      </p:sp>
      <p:sp>
        <p:nvSpPr>
          <p:cNvPr id="6" name="t"/>
          <p:cNvSpPr txBox="1"/>
          <p:nvPr/>
        </p:nvSpPr>
        <p:spPr>
          <a:xfrm>
            <a:off x="502920" y="1351280"/>
            <a:ext cx="8138160" cy="195072"/>
          </a:xfrm>
          <a:prstGeom prst="rect">
            <a:avLst/>
          </a:prstGeom>
        </p:spPr>
        <p:txBody>
          <a:bodyPr wrap="square" lIns="91440" tIns="45720" rIns="91440" bIns="45720">
            <a:noAutofit/>
          </a:bodyPr>
          <a:lstStyle/>
          <a:p>
            <a:r>
              <a:rPr lang="en-US" sz="1200">
                <a:solidFill>
                  <a:srgbClr val="C09BFF"/>
                </a:solidFill>
                <a:latin typeface="Calibri"/>
              </a:rPr>
              <a:t>▸ A segment is the unit of storage, of network transfer, and of every cache in the system</a:t>
            </a:r>
          </a:p>
        </p:txBody>
      </p:sp>
      <p:sp>
        <p:nvSpPr>
          <p:cNvPr id="7" name="t"/>
          <p:cNvSpPr txBox="1"/>
          <p:nvPr/>
        </p:nvSpPr>
        <p:spPr>
          <a:xfrm>
            <a:off x="502920" y="1733804"/>
            <a:ext cx="8138160" cy="373888"/>
          </a:xfrm>
          <a:prstGeom prst="rect">
            <a:avLst/>
          </a:prstGeom>
        </p:spPr>
        <p:txBody>
          <a:bodyPr wrap="square" lIns="91440" tIns="45720" rIns="91440" bIns="45720">
            <a:noAutofit/>
          </a:bodyPr>
          <a:lstStyle/>
          <a:p>
            <a:r>
              <a:rPr lang="en-US" sz="1150">
                <a:solidFill>
                  <a:srgbClr val="6FA8FF"/>
                </a:solidFill>
                <a:latin typeface="Calibri"/>
              </a:rPr>
              <a:t>In Postgres, one row of datomic_kvs is one segment: an opaque compressed blob keyed by a UUID. There is no schema in your storage — Datomic uses the database as a key/value store.</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cache hierarchy</a:t>
            </a:r>
          </a:p>
        </p:txBody>
      </p:sp>
      <p:sp>
        <p:nvSpPr>
          <p:cNvPr id="3" name="t"/>
          <p:cNvSpPr txBox="1"/>
          <p:nvPr/>
        </p:nvSpPr>
        <p:spPr>
          <a:xfrm>
            <a:off x="502920" y="766064"/>
            <a:ext cx="1760220" cy="50292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object cache</a:t>
            </a:r>
          </a:p>
          <a:p>
            <a:pPr algn="ctr"/>
            <a:r>
              <a:rPr lang="en-US" sz="950">
                <a:solidFill>
                  <a:srgbClr val="0F1420"/>
                </a:solidFill>
                <a:latin typeface="Calibri"/>
              </a:rPr>
              <a:t>in-process heap</a:t>
            </a:r>
          </a:p>
        </p:txBody>
      </p:sp>
      <p:sp>
        <p:nvSpPr>
          <p:cNvPr id="4" name="t"/>
          <p:cNvSpPr txBox="1"/>
          <p:nvPr/>
        </p:nvSpPr>
        <p:spPr>
          <a:xfrm>
            <a:off x="50292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nanoseconds</a:t>
            </a:r>
          </a:p>
        </p:txBody>
      </p:sp>
      <p:sp>
        <p:nvSpPr>
          <p:cNvPr id="5" name="t"/>
          <p:cNvSpPr txBox="1"/>
          <p:nvPr/>
        </p:nvSpPr>
        <p:spPr>
          <a:xfrm>
            <a:off x="235458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6" name="t"/>
          <p:cNvSpPr txBox="1"/>
          <p:nvPr/>
        </p:nvSpPr>
        <p:spPr>
          <a:xfrm>
            <a:off x="2628900" y="766064"/>
            <a:ext cx="1760220" cy="502920"/>
          </a:xfrm>
          <a:prstGeom prst="roundRect">
            <a:avLst/>
          </a:prstGeom>
          <a:solidFill>
            <a:srgbClr val="C09BFF"/>
          </a:solidFill>
        </p:spPr>
        <p:txBody>
          <a:bodyPr wrap="square" lIns="91440" tIns="45720" rIns="91440" bIns="45720">
            <a:noAutofit/>
          </a:bodyPr>
          <a:lstStyle/>
          <a:p>
            <a:pPr algn="ctr"/>
            <a:r>
              <a:rPr lang="en-US" sz="1050" b="1">
                <a:solidFill>
                  <a:srgbClr val="0F1420"/>
                </a:solidFill>
                <a:latin typeface="Calibri"/>
              </a:rPr>
              <a:t>valcache</a:t>
            </a:r>
          </a:p>
          <a:p>
            <a:pPr algn="ctr"/>
            <a:r>
              <a:rPr lang="en-US" sz="950">
                <a:solidFill>
                  <a:srgbClr val="0F1420"/>
                </a:solidFill>
                <a:latin typeface="Calibri"/>
              </a:rPr>
              <a:t>local SSD</a:t>
            </a:r>
          </a:p>
        </p:txBody>
      </p:sp>
      <p:sp>
        <p:nvSpPr>
          <p:cNvPr id="7" name="t"/>
          <p:cNvSpPr txBox="1"/>
          <p:nvPr/>
        </p:nvSpPr>
        <p:spPr>
          <a:xfrm>
            <a:off x="262890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microseconds</a:t>
            </a:r>
          </a:p>
        </p:txBody>
      </p:sp>
      <p:sp>
        <p:nvSpPr>
          <p:cNvPr id="8" name="t"/>
          <p:cNvSpPr txBox="1"/>
          <p:nvPr/>
        </p:nvSpPr>
        <p:spPr>
          <a:xfrm>
            <a:off x="448056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9" name="t"/>
          <p:cNvSpPr txBox="1"/>
          <p:nvPr/>
        </p:nvSpPr>
        <p:spPr>
          <a:xfrm>
            <a:off x="4754880" y="766064"/>
            <a:ext cx="1760220" cy="502920"/>
          </a:xfrm>
          <a:prstGeom prst="roundRect">
            <a:avLst/>
          </a:prstGeom>
          <a:solidFill>
            <a:srgbClr val="FFC66D"/>
          </a:solidFill>
        </p:spPr>
        <p:txBody>
          <a:bodyPr wrap="square" lIns="91440" tIns="45720" rIns="91440" bIns="45720">
            <a:noAutofit/>
          </a:bodyPr>
          <a:lstStyle/>
          <a:p>
            <a:pPr algn="ctr"/>
            <a:r>
              <a:rPr lang="en-US" sz="1050" b="1">
                <a:solidFill>
                  <a:srgbClr val="0F1420"/>
                </a:solidFill>
                <a:latin typeface="Calibri"/>
              </a:rPr>
              <a:t>memcached</a:t>
            </a:r>
          </a:p>
          <a:p>
            <a:pPr algn="ctr"/>
            <a:r>
              <a:rPr lang="en-US" sz="950">
                <a:solidFill>
                  <a:srgbClr val="0F1420"/>
                </a:solidFill>
                <a:latin typeface="Calibri"/>
              </a:rPr>
              <a:t>network</a:t>
            </a:r>
          </a:p>
        </p:txBody>
      </p:sp>
      <p:sp>
        <p:nvSpPr>
          <p:cNvPr id="10" name="t"/>
          <p:cNvSpPr txBox="1"/>
          <p:nvPr/>
        </p:nvSpPr>
        <p:spPr>
          <a:xfrm>
            <a:off x="475488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sub-millisecond</a:t>
            </a:r>
          </a:p>
        </p:txBody>
      </p:sp>
      <p:sp>
        <p:nvSpPr>
          <p:cNvPr id="11" name="t"/>
          <p:cNvSpPr txBox="1"/>
          <p:nvPr/>
        </p:nvSpPr>
        <p:spPr>
          <a:xfrm>
            <a:off x="660654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12" name="t"/>
          <p:cNvSpPr txBox="1"/>
          <p:nvPr/>
        </p:nvSpPr>
        <p:spPr>
          <a:xfrm>
            <a:off x="6880860" y="766064"/>
            <a:ext cx="1760220" cy="502920"/>
          </a:xfrm>
          <a:prstGeom prst="roundRect">
            <a:avLst/>
          </a:prstGeom>
          <a:solidFill>
            <a:srgbClr val="6FA8FF"/>
          </a:solidFill>
        </p:spPr>
        <p:txBody>
          <a:bodyPr wrap="square" lIns="91440" tIns="45720" rIns="91440" bIns="45720">
            <a:noAutofit/>
          </a:bodyPr>
          <a:lstStyle/>
          <a:p>
            <a:pPr algn="ctr"/>
            <a:r>
              <a:rPr lang="en-US" sz="1050" b="1">
                <a:solidFill>
                  <a:srgbClr val="0F1420"/>
                </a:solidFill>
                <a:latin typeface="Calibri"/>
              </a:rPr>
              <a:t>storage</a:t>
            </a:r>
          </a:p>
          <a:p>
            <a:pPr algn="ctr"/>
            <a:r>
              <a:rPr lang="en-US" sz="950">
                <a:solidFill>
                  <a:srgbClr val="0F1420"/>
                </a:solidFill>
                <a:latin typeface="Calibri"/>
              </a:rPr>
              <a:t>Postgres / DDB / S3</a:t>
            </a:r>
          </a:p>
        </p:txBody>
      </p:sp>
      <p:sp>
        <p:nvSpPr>
          <p:cNvPr id="13" name="t"/>
          <p:cNvSpPr txBox="1"/>
          <p:nvPr/>
        </p:nvSpPr>
        <p:spPr>
          <a:xfrm>
            <a:off x="6880860" y="1314704"/>
            <a:ext cx="1760220" cy="182880"/>
          </a:xfrm>
          <a:prstGeom prst="rect">
            <a:avLst/>
          </a:prstGeom>
        </p:spPr>
        <p:txBody>
          <a:bodyPr wrap="square" lIns="91440" tIns="45720" rIns="91440" bIns="45720">
            <a:noAutofit/>
          </a:bodyPr>
          <a:lstStyle/>
          <a:p>
            <a:pPr algn="ctr"/>
            <a:r>
              <a:rPr lang="en-US" sz="950">
                <a:solidFill>
                  <a:srgbClr val="8FA0B8"/>
                </a:solidFill>
                <a:latin typeface="Calibri"/>
              </a:rPr>
              <a:t>milliseconds</a:t>
            </a:r>
          </a:p>
        </p:txBody>
      </p:sp>
      <p:sp>
        <p:nvSpPr>
          <p:cNvPr id="14" name="t"/>
          <p:cNvSpPr txBox="1"/>
          <p:nvPr/>
        </p:nvSpPr>
        <p:spPr>
          <a:xfrm>
            <a:off x="502920" y="1707896"/>
            <a:ext cx="8138160" cy="186944"/>
          </a:xfrm>
          <a:prstGeom prst="rect">
            <a:avLst/>
          </a:prstGeom>
        </p:spPr>
        <p:txBody>
          <a:bodyPr wrap="square" lIns="91440" tIns="45720" rIns="91440" bIns="45720">
            <a:noAutofit/>
          </a:bodyPr>
          <a:lstStyle/>
          <a:p>
            <a:r>
              <a:rPr lang="en-US" sz="1150">
                <a:solidFill>
                  <a:srgbClr val="E8EDF6"/>
                </a:solidFill>
                <a:latin typeface="Calibri"/>
              </a:rPr>
              <a:t>▸ A miss falls through to the next tier and populates every tier above it on the way back</a:t>
            </a:r>
          </a:p>
        </p:txBody>
      </p:sp>
      <p:sp>
        <p:nvSpPr>
          <p:cNvPr id="15" name="t"/>
          <p:cNvSpPr txBox="1"/>
          <p:nvPr/>
        </p:nvSpPr>
        <p:spPr>
          <a:xfrm>
            <a:off x="502920" y="1894840"/>
            <a:ext cx="8138160" cy="186944"/>
          </a:xfrm>
          <a:prstGeom prst="rect">
            <a:avLst/>
          </a:prstGeom>
        </p:spPr>
        <p:txBody>
          <a:bodyPr wrap="square" lIns="91440" tIns="45720" rIns="91440" bIns="45720">
            <a:noAutofit/>
          </a:bodyPr>
          <a:lstStyle/>
          <a:p>
            <a:r>
              <a:rPr lang="en-US" sz="1150">
                <a:solidFill>
                  <a:srgbClr val="E8EDF6"/>
                </a:solidFill>
                <a:latin typeface="Calibri"/>
              </a:rPr>
              <a:t>▸ Every tier caches the same thing: immutable segments</a:t>
            </a:r>
          </a:p>
        </p:txBody>
      </p:sp>
      <p:sp>
        <p:nvSpPr>
          <p:cNvPr id="16" name="t"/>
          <p:cNvSpPr txBox="1"/>
          <p:nvPr/>
        </p:nvSpPr>
        <p:spPr>
          <a:xfrm>
            <a:off x="502920" y="2081784"/>
            <a:ext cx="8138160" cy="186944"/>
          </a:xfrm>
          <a:prstGeom prst="rect">
            <a:avLst/>
          </a:prstGeom>
        </p:spPr>
        <p:txBody>
          <a:bodyPr wrap="square" lIns="91440" tIns="45720" rIns="91440" bIns="45720">
            <a:noAutofit/>
          </a:bodyPr>
          <a:lstStyle/>
          <a:p>
            <a:r>
              <a:rPr lang="en-US" sz="1150">
                <a:solidFill>
                  <a:srgbClr val="E8EDF6"/>
                </a:solidFill>
                <a:latin typeface="Calibri"/>
              </a:rPr>
              <a:t>▸ All of it is transparent to application code — there is no cache API</a:t>
            </a:r>
          </a:p>
        </p:txBody>
      </p:sp>
      <p:sp>
        <p:nvSpPr>
          <p:cNvPr id="17" name="t"/>
          <p:cNvSpPr txBox="1"/>
          <p:nvPr/>
        </p:nvSpPr>
        <p:spPr>
          <a:xfrm>
            <a:off x="502920" y="2268728"/>
            <a:ext cx="8138160" cy="186944"/>
          </a:xfrm>
          <a:prstGeom prst="rect">
            <a:avLst/>
          </a:prstGeom>
        </p:spPr>
        <p:txBody>
          <a:bodyPr wrap="square" lIns="91440" tIns="45720" rIns="91440" bIns="45720">
            <a:noAutofit/>
          </a:bodyPr>
          <a:lstStyle/>
          <a:p>
            <a:r>
              <a:rPr lang="en-US" sz="1150">
                <a:solidFill>
                  <a:srgbClr val="FFC66D"/>
                </a:solidFill>
                <a:latin typeface="Calibri"/>
              </a:rPr>
              <a:t>▸ The only cache you MUST size is the object cache</a:t>
            </a:r>
          </a:p>
        </p:txBody>
      </p:sp>
      <p:sp>
        <p:nvSpPr>
          <p:cNvPr id="1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Tier 1 — the object cache</a:t>
            </a:r>
          </a:p>
        </p:txBody>
      </p:sp>
      <p:sp>
        <p:nvSpPr>
          <p:cNvPr id="3" name="t"/>
          <p:cNvSpPr txBox="1"/>
          <p:nvPr/>
        </p:nvSpPr>
        <p:spPr>
          <a:xfrm>
            <a:off x="502920" y="766064"/>
            <a:ext cx="8138160" cy="390144"/>
          </a:xfrm>
          <a:prstGeom prst="rect">
            <a:avLst/>
          </a:prstGeom>
        </p:spPr>
        <p:txBody>
          <a:bodyPr wrap="square" lIns="91440" tIns="45720" rIns="91440" bIns="45720">
            <a:noAutofit/>
          </a:bodyPr>
          <a:lstStyle/>
          <a:p>
            <a:r>
              <a:rPr lang="en-US" sz="1200">
                <a:solidFill>
                  <a:srgbClr val="E8EDF6"/>
                </a:solidFill>
                <a:latin typeface="Calibri"/>
              </a:rPr>
              <a:t>▸ In-process, on the JVM heap, holding decompressed segments as Java objects. A hit costs no I/O and no decompression.</a:t>
            </a:r>
          </a:p>
        </p:txBody>
      </p:sp>
      <p:sp>
        <p:nvSpPr>
          <p:cNvPr id="4" name="t"/>
          <p:cNvSpPr txBox="1"/>
          <p:nvPr/>
        </p:nvSpPr>
        <p:spPr>
          <a:xfrm>
            <a:off x="502920" y="1156208"/>
            <a:ext cx="8138160" cy="195072"/>
          </a:xfrm>
          <a:prstGeom prst="rect">
            <a:avLst/>
          </a:prstGeom>
        </p:spPr>
        <p:txBody>
          <a:bodyPr wrap="square" lIns="91440" tIns="45720" rIns="91440" bIns="45720">
            <a:noAutofit/>
          </a:bodyPr>
          <a:lstStyle/>
          <a:p>
            <a:r>
              <a:rPr lang="en-US" sz="1200">
                <a:solidFill>
                  <a:srgbClr val="E8EDF6"/>
                </a:solidFill>
                <a:latin typeface="Calibri"/>
              </a:rPr>
              <a:t>▸ Every Datomic process has one: each peer, each Peer Server, and the transactor.</a:t>
            </a:r>
          </a:p>
        </p:txBody>
      </p:sp>
      <p:sp>
        <p:nvSpPr>
          <p:cNvPr id="5" name="t"/>
          <p:cNvSpPr txBox="1"/>
          <p:nvPr/>
        </p:nvSpPr>
        <p:spPr>
          <a:xfrm>
            <a:off x="502920" y="1351280"/>
            <a:ext cx="8138160" cy="195072"/>
          </a:xfrm>
          <a:prstGeom prst="rect">
            <a:avLst/>
          </a:prstGeom>
        </p:spPr>
        <p:txBody>
          <a:bodyPr wrap="square" lIns="91440" tIns="45720" rIns="91440" bIns="45720">
            <a:noAutofit/>
          </a:bodyPr>
          <a:lstStyle/>
          <a:p>
            <a:r>
              <a:rPr lang="en-US" sz="1200">
                <a:solidFill>
                  <a:srgbClr val="7BD88F"/>
                </a:solidFill>
                <a:latin typeface="Calibri"/>
              </a:rPr>
              <a:t>▸ LRU. Never invalidated — entries are only evicted.</a:t>
            </a:r>
          </a:p>
        </p:txBody>
      </p:sp>
      <p:sp>
        <p:nvSpPr>
          <p:cNvPr id="6" name="t"/>
          <p:cNvSpPr txBox="1"/>
          <p:nvPr/>
        </p:nvSpPr>
        <p:spPr>
          <a:xfrm>
            <a:off x="502920" y="1710944"/>
            <a:ext cx="8138160" cy="949960"/>
          </a:xfrm>
          <a:prstGeom prst="roundRect">
            <a:avLst/>
          </a:prstGeom>
          <a:solidFill>
            <a:srgbClr val="141B28"/>
          </a:solidFill>
        </p:spPr>
        <p:txBody>
          <a:bodyPr wrap="square" lIns="91440" tIns="45720" rIns="91440" bIns="45720">
            <a:noAutofit/>
          </a:bodyPr>
          <a:lstStyle/>
          <a:p>
            <a:r>
              <a:rPr lang="en-US" sz="1000">
                <a:solidFill>
                  <a:srgbClr val="7BD88F"/>
                </a:solidFill>
                <a:latin typeface="Courier New"/>
              </a:rPr>
              <a:t># transactor.properties — mandatory since 0.8.4110</a:t>
            </a:r>
          </a:p>
          <a:p>
            <a:r>
              <a:rPr lang="en-US" sz="1000">
                <a:solidFill>
                  <a:srgbClr val="7BD88F"/>
                </a:solidFill>
                <a:latin typeface="Courier New"/>
              </a:rPr>
              <a:t>object-cache-max=1g</a:t>
            </a:r>
          </a:p>
          <a:p>
            <a:endParaRPr lang="en-US" sz="1000"/>
          </a:p>
          <a:p>
            <a:r>
              <a:rPr lang="en-US" sz="1000">
                <a:solidFill>
                  <a:srgbClr val="7BD88F"/>
                </a:solidFill>
                <a:latin typeface="Courier New"/>
              </a:rPr>
              <a:t># peer, before the peer library loads</a:t>
            </a:r>
          </a:p>
          <a:p>
            <a:r>
              <a:rPr lang="en-US" sz="1000">
                <a:solidFill>
                  <a:srgbClr val="7BD88F"/>
                </a:solidFill>
                <a:latin typeface="Courier New"/>
              </a:rPr>
              <a:t>-Ddatomic.objectCacheMax=2g     # default: 50% of VM RAM, min 32m</a:t>
            </a:r>
          </a:p>
        </p:txBody>
      </p:sp>
      <p:sp>
        <p:nvSpPr>
          <p:cNvPr id="7" name="t"/>
          <p:cNvSpPr txBox="1"/>
          <p:nvPr/>
        </p:nvSpPr>
        <p:spPr>
          <a:xfrm>
            <a:off x="502920" y="2825496"/>
            <a:ext cx="45720" cy="449072"/>
          </a:xfrm>
          <a:prstGeom prst="rect">
            <a:avLst/>
          </a:prstGeom>
          <a:solidFill>
            <a:srgbClr val="7BD88F"/>
          </a:solidFill>
        </p:spPr>
        <p:txBody>
          <a:bodyPr wrap="square" lIns="91440" tIns="45720" rIns="91440" bIns="45720">
            <a:noAutofit/>
          </a:bodyPr>
          <a:lstStyle/>
        </p:txBody>
      </p:sp>
      <p:sp>
        <p:nvSpPr>
          <p:cNvPr id="8" name="t"/>
          <p:cNvSpPr txBox="1"/>
          <p:nvPr/>
        </p:nvSpPr>
        <p:spPr>
          <a:xfrm>
            <a:off x="594360" y="2825496"/>
            <a:ext cx="8046720" cy="449072"/>
          </a:xfrm>
          <a:prstGeom prst="rect">
            <a:avLst/>
          </a:prstGeom>
        </p:spPr>
        <p:txBody>
          <a:bodyPr wrap="square" lIns="91440" tIns="45720" rIns="91440" bIns="45720">
            <a:noAutofit/>
          </a:bodyPr>
          <a:lstStyle/>
          <a:p>
            <a:r>
              <a:rPr lang="en-US" sz="1100">
                <a:solidFill>
                  <a:srgbClr val="E8EDF6"/>
                </a:solidFill>
                <a:latin typeface="Calibri"/>
              </a:rPr>
              <a:t>●  Peer sizing rule of thumb on a 4 GB heap: 2 GB object cache, 512 MB for the memory index, 1.5 GB for your application. Watch the ObjectCache metric — it is a hit ratio between 0 and 1.</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Tier 2 — valcache, on local SSD</a:t>
            </a:r>
          </a:p>
        </p:txBody>
      </p:sp>
      <p:sp>
        <p:nvSpPr>
          <p:cNvPr id="3" name="t"/>
          <p:cNvSpPr txBox="1"/>
          <p:nvPr/>
        </p:nvSpPr>
        <p:spPr>
          <a:xfrm>
            <a:off x="502920" y="766064"/>
            <a:ext cx="8138160" cy="390144"/>
          </a:xfrm>
          <a:prstGeom prst="rect">
            <a:avLst/>
          </a:prstGeom>
        </p:spPr>
        <p:txBody>
          <a:bodyPr wrap="square" lIns="91440" tIns="45720" rIns="91440" bIns="45720">
            <a:noAutofit/>
          </a:bodyPr>
          <a:lstStyle/>
          <a:p>
            <a:r>
              <a:rPr lang="en-US" sz="1200">
                <a:solidFill>
                  <a:srgbClr val="C09BFF"/>
                </a:solidFill>
                <a:latin typeface="Calibri"/>
              </a:rPr>
              <a:t>▸ A durable, high-capacity segment cache on NVMe SSD, on the same machine as the peer or transactor it serves</a:t>
            </a:r>
          </a:p>
        </p:txBody>
      </p:sp>
      <p:sp>
        <p:nvSpPr>
          <p:cNvPr id="4" name="t"/>
          <p:cNvSpPr txBox="1"/>
          <p:nvPr/>
        </p:nvSpPr>
        <p:spPr>
          <a:xfrm>
            <a:off x="502920" y="1156208"/>
            <a:ext cx="8138160" cy="195072"/>
          </a:xfrm>
          <a:prstGeom prst="rect">
            <a:avLst/>
          </a:prstGeom>
        </p:spPr>
        <p:txBody>
          <a:bodyPr wrap="square" lIns="91440" tIns="45720" rIns="91440" bIns="45720">
            <a:noAutofit/>
          </a:bodyPr>
          <a:lstStyle/>
          <a:p>
            <a:r>
              <a:rPr lang="en-US" sz="1200">
                <a:solidFill>
                  <a:srgbClr val="7BD88F"/>
                </a:solidFill>
                <a:latin typeface="Calibri"/>
              </a:rPr>
              <a:t>▸ Survives process restarts — a restarted peer comes back warm</a:t>
            </a:r>
          </a:p>
        </p:txBody>
      </p:sp>
      <p:sp>
        <p:nvSpPr>
          <p:cNvPr id="5" name="t"/>
          <p:cNvSpPr txBox="1"/>
          <p:nvPr/>
        </p:nvSpPr>
        <p:spPr>
          <a:xfrm>
            <a:off x="502920" y="1351280"/>
            <a:ext cx="8138160" cy="390144"/>
          </a:xfrm>
          <a:prstGeom prst="rect">
            <a:avLst/>
          </a:prstGeom>
        </p:spPr>
        <p:txBody>
          <a:bodyPr wrap="square" lIns="91440" tIns="45720" rIns="91440" bIns="45720">
            <a:noAutofit/>
          </a:bodyPr>
          <a:lstStyle/>
          <a:p>
            <a:r>
              <a:rPr lang="en-US" sz="1200">
                <a:solidFill>
                  <a:srgbClr val="E8EDF6"/>
                </a:solidFill>
                <a:latin typeface="Calibri"/>
              </a:rPr>
              <a:t>▸ Datomic recommends it over memcached for most workloads: bigger and hotter cache, similar latency, lower cost</a:t>
            </a:r>
          </a:p>
        </p:txBody>
      </p:sp>
      <p:sp>
        <p:nvSpPr>
          <p:cNvPr id="6" name="t"/>
          <p:cNvSpPr txBox="1"/>
          <p:nvPr/>
        </p:nvSpPr>
        <p:spPr>
          <a:xfrm>
            <a:off x="502920" y="1906016"/>
            <a:ext cx="8138160" cy="478536"/>
          </a:xfrm>
          <a:prstGeom prst="roundRect">
            <a:avLst/>
          </a:prstGeom>
          <a:solidFill>
            <a:srgbClr val="141B28"/>
          </a:solidFill>
        </p:spPr>
        <p:txBody>
          <a:bodyPr wrap="square" lIns="91440" tIns="45720" rIns="91440" bIns="45720">
            <a:noAutofit/>
          </a:bodyPr>
          <a:lstStyle/>
          <a:p>
            <a:r>
              <a:rPr lang="en-US" sz="1050">
                <a:solidFill>
                  <a:srgbClr val="C09BFF"/>
                </a:solidFill>
                <a:latin typeface="Courier New"/>
              </a:rPr>
              <a:t>-Ddatomic.valcachePath=/mnt/nvme/valcache</a:t>
            </a:r>
          </a:p>
          <a:p>
            <a:r>
              <a:rPr lang="en-US" sz="1050">
                <a:solidFill>
                  <a:srgbClr val="C09BFF"/>
                </a:solidFill>
                <a:latin typeface="Courier New"/>
              </a:rPr>
              <a:t>-Ddatomic.valcacheMaxGb=200</a:t>
            </a:r>
          </a:p>
        </p:txBody>
      </p:sp>
      <p:sp>
        <p:nvSpPr>
          <p:cNvPr id="7" name="t"/>
          <p:cNvSpPr txBox="1"/>
          <p:nvPr/>
        </p:nvSpPr>
        <p:spPr>
          <a:xfrm>
            <a:off x="502920" y="2549144"/>
            <a:ext cx="45720" cy="449072"/>
          </a:xfrm>
          <a:prstGeom prst="rect">
            <a:avLst/>
          </a:prstGeom>
          <a:solidFill>
            <a:srgbClr val="F28FAD"/>
          </a:solidFill>
        </p:spPr>
        <p:txBody>
          <a:bodyPr wrap="square" lIns="91440" tIns="45720" rIns="91440" bIns="45720">
            <a:noAutofit/>
          </a:bodyPr>
          <a:lstStyle/>
        </p:txBody>
      </p:sp>
      <p:sp>
        <p:nvSpPr>
          <p:cNvPr id="8" name="t"/>
          <p:cNvSpPr txBox="1"/>
          <p:nvPr/>
        </p:nvSpPr>
        <p:spPr>
          <a:xfrm>
            <a:off x="594360" y="2549144"/>
            <a:ext cx="8046720" cy="449072"/>
          </a:xfrm>
          <a:prstGeom prst="rect">
            <a:avLst/>
          </a:prstGeom>
        </p:spPr>
        <p:txBody>
          <a:bodyPr wrap="square" lIns="91440" tIns="45720" rIns="91440" bIns="45720">
            <a:noAutofit/>
          </a:bodyPr>
          <a:lstStyle/>
          <a:p>
            <a:r>
              <a:rPr lang="en-US" sz="1100">
                <a:solidFill>
                  <a:srgbClr val="E8EDF6"/>
                </a:solidFill>
                <a:latin typeface="Calibri"/>
              </a:rPr>
              <a:t>⚠  The mount must have both strictatime and lazytime. Get this wrong and valcache will not behave as intended — it relies on access times for its eviction.</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Tier 3 — the memcached tier</a:t>
            </a:r>
          </a:p>
        </p:txBody>
      </p:sp>
      <p:sp>
        <p:nvSpPr>
          <p:cNvPr id="3" name="t"/>
          <p:cNvSpPr txBox="1"/>
          <p:nvPr/>
        </p:nvSpPr>
        <p:spPr>
          <a:xfrm>
            <a:off x="502920" y="766064"/>
            <a:ext cx="8138160" cy="186944"/>
          </a:xfrm>
          <a:prstGeom prst="rect">
            <a:avLst/>
          </a:prstGeom>
        </p:spPr>
        <p:txBody>
          <a:bodyPr wrap="square" lIns="91440" tIns="45720" rIns="91440" bIns="45720">
            <a:noAutofit/>
          </a:bodyPr>
          <a:lstStyle/>
          <a:p>
            <a:r>
              <a:rPr lang="en-US" sz="1150">
                <a:solidFill>
                  <a:srgbClr val="FFC66D"/>
                </a:solidFill>
                <a:latin typeface="Calibri"/>
              </a:rPr>
              <a:t>▸ An external memcached cluster, shared by every peer AND the transactor</a:t>
            </a:r>
          </a:p>
        </p:txBody>
      </p:sp>
      <p:sp>
        <p:nvSpPr>
          <p:cNvPr id="4" name="t"/>
          <p:cNvSpPr txBox="1"/>
          <p:nvPr/>
        </p:nvSpPr>
        <p:spPr>
          <a:xfrm>
            <a:off x="502920" y="953008"/>
            <a:ext cx="8138160" cy="186944"/>
          </a:xfrm>
          <a:prstGeom prst="rect">
            <a:avLst/>
          </a:prstGeom>
        </p:spPr>
        <p:txBody>
          <a:bodyPr wrap="square" lIns="91440" tIns="45720" rIns="91440" bIns="45720">
            <a:noAutofit/>
          </a:bodyPr>
          <a:lstStyle/>
          <a:p>
            <a:r>
              <a:rPr lang="en-US" sz="1150">
                <a:solidFill>
                  <a:srgbClr val="7BD88F"/>
                </a:solidFill>
                <a:latin typeface="Calibri"/>
              </a:rPr>
              <a:t>▸ The only tier that is shared across processes — one peer warming a segment warms it for everyone</a:t>
            </a:r>
          </a:p>
        </p:txBody>
      </p:sp>
      <p:sp>
        <p:nvSpPr>
          <p:cNvPr id="5" name="t"/>
          <p:cNvSpPr txBox="1"/>
          <p:nvPr/>
        </p:nvSpPr>
        <p:spPr>
          <a:xfrm>
            <a:off x="502920" y="1139952"/>
            <a:ext cx="8138160" cy="186944"/>
          </a:xfrm>
          <a:prstGeom prst="rect">
            <a:avLst/>
          </a:prstGeom>
        </p:spPr>
        <p:txBody>
          <a:bodyPr wrap="square" lIns="91440" tIns="45720" rIns="91440" bIns="45720">
            <a:noAutofit/>
          </a:bodyPr>
          <a:lstStyle/>
          <a:p>
            <a:r>
              <a:rPr lang="en-US" sz="1150">
                <a:solidFill>
                  <a:srgbClr val="E8EDF6"/>
                </a:solidFill>
                <a:latin typeface="Calibri"/>
              </a:rPr>
              <a:t>▸ Cache keys are UUIDs, so Datomic can coexist with other tenants in the same memcached installation</a:t>
            </a:r>
          </a:p>
        </p:txBody>
      </p:sp>
      <p:sp>
        <p:nvSpPr>
          <p:cNvPr id="6" name="t"/>
          <p:cNvSpPr txBox="1"/>
          <p:nvPr/>
        </p:nvSpPr>
        <p:spPr>
          <a:xfrm>
            <a:off x="502920" y="1326896"/>
            <a:ext cx="8138160" cy="186944"/>
          </a:xfrm>
          <a:prstGeom prst="rect">
            <a:avLst/>
          </a:prstGeom>
        </p:spPr>
        <p:txBody>
          <a:bodyPr wrap="square" lIns="91440" tIns="45720" rIns="91440" bIns="45720">
            <a:noAutofit/>
          </a:bodyPr>
          <a:lstStyle/>
          <a:p>
            <a:r>
              <a:rPr lang="en-US" sz="1150">
                <a:solidFill>
                  <a:srgbClr val="E8EDF6"/>
                </a:solidFill>
                <a:latin typeface="Calibri"/>
              </a:rPr>
              <a:t>▸ Entries expire on a TTL, 30 days by default. That is eviction, not invalidation.</a:t>
            </a:r>
          </a:p>
        </p:txBody>
      </p:sp>
      <p:sp>
        <p:nvSpPr>
          <p:cNvPr id="7" name="t"/>
          <p:cNvSpPr txBox="1"/>
          <p:nvPr/>
        </p:nvSpPr>
        <p:spPr>
          <a:xfrm>
            <a:off x="502920" y="1632712"/>
            <a:ext cx="8138160" cy="1093008"/>
          </a:xfrm>
          <a:prstGeom prst="roundRect">
            <a:avLst/>
          </a:prstGeom>
          <a:solidFill>
            <a:srgbClr val="141B28"/>
          </a:solidFill>
        </p:spPr>
        <p:txBody>
          <a:bodyPr wrap="square" lIns="91440" tIns="45720" rIns="91440" bIns="45720">
            <a:noAutofit/>
          </a:bodyPr>
          <a:lstStyle/>
          <a:p>
            <a:r>
              <a:rPr lang="en-US" sz="980">
                <a:solidFill>
                  <a:srgbClr val="7BD88F"/>
                </a:solidFill>
                <a:latin typeface="Courier New"/>
              </a:rPr>
              <a:t># transactor.properties</a:t>
            </a:r>
          </a:p>
          <a:p>
            <a:r>
              <a:rPr lang="en-US" sz="980">
                <a:solidFill>
                  <a:srgbClr val="7BD88F"/>
                </a:solidFill>
                <a:latin typeface="Courier New"/>
              </a:rPr>
              <a:t>memcached=cache1:11211,cache2:11211</a:t>
            </a:r>
          </a:p>
          <a:p>
            <a:endParaRPr lang="en-US" sz="980"/>
          </a:p>
          <a:p>
            <a:r>
              <a:rPr lang="en-US" sz="980">
                <a:solidFill>
                  <a:srgbClr val="7BD88F"/>
                </a:solidFill>
                <a:latin typeface="Courier New"/>
              </a:rPr>
              <a:t># peer</a:t>
            </a:r>
          </a:p>
          <a:p>
            <a:r>
              <a:rPr lang="en-US" sz="980">
                <a:solidFill>
                  <a:srgbClr val="7BD88F"/>
                </a:solidFill>
                <a:latin typeface="Courier New"/>
              </a:rPr>
              <a:t>-Ddatomic.memcachedServers=cache1:11211,cache2:11211</a:t>
            </a:r>
          </a:p>
          <a:p>
            <a:r>
              <a:rPr lang="en-US" sz="980">
                <a:solidFill>
                  <a:srgbClr val="7BD88F"/>
                </a:solidFill>
                <a:latin typeface="Courier New"/>
              </a:rPr>
              <a:t>-Ddatomic.memcachedAutoDiscovery=true     # ElastiCache</a:t>
            </a:r>
          </a:p>
        </p:txBody>
      </p:sp>
      <p:sp>
        <p:nvSpPr>
          <p:cNvPr id="8" name="t"/>
          <p:cNvSpPr txBox="1"/>
          <p:nvPr/>
        </p:nvSpPr>
        <p:spPr>
          <a:xfrm>
            <a:off x="502920" y="2844592"/>
            <a:ext cx="45720" cy="449072"/>
          </a:xfrm>
          <a:prstGeom prst="rect">
            <a:avLst/>
          </a:prstGeom>
          <a:solidFill>
            <a:srgbClr val="FFC66D"/>
          </a:solidFill>
        </p:spPr>
        <p:txBody>
          <a:bodyPr wrap="square" lIns="91440" tIns="45720" rIns="91440" bIns="45720">
            <a:noAutofit/>
          </a:bodyPr>
          <a:lstStyle/>
        </p:txBody>
      </p:sp>
      <p:sp>
        <p:nvSpPr>
          <p:cNvPr id="9" name="t"/>
          <p:cNvSpPr txBox="1"/>
          <p:nvPr/>
        </p:nvSpPr>
        <p:spPr>
          <a:xfrm>
            <a:off x="594360" y="2844592"/>
            <a:ext cx="8046720" cy="449072"/>
          </a:xfrm>
          <a:prstGeom prst="rect">
            <a:avLst/>
          </a:prstGeom>
        </p:spPr>
        <p:txBody>
          <a:bodyPr wrap="square" lIns="91440" tIns="45720" rIns="91440" bIns="45720">
            <a:noAutofit/>
          </a:bodyPr>
          <a:lstStyle/>
          <a:p>
            <a:r>
              <a:rPr lang="en-US" sz="1100">
                <a:solidFill>
                  <a:srgbClr val="E8EDF6"/>
                </a:solidFill>
                <a:latin typeface="Calibri"/>
              </a:rPr>
              <a:t>⚠  Changing the server list requires restarting the peers and transactor that use it. Watch the Memcache hit-ratio metric: substantially below 1.0 means grow the cluster.</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Where the tiers physically sit</a:t>
            </a:r>
          </a:p>
        </p:txBody>
      </p:sp>
      <p:sp>
        <p:nvSpPr>
          <p:cNvPr id="3" name="t"/>
          <p:cNvSpPr txBox="1"/>
          <p:nvPr/>
        </p:nvSpPr>
        <p:spPr>
          <a:xfrm>
            <a:off x="502920" y="766064"/>
            <a:ext cx="3954780" cy="203200"/>
          </a:xfrm>
          <a:prstGeom prst="rect">
            <a:avLst/>
          </a:prstGeom>
        </p:spPr>
        <p:txBody>
          <a:bodyPr wrap="square" lIns="91440" tIns="45720" rIns="91440" bIns="45720">
            <a:noAutofit/>
          </a:bodyPr>
          <a:lstStyle/>
          <a:p>
            <a:r>
              <a:rPr lang="en-US" sz="1250" b="1">
                <a:solidFill>
                  <a:srgbClr val="7BD88F"/>
                </a:solidFill>
                <a:latin typeface="Calibri"/>
              </a:rPr>
              <a:t>Peer topology</a:t>
            </a:r>
          </a:p>
        </p:txBody>
      </p:sp>
      <p:sp>
        <p:nvSpPr>
          <p:cNvPr id="4" name="t"/>
          <p:cNvSpPr txBox="1"/>
          <p:nvPr/>
        </p:nvSpPr>
        <p:spPr>
          <a:xfrm>
            <a:off x="502920" y="1088136"/>
            <a:ext cx="3954780" cy="170688"/>
          </a:xfrm>
          <a:prstGeom prst="rect">
            <a:avLst/>
          </a:prstGeom>
        </p:spPr>
        <p:txBody>
          <a:bodyPr wrap="square" lIns="91440" tIns="45720" rIns="91440" bIns="45720">
            <a:noAutofit/>
          </a:bodyPr>
          <a:lstStyle/>
          <a:p>
            <a:r>
              <a:rPr lang="en-US" sz="1050">
                <a:solidFill>
                  <a:srgbClr val="E8EDF6"/>
                </a:solidFill>
                <a:latin typeface="Calibri"/>
              </a:rPr>
              <a:t>· app JVM: object cache + memory index</a:t>
            </a:r>
          </a:p>
        </p:txBody>
      </p:sp>
      <p:sp>
        <p:nvSpPr>
          <p:cNvPr id="5" name="t"/>
          <p:cNvSpPr txBox="1"/>
          <p:nvPr/>
        </p:nvSpPr>
        <p:spPr>
          <a:xfrm>
            <a:off x="502920" y="1258824"/>
            <a:ext cx="3954780" cy="170688"/>
          </a:xfrm>
          <a:prstGeom prst="rect">
            <a:avLst/>
          </a:prstGeom>
        </p:spPr>
        <p:txBody>
          <a:bodyPr wrap="square" lIns="91440" tIns="45720" rIns="91440" bIns="45720">
            <a:noAutofit/>
          </a:bodyPr>
          <a:lstStyle/>
          <a:p>
            <a:r>
              <a:rPr lang="en-US" sz="1050">
                <a:solidFill>
                  <a:srgbClr val="E8EDF6"/>
                </a:solidFill>
                <a:latin typeface="Calibri"/>
              </a:rPr>
              <a:t>· same host: valcache on SSD</a:t>
            </a:r>
          </a:p>
        </p:txBody>
      </p:sp>
      <p:sp>
        <p:nvSpPr>
          <p:cNvPr id="6" name="t"/>
          <p:cNvSpPr txBox="1"/>
          <p:nvPr/>
        </p:nvSpPr>
        <p:spPr>
          <a:xfrm>
            <a:off x="502920" y="1429512"/>
            <a:ext cx="3954780" cy="170688"/>
          </a:xfrm>
          <a:prstGeom prst="rect">
            <a:avLst/>
          </a:prstGeom>
        </p:spPr>
        <p:txBody>
          <a:bodyPr wrap="square" lIns="91440" tIns="45720" rIns="91440" bIns="45720">
            <a:noAutofit/>
          </a:bodyPr>
          <a:lstStyle/>
          <a:p>
            <a:r>
              <a:rPr lang="en-US" sz="1050">
                <a:solidFill>
                  <a:srgbClr val="E8EDF6"/>
                </a:solidFill>
                <a:latin typeface="Calibri"/>
              </a:rPr>
              <a:t>· network: memcached cluster</a:t>
            </a:r>
          </a:p>
        </p:txBody>
      </p:sp>
      <p:sp>
        <p:nvSpPr>
          <p:cNvPr id="7" name="t"/>
          <p:cNvSpPr txBox="1"/>
          <p:nvPr/>
        </p:nvSpPr>
        <p:spPr>
          <a:xfrm>
            <a:off x="502920" y="1600200"/>
            <a:ext cx="3954780" cy="170688"/>
          </a:xfrm>
          <a:prstGeom prst="rect">
            <a:avLst/>
          </a:prstGeom>
        </p:spPr>
        <p:txBody>
          <a:bodyPr wrap="square" lIns="91440" tIns="45720" rIns="91440" bIns="45720">
            <a:noAutofit/>
          </a:bodyPr>
          <a:lstStyle/>
          <a:p>
            <a:r>
              <a:rPr lang="en-US" sz="1050">
                <a:solidFill>
                  <a:srgbClr val="E8EDF6"/>
                </a:solidFill>
                <a:latin typeface="Calibri"/>
              </a:rPr>
              <a:t>· network: storage</a:t>
            </a:r>
          </a:p>
        </p:txBody>
      </p:sp>
      <p:sp>
        <p:nvSpPr>
          <p:cNvPr id="8" name="t"/>
          <p:cNvSpPr txBox="1"/>
          <p:nvPr/>
        </p:nvSpPr>
        <p:spPr>
          <a:xfrm>
            <a:off x="502920" y="1889760"/>
            <a:ext cx="3954780" cy="325120"/>
          </a:xfrm>
          <a:prstGeom prst="rect">
            <a:avLst/>
          </a:prstGeom>
        </p:spPr>
        <p:txBody>
          <a:bodyPr wrap="square" lIns="91440" tIns="45720" rIns="91440" bIns="45720">
            <a:noAutofit/>
          </a:bodyPr>
          <a:lstStyle/>
          <a:p>
            <a:r>
              <a:rPr lang="en-US" sz="1000">
                <a:solidFill>
                  <a:srgbClr val="8FA0B8"/>
                </a:solidFill>
                <a:latin typeface="Calibri"/>
              </a:rPr>
              <a:t>Every application process is a cache. Ten app servers means ten independent working sets.</a:t>
            </a:r>
          </a:p>
        </p:txBody>
      </p:sp>
      <p:sp>
        <p:nvSpPr>
          <p:cNvPr id="9" name="t"/>
          <p:cNvSpPr txBox="1"/>
          <p:nvPr/>
        </p:nvSpPr>
        <p:spPr>
          <a:xfrm>
            <a:off x="4686300" y="766064"/>
            <a:ext cx="3954780" cy="203200"/>
          </a:xfrm>
          <a:prstGeom prst="rect">
            <a:avLst/>
          </a:prstGeom>
        </p:spPr>
        <p:txBody>
          <a:bodyPr wrap="square" lIns="91440" tIns="45720" rIns="91440" bIns="45720">
            <a:noAutofit/>
          </a:bodyPr>
          <a:lstStyle/>
          <a:p>
            <a:r>
              <a:rPr lang="en-US" sz="1250" b="1">
                <a:solidFill>
                  <a:srgbClr val="6FA8FF"/>
                </a:solidFill>
                <a:latin typeface="Calibri"/>
              </a:rPr>
              <a:t>Peer Server topology</a:t>
            </a:r>
          </a:p>
        </p:txBody>
      </p:sp>
      <p:sp>
        <p:nvSpPr>
          <p:cNvPr id="10" name="t"/>
          <p:cNvSpPr txBox="1"/>
          <p:nvPr/>
        </p:nvSpPr>
        <p:spPr>
          <a:xfrm>
            <a:off x="4686300" y="1088136"/>
            <a:ext cx="3954780" cy="170688"/>
          </a:xfrm>
          <a:prstGeom prst="rect">
            <a:avLst/>
          </a:prstGeom>
        </p:spPr>
        <p:txBody>
          <a:bodyPr wrap="square" lIns="91440" tIns="45720" rIns="91440" bIns="45720">
            <a:noAutofit/>
          </a:bodyPr>
          <a:lstStyle/>
          <a:p>
            <a:r>
              <a:rPr lang="en-US" sz="1050">
                <a:solidFill>
                  <a:srgbClr val="E8EDF6"/>
                </a:solidFill>
                <a:latin typeface="Calibri"/>
              </a:rPr>
              <a:t>· client process: NOTHING is cached</a:t>
            </a:r>
          </a:p>
        </p:txBody>
      </p:sp>
      <p:sp>
        <p:nvSpPr>
          <p:cNvPr id="11" name="t"/>
          <p:cNvSpPr txBox="1"/>
          <p:nvPr/>
        </p:nvSpPr>
        <p:spPr>
          <a:xfrm>
            <a:off x="4686300" y="1258824"/>
            <a:ext cx="3954780" cy="170688"/>
          </a:xfrm>
          <a:prstGeom prst="rect">
            <a:avLst/>
          </a:prstGeom>
        </p:spPr>
        <p:txBody>
          <a:bodyPr wrap="square" lIns="91440" tIns="45720" rIns="91440" bIns="45720">
            <a:noAutofit/>
          </a:bodyPr>
          <a:lstStyle/>
          <a:p>
            <a:r>
              <a:rPr lang="en-US" sz="1050">
                <a:solidFill>
                  <a:srgbClr val="E8EDF6"/>
                </a:solidFill>
                <a:latin typeface="Calibri"/>
              </a:rPr>
              <a:t>· Peer Server JVM: object cache + memory index</a:t>
            </a:r>
          </a:p>
        </p:txBody>
      </p:sp>
      <p:sp>
        <p:nvSpPr>
          <p:cNvPr id="12" name="t"/>
          <p:cNvSpPr txBox="1"/>
          <p:nvPr/>
        </p:nvSpPr>
        <p:spPr>
          <a:xfrm>
            <a:off x="4686300" y="1429512"/>
            <a:ext cx="3954780" cy="170688"/>
          </a:xfrm>
          <a:prstGeom prst="rect">
            <a:avLst/>
          </a:prstGeom>
        </p:spPr>
        <p:txBody>
          <a:bodyPr wrap="square" lIns="91440" tIns="45720" rIns="91440" bIns="45720">
            <a:noAutofit/>
          </a:bodyPr>
          <a:lstStyle/>
          <a:p>
            <a:r>
              <a:rPr lang="en-US" sz="1050">
                <a:solidFill>
                  <a:srgbClr val="E8EDF6"/>
                </a:solidFill>
                <a:latin typeface="Calibri"/>
              </a:rPr>
              <a:t>· Peer Server host: valcache</a:t>
            </a:r>
          </a:p>
        </p:txBody>
      </p:sp>
      <p:sp>
        <p:nvSpPr>
          <p:cNvPr id="13" name="t"/>
          <p:cNvSpPr txBox="1"/>
          <p:nvPr/>
        </p:nvSpPr>
        <p:spPr>
          <a:xfrm>
            <a:off x="4686300" y="1600200"/>
            <a:ext cx="3954780" cy="170688"/>
          </a:xfrm>
          <a:prstGeom prst="rect">
            <a:avLst/>
          </a:prstGeom>
        </p:spPr>
        <p:txBody>
          <a:bodyPr wrap="square" lIns="91440" tIns="45720" rIns="91440" bIns="45720">
            <a:noAutofit/>
          </a:bodyPr>
          <a:lstStyle/>
          <a:p>
            <a:r>
              <a:rPr lang="en-US" sz="1050">
                <a:solidFill>
                  <a:srgbClr val="E8EDF6"/>
                </a:solidFill>
                <a:latin typeface="Calibri"/>
              </a:rPr>
              <a:t>· network: memcached, storage</a:t>
            </a:r>
          </a:p>
        </p:txBody>
      </p:sp>
      <p:sp>
        <p:nvSpPr>
          <p:cNvPr id="14" name="t"/>
          <p:cNvSpPr txBox="1"/>
          <p:nvPr/>
        </p:nvSpPr>
        <p:spPr>
          <a:xfrm>
            <a:off x="4686300" y="1889760"/>
            <a:ext cx="3954780" cy="325120"/>
          </a:xfrm>
          <a:prstGeom prst="rect">
            <a:avLst/>
          </a:prstGeom>
        </p:spPr>
        <p:txBody>
          <a:bodyPr wrap="square" lIns="91440" tIns="45720" rIns="91440" bIns="45720">
            <a:noAutofit/>
          </a:bodyPr>
          <a:lstStyle/>
          <a:p>
            <a:r>
              <a:rPr lang="en-US" sz="1000">
                <a:solidFill>
                  <a:srgbClr val="8FA0B8"/>
                </a:solidFill>
                <a:latin typeface="Calibri"/>
              </a:rPr>
              <a:t>The cache belongs to the Peer Server. Clients are thin and pay a network hop for every read.</a:t>
            </a:r>
          </a:p>
        </p:txBody>
      </p:sp>
      <p:sp>
        <p:nvSpPr>
          <p:cNvPr id="15" name="t"/>
          <p:cNvSpPr txBox="1"/>
          <p:nvPr/>
        </p:nvSpPr>
        <p:spPr>
          <a:xfrm>
            <a:off x="502920" y="2402332"/>
            <a:ext cx="45720" cy="270256"/>
          </a:xfrm>
          <a:prstGeom prst="rect">
            <a:avLst/>
          </a:prstGeom>
          <a:solidFill>
            <a:srgbClr val="FFC66D"/>
          </a:solidFill>
        </p:spPr>
        <p:txBody>
          <a:bodyPr wrap="square" lIns="91440" tIns="45720" rIns="91440" bIns="45720">
            <a:noAutofit/>
          </a:bodyPr>
          <a:lstStyle/>
        </p:txBody>
      </p:sp>
      <p:sp>
        <p:nvSpPr>
          <p:cNvPr id="16" name="t"/>
          <p:cNvSpPr txBox="1"/>
          <p:nvPr/>
        </p:nvSpPr>
        <p:spPr>
          <a:xfrm>
            <a:off x="594360" y="2402332"/>
            <a:ext cx="8046720" cy="270256"/>
          </a:xfrm>
          <a:prstGeom prst="rect">
            <a:avLst/>
          </a:prstGeom>
        </p:spPr>
        <p:txBody>
          <a:bodyPr wrap="square" lIns="91440" tIns="45720" rIns="91440" bIns="45720">
            <a:noAutofit/>
          </a:bodyPr>
          <a:lstStyle/>
          <a:p>
            <a:r>
              <a:rPr lang="en-US" sz="1100">
                <a:solidFill>
                  <a:srgbClr val="E8EDF6"/>
                </a:solidFill>
                <a:latin typeface="Calibri"/>
              </a:rPr>
              <a:t>★  Choosing peer versus client is therefore a caching decision as much as an API decision.</a:t>
            </a:r>
          </a:p>
        </p:txBody>
      </p:sp>
      <p:sp>
        <p:nvSpPr>
          <p:cNvPr id="1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Why invalidation is almost not a problem</a:t>
            </a:r>
          </a:p>
        </p:txBody>
      </p:sp>
      <p:sp>
        <p:nvSpPr>
          <p:cNvPr id="3" name="t"/>
          <p:cNvSpPr txBox="1"/>
          <p:nvPr/>
        </p:nvSpPr>
        <p:spPr>
          <a:xfrm>
            <a:off x="502920" y="766064"/>
            <a:ext cx="8138160" cy="260096"/>
          </a:xfrm>
          <a:prstGeom prst="rect">
            <a:avLst/>
          </a:prstGeom>
        </p:spPr>
        <p:txBody>
          <a:bodyPr wrap="square" lIns="91440" tIns="45720" rIns="91440" bIns="45720">
            <a:noAutofit/>
          </a:bodyPr>
          <a:lstStyle/>
          <a:p>
            <a:r>
              <a:rPr lang="en-US" sz="1600" b="1">
                <a:solidFill>
                  <a:srgbClr val="7BD88F"/>
                </a:solidFill>
                <a:latin typeface="Calibri"/>
              </a:rPr>
              <a:t>Datomic caches only immutable data, so every cache entry is valid forever.</a:t>
            </a:r>
          </a:p>
        </p:txBody>
      </p:sp>
      <p:sp>
        <p:nvSpPr>
          <p:cNvPr id="4" name="t"/>
          <p:cNvSpPr txBox="1"/>
          <p:nvPr/>
        </p:nvSpPr>
        <p:spPr>
          <a:xfrm>
            <a:off x="502920" y="1236472"/>
            <a:ext cx="8138160" cy="195072"/>
          </a:xfrm>
          <a:prstGeom prst="rect">
            <a:avLst/>
          </a:prstGeom>
        </p:spPr>
        <p:txBody>
          <a:bodyPr wrap="square" lIns="91440" tIns="45720" rIns="91440" bIns="45720">
            <a:noAutofit/>
          </a:bodyPr>
          <a:lstStyle/>
          <a:p>
            <a:r>
              <a:rPr lang="en-US" sz="1200">
                <a:solidFill>
                  <a:srgbClr val="E8EDF6"/>
                </a:solidFill>
                <a:latin typeface="Calibri"/>
              </a:rPr>
              <a:t>▸ A segment is written once and never modified</a:t>
            </a:r>
          </a:p>
        </p:txBody>
      </p:sp>
      <p:sp>
        <p:nvSpPr>
          <p:cNvPr id="5" name="t"/>
          <p:cNvSpPr txBox="1"/>
          <p:nvPr/>
        </p:nvSpPr>
        <p:spPr>
          <a:xfrm>
            <a:off x="502920" y="1431544"/>
            <a:ext cx="8138160" cy="195072"/>
          </a:xfrm>
          <a:prstGeom prst="rect">
            <a:avLst/>
          </a:prstGeom>
        </p:spPr>
        <p:txBody>
          <a:bodyPr wrap="square" lIns="91440" tIns="45720" rIns="91440" bIns="45720">
            <a:noAutofit/>
          </a:bodyPr>
          <a:lstStyle/>
          <a:p>
            <a:r>
              <a:rPr lang="en-US" sz="1200">
                <a:solidFill>
                  <a:srgbClr val="E8EDF6"/>
                </a:solidFill>
                <a:latin typeface="Calibri"/>
              </a:rPr>
              <a:t>▸ An index job does not rewrite segments in place — it writes NEW segments and publishes a NEW root</a:t>
            </a:r>
          </a:p>
        </p:txBody>
      </p:sp>
      <p:sp>
        <p:nvSpPr>
          <p:cNvPr id="6" name="t"/>
          <p:cNvSpPr txBox="1"/>
          <p:nvPr/>
        </p:nvSpPr>
        <p:spPr>
          <a:xfrm>
            <a:off x="502920" y="1626616"/>
            <a:ext cx="8138160" cy="195072"/>
          </a:xfrm>
          <a:prstGeom prst="rect">
            <a:avLst/>
          </a:prstGeom>
        </p:spPr>
        <p:txBody>
          <a:bodyPr wrap="square" lIns="91440" tIns="45720" rIns="91440" bIns="45720">
            <a:noAutofit/>
          </a:bodyPr>
          <a:lstStyle/>
          <a:p>
            <a:r>
              <a:rPr lang="en-US" sz="1200">
                <a:solidFill>
                  <a:srgbClr val="E8EDF6"/>
                </a:solidFill>
                <a:latin typeface="Calibri"/>
              </a:rPr>
              <a:t>▸ So nothing in any cache can ever be stale</a:t>
            </a:r>
          </a:p>
        </p:txBody>
      </p:sp>
      <p:sp>
        <p:nvSpPr>
          <p:cNvPr id="7" name="t"/>
          <p:cNvSpPr txBox="1"/>
          <p:nvPr/>
        </p:nvSpPr>
        <p:spPr>
          <a:xfrm>
            <a:off x="502920" y="1821688"/>
            <a:ext cx="8138160" cy="390144"/>
          </a:xfrm>
          <a:prstGeom prst="rect">
            <a:avLst/>
          </a:prstGeom>
        </p:spPr>
        <p:txBody>
          <a:bodyPr wrap="square" lIns="91440" tIns="45720" rIns="91440" bIns="45720">
            <a:noAutofit/>
          </a:bodyPr>
          <a:lstStyle/>
          <a:p>
            <a:r>
              <a:rPr lang="en-US" sz="1200">
                <a:solidFill>
                  <a:srgbClr val="7BD88F"/>
                </a:solidFill>
                <a:latin typeface="Calibri"/>
              </a:rPr>
              <a:t>▸ Which means: no coherence protocol, no invalidation messages, caches safely shared between processes, caches safely survive restarts</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mutable parts</a:t>
            </a:r>
          </a:p>
        </p:txBody>
      </p:sp>
      <p:sp>
        <p:nvSpPr>
          <p:cNvPr id="3" name="t"/>
          <p:cNvSpPr txBox="1"/>
          <p:nvPr/>
        </p:nvSpPr>
        <p:spPr>
          <a:xfrm>
            <a:off x="502920" y="766064"/>
            <a:ext cx="8138160" cy="390144"/>
          </a:xfrm>
          <a:prstGeom prst="rect">
            <a:avLst/>
          </a:prstGeom>
        </p:spPr>
        <p:txBody>
          <a:bodyPr wrap="square" lIns="91440" tIns="45720" rIns="91440" bIns="45720">
            <a:noAutofit/>
          </a:bodyPr>
          <a:lstStyle/>
          <a:p>
            <a:r>
              <a:rPr lang="en-US" sz="1200">
                <a:solidFill>
                  <a:srgbClr val="E8EDF6"/>
                </a:solidFill>
                <a:latin typeface="Calibri"/>
              </a:rPr>
              <a:t>Almost everything is immutable. These are the exceptions, and they are exactly the things that need strong consistency:</a:t>
            </a:r>
          </a:p>
        </p:txBody>
      </p:sp>
      <p:sp>
        <p:nvSpPr>
          <p:cNvPr id="4" name="t"/>
          <p:cNvSpPr txBox="1"/>
          <p:nvPr/>
        </p:nvSpPr>
        <p:spPr>
          <a:xfrm>
            <a:off x="502920" y="1320800"/>
            <a:ext cx="4000500" cy="1164539"/>
          </a:xfrm>
          <a:prstGeom prst="roundRect">
            <a:avLst/>
          </a:prstGeom>
          <a:solidFill>
            <a:srgbClr val="18202F"/>
          </a:solidFill>
        </p:spPr>
        <p:txBody>
          <a:bodyPr wrap="square" lIns="91440" tIns="45720" rIns="91440" bIns="45720">
            <a:noAutofit/>
          </a:bodyPr>
          <a:lstStyle/>
          <a:p>
            <a:r>
              <a:rPr lang="en-US" sz="1200" b="1">
                <a:solidFill>
                  <a:srgbClr val="FFC66D"/>
                </a:solidFill>
                <a:latin typeface="Calibri"/>
              </a:rPr>
              <a:t>The root pointer</a:t>
            </a:r>
          </a:p>
          <a:p>
            <a:endParaRPr lang="en-US" sz="500"/>
          </a:p>
          <a:p>
            <a:r>
              <a:rPr lang="en-US" sz="1100">
                <a:solidFill>
                  <a:srgbClr val="E8EDF6"/>
                </a:solidFill>
                <a:latin typeface="Calibri"/>
              </a:rPr>
              <a:t>Names the current index roots for a db</a:t>
            </a:r>
          </a:p>
          <a:p>
            <a:r>
              <a:rPr lang="en-US" sz="1100">
                <a:solidFill>
                  <a:srgbClr val="E8EDF6"/>
                </a:solidFill>
                <a:latin typeface="Calibri"/>
              </a:rPr>
              <a:t>Updated by an index job</a:t>
            </a:r>
          </a:p>
          <a:p>
            <a:r>
              <a:rPr lang="en-US" sz="1100">
                <a:solidFill>
                  <a:srgbClr val="E8EDF6"/>
                </a:solidFill>
                <a:latin typeface="Calibri"/>
              </a:rPr>
              <a:t>Written with a conditional put / CAS</a:t>
            </a:r>
          </a:p>
          <a:p>
            <a:r>
              <a:rPr lang="en-US" sz="1100">
                <a:solidFill>
                  <a:srgbClr val="E8EDF6"/>
                </a:solidFill>
                <a:latin typeface="Calibri"/>
              </a:rPr>
              <a:t>Never served from the segment caches</a:t>
            </a:r>
          </a:p>
        </p:txBody>
      </p:sp>
      <p:sp>
        <p:nvSpPr>
          <p:cNvPr id="5" name="t"/>
          <p:cNvSpPr txBox="1"/>
          <p:nvPr/>
        </p:nvSpPr>
        <p:spPr>
          <a:xfrm>
            <a:off x="4640580" y="1320800"/>
            <a:ext cx="4000500" cy="1164539"/>
          </a:xfrm>
          <a:prstGeom prst="roundRect">
            <a:avLst/>
          </a:prstGeom>
          <a:solidFill>
            <a:srgbClr val="18202F"/>
          </a:solidFill>
        </p:spPr>
        <p:txBody>
          <a:bodyPr wrap="square" lIns="91440" tIns="45720" rIns="91440" bIns="45720">
            <a:noAutofit/>
          </a:bodyPr>
          <a:lstStyle/>
          <a:p>
            <a:r>
              <a:rPr lang="en-US" sz="1200" b="1">
                <a:solidFill>
                  <a:srgbClr val="FFC66D"/>
                </a:solidFill>
                <a:latin typeface="Calibri"/>
              </a:rPr>
              <a:t>The log tail</a:t>
            </a:r>
          </a:p>
          <a:p>
            <a:endParaRPr lang="en-US" sz="500"/>
          </a:p>
          <a:p>
            <a:r>
              <a:rPr lang="en-US" sz="1100">
                <a:solidFill>
                  <a:srgbClr val="E8EDF6"/>
                </a:solidFill>
                <a:latin typeface="Calibri"/>
              </a:rPr>
              <a:t>Where the newest transactions land</a:t>
            </a:r>
          </a:p>
          <a:p>
            <a:r>
              <a:rPr lang="en-US" sz="1100">
                <a:solidFill>
                  <a:srgbClr val="E8EDF6"/>
                </a:solidFill>
                <a:latin typeface="Calibri"/>
              </a:rPr>
              <a:t>Novelty past the last index root</a:t>
            </a:r>
          </a:p>
          <a:p>
            <a:r>
              <a:rPr lang="en-US" sz="1100">
                <a:solidFill>
                  <a:srgbClr val="E8EDF6"/>
                </a:solidFill>
                <a:latin typeface="Calibri"/>
              </a:rPr>
              <a:t>Carried to peers by broadcast, and</a:t>
            </a:r>
          </a:p>
          <a:p>
            <a:r>
              <a:rPr lang="en-US" sz="1100">
                <a:solidFill>
                  <a:srgbClr val="E8EDF6"/>
                </a:solidFill>
                <a:latin typeface="Calibri"/>
              </a:rPr>
              <a:t>held in the memory index, not a cache</a:t>
            </a:r>
          </a:p>
        </p:txBody>
      </p:sp>
      <p:sp>
        <p:nvSpPr>
          <p:cNvPr id="6" name="t"/>
          <p:cNvSpPr txBox="1"/>
          <p:nvPr/>
        </p:nvSpPr>
        <p:spPr>
          <a:xfrm>
            <a:off x="502920" y="2672791"/>
            <a:ext cx="8138160" cy="357632"/>
          </a:xfrm>
          <a:prstGeom prst="rect">
            <a:avLst/>
          </a:prstGeom>
        </p:spPr>
        <p:txBody>
          <a:bodyPr wrap="square" lIns="91440" tIns="45720" rIns="91440" bIns="45720">
            <a:noAutofit/>
          </a:bodyPr>
          <a:lstStyle/>
          <a:p>
            <a:r>
              <a:rPr lang="en-US" sz="1100">
                <a:solidFill>
                  <a:srgbClr val="6FA8FF"/>
                </a:solidFill>
                <a:latin typeface="Calibri"/>
              </a:rPr>
              <a:t>This is why Datomic can run on eventually-consistent storage: conditional puts are reserved for these few root records, and everything else is immutable and can be read from anywhere.</a:t>
            </a:r>
          </a:p>
        </p:txBody>
      </p:sp>
      <p:sp>
        <p:nvSpPr>
          <p:cNvPr id="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What actually disturbs a cache</a:t>
            </a:r>
          </a:p>
        </p:txBody>
      </p:sp>
      <p:sp>
        <p:nvSpPr>
          <p:cNvPr id="3" name="t"/>
          <p:cNvSpPr txBox="1"/>
          <p:nvPr/>
        </p:nvSpPr>
        <p:spPr>
          <a:xfrm>
            <a:off x="502920" y="766064"/>
            <a:ext cx="1790395" cy="231140"/>
          </a:xfrm>
          <a:prstGeom prst="rect">
            <a:avLst/>
          </a:prstGeom>
        </p:spPr>
        <p:txBody>
          <a:bodyPr wrap="square" lIns="91440" tIns="45720" rIns="91440" bIns="45720">
            <a:noAutofit/>
          </a:bodyPr>
          <a:lstStyle/>
          <a:p>
            <a:r>
              <a:rPr lang="en-US" sz="1000" b="1">
                <a:solidFill>
                  <a:srgbClr val="C09BFF"/>
                </a:solidFill>
                <a:latin typeface="Calibri"/>
              </a:rPr>
              <a:t>Event</a:t>
            </a:r>
          </a:p>
        </p:txBody>
      </p:sp>
      <p:sp>
        <p:nvSpPr>
          <p:cNvPr id="4" name="t"/>
          <p:cNvSpPr txBox="1"/>
          <p:nvPr/>
        </p:nvSpPr>
        <p:spPr>
          <a:xfrm>
            <a:off x="2293315" y="766064"/>
            <a:ext cx="3743553" cy="231140"/>
          </a:xfrm>
          <a:prstGeom prst="rect">
            <a:avLst/>
          </a:prstGeom>
        </p:spPr>
        <p:txBody>
          <a:bodyPr wrap="square" lIns="91440" tIns="45720" rIns="91440" bIns="45720">
            <a:noAutofit/>
          </a:bodyPr>
          <a:lstStyle/>
          <a:p>
            <a:r>
              <a:rPr lang="en-US" sz="1000" b="1">
                <a:solidFill>
                  <a:srgbClr val="C09BFF"/>
                </a:solidFill>
                <a:latin typeface="Calibri"/>
              </a:rPr>
              <a:t>What happens</a:t>
            </a:r>
          </a:p>
        </p:txBody>
      </p:sp>
      <p:sp>
        <p:nvSpPr>
          <p:cNvPr id="5" name="t"/>
          <p:cNvSpPr txBox="1"/>
          <p:nvPr/>
        </p:nvSpPr>
        <p:spPr>
          <a:xfrm>
            <a:off x="6036868" y="766064"/>
            <a:ext cx="2604211" cy="231140"/>
          </a:xfrm>
          <a:prstGeom prst="rect">
            <a:avLst/>
          </a:prstGeom>
        </p:spPr>
        <p:txBody>
          <a:bodyPr wrap="square" lIns="91440" tIns="45720" rIns="91440" bIns="45720">
            <a:noAutofit/>
          </a:bodyPr>
          <a:lstStyle/>
          <a:p>
            <a:r>
              <a:rPr lang="en-US" sz="1000" b="1">
                <a:solidFill>
                  <a:srgbClr val="C09BFF"/>
                </a:solidFill>
                <a:latin typeface="Calibri"/>
              </a:rPr>
              <a:t>Operator action</a:t>
            </a:r>
          </a:p>
        </p:txBody>
      </p:sp>
      <p:sp>
        <p:nvSpPr>
          <p:cNvPr id="6" name="t"/>
          <p:cNvSpPr txBox="1"/>
          <p:nvPr/>
        </p:nvSpPr>
        <p:spPr>
          <a:xfrm>
            <a:off x="457200" y="997204"/>
            <a:ext cx="8229600" cy="231140"/>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997204"/>
            <a:ext cx="1790395" cy="231140"/>
          </a:xfrm>
          <a:prstGeom prst="rect">
            <a:avLst/>
          </a:prstGeom>
        </p:spPr>
        <p:txBody>
          <a:bodyPr wrap="square" lIns="91440" tIns="45720" rIns="91440" bIns="45720">
            <a:noAutofit/>
          </a:bodyPr>
          <a:lstStyle/>
          <a:p>
            <a:r>
              <a:rPr lang="en-US" sz="1000" b="1">
                <a:solidFill>
                  <a:srgbClr val="E8EDF6"/>
                </a:solidFill>
                <a:latin typeface="Calibri"/>
              </a:rPr>
              <a:t>LRU eviction</a:t>
            </a:r>
          </a:p>
        </p:txBody>
      </p:sp>
      <p:sp>
        <p:nvSpPr>
          <p:cNvPr id="8" name="t"/>
          <p:cNvSpPr txBox="1"/>
          <p:nvPr/>
        </p:nvSpPr>
        <p:spPr>
          <a:xfrm>
            <a:off x="2293315" y="997204"/>
            <a:ext cx="3743553" cy="231140"/>
          </a:xfrm>
          <a:prstGeom prst="rect">
            <a:avLst/>
          </a:prstGeom>
        </p:spPr>
        <p:txBody>
          <a:bodyPr wrap="square" lIns="91440" tIns="45720" rIns="91440" bIns="45720">
            <a:noAutofit/>
          </a:bodyPr>
          <a:lstStyle/>
          <a:p>
            <a:r>
              <a:rPr lang="en-US" sz="1000">
                <a:solidFill>
                  <a:srgbClr val="8FA0B8"/>
                </a:solidFill>
                <a:latin typeface="Calibri"/>
              </a:rPr>
              <a:t>cold read next time; correctness unaffected</a:t>
            </a:r>
          </a:p>
        </p:txBody>
      </p:sp>
      <p:sp>
        <p:nvSpPr>
          <p:cNvPr id="9" name="t"/>
          <p:cNvSpPr txBox="1"/>
          <p:nvPr/>
        </p:nvSpPr>
        <p:spPr>
          <a:xfrm>
            <a:off x="6036868" y="997204"/>
            <a:ext cx="2604211" cy="231140"/>
          </a:xfrm>
          <a:prstGeom prst="rect">
            <a:avLst/>
          </a:prstGeom>
        </p:spPr>
        <p:txBody>
          <a:bodyPr wrap="square" lIns="91440" tIns="45720" rIns="91440" bIns="45720">
            <a:noAutofit/>
          </a:bodyPr>
          <a:lstStyle/>
          <a:p>
            <a:r>
              <a:rPr lang="en-US" sz="1000">
                <a:solidFill>
                  <a:srgbClr val="8FA0B8"/>
                </a:solidFill>
                <a:latin typeface="Calibri"/>
              </a:rPr>
              <a:t>size the cache, watch hit ratio</a:t>
            </a:r>
          </a:p>
        </p:txBody>
      </p:sp>
      <p:sp>
        <p:nvSpPr>
          <p:cNvPr id="10" name="t"/>
          <p:cNvSpPr txBox="1"/>
          <p:nvPr/>
        </p:nvSpPr>
        <p:spPr>
          <a:xfrm>
            <a:off x="502920" y="1228344"/>
            <a:ext cx="1790395" cy="231140"/>
          </a:xfrm>
          <a:prstGeom prst="rect">
            <a:avLst/>
          </a:prstGeom>
        </p:spPr>
        <p:txBody>
          <a:bodyPr wrap="square" lIns="91440" tIns="45720" rIns="91440" bIns="45720">
            <a:noAutofit/>
          </a:bodyPr>
          <a:lstStyle/>
          <a:p>
            <a:r>
              <a:rPr lang="en-US" sz="1000" b="1">
                <a:solidFill>
                  <a:srgbClr val="E8EDF6"/>
                </a:solidFill>
                <a:latin typeface="Calibri"/>
              </a:rPr>
              <a:t>memcached TTL (30d)</a:t>
            </a:r>
          </a:p>
        </p:txBody>
      </p:sp>
      <p:sp>
        <p:nvSpPr>
          <p:cNvPr id="11" name="t"/>
          <p:cNvSpPr txBox="1"/>
          <p:nvPr/>
        </p:nvSpPr>
        <p:spPr>
          <a:xfrm>
            <a:off x="2293315" y="1228344"/>
            <a:ext cx="3743553" cy="231140"/>
          </a:xfrm>
          <a:prstGeom prst="rect">
            <a:avLst/>
          </a:prstGeom>
        </p:spPr>
        <p:txBody>
          <a:bodyPr wrap="square" lIns="91440" tIns="45720" rIns="91440" bIns="45720">
            <a:noAutofit/>
          </a:bodyPr>
          <a:lstStyle/>
          <a:p>
            <a:r>
              <a:rPr lang="en-US" sz="1000">
                <a:solidFill>
                  <a:srgbClr val="8FA0B8"/>
                </a:solidFill>
                <a:latin typeface="Calibri"/>
              </a:rPr>
              <a:t>entry re-fetched from storage</a:t>
            </a:r>
          </a:p>
        </p:txBody>
      </p:sp>
      <p:sp>
        <p:nvSpPr>
          <p:cNvPr id="12" name="t"/>
          <p:cNvSpPr txBox="1"/>
          <p:nvPr/>
        </p:nvSpPr>
        <p:spPr>
          <a:xfrm>
            <a:off x="6036868" y="1228344"/>
            <a:ext cx="2604211" cy="231140"/>
          </a:xfrm>
          <a:prstGeom prst="rect">
            <a:avLst/>
          </a:prstGeom>
        </p:spPr>
        <p:txBody>
          <a:bodyPr wrap="square" lIns="91440" tIns="45720" rIns="91440" bIns="45720">
            <a:noAutofit/>
          </a:bodyPr>
          <a:lstStyle/>
          <a:p>
            <a:r>
              <a:rPr lang="en-US" sz="1000">
                <a:solidFill>
                  <a:srgbClr val="8FA0B8"/>
                </a:solidFill>
                <a:latin typeface="Calibri"/>
              </a:rPr>
              <a:t>none — it is eviction, not staleness</a:t>
            </a:r>
          </a:p>
        </p:txBody>
      </p:sp>
      <p:sp>
        <p:nvSpPr>
          <p:cNvPr id="13" name="t"/>
          <p:cNvSpPr txBox="1"/>
          <p:nvPr/>
        </p:nvSpPr>
        <p:spPr>
          <a:xfrm>
            <a:off x="457200" y="1459484"/>
            <a:ext cx="8229600" cy="393700"/>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459484"/>
            <a:ext cx="1790395" cy="393700"/>
          </a:xfrm>
          <a:prstGeom prst="rect">
            <a:avLst/>
          </a:prstGeom>
        </p:spPr>
        <p:txBody>
          <a:bodyPr wrap="square" lIns="91440" tIns="45720" rIns="91440" bIns="45720">
            <a:noAutofit/>
          </a:bodyPr>
          <a:lstStyle/>
          <a:p>
            <a:r>
              <a:rPr lang="en-US" sz="1000" b="1">
                <a:solidFill>
                  <a:srgbClr val="E8EDF6"/>
                </a:solidFill>
                <a:latin typeface="Calibri"/>
              </a:rPr>
              <a:t>gc-storage</a:t>
            </a:r>
          </a:p>
        </p:txBody>
      </p:sp>
      <p:sp>
        <p:nvSpPr>
          <p:cNvPr id="15" name="t"/>
          <p:cNvSpPr txBox="1"/>
          <p:nvPr/>
        </p:nvSpPr>
        <p:spPr>
          <a:xfrm>
            <a:off x="2293315" y="1459484"/>
            <a:ext cx="3743553" cy="393700"/>
          </a:xfrm>
          <a:prstGeom prst="rect">
            <a:avLst/>
          </a:prstGeom>
        </p:spPr>
        <p:txBody>
          <a:bodyPr wrap="square" lIns="91440" tIns="45720" rIns="91440" bIns="45720">
            <a:noAutofit/>
          </a:bodyPr>
          <a:lstStyle/>
          <a:p>
            <a:r>
              <a:rPr lang="en-US" sz="1000">
                <a:solidFill>
                  <a:srgbClr val="8FA0B8"/>
                </a:solidFill>
                <a:latin typeface="Calibri"/>
              </a:rPr>
              <a:t>orphaned segments deleted from storage</a:t>
            </a:r>
          </a:p>
        </p:txBody>
      </p:sp>
      <p:sp>
        <p:nvSpPr>
          <p:cNvPr id="16" name="t"/>
          <p:cNvSpPr txBox="1"/>
          <p:nvPr/>
        </p:nvSpPr>
        <p:spPr>
          <a:xfrm>
            <a:off x="6036868" y="1459484"/>
            <a:ext cx="2604211" cy="393700"/>
          </a:xfrm>
          <a:prstGeom prst="rect">
            <a:avLst/>
          </a:prstGeom>
        </p:spPr>
        <p:txBody>
          <a:bodyPr wrap="square" lIns="91440" tIns="45720" rIns="91440" bIns="45720">
            <a:noAutofit/>
          </a:bodyPr>
          <a:lstStyle/>
          <a:p>
            <a:r>
              <a:rPr lang="en-US" sz="1000">
                <a:solidFill>
                  <a:srgbClr val="8FA0B8"/>
                </a:solidFill>
                <a:latin typeface="Calibri"/>
              </a:rPr>
              <a:t>do not hold db values across a GC window</a:t>
            </a:r>
          </a:p>
        </p:txBody>
      </p:sp>
      <p:sp>
        <p:nvSpPr>
          <p:cNvPr id="17" name="t"/>
          <p:cNvSpPr txBox="1"/>
          <p:nvPr/>
        </p:nvSpPr>
        <p:spPr>
          <a:xfrm>
            <a:off x="502920" y="1853184"/>
            <a:ext cx="1790395" cy="393700"/>
          </a:xfrm>
          <a:prstGeom prst="rect">
            <a:avLst/>
          </a:prstGeom>
        </p:spPr>
        <p:txBody>
          <a:bodyPr wrap="square" lIns="91440" tIns="45720" rIns="91440" bIns="45720">
            <a:noAutofit/>
          </a:bodyPr>
          <a:lstStyle/>
          <a:p>
            <a:r>
              <a:rPr lang="en-US" sz="1000" b="1">
                <a:solidFill>
                  <a:srgbClr val="E8EDF6"/>
                </a:solidFill>
                <a:latin typeface="Calibri"/>
              </a:rPr>
              <a:t>excision</a:t>
            </a:r>
          </a:p>
        </p:txBody>
      </p:sp>
      <p:sp>
        <p:nvSpPr>
          <p:cNvPr id="18" name="t"/>
          <p:cNvSpPr txBox="1"/>
          <p:nvPr/>
        </p:nvSpPr>
        <p:spPr>
          <a:xfrm>
            <a:off x="2293315" y="1853184"/>
            <a:ext cx="3743553" cy="393700"/>
          </a:xfrm>
          <a:prstGeom prst="rect">
            <a:avLst/>
          </a:prstGeom>
        </p:spPr>
        <p:txBody>
          <a:bodyPr wrap="square" lIns="91440" tIns="45720" rIns="91440" bIns="45720">
            <a:noAutofit/>
          </a:bodyPr>
          <a:lstStyle/>
          <a:p>
            <a:r>
              <a:rPr lang="en-US" sz="1000">
                <a:solidFill>
                  <a:srgbClr val="8FA0B8"/>
                </a:solidFill>
                <a:latin typeface="Calibri"/>
              </a:rPr>
              <a:t>datoms removed during the next index job</a:t>
            </a:r>
          </a:p>
        </p:txBody>
      </p:sp>
      <p:sp>
        <p:nvSpPr>
          <p:cNvPr id="19" name="t"/>
          <p:cNvSpPr txBox="1"/>
          <p:nvPr/>
        </p:nvSpPr>
        <p:spPr>
          <a:xfrm>
            <a:off x="6036868" y="1853184"/>
            <a:ext cx="2604211" cy="393700"/>
          </a:xfrm>
          <a:prstGeom prst="rect">
            <a:avLst/>
          </a:prstGeom>
        </p:spPr>
        <p:txBody>
          <a:bodyPr wrap="square" lIns="91440" tIns="45720" rIns="91440" bIns="45720">
            <a:noAutofit/>
          </a:bodyPr>
          <a:lstStyle/>
          <a:p>
            <a:r>
              <a:rPr lang="en-US" sz="1000">
                <a:solidFill>
                  <a:srgbClr val="8FA0B8"/>
                </a:solidFill>
                <a:latin typeface="Calibri"/>
              </a:rPr>
              <a:t>assume old copies linger until they age out</a:t>
            </a:r>
          </a:p>
        </p:txBody>
      </p:sp>
      <p:sp>
        <p:nvSpPr>
          <p:cNvPr id="20" name="t"/>
          <p:cNvSpPr txBox="1"/>
          <p:nvPr/>
        </p:nvSpPr>
        <p:spPr>
          <a:xfrm>
            <a:off x="457200" y="2246884"/>
            <a:ext cx="8229600" cy="231140"/>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2246884"/>
            <a:ext cx="1790395" cy="231140"/>
          </a:xfrm>
          <a:prstGeom prst="rect">
            <a:avLst/>
          </a:prstGeom>
        </p:spPr>
        <p:txBody>
          <a:bodyPr wrap="square" lIns="91440" tIns="45720" rIns="91440" bIns="45720">
            <a:noAutofit/>
          </a:bodyPr>
          <a:lstStyle/>
          <a:p>
            <a:r>
              <a:rPr lang="en-US" sz="1000" b="1">
                <a:solidFill>
                  <a:srgbClr val="E8EDF6"/>
                </a:solidFill>
                <a:latin typeface="Calibri"/>
              </a:rPr>
              <a:t>delete-database</a:t>
            </a:r>
          </a:p>
        </p:txBody>
      </p:sp>
      <p:sp>
        <p:nvSpPr>
          <p:cNvPr id="22" name="t"/>
          <p:cNvSpPr txBox="1"/>
          <p:nvPr/>
        </p:nvSpPr>
        <p:spPr>
          <a:xfrm>
            <a:off x="2293315" y="2246884"/>
            <a:ext cx="3743553" cy="231140"/>
          </a:xfrm>
          <a:prstGeom prst="rect">
            <a:avLst/>
          </a:prstGeom>
        </p:spPr>
        <p:txBody>
          <a:bodyPr wrap="square" lIns="91440" tIns="45720" rIns="91440" bIns="45720">
            <a:noAutofit/>
          </a:bodyPr>
          <a:lstStyle/>
          <a:p>
            <a:r>
              <a:rPr lang="en-US" sz="1000">
                <a:solidFill>
                  <a:srgbClr val="8FA0B8"/>
                </a:solidFill>
                <a:latin typeface="Calibri"/>
              </a:rPr>
              <a:t>the name stops resolving; keys are UUIDs so no collision</a:t>
            </a:r>
          </a:p>
        </p:txBody>
      </p:sp>
      <p:sp>
        <p:nvSpPr>
          <p:cNvPr id="23" name="t"/>
          <p:cNvSpPr txBox="1"/>
          <p:nvPr/>
        </p:nvSpPr>
        <p:spPr>
          <a:xfrm>
            <a:off x="6036868" y="2246884"/>
            <a:ext cx="2604211" cy="231140"/>
          </a:xfrm>
          <a:prstGeom prst="rect">
            <a:avLst/>
          </a:prstGeom>
        </p:spPr>
        <p:txBody>
          <a:bodyPr wrap="square" lIns="91440" tIns="45720" rIns="91440" bIns="45720">
            <a:noAutofit/>
          </a:bodyPr>
          <a:lstStyle/>
          <a:p>
            <a:r>
              <a:rPr lang="en-US" sz="1000">
                <a:solidFill>
                  <a:srgbClr val="8FA0B8"/>
                </a:solidFill>
                <a:latin typeface="Calibri"/>
              </a:rPr>
              <a:t>restart peers</a:t>
            </a:r>
          </a:p>
        </p:txBody>
      </p:sp>
      <p:sp>
        <p:nvSpPr>
          <p:cNvPr id="24" name="t"/>
          <p:cNvSpPr txBox="1"/>
          <p:nvPr/>
        </p:nvSpPr>
        <p:spPr>
          <a:xfrm>
            <a:off x="502920" y="2478024"/>
            <a:ext cx="1790395" cy="231140"/>
          </a:xfrm>
          <a:prstGeom prst="rect">
            <a:avLst/>
          </a:prstGeom>
        </p:spPr>
        <p:txBody>
          <a:bodyPr wrap="square" lIns="91440" tIns="45720" rIns="91440" bIns="45720">
            <a:noAutofit/>
          </a:bodyPr>
          <a:lstStyle/>
          <a:p>
            <a:r>
              <a:rPr lang="en-US" sz="1000" b="1">
                <a:solidFill>
                  <a:srgbClr val="E8EDF6"/>
                </a:solidFill>
                <a:latin typeface="Calibri"/>
              </a:rPr>
              <a:t>restore-db</a:t>
            </a:r>
          </a:p>
        </p:txBody>
      </p:sp>
      <p:sp>
        <p:nvSpPr>
          <p:cNvPr id="25" name="t"/>
          <p:cNvSpPr txBox="1"/>
          <p:nvPr/>
        </p:nvSpPr>
        <p:spPr>
          <a:xfrm>
            <a:off x="2293315" y="2478024"/>
            <a:ext cx="3743553" cy="231140"/>
          </a:xfrm>
          <a:prstGeom prst="rect">
            <a:avLst/>
          </a:prstGeom>
        </p:spPr>
        <p:txBody>
          <a:bodyPr wrap="square" lIns="91440" tIns="45720" rIns="91440" bIns="45720">
            <a:noAutofit/>
          </a:bodyPr>
          <a:lstStyle/>
          <a:p>
            <a:r>
              <a:rPr lang="en-US" sz="1000">
                <a:solidFill>
                  <a:srgbClr val="8FA0B8"/>
                </a:solidFill>
                <a:latin typeface="Calibri"/>
              </a:rPr>
              <a:t>storage content replaced under a live name</a:t>
            </a:r>
          </a:p>
        </p:txBody>
      </p:sp>
      <p:sp>
        <p:nvSpPr>
          <p:cNvPr id="26" name="t"/>
          <p:cNvSpPr txBox="1"/>
          <p:nvPr/>
        </p:nvSpPr>
        <p:spPr>
          <a:xfrm>
            <a:off x="6036868" y="2478024"/>
            <a:ext cx="2604211" cy="231140"/>
          </a:xfrm>
          <a:prstGeom prst="rect">
            <a:avLst/>
          </a:prstGeom>
        </p:spPr>
        <p:txBody>
          <a:bodyPr wrap="square" lIns="91440" tIns="45720" rIns="91440" bIns="45720">
            <a:noAutofit/>
          </a:bodyPr>
          <a:lstStyle/>
          <a:p>
            <a:r>
              <a:rPr lang="en-US" sz="1000">
                <a:solidFill>
                  <a:srgbClr val="8FA0B8"/>
                </a:solidFill>
                <a:latin typeface="Calibri"/>
              </a:rPr>
              <a:t>shut peers down first, restart after</a:t>
            </a:r>
          </a:p>
        </p:txBody>
      </p:sp>
      <p:sp>
        <p:nvSpPr>
          <p:cNvPr id="27" name="t"/>
          <p:cNvSpPr txBox="1"/>
          <p:nvPr/>
        </p:nvSpPr>
        <p:spPr>
          <a:xfrm>
            <a:off x="502920" y="2873756"/>
            <a:ext cx="45720" cy="270256"/>
          </a:xfrm>
          <a:prstGeom prst="rect">
            <a:avLst/>
          </a:prstGeom>
          <a:solidFill>
            <a:srgbClr val="7BD88F"/>
          </a:solidFill>
        </p:spPr>
        <p:txBody>
          <a:bodyPr wrap="square" lIns="91440" tIns="45720" rIns="91440" bIns="45720">
            <a:noAutofit/>
          </a:bodyPr>
          <a:lstStyle/>
        </p:txBody>
      </p:sp>
      <p:sp>
        <p:nvSpPr>
          <p:cNvPr id="28" name="t"/>
          <p:cNvSpPr txBox="1"/>
          <p:nvPr/>
        </p:nvSpPr>
        <p:spPr>
          <a:xfrm>
            <a:off x="594360" y="2873756"/>
            <a:ext cx="8046720" cy="270256"/>
          </a:xfrm>
          <a:prstGeom prst="rect">
            <a:avLst/>
          </a:prstGeom>
        </p:spPr>
        <p:txBody>
          <a:bodyPr wrap="square" lIns="91440" tIns="45720" rIns="91440" bIns="45720">
            <a:noAutofit/>
          </a:bodyPr>
          <a:lstStyle/>
          <a:p>
            <a:r>
              <a:rPr lang="en-US" sz="1100">
                <a:solidFill>
                  <a:srgbClr val="E8EDF6"/>
                </a:solidFill>
                <a:latin typeface="Calibri"/>
              </a:rPr>
              <a:t>★  Note what is NOT in this table: an ordinary transaction. Writing data never invalidates anything.</a:t>
            </a:r>
          </a:p>
        </p:txBody>
      </p:sp>
      <p:sp>
        <p:nvSpPr>
          <p:cNvPr id="2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3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Cold starts, and how to avoid them</a:t>
            </a:r>
          </a:p>
        </p:txBody>
      </p:sp>
      <p:sp>
        <p:nvSpPr>
          <p:cNvPr id="3" name="t"/>
          <p:cNvSpPr txBox="1"/>
          <p:nvPr/>
        </p:nvSpPr>
        <p:spPr>
          <a:xfrm>
            <a:off x="502920" y="766064"/>
            <a:ext cx="8138160" cy="195072"/>
          </a:xfrm>
          <a:prstGeom prst="rect">
            <a:avLst/>
          </a:prstGeom>
        </p:spPr>
        <p:txBody>
          <a:bodyPr wrap="square" lIns="91440" tIns="45720" rIns="91440" bIns="45720">
            <a:noAutofit/>
          </a:bodyPr>
          <a:lstStyle/>
          <a:p>
            <a:r>
              <a:rPr lang="en-US" sz="1200">
                <a:solidFill>
                  <a:srgbClr val="F28FAD"/>
                </a:solidFill>
                <a:latin typeface="Calibri"/>
              </a:rPr>
              <a:t>▸ A fresh process has an empty object cache. Its first queries go all the way to storage.</a:t>
            </a:r>
          </a:p>
        </p:txBody>
      </p:sp>
      <p:sp>
        <p:nvSpPr>
          <p:cNvPr id="4" name="t"/>
          <p:cNvSpPr txBox="1"/>
          <p:nvPr/>
        </p:nvSpPr>
        <p:spPr>
          <a:xfrm>
            <a:off x="502920" y="961136"/>
            <a:ext cx="8138160" cy="195072"/>
          </a:xfrm>
          <a:prstGeom prst="rect">
            <a:avLst/>
          </a:prstGeom>
        </p:spPr>
        <p:txBody>
          <a:bodyPr wrap="square" lIns="91440" tIns="45720" rIns="91440" bIns="45720">
            <a:noAutofit/>
          </a:bodyPr>
          <a:lstStyle/>
          <a:p>
            <a:r>
              <a:rPr lang="en-US" sz="1200">
                <a:solidFill>
                  <a:srgbClr val="7BD88F"/>
                </a:solidFill>
                <a:latin typeface="Calibri"/>
              </a:rPr>
              <a:t>▸ valcache survives the restart, so the second-tier hit rate stays high and storage is spared</a:t>
            </a:r>
          </a:p>
        </p:txBody>
      </p:sp>
      <p:sp>
        <p:nvSpPr>
          <p:cNvPr id="5" name="t"/>
          <p:cNvSpPr txBox="1"/>
          <p:nvPr/>
        </p:nvSpPr>
        <p:spPr>
          <a:xfrm>
            <a:off x="502920" y="1156208"/>
            <a:ext cx="8138160" cy="195072"/>
          </a:xfrm>
          <a:prstGeom prst="rect">
            <a:avLst/>
          </a:prstGeom>
        </p:spPr>
        <p:txBody>
          <a:bodyPr wrap="square" lIns="91440" tIns="45720" rIns="91440" bIns="45720">
            <a:noAutofit/>
          </a:bodyPr>
          <a:lstStyle/>
          <a:p>
            <a:r>
              <a:rPr lang="en-US" sz="1200">
                <a:solidFill>
                  <a:srgbClr val="7BD88F"/>
                </a:solidFill>
                <a:latin typeface="Calibri"/>
              </a:rPr>
              <a:t>▸ memcached is warmed by the whole fleet, so a new peer joins a warm cache</a:t>
            </a:r>
          </a:p>
        </p:txBody>
      </p:sp>
      <p:sp>
        <p:nvSpPr>
          <p:cNvPr id="6" name="t"/>
          <p:cNvSpPr txBox="1"/>
          <p:nvPr/>
        </p:nvSpPr>
        <p:spPr>
          <a:xfrm>
            <a:off x="502920" y="1351280"/>
            <a:ext cx="8138160" cy="195072"/>
          </a:xfrm>
          <a:prstGeom prst="rect">
            <a:avLst/>
          </a:prstGeom>
        </p:spPr>
        <p:txBody>
          <a:bodyPr wrap="square" lIns="91440" tIns="45720" rIns="91440" bIns="45720">
            <a:noAutofit/>
          </a:bodyPr>
          <a:lstStyle/>
          <a:p>
            <a:r>
              <a:rPr lang="en-US" sz="1200">
                <a:solidFill>
                  <a:srgbClr val="F28FAD"/>
                </a:solidFill>
                <a:latin typeface="Calibri"/>
              </a:rPr>
              <a:t>▸ With neither, every deploy is a thundering herd against your storage</a:t>
            </a:r>
          </a:p>
        </p:txBody>
      </p:sp>
      <p:sp>
        <p:nvSpPr>
          <p:cNvPr id="7" name="t"/>
          <p:cNvSpPr txBox="1"/>
          <p:nvPr/>
        </p:nvSpPr>
        <p:spPr>
          <a:xfrm>
            <a:off x="502920" y="1733804"/>
            <a:ext cx="8138160" cy="373888"/>
          </a:xfrm>
          <a:prstGeom prst="rect">
            <a:avLst/>
          </a:prstGeom>
        </p:spPr>
        <p:txBody>
          <a:bodyPr wrap="square" lIns="91440" tIns="45720" rIns="91440" bIns="45720">
            <a:noAutofit/>
          </a:bodyPr>
          <a:lstStyle/>
          <a:p>
            <a:r>
              <a:rPr lang="en-US" sz="1150">
                <a:solidFill>
                  <a:srgbClr val="6FE3D2"/>
                </a:solidFill>
                <a:latin typeface="Calibri"/>
              </a:rPr>
              <a:t>Datomic Cloud solves the same problem with a shared EFS tier holding the full index: a brand-new node misses to EFS, not to S3. Same idea, different plumbing.</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Measure the tiers</a:t>
            </a:r>
          </a:p>
        </p:txBody>
      </p:sp>
      <p:sp>
        <p:nvSpPr>
          <p:cNvPr id="4" name="t"/>
          <p:cNvSpPr txBox="1"/>
          <p:nvPr/>
        </p:nvSpPr>
        <p:spPr>
          <a:xfrm>
            <a:off x="502920" y="971804"/>
            <a:ext cx="8138160" cy="1570932"/>
          </a:xfrm>
          <a:prstGeom prst="roundRect">
            <a:avLst/>
          </a:prstGeom>
          <a:solidFill>
            <a:srgbClr val="141B28"/>
          </a:solidFill>
        </p:spPr>
        <p:txBody>
          <a:bodyPr wrap="square" lIns="91440" tIns="45720" rIns="91440" bIns="45720">
            <a:noAutofit/>
          </a:bodyPr>
          <a:lstStyle/>
          <a:p>
            <a:r>
              <a:rPr lang="en-US" sz="980">
                <a:solidFill>
                  <a:srgbClr val="7BD88F"/>
                </a:solidFill>
                <a:latin typeface="Courier New"/>
              </a:rPr>
              <a:t>;; cold: fresh peer, nothing cached anywhere</a:t>
            </a:r>
          </a:p>
          <a:p>
            <a:r>
              <a:rPr lang="en-US" sz="980">
                <a:solidFill>
                  <a:srgbClr val="7BD88F"/>
                </a:solidFill>
                <a:latin typeface="Courier New"/>
              </a:rPr>
              <a:t>(time (count (d/q '[:find ?e :where [?e :inventory/sku]] (d/db conn))))</a:t>
            </a:r>
          </a:p>
          <a:p>
            <a:endParaRPr lang="en-US" sz="980"/>
          </a:p>
          <a:p>
            <a:r>
              <a:rPr lang="en-US" sz="980">
                <a:solidFill>
                  <a:srgbClr val="7BD88F"/>
                </a:solidFill>
                <a:latin typeface="Courier New"/>
              </a:rPr>
              <a:t>;; warm: same query, same process, object cache now populated</a:t>
            </a:r>
          </a:p>
          <a:p>
            <a:r>
              <a:rPr lang="en-US" sz="980">
                <a:solidFill>
                  <a:srgbClr val="7BD88F"/>
                </a:solidFill>
                <a:latin typeface="Courier New"/>
              </a:rPr>
              <a:t>(time (count (d/q '[:find ?e :where [?e :inventory/sku]] (d/db conn))))</a:t>
            </a:r>
          </a:p>
          <a:p>
            <a:endParaRPr lang="en-US" sz="980"/>
          </a:p>
          <a:p>
            <a:r>
              <a:rPr lang="en-US" sz="980">
                <a:solidFill>
                  <a:srgbClr val="7BD88F"/>
                </a:solidFill>
                <a:latin typeface="Courier New"/>
              </a:rPr>
              <a:t>;; restart the REPL, reconnect, and run it again:</a:t>
            </a:r>
          </a:p>
          <a:p>
            <a:r>
              <a:rPr lang="en-US" sz="980">
                <a:solidFill>
                  <a:srgbClr val="7BD88F"/>
                </a:solidFill>
                <a:latin typeface="Courier New"/>
              </a:rPr>
              <a:t>;;   without valcache  -&gt; cold again, storage reads</a:t>
            </a:r>
          </a:p>
          <a:p>
            <a:r>
              <a:rPr lang="en-US" sz="980">
                <a:solidFill>
                  <a:srgbClr val="7BD88F"/>
                </a:solidFill>
                <a:latin typeface="Courier New"/>
              </a:rPr>
              <a:t>;;   with valcache     -&gt; warm from local SSD</a:t>
            </a:r>
          </a:p>
        </p:txBody>
      </p:sp>
      <p:sp>
        <p:nvSpPr>
          <p:cNvPr id="5" name="t"/>
          <p:cNvSpPr txBox="1"/>
          <p:nvPr/>
        </p:nvSpPr>
        <p:spPr>
          <a:xfrm>
            <a:off x="502920" y="2707328"/>
            <a:ext cx="8138160" cy="178816"/>
          </a:xfrm>
          <a:prstGeom prst="rect">
            <a:avLst/>
          </a:prstGeom>
        </p:spPr>
        <p:txBody>
          <a:bodyPr wrap="square" lIns="91440" tIns="45720" rIns="91440" bIns="45720">
            <a:noAutofit/>
          </a:bodyPr>
          <a:lstStyle/>
          <a:p>
            <a:r>
              <a:rPr lang="en-US" sz="1100">
                <a:solidFill>
                  <a:srgbClr val="E8EDF6"/>
                </a:solidFill>
                <a:latin typeface="Calibri"/>
              </a:rPr>
              <a:t>? Expect one to two orders of magnitude between the first and second run</a:t>
            </a:r>
          </a:p>
        </p:txBody>
      </p:sp>
      <p:sp>
        <p:nvSpPr>
          <p:cNvPr id="6" name="t"/>
          <p:cNvSpPr txBox="1"/>
          <p:nvPr/>
        </p:nvSpPr>
        <p:spPr>
          <a:xfrm>
            <a:off x="502920" y="2886144"/>
            <a:ext cx="8138160" cy="178816"/>
          </a:xfrm>
          <a:prstGeom prst="rect">
            <a:avLst/>
          </a:prstGeom>
        </p:spPr>
        <p:txBody>
          <a:bodyPr wrap="square" lIns="91440" tIns="45720" rIns="91440" bIns="45720">
            <a:noAutofit/>
          </a:bodyPr>
          <a:lstStyle/>
          <a:p>
            <a:r>
              <a:rPr lang="en-US" sz="1100">
                <a:solidFill>
                  <a:srgbClr val="E8EDF6"/>
                </a:solidFill>
                <a:latin typeface="Calibri"/>
              </a:rPr>
              <a:t>? Watch the Postgres side at the same time: pg_stat_database blocks read</a:t>
            </a:r>
          </a:p>
        </p:txBody>
      </p:sp>
      <p:sp>
        <p:nvSpPr>
          <p:cNvPr id="7" name="t"/>
          <p:cNvSpPr txBox="1"/>
          <p:nvPr/>
        </p:nvSpPr>
        <p:spPr>
          <a:xfrm>
            <a:off x="502920" y="3064960"/>
            <a:ext cx="8138160" cy="357632"/>
          </a:xfrm>
          <a:prstGeom prst="rect">
            <a:avLst/>
          </a:prstGeom>
        </p:spPr>
        <p:txBody>
          <a:bodyPr wrap="square" lIns="91440" tIns="45720" rIns="91440" bIns="45720">
            <a:noAutofit/>
          </a:bodyPr>
          <a:lstStyle/>
          <a:p>
            <a:r>
              <a:rPr lang="en-US" sz="1100">
                <a:solidFill>
                  <a:srgbClr val="E8EDF6"/>
                </a:solidFill>
                <a:latin typeface="Calibri"/>
              </a:rPr>
              <a:t>? Then set datomic.objectCacheMax=32m and watch the warm case get slow again — you have made the working set not fit</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Add a memcached tier and watch it fill</a:t>
            </a:r>
          </a:p>
        </p:txBody>
      </p:sp>
      <p:sp>
        <p:nvSpPr>
          <p:cNvPr id="4" name="t"/>
          <p:cNvSpPr txBox="1"/>
          <p:nvPr/>
        </p:nvSpPr>
        <p:spPr>
          <a:xfrm>
            <a:off x="502920" y="971804"/>
            <a:ext cx="8138160" cy="1275080"/>
          </a:xfrm>
          <a:prstGeom prst="roundRect">
            <a:avLst/>
          </a:prstGeom>
          <a:solidFill>
            <a:srgbClr val="141B28"/>
          </a:solidFill>
        </p:spPr>
        <p:txBody>
          <a:bodyPr wrap="square" lIns="91440" tIns="45720" rIns="91440" bIns="45720">
            <a:noAutofit/>
          </a:bodyPr>
          <a:lstStyle/>
          <a:p>
            <a:r>
              <a:rPr lang="en-US" sz="1000">
                <a:solidFill>
                  <a:srgbClr val="7BD88F"/>
                </a:solidFill>
                <a:latin typeface="Courier New"/>
              </a:rPr>
              <a:t>docker run -d --name datomic-memcached -p 11211:11211 memcached:1.6</a:t>
            </a:r>
          </a:p>
          <a:p>
            <a:endParaRPr lang="en-US" sz="1000"/>
          </a:p>
          <a:p>
            <a:r>
              <a:rPr lang="en-US" sz="1000">
                <a:solidFill>
                  <a:srgbClr val="7BD88F"/>
                </a:solidFill>
                <a:latin typeface="Courier New"/>
              </a:rPr>
              <a:t># restart the transactor with the tier configured</a:t>
            </a:r>
          </a:p>
          <a:p>
            <a:r>
              <a:rPr lang="en-US" sz="1000">
                <a:solidFill>
                  <a:srgbClr val="7BD88F"/>
                </a:solidFill>
                <a:latin typeface="Courier New"/>
              </a:rPr>
              <a:t>echo "memcached=localhost:11211" &gt;&gt; config/pg-transactor.properties</a:t>
            </a:r>
          </a:p>
          <a:p>
            <a:endParaRPr lang="en-US" sz="1000"/>
          </a:p>
          <a:p>
            <a:r>
              <a:rPr lang="en-US" sz="1000">
                <a:solidFill>
                  <a:srgbClr val="7BD88F"/>
                </a:solidFill>
                <a:latin typeface="Courier New"/>
              </a:rPr>
              <a:t># and start the peer REPL with the same server list</a:t>
            </a:r>
          </a:p>
          <a:p>
            <a:r>
              <a:rPr lang="en-US" sz="1000">
                <a:solidFill>
                  <a:srgbClr val="7BD88F"/>
                </a:solidFill>
                <a:latin typeface="Courier New"/>
              </a:rPr>
              <a:t>clj -J-Ddatomic.memcachedServers=localhost:11211 -M:repl</a:t>
            </a:r>
          </a:p>
        </p:txBody>
      </p:sp>
      <p:sp>
        <p:nvSpPr>
          <p:cNvPr id="5" name="t"/>
          <p:cNvSpPr txBox="1"/>
          <p:nvPr/>
        </p:nvSpPr>
        <p:spPr>
          <a:xfrm>
            <a:off x="502920" y="2411476"/>
            <a:ext cx="8138160" cy="170688"/>
          </a:xfrm>
          <a:prstGeom prst="rect">
            <a:avLst/>
          </a:prstGeom>
        </p:spPr>
        <p:txBody>
          <a:bodyPr wrap="square" lIns="91440" tIns="45720" rIns="91440" bIns="45720">
            <a:noAutofit/>
          </a:bodyPr>
          <a:lstStyle/>
          <a:p>
            <a:r>
              <a:rPr lang="en-US" sz="1050">
                <a:solidFill>
                  <a:srgbClr val="E8EDF6"/>
                </a:solidFill>
                <a:latin typeface="Calibri"/>
              </a:rPr>
              <a:t>· watch -n1 'echo stats | nc localhost 11211 | grep -E "get_hits|get_misses|curr_items"'</a:t>
            </a:r>
          </a:p>
        </p:txBody>
      </p:sp>
      <p:sp>
        <p:nvSpPr>
          <p:cNvPr id="6" name="t"/>
          <p:cNvSpPr txBox="1"/>
          <p:nvPr/>
        </p:nvSpPr>
        <p:spPr>
          <a:xfrm>
            <a:off x="502920" y="2582164"/>
            <a:ext cx="8138160" cy="170688"/>
          </a:xfrm>
          <a:prstGeom prst="rect">
            <a:avLst/>
          </a:prstGeom>
        </p:spPr>
        <p:txBody>
          <a:bodyPr wrap="square" lIns="91440" tIns="45720" rIns="91440" bIns="45720">
            <a:noAutofit/>
          </a:bodyPr>
          <a:lstStyle/>
          <a:p>
            <a:r>
              <a:rPr lang="en-US" sz="1050">
                <a:solidFill>
                  <a:srgbClr val="E8EDF6"/>
                </a:solidFill>
                <a:latin typeface="Calibri"/>
              </a:rPr>
              <a:t>· Run the cold query. curr_items climbs — those are segments.</a:t>
            </a:r>
          </a:p>
        </p:txBody>
      </p:sp>
      <p:sp>
        <p:nvSpPr>
          <p:cNvPr id="7" name="t"/>
          <p:cNvSpPr txBox="1"/>
          <p:nvPr/>
        </p:nvSpPr>
        <p:spPr>
          <a:xfrm>
            <a:off x="502920" y="2752852"/>
            <a:ext cx="8138160" cy="341376"/>
          </a:xfrm>
          <a:prstGeom prst="rect">
            <a:avLst/>
          </a:prstGeom>
        </p:spPr>
        <p:txBody>
          <a:bodyPr wrap="square" lIns="91440" tIns="45720" rIns="91440" bIns="45720">
            <a:noAutofit/>
          </a:bodyPr>
          <a:lstStyle/>
          <a:p>
            <a:r>
              <a:rPr lang="en-US" sz="1050">
                <a:solidFill>
                  <a:srgbClr val="E8EDF6"/>
                </a:solidFill>
                <a:latin typeface="Calibri"/>
              </a:rPr>
              <a:t>· Restart the peer and run it again: misses in the object cache, hits in memcached. That is the shared tier earning its keep.</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Peer library versus Peer Server</a:t>
            </a:r>
          </a:p>
        </p:txBody>
      </p:sp>
      <p:sp>
        <p:nvSpPr>
          <p:cNvPr id="3" name="t"/>
          <p:cNvSpPr txBox="1"/>
          <p:nvPr/>
        </p:nvSpPr>
        <p:spPr>
          <a:xfrm>
            <a:off x="502920" y="766064"/>
            <a:ext cx="1953158" cy="231140"/>
          </a:xfrm>
          <a:prstGeom prst="rect">
            <a:avLst/>
          </a:prstGeom>
        </p:spPr>
        <p:txBody>
          <a:bodyPr wrap="square" lIns="91440" tIns="45720" rIns="91440" bIns="45720">
            <a:noAutofit/>
          </a:bodyPr>
          <a:lstStyle/>
          <a:p>
            <a:endParaRPr lang="en-US" sz="1000"/>
          </a:p>
        </p:txBody>
      </p:sp>
      <p:sp>
        <p:nvSpPr>
          <p:cNvPr id="4" name="t"/>
          <p:cNvSpPr txBox="1"/>
          <p:nvPr/>
        </p:nvSpPr>
        <p:spPr>
          <a:xfrm>
            <a:off x="2456078" y="766064"/>
            <a:ext cx="3092500" cy="231140"/>
          </a:xfrm>
          <a:prstGeom prst="rect">
            <a:avLst/>
          </a:prstGeom>
        </p:spPr>
        <p:txBody>
          <a:bodyPr wrap="square" lIns="91440" tIns="45720" rIns="91440" bIns="45720">
            <a:noAutofit/>
          </a:bodyPr>
          <a:lstStyle/>
          <a:p>
            <a:r>
              <a:rPr lang="en-US" sz="1000" b="1">
                <a:solidFill>
                  <a:srgbClr val="6FA8FF"/>
                </a:solidFill>
                <a:latin typeface="Calibri"/>
              </a:rPr>
              <a:t>Peer library</a:t>
            </a:r>
          </a:p>
        </p:txBody>
      </p:sp>
      <p:sp>
        <p:nvSpPr>
          <p:cNvPr id="5" name="t"/>
          <p:cNvSpPr txBox="1"/>
          <p:nvPr/>
        </p:nvSpPr>
        <p:spPr>
          <a:xfrm>
            <a:off x="5548579" y="766064"/>
            <a:ext cx="3092500" cy="231140"/>
          </a:xfrm>
          <a:prstGeom prst="rect">
            <a:avLst/>
          </a:prstGeom>
        </p:spPr>
        <p:txBody>
          <a:bodyPr wrap="square" lIns="91440" tIns="45720" rIns="91440" bIns="45720">
            <a:noAutofit/>
          </a:bodyPr>
          <a:lstStyle/>
          <a:p>
            <a:r>
              <a:rPr lang="en-US" sz="1000" b="1">
                <a:solidFill>
                  <a:srgbClr val="6FA8FF"/>
                </a:solidFill>
                <a:latin typeface="Calibri"/>
              </a:rPr>
              <a:t>Peer Server + Client</a:t>
            </a:r>
          </a:p>
        </p:txBody>
      </p:sp>
      <p:sp>
        <p:nvSpPr>
          <p:cNvPr id="6" name="t"/>
          <p:cNvSpPr txBox="1"/>
          <p:nvPr/>
        </p:nvSpPr>
        <p:spPr>
          <a:xfrm>
            <a:off x="457200" y="997204"/>
            <a:ext cx="8229600" cy="231140"/>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997204"/>
            <a:ext cx="1953158" cy="231140"/>
          </a:xfrm>
          <a:prstGeom prst="rect">
            <a:avLst/>
          </a:prstGeom>
        </p:spPr>
        <p:txBody>
          <a:bodyPr wrap="square" lIns="91440" tIns="45720" rIns="91440" bIns="45720">
            <a:noAutofit/>
          </a:bodyPr>
          <a:lstStyle/>
          <a:p>
            <a:r>
              <a:rPr lang="en-US" sz="1000" b="1">
                <a:solidFill>
                  <a:srgbClr val="E8EDF6"/>
                </a:solidFill>
                <a:latin typeface="Calibri"/>
              </a:rPr>
              <a:t>Where query runs</a:t>
            </a:r>
          </a:p>
        </p:txBody>
      </p:sp>
      <p:sp>
        <p:nvSpPr>
          <p:cNvPr id="8" name="t"/>
          <p:cNvSpPr txBox="1"/>
          <p:nvPr/>
        </p:nvSpPr>
        <p:spPr>
          <a:xfrm>
            <a:off x="2456078" y="997204"/>
            <a:ext cx="3092500" cy="231140"/>
          </a:xfrm>
          <a:prstGeom prst="rect">
            <a:avLst/>
          </a:prstGeom>
        </p:spPr>
        <p:txBody>
          <a:bodyPr wrap="square" lIns="91440" tIns="45720" rIns="91440" bIns="45720">
            <a:noAutofit/>
          </a:bodyPr>
          <a:lstStyle/>
          <a:p>
            <a:r>
              <a:rPr lang="en-US" sz="1000">
                <a:solidFill>
                  <a:srgbClr val="8FA0B8"/>
                </a:solidFill>
                <a:latin typeface="Calibri"/>
              </a:rPr>
              <a:t>in your application process</a:t>
            </a:r>
          </a:p>
        </p:txBody>
      </p:sp>
      <p:sp>
        <p:nvSpPr>
          <p:cNvPr id="9" name="t"/>
          <p:cNvSpPr txBox="1"/>
          <p:nvPr/>
        </p:nvSpPr>
        <p:spPr>
          <a:xfrm>
            <a:off x="5548579" y="997204"/>
            <a:ext cx="3092500" cy="231140"/>
          </a:xfrm>
          <a:prstGeom prst="rect">
            <a:avLst/>
          </a:prstGeom>
        </p:spPr>
        <p:txBody>
          <a:bodyPr wrap="square" lIns="91440" tIns="45720" rIns="91440" bIns="45720">
            <a:noAutofit/>
          </a:bodyPr>
          <a:lstStyle/>
          <a:p>
            <a:r>
              <a:rPr lang="en-US" sz="1000">
                <a:solidFill>
                  <a:srgbClr val="8FA0B8"/>
                </a:solidFill>
                <a:latin typeface="Calibri"/>
              </a:rPr>
              <a:t>in the Peer Server</a:t>
            </a:r>
          </a:p>
        </p:txBody>
      </p:sp>
      <p:sp>
        <p:nvSpPr>
          <p:cNvPr id="10" name="t"/>
          <p:cNvSpPr txBox="1"/>
          <p:nvPr/>
        </p:nvSpPr>
        <p:spPr>
          <a:xfrm>
            <a:off x="502920" y="1228344"/>
            <a:ext cx="1953158" cy="231140"/>
          </a:xfrm>
          <a:prstGeom prst="rect">
            <a:avLst/>
          </a:prstGeom>
        </p:spPr>
        <p:txBody>
          <a:bodyPr wrap="square" lIns="91440" tIns="45720" rIns="91440" bIns="45720">
            <a:noAutofit/>
          </a:bodyPr>
          <a:lstStyle/>
          <a:p>
            <a:r>
              <a:rPr lang="en-US" sz="1000" b="1">
                <a:solidFill>
                  <a:srgbClr val="E8EDF6"/>
                </a:solidFill>
                <a:latin typeface="Calibri"/>
              </a:rPr>
              <a:t>Where the cache is</a:t>
            </a:r>
          </a:p>
        </p:txBody>
      </p:sp>
      <p:sp>
        <p:nvSpPr>
          <p:cNvPr id="11" name="t"/>
          <p:cNvSpPr txBox="1"/>
          <p:nvPr/>
        </p:nvSpPr>
        <p:spPr>
          <a:xfrm>
            <a:off x="2456078" y="1228344"/>
            <a:ext cx="3092500" cy="231140"/>
          </a:xfrm>
          <a:prstGeom prst="rect">
            <a:avLst/>
          </a:prstGeom>
        </p:spPr>
        <p:txBody>
          <a:bodyPr wrap="square" lIns="91440" tIns="45720" rIns="91440" bIns="45720">
            <a:noAutofit/>
          </a:bodyPr>
          <a:lstStyle/>
          <a:p>
            <a:r>
              <a:rPr lang="en-US" sz="1000">
                <a:solidFill>
                  <a:srgbClr val="8FA0B8"/>
                </a:solidFill>
                <a:latin typeface="Calibri"/>
              </a:rPr>
              <a:t>in your application process</a:t>
            </a:r>
          </a:p>
        </p:txBody>
      </p:sp>
      <p:sp>
        <p:nvSpPr>
          <p:cNvPr id="12" name="t"/>
          <p:cNvSpPr txBox="1"/>
          <p:nvPr/>
        </p:nvSpPr>
        <p:spPr>
          <a:xfrm>
            <a:off x="5548579" y="1228344"/>
            <a:ext cx="3092500" cy="231140"/>
          </a:xfrm>
          <a:prstGeom prst="rect">
            <a:avLst/>
          </a:prstGeom>
        </p:spPr>
        <p:txBody>
          <a:bodyPr wrap="square" lIns="91440" tIns="45720" rIns="91440" bIns="45720">
            <a:noAutofit/>
          </a:bodyPr>
          <a:lstStyle/>
          <a:p>
            <a:r>
              <a:rPr lang="en-US" sz="1000">
                <a:solidFill>
                  <a:srgbClr val="8FA0B8"/>
                </a:solidFill>
                <a:latin typeface="Calibri"/>
              </a:rPr>
              <a:t>in the Peer Server</a:t>
            </a:r>
          </a:p>
        </p:txBody>
      </p:sp>
      <p:sp>
        <p:nvSpPr>
          <p:cNvPr id="13" name="t"/>
          <p:cNvSpPr txBox="1"/>
          <p:nvPr/>
        </p:nvSpPr>
        <p:spPr>
          <a:xfrm>
            <a:off x="457200" y="1459484"/>
            <a:ext cx="8229600" cy="231140"/>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459484"/>
            <a:ext cx="1953158" cy="231140"/>
          </a:xfrm>
          <a:prstGeom prst="rect">
            <a:avLst/>
          </a:prstGeom>
        </p:spPr>
        <p:txBody>
          <a:bodyPr wrap="square" lIns="91440" tIns="45720" rIns="91440" bIns="45720">
            <a:noAutofit/>
          </a:bodyPr>
          <a:lstStyle/>
          <a:p>
            <a:r>
              <a:rPr lang="en-US" sz="1000" b="1">
                <a:solidFill>
                  <a:srgbClr val="E8EDF6"/>
                </a:solidFill>
                <a:latin typeface="Calibri"/>
              </a:rPr>
              <a:t>Read latency</a:t>
            </a:r>
          </a:p>
        </p:txBody>
      </p:sp>
      <p:sp>
        <p:nvSpPr>
          <p:cNvPr id="15" name="t"/>
          <p:cNvSpPr txBox="1"/>
          <p:nvPr/>
        </p:nvSpPr>
        <p:spPr>
          <a:xfrm>
            <a:off x="2456078" y="1459484"/>
            <a:ext cx="3092500" cy="231140"/>
          </a:xfrm>
          <a:prstGeom prst="rect">
            <a:avLst/>
          </a:prstGeom>
        </p:spPr>
        <p:txBody>
          <a:bodyPr wrap="square" lIns="91440" tIns="45720" rIns="91440" bIns="45720">
            <a:noAutofit/>
          </a:bodyPr>
          <a:lstStyle/>
          <a:p>
            <a:r>
              <a:rPr lang="en-US" sz="1000">
                <a:solidFill>
                  <a:srgbClr val="8FA0B8"/>
                </a:solidFill>
                <a:latin typeface="Calibri"/>
              </a:rPr>
              <a:t>memory speed, no hop</a:t>
            </a:r>
          </a:p>
        </p:txBody>
      </p:sp>
      <p:sp>
        <p:nvSpPr>
          <p:cNvPr id="16" name="t"/>
          <p:cNvSpPr txBox="1"/>
          <p:nvPr/>
        </p:nvSpPr>
        <p:spPr>
          <a:xfrm>
            <a:off x="5548579" y="1459484"/>
            <a:ext cx="3092500" cy="231140"/>
          </a:xfrm>
          <a:prstGeom prst="rect">
            <a:avLst/>
          </a:prstGeom>
        </p:spPr>
        <p:txBody>
          <a:bodyPr wrap="square" lIns="91440" tIns="45720" rIns="91440" bIns="45720">
            <a:noAutofit/>
          </a:bodyPr>
          <a:lstStyle/>
          <a:p>
            <a:r>
              <a:rPr lang="en-US" sz="1000">
                <a:solidFill>
                  <a:srgbClr val="8FA0B8"/>
                </a:solidFill>
                <a:latin typeface="Calibri"/>
              </a:rPr>
              <a:t>one network hop, chunked results</a:t>
            </a:r>
          </a:p>
        </p:txBody>
      </p:sp>
      <p:sp>
        <p:nvSpPr>
          <p:cNvPr id="17" name="t"/>
          <p:cNvSpPr txBox="1"/>
          <p:nvPr/>
        </p:nvSpPr>
        <p:spPr>
          <a:xfrm>
            <a:off x="502920" y="1690624"/>
            <a:ext cx="1953158" cy="231140"/>
          </a:xfrm>
          <a:prstGeom prst="rect">
            <a:avLst/>
          </a:prstGeom>
        </p:spPr>
        <p:txBody>
          <a:bodyPr wrap="square" lIns="91440" tIns="45720" rIns="91440" bIns="45720">
            <a:noAutofit/>
          </a:bodyPr>
          <a:lstStyle/>
          <a:p>
            <a:r>
              <a:rPr lang="en-US" sz="1000" b="1">
                <a:solidFill>
                  <a:srgbClr val="E8EDF6"/>
                </a:solidFill>
                <a:latin typeface="Calibri"/>
              </a:rPr>
              <a:t>Entity API, d/filter</a:t>
            </a:r>
          </a:p>
        </p:txBody>
      </p:sp>
      <p:sp>
        <p:nvSpPr>
          <p:cNvPr id="18" name="t"/>
          <p:cNvSpPr txBox="1"/>
          <p:nvPr/>
        </p:nvSpPr>
        <p:spPr>
          <a:xfrm>
            <a:off x="2456078" y="1690624"/>
            <a:ext cx="3092500" cy="231140"/>
          </a:xfrm>
          <a:prstGeom prst="rect">
            <a:avLst/>
          </a:prstGeom>
        </p:spPr>
        <p:txBody>
          <a:bodyPr wrap="square" lIns="91440" tIns="45720" rIns="91440" bIns="45720">
            <a:noAutofit/>
          </a:bodyPr>
          <a:lstStyle/>
          <a:p>
            <a:r>
              <a:rPr lang="en-US" sz="1000">
                <a:solidFill>
                  <a:srgbClr val="8FA0B8"/>
                </a:solidFill>
                <a:latin typeface="Calibri"/>
              </a:rPr>
              <a:t>yes</a:t>
            </a:r>
          </a:p>
        </p:txBody>
      </p:sp>
      <p:sp>
        <p:nvSpPr>
          <p:cNvPr id="19" name="t"/>
          <p:cNvSpPr txBox="1"/>
          <p:nvPr/>
        </p:nvSpPr>
        <p:spPr>
          <a:xfrm>
            <a:off x="5548579" y="1690624"/>
            <a:ext cx="3092500" cy="231140"/>
          </a:xfrm>
          <a:prstGeom prst="rect">
            <a:avLst/>
          </a:prstGeom>
        </p:spPr>
        <p:txBody>
          <a:bodyPr wrap="square" lIns="91440" tIns="45720" rIns="91440" bIns="45720">
            <a:noAutofit/>
          </a:bodyPr>
          <a:lstStyle/>
          <a:p>
            <a:r>
              <a:rPr lang="en-US" sz="1000">
                <a:solidFill>
                  <a:srgbClr val="8FA0B8"/>
                </a:solidFill>
                <a:latin typeface="Calibri"/>
              </a:rPr>
              <a:t>no</a:t>
            </a:r>
          </a:p>
        </p:txBody>
      </p:sp>
      <p:sp>
        <p:nvSpPr>
          <p:cNvPr id="20" name="t"/>
          <p:cNvSpPr txBox="1"/>
          <p:nvPr/>
        </p:nvSpPr>
        <p:spPr>
          <a:xfrm>
            <a:off x="457200" y="1921764"/>
            <a:ext cx="8229600" cy="231140"/>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1921764"/>
            <a:ext cx="1953158" cy="231140"/>
          </a:xfrm>
          <a:prstGeom prst="rect">
            <a:avLst/>
          </a:prstGeom>
        </p:spPr>
        <p:txBody>
          <a:bodyPr wrap="square" lIns="91440" tIns="45720" rIns="91440" bIns="45720">
            <a:noAutofit/>
          </a:bodyPr>
          <a:lstStyle/>
          <a:p>
            <a:r>
              <a:rPr lang="en-US" sz="1000" b="1">
                <a:solidFill>
                  <a:srgbClr val="E8EDF6"/>
                </a:solidFill>
                <a:latin typeface="Calibri"/>
              </a:rPr>
              <a:t>create/delete database</a:t>
            </a:r>
          </a:p>
        </p:txBody>
      </p:sp>
      <p:sp>
        <p:nvSpPr>
          <p:cNvPr id="22" name="t"/>
          <p:cNvSpPr txBox="1"/>
          <p:nvPr/>
        </p:nvSpPr>
        <p:spPr>
          <a:xfrm>
            <a:off x="2456078" y="1921764"/>
            <a:ext cx="3092500" cy="231140"/>
          </a:xfrm>
          <a:prstGeom prst="rect">
            <a:avLst/>
          </a:prstGeom>
        </p:spPr>
        <p:txBody>
          <a:bodyPr wrap="square" lIns="91440" tIns="45720" rIns="91440" bIns="45720">
            <a:noAutofit/>
          </a:bodyPr>
          <a:lstStyle/>
          <a:p>
            <a:r>
              <a:rPr lang="en-US" sz="1000">
                <a:solidFill>
                  <a:srgbClr val="8FA0B8"/>
                </a:solidFill>
                <a:latin typeface="Calibri"/>
              </a:rPr>
              <a:t>yes</a:t>
            </a:r>
          </a:p>
        </p:txBody>
      </p:sp>
      <p:sp>
        <p:nvSpPr>
          <p:cNvPr id="23" name="t"/>
          <p:cNvSpPr txBox="1"/>
          <p:nvPr/>
        </p:nvSpPr>
        <p:spPr>
          <a:xfrm>
            <a:off x="5548579" y="1921764"/>
            <a:ext cx="3092500" cy="231140"/>
          </a:xfrm>
          <a:prstGeom prst="rect">
            <a:avLst/>
          </a:prstGeom>
        </p:spPr>
        <p:txBody>
          <a:bodyPr wrap="square" lIns="91440" tIns="45720" rIns="91440" bIns="45720">
            <a:noAutofit/>
          </a:bodyPr>
          <a:lstStyle/>
          <a:p>
            <a:r>
              <a:rPr lang="en-US" sz="1000">
                <a:solidFill>
                  <a:srgbClr val="8FA0B8"/>
                </a:solidFill>
                <a:latin typeface="Calibri"/>
              </a:rPr>
              <a:t>no — Peer Servers do not own databases</a:t>
            </a:r>
          </a:p>
        </p:txBody>
      </p:sp>
      <p:sp>
        <p:nvSpPr>
          <p:cNvPr id="24" name="t"/>
          <p:cNvSpPr txBox="1"/>
          <p:nvPr/>
        </p:nvSpPr>
        <p:spPr>
          <a:xfrm>
            <a:off x="502920" y="2152904"/>
            <a:ext cx="1953158" cy="231140"/>
          </a:xfrm>
          <a:prstGeom prst="rect">
            <a:avLst/>
          </a:prstGeom>
        </p:spPr>
        <p:txBody>
          <a:bodyPr wrap="square" lIns="91440" tIns="45720" rIns="91440" bIns="45720">
            <a:noAutofit/>
          </a:bodyPr>
          <a:lstStyle/>
          <a:p>
            <a:r>
              <a:rPr lang="en-US" sz="1000" b="1">
                <a:solidFill>
                  <a:srgbClr val="E8EDF6"/>
                </a:solidFill>
                <a:latin typeface="Calibri"/>
              </a:rPr>
              <a:t>Explicit partitions</a:t>
            </a:r>
          </a:p>
        </p:txBody>
      </p:sp>
      <p:sp>
        <p:nvSpPr>
          <p:cNvPr id="25" name="t"/>
          <p:cNvSpPr txBox="1"/>
          <p:nvPr/>
        </p:nvSpPr>
        <p:spPr>
          <a:xfrm>
            <a:off x="2456078" y="2152904"/>
            <a:ext cx="3092500" cy="231140"/>
          </a:xfrm>
          <a:prstGeom prst="rect">
            <a:avLst/>
          </a:prstGeom>
        </p:spPr>
        <p:txBody>
          <a:bodyPr wrap="square" lIns="91440" tIns="45720" rIns="91440" bIns="45720">
            <a:noAutofit/>
          </a:bodyPr>
          <a:lstStyle/>
          <a:p>
            <a:r>
              <a:rPr lang="en-US" sz="1000">
                <a:solidFill>
                  <a:srgbClr val="8FA0B8"/>
                </a:solidFill>
                <a:latin typeface="Calibri"/>
              </a:rPr>
              <a:t>yes</a:t>
            </a:r>
          </a:p>
        </p:txBody>
      </p:sp>
      <p:sp>
        <p:nvSpPr>
          <p:cNvPr id="26" name="t"/>
          <p:cNvSpPr txBox="1"/>
          <p:nvPr/>
        </p:nvSpPr>
        <p:spPr>
          <a:xfrm>
            <a:off x="5548579" y="2152904"/>
            <a:ext cx="3092500" cy="231140"/>
          </a:xfrm>
          <a:prstGeom prst="rect">
            <a:avLst/>
          </a:prstGeom>
        </p:spPr>
        <p:txBody>
          <a:bodyPr wrap="square" lIns="91440" tIns="45720" rIns="91440" bIns="45720">
            <a:noAutofit/>
          </a:bodyPr>
          <a:lstStyle/>
          <a:p>
            <a:r>
              <a:rPr lang="en-US" sz="1000">
                <a:solidFill>
                  <a:srgbClr val="8FA0B8"/>
                </a:solidFill>
                <a:latin typeface="Calibri"/>
              </a:rPr>
              <a:t>implicit only</a:t>
            </a:r>
          </a:p>
        </p:txBody>
      </p:sp>
      <p:sp>
        <p:nvSpPr>
          <p:cNvPr id="27" name="t"/>
          <p:cNvSpPr txBox="1"/>
          <p:nvPr/>
        </p:nvSpPr>
        <p:spPr>
          <a:xfrm>
            <a:off x="457200" y="2384044"/>
            <a:ext cx="8229600" cy="231140"/>
          </a:xfrm>
          <a:prstGeom prst="rect">
            <a:avLst/>
          </a:prstGeom>
          <a:solidFill>
            <a:srgbClr val="141B28"/>
          </a:solidFill>
        </p:spPr>
        <p:txBody>
          <a:bodyPr wrap="square" lIns="91440" tIns="45720" rIns="91440" bIns="45720">
            <a:noAutofit/>
          </a:bodyPr>
          <a:lstStyle/>
        </p:txBody>
      </p:sp>
      <p:sp>
        <p:nvSpPr>
          <p:cNvPr id="28" name="t"/>
          <p:cNvSpPr txBox="1"/>
          <p:nvPr/>
        </p:nvSpPr>
        <p:spPr>
          <a:xfrm>
            <a:off x="502920" y="2384044"/>
            <a:ext cx="1953158" cy="231140"/>
          </a:xfrm>
          <a:prstGeom prst="rect">
            <a:avLst/>
          </a:prstGeom>
        </p:spPr>
        <p:txBody>
          <a:bodyPr wrap="square" lIns="91440" tIns="45720" rIns="91440" bIns="45720">
            <a:noAutofit/>
          </a:bodyPr>
          <a:lstStyle/>
          <a:p>
            <a:r>
              <a:rPr lang="en-US" sz="1000" b="1">
                <a:solidFill>
                  <a:srgbClr val="E8EDF6"/>
                </a:solidFill>
                <a:latin typeface="Calibri"/>
              </a:rPr>
              <a:t>Language</a:t>
            </a:r>
          </a:p>
        </p:txBody>
      </p:sp>
      <p:sp>
        <p:nvSpPr>
          <p:cNvPr id="29" name="t"/>
          <p:cNvSpPr txBox="1"/>
          <p:nvPr/>
        </p:nvSpPr>
        <p:spPr>
          <a:xfrm>
            <a:off x="2456078" y="2384044"/>
            <a:ext cx="3092500" cy="231140"/>
          </a:xfrm>
          <a:prstGeom prst="rect">
            <a:avLst/>
          </a:prstGeom>
        </p:spPr>
        <p:txBody>
          <a:bodyPr wrap="square" lIns="91440" tIns="45720" rIns="91440" bIns="45720">
            <a:noAutofit/>
          </a:bodyPr>
          <a:lstStyle/>
          <a:p>
            <a:r>
              <a:rPr lang="en-US" sz="1000">
                <a:solidFill>
                  <a:srgbClr val="8FA0B8"/>
                </a:solidFill>
                <a:latin typeface="Calibri"/>
              </a:rPr>
              <a:t>JVM only</a:t>
            </a:r>
          </a:p>
        </p:txBody>
      </p:sp>
      <p:sp>
        <p:nvSpPr>
          <p:cNvPr id="30" name="t"/>
          <p:cNvSpPr txBox="1"/>
          <p:nvPr/>
        </p:nvSpPr>
        <p:spPr>
          <a:xfrm>
            <a:off x="5548579" y="2384044"/>
            <a:ext cx="3092500" cy="231140"/>
          </a:xfrm>
          <a:prstGeom prst="rect">
            <a:avLst/>
          </a:prstGeom>
        </p:spPr>
        <p:txBody>
          <a:bodyPr wrap="square" lIns="91440" tIns="45720" rIns="91440" bIns="45720">
            <a:noAutofit/>
          </a:bodyPr>
          <a:lstStyle/>
          <a:p>
            <a:r>
              <a:rPr lang="en-US" sz="1000">
                <a:solidFill>
                  <a:srgbClr val="8FA0B8"/>
                </a:solidFill>
                <a:latin typeface="Calibri"/>
              </a:rPr>
              <a:t>thin client, portable to Cloud and Local</a:t>
            </a:r>
          </a:p>
        </p:txBody>
      </p:sp>
      <p:sp>
        <p:nvSpPr>
          <p:cNvPr id="31" name="t"/>
          <p:cNvSpPr txBox="1"/>
          <p:nvPr/>
        </p:nvSpPr>
        <p:spPr>
          <a:xfrm>
            <a:off x="502920" y="2779776"/>
            <a:ext cx="8138160" cy="600456"/>
          </a:xfrm>
          <a:prstGeom prst="roundRect">
            <a:avLst/>
          </a:prstGeom>
          <a:solidFill>
            <a:srgbClr val="141B28"/>
          </a:solidFill>
        </p:spPr>
        <p:txBody>
          <a:bodyPr wrap="square" lIns="91440" tIns="45720" rIns="91440" bIns="45720">
            <a:noAutofit/>
          </a:bodyPr>
          <a:lstStyle/>
          <a:p>
            <a:r>
              <a:rPr lang="en-US" sz="950">
                <a:solidFill>
                  <a:srgbClr val="7BD88F"/>
                </a:solidFill>
                <a:latin typeface="Courier New"/>
              </a:rPr>
              <a:t>bin/run -m datomic.peer-server -h 0.0.0.0 -p 8998 \</a:t>
            </a:r>
          </a:p>
          <a:p>
            <a:r>
              <a:rPr lang="en-US" sz="950">
                <a:solidFill>
                  <a:srgbClr val="7BD88F"/>
                </a:solidFill>
                <a:latin typeface="Courier New"/>
              </a:rPr>
              <a:t>  -a myaccesskey,mysecret \</a:t>
            </a:r>
          </a:p>
          <a:p>
            <a:r>
              <a:rPr lang="en-US" sz="950">
                <a:solidFill>
                  <a:srgbClr val="7BD88F"/>
                </a:solidFill>
                <a:latin typeface="Courier New"/>
              </a:rPr>
              <a:t>  -d inventory,datomic:sql://inventory?jdbc:postgresql://...</a:t>
            </a:r>
          </a:p>
        </p:txBody>
      </p:sp>
      <p:sp>
        <p:nvSpPr>
          <p:cNvPr id="32"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33"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Coordinating reads across processes</a:t>
            </a:r>
          </a:p>
        </p:txBody>
      </p:sp>
      <p:sp>
        <p:nvSpPr>
          <p:cNvPr id="3" name="t"/>
          <p:cNvSpPr txBox="1"/>
          <p:nvPr/>
        </p:nvSpPr>
        <p:spPr>
          <a:xfrm>
            <a:off x="502920" y="766064"/>
            <a:ext cx="8138160" cy="624840"/>
          </a:xfrm>
          <a:prstGeom prst="roundRect">
            <a:avLst/>
          </a:prstGeom>
          <a:solidFill>
            <a:srgbClr val="141B28"/>
          </a:solidFill>
        </p:spPr>
        <p:txBody>
          <a:bodyPr wrap="square" lIns="91440" tIns="45720" rIns="91440" bIns="45720">
            <a:noAutofit/>
          </a:bodyPr>
          <a:lstStyle/>
          <a:p>
            <a:r>
              <a:rPr lang="en-US" sz="1000">
                <a:solidFill>
                  <a:srgbClr val="7BD88F"/>
                </a:solidFill>
                <a:latin typeface="Courier New"/>
              </a:rPr>
              <a:t>(d/sync conn t)   ;; a db with basis-t &gt;= t. does NOT ask the transactor.</a:t>
            </a:r>
          </a:p>
          <a:p>
            <a:r>
              <a:rPr lang="en-US" sz="1000">
                <a:solidFill>
                  <a:srgbClr val="7BD88F"/>
                </a:solidFill>
                <a:latin typeface="Courier New"/>
              </a:rPr>
              <a:t>(d/sync conn)     ;; includes everything complete now. DOES ask.</a:t>
            </a:r>
          </a:p>
          <a:p>
            <a:r>
              <a:rPr lang="en-US" sz="1000">
                <a:solidFill>
                  <a:srgbClr val="7BD88F"/>
                </a:solidFill>
                <a:latin typeface="Courier New"/>
              </a:rPr>
              <a:t>(d/sync-index conn t)  ;; indexed through t; does not ask.</a:t>
            </a:r>
          </a:p>
        </p:txBody>
      </p:sp>
      <p:sp>
        <p:nvSpPr>
          <p:cNvPr id="4" name="t"/>
          <p:cNvSpPr txBox="1"/>
          <p:nvPr/>
        </p:nvSpPr>
        <p:spPr>
          <a:xfrm>
            <a:off x="502920" y="1578356"/>
            <a:ext cx="8138160" cy="186944"/>
          </a:xfrm>
          <a:prstGeom prst="rect">
            <a:avLst/>
          </a:prstGeom>
        </p:spPr>
        <p:txBody>
          <a:bodyPr wrap="square" lIns="91440" tIns="45720" rIns="91440" bIns="45720">
            <a:noAutofit/>
          </a:bodyPr>
          <a:lstStyle/>
          <a:p>
            <a:r>
              <a:rPr lang="en-US" sz="1150">
                <a:solidFill>
                  <a:srgbClr val="7BD88F"/>
                </a:solidFill>
                <a:latin typeface="Calibri"/>
              </a:rPr>
              <a:t>▸ Within one peer, reads are already monotonic — you always see your own writes</a:t>
            </a:r>
          </a:p>
        </p:txBody>
      </p:sp>
      <p:sp>
        <p:nvSpPr>
          <p:cNvPr id="5" name="t"/>
          <p:cNvSpPr txBox="1"/>
          <p:nvPr/>
        </p:nvSpPr>
        <p:spPr>
          <a:xfrm>
            <a:off x="502920" y="1765300"/>
            <a:ext cx="8138160" cy="373888"/>
          </a:xfrm>
          <a:prstGeom prst="rect">
            <a:avLst/>
          </a:prstGeom>
        </p:spPr>
        <p:txBody>
          <a:bodyPr wrap="square" lIns="91440" tIns="45720" rIns="91440" bIns="45720">
            <a:noAutofit/>
          </a:bodyPr>
          <a:lstStyle/>
          <a:p>
            <a:r>
              <a:rPr lang="en-US" sz="1150">
                <a:solidFill>
                  <a:srgbClr val="E8EDF6"/>
                </a:solidFill>
                <a:latin typeface="Calibri"/>
              </a:rPr>
              <a:t>▸ Across peers, a reader may be slightly behind a writer. If your API hands a client a t, have the reader sync to it.</a:t>
            </a:r>
          </a:p>
        </p:txBody>
      </p:sp>
      <p:sp>
        <p:nvSpPr>
          <p:cNvPr id="6" name="t"/>
          <p:cNvSpPr txBox="1"/>
          <p:nvPr/>
        </p:nvSpPr>
        <p:spPr>
          <a:xfrm>
            <a:off x="502920" y="2139188"/>
            <a:ext cx="8138160" cy="373888"/>
          </a:xfrm>
          <a:prstGeom prst="rect">
            <a:avLst/>
          </a:prstGeom>
        </p:spPr>
        <p:txBody>
          <a:bodyPr wrap="square" lIns="91440" tIns="45720" rIns="91440" bIns="45720">
            <a:noAutofit/>
          </a:bodyPr>
          <a:lstStyle/>
          <a:p>
            <a:r>
              <a:rPr lang="en-US" sz="1150">
                <a:solidFill>
                  <a:srgbClr val="F28FAD"/>
                </a:solidFill>
                <a:latin typeface="Calibri"/>
              </a:rPr>
              <a:t>▸ The classic bug: write on service A, read on service B, and the row "is not there yet". It is there — service B is at an earlier t.</a:t>
            </a:r>
          </a:p>
        </p:txBody>
      </p:sp>
      <p:sp>
        <p:nvSpPr>
          <p:cNvPr id="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Session 3 — what to take away</a:t>
            </a:r>
          </a:p>
        </p:txBody>
      </p:sp>
      <p:sp>
        <p:nvSpPr>
          <p:cNvPr id="3" name="t"/>
          <p:cNvSpPr txBox="1"/>
          <p:nvPr/>
        </p:nvSpPr>
        <p:spPr>
          <a:xfrm>
            <a:off x="502920" y="766064"/>
            <a:ext cx="8138160" cy="203200"/>
          </a:xfrm>
          <a:prstGeom prst="rect">
            <a:avLst/>
          </a:prstGeom>
        </p:spPr>
        <p:txBody>
          <a:bodyPr wrap="square" lIns="91440" tIns="45720" rIns="91440" bIns="45720">
            <a:noAutofit/>
          </a:bodyPr>
          <a:lstStyle/>
          <a:p>
            <a:r>
              <a:rPr lang="en-US" sz="1250">
                <a:solidFill>
                  <a:srgbClr val="6FA8FF"/>
                </a:solidFill>
                <a:latin typeface="Calibri"/>
              </a:rPr>
              <a:t>▸ A db value is index roots plus a memory index plus a t</a:t>
            </a:r>
          </a:p>
        </p:txBody>
      </p:sp>
      <p:sp>
        <p:nvSpPr>
          <p:cNvPr id="4" name="t"/>
          <p:cNvSpPr txBox="1"/>
          <p:nvPr/>
        </p:nvSpPr>
        <p:spPr>
          <a:xfrm>
            <a:off x="502920" y="969264"/>
            <a:ext cx="8138160" cy="203200"/>
          </a:xfrm>
          <a:prstGeom prst="rect">
            <a:avLst/>
          </a:prstGeom>
        </p:spPr>
        <p:txBody>
          <a:bodyPr wrap="square" lIns="91440" tIns="45720" rIns="91440" bIns="45720">
            <a:noAutofit/>
          </a:bodyPr>
          <a:lstStyle/>
          <a:p>
            <a:r>
              <a:rPr lang="en-US" sz="1250">
                <a:solidFill>
                  <a:srgbClr val="C09BFF"/>
                </a:solidFill>
                <a:latin typeface="Calibri"/>
              </a:rPr>
              <a:t>▸ Everything is cached in units of segments, not entities</a:t>
            </a:r>
          </a:p>
        </p:txBody>
      </p:sp>
      <p:sp>
        <p:nvSpPr>
          <p:cNvPr id="5" name="t"/>
          <p:cNvSpPr txBox="1"/>
          <p:nvPr/>
        </p:nvSpPr>
        <p:spPr>
          <a:xfrm>
            <a:off x="502920" y="1172464"/>
            <a:ext cx="8138160" cy="203200"/>
          </a:xfrm>
          <a:prstGeom prst="rect">
            <a:avLst/>
          </a:prstGeom>
        </p:spPr>
        <p:txBody>
          <a:bodyPr wrap="square" lIns="91440" tIns="45720" rIns="91440" bIns="45720">
            <a:noAutofit/>
          </a:bodyPr>
          <a:lstStyle/>
          <a:p>
            <a:r>
              <a:rPr lang="en-US" sz="1250">
                <a:solidFill>
                  <a:srgbClr val="E8EDF6"/>
                </a:solidFill>
                <a:latin typeface="Calibri"/>
              </a:rPr>
              <a:t>▸ Object cache per process, valcache per machine, memcached per fleet</a:t>
            </a:r>
          </a:p>
        </p:txBody>
      </p:sp>
      <p:sp>
        <p:nvSpPr>
          <p:cNvPr id="6" name="t"/>
          <p:cNvSpPr txBox="1"/>
          <p:nvPr/>
        </p:nvSpPr>
        <p:spPr>
          <a:xfrm>
            <a:off x="502920" y="1375664"/>
            <a:ext cx="8138160" cy="203200"/>
          </a:xfrm>
          <a:prstGeom prst="rect">
            <a:avLst/>
          </a:prstGeom>
        </p:spPr>
        <p:txBody>
          <a:bodyPr wrap="square" lIns="91440" tIns="45720" rIns="91440" bIns="45720">
            <a:noAutofit/>
          </a:bodyPr>
          <a:lstStyle/>
          <a:p>
            <a:r>
              <a:rPr lang="en-US" sz="1250">
                <a:solidFill>
                  <a:srgbClr val="7BD88F"/>
                </a:solidFill>
                <a:latin typeface="Calibri"/>
              </a:rPr>
              <a:t>▸ Immutable data means no invalidation — only eviction</a:t>
            </a:r>
          </a:p>
        </p:txBody>
      </p:sp>
      <p:sp>
        <p:nvSpPr>
          <p:cNvPr id="7" name="t"/>
          <p:cNvSpPr txBox="1"/>
          <p:nvPr/>
        </p:nvSpPr>
        <p:spPr>
          <a:xfrm>
            <a:off x="502920" y="1578864"/>
            <a:ext cx="8138160" cy="203200"/>
          </a:xfrm>
          <a:prstGeom prst="rect">
            <a:avLst/>
          </a:prstGeom>
        </p:spPr>
        <p:txBody>
          <a:bodyPr wrap="square" lIns="91440" tIns="45720" rIns="91440" bIns="45720">
            <a:noAutofit/>
          </a:bodyPr>
          <a:lstStyle/>
          <a:p>
            <a:r>
              <a:rPr lang="en-US" sz="1250">
                <a:solidFill>
                  <a:srgbClr val="FFC66D"/>
                </a:solidFill>
                <a:latin typeface="Calibri"/>
              </a:rPr>
              <a:t>▸ The mutable parts are the root pointer and the log tail, and they use compare-and-swap</a:t>
            </a:r>
          </a:p>
        </p:txBody>
      </p:sp>
      <p:sp>
        <p:nvSpPr>
          <p:cNvPr id="8" name="t"/>
          <p:cNvSpPr txBox="1"/>
          <p:nvPr/>
        </p:nvSpPr>
        <p:spPr>
          <a:xfrm>
            <a:off x="502920" y="1782064"/>
            <a:ext cx="8138160" cy="203200"/>
          </a:xfrm>
          <a:prstGeom prst="rect">
            <a:avLst/>
          </a:prstGeom>
        </p:spPr>
        <p:txBody>
          <a:bodyPr wrap="square" lIns="91440" tIns="45720" rIns="91440" bIns="45720">
            <a:noAutofit/>
          </a:bodyPr>
          <a:lstStyle/>
          <a:p>
            <a:r>
              <a:rPr lang="en-US" sz="1250">
                <a:solidFill>
                  <a:srgbClr val="E8EDF6"/>
                </a:solidFill>
                <a:latin typeface="Calibri"/>
              </a:rPr>
              <a:t>▸ Peer versus client is a caching decision, not just an API decision</a:t>
            </a:r>
          </a:p>
        </p:txBody>
      </p:sp>
      <p:sp>
        <p:nvSpPr>
          <p:cNvPr id="9" name="t"/>
          <p:cNvSpPr txBox="1"/>
          <p:nvPr/>
        </p:nvSpPr>
        <p:spPr>
          <a:xfrm>
            <a:off x="502920" y="2195576"/>
            <a:ext cx="8138160" cy="195072"/>
          </a:xfrm>
          <a:prstGeom prst="rect">
            <a:avLst/>
          </a:prstGeom>
        </p:spPr>
        <p:txBody>
          <a:bodyPr wrap="square" lIns="91440" tIns="45720" rIns="91440" bIns="45720">
            <a:noAutofit/>
          </a:bodyPr>
          <a:lstStyle/>
          <a:p>
            <a:r>
              <a:rPr lang="en-US" sz="1200" i="1">
                <a:solidFill>
                  <a:srgbClr val="8FA0B8"/>
                </a:solidFill>
                <a:latin typeface="Calibri"/>
              </a:rPr>
              <a:t>Next session: assembling all of this into real topologies — plus Datomic Cloud, HA, backup and restore.</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3 — The read path and the caches</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640080"/>
            <a:ext cx="8138160" cy="274320"/>
          </a:xfrm>
          <a:prstGeom prst="rect">
            <a:avLst/>
          </a:prstGeom>
        </p:spPr>
        <p:txBody>
          <a:bodyPr wrap="square" lIns="91440" tIns="45720" rIns="91440" bIns="45720">
            <a:noAutofit/>
          </a:bodyPr>
          <a:lstStyle/>
          <a:p>
            <a:r>
              <a:rPr lang="en-US" sz="1200" b="1">
                <a:solidFill>
                  <a:srgbClr val="FFC66D"/>
                </a:solidFill>
                <a:latin typeface="Calibri"/>
              </a:rPr>
              <a:t>SESSION 4</a:t>
            </a:r>
          </a:p>
        </p:txBody>
      </p:sp>
      <p:sp>
        <p:nvSpPr>
          <p:cNvPr id="3" name="t"/>
          <p:cNvSpPr txBox="1"/>
          <p:nvPr/>
        </p:nvSpPr>
        <p:spPr>
          <a:xfrm>
            <a:off x="502920" y="960120"/>
            <a:ext cx="8138160" cy="502920"/>
          </a:xfrm>
          <a:prstGeom prst="rect">
            <a:avLst/>
          </a:prstGeom>
        </p:spPr>
        <p:txBody>
          <a:bodyPr wrap="square" lIns="91440" tIns="45720" rIns="91440" bIns="45720">
            <a:noAutofit/>
          </a:bodyPr>
          <a:lstStyle/>
          <a:p>
            <a:r>
              <a:rPr lang="en-US" sz="2800" b="1">
                <a:solidFill>
                  <a:srgbClr val="E8EDF6"/>
                </a:solidFill>
                <a:latin typeface="Arial"/>
              </a:rPr>
              <a:t>Topologies and operations</a:t>
            </a:r>
          </a:p>
        </p:txBody>
      </p:sp>
      <p:sp>
        <p:nvSpPr>
          <p:cNvPr id="4" name="t"/>
          <p:cNvSpPr txBox="1"/>
          <p:nvPr/>
        </p:nvSpPr>
        <p:spPr>
          <a:xfrm>
            <a:off x="502920" y="1508760"/>
            <a:ext cx="8138160" cy="274320"/>
          </a:xfrm>
          <a:prstGeom prst="rect">
            <a:avLst/>
          </a:prstGeom>
        </p:spPr>
        <p:txBody>
          <a:bodyPr wrap="square" lIns="91440" tIns="45720" rIns="91440" bIns="45720">
            <a:noAutofit/>
          </a:bodyPr>
          <a:lstStyle/>
          <a:p>
            <a:r>
              <a:rPr lang="en-US" sz="1350">
                <a:solidFill>
                  <a:srgbClr val="8FA0B8"/>
                </a:solidFill>
                <a:latin typeface="Calibri"/>
              </a:rPr>
              <a:t>Assembling the parts, and keeping them alive</a:t>
            </a:r>
          </a:p>
        </p:txBody>
      </p:sp>
      <p:sp>
        <p:nvSpPr>
          <p:cNvPr id="5" name="t"/>
          <p:cNvSpPr txBox="1"/>
          <p:nvPr/>
        </p:nvSpPr>
        <p:spPr>
          <a:xfrm>
            <a:off x="502920" y="2011680"/>
            <a:ext cx="8138160" cy="195072"/>
          </a:xfrm>
          <a:prstGeom prst="rect">
            <a:avLst/>
          </a:prstGeom>
        </p:spPr>
        <p:txBody>
          <a:bodyPr wrap="square" lIns="91440" tIns="45720" rIns="91440" bIns="45720">
            <a:noAutofit/>
          </a:bodyPr>
          <a:lstStyle/>
          <a:p>
            <a:r>
              <a:rPr lang="en-US" sz="1200">
                <a:solidFill>
                  <a:srgbClr val="E8EDF6"/>
                </a:solidFill>
                <a:latin typeface="Calibri"/>
              </a:rPr>
              <a:t>· A gallery of real deployment topologies, from laptop to HA fleet</a:t>
            </a:r>
          </a:p>
        </p:txBody>
      </p:sp>
      <p:sp>
        <p:nvSpPr>
          <p:cNvPr id="6" name="t"/>
          <p:cNvSpPr txBox="1"/>
          <p:nvPr/>
        </p:nvSpPr>
        <p:spPr>
          <a:xfrm>
            <a:off x="502920" y="2206752"/>
            <a:ext cx="8138160" cy="195072"/>
          </a:xfrm>
          <a:prstGeom prst="rect">
            <a:avLst/>
          </a:prstGeom>
        </p:spPr>
        <p:txBody>
          <a:bodyPr wrap="square" lIns="91440" tIns="45720" rIns="91440" bIns="45720">
            <a:noAutofit/>
          </a:bodyPr>
          <a:lstStyle/>
          <a:p>
            <a:r>
              <a:rPr lang="en-US" sz="1200">
                <a:solidFill>
                  <a:srgbClr val="E8EDF6"/>
                </a:solidFill>
                <a:latin typeface="Calibri"/>
              </a:rPr>
              <a:t>· High availability: the standby transactor and the failover clock</a:t>
            </a:r>
          </a:p>
        </p:txBody>
      </p:sp>
      <p:sp>
        <p:nvSpPr>
          <p:cNvPr id="7" name="t"/>
          <p:cNvSpPr txBox="1"/>
          <p:nvPr/>
        </p:nvSpPr>
        <p:spPr>
          <a:xfrm>
            <a:off x="502920" y="2401824"/>
            <a:ext cx="8138160" cy="195072"/>
          </a:xfrm>
          <a:prstGeom prst="rect">
            <a:avLst/>
          </a:prstGeom>
        </p:spPr>
        <p:txBody>
          <a:bodyPr wrap="square" lIns="91440" tIns="45720" rIns="91440" bIns="45720">
            <a:noAutofit/>
          </a:bodyPr>
          <a:lstStyle/>
          <a:p>
            <a:r>
              <a:rPr lang="en-US" sz="1200">
                <a:solidFill>
                  <a:srgbClr val="E8EDF6"/>
                </a:solidFill>
                <a:latin typeface="Calibri"/>
              </a:rPr>
              <a:t>· Datomic Cloud: compute groups, query groups, ions</a:t>
            </a:r>
          </a:p>
        </p:txBody>
      </p:sp>
      <p:sp>
        <p:nvSpPr>
          <p:cNvPr id="8" name="t"/>
          <p:cNvSpPr txBox="1"/>
          <p:nvPr/>
        </p:nvSpPr>
        <p:spPr>
          <a:xfrm>
            <a:off x="502920" y="2596896"/>
            <a:ext cx="8138160" cy="195072"/>
          </a:xfrm>
          <a:prstGeom prst="rect">
            <a:avLst/>
          </a:prstGeom>
        </p:spPr>
        <p:txBody>
          <a:bodyPr wrap="square" lIns="91440" tIns="45720" rIns="91440" bIns="45720">
            <a:noAutofit/>
          </a:bodyPr>
          <a:lstStyle/>
          <a:p>
            <a:r>
              <a:rPr lang="en-US" sz="1200">
                <a:solidFill>
                  <a:srgbClr val="E8EDF6"/>
                </a:solidFill>
                <a:latin typeface="Calibri"/>
              </a:rPr>
              <a:t>· Backup, restore, and moving a database between storages</a:t>
            </a:r>
          </a:p>
        </p:txBody>
      </p:sp>
      <p:sp>
        <p:nvSpPr>
          <p:cNvPr id="9" name="t"/>
          <p:cNvSpPr txBox="1"/>
          <p:nvPr/>
        </p:nvSpPr>
        <p:spPr>
          <a:xfrm>
            <a:off x="502920" y="2791968"/>
            <a:ext cx="8138160" cy="195072"/>
          </a:xfrm>
          <a:prstGeom prst="rect">
            <a:avLst/>
          </a:prstGeom>
        </p:spPr>
        <p:txBody>
          <a:bodyPr wrap="square" lIns="91440" tIns="45720" rIns="91440" bIns="45720">
            <a:noAutofit/>
          </a:bodyPr>
          <a:lstStyle/>
          <a:p>
            <a:r>
              <a:rPr lang="en-US" sz="1200">
                <a:solidFill>
                  <a:srgbClr val="E8EDF6"/>
                </a:solidFill>
                <a:latin typeface="Calibri"/>
              </a:rPr>
              <a:t>· Garbage collection: two different operations, two different jobs</a:t>
            </a:r>
          </a:p>
        </p:txBody>
      </p:sp>
      <p:sp>
        <p:nvSpPr>
          <p:cNvPr id="10" name="t"/>
          <p:cNvSpPr txBox="1"/>
          <p:nvPr/>
        </p:nvSpPr>
        <p:spPr>
          <a:xfrm>
            <a:off x="502920" y="2987040"/>
            <a:ext cx="8138160" cy="195072"/>
          </a:xfrm>
          <a:prstGeom prst="rect">
            <a:avLst/>
          </a:prstGeom>
        </p:spPr>
        <p:txBody>
          <a:bodyPr wrap="square" lIns="91440" tIns="45720" rIns="91440" bIns="45720">
            <a:noAutofit/>
          </a:bodyPr>
          <a:lstStyle/>
          <a:p>
            <a:r>
              <a:rPr lang="en-US" sz="1200">
                <a:solidFill>
                  <a:srgbClr val="E8EDF6"/>
                </a:solidFill>
                <a:latin typeface="Calibri"/>
              </a:rPr>
              <a:t>· Monitoring: the metrics that matter and the alarms to page on</a:t>
            </a:r>
          </a:p>
        </p:txBody>
      </p:sp>
      <p:sp>
        <p:nvSpPr>
          <p:cNvPr id="11" name="t"/>
          <p:cNvSpPr txBox="1"/>
          <p:nvPr/>
        </p:nvSpPr>
        <p:spPr>
          <a:xfrm>
            <a:off x="502920" y="3182112"/>
            <a:ext cx="8138160" cy="195072"/>
          </a:xfrm>
          <a:prstGeom prst="rect">
            <a:avLst/>
          </a:prstGeom>
        </p:spPr>
        <p:txBody>
          <a:bodyPr wrap="square" lIns="91440" tIns="45720" rIns="91440" bIns="45720">
            <a:noAutofit/>
          </a:bodyPr>
          <a:lstStyle/>
          <a:p>
            <a:r>
              <a:rPr lang="en-US" sz="1200">
                <a:solidFill>
                  <a:srgbClr val="E8EDF6"/>
                </a:solidFill>
                <a:latin typeface="Calibri"/>
              </a:rPr>
              <a:t>· Exercise: pick a topology for three different systems</a:t>
            </a:r>
          </a:p>
        </p:txBody>
      </p:sp>
      <p:sp>
        <p:nvSpPr>
          <p:cNvPr id="12"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3"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Topology 1 — the laptop</a:t>
            </a:r>
          </a:p>
        </p:txBody>
      </p:sp>
      <p:sp>
        <p:nvSpPr>
          <p:cNvPr id="3" name="t"/>
          <p:cNvSpPr txBox="1"/>
          <p:nvPr/>
        </p:nvSpPr>
        <p:spPr>
          <a:xfrm>
            <a:off x="502920" y="766064"/>
            <a:ext cx="2651760" cy="548640"/>
          </a:xfrm>
          <a:prstGeom prst="roundRect">
            <a:avLst/>
          </a:prstGeom>
          <a:solidFill>
            <a:srgbClr val="7BD88F"/>
          </a:solidFill>
        </p:spPr>
        <p:txBody>
          <a:bodyPr wrap="square" lIns="91440" tIns="45720" rIns="91440" bIns="45720">
            <a:noAutofit/>
          </a:bodyPr>
          <a:lstStyle/>
          <a:p>
            <a:pPr algn="ctr"/>
            <a:r>
              <a:rPr lang="en-US" sz="1100" b="1">
                <a:solidFill>
                  <a:srgbClr val="0F1420"/>
                </a:solidFill>
                <a:latin typeface="Calibri"/>
              </a:rPr>
              <a:t>your JVM</a:t>
            </a:r>
          </a:p>
          <a:p>
            <a:pPr algn="ctr"/>
            <a:r>
              <a:rPr lang="en-US" sz="950">
                <a:solidFill>
                  <a:srgbClr val="0F1420"/>
                </a:solidFill>
                <a:latin typeface="Calibri"/>
              </a:rPr>
              <a:t>peer + app</a:t>
            </a:r>
          </a:p>
        </p:txBody>
      </p:sp>
      <p:sp>
        <p:nvSpPr>
          <p:cNvPr id="4" name="t"/>
          <p:cNvSpPr txBox="1"/>
          <p:nvPr/>
        </p:nvSpPr>
        <p:spPr>
          <a:xfrm>
            <a:off x="3246120" y="766064"/>
            <a:ext cx="2651760" cy="548640"/>
          </a:xfrm>
          <a:prstGeom prst="roundRect">
            <a:avLst/>
          </a:prstGeom>
          <a:solidFill>
            <a:srgbClr val="FFC66D"/>
          </a:solidFill>
        </p:spPr>
        <p:txBody>
          <a:bodyPr wrap="square" lIns="91440" tIns="45720" rIns="91440" bIns="45720">
            <a:noAutofit/>
          </a:bodyPr>
          <a:lstStyle/>
          <a:p>
            <a:pPr algn="ctr"/>
            <a:r>
              <a:rPr lang="en-US" sz="1100" b="1">
                <a:solidFill>
                  <a:srgbClr val="0F1420"/>
                </a:solidFill>
                <a:latin typeface="Calibri"/>
              </a:rPr>
              <a:t>transactor</a:t>
            </a:r>
          </a:p>
          <a:p>
            <a:pPr algn="ctr"/>
            <a:r>
              <a:rPr lang="en-US" sz="950">
                <a:solidFill>
                  <a:srgbClr val="0F1420"/>
                </a:solidFill>
                <a:latin typeface="Calibri"/>
              </a:rPr>
              <a:t>dev/H2</a:t>
            </a:r>
          </a:p>
        </p:txBody>
      </p:sp>
      <p:sp>
        <p:nvSpPr>
          <p:cNvPr id="5" name="t"/>
          <p:cNvSpPr txBox="1"/>
          <p:nvPr/>
        </p:nvSpPr>
        <p:spPr>
          <a:xfrm>
            <a:off x="5989320" y="766064"/>
            <a:ext cx="2651760" cy="548640"/>
          </a:xfrm>
          <a:prstGeom prst="roundRect">
            <a:avLst/>
          </a:prstGeom>
          <a:solidFill>
            <a:srgbClr val="6FA8FF"/>
          </a:solidFill>
        </p:spPr>
        <p:txBody>
          <a:bodyPr wrap="square" lIns="91440" tIns="45720" rIns="91440" bIns="45720">
            <a:noAutofit/>
          </a:bodyPr>
          <a:lstStyle/>
          <a:p>
            <a:pPr algn="ctr"/>
            <a:r>
              <a:rPr lang="en-US" sz="1100" b="1">
                <a:solidFill>
                  <a:srgbClr val="0F1420"/>
                </a:solidFill>
                <a:latin typeface="Calibri"/>
              </a:rPr>
              <a:t>local disk</a:t>
            </a:r>
          </a:p>
          <a:p>
            <a:pPr algn="ctr"/>
            <a:r>
              <a:rPr lang="en-US" sz="950">
                <a:solidFill>
                  <a:srgbClr val="0F1420"/>
                </a:solidFill>
                <a:latin typeface="Calibri"/>
              </a:rPr>
              <a:t>data-dir</a:t>
            </a:r>
          </a:p>
        </p:txBody>
      </p:sp>
      <p:sp>
        <p:nvSpPr>
          <p:cNvPr id="6" name="t"/>
          <p:cNvSpPr txBox="1"/>
          <p:nvPr/>
        </p:nvSpPr>
        <p:spPr>
          <a:xfrm>
            <a:off x="502920" y="1525016"/>
            <a:ext cx="8138160" cy="186944"/>
          </a:xfrm>
          <a:prstGeom prst="rect">
            <a:avLst/>
          </a:prstGeom>
        </p:spPr>
        <p:txBody>
          <a:bodyPr wrap="square" lIns="91440" tIns="45720" rIns="91440" bIns="45720">
            <a:noAutofit/>
          </a:bodyPr>
          <a:lstStyle/>
          <a:p>
            <a:r>
              <a:rPr lang="en-US" sz="1150">
                <a:solidFill>
                  <a:srgbClr val="E8EDF6"/>
                </a:solidFill>
                <a:latin typeface="Calibri"/>
              </a:rPr>
              <a:t>▸ One transactor with embedded H2 storage, or no transactor at all with datomic:mem:// or Datomic Local</a:t>
            </a:r>
          </a:p>
        </p:txBody>
      </p:sp>
      <p:sp>
        <p:nvSpPr>
          <p:cNvPr id="7" name="t"/>
          <p:cNvSpPr txBox="1"/>
          <p:nvPr/>
        </p:nvSpPr>
        <p:spPr>
          <a:xfrm>
            <a:off x="502920" y="1711960"/>
            <a:ext cx="8138160" cy="373888"/>
          </a:xfrm>
          <a:prstGeom prst="rect">
            <a:avLst/>
          </a:prstGeom>
        </p:spPr>
        <p:txBody>
          <a:bodyPr wrap="square" lIns="91440" tIns="45720" rIns="91440" bIns="45720">
            <a:noAutofit/>
          </a:bodyPr>
          <a:lstStyle/>
          <a:p>
            <a:r>
              <a:rPr lang="en-US" sz="1150">
                <a:solidFill>
                  <a:srgbClr val="FFC66D"/>
                </a:solidFill>
                <a:latin typeface="Calibri"/>
              </a:rPr>
              <a:t>▸ Storage lives INSIDE the transactor process — that is why restoring to dev storage needs the transactor running, and every other storage needs it stopped</a:t>
            </a:r>
          </a:p>
        </p:txBody>
      </p:sp>
      <p:sp>
        <p:nvSpPr>
          <p:cNvPr id="8" name="t"/>
          <p:cNvSpPr txBox="1"/>
          <p:nvPr/>
        </p:nvSpPr>
        <p:spPr>
          <a:xfrm>
            <a:off x="502920" y="2085848"/>
            <a:ext cx="8138160" cy="186944"/>
          </a:xfrm>
          <a:prstGeom prst="rect">
            <a:avLst/>
          </a:prstGeom>
        </p:spPr>
        <p:txBody>
          <a:bodyPr wrap="square" lIns="91440" tIns="45720" rIns="91440" bIns="45720">
            <a:noAutofit/>
          </a:bodyPr>
          <a:lstStyle/>
          <a:p>
            <a:r>
              <a:rPr lang="en-US" sz="1150">
                <a:solidFill>
                  <a:srgbClr val="8FA0B8"/>
                </a:solidFill>
                <a:latin typeface="Calibri"/>
              </a:rPr>
              <a:t>▸ Fine for development. No HA, no scale, single machine.</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Topology 2 — a single production transactor</a:t>
            </a:r>
          </a:p>
        </p:txBody>
      </p:sp>
      <p:sp>
        <p:nvSpPr>
          <p:cNvPr id="3" name="t"/>
          <p:cNvSpPr txBox="1"/>
          <p:nvPr/>
        </p:nvSpPr>
        <p:spPr>
          <a:xfrm>
            <a:off x="502920" y="766064"/>
            <a:ext cx="1965960" cy="50292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app + peer</a:t>
            </a:r>
          </a:p>
        </p:txBody>
      </p:sp>
      <p:sp>
        <p:nvSpPr>
          <p:cNvPr id="4" name="t"/>
          <p:cNvSpPr txBox="1"/>
          <p:nvPr/>
        </p:nvSpPr>
        <p:spPr>
          <a:xfrm>
            <a:off x="2560320" y="766064"/>
            <a:ext cx="1965960" cy="50292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app + peer</a:t>
            </a:r>
          </a:p>
        </p:txBody>
      </p:sp>
      <p:sp>
        <p:nvSpPr>
          <p:cNvPr id="5" name="t"/>
          <p:cNvSpPr txBox="1"/>
          <p:nvPr/>
        </p:nvSpPr>
        <p:spPr>
          <a:xfrm>
            <a:off x="4617720" y="766064"/>
            <a:ext cx="1965960" cy="502920"/>
          </a:xfrm>
          <a:prstGeom prst="roundRect">
            <a:avLst/>
          </a:prstGeom>
          <a:solidFill>
            <a:srgbClr val="FFC66D"/>
          </a:solidFill>
        </p:spPr>
        <p:txBody>
          <a:bodyPr wrap="square" lIns="91440" tIns="45720" rIns="91440" bIns="45720">
            <a:noAutofit/>
          </a:bodyPr>
          <a:lstStyle/>
          <a:p>
            <a:pPr algn="ctr"/>
            <a:r>
              <a:rPr lang="en-US" sz="1050" b="1">
                <a:solidFill>
                  <a:srgbClr val="0F1420"/>
                </a:solidFill>
                <a:latin typeface="Calibri"/>
              </a:rPr>
              <a:t>transactor</a:t>
            </a:r>
          </a:p>
        </p:txBody>
      </p:sp>
      <p:sp>
        <p:nvSpPr>
          <p:cNvPr id="6" name="t"/>
          <p:cNvSpPr txBox="1"/>
          <p:nvPr/>
        </p:nvSpPr>
        <p:spPr>
          <a:xfrm>
            <a:off x="6675120" y="766064"/>
            <a:ext cx="1965960" cy="502920"/>
          </a:xfrm>
          <a:prstGeom prst="roundRect">
            <a:avLst/>
          </a:prstGeom>
          <a:solidFill>
            <a:srgbClr val="6FA8FF"/>
          </a:solidFill>
        </p:spPr>
        <p:txBody>
          <a:bodyPr wrap="square" lIns="91440" tIns="45720" rIns="91440" bIns="45720">
            <a:noAutofit/>
          </a:bodyPr>
          <a:lstStyle/>
          <a:p>
            <a:pPr algn="ctr"/>
            <a:r>
              <a:rPr lang="en-US" sz="1050" b="1">
                <a:solidFill>
                  <a:srgbClr val="0F1420"/>
                </a:solidFill>
                <a:latin typeface="Calibri"/>
              </a:rPr>
              <a:t>PostgreSQL</a:t>
            </a:r>
          </a:p>
        </p:txBody>
      </p:sp>
      <p:sp>
        <p:nvSpPr>
          <p:cNvPr id="7" name="t"/>
          <p:cNvSpPr txBox="1"/>
          <p:nvPr/>
        </p:nvSpPr>
        <p:spPr>
          <a:xfrm>
            <a:off x="502920" y="1479296"/>
            <a:ext cx="8138160" cy="373888"/>
          </a:xfrm>
          <a:prstGeom prst="rect">
            <a:avLst/>
          </a:prstGeom>
        </p:spPr>
        <p:txBody>
          <a:bodyPr wrap="square" lIns="91440" tIns="45720" rIns="91440" bIns="45720">
            <a:noAutofit/>
          </a:bodyPr>
          <a:lstStyle/>
          <a:p>
            <a:r>
              <a:rPr lang="en-US" sz="1150">
                <a:solidFill>
                  <a:srgbClr val="E8EDF6"/>
                </a:solidFill>
                <a:latin typeface="Calibri"/>
              </a:rPr>
              <a:t>▸ The most common small-production shape: SQL storage you already operate, one transactor, peers embedded in each app server</a:t>
            </a:r>
          </a:p>
        </p:txBody>
      </p:sp>
      <p:sp>
        <p:nvSpPr>
          <p:cNvPr id="8" name="t"/>
          <p:cNvSpPr txBox="1"/>
          <p:nvPr/>
        </p:nvSpPr>
        <p:spPr>
          <a:xfrm>
            <a:off x="502920" y="1853184"/>
            <a:ext cx="8138160" cy="186944"/>
          </a:xfrm>
          <a:prstGeom prst="rect">
            <a:avLst/>
          </a:prstGeom>
        </p:spPr>
        <p:txBody>
          <a:bodyPr wrap="square" lIns="91440" tIns="45720" rIns="91440" bIns="45720">
            <a:noAutofit/>
          </a:bodyPr>
          <a:lstStyle/>
          <a:p>
            <a:r>
              <a:rPr lang="en-US" sz="1150">
                <a:solidFill>
                  <a:srgbClr val="7BD88F"/>
                </a:solidFill>
                <a:latin typeface="Calibri"/>
              </a:rPr>
              <a:t>▸ Read capacity grows by adding app servers — each is a full query engine with its own cache</a:t>
            </a:r>
          </a:p>
        </p:txBody>
      </p:sp>
      <p:sp>
        <p:nvSpPr>
          <p:cNvPr id="9" name="t"/>
          <p:cNvSpPr txBox="1"/>
          <p:nvPr/>
        </p:nvSpPr>
        <p:spPr>
          <a:xfrm>
            <a:off x="502920" y="2040128"/>
            <a:ext cx="8138160" cy="186944"/>
          </a:xfrm>
          <a:prstGeom prst="rect">
            <a:avLst/>
          </a:prstGeom>
        </p:spPr>
        <p:txBody>
          <a:bodyPr wrap="square" lIns="91440" tIns="45720" rIns="91440" bIns="45720">
            <a:noAutofit/>
          </a:bodyPr>
          <a:lstStyle/>
          <a:p>
            <a:r>
              <a:rPr lang="en-US" sz="1150">
                <a:solidFill>
                  <a:srgbClr val="FFC66D"/>
                </a:solidFill>
                <a:latin typeface="Calibri"/>
              </a:rPr>
              <a:t>▸ Write capacity is whatever one transactor can do</a:t>
            </a:r>
          </a:p>
        </p:txBody>
      </p:sp>
      <p:sp>
        <p:nvSpPr>
          <p:cNvPr id="10" name="t"/>
          <p:cNvSpPr txBox="1"/>
          <p:nvPr/>
        </p:nvSpPr>
        <p:spPr>
          <a:xfrm>
            <a:off x="502920" y="2227072"/>
            <a:ext cx="8138160" cy="373888"/>
          </a:xfrm>
          <a:prstGeom prst="rect">
            <a:avLst/>
          </a:prstGeom>
        </p:spPr>
        <p:txBody>
          <a:bodyPr wrap="square" lIns="91440" tIns="45720" rIns="91440" bIns="45720">
            <a:noAutofit/>
          </a:bodyPr>
          <a:lstStyle/>
          <a:p>
            <a:r>
              <a:rPr lang="en-US" sz="1150">
                <a:solidFill>
                  <a:srgbClr val="F28FAD"/>
                </a:solidFill>
                <a:latin typeface="Calibri"/>
              </a:rPr>
              <a:t>▸ The transactor is a single point of failure: losing it stops writes, but reads keep working from cached db values</a:t>
            </a:r>
          </a:p>
        </p:txBody>
      </p:sp>
      <p:sp>
        <p:nvSpPr>
          <p:cNvPr id="11" name="t"/>
          <p:cNvSpPr txBox="1"/>
          <p:nvPr/>
        </p:nvSpPr>
        <p:spPr>
          <a:xfrm>
            <a:off x="502920" y="2719832"/>
            <a:ext cx="45720" cy="449072"/>
          </a:xfrm>
          <a:prstGeom prst="rect">
            <a:avLst/>
          </a:prstGeom>
          <a:solidFill>
            <a:srgbClr val="7BD88F"/>
          </a:solidFill>
        </p:spPr>
        <p:txBody>
          <a:bodyPr wrap="square" lIns="91440" tIns="45720" rIns="91440" bIns="45720">
            <a:noAutofit/>
          </a:bodyPr>
          <a:lstStyle/>
        </p:txBody>
      </p:sp>
      <p:sp>
        <p:nvSpPr>
          <p:cNvPr id="12" name="t"/>
          <p:cNvSpPr txBox="1"/>
          <p:nvPr/>
        </p:nvSpPr>
        <p:spPr>
          <a:xfrm>
            <a:off x="594360" y="2719832"/>
            <a:ext cx="8046720" cy="449072"/>
          </a:xfrm>
          <a:prstGeom prst="rect">
            <a:avLst/>
          </a:prstGeom>
        </p:spPr>
        <p:txBody>
          <a:bodyPr wrap="square" lIns="91440" tIns="45720" rIns="91440" bIns="45720">
            <a:noAutofit/>
          </a:bodyPr>
          <a:lstStyle/>
          <a:p>
            <a:r>
              <a:rPr lang="en-US" sz="1100">
                <a:solidFill>
                  <a:srgbClr val="E8EDF6"/>
                </a:solidFill>
                <a:latin typeface="Calibri"/>
              </a:rPr>
              <a:t>●  Reads survive a transactor outage. d/db keeps returning the last locally available value; only d/sync and transactions block.</a:t>
            </a:r>
          </a:p>
        </p:txBody>
      </p:sp>
      <p:sp>
        <p:nvSpPr>
          <p:cNvPr id="13"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4"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68</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Topology 3 — HA, with a Peer Server tier</a:t>
            </a:r>
          </a:p>
        </p:txBody>
      </p:sp>
      <p:sp>
        <p:nvSpPr>
          <p:cNvPr id="3" name="t"/>
          <p:cNvSpPr txBox="1"/>
          <p:nvPr/>
        </p:nvSpPr>
        <p:spPr>
          <a:xfrm>
            <a:off x="502920" y="766064"/>
            <a:ext cx="1760220" cy="502920"/>
          </a:xfrm>
          <a:prstGeom prst="roundRect">
            <a:avLst/>
          </a:prstGeom>
          <a:solidFill>
            <a:srgbClr val="C09BFF"/>
          </a:solidFill>
        </p:spPr>
        <p:txBody>
          <a:bodyPr wrap="square" lIns="91440" tIns="45720" rIns="91440" bIns="45720">
            <a:noAutofit/>
          </a:bodyPr>
          <a:lstStyle/>
          <a:p>
            <a:pPr algn="ctr"/>
            <a:r>
              <a:rPr lang="en-US" sz="1050" b="1">
                <a:solidFill>
                  <a:srgbClr val="0F1420"/>
                </a:solidFill>
                <a:latin typeface="Calibri"/>
              </a:rPr>
              <a:t>thin clients</a:t>
            </a:r>
          </a:p>
        </p:txBody>
      </p:sp>
      <p:sp>
        <p:nvSpPr>
          <p:cNvPr id="4" name="t"/>
          <p:cNvSpPr txBox="1"/>
          <p:nvPr/>
        </p:nvSpPr>
        <p:spPr>
          <a:xfrm>
            <a:off x="235458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5" name="t"/>
          <p:cNvSpPr txBox="1"/>
          <p:nvPr/>
        </p:nvSpPr>
        <p:spPr>
          <a:xfrm>
            <a:off x="2628900" y="766064"/>
            <a:ext cx="1760220" cy="502920"/>
          </a:xfrm>
          <a:prstGeom prst="roundRect">
            <a:avLst/>
          </a:prstGeom>
          <a:solidFill>
            <a:srgbClr val="6FE3D2"/>
          </a:solidFill>
        </p:spPr>
        <p:txBody>
          <a:bodyPr wrap="square" lIns="91440" tIns="45720" rIns="91440" bIns="45720">
            <a:noAutofit/>
          </a:bodyPr>
          <a:lstStyle/>
          <a:p>
            <a:pPr algn="ctr"/>
            <a:r>
              <a:rPr lang="en-US" sz="1050" b="1">
                <a:solidFill>
                  <a:srgbClr val="0F1420"/>
                </a:solidFill>
                <a:latin typeface="Calibri"/>
              </a:rPr>
              <a:t>Peer Servers</a:t>
            </a:r>
          </a:p>
        </p:txBody>
      </p:sp>
      <p:sp>
        <p:nvSpPr>
          <p:cNvPr id="6" name="t"/>
          <p:cNvSpPr txBox="1"/>
          <p:nvPr/>
        </p:nvSpPr>
        <p:spPr>
          <a:xfrm>
            <a:off x="448056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7" name="t"/>
          <p:cNvSpPr txBox="1"/>
          <p:nvPr/>
        </p:nvSpPr>
        <p:spPr>
          <a:xfrm>
            <a:off x="4754880" y="766064"/>
            <a:ext cx="1760220" cy="502920"/>
          </a:xfrm>
          <a:prstGeom prst="roundRect">
            <a:avLst/>
          </a:prstGeom>
          <a:solidFill>
            <a:srgbClr val="FFC66D"/>
          </a:solidFill>
        </p:spPr>
        <p:txBody>
          <a:bodyPr wrap="square" lIns="91440" tIns="45720" rIns="91440" bIns="45720">
            <a:noAutofit/>
          </a:bodyPr>
          <a:lstStyle/>
          <a:p>
            <a:pPr algn="ctr"/>
            <a:r>
              <a:rPr lang="en-US" sz="1050" b="1">
                <a:solidFill>
                  <a:srgbClr val="0F1420"/>
                </a:solidFill>
                <a:latin typeface="Calibri"/>
              </a:rPr>
              <a:t>transactor pair</a:t>
            </a:r>
          </a:p>
        </p:txBody>
      </p:sp>
      <p:sp>
        <p:nvSpPr>
          <p:cNvPr id="8" name="t"/>
          <p:cNvSpPr txBox="1"/>
          <p:nvPr/>
        </p:nvSpPr>
        <p:spPr>
          <a:xfrm>
            <a:off x="660654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9" name="t"/>
          <p:cNvSpPr txBox="1"/>
          <p:nvPr/>
        </p:nvSpPr>
        <p:spPr>
          <a:xfrm>
            <a:off x="6880860" y="766064"/>
            <a:ext cx="1760220" cy="502920"/>
          </a:xfrm>
          <a:prstGeom prst="roundRect">
            <a:avLst/>
          </a:prstGeom>
          <a:solidFill>
            <a:srgbClr val="6FA8FF"/>
          </a:solidFill>
        </p:spPr>
        <p:txBody>
          <a:bodyPr wrap="square" lIns="91440" tIns="45720" rIns="91440" bIns="45720">
            <a:noAutofit/>
          </a:bodyPr>
          <a:lstStyle/>
          <a:p>
            <a:pPr algn="ctr"/>
            <a:r>
              <a:rPr lang="en-US" sz="1050" b="1">
                <a:solidFill>
                  <a:srgbClr val="0F1420"/>
                </a:solidFill>
                <a:latin typeface="Calibri"/>
              </a:rPr>
              <a:t>storage</a:t>
            </a:r>
          </a:p>
        </p:txBody>
      </p:sp>
      <p:sp>
        <p:nvSpPr>
          <p:cNvPr id="10" name="t"/>
          <p:cNvSpPr txBox="1"/>
          <p:nvPr/>
        </p:nvSpPr>
        <p:spPr>
          <a:xfrm>
            <a:off x="502920" y="1456436"/>
            <a:ext cx="8138160" cy="357632"/>
          </a:xfrm>
          <a:prstGeom prst="rect">
            <a:avLst/>
          </a:prstGeom>
        </p:spPr>
        <p:txBody>
          <a:bodyPr wrap="square" lIns="91440" tIns="45720" rIns="91440" bIns="45720">
            <a:noAutofit/>
          </a:bodyPr>
          <a:lstStyle/>
          <a:p>
            <a:r>
              <a:rPr lang="en-US" sz="1100">
                <a:solidFill>
                  <a:srgbClr val="FFC66D"/>
                </a:solidFill>
                <a:latin typeface="Calibri"/>
              </a:rPr>
              <a:t>▸ Two transactors on separate machines with IDENTICAL properties files. First to acquire the lock wins; the second waits.</a:t>
            </a:r>
          </a:p>
        </p:txBody>
      </p:sp>
      <p:sp>
        <p:nvSpPr>
          <p:cNvPr id="11" name="t"/>
          <p:cNvSpPr txBox="1"/>
          <p:nvPr/>
        </p:nvSpPr>
        <p:spPr>
          <a:xfrm>
            <a:off x="502920" y="1814068"/>
            <a:ext cx="8138160" cy="178816"/>
          </a:xfrm>
          <a:prstGeom prst="rect">
            <a:avLst/>
          </a:prstGeom>
        </p:spPr>
        <p:txBody>
          <a:bodyPr wrap="square" lIns="91440" tIns="45720" rIns="91440" bIns="45720">
            <a:noAutofit/>
          </a:bodyPr>
          <a:lstStyle/>
          <a:p>
            <a:r>
              <a:rPr lang="en-US" sz="1100">
                <a:solidFill>
                  <a:srgbClr val="6FE3D2"/>
                </a:solidFill>
                <a:latin typeface="Calibri"/>
              </a:rPr>
              <a:t>▸ A Peer Server tier gives non-JVM services and many small processes access without each one holding a cache</a:t>
            </a:r>
          </a:p>
        </p:txBody>
      </p:sp>
      <p:sp>
        <p:nvSpPr>
          <p:cNvPr id="12" name="t"/>
          <p:cNvSpPr txBox="1"/>
          <p:nvPr/>
        </p:nvSpPr>
        <p:spPr>
          <a:xfrm>
            <a:off x="502920" y="1992884"/>
            <a:ext cx="8138160" cy="178816"/>
          </a:xfrm>
          <a:prstGeom prst="rect">
            <a:avLst/>
          </a:prstGeom>
        </p:spPr>
        <p:txBody>
          <a:bodyPr wrap="square" lIns="91440" tIns="45720" rIns="91440" bIns="45720">
            <a:noAutofit/>
          </a:bodyPr>
          <a:lstStyle/>
          <a:p>
            <a:r>
              <a:rPr lang="en-US" sz="1100">
                <a:solidFill>
                  <a:srgbClr val="C09BFF"/>
                </a:solidFill>
                <a:latin typeface="Calibri"/>
              </a:rPr>
              <a:t>▸ Add a memcached cluster or valcache SSDs to share warmth across the tier</a:t>
            </a:r>
          </a:p>
        </p:txBody>
      </p:sp>
      <p:sp>
        <p:nvSpPr>
          <p:cNvPr id="13" name="t"/>
          <p:cNvSpPr txBox="1"/>
          <p:nvPr/>
        </p:nvSpPr>
        <p:spPr>
          <a:xfrm>
            <a:off x="502920" y="2171700"/>
            <a:ext cx="8138160" cy="178816"/>
          </a:xfrm>
          <a:prstGeom prst="rect">
            <a:avLst/>
          </a:prstGeom>
        </p:spPr>
        <p:txBody>
          <a:bodyPr wrap="square" lIns="91440" tIns="45720" rIns="91440" bIns="45720">
            <a:noAutofit/>
          </a:bodyPr>
          <a:lstStyle/>
          <a:p>
            <a:r>
              <a:rPr lang="en-US" sz="1100">
                <a:solidFill>
                  <a:srgbClr val="7BD88F"/>
                </a:solidFill>
                <a:latin typeface="Calibri"/>
              </a:rPr>
              <a:t>▸ This is the shape that scales to a real fleet</a:t>
            </a:r>
          </a:p>
        </p:txBody>
      </p:sp>
      <p:sp>
        <p:nvSpPr>
          <p:cNvPr id="14"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5"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69</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failover clock</a:t>
            </a:r>
          </a:p>
        </p:txBody>
      </p:sp>
      <p:sp>
        <p:nvSpPr>
          <p:cNvPr id="3" name="t"/>
          <p:cNvSpPr txBox="1"/>
          <p:nvPr/>
        </p:nvSpPr>
        <p:spPr>
          <a:xfrm>
            <a:off x="502920" y="766064"/>
            <a:ext cx="8138160" cy="819912"/>
          </a:xfrm>
          <a:prstGeom prst="roundRect">
            <a:avLst/>
          </a:prstGeom>
          <a:solidFill>
            <a:srgbClr val="141B28"/>
          </a:solidFill>
        </p:spPr>
        <p:txBody>
          <a:bodyPr wrap="square" lIns="91440" tIns="45720" rIns="91440" bIns="45720">
            <a:noAutofit/>
          </a:bodyPr>
          <a:lstStyle/>
          <a:p>
            <a:r>
              <a:rPr lang="en-US" sz="1050">
                <a:solidFill>
                  <a:srgbClr val="FFC66D"/>
                </a:solidFill>
                <a:latin typeface="Courier New"/>
              </a:rPr>
              <a:t>heartbeat-interval-msec = 5000      # default; treat 5000 as the floor</a:t>
            </a:r>
          </a:p>
          <a:p>
            <a:endParaRPr lang="en-US" sz="1050"/>
          </a:p>
          <a:p>
            <a:r>
              <a:rPr lang="en-US" sz="1050">
                <a:solidFill>
                  <a:srgbClr val="FFC66D"/>
                </a:solidFill>
                <a:latin typeface="Courier New"/>
              </a:rPr>
              <a:t>worst case peer failover  =  2 x (interval / 1000) + 1  seconds</a:t>
            </a:r>
          </a:p>
          <a:p>
            <a:r>
              <a:rPr lang="en-US" sz="1050">
                <a:solidFill>
                  <a:srgbClr val="FFC66D"/>
                </a:solidFill>
                <a:latin typeface="Courier New"/>
              </a:rPr>
              <a:t>                          =  11 seconds at the defaults</a:t>
            </a:r>
          </a:p>
        </p:txBody>
      </p:sp>
      <p:sp>
        <p:nvSpPr>
          <p:cNvPr id="4" name="t"/>
          <p:cNvSpPr txBox="1"/>
          <p:nvPr/>
        </p:nvSpPr>
        <p:spPr>
          <a:xfrm>
            <a:off x="502920" y="1773428"/>
            <a:ext cx="8138160" cy="178816"/>
          </a:xfrm>
          <a:prstGeom prst="rect">
            <a:avLst/>
          </a:prstGeom>
        </p:spPr>
        <p:txBody>
          <a:bodyPr wrap="square" lIns="91440" tIns="45720" rIns="91440" bIns="45720">
            <a:noAutofit/>
          </a:bodyPr>
          <a:lstStyle/>
          <a:p>
            <a:r>
              <a:rPr lang="en-US" sz="1100">
                <a:solidFill>
                  <a:srgbClr val="E8EDF6"/>
                </a:solidFill>
                <a:latin typeface="Calibri"/>
              </a:rPr>
              <a:t>▸ The active transactor writes its host into storage on each heartbeat</a:t>
            </a:r>
          </a:p>
        </p:txBody>
      </p:sp>
      <p:sp>
        <p:nvSpPr>
          <p:cNvPr id="5" name="t"/>
          <p:cNvSpPr txBox="1"/>
          <p:nvPr/>
        </p:nvSpPr>
        <p:spPr>
          <a:xfrm>
            <a:off x="502920" y="1952244"/>
            <a:ext cx="8138160" cy="178816"/>
          </a:xfrm>
          <a:prstGeom prst="rect">
            <a:avLst/>
          </a:prstGeom>
        </p:spPr>
        <p:txBody>
          <a:bodyPr wrap="square" lIns="91440" tIns="45720" rIns="91440" bIns="45720">
            <a:noAutofit/>
          </a:bodyPr>
          <a:lstStyle/>
          <a:p>
            <a:r>
              <a:rPr lang="en-US" sz="1100">
                <a:solidFill>
                  <a:srgbClr val="E8EDF6"/>
                </a:solidFill>
                <a:latin typeface="Calibri"/>
              </a:rPr>
              <a:t>▸ The standby takes over after two consecutive missed heartbeats</a:t>
            </a:r>
          </a:p>
        </p:txBody>
      </p:sp>
      <p:sp>
        <p:nvSpPr>
          <p:cNvPr id="6" name="t"/>
          <p:cNvSpPr txBox="1"/>
          <p:nvPr/>
        </p:nvSpPr>
        <p:spPr>
          <a:xfrm>
            <a:off x="502920" y="2131060"/>
            <a:ext cx="8138160" cy="178816"/>
          </a:xfrm>
          <a:prstGeom prst="rect">
            <a:avLst/>
          </a:prstGeom>
        </p:spPr>
        <p:txBody>
          <a:bodyPr wrap="square" lIns="91440" tIns="45720" rIns="91440" bIns="45720">
            <a:noAutofit/>
          </a:bodyPr>
          <a:lstStyle/>
          <a:p>
            <a:r>
              <a:rPr lang="en-US" sz="1100">
                <a:solidFill>
                  <a:srgbClr val="E8EDF6"/>
                </a:solidFill>
                <a:latin typeface="Calibri"/>
              </a:rPr>
              <a:t>▸ Peers poll storage about once a second for the new address</a:t>
            </a:r>
          </a:p>
        </p:txBody>
      </p:sp>
      <p:sp>
        <p:nvSpPr>
          <p:cNvPr id="7" name="t"/>
          <p:cNvSpPr txBox="1"/>
          <p:nvPr/>
        </p:nvSpPr>
        <p:spPr>
          <a:xfrm>
            <a:off x="502920" y="2309876"/>
            <a:ext cx="8138160" cy="357632"/>
          </a:xfrm>
          <a:prstGeom prst="rect">
            <a:avLst/>
          </a:prstGeom>
        </p:spPr>
        <p:txBody>
          <a:bodyPr wrap="square" lIns="91440" tIns="45720" rIns="91440" bIns="45720">
            <a:noAutofit/>
          </a:bodyPr>
          <a:lstStyle/>
          <a:p>
            <a:r>
              <a:rPr lang="en-US" sz="1100">
                <a:solidFill>
                  <a:srgbClr val="F28FAD"/>
                </a:solidFill>
                <a:latin typeface="Calibri"/>
              </a:rPr>
              <a:t>▸ After takeover, the new transactor replays the log before processing — expect several seconds of unusually high latency</a:t>
            </a:r>
          </a:p>
        </p:txBody>
      </p:sp>
      <p:sp>
        <p:nvSpPr>
          <p:cNvPr id="8" name="t"/>
          <p:cNvSpPr txBox="1"/>
          <p:nvPr/>
        </p:nvSpPr>
        <p:spPr>
          <a:xfrm>
            <a:off x="502920" y="2667508"/>
            <a:ext cx="8138160" cy="178816"/>
          </a:xfrm>
          <a:prstGeom prst="rect">
            <a:avLst/>
          </a:prstGeom>
        </p:spPr>
        <p:txBody>
          <a:bodyPr wrap="square" lIns="91440" tIns="45720" rIns="91440" bIns="45720">
            <a:noAutofit/>
          </a:bodyPr>
          <a:lstStyle/>
          <a:p>
            <a:r>
              <a:rPr lang="en-US" sz="1100">
                <a:solidFill>
                  <a:srgbClr val="F28FAD"/>
                </a:solidFill>
                <a:latin typeface="Calibri"/>
              </a:rPr>
              <a:t>▸ In-flight transactions are NOT preserved and NOT retried</a:t>
            </a:r>
          </a:p>
        </p:txBody>
      </p:sp>
      <p:sp>
        <p:nvSpPr>
          <p:cNvPr id="9" name="t"/>
          <p:cNvSpPr txBox="1"/>
          <p:nvPr/>
        </p:nvSpPr>
        <p:spPr>
          <a:xfrm>
            <a:off x="502920" y="2965196"/>
            <a:ext cx="45720" cy="449072"/>
          </a:xfrm>
          <a:prstGeom prst="rect">
            <a:avLst/>
          </a:prstGeom>
          <a:solidFill>
            <a:srgbClr val="F28FAD"/>
          </a:solidFill>
        </p:spPr>
        <p:txBody>
          <a:bodyPr wrap="square" lIns="91440" tIns="45720" rIns="91440" bIns="45720">
            <a:noAutofit/>
          </a:bodyPr>
          <a:lstStyle/>
        </p:txBody>
      </p:sp>
      <p:sp>
        <p:nvSpPr>
          <p:cNvPr id="10" name="t"/>
          <p:cNvSpPr txBox="1"/>
          <p:nvPr/>
        </p:nvSpPr>
        <p:spPr>
          <a:xfrm>
            <a:off x="594360" y="2965196"/>
            <a:ext cx="8046720" cy="449072"/>
          </a:xfrm>
          <a:prstGeom prst="rect">
            <a:avLst/>
          </a:prstGeom>
        </p:spPr>
        <p:txBody>
          <a:bodyPr wrap="square" lIns="91440" tIns="45720" rIns="91440" bIns="45720">
            <a:noAutofit/>
          </a:bodyPr>
          <a:lstStyle/>
          <a:p>
            <a:r>
              <a:rPr lang="en-US" sz="1100">
                <a:solidFill>
                  <a:srgbClr val="E8EDF6"/>
                </a:solidFill>
                <a:latin typeface="Calibri"/>
              </a:rPr>
              <a:t>⚠  Lowering the interval speeds failover and increases spurious failovers from GC pauses and network blips. Watch GcPauseMsec before you touch it.</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Datomic Cloud — what CloudFormation builds</a:t>
            </a:r>
          </a:p>
        </p:txBody>
      </p:sp>
      <p:sp>
        <p:nvSpPr>
          <p:cNvPr id="3" name="t"/>
          <p:cNvSpPr txBox="1"/>
          <p:nvPr/>
        </p:nvSpPr>
        <p:spPr>
          <a:xfrm>
            <a:off x="502920" y="766064"/>
            <a:ext cx="3954780" cy="195072"/>
          </a:xfrm>
          <a:prstGeom prst="rect">
            <a:avLst/>
          </a:prstGeom>
        </p:spPr>
        <p:txBody>
          <a:bodyPr wrap="square" lIns="91440" tIns="45720" rIns="91440" bIns="45720">
            <a:noAutofit/>
          </a:bodyPr>
          <a:lstStyle/>
          <a:p>
            <a:r>
              <a:rPr lang="en-US" sz="1200" b="1">
                <a:solidFill>
                  <a:srgbClr val="6FA8FF"/>
                </a:solidFill>
                <a:latin typeface="Calibri"/>
              </a:rPr>
              <a:t>Storage stack (durable)</a:t>
            </a:r>
          </a:p>
        </p:txBody>
      </p:sp>
      <p:sp>
        <p:nvSpPr>
          <p:cNvPr id="4" name="t"/>
          <p:cNvSpPr txBox="1"/>
          <p:nvPr/>
        </p:nvSpPr>
        <p:spPr>
          <a:xfrm>
            <a:off x="502920" y="1080008"/>
            <a:ext cx="3954780" cy="325120"/>
          </a:xfrm>
          <a:prstGeom prst="rect">
            <a:avLst/>
          </a:prstGeom>
        </p:spPr>
        <p:txBody>
          <a:bodyPr wrap="square" lIns="91440" tIns="45720" rIns="91440" bIns="45720">
            <a:noAutofit/>
          </a:bodyPr>
          <a:lstStyle/>
          <a:p>
            <a:r>
              <a:rPr lang="en-US" sz="1000">
                <a:solidFill>
                  <a:srgbClr val="E8EDF6"/>
                </a:solidFill>
                <a:latin typeface="Calibri"/>
              </a:rPr>
              <a:t>· DynamoDB — the transaction log, ACID via conditional writes</a:t>
            </a:r>
          </a:p>
        </p:txBody>
      </p:sp>
      <p:sp>
        <p:nvSpPr>
          <p:cNvPr id="5" name="t"/>
          <p:cNvSpPr txBox="1"/>
          <p:nvPr/>
        </p:nvSpPr>
        <p:spPr>
          <a:xfrm>
            <a:off x="502920" y="1405128"/>
            <a:ext cx="3954780" cy="162560"/>
          </a:xfrm>
          <a:prstGeom prst="rect">
            <a:avLst/>
          </a:prstGeom>
        </p:spPr>
        <p:txBody>
          <a:bodyPr wrap="square" lIns="91440" tIns="45720" rIns="91440" bIns="45720">
            <a:noAutofit/>
          </a:bodyPr>
          <a:lstStyle/>
          <a:p>
            <a:r>
              <a:rPr lang="en-US" sz="1000">
                <a:solidFill>
                  <a:srgbClr val="E8EDF6"/>
                </a:solidFill>
                <a:latin typeface="Calibri"/>
              </a:rPr>
              <a:t>· S3 — index storage</a:t>
            </a:r>
          </a:p>
        </p:txBody>
      </p:sp>
      <p:sp>
        <p:nvSpPr>
          <p:cNvPr id="6" name="t"/>
          <p:cNvSpPr txBox="1"/>
          <p:nvPr/>
        </p:nvSpPr>
        <p:spPr>
          <a:xfrm>
            <a:off x="502920" y="1567688"/>
            <a:ext cx="3954780" cy="162560"/>
          </a:xfrm>
          <a:prstGeom prst="rect">
            <a:avLst/>
          </a:prstGeom>
        </p:spPr>
        <p:txBody>
          <a:bodyPr wrap="square" lIns="91440" tIns="45720" rIns="91440" bIns="45720">
            <a:noAutofit/>
          </a:bodyPr>
          <a:lstStyle/>
          <a:p>
            <a:r>
              <a:rPr lang="en-US" sz="1000">
                <a:solidFill>
                  <a:srgbClr val="E8EDF6"/>
                </a:solidFill>
                <a:latin typeface="Calibri"/>
              </a:rPr>
              <a:t>· EFS — a shared cache holding the full index</a:t>
            </a:r>
          </a:p>
        </p:txBody>
      </p:sp>
      <p:sp>
        <p:nvSpPr>
          <p:cNvPr id="7" name="t"/>
          <p:cNvSpPr txBox="1"/>
          <p:nvPr/>
        </p:nvSpPr>
        <p:spPr>
          <a:xfrm>
            <a:off x="502920" y="1730248"/>
            <a:ext cx="3954780" cy="162560"/>
          </a:xfrm>
          <a:prstGeom prst="rect">
            <a:avLst/>
          </a:prstGeom>
        </p:spPr>
        <p:txBody>
          <a:bodyPr wrap="square" lIns="91440" tIns="45720" rIns="91440" bIns="45720">
            <a:noAutofit/>
          </a:bodyPr>
          <a:lstStyle/>
          <a:p>
            <a:r>
              <a:rPr lang="en-US" sz="1000">
                <a:solidFill>
                  <a:srgbClr val="E8EDF6"/>
                </a:solidFill>
                <a:latin typeface="Calibri"/>
              </a:rPr>
              <a:t>· VPC, three subnets across three AZs</a:t>
            </a:r>
          </a:p>
        </p:txBody>
      </p:sp>
      <p:sp>
        <p:nvSpPr>
          <p:cNvPr id="8" name="t"/>
          <p:cNvSpPr txBox="1"/>
          <p:nvPr/>
        </p:nvSpPr>
        <p:spPr>
          <a:xfrm>
            <a:off x="502920" y="1892808"/>
            <a:ext cx="3954780" cy="162560"/>
          </a:xfrm>
          <a:prstGeom prst="rect">
            <a:avLst/>
          </a:prstGeom>
        </p:spPr>
        <p:txBody>
          <a:bodyPr wrap="square" lIns="91440" tIns="45720" rIns="91440" bIns="45720">
            <a:noAutofit/>
          </a:bodyPr>
          <a:lstStyle/>
          <a:p>
            <a:r>
              <a:rPr lang="en-US" sz="1000">
                <a:solidFill>
                  <a:srgbClr val="E8EDF6"/>
                </a:solidFill>
                <a:latin typeface="Calibri"/>
              </a:rPr>
              <a:t>· Deleting the stack does not delete the data</a:t>
            </a:r>
          </a:p>
        </p:txBody>
      </p:sp>
      <p:sp>
        <p:nvSpPr>
          <p:cNvPr id="9" name="t"/>
          <p:cNvSpPr txBox="1"/>
          <p:nvPr/>
        </p:nvSpPr>
        <p:spPr>
          <a:xfrm>
            <a:off x="4686300" y="766064"/>
            <a:ext cx="3954780" cy="195072"/>
          </a:xfrm>
          <a:prstGeom prst="rect">
            <a:avLst/>
          </a:prstGeom>
        </p:spPr>
        <p:txBody>
          <a:bodyPr wrap="square" lIns="91440" tIns="45720" rIns="91440" bIns="45720">
            <a:noAutofit/>
          </a:bodyPr>
          <a:lstStyle/>
          <a:p>
            <a:r>
              <a:rPr lang="en-US" sz="1200" b="1">
                <a:solidFill>
                  <a:srgbClr val="6FE3D2"/>
                </a:solidFill>
                <a:latin typeface="Calibri"/>
              </a:rPr>
              <a:t>Compute stack (per group)</a:t>
            </a:r>
          </a:p>
        </p:txBody>
      </p:sp>
      <p:sp>
        <p:nvSpPr>
          <p:cNvPr id="10" name="t"/>
          <p:cNvSpPr txBox="1"/>
          <p:nvPr/>
        </p:nvSpPr>
        <p:spPr>
          <a:xfrm>
            <a:off x="4686300" y="1080008"/>
            <a:ext cx="3954780" cy="162560"/>
          </a:xfrm>
          <a:prstGeom prst="rect">
            <a:avLst/>
          </a:prstGeom>
        </p:spPr>
        <p:txBody>
          <a:bodyPr wrap="square" lIns="91440" tIns="45720" rIns="91440" bIns="45720">
            <a:noAutofit/>
          </a:bodyPr>
          <a:lstStyle/>
          <a:p>
            <a:r>
              <a:rPr lang="en-US" sz="1000">
                <a:solidFill>
                  <a:srgbClr val="E8EDF6"/>
                </a:solidFill>
                <a:latin typeface="Calibri"/>
              </a:rPr>
              <a:t>· An autoscaling group of EC2 nodes</a:t>
            </a:r>
          </a:p>
        </p:txBody>
      </p:sp>
      <p:sp>
        <p:nvSpPr>
          <p:cNvPr id="11" name="t"/>
          <p:cNvSpPr txBox="1"/>
          <p:nvPr/>
        </p:nvSpPr>
        <p:spPr>
          <a:xfrm>
            <a:off x="4686300" y="1242568"/>
            <a:ext cx="3954780" cy="162560"/>
          </a:xfrm>
          <a:prstGeom prst="rect">
            <a:avLst/>
          </a:prstGeom>
        </p:spPr>
        <p:txBody>
          <a:bodyPr wrap="square" lIns="91440" tIns="45720" rIns="91440" bIns="45720">
            <a:noAutofit/>
          </a:bodyPr>
          <a:lstStyle/>
          <a:p>
            <a:r>
              <a:rPr lang="en-US" sz="1000">
                <a:solidFill>
                  <a:srgbClr val="E8EDF6"/>
                </a:solidFill>
                <a:latin typeface="Calibri"/>
              </a:rPr>
              <a:t>· A load balancer and Route 53 entries</a:t>
            </a:r>
          </a:p>
        </p:txBody>
      </p:sp>
      <p:sp>
        <p:nvSpPr>
          <p:cNvPr id="12" name="t"/>
          <p:cNvSpPr txBox="1"/>
          <p:nvPr/>
        </p:nvSpPr>
        <p:spPr>
          <a:xfrm>
            <a:off x="4686300" y="1405128"/>
            <a:ext cx="3954780" cy="162560"/>
          </a:xfrm>
          <a:prstGeom prst="rect">
            <a:avLst/>
          </a:prstGeom>
        </p:spPr>
        <p:txBody>
          <a:bodyPr wrap="square" lIns="91440" tIns="45720" rIns="91440" bIns="45720">
            <a:noAutofit/>
          </a:bodyPr>
          <a:lstStyle/>
          <a:p>
            <a:r>
              <a:rPr lang="en-US" sz="1000">
                <a:solidFill>
                  <a:srgbClr val="E8EDF6"/>
                </a:solidFill>
                <a:latin typeface="Calibri"/>
              </a:rPr>
              <a:t>· CodeDeploy application, for ions</a:t>
            </a:r>
          </a:p>
        </p:txBody>
      </p:sp>
      <p:sp>
        <p:nvSpPr>
          <p:cNvPr id="13" name="t"/>
          <p:cNvSpPr txBox="1"/>
          <p:nvPr/>
        </p:nvSpPr>
        <p:spPr>
          <a:xfrm>
            <a:off x="4686300" y="1567688"/>
            <a:ext cx="3954780" cy="162560"/>
          </a:xfrm>
          <a:prstGeom prst="rect">
            <a:avLst/>
          </a:prstGeom>
        </p:spPr>
        <p:txBody>
          <a:bodyPr wrap="square" lIns="91440" tIns="45720" rIns="91440" bIns="45720">
            <a:noAutofit/>
          </a:bodyPr>
          <a:lstStyle/>
          <a:p>
            <a:r>
              <a:rPr lang="en-US" sz="1000">
                <a:solidFill>
                  <a:srgbClr val="E8EDF6"/>
                </a:solidFill>
                <a:latin typeface="Calibri"/>
              </a:rPr>
              <a:t>· A CloudWatch dashboard</a:t>
            </a:r>
          </a:p>
        </p:txBody>
      </p:sp>
      <p:sp>
        <p:nvSpPr>
          <p:cNvPr id="14" name="t"/>
          <p:cNvSpPr txBox="1"/>
          <p:nvPr/>
        </p:nvSpPr>
        <p:spPr>
          <a:xfrm>
            <a:off x="4686300" y="1730248"/>
            <a:ext cx="3954780" cy="162560"/>
          </a:xfrm>
          <a:prstGeom prst="rect">
            <a:avLst/>
          </a:prstGeom>
        </p:spPr>
        <p:txBody>
          <a:bodyPr wrap="square" lIns="91440" tIns="45720" rIns="91440" bIns="45720">
            <a:noAutofit/>
          </a:bodyPr>
          <a:lstStyle/>
          <a:p>
            <a:r>
              <a:rPr lang="en-US" sz="1000">
                <a:solidFill>
                  <a:srgbClr val="E8EDF6"/>
                </a:solidFill>
                <a:latin typeface="Calibri"/>
              </a:rPr>
              <a:t>· Optional API Gateway for client access</a:t>
            </a:r>
          </a:p>
        </p:txBody>
      </p:sp>
      <p:sp>
        <p:nvSpPr>
          <p:cNvPr id="15" name="t"/>
          <p:cNvSpPr txBox="1"/>
          <p:nvPr/>
        </p:nvSpPr>
        <p:spPr>
          <a:xfrm>
            <a:off x="502920" y="2242820"/>
            <a:ext cx="8138160" cy="373888"/>
          </a:xfrm>
          <a:prstGeom prst="rect">
            <a:avLst/>
          </a:prstGeom>
        </p:spPr>
        <p:txBody>
          <a:bodyPr wrap="square" lIns="91440" tIns="45720" rIns="91440" bIns="45720">
            <a:noAutofit/>
          </a:bodyPr>
          <a:lstStyle/>
          <a:p>
            <a:r>
              <a:rPr lang="en-US" sz="1150">
                <a:solidFill>
                  <a:srgbClr val="6FE3D2"/>
                </a:solidFill>
                <a:latin typeface="Calibri"/>
              </a:rPr>
              <a:t>There is only one node type. Every compute node is a peer with coequal access to the data — there is no separate transactor machine.</a:t>
            </a:r>
          </a:p>
        </p:txBody>
      </p:sp>
      <p:sp>
        <p:nvSpPr>
          <p:cNvPr id="16"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7"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Cloud — who writes, who reads</a:t>
            </a:r>
          </a:p>
        </p:txBody>
      </p:sp>
      <p:sp>
        <p:nvSpPr>
          <p:cNvPr id="3" name="t"/>
          <p:cNvSpPr txBox="1"/>
          <p:nvPr/>
        </p:nvSpPr>
        <p:spPr>
          <a:xfrm>
            <a:off x="502920" y="766064"/>
            <a:ext cx="2651760" cy="548640"/>
          </a:xfrm>
          <a:prstGeom prst="roundRect">
            <a:avLst/>
          </a:prstGeom>
          <a:solidFill>
            <a:srgbClr val="FFC66D"/>
          </a:solidFill>
        </p:spPr>
        <p:txBody>
          <a:bodyPr wrap="square" lIns="91440" tIns="45720" rIns="91440" bIns="45720">
            <a:noAutofit/>
          </a:bodyPr>
          <a:lstStyle/>
          <a:p>
            <a:pPr algn="ctr"/>
            <a:r>
              <a:rPr lang="en-US" sz="1050" b="1">
                <a:solidFill>
                  <a:srgbClr val="0F1420"/>
                </a:solidFill>
                <a:latin typeface="Calibri"/>
              </a:rPr>
              <a:t>primary compute group</a:t>
            </a:r>
          </a:p>
          <a:p>
            <a:pPr algn="ctr"/>
            <a:r>
              <a:rPr lang="en-US" sz="950">
                <a:solidFill>
                  <a:srgbClr val="0F1420"/>
                </a:solidFill>
                <a:latin typeface="Calibri"/>
              </a:rPr>
              <a:t>all transactions</a:t>
            </a:r>
          </a:p>
        </p:txBody>
      </p:sp>
      <p:sp>
        <p:nvSpPr>
          <p:cNvPr id="4" name="t"/>
          <p:cNvSpPr txBox="1"/>
          <p:nvPr/>
        </p:nvSpPr>
        <p:spPr>
          <a:xfrm>
            <a:off x="3246120" y="766064"/>
            <a:ext cx="2651760" cy="54864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query group</a:t>
            </a:r>
          </a:p>
          <a:p>
            <a:pPr algn="ctr"/>
            <a:r>
              <a:rPr lang="en-US" sz="950">
                <a:solidFill>
                  <a:srgbClr val="0F1420"/>
                </a:solidFill>
                <a:latin typeface="Calibri"/>
              </a:rPr>
              <a:t>reads only</a:t>
            </a:r>
          </a:p>
        </p:txBody>
      </p:sp>
      <p:sp>
        <p:nvSpPr>
          <p:cNvPr id="5" name="t"/>
          <p:cNvSpPr txBox="1"/>
          <p:nvPr/>
        </p:nvSpPr>
        <p:spPr>
          <a:xfrm>
            <a:off x="5989320" y="766064"/>
            <a:ext cx="2651760" cy="54864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query group</a:t>
            </a:r>
          </a:p>
          <a:p>
            <a:pPr algn="ctr"/>
            <a:r>
              <a:rPr lang="en-US" sz="950">
                <a:solidFill>
                  <a:srgbClr val="0F1420"/>
                </a:solidFill>
                <a:latin typeface="Calibri"/>
              </a:rPr>
              <a:t>reads only</a:t>
            </a:r>
          </a:p>
        </p:txBody>
      </p:sp>
      <p:sp>
        <p:nvSpPr>
          <p:cNvPr id="6" name="t"/>
          <p:cNvSpPr txBox="1"/>
          <p:nvPr/>
        </p:nvSpPr>
        <p:spPr>
          <a:xfrm>
            <a:off x="502920" y="1525016"/>
            <a:ext cx="8138160" cy="357632"/>
          </a:xfrm>
          <a:prstGeom prst="rect">
            <a:avLst/>
          </a:prstGeom>
        </p:spPr>
        <p:txBody>
          <a:bodyPr wrap="square" lIns="91440" tIns="45720" rIns="91440" bIns="45720">
            <a:noAutofit/>
          </a:bodyPr>
          <a:lstStyle/>
          <a:p>
            <a:r>
              <a:rPr lang="en-US" sz="1100">
                <a:solidFill>
                  <a:srgbClr val="FFC66D"/>
                </a:solidFill>
                <a:latin typeface="Calibri"/>
              </a:rPr>
              <a:t>▸ Each database has a preferred node for transactions in the primary group — but any node can take over, because correctness comes from DynamoDB compare-and-swap, not leader election</a:t>
            </a:r>
          </a:p>
        </p:txBody>
      </p:sp>
      <p:sp>
        <p:nvSpPr>
          <p:cNvPr id="7" name="t"/>
          <p:cNvSpPr txBox="1"/>
          <p:nvPr/>
        </p:nvSpPr>
        <p:spPr>
          <a:xfrm>
            <a:off x="502920" y="1882648"/>
            <a:ext cx="8138160" cy="178816"/>
          </a:xfrm>
          <a:prstGeom prst="rect">
            <a:avLst/>
          </a:prstGeom>
        </p:spPr>
        <p:txBody>
          <a:bodyPr wrap="square" lIns="91440" tIns="45720" rIns="91440" bIns="45720">
            <a:noAutofit/>
          </a:bodyPr>
          <a:lstStyle/>
          <a:p>
            <a:r>
              <a:rPr lang="en-US" sz="1100">
                <a:solidFill>
                  <a:srgbClr val="E8EDF6"/>
                </a:solidFill>
                <a:latin typeface="Calibri"/>
              </a:rPr>
              <a:t>▸ Queries run on the compute node, never in the client process</a:t>
            </a:r>
          </a:p>
        </p:txBody>
      </p:sp>
      <p:sp>
        <p:nvSpPr>
          <p:cNvPr id="8" name="t"/>
          <p:cNvSpPr txBox="1"/>
          <p:nvPr/>
        </p:nvSpPr>
        <p:spPr>
          <a:xfrm>
            <a:off x="502920" y="2061464"/>
            <a:ext cx="8138160" cy="178816"/>
          </a:xfrm>
          <a:prstGeom prst="rect">
            <a:avLst/>
          </a:prstGeom>
        </p:spPr>
        <p:txBody>
          <a:bodyPr wrap="square" lIns="91440" tIns="45720" rIns="91440" bIns="45720">
            <a:noAutofit/>
          </a:bodyPr>
          <a:lstStyle/>
          <a:p>
            <a:r>
              <a:rPr lang="en-US" sz="1100">
                <a:solidFill>
                  <a:srgbClr val="7BD88F"/>
                </a:solidFill>
                <a:latin typeface="Calibri"/>
              </a:rPr>
              <a:t>▸ Scale reads by adding query groups; each has its own nodes, its own cache and its own deployed code</a:t>
            </a:r>
          </a:p>
        </p:txBody>
      </p:sp>
      <p:sp>
        <p:nvSpPr>
          <p:cNvPr id="9" name="t"/>
          <p:cNvSpPr txBox="1"/>
          <p:nvPr/>
        </p:nvSpPr>
        <p:spPr>
          <a:xfrm>
            <a:off x="502920" y="2240280"/>
            <a:ext cx="8138160" cy="178816"/>
          </a:xfrm>
          <a:prstGeom prst="rect">
            <a:avLst/>
          </a:prstGeom>
        </p:spPr>
        <p:txBody>
          <a:bodyPr wrap="square" lIns="91440" tIns="45720" rIns="91440" bIns="45720">
            <a:noAutofit/>
          </a:bodyPr>
          <a:lstStyle/>
          <a:p>
            <a:r>
              <a:rPr lang="en-US" sz="1100">
                <a:solidFill>
                  <a:srgbClr val="E8EDF6"/>
                </a:solidFill>
                <a:latin typeface="Calibri"/>
              </a:rPr>
              <a:t>▸ Query group instances should be the same size or larger than primary group instances — they follow the log too</a:t>
            </a:r>
          </a:p>
        </p:txBody>
      </p:sp>
      <p:sp>
        <p:nvSpPr>
          <p:cNvPr id="10"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1"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Cloud — the cache tiers</a:t>
            </a:r>
          </a:p>
        </p:txBody>
      </p:sp>
      <p:sp>
        <p:nvSpPr>
          <p:cNvPr id="3" name="t"/>
          <p:cNvSpPr txBox="1"/>
          <p:nvPr/>
        </p:nvSpPr>
        <p:spPr>
          <a:xfrm>
            <a:off x="502920" y="766064"/>
            <a:ext cx="1760220" cy="50292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object cache</a:t>
            </a:r>
          </a:p>
          <a:p>
            <a:pPr algn="ctr"/>
            <a:r>
              <a:rPr lang="en-US" sz="950">
                <a:solidFill>
                  <a:srgbClr val="0F1420"/>
                </a:solidFill>
                <a:latin typeface="Calibri"/>
              </a:rPr>
              <a:t>node heap</a:t>
            </a:r>
          </a:p>
        </p:txBody>
      </p:sp>
      <p:sp>
        <p:nvSpPr>
          <p:cNvPr id="4" name="t"/>
          <p:cNvSpPr txBox="1"/>
          <p:nvPr/>
        </p:nvSpPr>
        <p:spPr>
          <a:xfrm>
            <a:off x="235458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5" name="t"/>
          <p:cNvSpPr txBox="1"/>
          <p:nvPr/>
        </p:nvSpPr>
        <p:spPr>
          <a:xfrm>
            <a:off x="2628900" y="766064"/>
            <a:ext cx="1760220" cy="502920"/>
          </a:xfrm>
          <a:prstGeom prst="roundRect">
            <a:avLst/>
          </a:prstGeom>
          <a:solidFill>
            <a:srgbClr val="C09BFF"/>
          </a:solidFill>
        </p:spPr>
        <p:txBody>
          <a:bodyPr wrap="square" lIns="91440" tIns="45720" rIns="91440" bIns="45720">
            <a:noAutofit/>
          </a:bodyPr>
          <a:lstStyle/>
          <a:p>
            <a:pPr algn="ctr"/>
            <a:r>
              <a:rPr lang="en-US" sz="1050" b="1">
                <a:solidFill>
                  <a:srgbClr val="0F1420"/>
                </a:solidFill>
                <a:latin typeface="Calibri"/>
              </a:rPr>
              <a:t>valcache</a:t>
            </a:r>
          </a:p>
          <a:p>
            <a:pPr algn="ctr"/>
            <a:r>
              <a:rPr lang="en-US" sz="950">
                <a:solidFill>
                  <a:srgbClr val="0F1420"/>
                </a:solidFill>
                <a:latin typeface="Calibri"/>
              </a:rPr>
              <a:t>local NVMe</a:t>
            </a:r>
          </a:p>
        </p:txBody>
      </p:sp>
      <p:sp>
        <p:nvSpPr>
          <p:cNvPr id="6" name="t"/>
          <p:cNvSpPr txBox="1"/>
          <p:nvPr/>
        </p:nvSpPr>
        <p:spPr>
          <a:xfrm>
            <a:off x="448056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7" name="t"/>
          <p:cNvSpPr txBox="1"/>
          <p:nvPr/>
        </p:nvSpPr>
        <p:spPr>
          <a:xfrm>
            <a:off x="4754880" y="766064"/>
            <a:ext cx="1760220" cy="502920"/>
          </a:xfrm>
          <a:prstGeom prst="roundRect">
            <a:avLst/>
          </a:prstGeom>
          <a:solidFill>
            <a:srgbClr val="6FA8FF"/>
          </a:solidFill>
        </p:spPr>
        <p:txBody>
          <a:bodyPr wrap="square" lIns="91440" tIns="45720" rIns="91440" bIns="45720">
            <a:noAutofit/>
          </a:bodyPr>
          <a:lstStyle/>
          <a:p>
            <a:pPr algn="ctr"/>
            <a:r>
              <a:rPr lang="en-US" sz="1050" b="1">
                <a:solidFill>
                  <a:srgbClr val="0F1420"/>
                </a:solidFill>
                <a:latin typeface="Calibri"/>
              </a:rPr>
              <a:t>EFS</a:t>
            </a:r>
          </a:p>
          <a:p>
            <a:pPr algn="ctr"/>
            <a:r>
              <a:rPr lang="en-US" sz="950">
                <a:solidFill>
                  <a:srgbClr val="0F1420"/>
                </a:solidFill>
                <a:latin typeface="Calibri"/>
              </a:rPr>
              <a:t>shared index</a:t>
            </a:r>
          </a:p>
        </p:txBody>
      </p:sp>
      <p:sp>
        <p:nvSpPr>
          <p:cNvPr id="8" name="t"/>
          <p:cNvSpPr txBox="1"/>
          <p:nvPr/>
        </p:nvSpPr>
        <p:spPr>
          <a:xfrm>
            <a:off x="660654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9" name="t"/>
          <p:cNvSpPr txBox="1"/>
          <p:nvPr/>
        </p:nvSpPr>
        <p:spPr>
          <a:xfrm>
            <a:off x="6880860" y="766064"/>
            <a:ext cx="1760220" cy="502920"/>
          </a:xfrm>
          <a:prstGeom prst="roundRect">
            <a:avLst/>
          </a:prstGeom>
          <a:solidFill>
            <a:srgbClr val="6FA8FF"/>
          </a:solidFill>
        </p:spPr>
        <p:txBody>
          <a:bodyPr wrap="square" lIns="91440" tIns="45720" rIns="91440" bIns="45720">
            <a:noAutofit/>
          </a:bodyPr>
          <a:lstStyle/>
          <a:p>
            <a:pPr algn="ctr"/>
            <a:r>
              <a:rPr lang="en-US" sz="1050" b="1">
                <a:solidFill>
                  <a:srgbClr val="0F1420"/>
                </a:solidFill>
                <a:latin typeface="Calibri"/>
              </a:rPr>
              <a:t>S3</a:t>
            </a:r>
          </a:p>
          <a:p>
            <a:pPr algn="ctr"/>
            <a:r>
              <a:rPr lang="en-US" sz="950">
                <a:solidFill>
                  <a:srgbClr val="0F1420"/>
                </a:solidFill>
                <a:latin typeface="Calibri"/>
              </a:rPr>
              <a:t>origin</a:t>
            </a:r>
          </a:p>
        </p:txBody>
      </p:sp>
      <p:sp>
        <p:nvSpPr>
          <p:cNvPr id="10" name="t"/>
          <p:cNvSpPr txBox="1"/>
          <p:nvPr/>
        </p:nvSpPr>
        <p:spPr>
          <a:xfrm>
            <a:off x="502920" y="1479296"/>
            <a:ext cx="8138160" cy="178816"/>
          </a:xfrm>
          <a:prstGeom prst="rect">
            <a:avLst/>
          </a:prstGeom>
        </p:spPr>
        <p:txBody>
          <a:bodyPr wrap="square" lIns="91440" tIns="45720" rIns="91440" bIns="45720">
            <a:noAutofit/>
          </a:bodyPr>
          <a:lstStyle/>
          <a:p>
            <a:r>
              <a:rPr lang="en-US" sz="1100">
                <a:solidFill>
                  <a:srgbClr val="E8EDF6"/>
                </a:solidFill>
                <a:latin typeface="Calibri"/>
              </a:rPr>
              <a:t>▸ Same idea as Pro, different plumbing. No memcached in Cloud.</a:t>
            </a:r>
          </a:p>
        </p:txBody>
      </p:sp>
      <p:sp>
        <p:nvSpPr>
          <p:cNvPr id="11" name="t"/>
          <p:cNvSpPr txBox="1"/>
          <p:nvPr/>
        </p:nvSpPr>
        <p:spPr>
          <a:xfrm>
            <a:off x="502920" y="1658112"/>
            <a:ext cx="8138160" cy="178816"/>
          </a:xfrm>
          <a:prstGeom prst="rect">
            <a:avLst/>
          </a:prstGeom>
        </p:spPr>
        <p:txBody>
          <a:bodyPr wrap="square" lIns="91440" tIns="45720" rIns="91440" bIns="45720">
            <a:noAutofit/>
          </a:bodyPr>
          <a:lstStyle/>
          <a:p>
            <a:r>
              <a:rPr lang="en-US" sz="1100">
                <a:solidFill>
                  <a:srgbClr val="C09BFF"/>
                </a:solidFill>
                <a:latin typeface="Calibri"/>
              </a:rPr>
              <a:t>▸ valcache switches on automatically on i3-family instances; t3 instances do not have it</a:t>
            </a:r>
          </a:p>
        </p:txBody>
      </p:sp>
      <p:sp>
        <p:nvSpPr>
          <p:cNvPr id="12" name="t"/>
          <p:cNvSpPr txBox="1"/>
          <p:nvPr/>
        </p:nvSpPr>
        <p:spPr>
          <a:xfrm>
            <a:off x="502920" y="1836928"/>
            <a:ext cx="8138160" cy="357632"/>
          </a:xfrm>
          <a:prstGeom prst="rect">
            <a:avLst/>
          </a:prstGeom>
        </p:spPr>
        <p:txBody>
          <a:bodyPr wrap="square" lIns="91440" tIns="45720" rIns="91440" bIns="45720">
            <a:noAutofit/>
          </a:bodyPr>
          <a:lstStyle/>
          <a:p>
            <a:r>
              <a:rPr lang="en-US" sz="1100">
                <a:solidFill>
                  <a:srgbClr val="6FA8FF"/>
                </a:solidFill>
                <a:latin typeface="Calibri"/>
              </a:rPr>
              <a:t>▸ EFS holds the FULL index and is shared by every node in the system — so a brand-new node misses to EFS, not to S3</a:t>
            </a:r>
          </a:p>
        </p:txBody>
      </p:sp>
      <p:sp>
        <p:nvSpPr>
          <p:cNvPr id="13" name="t"/>
          <p:cNvSpPr txBox="1"/>
          <p:nvPr/>
        </p:nvSpPr>
        <p:spPr>
          <a:xfrm>
            <a:off x="502920" y="2194560"/>
            <a:ext cx="8138160" cy="178816"/>
          </a:xfrm>
          <a:prstGeom prst="rect">
            <a:avLst/>
          </a:prstGeom>
        </p:spPr>
        <p:txBody>
          <a:bodyPr wrap="square" lIns="91440" tIns="45720" rIns="91440" bIns="45720">
            <a:noAutofit/>
          </a:bodyPr>
          <a:lstStyle/>
          <a:p>
            <a:r>
              <a:rPr lang="en-US" sz="1100">
                <a:solidFill>
                  <a:srgbClr val="7BD88F"/>
                </a:solidFill>
                <a:latin typeface="Calibri"/>
              </a:rPr>
              <a:t>▸ PreloadDatabase pre-warms a node at startup</a:t>
            </a:r>
          </a:p>
        </p:txBody>
      </p:sp>
      <p:sp>
        <p:nvSpPr>
          <p:cNvPr id="14" name="t"/>
          <p:cNvSpPr txBox="1"/>
          <p:nvPr/>
        </p:nvSpPr>
        <p:spPr>
          <a:xfrm>
            <a:off x="502920" y="2373376"/>
            <a:ext cx="8138160" cy="178816"/>
          </a:xfrm>
          <a:prstGeom prst="rect">
            <a:avLst/>
          </a:prstGeom>
        </p:spPr>
        <p:txBody>
          <a:bodyPr wrap="square" lIns="91440" tIns="45720" rIns="91440" bIns="45720">
            <a:noAutofit/>
          </a:bodyPr>
          <a:lstStyle/>
          <a:p>
            <a:r>
              <a:rPr lang="en-US" sz="1100">
                <a:solidFill>
                  <a:srgbClr val="6FE3D2"/>
                </a:solidFill>
                <a:latin typeface="Calibri"/>
              </a:rPr>
              <a:t>▸ io-stats attributes each query to :ocache, :valcache or storage — use it</a:t>
            </a:r>
          </a:p>
        </p:txBody>
      </p:sp>
      <p:sp>
        <p:nvSpPr>
          <p:cNvPr id="15"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6"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73</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Ions — moving your code to the data</a:t>
            </a:r>
          </a:p>
        </p:txBody>
      </p:sp>
      <p:sp>
        <p:nvSpPr>
          <p:cNvPr id="3" name="t"/>
          <p:cNvSpPr txBox="1"/>
          <p:nvPr/>
        </p:nvSpPr>
        <p:spPr>
          <a:xfrm>
            <a:off x="502920" y="766064"/>
            <a:ext cx="2468880" cy="502920"/>
          </a:xfrm>
          <a:prstGeom prst="roundRect">
            <a:avLst/>
          </a:prstGeom>
          <a:solidFill>
            <a:srgbClr val="6FA8FF"/>
          </a:solidFill>
        </p:spPr>
        <p:txBody>
          <a:bodyPr wrap="square" lIns="91440" tIns="45720" rIns="91440" bIns="45720">
            <a:noAutofit/>
          </a:bodyPr>
          <a:lstStyle/>
          <a:p>
            <a:pPr algn="ctr"/>
            <a:r>
              <a:rPr lang="en-US" sz="1050" b="1">
                <a:solidFill>
                  <a:srgbClr val="0F1420"/>
                </a:solidFill>
                <a:latin typeface="Calibri"/>
              </a:rPr>
              <a:t>push</a:t>
            </a:r>
          </a:p>
          <a:p>
            <a:pPr algn="ctr"/>
            <a:r>
              <a:rPr lang="en-US" sz="950">
                <a:solidFill>
                  <a:srgbClr val="0F1420"/>
                </a:solidFill>
                <a:latin typeface="Calibri"/>
              </a:rPr>
              <a:t>code to S3</a:t>
            </a:r>
          </a:p>
        </p:txBody>
      </p:sp>
      <p:sp>
        <p:nvSpPr>
          <p:cNvPr id="4" name="t"/>
          <p:cNvSpPr txBox="1"/>
          <p:nvPr/>
        </p:nvSpPr>
        <p:spPr>
          <a:xfrm>
            <a:off x="306324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5" name="t"/>
          <p:cNvSpPr txBox="1"/>
          <p:nvPr/>
        </p:nvSpPr>
        <p:spPr>
          <a:xfrm>
            <a:off x="3337560" y="766064"/>
            <a:ext cx="2468880" cy="502920"/>
          </a:xfrm>
          <a:prstGeom prst="roundRect">
            <a:avLst/>
          </a:prstGeom>
          <a:solidFill>
            <a:srgbClr val="6FE3D2"/>
          </a:solidFill>
        </p:spPr>
        <p:txBody>
          <a:bodyPr wrap="square" lIns="91440" tIns="45720" rIns="91440" bIns="45720">
            <a:noAutofit/>
          </a:bodyPr>
          <a:lstStyle/>
          <a:p>
            <a:pPr algn="ctr"/>
            <a:r>
              <a:rPr lang="en-US" sz="1050" b="1">
                <a:solidFill>
                  <a:srgbClr val="0F1420"/>
                </a:solidFill>
                <a:latin typeface="Calibri"/>
              </a:rPr>
              <a:t>deploy</a:t>
            </a:r>
          </a:p>
          <a:p>
            <a:pPr algn="ctr"/>
            <a:r>
              <a:rPr lang="en-US" sz="950">
                <a:solidFill>
                  <a:srgbClr val="0F1420"/>
                </a:solidFill>
                <a:latin typeface="Calibri"/>
              </a:rPr>
              <a:t>CodeDeploy to nodes</a:t>
            </a:r>
          </a:p>
        </p:txBody>
      </p:sp>
      <p:sp>
        <p:nvSpPr>
          <p:cNvPr id="6" name="t"/>
          <p:cNvSpPr txBox="1"/>
          <p:nvPr/>
        </p:nvSpPr>
        <p:spPr>
          <a:xfrm>
            <a:off x="5897880" y="90322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7" name="t"/>
          <p:cNvSpPr txBox="1"/>
          <p:nvPr/>
        </p:nvSpPr>
        <p:spPr>
          <a:xfrm>
            <a:off x="6172200" y="766064"/>
            <a:ext cx="2468880" cy="502920"/>
          </a:xfrm>
          <a:prstGeom prst="roundRect">
            <a:avLst/>
          </a:prstGeom>
          <a:solidFill>
            <a:srgbClr val="7BD88F"/>
          </a:solidFill>
        </p:spPr>
        <p:txBody>
          <a:bodyPr wrap="square" lIns="91440" tIns="45720" rIns="91440" bIns="45720">
            <a:noAutofit/>
          </a:bodyPr>
          <a:lstStyle/>
          <a:p>
            <a:pPr algn="ctr"/>
            <a:r>
              <a:rPr lang="en-US" sz="1050" b="1">
                <a:solidFill>
                  <a:srgbClr val="0F1420"/>
                </a:solidFill>
                <a:latin typeface="Calibri"/>
              </a:rPr>
              <a:t>running</a:t>
            </a:r>
          </a:p>
          <a:p>
            <a:pPr algn="ctr"/>
            <a:r>
              <a:rPr lang="en-US" sz="950">
                <a:solidFill>
                  <a:srgbClr val="0F1420"/>
                </a:solidFill>
                <a:latin typeface="Calibri"/>
              </a:rPr>
              <a:t>in the node JVM</a:t>
            </a:r>
          </a:p>
        </p:txBody>
      </p:sp>
      <p:sp>
        <p:nvSpPr>
          <p:cNvPr id="8" name="t"/>
          <p:cNvSpPr txBox="1"/>
          <p:nvPr/>
        </p:nvSpPr>
        <p:spPr>
          <a:xfrm>
            <a:off x="502920" y="1479296"/>
            <a:ext cx="8138160" cy="341376"/>
          </a:xfrm>
          <a:prstGeom prst="rect">
            <a:avLst/>
          </a:prstGeom>
        </p:spPr>
        <p:txBody>
          <a:bodyPr wrap="square" lIns="91440" tIns="45720" rIns="91440" bIns="45720">
            <a:noAutofit/>
          </a:bodyPr>
          <a:lstStyle/>
          <a:p>
            <a:r>
              <a:rPr lang="en-US" sz="1050">
                <a:solidFill>
                  <a:srgbClr val="6FE3D2"/>
                </a:solidFill>
                <a:latin typeface="Calibri"/>
              </a:rPr>
              <a:t>▸ An ion is an ordinary Clojure function running on the Datomic compute nodes, in the same JVM as the query engine and its caches</a:t>
            </a:r>
          </a:p>
        </p:txBody>
      </p:sp>
      <p:sp>
        <p:nvSpPr>
          <p:cNvPr id="9" name="t"/>
          <p:cNvSpPr txBox="1"/>
          <p:nvPr/>
        </p:nvSpPr>
        <p:spPr>
          <a:xfrm>
            <a:off x="502920" y="1820672"/>
            <a:ext cx="8138160" cy="170688"/>
          </a:xfrm>
          <a:prstGeom prst="rect">
            <a:avLst/>
          </a:prstGeom>
        </p:spPr>
        <p:txBody>
          <a:bodyPr wrap="square" lIns="91440" tIns="45720" rIns="91440" bIns="45720">
            <a:noAutofit/>
          </a:bodyPr>
          <a:lstStyle/>
          <a:p>
            <a:r>
              <a:rPr lang="en-US" sz="1050">
                <a:solidFill>
                  <a:srgbClr val="7BD88F"/>
                </a:solidFill>
                <a:latin typeface="Calibri"/>
              </a:rPr>
              <a:t>▸ d/q from inside an ion hits the node object cache with zero network hops — the Cloud equivalent of the peer model</a:t>
            </a:r>
          </a:p>
        </p:txBody>
      </p:sp>
      <p:sp>
        <p:nvSpPr>
          <p:cNvPr id="10" name="t"/>
          <p:cNvSpPr txBox="1"/>
          <p:nvPr/>
        </p:nvSpPr>
        <p:spPr>
          <a:xfrm>
            <a:off x="502920" y="1991360"/>
            <a:ext cx="8138160" cy="170688"/>
          </a:xfrm>
          <a:prstGeom prst="rect">
            <a:avLst/>
          </a:prstGeom>
        </p:spPr>
        <p:txBody>
          <a:bodyPr wrap="square" lIns="91440" tIns="45720" rIns="91440" bIns="45720">
            <a:noAutofit/>
          </a:bodyPr>
          <a:lstStyle/>
          <a:p>
            <a:r>
              <a:rPr lang="en-US" sz="1050">
                <a:solidFill>
                  <a:srgbClr val="E8EDF6"/>
                </a:solidFill>
                <a:latin typeface="Calibri"/>
              </a:rPr>
              <a:t>▸ Declared in resources/datomic/ion-config.edn: :allow for transaction and query functions, :lambdas, :http-direct</a:t>
            </a:r>
          </a:p>
        </p:txBody>
      </p:sp>
      <p:sp>
        <p:nvSpPr>
          <p:cNvPr id="11" name="t"/>
          <p:cNvSpPr txBox="1"/>
          <p:nvPr/>
        </p:nvSpPr>
        <p:spPr>
          <a:xfrm>
            <a:off x="502920" y="2162048"/>
            <a:ext cx="8138160" cy="170688"/>
          </a:xfrm>
          <a:prstGeom prst="rect">
            <a:avLst/>
          </a:prstGeom>
        </p:spPr>
        <p:txBody>
          <a:bodyPr wrap="square" lIns="91440" tIns="45720" rIns="91440" bIns="45720">
            <a:noAutofit/>
          </a:bodyPr>
          <a:lstStyle/>
          <a:p>
            <a:r>
              <a:rPr lang="en-US" sz="1050">
                <a:solidFill>
                  <a:srgbClr val="FFC66D"/>
                </a:solidFill>
                <a:latin typeface="Calibri"/>
              </a:rPr>
              <a:t>▸ Reproducible push requires a clean git tree and no :local/root deps</a:t>
            </a:r>
          </a:p>
        </p:txBody>
      </p:sp>
      <p:sp>
        <p:nvSpPr>
          <p:cNvPr id="12" name="t"/>
          <p:cNvSpPr txBox="1"/>
          <p:nvPr/>
        </p:nvSpPr>
        <p:spPr>
          <a:xfrm>
            <a:off x="502920" y="2332736"/>
            <a:ext cx="8138160" cy="170688"/>
          </a:xfrm>
          <a:prstGeom prst="rect">
            <a:avLst/>
          </a:prstGeom>
        </p:spPr>
        <p:txBody>
          <a:bodyPr wrap="square" lIns="91440" tIns="45720" rIns="91440" bIns="45720">
            <a:noAutofit/>
          </a:bodyPr>
          <a:lstStyle/>
          <a:p>
            <a:r>
              <a:rPr lang="en-US" sz="1050">
                <a:solidFill>
                  <a:srgbClr val="7BD88F"/>
                </a:solidFill>
                <a:latin typeface="Calibri"/>
              </a:rPr>
              <a:t>▸ Deploys roll code onto running instances without cycling them</a:t>
            </a:r>
          </a:p>
        </p:txBody>
      </p:sp>
      <p:sp>
        <p:nvSpPr>
          <p:cNvPr id="13"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4"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Cloud — the sharp edge</a:t>
            </a:r>
          </a:p>
        </p:txBody>
      </p:sp>
      <p:sp>
        <p:nvSpPr>
          <p:cNvPr id="3" name="t"/>
          <p:cNvSpPr txBox="1"/>
          <p:nvPr/>
        </p:nvSpPr>
        <p:spPr>
          <a:xfrm>
            <a:off x="502920" y="766064"/>
            <a:ext cx="8138160" cy="260096"/>
          </a:xfrm>
          <a:prstGeom prst="rect">
            <a:avLst/>
          </a:prstGeom>
        </p:spPr>
        <p:txBody>
          <a:bodyPr wrap="square" lIns="91440" tIns="45720" rIns="91440" bIns="45720">
            <a:noAutofit/>
          </a:bodyPr>
          <a:lstStyle/>
          <a:p>
            <a:r>
              <a:rPr lang="en-US" sz="1600" b="1">
                <a:solidFill>
                  <a:srgbClr val="F28FAD"/>
                </a:solidFill>
                <a:latin typeface="Calibri"/>
              </a:rPr>
              <a:t>Datomic Cloud has no built-in backup or restore.</a:t>
            </a:r>
          </a:p>
        </p:txBody>
      </p:sp>
      <p:sp>
        <p:nvSpPr>
          <p:cNvPr id="4" name="t"/>
          <p:cNvSpPr txBox="1"/>
          <p:nvPr/>
        </p:nvSpPr>
        <p:spPr>
          <a:xfrm>
            <a:off x="502920" y="1213612"/>
            <a:ext cx="8138160" cy="178816"/>
          </a:xfrm>
          <a:prstGeom prst="rect">
            <a:avLst/>
          </a:prstGeom>
        </p:spPr>
        <p:txBody>
          <a:bodyPr wrap="square" lIns="91440" tIns="45720" rIns="91440" bIns="45720">
            <a:noAutofit/>
          </a:bodyPr>
          <a:lstStyle/>
          <a:p>
            <a:r>
              <a:rPr lang="en-US" sz="1100">
                <a:solidFill>
                  <a:srgbClr val="E8EDF6"/>
                </a:solidFill>
                <a:latin typeface="Calibri"/>
              </a:rPr>
              <a:t>▸ backup-db, restore-db and list-backups are Datomic Pro only — they need local storage access and a transactor</a:t>
            </a:r>
          </a:p>
        </p:txBody>
      </p:sp>
      <p:sp>
        <p:nvSpPr>
          <p:cNvPr id="5" name="t"/>
          <p:cNvSpPr txBox="1"/>
          <p:nvPr/>
        </p:nvSpPr>
        <p:spPr>
          <a:xfrm>
            <a:off x="502920" y="1392428"/>
            <a:ext cx="8138160" cy="178816"/>
          </a:xfrm>
          <a:prstGeom prst="rect">
            <a:avLst/>
          </a:prstGeom>
        </p:spPr>
        <p:txBody>
          <a:bodyPr wrap="square" lIns="91440" tIns="45720" rIns="91440" bIns="45720">
            <a:noAutofit/>
          </a:bodyPr>
          <a:lstStyle/>
          <a:p>
            <a:r>
              <a:rPr lang="en-US" sz="1100">
                <a:solidFill>
                  <a:srgbClr val="E8EDF6"/>
                </a:solidFill>
                <a:latin typeface="Calibri"/>
              </a:rPr>
              <a:t>▸ The durability story is "S3 and DynamoDB are very durable". That is true, and it is not a backup.</a:t>
            </a:r>
          </a:p>
        </p:txBody>
      </p:sp>
      <p:sp>
        <p:nvSpPr>
          <p:cNvPr id="6" name="t"/>
          <p:cNvSpPr txBox="1"/>
          <p:nvPr/>
        </p:nvSpPr>
        <p:spPr>
          <a:xfrm>
            <a:off x="502920" y="1571244"/>
            <a:ext cx="8138160" cy="178816"/>
          </a:xfrm>
          <a:prstGeom prst="rect">
            <a:avLst/>
          </a:prstGeom>
        </p:spPr>
        <p:txBody>
          <a:bodyPr wrap="square" lIns="91440" tIns="45720" rIns="91440" bIns="45720">
            <a:noAutofit/>
          </a:bodyPr>
          <a:lstStyle/>
          <a:p>
            <a:r>
              <a:rPr lang="en-US" sz="1100">
                <a:solidFill>
                  <a:srgbClr val="F28FAD"/>
                </a:solidFill>
                <a:latin typeface="Calibri"/>
              </a:rPr>
              <a:t>▸ No point-in-time restore, no snapshot, no cross-account clone</a:t>
            </a:r>
          </a:p>
        </p:txBody>
      </p:sp>
      <p:sp>
        <p:nvSpPr>
          <p:cNvPr id="7" name="t"/>
          <p:cNvSpPr txBox="1"/>
          <p:nvPr/>
        </p:nvSpPr>
        <p:spPr>
          <a:xfrm>
            <a:off x="502920" y="1750060"/>
            <a:ext cx="8138160" cy="178816"/>
          </a:xfrm>
          <a:prstGeom prst="rect">
            <a:avLst/>
          </a:prstGeom>
        </p:spPr>
        <p:txBody>
          <a:bodyPr wrap="square" lIns="91440" tIns="45720" rIns="91440" bIns="45720">
            <a:noAutofit/>
          </a:bodyPr>
          <a:lstStyle/>
          <a:p>
            <a:r>
              <a:rPr lang="en-US" sz="1100">
                <a:solidFill>
                  <a:srgbClr val="7BD88F"/>
                </a:solidFill>
                <a:latin typeface="Calibri"/>
              </a:rPr>
              <a:t>▸ Mitigating factor: the data is immutable, so "restore to an earlier point" is usually d/as-of, not a restore</a:t>
            </a:r>
          </a:p>
        </p:txBody>
      </p:sp>
      <p:sp>
        <p:nvSpPr>
          <p:cNvPr id="8" name="t"/>
          <p:cNvSpPr txBox="1"/>
          <p:nvPr/>
        </p:nvSpPr>
        <p:spPr>
          <a:xfrm>
            <a:off x="502920" y="1928876"/>
            <a:ext cx="8138160" cy="178816"/>
          </a:xfrm>
          <a:prstGeom prst="rect">
            <a:avLst/>
          </a:prstGeom>
        </p:spPr>
        <p:txBody>
          <a:bodyPr wrap="square" lIns="91440" tIns="45720" rIns="91440" bIns="45720">
            <a:noAutofit/>
          </a:bodyPr>
          <a:lstStyle/>
          <a:p>
            <a:r>
              <a:rPr lang="en-US" sz="1100">
                <a:solidFill>
                  <a:srgbClr val="F28FAD"/>
                </a:solidFill>
                <a:latin typeface="Calibri"/>
              </a:rPr>
              <a:t>▸ The real exposure is someone calling delete-database</a:t>
            </a:r>
          </a:p>
        </p:txBody>
      </p:sp>
      <p:sp>
        <p:nvSpPr>
          <p:cNvPr id="9" name="t"/>
          <p:cNvSpPr txBox="1"/>
          <p:nvPr/>
        </p:nvSpPr>
        <p:spPr>
          <a:xfrm>
            <a:off x="502920" y="2226564"/>
            <a:ext cx="45720" cy="449072"/>
          </a:xfrm>
          <a:prstGeom prst="rect">
            <a:avLst/>
          </a:prstGeom>
          <a:solidFill>
            <a:srgbClr val="F28FAD"/>
          </a:solidFill>
        </p:spPr>
        <p:txBody>
          <a:bodyPr wrap="square" lIns="91440" tIns="45720" rIns="91440" bIns="45720">
            <a:noAutofit/>
          </a:bodyPr>
          <a:lstStyle/>
        </p:txBody>
      </p:sp>
      <p:sp>
        <p:nvSpPr>
          <p:cNvPr id="10" name="t"/>
          <p:cNvSpPr txBox="1"/>
          <p:nvPr/>
        </p:nvSpPr>
        <p:spPr>
          <a:xfrm>
            <a:off x="594360" y="2226564"/>
            <a:ext cx="8046720" cy="449072"/>
          </a:xfrm>
          <a:prstGeom prst="rect">
            <a:avLst/>
          </a:prstGeom>
        </p:spPr>
        <p:txBody>
          <a:bodyPr wrap="square" lIns="91440" tIns="45720" rIns="91440" bIns="45720">
            <a:noAutofit/>
          </a:bodyPr>
          <a:lstStyle/>
          <a:p>
            <a:r>
              <a:rPr lang="en-US" sz="1100">
                <a:solidFill>
                  <a:srgbClr val="E8EDF6"/>
                </a:solidFill>
                <a:latin typeface="Calibri"/>
              </a:rPr>
              <a:t>⚠  If you need provable DR with a restore drill, that is an argument for Pro. Put it on the decision slide, not in a post-mortem.</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Pro or Cloud or Local</a:t>
            </a:r>
          </a:p>
        </p:txBody>
      </p:sp>
      <p:sp>
        <p:nvSpPr>
          <p:cNvPr id="3" name="t"/>
          <p:cNvSpPr txBox="1"/>
          <p:nvPr/>
        </p:nvSpPr>
        <p:spPr>
          <a:xfrm>
            <a:off x="502920" y="766064"/>
            <a:ext cx="1627632" cy="227888"/>
          </a:xfrm>
          <a:prstGeom prst="rect">
            <a:avLst/>
          </a:prstGeom>
        </p:spPr>
        <p:txBody>
          <a:bodyPr wrap="square" lIns="91440" tIns="45720" rIns="91440" bIns="45720">
            <a:noAutofit/>
          </a:bodyPr>
          <a:lstStyle/>
          <a:p>
            <a:endParaRPr lang="en-US" sz="980"/>
          </a:p>
        </p:txBody>
      </p:sp>
      <p:sp>
        <p:nvSpPr>
          <p:cNvPr id="4" name="t"/>
          <p:cNvSpPr txBox="1"/>
          <p:nvPr/>
        </p:nvSpPr>
        <p:spPr>
          <a:xfrm>
            <a:off x="2130552" y="766064"/>
            <a:ext cx="2278684" cy="227888"/>
          </a:xfrm>
          <a:prstGeom prst="rect">
            <a:avLst/>
          </a:prstGeom>
        </p:spPr>
        <p:txBody>
          <a:bodyPr wrap="square" lIns="91440" tIns="45720" rIns="91440" bIns="45720">
            <a:noAutofit/>
          </a:bodyPr>
          <a:lstStyle/>
          <a:p>
            <a:r>
              <a:rPr lang="en-US" sz="980" b="1">
                <a:solidFill>
                  <a:srgbClr val="6FA8FF"/>
                </a:solidFill>
                <a:latin typeface="Calibri"/>
              </a:rPr>
              <a:t>Pro</a:t>
            </a:r>
          </a:p>
        </p:txBody>
      </p:sp>
      <p:sp>
        <p:nvSpPr>
          <p:cNvPr id="5" name="t"/>
          <p:cNvSpPr txBox="1"/>
          <p:nvPr/>
        </p:nvSpPr>
        <p:spPr>
          <a:xfrm>
            <a:off x="4409236" y="766064"/>
            <a:ext cx="2278684" cy="227888"/>
          </a:xfrm>
          <a:prstGeom prst="rect">
            <a:avLst/>
          </a:prstGeom>
        </p:spPr>
        <p:txBody>
          <a:bodyPr wrap="square" lIns="91440" tIns="45720" rIns="91440" bIns="45720">
            <a:noAutofit/>
          </a:bodyPr>
          <a:lstStyle/>
          <a:p>
            <a:r>
              <a:rPr lang="en-US" sz="980" b="1">
                <a:solidFill>
                  <a:srgbClr val="6FA8FF"/>
                </a:solidFill>
                <a:latin typeface="Calibri"/>
              </a:rPr>
              <a:t>Cloud</a:t>
            </a:r>
          </a:p>
        </p:txBody>
      </p:sp>
      <p:sp>
        <p:nvSpPr>
          <p:cNvPr id="6" name="t"/>
          <p:cNvSpPr txBox="1"/>
          <p:nvPr/>
        </p:nvSpPr>
        <p:spPr>
          <a:xfrm>
            <a:off x="6687921" y="766064"/>
            <a:ext cx="1953158" cy="227888"/>
          </a:xfrm>
          <a:prstGeom prst="rect">
            <a:avLst/>
          </a:prstGeom>
        </p:spPr>
        <p:txBody>
          <a:bodyPr wrap="square" lIns="91440" tIns="45720" rIns="91440" bIns="45720">
            <a:noAutofit/>
          </a:bodyPr>
          <a:lstStyle/>
          <a:p>
            <a:r>
              <a:rPr lang="en-US" sz="980" b="1">
                <a:solidFill>
                  <a:srgbClr val="6FA8FF"/>
                </a:solidFill>
                <a:latin typeface="Calibri"/>
              </a:rPr>
              <a:t>Local</a:t>
            </a:r>
          </a:p>
        </p:txBody>
      </p:sp>
      <p:sp>
        <p:nvSpPr>
          <p:cNvPr id="7" name="t"/>
          <p:cNvSpPr txBox="1"/>
          <p:nvPr/>
        </p:nvSpPr>
        <p:spPr>
          <a:xfrm>
            <a:off x="457200" y="993952"/>
            <a:ext cx="8229600" cy="227888"/>
          </a:xfrm>
          <a:prstGeom prst="rect">
            <a:avLst/>
          </a:prstGeom>
          <a:solidFill>
            <a:srgbClr val="141B28"/>
          </a:solidFill>
        </p:spPr>
        <p:txBody>
          <a:bodyPr wrap="square" lIns="91440" tIns="45720" rIns="91440" bIns="45720">
            <a:noAutofit/>
          </a:bodyPr>
          <a:lstStyle/>
        </p:txBody>
      </p:sp>
      <p:sp>
        <p:nvSpPr>
          <p:cNvPr id="8" name="t"/>
          <p:cNvSpPr txBox="1"/>
          <p:nvPr/>
        </p:nvSpPr>
        <p:spPr>
          <a:xfrm>
            <a:off x="502920" y="993952"/>
            <a:ext cx="1627632" cy="227888"/>
          </a:xfrm>
          <a:prstGeom prst="rect">
            <a:avLst/>
          </a:prstGeom>
        </p:spPr>
        <p:txBody>
          <a:bodyPr wrap="square" lIns="91440" tIns="45720" rIns="91440" bIns="45720">
            <a:noAutofit/>
          </a:bodyPr>
          <a:lstStyle/>
          <a:p>
            <a:r>
              <a:rPr lang="en-US" sz="980" b="1">
                <a:solidFill>
                  <a:srgbClr val="E8EDF6"/>
                </a:solidFill>
                <a:latin typeface="Calibri"/>
              </a:rPr>
              <a:t>Where</a:t>
            </a:r>
          </a:p>
        </p:txBody>
      </p:sp>
      <p:sp>
        <p:nvSpPr>
          <p:cNvPr id="9" name="t"/>
          <p:cNvSpPr txBox="1"/>
          <p:nvPr/>
        </p:nvSpPr>
        <p:spPr>
          <a:xfrm>
            <a:off x="2130552" y="993952"/>
            <a:ext cx="2278684" cy="227888"/>
          </a:xfrm>
          <a:prstGeom prst="rect">
            <a:avLst/>
          </a:prstGeom>
        </p:spPr>
        <p:txBody>
          <a:bodyPr wrap="square" lIns="91440" tIns="45720" rIns="91440" bIns="45720">
            <a:noAutofit/>
          </a:bodyPr>
          <a:lstStyle/>
          <a:p>
            <a:r>
              <a:rPr lang="en-US" sz="980">
                <a:solidFill>
                  <a:srgbClr val="8FA0B8"/>
                </a:solidFill>
                <a:latin typeface="Calibri"/>
              </a:rPr>
              <a:t>anywhere</a:t>
            </a:r>
          </a:p>
        </p:txBody>
      </p:sp>
      <p:sp>
        <p:nvSpPr>
          <p:cNvPr id="10" name="t"/>
          <p:cNvSpPr txBox="1"/>
          <p:nvPr/>
        </p:nvSpPr>
        <p:spPr>
          <a:xfrm>
            <a:off x="4409236" y="993952"/>
            <a:ext cx="2278684" cy="227888"/>
          </a:xfrm>
          <a:prstGeom prst="rect">
            <a:avLst/>
          </a:prstGeom>
        </p:spPr>
        <p:txBody>
          <a:bodyPr wrap="square" lIns="91440" tIns="45720" rIns="91440" bIns="45720">
            <a:noAutofit/>
          </a:bodyPr>
          <a:lstStyle/>
          <a:p>
            <a:r>
              <a:rPr lang="en-US" sz="980">
                <a:solidFill>
                  <a:srgbClr val="8FA0B8"/>
                </a:solidFill>
                <a:latin typeface="Calibri"/>
              </a:rPr>
              <a:t>AWS only</a:t>
            </a:r>
          </a:p>
        </p:txBody>
      </p:sp>
      <p:sp>
        <p:nvSpPr>
          <p:cNvPr id="11" name="t"/>
          <p:cNvSpPr txBox="1"/>
          <p:nvPr/>
        </p:nvSpPr>
        <p:spPr>
          <a:xfrm>
            <a:off x="6687921" y="993952"/>
            <a:ext cx="1953158" cy="227888"/>
          </a:xfrm>
          <a:prstGeom prst="rect">
            <a:avLst/>
          </a:prstGeom>
        </p:spPr>
        <p:txBody>
          <a:bodyPr wrap="square" lIns="91440" tIns="45720" rIns="91440" bIns="45720">
            <a:noAutofit/>
          </a:bodyPr>
          <a:lstStyle/>
          <a:p>
            <a:r>
              <a:rPr lang="en-US" sz="980">
                <a:solidFill>
                  <a:srgbClr val="8FA0B8"/>
                </a:solidFill>
                <a:latin typeface="Calibri"/>
              </a:rPr>
              <a:t>in your process</a:t>
            </a:r>
          </a:p>
        </p:txBody>
      </p:sp>
      <p:sp>
        <p:nvSpPr>
          <p:cNvPr id="12" name="t"/>
          <p:cNvSpPr txBox="1"/>
          <p:nvPr/>
        </p:nvSpPr>
        <p:spPr>
          <a:xfrm>
            <a:off x="502920" y="1221840"/>
            <a:ext cx="1627632" cy="227888"/>
          </a:xfrm>
          <a:prstGeom prst="rect">
            <a:avLst/>
          </a:prstGeom>
        </p:spPr>
        <p:txBody>
          <a:bodyPr wrap="square" lIns="91440" tIns="45720" rIns="91440" bIns="45720">
            <a:noAutofit/>
          </a:bodyPr>
          <a:lstStyle/>
          <a:p>
            <a:r>
              <a:rPr lang="en-US" sz="980" b="1">
                <a:solidFill>
                  <a:srgbClr val="E8EDF6"/>
                </a:solidFill>
                <a:latin typeface="Calibri"/>
              </a:rPr>
              <a:t>Storage</a:t>
            </a:r>
          </a:p>
        </p:txBody>
      </p:sp>
      <p:sp>
        <p:nvSpPr>
          <p:cNvPr id="13" name="t"/>
          <p:cNvSpPr txBox="1"/>
          <p:nvPr/>
        </p:nvSpPr>
        <p:spPr>
          <a:xfrm>
            <a:off x="2130552" y="1221840"/>
            <a:ext cx="2278684" cy="227888"/>
          </a:xfrm>
          <a:prstGeom prst="rect">
            <a:avLst/>
          </a:prstGeom>
        </p:spPr>
        <p:txBody>
          <a:bodyPr wrap="square" lIns="91440" tIns="45720" rIns="91440" bIns="45720">
            <a:noAutofit/>
          </a:bodyPr>
          <a:lstStyle/>
          <a:p>
            <a:r>
              <a:rPr lang="en-US" sz="980">
                <a:solidFill>
                  <a:srgbClr val="8FA0B8"/>
                </a:solidFill>
                <a:latin typeface="Calibri"/>
              </a:rPr>
              <a:t>pluggable</a:t>
            </a:r>
          </a:p>
        </p:txBody>
      </p:sp>
      <p:sp>
        <p:nvSpPr>
          <p:cNvPr id="14" name="t"/>
          <p:cNvSpPr txBox="1"/>
          <p:nvPr/>
        </p:nvSpPr>
        <p:spPr>
          <a:xfrm>
            <a:off x="4409236" y="1221840"/>
            <a:ext cx="2278684" cy="227888"/>
          </a:xfrm>
          <a:prstGeom prst="rect">
            <a:avLst/>
          </a:prstGeom>
        </p:spPr>
        <p:txBody>
          <a:bodyPr wrap="square" lIns="91440" tIns="45720" rIns="91440" bIns="45720">
            <a:noAutofit/>
          </a:bodyPr>
          <a:lstStyle/>
          <a:p>
            <a:r>
              <a:rPr lang="en-US" sz="980">
                <a:solidFill>
                  <a:srgbClr val="8FA0B8"/>
                </a:solidFill>
                <a:latin typeface="Calibri"/>
              </a:rPr>
              <a:t>DDB + S3 + EFS</a:t>
            </a:r>
          </a:p>
        </p:txBody>
      </p:sp>
      <p:sp>
        <p:nvSpPr>
          <p:cNvPr id="15" name="t"/>
          <p:cNvSpPr txBox="1"/>
          <p:nvPr/>
        </p:nvSpPr>
        <p:spPr>
          <a:xfrm>
            <a:off x="6687921" y="1221840"/>
            <a:ext cx="1953158" cy="227888"/>
          </a:xfrm>
          <a:prstGeom prst="rect">
            <a:avLst/>
          </a:prstGeom>
        </p:spPr>
        <p:txBody>
          <a:bodyPr wrap="square" lIns="91440" tIns="45720" rIns="91440" bIns="45720">
            <a:noAutofit/>
          </a:bodyPr>
          <a:lstStyle/>
          <a:p>
            <a:r>
              <a:rPr lang="en-US" sz="980">
                <a:solidFill>
                  <a:srgbClr val="8FA0B8"/>
                </a:solidFill>
                <a:latin typeface="Calibri"/>
              </a:rPr>
              <a:t>a directory or :mem</a:t>
            </a:r>
          </a:p>
        </p:txBody>
      </p:sp>
      <p:sp>
        <p:nvSpPr>
          <p:cNvPr id="16" name="t"/>
          <p:cNvSpPr txBox="1"/>
          <p:nvPr/>
        </p:nvSpPr>
        <p:spPr>
          <a:xfrm>
            <a:off x="457200" y="1449728"/>
            <a:ext cx="8229600" cy="227888"/>
          </a:xfrm>
          <a:prstGeom prst="rect">
            <a:avLst/>
          </a:prstGeom>
          <a:solidFill>
            <a:srgbClr val="141B28"/>
          </a:solidFill>
        </p:spPr>
        <p:txBody>
          <a:bodyPr wrap="square" lIns="91440" tIns="45720" rIns="91440" bIns="45720">
            <a:noAutofit/>
          </a:bodyPr>
          <a:lstStyle/>
        </p:txBody>
      </p:sp>
      <p:sp>
        <p:nvSpPr>
          <p:cNvPr id="17" name="t"/>
          <p:cNvSpPr txBox="1"/>
          <p:nvPr/>
        </p:nvSpPr>
        <p:spPr>
          <a:xfrm>
            <a:off x="502920" y="1449728"/>
            <a:ext cx="1627632" cy="227888"/>
          </a:xfrm>
          <a:prstGeom prst="rect">
            <a:avLst/>
          </a:prstGeom>
        </p:spPr>
        <p:txBody>
          <a:bodyPr wrap="square" lIns="91440" tIns="45720" rIns="91440" bIns="45720">
            <a:noAutofit/>
          </a:bodyPr>
          <a:lstStyle/>
          <a:p>
            <a:r>
              <a:rPr lang="en-US" sz="980" b="1">
                <a:solidFill>
                  <a:srgbClr val="E8EDF6"/>
                </a:solidFill>
                <a:latin typeface="Calibri"/>
              </a:rPr>
              <a:t>Scale reads</a:t>
            </a:r>
          </a:p>
        </p:txBody>
      </p:sp>
      <p:sp>
        <p:nvSpPr>
          <p:cNvPr id="18" name="t"/>
          <p:cNvSpPr txBox="1"/>
          <p:nvPr/>
        </p:nvSpPr>
        <p:spPr>
          <a:xfrm>
            <a:off x="2130552" y="1449728"/>
            <a:ext cx="2278684" cy="227888"/>
          </a:xfrm>
          <a:prstGeom prst="rect">
            <a:avLst/>
          </a:prstGeom>
        </p:spPr>
        <p:txBody>
          <a:bodyPr wrap="square" lIns="91440" tIns="45720" rIns="91440" bIns="45720">
            <a:noAutofit/>
          </a:bodyPr>
          <a:lstStyle/>
          <a:p>
            <a:r>
              <a:rPr lang="en-US" sz="980">
                <a:solidFill>
                  <a:srgbClr val="8FA0B8"/>
                </a:solidFill>
                <a:latin typeface="Calibri"/>
              </a:rPr>
              <a:t>add peers</a:t>
            </a:r>
          </a:p>
        </p:txBody>
      </p:sp>
      <p:sp>
        <p:nvSpPr>
          <p:cNvPr id="19" name="t"/>
          <p:cNvSpPr txBox="1"/>
          <p:nvPr/>
        </p:nvSpPr>
        <p:spPr>
          <a:xfrm>
            <a:off x="4409236" y="1449728"/>
            <a:ext cx="2278684" cy="227888"/>
          </a:xfrm>
          <a:prstGeom prst="rect">
            <a:avLst/>
          </a:prstGeom>
        </p:spPr>
        <p:txBody>
          <a:bodyPr wrap="square" lIns="91440" tIns="45720" rIns="91440" bIns="45720">
            <a:noAutofit/>
          </a:bodyPr>
          <a:lstStyle/>
          <a:p>
            <a:r>
              <a:rPr lang="en-US" sz="980">
                <a:solidFill>
                  <a:srgbClr val="8FA0B8"/>
                </a:solidFill>
                <a:latin typeface="Calibri"/>
              </a:rPr>
              <a:t>add query groups</a:t>
            </a:r>
          </a:p>
        </p:txBody>
      </p:sp>
      <p:sp>
        <p:nvSpPr>
          <p:cNvPr id="20" name="t"/>
          <p:cNvSpPr txBox="1"/>
          <p:nvPr/>
        </p:nvSpPr>
        <p:spPr>
          <a:xfrm>
            <a:off x="6687921" y="1449728"/>
            <a:ext cx="1953158" cy="227888"/>
          </a:xfrm>
          <a:prstGeom prst="rect">
            <a:avLst/>
          </a:prstGeom>
        </p:spPr>
        <p:txBody>
          <a:bodyPr wrap="square" lIns="91440" tIns="45720" rIns="91440" bIns="45720">
            <a:noAutofit/>
          </a:bodyPr>
          <a:lstStyle/>
          <a:p>
            <a:r>
              <a:rPr lang="en-US" sz="980">
                <a:solidFill>
                  <a:srgbClr val="8FA0B8"/>
                </a:solidFill>
                <a:latin typeface="Calibri"/>
              </a:rPr>
              <a:t>no</a:t>
            </a:r>
          </a:p>
        </p:txBody>
      </p:sp>
      <p:sp>
        <p:nvSpPr>
          <p:cNvPr id="21" name="t"/>
          <p:cNvSpPr txBox="1"/>
          <p:nvPr/>
        </p:nvSpPr>
        <p:spPr>
          <a:xfrm>
            <a:off x="502920" y="1677616"/>
            <a:ext cx="1627632" cy="227888"/>
          </a:xfrm>
          <a:prstGeom prst="rect">
            <a:avLst/>
          </a:prstGeom>
        </p:spPr>
        <p:txBody>
          <a:bodyPr wrap="square" lIns="91440" tIns="45720" rIns="91440" bIns="45720">
            <a:noAutofit/>
          </a:bodyPr>
          <a:lstStyle/>
          <a:p>
            <a:r>
              <a:rPr lang="en-US" sz="980" b="1">
                <a:solidFill>
                  <a:srgbClr val="E8EDF6"/>
                </a:solidFill>
                <a:latin typeface="Calibri"/>
              </a:rPr>
              <a:t>Scale writes</a:t>
            </a:r>
          </a:p>
        </p:txBody>
      </p:sp>
      <p:sp>
        <p:nvSpPr>
          <p:cNvPr id="22" name="t"/>
          <p:cNvSpPr txBox="1"/>
          <p:nvPr/>
        </p:nvSpPr>
        <p:spPr>
          <a:xfrm>
            <a:off x="2130552" y="1677616"/>
            <a:ext cx="2278684" cy="227888"/>
          </a:xfrm>
          <a:prstGeom prst="rect">
            <a:avLst/>
          </a:prstGeom>
        </p:spPr>
        <p:txBody>
          <a:bodyPr wrap="square" lIns="91440" tIns="45720" rIns="91440" bIns="45720">
            <a:noAutofit/>
          </a:bodyPr>
          <a:lstStyle/>
          <a:p>
            <a:r>
              <a:rPr lang="en-US" sz="980">
                <a:solidFill>
                  <a:srgbClr val="8FA0B8"/>
                </a:solidFill>
                <a:latin typeface="Calibri"/>
              </a:rPr>
              <a:t>one transactor, vertical</a:t>
            </a:r>
          </a:p>
        </p:txBody>
      </p:sp>
      <p:sp>
        <p:nvSpPr>
          <p:cNvPr id="23" name="t"/>
          <p:cNvSpPr txBox="1"/>
          <p:nvPr/>
        </p:nvSpPr>
        <p:spPr>
          <a:xfrm>
            <a:off x="4409236" y="1677616"/>
            <a:ext cx="2278684" cy="227888"/>
          </a:xfrm>
          <a:prstGeom prst="rect">
            <a:avLst/>
          </a:prstGeom>
        </p:spPr>
        <p:txBody>
          <a:bodyPr wrap="square" lIns="91440" tIns="45720" rIns="91440" bIns="45720">
            <a:noAutofit/>
          </a:bodyPr>
          <a:lstStyle/>
          <a:p>
            <a:r>
              <a:rPr lang="en-US" sz="980">
                <a:solidFill>
                  <a:srgbClr val="8FA0B8"/>
                </a:solidFill>
                <a:latin typeface="Calibri"/>
              </a:rPr>
              <a:t>one preferred node, vertical</a:t>
            </a:r>
          </a:p>
        </p:txBody>
      </p:sp>
      <p:sp>
        <p:nvSpPr>
          <p:cNvPr id="24" name="t"/>
          <p:cNvSpPr txBox="1"/>
          <p:nvPr/>
        </p:nvSpPr>
        <p:spPr>
          <a:xfrm>
            <a:off x="6687921" y="1677616"/>
            <a:ext cx="1953158" cy="227888"/>
          </a:xfrm>
          <a:prstGeom prst="rect">
            <a:avLst/>
          </a:prstGeom>
        </p:spPr>
        <p:txBody>
          <a:bodyPr wrap="square" lIns="91440" tIns="45720" rIns="91440" bIns="45720">
            <a:noAutofit/>
          </a:bodyPr>
          <a:lstStyle/>
          <a:p>
            <a:r>
              <a:rPr lang="en-US" sz="980">
                <a:solidFill>
                  <a:srgbClr val="8FA0B8"/>
                </a:solidFill>
                <a:latin typeface="Calibri"/>
              </a:rPr>
              <a:t>no</a:t>
            </a:r>
          </a:p>
        </p:txBody>
      </p:sp>
      <p:sp>
        <p:nvSpPr>
          <p:cNvPr id="25" name="t"/>
          <p:cNvSpPr txBox="1"/>
          <p:nvPr/>
        </p:nvSpPr>
        <p:spPr>
          <a:xfrm>
            <a:off x="457200" y="1905504"/>
            <a:ext cx="8229600" cy="227888"/>
          </a:xfrm>
          <a:prstGeom prst="rect">
            <a:avLst/>
          </a:prstGeom>
          <a:solidFill>
            <a:srgbClr val="141B28"/>
          </a:solidFill>
        </p:spPr>
        <p:txBody>
          <a:bodyPr wrap="square" lIns="91440" tIns="45720" rIns="91440" bIns="45720">
            <a:noAutofit/>
          </a:bodyPr>
          <a:lstStyle/>
        </p:txBody>
      </p:sp>
      <p:sp>
        <p:nvSpPr>
          <p:cNvPr id="26" name="t"/>
          <p:cNvSpPr txBox="1"/>
          <p:nvPr/>
        </p:nvSpPr>
        <p:spPr>
          <a:xfrm>
            <a:off x="502920" y="1905504"/>
            <a:ext cx="1627632" cy="227888"/>
          </a:xfrm>
          <a:prstGeom prst="rect">
            <a:avLst/>
          </a:prstGeom>
        </p:spPr>
        <p:txBody>
          <a:bodyPr wrap="square" lIns="91440" tIns="45720" rIns="91440" bIns="45720">
            <a:noAutofit/>
          </a:bodyPr>
          <a:lstStyle/>
          <a:p>
            <a:r>
              <a:rPr lang="en-US" sz="980" b="1">
                <a:solidFill>
                  <a:srgbClr val="E8EDF6"/>
                </a:solidFill>
                <a:latin typeface="Calibri"/>
              </a:rPr>
              <a:t>Caches</a:t>
            </a:r>
          </a:p>
        </p:txBody>
      </p:sp>
      <p:sp>
        <p:nvSpPr>
          <p:cNvPr id="27" name="t"/>
          <p:cNvSpPr txBox="1"/>
          <p:nvPr/>
        </p:nvSpPr>
        <p:spPr>
          <a:xfrm>
            <a:off x="2130552" y="1905504"/>
            <a:ext cx="2278684" cy="227888"/>
          </a:xfrm>
          <a:prstGeom prst="rect">
            <a:avLst/>
          </a:prstGeom>
        </p:spPr>
        <p:txBody>
          <a:bodyPr wrap="square" lIns="91440" tIns="45720" rIns="91440" bIns="45720">
            <a:noAutofit/>
          </a:bodyPr>
          <a:lstStyle/>
          <a:p>
            <a:r>
              <a:rPr lang="en-US" sz="980">
                <a:solidFill>
                  <a:srgbClr val="8FA0B8"/>
                </a:solidFill>
                <a:latin typeface="Calibri"/>
              </a:rPr>
              <a:t>object + valcache + memcached</a:t>
            </a:r>
          </a:p>
        </p:txBody>
      </p:sp>
      <p:sp>
        <p:nvSpPr>
          <p:cNvPr id="28" name="t"/>
          <p:cNvSpPr txBox="1"/>
          <p:nvPr/>
        </p:nvSpPr>
        <p:spPr>
          <a:xfrm>
            <a:off x="4409236" y="1905504"/>
            <a:ext cx="2278684" cy="227888"/>
          </a:xfrm>
          <a:prstGeom prst="rect">
            <a:avLst/>
          </a:prstGeom>
        </p:spPr>
        <p:txBody>
          <a:bodyPr wrap="square" lIns="91440" tIns="45720" rIns="91440" bIns="45720">
            <a:noAutofit/>
          </a:bodyPr>
          <a:lstStyle/>
          <a:p>
            <a:r>
              <a:rPr lang="en-US" sz="980">
                <a:solidFill>
                  <a:srgbClr val="8FA0B8"/>
                </a:solidFill>
                <a:latin typeface="Calibri"/>
              </a:rPr>
              <a:t>object + valcache + EFS</a:t>
            </a:r>
          </a:p>
        </p:txBody>
      </p:sp>
      <p:sp>
        <p:nvSpPr>
          <p:cNvPr id="29" name="t"/>
          <p:cNvSpPr txBox="1"/>
          <p:nvPr/>
        </p:nvSpPr>
        <p:spPr>
          <a:xfrm>
            <a:off x="6687921" y="1905504"/>
            <a:ext cx="1953158" cy="227888"/>
          </a:xfrm>
          <a:prstGeom prst="rect">
            <a:avLst/>
          </a:prstGeom>
        </p:spPr>
        <p:txBody>
          <a:bodyPr wrap="square" lIns="91440" tIns="45720" rIns="91440" bIns="45720">
            <a:noAutofit/>
          </a:bodyPr>
          <a:lstStyle/>
          <a:p>
            <a:r>
              <a:rPr lang="en-US" sz="980">
                <a:solidFill>
                  <a:srgbClr val="8FA0B8"/>
                </a:solidFill>
                <a:latin typeface="Calibri"/>
              </a:rPr>
              <a:t>page cache</a:t>
            </a:r>
          </a:p>
        </p:txBody>
      </p:sp>
      <p:sp>
        <p:nvSpPr>
          <p:cNvPr id="30" name="t"/>
          <p:cNvSpPr txBox="1"/>
          <p:nvPr/>
        </p:nvSpPr>
        <p:spPr>
          <a:xfrm>
            <a:off x="502920" y="2133392"/>
            <a:ext cx="1627632" cy="227888"/>
          </a:xfrm>
          <a:prstGeom prst="rect">
            <a:avLst/>
          </a:prstGeom>
        </p:spPr>
        <p:txBody>
          <a:bodyPr wrap="square" lIns="91440" tIns="45720" rIns="91440" bIns="45720">
            <a:noAutofit/>
          </a:bodyPr>
          <a:lstStyle/>
          <a:p>
            <a:r>
              <a:rPr lang="en-US" sz="980" b="1">
                <a:solidFill>
                  <a:srgbClr val="E8EDF6"/>
                </a:solidFill>
                <a:latin typeface="Calibri"/>
              </a:rPr>
              <a:t>API</a:t>
            </a:r>
          </a:p>
        </p:txBody>
      </p:sp>
      <p:sp>
        <p:nvSpPr>
          <p:cNvPr id="31" name="t"/>
          <p:cNvSpPr txBox="1"/>
          <p:nvPr/>
        </p:nvSpPr>
        <p:spPr>
          <a:xfrm>
            <a:off x="2130552" y="2133392"/>
            <a:ext cx="2278684" cy="227888"/>
          </a:xfrm>
          <a:prstGeom prst="rect">
            <a:avLst/>
          </a:prstGeom>
        </p:spPr>
        <p:txBody>
          <a:bodyPr wrap="square" lIns="91440" tIns="45720" rIns="91440" bIns="45720">
            <a:noAutofit/>
          </a:bodyPr>
          <a:lstStyle/>
          <a:p>
            <a:r>
              <a:rPr lang="en-US" sz="980">
                <a:solidFill>
                  <a:srgbClr val="8FA0B8"/>
                </a:solidFill>
                <a:latin typeface="Calibri"/>
              </a:rPr>
              <a:t>Peer and Client</a:t>
            </a:r>
          </a:p>
        </p:txBody>
      </p:sp>
      <p:sp>
        <p:nvSpPr>
          <p:cNvPr id="32" name="t"/>
          <p:cNvSpPr txBox="1"/>
          <p:nvPr/>
        </p:nvSpPr>
        <p:spPr>
          <a:xfrm>
            <a:off x="4409236" y="2133392"/>
            <a:ext cx="2278684" cy="227888"/>
          </a:xfrm>
          <a:prstGeom prst="rect">
            <a:avLst/>
          </a:prstGeom>
        </p:spPr>
        <p:txBody>
          <a:bodyPr wrap="square" lIns="91440" tIns="45720" rIns="91440" bIns="45720">
            <a:noAutofit/>
          </a:bodyPr>
          <a:lstStyle/>
          <a:p>
            <a:r>
              <a:rPr lang="en-US" sz="980">
                <a:solidFill>
                  <a:srgbClr val="8FA0B8"/>
                </a:solidFill>
                <a:latin typeface="Calibri"/>
              </a:rPr>
              <a:t>Client, plus ions</a:t>
            </a:r>
          </a:p>
        </p:txBody>
      </p:sp>
      <p:sp>
        <p:nvSpPr>
          <p:cNvPr id="33" name="t"/>
          <p:cNvSpPr txBox="1"/>
          <p:nvPr/>
        </p:nvSpPr>
        <p:spPr>
          <a:xfrm>
            <a:off x="6687921" y="2133392"/>
            <a:ext cx="1953158" cy="227888"/>
          </a:xfrm>
          <a:prstGeom prst="rect">
            <a:avLst/>
          </a:prstGeom>
        </p:spPr>
        <p:txBody>
          <a:bodyPr wrap="square" lIns="91440" tIns="45720" rIns="91440" bIns="45720">
            <a:noAutofit/>
          </a:bodyPr>
          <a:lstStyle/>
          <a:p>
            <a:r>
              <a:rPr lang="en-US" sz="980">
                <a:solidFill>
                  <a:srgbClr val="8FA0B8"/>
                </a:solidFill>
                <a:latin typeface="Calibri"/>
              </a:rPr>
              <a:t>Client</a:t>
            </a:r>
          </a:p>
        </p:txBody>
      </p:sp>
      <p:sp>
        <p:nvSpPr>
          <p:cNvPr id="34" name="t"/>
          <p:cNvSpPr txBox="1"/>
          <p:nvPr/>
        </p:nvSpPr>
        <p:spPr>
          <a:xfrm>
            <a:off x="457200" y="2361280"/>
            <a:ext cx="8229600" cy="227888"/>
          </a:xfrm>
          <a:prstGeom prst="rect">
            <a:avLst/>
          </a:prstGeom>
          <a:solidFill>
            <a:srgbClr val="141B28"/>
          </a:solidFill>
        </p:spPr>
        <p:txBody>
          <a:bodyPr wrap="square" lIns="91440" tIns="45720" rIns="91440" bIns="45720">
            <a:noAutofit/>
          </a:bodyPr>
          <a:lstStyle/>
        </p:txBody>
      </p:sp>
      <p:sp>
        <p:nvSpPr>
          <p:cNvPr id="35" name="t"/>
          <p:cNvSpPr txBox="1"/>
          <p:nvPr/>
        </p:nvSpPr>
        <p:spPr>
          <a:xfrm>
            <a:off x="502920" y="2361280"/>
            <a:ext cx="1627632" cy="227888"/>
          </a:xfrm>
          <a:prstGeom prst="rect">
            <a:avLst/>
          </a:prstGeom>
        </p:spPr>
        <p:txBody>
          <a:bodyPr wrap="square" lIns="91440" tIns="45720" rIns="91440" bIns="45720">
            <a:noAutofit/>
          </a:bodyPr>
          <a:lstStyle/>
          <a:p>
            <a:r>
              <a:rPr lang="en-US" sz="980" b="1">
                <a:solidFill>
                  <a:srgbClr val="E8EDF6"/>
                </a:solidFill>
                <a:latin typeface="Calibri"/>
              </a:rPr>
              <a:t>Backup</a:t>
            </a:r>
          </a:p>
        </p:txBody>
      </p:sp>
      <p:sp>
        <p:nvSpPr>
          <p:cNvPr id="36" name="t"/>
          <p:cNvSpPr txBox="1"/>
          <p:nvPr/>
        </p:nvSpPr>
        <p:spPr>
          <a:xfrm>
            <a:off x="2130552" y="2361280"/>
            <a:ext cx="2278684" cy="227888"/>
          </a:xfrm>
          <a:prstGeom prst="rect">
            <a:avLst/>
          </a:prstGeom>
        </p:spPr>
        <p:txBody>
          <a:bodyPr wrap="square" lIns="91440" tIns="45720" rIns="91440" bIns="45720">
            <a:noAutofit/>
          </a:bodyPr>
          <a:lstStyle/>
          <a:p>
            <a:r>
              <a:rPr lang="en-US" sz="980">
                <a:solidFill>
                  <a:srgbClr val="8FA0B8"/>
                </a:solidFill>
                <a:latin typeface="Calibri"/>
              </a:rPr>
              <a:t>first class</a:t>
            </a:r>
          </a:p>
        </p:txBody>
      </p:sp>
      <p:sp>
        <p:nvSpPr>
          <p:cNvPr id="37" name="t"/>
          <p:cNvSpPr txBox="1"/>
          <p:nvPr/>
        </p:nvSpPr>
        <p:spPr>
          <a:xfrm>
            <a:off x="4409236" y="2361280"/>
            <a:ext cx="2278684" cy="227888"/>
          </a:xfrm>
          <a:prstGeom prst="rect">
            <a:avLst/>
          </a:prstGeom>
        </p:spPr>
        <p:txBody>
          <a:bodyPr wrap="square" lIns="91440" tIns="45720" rIns="91440" bIns="45720">
            <a:noAutofit/>
          </a:bodyPr>
          <a:lstStyle/>
          <a:p>
            <a:r>
              <a:rPr lang="en-US" sz="980">
                <a:solidFill>
                  <a:srgbClr val="8FA0B8"/>
                </a:solidFill>
                <a:latin typeface="Calibri"/>
              </a:rPr>
              <a:t>none</a:t>
            </a:r>
          </a:p>
        </p:txBody>
      </p:sp>
      <p:sp>
        <p:nvSpPr>
          <p:cNvPr id="38" name="t"/>
          <p:cNvSpPr txBox="1"/>
          <p:nvPr/>
        </p:nvSpPr>
        <p:spPr>
          <a:xfrm>
            <a:off x="6687921" y="2361280"/>
            <a:ext cx="1953158" cy="227888"/>
          </a:xfrm>
          <a:prstGeom prst="rect">
            <a:avLst/>
          </a:prstGeom>
        </p:spPr>
        <p:txBody>
          <a:bodyPr wrap="square" lIns="91440" tIns="45720" rIns="91440" bIns="45720">
            <a:noAutofit/>
          </a:bodyPr>
          <a:lstStyle/>
          <a:p>
            <a:r>
              <a:rPr lang="en-US" sz="980">
                <a:solidFill>
                  <a:srgbClr val="8FA0B8"/>
                </a:solidFill>
                <a:latin typeface="Calibri"/>
              </a:rPr>
              <a:t>copy the directory</a:t>
            </a:r>
          </a:p>
        </p:txBody>
      </p:sp>
      <p:sp>
        <p:nvSpPr>
          <p:cNvPr id="39" name="t"/>
          <p:cNvSpPr txBox="1"/>
          <p:nvPr/>
        </p:nvSpPr>
        <p:spPr>
          <a:xfrm>
            <a:off x="502920" y="2589168"/>
            <a:ext cx="1627632" cy="227888"/>
          </a:xfrm>
          <a:prstGeom prst="rect">
            <a:avLst/>
          </a:prstGeom>
        </p:spPr>
        <p:txBody>
          <a:bodyPr wrap="square" lIns="91440" tIns="45720" rIns="91440" bIns="45720">
            <a:noAutofit/>
          </a:bodyPr>
          <a:lstStyle/>
          <a:p>
            <a:r>
              <a:rPr lang="en-US" sz="980" b="1">
                <a:solidFill>
                  <a:srgbClr val="E8EDF6"/>
                </a:solidFill>
                <a:latin typeface="Calibri"/>
              </a:rPr>
              <a:t>Ops surface</a:t>
            </a:r>
          </a:p>
        </p:txBody>
      </p:sp>
      <p:sp>
        <p:nvSpPr>
          <p:cNvPr id="40" name="t"/>
          <p:cNvSpPr txBox="1"/>
          <p:nvPr/>
        </p:nvSpPr>
        <p:spPr>
          <a:xfrm>
            <a:off x="2130552" y="2589168"/>
            <a:ext cx="2278684" cy="227888"/>
          </a:xfrm>
          <a:prstGeom prst="rect">
            <a:avLst/>
          </a:prstGeom>
        </p:spPr>
        <p:txBody>
          <a:bodyPr wrap="square" lIns="91440" tIns="45720" rIns="91440" bIns="45720">
            <a:noAutofit/>
          </a:bodyPr>
          <a:lstStyle/>
          <a:p>
            <a:r>
              <a:rPr lang="en-US" sz="980">
                <a:solidFill>
                  <a:srgbClr val="8FA0B8"/>
                </a:solidFill>
                <a:latin typeface="Calibri"/>
              </a:rPr>
              <a:t>you run everything</a:t>
            </a:r>
          </a:p>
        </p:txBody>
      </p:sp>
      <p:sp>
        <p:nvSpPr>
          <p:cNvPr id="41" name="t"/>
          <p:cNvSpPr txBox="1"/>
          <p:nvPr/>
        </p:nvSpPr>
        <p:spPr>
          <a:xfrm>
            <a:off x="4409236" y="2589168"/>
            <a:ext cx="2278684" cy="227888"/>
          </a:xfrm>
          <a:prstGeom prst="rect">
            <a:avLst/>
          </a:prstGeom>
        </p:spPr>
        <p:txBody>
          <a:bodyPr wrap="square" lIns="91440" tIns="45720" rIns="91440" bIns="45720">
            <a:noAutofit/>
          </a:bodyPr>
          <a:lstStyle/>
          <a:p>
            <a:r>
              <a:rPr lang="en-US" sz="980">
                <a:solidFill>
                  <a:srgbClr val="8FA0B8"/>
                </a:solidFill>
                <a:latin typeface="Calibri"/>
              </a:rPr>
              <a:t>CloudFormation + CLI</a:t>
            </a:r>
          </a:p>
        </p:txBody>
      </p:sp>
      <p:sp>
        <p:nvSpPr>
          <p:cNvPr id="42" name="t"/>
          <p:cNvSpPr txBox="1"/>
          <p:nvPr/>
        </p:nvSpPr>
        <p:spPr>
          <a:xfrm>
            <a:off x="6687921" y="2589168"/>
            <a:ext cx="1953158" cy="227888"/>
          </a:xfrm>
          <a:prstGeom prst="rect">
            <a:avLst/>
          </a:prstGeom>
        </p:spPr>
        <p:txBody>
          <a:bodyPr wrap="square" lIns="91440" tIns="45720" rIns="91440" bIns="45720">
            <a:noAutofit/>
          </a:bodyPr>
          <a:lstStyle/>
          <a:p>
            <a:r>
              <a:rPr lang="en-US" sz="980">
                <a:solidFill>
                  <a:srgbClr val="8FA0B8"/>
                </a:solidFill>
                <a:latin typeface="Calibri"/>
              </a:rPr>
              <a:t>nothing</a:t>
            </a:r>
          </a:p>
        </p:txBody>
      </p:sp>
      <p:sp>
        <p:nvSpPr>
          <p:cNvPr id="43" name="t"/>
          <p:cNvSpPr txBox="1"/>
          <p:nvPr/>
        </p:nvSpPr>
        <p:spPr>
          <a:xfrm>
            <a:off x="502920" y="2981648"/>
            <a:ext cx="8138160" cy="341376"/>
          </a:xfrm>
          <a:prstGeom prst="rect">
            <a:avLst/>
          </a:prstGeom>
        </p:spPr>
        <p:txBody>
          <a:bodyPr wrap="square" lIns="91440" tIns="45720" rIns="91440" bIns="45720">
            <a:noAutofit/>
          </a:bodyPr>
          <a:lstStyle/>
          <a:p>
            <a:r>
              <a:rPr lang="en-US" sz="1050">
                <a:solidFill>
                  <a:srgbClr val="8FA0B8"/>
                </a:solidFill>
                <a:latin typeface="Calibri"/>
              </a:rPr>
              <a:t>Choose Pro for portability, storage choice, lowest read latency and real DR. Choose Cloud to stop running transactors and to deploy code next to the data. Choose Local for tests.</a:t>
            </a:r>
          </a:p>
        </p:txBody>
      </p:sp>
      <p:sp>
        <p:nvSpPr>
          <p:cNvPr id="44"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45"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Backup and restore</a:t>
            </a:r>
          </a:p>
        </p:txBody>
      </p:sp>
      <p:sp>
        <p:nvSpPr>
          <p:cNvPr id="3" name="t"/>
          <p:cNvSpPr txBox="1"/>
          <p:nvPr/>
        </p:nvSpPr>
        <p:spPr>
          <a:xfrm>
            <a:off x="502920" y="766064"/>
            <a:ext cx="8138160" cy="1093008"/>
          </a:xfrm>
          <a:prstGeom prst="roundRect">
            <a:avLst/>
          </a:prstGeom>
          <a:solidFill>
            <a:srgbClr val="141B28"/>
          </a:solidFill>
        </p:spPr>
        <p:txBody>
          <a:bodyPr wrap="square" lIns="91440" tIns="45720" rIns="91440" bIns="45720">
            <a:noAutofit/>
          </a:bodyPr>
          <a:lstStyle/>
          <a:p>
            <a:r>
              <a:rPr lang="en-US" sz="980">
                <a:solidFill>
                  <a:srgbClr val="7BD88F"/>
                </a:solidFill>
                <a:latin typeface="Courier New"/>
              </a:rPr>
              <a:t>bin/datomic -Xmx4g -Xms4g backup-db  &lt;db-uri&gt; &lt;backup-uri&gt;</a:t>
            </a:r>
          </a:p>
          <a:p>
            <a:r>
              <a:rPr lang="en-US" sz="980">
                <a:solidFill>
                  <a:srgbClr val="7BD88F"/>
                </a:solidFill>
                <a:latin typeface="Courier New"/>
              </a:rPr>
              <a:t>bin/datomic                list-backups &lt;backup-uri&gt;</a:t>
            </a:r>
          </a:p>
          <a:p>
            <a:r>
              <a:rPr lang="en-US" sz="980">
                <a:solidFill>
                  <a:srgbClr val="7BD88F"/>
                </a:solidFill>
                <a:latin typeface="Courier New"/>
              </a:rPr>
              <a:t>bin/datomic -Xmx4g -Xms4g verify-backup &lt;backup-uri&gt; &lt;read-all?&gt; &lt;t&gt;</a:t>
            </a:r>
          </a:p>
          <a:p>
            <a:r>
              <a:rPr lang="en-US" sz="980">
                <a:solidFill>
                  <a:srgbClr val="7BD88F"/>
                </a:solidFill>
                <a:latin typeface="Courier New"/>
              </a:rPr>
              <a:t>bin/datomic -Xmx4g -Xms4g restore-db &lt;backup-uri&gt; &lt;db-uri&gt; [t]</a:t>
            </a:r>
          </a:p>
          <a:p>
            <a:endParaRPr lang="en-US" sz="980"/>
          </a:p>
          <a:p>
            <a:r>
              <a:rPr lang="en-US" sz="980">
                <a:solidFill>
                  <a:srgbClr val="7BD88F"/>
                </a:solidFill>
                <a:latin typeface="Courier New"/>
              </a:rPr>
              <a:t># backup-uri is  file:/full/path   or   s3://bucket/prefix</a:t>
            </a:r>
          </a:p>
        </p:txBody>
      </p:sp>
      <p:sp>
        <p:nvSpPr>
          <p:cNvPr id="4" name="t"/>
          <p:cNvSpPr txBox="1"/>
          <p:nvPr/>
        </p:nvSpPr>
        <p:spPr>
          <a:xfrm>
            <a:off x="502920" y="2023664"/>
            <a:ext cx="8138160" cy="170688"/>
          </a:xfrm>
          <a:prstGeom prst="rect">
            <a:avLst/>
          </a:prstGeom>
        </p:spPr>
        <p:txBody>
          <a:bodyPr wrap="square" lIns="91440" tIns="45720" rIns="91440" bIns="45720">
            <a:noAutofit/>
          </a:bodyPr>
          <a:lstStyle/>
          <a:p>
            <a:r>
              <a:rPr lang="en-US" sz="1050">
                <a:solidFill>
                  <a:srgbClr val="E8EDF6"/>
                </a:solidFill>
                <a:latin typeface="Calibri"/>
              </a:rPr>
              <a:t>▸ A backup is a copy of the storage segments for ONE database — not a datom export</a:t>
            </a:r>
          </a:p>
        </p:txBody>
      </p:sp>
      <p:sp>
        <p:nvSpPr>
          <p:cNvPr id="5" name="t"/>
          <p:cNvSpPr txBox="1"/>
          <p:nvPr/>
        </p:nvSpPr>
        <p:spPr>
          <a:xfrm>
            <a:off x="502920" y="2194352"/>
            <a:ext cx="8138160" cy="170688"/>
          </a:xfrm>
          <a:prstGeom prst="rect">
            <a:avLst/>
          </a:prstGeom>
        </p:spPr>
        <p:txBody>
          <a:bodyPr wrap="square" lIns="91440" tIns="45720" rIns="91440" bIns="45720">
            <a:noAutofit/>
          </a:bodyPr>
          <a:lstStyle/>
          <a:p>
            <a:r>
              <a:rPr lang="en-US" sz="1050">
                <a:solidFill>
                  <a:srgbClr val="7BD88F"/>
                </a:solidFill>
                <a:latin typeface="Calibri"/>
              </a:rPr>
              <a:t>▸ Repeat backups to the same URI are differential: unchanged segments are skipped</a:t>
            </a:r>
          </a:p>
        </p:txBody>
      </p:sp>
      <p:sp>
        <p:nvSpPr>
          <p:cNvPr id="6" name="t"/>
          <p:cNvSpPr txBox="1"/>
          <p:nvPr/>
        </p:nvSpPr>
        <p:spPr>
          <a:xfrm>
            <a:off x="502920" y="2365040"/>
            <a:ext cx="8138160" cy="170688"/>
          </a:xfrm>
          <a:prstGeom prst="rect">
            <a:avLst/>
          </a:prstGeom>
        </p:spPr>
        <p:txBody>
          <a:bodyPr wrap="square" lIns="91440" tIns="45720" rIns="91440" bIns="45720">
            <a:noAutofit/>
          </a:bodyPr>
          <a:lstStyle/>
          <a:p>
            <a:r>
              <a:rPr lang="en-US" sz="1050">
                <a:solidFill>
                  <a:srgbClr val="FFC66D"/>
                </a:solidFill>
                <a:latin typeface="Calibri"/>
              </a:rPr>
              <a:t>▸ One database per backup URI. A second one fails with :backup/claim-failed.</a:t>
            </a:r>
          </a:p>
        </p:txBody>
      </p:sp>
      <p:sp>
        <p:nvSpPr>
          <p:cNvPr id="7" name="t"/>
          <p:cNvSpPr txBox="1"/>
          <p:nvPr/>
        </p:nvSpPr>
        <p:spPr>
          <a:xfrm>
            <a:off x="502920" y="2535728"/>
            <a:ext cx="8138160" cy="170688"/>
          </a:xfrm>
          <a:prstGeom prst="rect">
            <a:avLst/>
          </a:prstGeom>
        </p:spPr>
        <p:txBody>
          <a:bodyPr wrap="square" lIns="91440" tIns="45720" rIns="91440" bIns="45720">
            <a:noAutofit/>
          </a:bodyPr>
          <a:lstStyle/>
          <a:p>
            <a:r>
              <a:rPr lang="en-US" sz="1050">
                <a:solidFill>
                  <a:srgbClr val="F28FAD"/>
                </a:solidFill>
                <a:latin typeface="Calibri"/>
              </a:rPr>
              <a:t>▸ Backup runs live, with no downtime. RESTORE requires downtime.</a:t>
            </a:r>
          </a:p>
        </p:txBody>
      </p:sp>
      <p:sp>
        <p:nvSpPr>
          <p:cNvPr id="8" name="t"/>
          <p:cNvSpPr txBox="1"/>
          <p:nvPr/>
        </p:nvSpPr>
        <p:spPr>
          <a:xfrm>
            <a:off x="502920" y="2706416"/>
            <a:ext cx="8138160" cy="170688"/>
          </a:xfrm>
          <a:prstGeom prst="rect">
            <a:avLst/>
          </a:prstGeom>
        </p:spPr>
        <p:txBody>
          <a:bodyPr wrap="square" lIns="91440" tIns="45720" rIns="91440" bIns="45720">
            <a:noAutofit/>
          </a:bodyPr>
          <a:lstStyle/>
          <a:p>
            <a:r>
              <a:rPr lang="en-US" sz="1050">
                <a:solidFill>
                  <a:srgbClr val="E8EDF6"/>
                </a:solidFill>
                <a:latin typeface="Calibri"/>
              </a:rPr>
              <a:t>▸ Budget heap: at least the transactor's, or 500 MB per billion datoms, whichever is larger</a:t>
            </a:r>
          </a:p>
        </p:txBody>
      </p:sp>
      <p:sp>
        <p:nvSpPr>
          <p:cNvPr id="9"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0"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restore rules</a:t>
            </a:r>
          </a:p>
        </p:txBody>
      </p:sp>
      <p:sp>
        <p:nvSpPr>
          <p:cNvPr id="3" name="t"/>
          <p:cNvSpPr txBox="1"/>
          <p:nvPr/>
        </p:nvSpPr>
        <p:spPr>
          <a:xfrm>
            <a:off x="502920" y="766064"/>
            <a:ext cx="8138160" cy="186944"/>
          </a:xfrm>
          <a:prstGeom prst="rect">
            <a:avLst/>
          </a:prstGeom>
        </p:spPr>
        <p:txBody>
          <a:bodyPr wrap="square" lIns="91440" tIns="45720" rIns="91440" bIns="45720">
            <a:noAutofit/>
          </a:bodyPr>
          <a:lstStyle/>
          <a:p>
            <a:r>
              <a:rPr lang="en-US" sz="1150">
                <a:solidFill>
                  <a:srgbClr val="F28FAD"/>
                </a:solidFill>
                <a:latin typeface="Calibri"/>
              </a:rPr>
              <a:t>▸ Shut down all peers first</a:t>
            </a:r>
          </a:p>
        </p:txBody>
      </p:sp>
      <p:sp>
        <p:nvSpPr>
          <p:cNvPr id="4" name="t"/>
          <p:cNvSpPr txBox="1"/>
          <p:nvPr/>
        </p:nvSpPr>
        <p:spPr>
          <a:xfrm>
            <a:off x="502920" y="953008"/>
            <a:ext cx="8138160" cy="186944"/>
          </a:xfrm>
          <a:prstGeom prst="rect">
            <a:avLst/>
          </a:prstGeom>
        </p:spPr>
        <p:txBody>
          <a:bodyPr wrap="square" lIns="91440" tIns="45720" rIns="91440" bIns="45720">
            <a:noAutofit/>
          </a:bodyPr>
          <a:lstStyle/>
          <a:p>
            <a:r>
              <a:rPr lang="en-US" sz="1150">
                <a:solidFill>
                  <a:srgbClr val="FFC66D"/>
                </a:solidFill>
                <a:latin typeface="Calibri"/>
              </a:rPr>
              <a:t>▸ For dev storage the transactor must be RUNNING — storage lives inside it</a:t>
            </a:r>
          </a:p>
        </p:txBody>
      </p:sp>
      <p:sp>
        <p:nvSpPr>
          <p:cNvPr id="5" name="t"/>
          <p:cNvSpPr txBox="1"/>
          <p:nvPr/>
        </p:nvSpPr>
        <p:spPr>
          <a:xfrm>
            <a:off x="502920" y="1139952"/>
            <a:ext cx="8138160" cy="186944"/>
          </a:xfrm>
          <a:prstGeom prst="rect">
            <a:avLst/>
          </a:prstGeom>
        </p:spPr>
        <p:txBody>
          <a:bodyPr wrap="square" lIns="91440" tIns="45720" rIns="91440" bIns="45720">
            <a:noAutofit/>
          </a:bodyPr>
          <a:lstStyle/>
          <a:p>
            <a:r>
              <a:rPr lang="en-US" sz="1150">
                <a:solidFill>
                  <a:srgbClr val="FFC66D"/>
                </a:solidFill>
                <a:latin typeface="Calibri"/>
              </a:rPr>
              <a:t>▸ For every other storage the transactors must be SHUT DOWN</a:t>
            </a:r>
          </a:p>
        </p:txBody>
      </p:sp>
      <p:sp>
        <p:nvSpPr>
          <p:cNvPr id="6" name="t"/>
          <p:cNvSpPr txBox="1"/>
          <p:nvPr/>
        </p:nvSpPr>
        <p:spPr>
          <a:xfrm>
            <a:off x="502920" y="1326896"/>
            <a:ext cx="8138160" cy="186944"/>
          </a:xfrm>
          <a:prstGeom prst="rect">
            <a:avLst/>
          </a:prstGeom>
        </p:spPr>
        <p:txBody>
          <a:bodyPr wrap="square" lIns="91440" tIns="45720" rIns="91440" bIns="45720">
            <a:noAutofit/>
          </a:bodyPr>
          <a:lstStyle/>
          <a:p>
            <a:r>
              <a:rPr lang="en-US" sz="1150">
                <a:solidFill>
                  <a:srgbClr val="E8EDF6"/>
                </a:solidFill>
                <a:latin typeface="Calibri"/>
              </a:rPr>
              <a:t>▸ Restore defaults to the latest t; pass a t from list-backups to go back further</a:t>
            </a:r>
          </a:p>
        </p:txBody>
      </p:sp>
      <p:sp>
        <p:nvSpPr>
          <p:cNvPr id="7" name="t"/>
          <p:cNvSpPr txBox="1"/>
          <p:nvPr/>
        </p:nvSpPr>
        <p:spPr>
          <a:xfrm>
            <a:off x="502920" y="1513840"/>
            <a:ext cx="8138160" cy="373888"/>
          </a:xfrm>
          <a:prstGeom prst="rect">
            <a:avLst/>
          </a:prstGeom>
        </p:spPr>
        <p:txBody>
          <a:bodyPr wrap="square" lIns="91440" tIns="45720" rIns="91440" bIns="45720">
            <a:noAutofit/>
          </a:bodyPr>
          <a:lstStyle/>
          <a:p>
            <a:r>
              <a:rPr lang="en-US" sz="1150">
                <a:solidFill>
                  <a:srgbClr val="E8EDF6"/>
                </a:solidFill>
                <a:latin typeface="Calibri"/>
              </a:rPr>
              <a:t>▸ You may restore into a URI holding another point in time of the SAME database. You may not restore over a different database.</a:t>
            </a:r>
          </a:p>
        </p:txBody>
      </p:sp>
      <p:sp>
        <p:nvSpPr>
          <p:cNvPr id="8" name="t"/>
          <p:cNvSpPr txBox="1"/>
          <p:nvPr/>
        </p:nvSpPr>
        <p:spPr>
          <a:xfrm>
            <a:off x="502920" y="1887728"/>
            <a:ext cx="8138160" cy="186944"/>
          </a:xfrm>
          <a:prstGeom prst="rect">
            <a:avLst/>
          </a:prstGeom>
        </p:spPr>
        <p:txBody>
          <a:bodyPr wrap="square" lIns="91440" tIns="45720" rIns="91440" bIns="45720">
            <a:noAutofit/>
          </a:bodyPr>
          <a:lstStyle/>
          <a:p>
            <a:r>
              <a:rPr lang="en-US" sz="1150">
                <a:solidFill>
                  <a:srgbClr val="F28FAD"/>
                </a:solidFill>
                <a:latin typeface="Calibri"/>
              </a:rPr>
              <a:t>▸ You cannot restore one database to two URIs in the same storage — so backup/restore is not a cloning tool</a:t>
            </a:r>
          </a:p>
        </p:txBody>
      </p:sp>
      <p:sp>
        <p:nvSpPr>
          <p:cNvPr id="9" name="t"/>
          <p:cNvSpPr txBox="1"/>
          <p:nvPr/>
        </p:nvSpPr>
        <p:spPr>
          <a:xfrm>
            <a:off x="502920" y="2239264"/>
            <a:ext cx="45720" cy="270256"/>
          </a:xfrm>
          <a:prstGeom prst="rect">
            <a:avLst/>
          </a:prstGeom>
          <a:solidFill>
            <a:srgbClr val="6A7891"/>
          </a:solidFill>
        </p:spPr>
        <p:txBody>
          <a:bodyPr wrap="square" lIns="91440" tIns="45720" rIns="91440" bIns="45720">
            <a:noAutofit/>
          </a:bodyPr>
          <a:lstStyle/>
        </p:txBody>
      </p:sp>
      <p:sp>
        <p:nvSpPr>
          <p:cNvPr id="10" name="t"/>
          <p:cNvSpPr txBox="1"/>
          <p:nvPr/>
        </p:nvSpPr>
        <p:spPr>
          <a:xfrm>
            <a:off x="594360" y="2239264"/>
            <a:ext cx="8046720" cy="270256"/>
          </a:xfrm>
          <a:prstGeom prst="rect">
            <a:avLst/>
          </a:prstGeom>
        </p:spPr>
        <p:txBody>
          <a:bodyPr wrap="square" lIns="91440" tIns="45720" rIns="91440" bIns="45720">
            <a:noAutofit/>
          </a:bodyPr>
          <a:lstStyle/>
          <a:p>
            <a:r>
              <a:rPr lang="en-US" sz="1100">
                <a:solidFill>
                  <a:srgbClr val="E8EDF6"/>
                </a:solidFill>
                <a:latin typeface="Calibri"/>
              </a:rPr>
              <a:t>●  Backup and restore do not work with datomic:mem://. There is nothing to copy.</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182880"/>
          </a:xfrm>
          <a:prstGeom prst="rect">
            <a:avLst/>
          </a:prstGeom>
        </p:spPr>
        <p:txBody>
          <a:bodyPr wrap="square" lIns="91440" tIns="45720" rIns="91440" bIns="45720">
            <a:noAutofit/>
          </a:bodyPr>
          <a:lstStyle/>
          <a:p>
            <a:r>
              <a:rPr lang="en-US" sz="900" b="1">
                <a:solidFill>
                  <a:srgbClr val="6FA8FF"/>
                </a:solidFill>
                <a:latin typeface="Calibri"/>
              </a:rPr>
              <a:t>◆ LAB</a:t>
            </a:r>
          </a:p>
        </p:txBody>
      </p:sp>
      <p:sp>
        <p:nvSpPr>
          <p:cNvPr id="3" name="t"/>
          <p:cNvSpPr txBox="1"/>
          <p:nvPr/>
        </p:nvSpPr>
        <p:spPr>
          <a:xfrm>
            <a:off x="502920" y="525780"/>
            <a:ext cx="8138160" cy="308864"/>
          </a:xfrm>
          <a:prstGeom prst="rect">
            <a:avLst/>
          </a:prstGeom>
        </p:spPr>
        <p:txBody>
          <a:bodyPr wrap="square" lIns="91440" tIns="45720" rIns="91440" bIns="45720">
            <a:noAutofit/>
          </a:bodyPr>
          <a:lstStyle/>
          <a:p>
            <a:r>
              <a:rPr lang="en-US" sz="1900" b="1">
                <a:solidFill>
                  <a:srgbClr val="E8EDF6"/>
                </a:solidFill>
                <a:latin typeface="Arial"/>
              </a:rPr>
              <a:t>Back up, delete, restore — the real drill</a:t>
            </a:r>
          </a:p>
        </p:txBody>
      </p:sp>
      <p:sp>
        <p:nvSpPr>
          <p:cNvPr id="4" name="t"/>
          <p:cNvSpPr txBox="1"/>
          <p:nvPr/>
        </p:nvSpPr>
        <p:spPr>
          <a:xfrm>
            <a:off x="502920" y="971804"/>
            <a:ext cx="8138160" cy="2139888"/>
          </a:xfrm>
          <a:prstGeom prst="roundRect">
            <a:avLst/>
          </a:prstGeom>
          <a:solidFill>
            <a:srgbClr val="141B28"/>
          </a:solidFill>
        </p:spPr>
        <p:txBody>
          <a:bodyPr wrap="square" lIns="91440" tIns="45720" rIns="91440" bIns="45720">
            <a:noAutofit/>
          </a:bodyPr>
          <a:lstStyle/>
          <a:p>
            <a:r>
              <a:rPr lang="en-US" sz="880">
                <a:solidFill>
                  <a:srgbClr val="7BD88F"/>
                </a:solidFill>
                <a:latin typeface="Courier New"/>
              </a:rPr>
              <a:t># 1. back up the database you built in session 1</a:t>
            </a:r>
          </a:p>
          <a:p>
            <a:r>
              <a:rPr lang="en-US" sz="880">
                <a:solidFill>
                  <a:srgbClr val="7BD88F"/>
                </a:solidFill>
                <a:latin typeface="Courier New"/>
              </a:rPr>
              <a:t>bin/datomic -Xmx2g backup-db \</a:t>
            </a:r>
          </a:p>
          <a:p>
            <a:r>
              <a:rPr lang="en-US" sz="880">
                <a:solidFill>
                  <a:srgbClr val="7BD88F"/>
                </a:solidFill>
                <a:latin typeface="Courier New"/>
              </a:rPr>
              <a:t>  "datomic:sql://inventory?jdbc:postgresql://localhost:5432/datomic?user=datomic&amp;password=datomic" \</a:t>
            </a:r>
          </a:p>
          <a:p>
            <a:r>
              <a:rPr lang="en-US" sz="880">
                <a:solidFill>
                  <a:srgbClr val="7BD88F"/>
                </a:solidFill>
                <a:latin typeface="Courier New"/>
              </a:rPr>
              <a:t>  file:/tmp/inv-backup            # =&gt; Copied 46 segments, skipped 0</a:t>
            </a:r>
          </a:p>
          <a:p>
            <a:endParaRPr lang="en-US" sz="880"/>
          </a:p>
          <a:p>
            <a:r>
              <a:rPr lang="en-US" sz="880">
                <a:solidFill>
                  <a:srgbClr val="7BD88F"/>
                </a:solidFill>
                <a:latin typeface="Courier New"/>
              </a:rPr>
              <a:t># 2. transact more, back up again — differential</a:t>
            </a:r>
          </a:p>
          <a:p>
            <a:r>
              <a:rPr lang="en-US" sz="880">
                <a:solidFill>
                  <a:srgbClr val="7BD88F"/>
                </a:solidFill>
                <a:latin typeface="Courier New"/>
              </a:rPr>
              <a:t>bin/datomic list-backups file:/tmp/inv-backup   # =&gt; (6002 1001)</a:t>
            </a:r>
          </a:p>
          <a:p>
            <a:endParaRPr lang="en-US" sz="880"/>
          </a:p>
          <a:p>
            <a:r>
              <a:rPr lang="en-US" sz="880">
                <a:solidFill>
                  <a:srgbClr val="7BD88F"/>
                </a:solidFill>
                <a:latin typeface="Courier New"/>
              </a:rPr>
              <a:t># 3. the disaster: (d/delete-database uri) =&gt; true</a:t>
            </a:r>
          </a:p>
          <a:p>
            <a:r>
              <a:rPr lang="en-US" sz="880">
                <a:solidFill>
                  <a:srgbClr val="7BD88F"/>
                </a:solidFill>
                <a:latin typeface="Courier New"/>
              </a:rPr>
              <a:t># 4. stop the transactor  (SQL storage: transactors must be DOWN)</a:t>
            </a:r>
          </a:p>
          <a:p>
            <a:r>
              <a:rPr lang="en-US" sz="880">
                <a:solidFill>
                  <a:srgbClr val="7BD88F"/>
                </a:solidFill>
                <a:latin typeface="Courier New"/>
              </a:rPr>
              <a:t># 5. restore under the SAME name</a:t>
            </a:r>
          </a:p>
          <a:p>
            <a:r>
              <a:rPr lang="en-US" sz="880">
                <a:solidFill>
                  <a:srgbClr val="7BD88F"/>
                </a:solidFill>
                <a:latin typeface="Courier New"/>
              </a:rPr>
              <a:t>bin/datomic -Xmx2g restore-db file:/tmp/inv-backup \</a:t>
            </a:r>
          </a:p>
          <a:p>
            <a:r>
              <a:rPr lang="en-US" sz="880">
                <a:solidFill>
                  <a:srgbClr val="7BD88F"/>
                </a:solidFill>
                <a:latin typeface="Courier New"/>
              </a:rPr>
              <a:t>  "datomic:sql://inventory?jdbc:postgresql://..."</a:t>
            </a:r>
          </a:p>
          <a:p>
            <a:r>
              <a:rPr lang="en-US" sz="880">
                <a:solidFill>
                  <a:srgbClr val="7BD88F"/>
                </a:solidFill>
                <a:latin typeface="Courier New"/>
              </a:rPr>
              <a:t># 6. restart the transactor, reconnect, count your data</a:t>
            </a:r>
          </a:p>
        </p:txBody>
      </p:sp>
      <p:sp>
        <p:nvSpPr>
          <p:cNvPr id="5" name="t"/>
          <p:cNvSpPr txBox="1"/>
          <p:nvPr/>
        </p:nvSpPr>
        <p:spPr>
          <a:xfrm>
            <a:off x="502920" y="3230564"/>
            <a:ext cx="45720" cy="449072"/>
          </a:xfrm>
          <a:prstGeom prst="rect">
            <a:avLst/>
          </a:prstGeom>
          <a:solidFill>
            <a:srgbClr val="F28FAD"/>
          </a:solidFill>
        </p:spPr>
        <p:txBody>
          <a:bodyPr wrap="square" lIns="91440" tIns="45720" rIns="91440" bIns="45720">
            <a:noAutofit/>
          </a:bodyPr>
          <a:lstStyle/>
        </p:txBody>
      </p:sp>
      <p:sp>
        <p:nvSpPr>
          <p:cNvPr id="6" name="t"/>
          <p:cNvSpPr txBox="1"/>
          <p:nvPr/>
        </p:nvSpPr>
        <p:spPr>
          <a:xfrm>
            <a:off x="594360" y="3230564"/>
            <a:ext cx="8046720" cy="449072"/>
          </a:xfrm>
          <a:prstGeom prst="rect">
            <a:avLst/>
          </a:prstGeom>
        </p:spPr>
        <p:txBody>
          <a:bodyPr wrap="square" lIns="91440" tIns="45720" rIns="91440" bIns="45720">
            <a:noAutofit/>
          </a:bodyPr>
          <a:lstStyle/>
          <a:p>
            <a:r>
              <a:rPr lang="en-US" sz="1100">
                <a:solidFill>
                  <a:srgbClr val="E8EDF6"/>
                </a:solidFill>
                <a:latin typeface="Calibri"/>
              </a:rPr>
              <a:t>⚠  Restoring into a second name in the same storage FAILS with :restore/collision — the database already exists under the name 'inventory'. Backup/restore is disaster recovery, not cloning.</a:t>
            </a:r>
          </a:p>
        </p:txBody>
      </p:sp>
      <p:sp>
        <p:nvSpPr>
          <p:cNvPr id="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79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Moving a database between storages</a:t>
            </a:r>
          </a:p>
        </p:txBody>
      </p:sp>
      <p:sp>
        <p:nvSpPr>
          <p:cNvPr id="3" name="t"/>
          <p:cNvSpPr txBox="1"/>
          <p:nvPr/>
        </p:nvSpPr>
        <p:spPr>
          <a:xfrm>
            <a:off x="502920" y="766064"/>
            <a:ext cx="1760220" cy="457200"/>
          </a:xfrm>
          <a:prstGeom prst="roundRect">
            <a:avLst/>
          </a:prstGeom>
          <a:solidFill>
            <a:srgbClr val="6FA8FF"/>
          </a:solidFill>
        </p:spPr>
        <p:txBody>
          <a:bodyPr wrap="square" lIns="91440" tIns="45720" rIns="91440" bIns="45720">
            <a:noAutofit/>
          </a:bodyPr>
          <a:lstStyle/>
          <a:p>
            <a:pPr algn="ctr"/>
            <a:r>
              <a:rPr lang="en-US" sz="1000" b="1">
                <a:solidFill>
                  <a:srgbClr val="0F1420"/>
                </a:solidFill>
                <a:latin typeface="Calibri"/>
              </a:rPr>
              <a:t>backup-db</a:t>
            </a:r>
          </a:p>
        </p:txBody>
      </p:sp>
      <p:sp>
        <p:nvSpPr>
          <p:cNvPr id="4" name="t"/>
          <p:cNvSpPr txBox="1"/>
          <p:nvPr/>
        </p:nvSpPr>
        <p:spPr>
          <a:xfrm>
            <a:off x="2354580" y="88036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5" name="t"/>
          <p:cNvSpPr txBox="1"/>
          <p:nvPr/>
        </p:nvSpPr>
        <p:spPr>
          <a:xfrm>
            <a:off x="2628900" y="766064"/>
            <a:ext cx="1760220" cy="457200"/>
          </a:xfrm>
          <a:prstGeom prst="roundRect">
            <a:avLst/>
          </a:prstGeom>
          <a:solidFill>
            <a:srgbClr val="FFC66D"/>
          </a:solidFill>
        </p:spPr>
        <p:txBody>
          <a:bodyPr wrap="square" lIns="91440" tIns="45720" rIns="91440" bIns="45720">
            <a:noAutofit/>
          </a:bodyPr>
          <a:lstStyle/>
          <a:p>
            <a:pPr algn="ctr"/>
            <a:r>
              <a:rPr lang="en-US" sz="1000" b="1">
                <a:solidFill>
                  <a:srgbClr val="0F1420"/>
                </a:solidFill>
                <a:latin typeface="Calibri"/>
              </a:rPr>
              <a:t>stand up new storage</a:t>
            </a:r>
          </a:p>
        </p:txBody>
      </p:sp>
      <p:sp>
        <p:nvSpPr>
          <p:cNvPr id="6" name="t"/>
          <p:cNvSpPr txBox="1"/>
          <p:nvPr/>
        </p:nvSpPr>
        <p:spPr>
          <a:xfrm>
            <a:off x="4480560" y="88036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7" name="t"/>
          <p:cNvSpPr txBox="1"/>
          <p:nvPr/>
        </p:nvSpPr>
        <p:spPr>
          <a:xfrm>
            <a:off x="4754880" y="766064"/>
            <a:ext cx="1760220" cy="457200"/>
          </a:xfrm>
          <a:prstGeom prst="roundRect">
            <a:avLst/>
          </a:prstGeom>
          <a:solidFill>
            <a:srgbClr val="6FA8FF"/>
          </a:solidFill>
        </p:spPr>
        <p:txBody>
          <a:bodyPr wrap="square" lIns="91440" tIns="45720" rIns="91440" bIns="45720">
            <a:noAutofit/>
          </a:bodyPr>
          <a:lstStyle/>
          <a:p>
            <a:pPr algn="ctr"/>
            <a:r>
              <a:rPr lang="en-US" sz="1000" b="1">
                <a:solidFill>
                  <a:srgbClr val="0F1420"/>
                </a:solidFill>
                <a:latin typeface="Calibri"/>
              </a:rPr>
              <a:t>restore-db</a:t>
            </a:r>
          </a:p>
        </p:txBody>
      </p:sp>
      <p:sp>
        <p:nvSpPr>
          <p:cNvPr id="8" name="t"/>
          <p:cNvSpPr txBox="1"/>
          <p:nvPr/>
        </p:nvSpPr>
        <p:spPr>
          <a:xfrm>
            <a:off x="6606540" y="880364"/>
            <a:ext cx="274320" cy="228600"/>
          </a:xfrm>
          <a:prstGeom prst="rect">
            <a:avLst/>
          </a:prstGeom>
        </p:spPr>
        <p:txBody>
          <a:bodyPr wrap="square" lIns="91440" tIns="45720" rIns="91440" bIns="45720">
            <a:noAutofit/>
          </a:bodyPr>
          <a:lstStyle/>
          <a:p>
            <a:pPr algn="ctr"/>
            <a:r>
              <a:rPr lang="en-US" sz="1400">
                <a:solidFill>
                  <a:srgbClr val="6A7891"/>
                </a:solidFill>
                <a:latin typeface="Calibri"/>
              </a:rPr>
              <a:t>→</a:t>
            </a:r>
          </a:p>
        </p:txBody>
      </p:sp>
      <p:sp>
        <p:nvSpPr>
          <p:cNvPr id="9" name="t"/>
          <p:cNvSpPr txBox="1"/>
          <p:nvPr/>
        </p:nvSpPr>
        <p:spPr>
          <a:xfrm>
            <a:off x="6880860" y="766064"/>
            <a:ext cx="1760220" cy="457200"/>
          </a:xfrm>
          <a:prstGeom prst="roundRect">
            <a:avLst/>
          </a:prstGeom>
          <a:solidFill>
            <a:srgbClr val="7BD88F"/>
          </a:solidFill>
        </p:spPr>
        <p:txBody>
          <a:bodyPr wrap="square" lIns="91440" tIns="45720" rIns="91440" bIns="45720">
            <a:noAutofit/>
          </a:bodyPr>
          <a:lstStyle/>
          <a:p>
            <a:pPr algn="ctr"/>
            <a:r>
              <a:rPr lang="en-US" sz="1000" b="1">
                <a:solidFill>
                  <a:srgbClr val="0F1420"/>
                </a:solidFill>
                <a:latin typeface="Calibri"/>
              </a:rPr>
              <a:t>repoint peers</a:t>
            </a:r>
          </a:p>
        </p:txBody>
      </p:sp>
      <p:sp>
        <p:nvSpPr>
          <p:cNvPr id="10" name="t"/>
          <p:cNvSpPr txBox="1"/>
          <p:nvPr/>
        </p:nvSpPr>
        <p:spPr>
          <a:xfrm>
            <a:off x="502920" y="1433576"/>
            <a:ext cx="8138160" cy="357632"/>
          </a:xfrm>
          <a:prstGeom prst="rect">
            <a:avLst/>
          </a:prstGeom>
        </p:spPr>
        <p:txBody>
          <a:bodyPr wrap="square" lIns="91440" tIns="45720" rIns="91440" bIns="45720">
            <a:noAutofit/>
          </a:bodyPr>
          <a:lstStyle/>
          <a:p>
            <a:r>
              <a:rPr lang="en-US" sz="1100">
                <a:solidFill>
                  <a:srgbClr val="E8EDF6"/>
                </a:solidFill>
                <a:latin typeface="Calibri"/>
              </a:rPr>
              <a:t>▸ This is the only supported migration path — and it is the same procedure as disaster recovery, which is why practising one practises the other</a:t>
            </a:r>
          </a:p>
        </p:txBody>
      </p:sp>
      <p:sp>
        <p:nvSpPr>
          <p:cNvPr id="11" name="t"/>
          <p:cNvSpPr txBox="1"/>
          <p:nvPr/>
        </p:nvSpPr>
        <p:spPr>
          <a:xfrm>
            <a:off x="502920" y="1791208"/>
            <a:ext cx="8138160" cy="178816"/>
          </a:xfrm>
          <a:prstGeom prst="rect">
            <a:avLst/>
          </a:prstGeom>
        </p:spPr>
        <p:txBody>
          <a:bodyPr wrap="square" lIns="91440" tIns="45720" rIns="91440" bIns="45720">
            <a:noAutofit/>
          </a:bodyPr>
          <a:lstStyle/>
          <a:p>
            <a:r>
              <a:rPr lang="en-US" sz="1100">
                <a:solidFill>
                  <a:srgbClr val="E8EDF6"/>
                </a:solidFill>
                <a:latin typeface="Calibri"/>
              </a:rPr>
              <a:t>▸ Restoring into empty storage uses the least space</a:t>
            </a:r>
          </a:p>
        </p:txBody>
      </p:sp>
      <p:sp>
        <p:nvSpPr>
          <p:cNvPr id="12" name="t"/>
          <p:cNvSpPr txBox="1"/>
          <p:nvPr/>
        </p:nvSpPr>
        <p:spPr>
          <a:xfrm>
            <a:off x="502920" y="1970024"/>
            <a:ext cx="8138160" cy="178816"/>
          </a:xfrm>
          <a:prstGeom prst="rect">
            <a:avLst/>
          </a:prstGeom>
        </p:spPr>
        <p:txBody>
          <a:bodyPr wrap="square" lIns="91440" tIns="45720" rIns="91440" bIns="45720">
            <a:noAutofit/>
          </a:bodyPr>
          <a:lstStyle/>
          <a:p>
            <a:r>
              <a:rPr lang="en-US" sz="1100">
                <a:solidFill>
                  <a:srgbClr val="E8EDF6"/>
                </a:solidFill>
                <a:latin typeface="Calibri"/>
              </a:rPr>
              <a:t>▸ It also handles Cassandra generation upgrades: cass to cass2 to cass3 are different storages</a:t>
            </a:r>
          </a:p>
        </p:txBody>
      </p:sp>
      <p:sp>
        <p:nvSpPr>
          <p:cNvPr id="13" name="t"/>
          <p:cNvSpPr txBox="1"/>
          <p:nvPr/>
        </p:nvSpPr>
        <p:spPr>
          <a:xfrm>
            <a:off x="502920" y="2148840"/>
            <a:ext cx="8138160" cy="357632"/>
          </a:xfrm>
          <a:prstGeom prst="rect">
            <a:avLst/>
          </a:prstGeom>
        </p:spPr>
        <p:txBody>
          <a:bodyPr wrap="square" lIns="91440" tIns="45720" rIns="91440" bIns="45720">
            <a:noAutofit/>
          </a:bodyPr>
          <a:lstStyle/>
          <a:p>
            <a:r>
              <a:rPr lang="en-US" sz="1100">
                <a:solidFill>
                  <a:srgbClr val="7BD88F"/>
                </a:solidFill>
                <a:latin typeface="Calibri"/>
              </a:rPr>
              <a:t>▸ Performance trick: restore consumes far less write capacity than replaying transactions. Import on cheap storage, then backup and restore into the metered one.</a:t>
            </a:r>
          </a:p>
        </p:txBody>
      </p:sp>
      <p:sp>
        <p:nvSpPr>
          <p:cNvPr id="14"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5"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Two garbage collections</a:t>
            </a:r>
          </a:p>
        </p:txBody>
      </p:sp>
      <p:sp>
        <p:nvSpPr>
          <p:cNvPr id="3" name="t"/>
          <p:cNvSpPr txBox="1"/>
          <p:nvPr/>
        </p:nvSpPr>
        <p:spPr>
          <a:xfrm>
            <a:off x="502920" y="766064"/>
            <a:ext cx="4000500" cy="1564431"/>
          </a:xfrm>
          <a:prstGeom prst="roundRect">
            <a:avLst/>
          </a:prstGeom>
          <a:solidFill>
            <a:srgbClr val="18202F"/>
          </a:solidFill>
        </p:spPr>
        <p:txBody>
          <a:bodyPr wrap="square" lIns="91440" tIns="45720" rIns="91440" bIns="45720">
            <a:noAutofit/>
          </a:bodyPr>
          <a:lstStyle/>
          <a:p>
            <a:r>
              <a:rPr lang="en-US" sz="1200" b="1">
                <a:solidFill>
                  <a:srgbClr val="6FA8FF"/>
                </a:solidFill>
                <a:latin typeface="Calibri"/>
              </a:rPr>
              <a:t>gc-storage</a:t>
            </a:r>
          </a:p>
          <a:p>
            <a:endParaRPr lang="en-US" sz="500"/>
          </a:p>
          <a:p>
            <a:r>
              <a:rPr lang="en-US" sz="980">
                <a:solidFill>
                  <a:srgbClr val="E8EDF6"/>
                </a:solidFill>
                <a:latin typeface="Calibri"/>
              </a:rPr>
              <a:t>Reclaims superseded index segments</a:t>
            </a:r>
          </a:p>
          <a:p>
            <a:r>
              <a:rPr lang="en-US" sz="980">
                <a:solidFill>
                  <a:srgbClr val="E8EDF6"/>
                </a:solidFill>
                <a:latin typeface="Calibri"/>
              </a:rPr>
              <a:t>of LIVE databases</a:t>
            </a:r>
          </a:p>
          <a:p>
            <a:r>
              <a:rPr lang="en-US" sz="980">
                <a:solidFill>
                  <a:srgbClr val="E8EDF6"/>
                </a:solidFill>
                <a:latin typeface="Calibri"/>
              </a:rPr>
              <a:t>(d/gc-storage conn older-than)</a:t>
            </a:r>
          </a:p>
          <a:p>
            <a:r>
              <a:rPr lang="en-US" sz="980">
                <a:solidFill>
                  <a:srgbClr val="E8EDF6"/>
                </a:solidFill>
                <a:latin typeface="Calibri"/>
              </a:rPr>
              <a:t>or bin/run -m datomic.tools.gc-db</a:t>
            </a:r>
          </a:p>
          <a:p>
            <a:r>
              <a:rPr lang="en-US" sz="980">
                <a:solidFill>
                  <a:srgbClr val="E8EDF6"/>
                </a:solidFill>
                <a:latin typeface="Calibri"/>
              </a:rPr>
              <a:t>Run daily, and after big imports</a:t>
            </a:r>
          </a:p>
          <a:p>
            <a:r>
              <a:rPr lang="en-US" sz="980">
                <a:solidFill>
                  <a:srgbClr val="E8EDF6"/>
                </a:solidFill>
                <a:latin typeface="Calibri"/>
              </a:rPr>
              <a:t>older-than must be at least a month</a:t>
            </a:r>
          </a:p>
          <a:p>
            <a:r>
              <a:rPr lang="en-US" sz="980">
                <a:solidFill>
                  <a:srgbClr val="E8EDF6"/>
                </a:solidFill>
                <a:latin typeface="Calibri"/>
              </a:rPr>
              <a:t>Does not block or lock anything</a:t>
            </a:r>
          </a:p>
        </p:txBody>
      </p:sp>
      <p:sp>
        <p:nvSpPr>
          <p:cNvPr id="4" name="t"/>
          <p:cNvSpPr txBox="1"/>
          <p:nvPr/>
        </p:nvSpPr>
        <p:spPr>
          <a:xfrm>
            <a:off x="4640580" y="766064"/>
            <a:ext cx="4000500" cy="1564431"/>
          </a:xfrm>
          <a:prstGeom prst="roundRect">
            <a:avLst/>
          </a:prstGeom>
          <a:solidFill>
            <a:srgbClr val="18202F"/>
          </a:solidFill>
        </p:spPr>
        <p:txBody>
          <a:bodyPr wrap="square" lIns="91440" tIns="45720" rIns="91440" bIns="45720">
            <a:noAutofit/>
          </a:bodyPr>
          <a:lstStyle/>
          <a:p>
            <a:r>
              <a:rPr lang="en-US" sz="1200" b="1">
                <a:solidFill>
                  <a:srgbClr val="FFC66D"/>
                </a:solidFill>
                <a:latin typeface="Calibri"/>
              </a:rPr>
              <a:t>gc-deleted-dbs</a:t>
            </a:r>
          </a:p>
          <a:p>
            <a:endParaRPr lang="en-US" sz="500"/>
          </a:p>
          <a:p>
            <a:r>
              <a:rPr lang="en-US" sz="980">
                <a:solidFill>
                  <a:srgbClr val="E8EDF6"/>
                </a:solidFill>
                <a:latin typeface="Calibri"/>
              </a:rPr>
              <a:t>Reclaims storage from databases</a:t>
            </a:r>
          </a:p>
          <a:p>
            <a:r>
              <a:rPr lang="en-US" sz="980">
                <a:solidFill>
                  <a:srgbClr val="E8EDF6"/>
                </a:solidFill>
                <a:latin typeface="Calibri"/>
              </a:rPr>
              <a:t>you called delete-database on</a:t>
            </a:r>
          </a:p>
          <a:p>
            <a:r>
              <a:rPr lang="en-US" sz="980">
                <a:solidFill>
                  <a:srgbClr val="E8EDF6"/>
                </a:solidFill>
                <a:latin typeface="Calibri"/>
              </a:rPr>
              <a:t>bin/datomic gc-deleted-dbs &lt;system-uri&gt;</a:t>
            </a:r>
          </a:p>
          <a:p>
            <a:r>
              <a:rPr lang="en-US" sz="980">
                <a:solidFill>
                  <a:srgbClr val="E8EDF6"/>
                </a:solidFill>
                <a:latin typeface="Calibri"/>
              </a:rPr>
              <a:t>Takes the URI with NO database name</a:t>
            </a:r>
          </a:p>
          <a:p>
            <a:r>
              <a:rPr lang="en-US" sz="980">
                <a:solidFill>
                  <a:srgbClr val="E8EDF6"/>
                </a:solidFill>
                <a:latin typeface="Calibri"/>
              </a:rPr>
              <a:t>Safe to kill and restart</a:t>
            </a:r>
          </a:p>
          <a:p>
            <a:r>
              <a:rPr lang="en-US" sz="980">
                <a:solidFill>
                  <a:srgbClr val="E8EDF6"/>
                </a:solidFill>
                <a:latin typeface="Calibri"/>
              </a:rPr>
              <a:t>Does not find all garbage in all cases</a:t>
            </a:r>
          </a:p>
          <a:p>
            <a:r>
              <a:rPr lang="en-US" sz="980">
                <a:solidFill>
                  <a:srgbClr val="E8EDF6"/>
                </a:solidFill>
                <a:latin typeface="Calibri"/>
              </a:rPr>
              <a:t>For dev: just drop datomic_kvs instead</a:t>
            </a:r>
          </a:p>
        </p:txBody>
      </p:sp>
      <p:sp>
        <p:nvSpPr>
          <p:cNvPr id="5" name="t"/>
          <p:cNvSpPr txBox="1"/>
          <p:nvPr/>
        </p:nvSpPr>
        <p:spPr>
          <a:xfrm>
            <a:off x="502920" y="2495087"/>
            <a:ext cx="45720" cy="270256"/>
          </a:xfrm>
          <a:prstGeom prst="rect">
            <a:avLst/>
          </a:prstGeom>
          <a:solidFill>
            <a:srgbClr val="FFC66D"/>
          </a:solidFill>
        </p:spPr>
        <p:txBody>
          <a:bodyPr wrap="square" lIns="91440" tIns="45720" rIns="91440" bIns="45720">
            <a:noAutofit/>
          </a:bodyPr>
          <a:lstStyle/>
        </p:txBody>
      </p:sp>
      <p:sp>
        <p:nvSpPr>
          <p:cNvPr id="6" name="t"/>
          <p:cNvSpPr txBox="1"/>
          <p:nvPr/>
        </p:nvSpPr>
        <p:spPr>
          <a:xfrm>
            <a:off x="594360" y="2495087"/>
            <a:ext cx="8046720" cy="270256"/>
          </a:xfrm>
          <a:prstGeom prst="rect">
            <a:avLst/>
          </a:prstGeom>
        </p:spPr>
        <p:txBody>
          <a:bodyPr wrap="square" lIns="91440" tIns="45720" rIns="91440" bIns="45720">
            <a:noAutofit/>
          </a:bodyPr>
          <a:lstStyle/>
          <a:p>
            <a:r>
              <a:rPr lang="en-US" sz="1100">
                <a:solidFill>
                  <a:srgbClr val="E8EDF6"/>
                </a:solidFill>
                <a:latin typeface="Calibri"/>
              </a:rPr>
              <a:t>⚠  Neither runs by itself. If nobody has ever run these, your storage is bigger than your data.</a:t>
            </a:r>
          </a:p>
        </p:txBody>
      </p:sp>
      <p:sp>
        <p:nvSpPr>
          <p:cNvPr id="7"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8"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Monitoring — wiring it up</a:t>
            </a:r>
          </a:p>
        </p:txBody>
      </p:sp>
      <p:sp>
        <p:nvSpPr>
          <p:cNvPr id="3" name="t"/>
          <p:cNvSpPr txBox="1"/>
          <p:nvPr/>
        </p:nvSpPr>
        <p:spPr>
          <a:xfrm>
            <a:off x="502920" y="766064"/>
            <a:ext cx="8138160" cy="1112520"/>
          </a:xfrm>
          <a:prstGeom prst="roundRect">
            <a:avLst/>
          </a:prstGeom>
          <a:solidFill>
            <a:srgbClr val="141B28"/>
          </a:solidFill>
        </p:spPr>
        <p:txBody>
          <a:bodyPr wrap="square" lIns="91440" tIns="45720" rIns="91440" bIns="45720">
            <a:noAutofit/>
          </a:bodyPr>
          <a:lstStyle/>
          <a:p>
            <a:r>
              <a:rPr lang="en-US" sz="1000">
                <a:solidFill>
                  <a:srgbClr val="7BD88F"/>
                </a:solidFill>
                <a:latin typeface="Courier New"/>
              </a:rPr>
              <a:t># transactor.properties</a:t>
            </a:r>
          </a:p>
          <a:p>
            <a:r>
              <a:rPr lang="en-US" sz="1000">
                <a:solidFill>
                  <a:srgbClr val="7BD88F"/>
                </a:solidFill>
                <a:latin typeface="Courier New"/>
              </a:rPr>
              <a:t>metrics-callback=my.ns/handle-metrics</a:t>
            </a:r>
          </a:p>
          <a:p>
            <a:endParaRPr lang="en-US" sz="1000"/>
          </a:p>
          <a:p>
            <a:r>
              <a:rPr lang="en-US" sz="1000">
                <a:solidFill>
                  <a:srgbClr val="7BD88F"/>
                </a:solidFill>
                <a:latin typeface="Courier New"/>
              </a:rPr>
              <a:t># or ship straight to CloudWatch, from anywhere</a:t>
            </a:r>
          </a:p>
          <a:p>
            <a:r>
              <a:rPr lang="en-US" sz="1000">
                <a:solidFill>
                  <a:srgbClr val="7BD88F"/>
                </a:solidFill>
                <a:latin typeface="Courier New"/>
              </a:rPr>
              <a:t>aws-cloudwatch-region=us-east-1</a:t>
            </a:r>
          </a:p>
          <a:p>
            <a:r>
              <a:rPr lang="en-US" sz="1000">
                <a:solidFill>
                  <a:srgbClr val="7BD88F"/>
                </a:solidFill>
                <a:latin typeface="Courier New"/>
              </a:rPr>
              <a:t>aws-cloudwatch-dimension-value=prod-inventory</a:t>
            </a:r>
          </a:p>
        </p:txBody>
      </p:sp>
      <p:sp>
        <p:nvSpPr>
          <p:cNvPr id="4" name="t"/>
          <p:cNvSpPr txBox="1"/>
          <p:nvPr/>
        </p:nvSpPr>
        <p:spPr>
          <a:xfrm>
            <a:off x="502920" y="2043176"/>
            <a:ext cx="8138160" cy="178816"/>
          </a:xfrm>
          <a:prstGeom prst="rect">
            <a:avLst/>
          </a:prstGeom>
        </p:spPr>
        <p:txBody>
          <a:bodyPr wrap="square" lIns="91440" tIns="45720" rIns="91440" bIns="45720">
            <a:noAutofit/>
          </a:bodyPr>
          <a:lstStyle/>
          <a:p>
            <a:r>
              <a:rPr lang="en-US" sz="1100">
                <a:solidFill>
                  <a:srgbClr val="E8EDF6"/>
                </a:solidFill>
                <a:latin typeface="Calibri"/>
              </a:rPr>
              <a:t>▸ The callback gets a map of metric name to a number, or to a map with :lo :hi :sum :count</a:t>
            </a:r>
          </a:p>
        </p:txBody>
      </p:sp>
      <p:sp>
        <p:nvSpPr>
          <p:cNvPr id="5" name="t"/>
          <p:cNvSpPr txBox="1"/>
          <p:nvPr/>
        </p:nvSpPr>
        <p:spPr>
          <a:xfrm>
            <a:off x="502920" y="2221992"/>
            <a:ext cx="8138160" cy="178816"/>
          </a:xfrm>
          <a:prstGeom prst="rect">
            <a:avLst/>
          </a:prstGeom>
        </p:spPr>
        <p:txBody>
          <a:bodyPr wrap="square" lIns="91440" tIns="45720" rIns="91440" bIns="45720">
            <a:noAutofit/>
          </a:bodyPr>
          <a:lstStyle/>
          <a:p>
            <a:r>
              <a:rPr lang="en-US" sz="1100">
                <a:solidFill>
                  <a:srgbClr val="FFC66D"/>
                </a:solidFill>
                <a:latin typeface="Calibri"/>
              </a:rPr>
              <a:t>▸ The format is explicitly alpha — your callback must tolerate unknown names and either value shape</a:t>
            </a:r>
          </a:p>
        </p:txBody>
      </p:sp>
      <p:sp>
        <p:nvSpPr>
          <p:cNvPr id="6" name="t"/>
          <p:cNvSpPr txBox="1"/>
          <p:nvPr/>
        </p:nvSpPr>
        <p:spPr>
          <a:xfrm>
            <a:off x="502920" y="2400808"/>
            <a:ext cx="8138160" cy="178816"/>
          </a:xfrm>
          <a:prstGeom prst="rect">
            <a:avLst/>
          </a:prstGeom>
        </p:spPr>
        <p:txBody>
          <a:bodyPr wrap="square" lIns="91440" tIns="45720" rIns="91440" bIns="45720">
            <a:noAutofit/>
          </a:bodyPr>
          <a:lstStyle/>
          <a:p>
            <a:r>
              <a:rPr lang="en-US" sz="1100">
                <a:solidFill>
                  <a:srgbClr val="7BD88F"/>
                </a:solidFill>
                <a:latin typeface="Calibri"/>
              </a:rPr>
              <a:t>▸ CloudWatch works with any storage, anywhere. You do not have to be on AWS to use it.</a:t>
            </a:r>
          </a:p>
        </p:txBody>
      </p:sp>
      <p:sp>
        <p:nvSpPr>
          <p:cNvPr id="7" name="t"/>
          <p:cNvSpPr txBox="1"/>
          <p:nvPr/>
        </p:nvSpPr>
        <p:spPr>
          <a:xfrm>
            <a:off x="502920" y="2579624"/>
            <a:ext cx="8138160" cy="178816"/>
          </a:xfrm>
          <a:prstGeom prst="rect">
            <a:avLst/>
          </a:prstGeom>
        </p:spPr>
        <p:txBody>
          <a:bodyPr wrap="square" lIns="91440" tIns="45720" rIns="91440" bIns="45720">
            <a:noAutofit/>
          </a:bodyPr>
          <a:lstStyle/>
          <a:p>
            <a:r>
              <a:rPr lang="en-US" sz="1100">
                <a:solidFill>
                  <a:srgbClr val="E8EDF6"/>
                </a:solidFill>
                <a:latin typeface="Calibri"/>
              </a:rPr>
              <a:t>▸ Peers report too: -Ddatomic.metricsCallback=my.ns/handle-metrics</a:t>
            </a:r>
          </a:p>
        </p:txBody>
      </p:sp>
      <p:sp>
        <p:nvSpPr>
          <p:cNvPr id="8"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9"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The metrics that matter</a:t>
            </a:r>
          </a:p>
        </p:txBody>
      </p:sp>
      <p:sp>
        <p:nvSpPr>
          <p:cNvPr id="3" name="t"/>
          <p:cNvSpPr txBox="1"/>
          <p:nvPr/>
        </p:nvSpPr>
        <p:spPr>
          <a:xfrm>
            <a:off x="502920" y="766064"/>
            <a:ext cx="2115921" cy="223012"/>
          </a:xfrm>
          <a:prstGeom prst="rect">
            <a:avLst/>
          </a:prstGeom>
        </p:spPr>
        <p:txBody>
          <a:bodyPr wrap="square" lIns="91440" tIns="45720" rIns="91440" bIns="45720">
            <a:noAutofit/>
          </a:bodyPr>
          <a:lstStyle/>
          <a:p>
            <a:r>
              <a:rPr lang="en-US" sz="950" b="1">
                <a:solidFill>
                  <a:srgbClr val="F28FAD"/>
                </a:solidFill>
                <a:latin typeface="Calibri"/>
              </a:rPr>
              <a:t>Metric</a:t>
            </a:r>
          </a:p>
        </p:txBody>
      </p:sp>
      <p:sp>
        <p:nvSpPr>
          <p:cNvPr id="4" name="t"/>
          <p:cNvSpPr txBox="1"/>
          <p:nvPr/>
        </p:nvSpPr>
        <p:spPr>
          <a:xfrm>
            <a:off x="2618841" y="766064"/>
            <a:ext cx="2115921" cy="223012"/>
          </a:xfrm>
          <a:prstGeom prst="rect">
            <a:avLst/>
          </a:prstGeom>
        </p:spPr>
        <p:txBody>
          <a:bodyPr wrap="square" lIns="91440" tIns="45720" rIns="91440" bIns="45720">
            <a:noAutofit/>
          </a:bodyPr>
          <a:lstStyle/>
          <a:p>
            <a:r>
              <a:rPr lang="en-US" sz="950" b="1">
                <a:solidFill>
                  <a:srgbClr val="F28FAD"/>
                </a:solidFill>
                <a:latin typeface="Calibri"/>
              </a:rPr>
              <a:t>Watch for</a:t>
            </a:r>
          </a:p>
        </p:txBody>
      </p:sp>
      <p:sp>
        <p:nvSpPr>
          <p:cNvPr id="5" name="t"/>
          <p:cNvSpPr txBox="1"/>
          <p:nvPr/>
        </p:nvSpPr>
        <p:spPr>
          <a:xfrm>
            <a:off x="4734763" y="766064"/>
            <a:ext cx="3906316" cy="223012"/>
          </a:xfrm>
          <a:prstGeom prst="rect">
            <a:avLst/>
          </a:prstGeom>
        </p:spPr>
        <p:txBody>
          <a:bodyPr wrap="square" lIns="91440" tIns="45720" rIns="91440" bIns="45720">
            <a:noAutofit/>
          </a:bodyPr>
          <a:lstStyle/>
          <a:p>
            <a:r>
              <a:rPr lang="en-US" sz="950" b="1">
                <a:solidFill>
                  <a:srgbClr val="F28FAD"/>
                </a:solidFill>
                <a:latin typeface="Calibri"/>
              </a:rPr>
              <a:t>Means</a:t>
            </a:r>
          </a:p>
        </p:txBody>
      </p:sp>
      <p:sp>
        <p:nvSpPr>
          <p:cNvPr id="6" name="t"/>
          <p:cNvSpPr txBox="1"/>
          <p:nvPr/>
        </p:nvSpPr>
        <p:spPr>
          <a:xfrm>
            <a:off x="457200" y="989076"/>
            <a:ext cx="8229600" cy="223012"/>
          </a:xfrm>
          <a:prstGeom prst="rect">
            <a:avLst/>
          </a:prstGeom>
          <a:solidFill>
            <a:srgbClr val="141B28"/>
          </a:solidFill>
        </p:spPr>
        <p:txBody>
          <a:bodyPr wrap="square" lIns="91440" tIns="45720" rIns="91440" bIns="45720">
            <a:noAutofit/>
          </a:bodyPr>
          <a:lstStyle/>
        </p:txBody>
      </p:sp>
      <p:sp>
        <p:nvSpPr>
          <p:cNvPr id="7" name="t"/>
          <p:cNvSpPr txBox="1"/>
          <p:nvPr/>
        </p:nvSpPr>
        <p:spPr>
          <a:xfrm>
            <a:off x="502920" y="989076"/>
            <a:ext cx="2115921" cy="223012"/>
          </a:xfrm>
          <a:prstGeom prst="rect">
            <a:avLst/>
          </a:prstGeom>
        </p:spPr>
        <p:txBody>
          <a:bodyPr wrap="square" lIns="91440" tIns="45720" rIns="91440" bIns="45720">
            <a:noAutofit/>
          </a:bodyPr>
          <a:lstStyle/>
          <a:p>
            <a:r>
              <a:rPr lang="en-US" sz="950" b="1">
                <a:solidFill>
                  <a:srgbClr val="E8EDF6"/>
                </a:solidFill>
                <a:latin typeface="Calibri"/>
              </a:rPr>
              <a:t>Alarm</a:t>
            </a:r>
          </a:p>
        </p:txBody>
      </p:sp>
      <p:sp>
        <p:nvSpPr>
          <p:cNvPr id="8" name="t"/>
          <p:cNvSpPr txBox="1"/>
          <p:nvPr/>
        </p:nvSpPr>
        <p:spPr>
          <a:xfrm>
            <a:off x="2618841" y="989076"/>
            <a:ext cx="2115921" cy="223012"/>
          </a:xfrm>
          <a:prstGeom prst="rect">
            <a:avLst/>
          </a:prstGeom>
        </p:spPr>
        <p:txBody>
          <a:bodyPr wrap="square" lIns="91440" tIns="45720" rIns="91440" bIns="45720">
            <a:noAutofit/>
          </a:bodyPr>
          <a:lstStyle/>
          <a:p>
            <a:r>
              <a:rPr lang="en-US" sz="950">
                <a:solidFill>
                  <a:srgbClr val="8FA0B8"/>
                </a:solidFill>
                <a:latin typeface="Calibri"/>
              </a:rPr>
              <a:t>anything non-zero</a:t>
            </a:r>
          </a:p>
        </p:txBody>
      </p:sp>
      <p:sp>
        <p:nvSpPr>
          <p:cNvPr id="9" name="t"/>
          <p:cNvSpPr txBox="1"/>
          <p:nvPr/>
        </p:nvSpPr>
        <p:spPr>
          <a:xfrm>
            <a:off x="4734763" y="989076"/>
            <a:ext cx="3906316" cy="223012"/>
          </a:xfrm>
          <a:prstGeom prst="rect">
            <a:avLst/>
          </a:prstGeom>
        </p:spPr>
        <p:txBody>
          <a:bodyPr wrap="square" lIns="91440" tIns="45720" rIns="91440" bIns="45720">
            <a:noAutofit/>
          </a:bodyPr>
          <a:lstStyle/>
          <a:p>
            <a:r>
              <a:rPr lang="en-US" sz="950">
                <a:solidFill>
                  <a:srgbClr val="8FA0B8"/>
                </a:solidFill>
                <a:latin typeface="Calibri"/>
              </a:rPr>
              <a:t>page a human — this is the one alarm</a:t>
            </a:r>
          </a:p>
        </p:txBody>
      </p:sp>
      <p:sp>
        <p:nvSpPr>
          <p:cNvPr id="10" name="t"/>
          <p:cNvSpPr txBox="1"/>
          <p:nvPr/>
        </p:nvSpPr>
        <p:spPr>
          <a:xfrm>
            <a:off x="502920" y="1212088"/>
            <a:ext cx="2115921" cy="223012"/>
          </a:xfrm>
          <a:prstGeom prst="rect">
            <a:avLst/>
          </a:prstGeom>
        </p:spPr>
        <p:txBody>
          <a:bodyPr wrap="square" lIns="91440" tIns="45720" rIns="91440" bIns="45720">
            <a:noAutofit/>
          </a:bodyPr>
          <a:lstStyle/>
          <a:p>
            <a:r>
              <a:rPr lang="en-US" sz="950" b="1">
                <a:solidFill>
                  <a:srgbClr val="E8EDF6"/>
                </a:solidFill>
                <a:latin typeface="Calibri"/>
              </a:rPr>
              <a:t>AlarmIndexingJobFailed</a:t>
            </a:r>
          </a:p>
        </p:txBody>
      </p:sp>
      <p:sp>
        <p:nvSpPr>
          <p:cNvPr id="11" name="t"/>
          <p:cNvSpPr txBox="1"/>
          <p:nvPr/>
        </p:nvSpPr>
        <p:spPr>
          <a:xfrm>
            <a:off x="2618841" y="1212088"/>
            <a:ext cx="2115921" cy="223012"/>
          </a:xfrm>
          <a:prstGeom prst="rect">
            <a:avLst/>
          </a:prstGeom>
        </p:spPr>
        <p:txBody>
          <a:bodyPr wrap="square" lIns="91440" tIns="45720" rIns="91440" bIns="45720">
            <a:noAutofit/>
          </a:bodyPr>
          <a:lstStyle/>
          <a:p>
            <a:r>
              <a:rPr lang="en-US" sz="950">
                <a:solidFill>
                  <a:srgbClr val="8FA0B8"/>
                </a:solidFill>
                <a:latin typeface="Calibri"/>
              </a:rPr>
              <a:t>any</a:t>
            </a:r>
          </a:p>
        </p:txBody>
      </p:sp>
      <p:sp>
        <p:nvSpPr>
          <p:cNvPr id="12" name="t"/>
          <p:cNvSpPr txBox="1"/>
          <p:nvPr/>
        </p:nvSpPr>
        <p:spPr>
          <a:xfrm>
            <a:off x="4734763" y="1212088"/>
            <a:ext cx="3906316" cy="223012"/>
          </a:xfrm>
          <a:prstGeom prst="rect">
            <a:avLst/>
          </a:prstGeom>
        </p:spPr>
        <p:txBody>
          <a:bodyPr wrap="square" lIns="91440" tIns="45720" rIns="91440" bIns="45720">
            <a:noAutofit/>
          </a:bodyPr>
          <a:lstStyle/>
          <a:p>
            <a:r>
              <a:rPr lang="en-US" sz="950">
                <a:solidFill>
                  <a:srgbClr val="8FA0B8"/>
                </a:solidFill>
                <a:latin typeface="Calibri"/>
              </a:rPr>
              <a:t>urgent: novelty now grows unbounded</a:t>
            </a:r>
          </a:p>
        </p:txBody>
      </p:sp>
      <p:sp>
        <p:nvSpPr>
          <p:cNvPr id="13" name="t"/>
          <p:cNvSpPr txBox="1"/>
          <p:nvPr/>
        </p:nvSpPr>
        <p:spPr>
          <a:xfrm>
            <a:off x="457200" y="1435100"/>
            <a:ext cx="8229600" cy="223012"/>
          </a:xfrm>
          <a:prstGeom prst="rect">
            <a:avLst/>
          </a:prstGeom>
          <a:solidFill>
            <a:srgbClr val="141B28"/>
          </a:solidFill>
        </p:spPr>
        <p:txBody>
          <a:bodyPr wrap="square" lIns="91440" tIns="45720" rIns="91440" bIns="45720">
            <a:noAutofit/>
          </a:bodyPr>
          <a:lstStyle/>
        </p:txBody>
      </p:sp>
      <p:sp>
        <p:nvSpPr>
          <p:cNvPr id="14" name="t"/>
          <p:cNvSpPr txBox="1"/>
          <p:nvPr/>
        </p:nvSpPr>
        <p:spPr>
          <a:xfrm>
            <a:off x="502920" y="1435100"/>
            <a:ext cx="2115921" cy="223012"/>
          </a:xfrm>
          <a:prstGeom prst="rect">
            <a:avLst/>
          </a:prstGeom>
        </p:spPr>
        <p:txBody>
          <a:bodyPr wrap="square" lIns="91440" tIns="45720" rIns="91440" bIns="45720">
            <a:noAutofit/>
          </a:bodyPr>
          <a:lstStyle/>
          <a:p>
            <a:r>
              <a:rPr lang="en-US" sz="950" b="1">
                <a:solidFill>
                  <a:srgbClr val="E8EDF6"/>
                </a:solidFill>
                <a:latin typeface="Calibri"/>
              </a:rPr>
              <a:t>AlarmBackPressure</a:t>
            </a:r>
          </a:p>
        </p:txBody>
      </p:sp>
      <p:sp>
        <p:nvSpPr>
          <p:cNvPr id="15" name="t"/>
          <p:cNvSpPr txBox="1"/>
          <p:nvPr/>
        </p:nvSpPr>
        <p:spPr>
          <a:xfrm>
            <a:off x="2618841" y="1435100"/>
            <a:ext cx="2115921" cy="223012"/>
          </a:xfrm>
          <a:prstGeom prst="rect">
            <a:avLst/>
          </a:prstGeom>
        </p:spPr>
        <p:txBody>
          <a:bodyPr wrap="square" lIns="91440" tIns="45720" rIns="91440" bIns="45720">
            <a:noAutofit/>
          </a:bodyPr>
          <a:lstStyle/>
          <a:p>
            <a:r>
              <a:rPr lang="en-US" sz="950">
                <a:solidFill>
                  <a:srgbClr val="8FA0B8"/>
                </a:solidFill>
                <a:latin typeface="Calibri"/>
              </a:rPr>
              <a:t>any</a:t>
            </a:r>
          </a:p>
        </p:txBody>
      </p:sp>
      <p:sp>
        <p:nvSpPr>
          <p:cNvPr id="16" name="t"/>
          <p:cNvSpPr txBox="1"/>
          <p:nvPr/>
        </p:nvSpPr>
        <p:spPr>
          <a:xfrm>
            <a:off x="4734763" y="1435100"/>
            <a:ext cx="3906316" cy="223012"/>
          </a:xfrm>
          <a:prstGeom prst="rect">
            <a:avLst/>
          </a:prstGeom>
        </p:spPr>
        <p:txBody>
          <a:bodyPr wrap="square" lIns="91440" tIns="45720" rIns="91440" bIns="45720">
            <a:noAutofit/>
          </a:bodyPr>
          <a:lstStyle/>
          <a:p>
            <a:r>
              <a:rPr lang="en-US" sz="950">
                <a:solidFill>
                  <a:srgbClr val="8FA0B8"/>
                </a:solidFill>
                <a:latin typeface="Calibri"/>
              </a:rPr>
              <a:t>writes throttled; expected during imports</a:t>
            </a:r>
          </a:p>
        </p:txBody>
      </p:sp>
      <p:sp>
        <p:nvSpPr>
          <p:cNvPr id="17" name="t"/>
          <p:cNvSpPr txBox="1"/>
          <p:nvPr/>
        </p:nvSpPr>
        <p:spPr>
          <a:xfrm>
            <a:off x="502920" y="1658112"/>
            <a:ext cx="2115921" cy="223012"/>
          </a:xfrm>
          <a:prstGeom prst="rect">
            <a:avLst/>
          </a:prstGeom>
        </p:spPr>
        <p:txBody>
          <a:bodyPr wrap="square" lIns="91440" tIns="45720" rIns="91440" bIns="45720">
            <a:noAutofit/>
          </a:bodyPr>
          <a:lstStyle/>
          <a:p>
            <a:r>
              <a:rPr lang="en-US" sz="950" b="1">
                <a:solidFill>
                  <a:srgbClr val="E8EDF6"/>
                </a:solidFill>
                <a:latin typeface="Calibri"/>
              </a:rPr>
              <a:t>MemoryIndexMB</a:t>
            </a:r>
          </a:p>
        </p:txBody>
      </p:sp>
      <p:sp>
        <p:nvSpPr>
          <p:cNvPr id="18" name="t"/>
          <p:cNvSpPr txBox="1"/>
          <p:nvPr/>
        </p:nvSpPr>
        <p:spPr>
          <a:xfrm>
            <a:off x="2618841" y="1658112"/>
            <a:ext cx="2115921" cy="223012"/>
          </a:xfrm>
          <a:prstGeom prst="rect">
            <a:avLst/>
          </a:prstGeom>
        </p:spPr>
        <p:txBody>
          <a:bodyPr wrap="square" lIns="91440" tIns="45720" rIns="91440" bIns="45720">
            <a:noAutofit/>
          </a:bodyPr>
          <a:lstStyle/>
          <a:p>
            <a:r>
              <a:rPr lang="en-US" sz="950">
                <a:solidFill>
                  <a:srgbClr val="8FA0B8"/>
                </a:solidFill>
                <a:latin typeface="Calibri"/>
              </a:rPr>
              <a:t>trending up, or near 144 MB</a:t>
            </a:r>
          </a:p>
        </p:txBody>
      </p:sp>
      <p:sp>
        <p:nvSpPr>
          <p:cNvPr id="19" name="t"/>
          <p:cNvSpPr txBox="1"/>
          <p:nvPr/>
        </p:nvSpPr>
        <p:spPr>
          <a:xfrm>
            <a:off x="4734763" y="1658112"/>
            <a:ext cx="3906316" cy="223012"/>
          </a:xfrm>
          <a:prstGeom prst="rect">
            <a:avLst/>
          </a:prstGeom>
        </p:spPr>
        <p:txBody>
          <a:bodyPr wrap="square" lIns="91440" tIns="45720" rIns="91440" bIns="45720">
            <a:noAutofit/>
          </a:bodyPr>
          <a:lstStyle/>
          <a:p>
            <a:r>
              <a:rPr lang="en-US" sz="950">
                <a:solidFill>
                  <a:srgbClr val="8FA0B8"/>
                </a:solidFill>
                <a:latin typeface="Calibri"/>
              </a:rPr>
              <a:t>indexing losing the race</a:t>
            </a:r>
          </a:p>
        </p:txBody>
      </p:sp>
      <p:sp>
        <p:nvSpPr>
          <p:cNvPr id="20" name="t"/>
          <p:cNvSpPr txBox="1"/>
          <p:nvPr/>
        </p:nvSpPr>
        <p:spPr>
          <a:xfrm>
            <a:off x="457200" y="1881124"/>
            <a:ext cx="8229600" cy="223012"/>
          </a:xfrm>
          <a:prstGeom prst="rect">
            <a:avLst/>
          </a:prstGeom>
          <a:solidFill>
            <a:srgbClr val="141B28"/>
          </a:solidFill>
        </p:spPr>
        <p:txBody>
          <a:bodyPr wrap="square" lIns="91440" tIns="45720" rIns="91440" bIns="45720">
            <a:noAutofit/>
          </a:bodyPr>
          <a:lstStyle/>
        </p:txBody>
      </p:sp>
      <p:sp>
        <p:nvSpPr>
          <p:cNvPr id="21" name="t"/>
          <p:cNvSpPr txBox="1"/>
          <p:nvPr/>
        </p:nvSpPr>
        <p:spPr>
          <a:xfrm>
            <a:off x="502920" y="1881124"/>
            <a:ext cx="2115921" cy="223012"/>
          </a:xfrm>
          <a:prstGeom prst="rect">
            <a:avLst/>
          </a:prstGeom>
        </p:spPr>
        <p:txBody>
          <a:bodyPr wrap="square" lIns="91440" tIns="45720" rIns="91440" bIns="45720">
            <a:noAutofit/>
          </a:bodyPr>
          <a:lstStyle/>
          <a:p>
            <a:r>
              <a:rPr lang="en-US" sz="950" b="1">
                <a:solidFill>
                  <a:srgbClr val="E8EDF6"/>
                </a:solidFill>
                <a:latin typeface="Calibri"/>
              </a:rPr>
              <a:t>StoragePutMsec</a:t>
            </a:r>
          </a:p>
        </p:txBody>
      </p:sp>
      <p:sp>
        <p:nvSpPr>
          <p:cNvPr id="22" name="t"/>
          <p:cNvSpPr txBox="1"/>
          <p:nvPr/>
        </p:nvSpPr>
        <p:spPr>
          <a:xfrm>
            <a:off x="2618841" y="1881124"/>
            <a:ext cx="2115921" cy="223012"/>
          </a:xfrm>
          <a:prstGeom prst="rect">
            <a:avLst/>
          </a:prstGeom>
        </p:spPr>
        <p:txBody>
          <a:bodyPr wrap="square" lIns="91440" tIns="45720" rIns="91440" bIns="45720">
            <a:noAutofit/>
          </a:bodyPr>
          <a:lstStyle/>
          <a:p>
            <a:r>
              <a:rPr lang="en-US" sz="950">
                <a:solidFill>
                  <a:srgbClr val="8FA0B8"/>
                </a:solidFill>
                <a:latin typeface="Calibri"/>
              </a:rPr>
              <a:t>max above 1s</a:t>
            </a:r>
          </a:p>
        </p:txBody>
      </p:sp>
      <p:sp>
        <p:nvSpPr>
          <p:cNvPr id="23" name="t"/>
          <p:cNvSpPr txBox="1"/>
          <p:nvPr/>
        </p:nvSpPr>
        <p:spPr>
          <a:xfrm>
            <a:off x="4734763" y="1881124"/>
            <a:ext cx="3906316" cy="223012"/>
          </a:xfrm>
          <a:prstGeom prst="rect">
            <a:avLst/>
          </a:prstGeom>
        </p:spPr>
        <p:txBody>
          <a:bodyPr wrap="square" lIns="91440" tIns="45720" rIns="91440" bIns="45720">
            <a:noAutofit/>
          </a:bodyPr>
          <a:lstStyle/>
          <a:p>
            <a:r>
              <a:rPr lang="en-US" sz="950">
                <a:solidFill>
                  <a:srgbClr val="8FA0B8"/>
                </a:solidFill>
                <a:latin typeface="Calibri"/>
              </a:rPr>
              <a:t>storage so slow a write may kill the transactor</a:t>
            </a:r>
          </a:p>
        </p:txBody>
      </p:sp>
      <p:sp>
        <p:nvSpPr>
          <p:cNvPr id="24" name="t"/>
          <p:cNvSpPr txBox="1"/>
          <p:nvPr/>
        </p:nvSpPr>
        <p:spPr>
          <a:xfrm>
            <a:off x="502920" y="2104136"/>
            <a:ext cx="2115921" cy="223012"/>
          </a:xfrm>
          <a:prstGeom prst="rect">
            <a:avLst/>
          </a:prstGeom>
        </p:spPr>
        <p:txBody>
          <a:bodyPr wrap="square" lIns="91440" tIns="45720" rIns="91440" bIns="45720">
            <a:noAutofit/>
          </a:bodyPr>
          <a:lstStyle/>
          <a:p>
            <a:r>
              <a:rPr lang="en-US" sz="950" b="1">
                <a:solidFill>
                  <a:srgbClr val="E8EDF6"/>
                </a:solidFill>
                <a:latin typeface="Calibri"/>
              </a:rPr>
              <a:t>StorageBackoff</a:t>
            </a:r>
          </a:p>
        </p:txBody>
      </p:sp>
      <p:sp>
        <p:nvSpPr>
          <p:cNvPr id="25" name="t"/>
          <p:cNvSpPr txBox="1"/>
          <p:nvPr/>
        </p:nvSpPr>
        <p:spPr>
          <a:xfrm>
            <a:off x="2618841" y="2104136"/>
            <a:ext cx="2115921" cy="223012"/>
          </a:xfrm>
          <a:prstGeom prst="rect">
            <a:avLst/>
          </a:prstGeom>
        </p:spPr>
        <p:txBody>
          <a:bodyPr wrap="square" lIns="91440" tIns="45720" rIns="91440" bIns="45720">
            <a:noAutofit/>
          </a:bodyPr>
          <a:lstStyle/>
          <a:p>
            <a:r>
              <a:rPr lang="en-US" sz="950">
                <a:solidFill>
                  <a:srgbClr val="8FA0B8"/>
                </a:solidFill>
                <a:latin typeface="Calibri"/>
              </a:rPr>
              <a:t>rising</a:t>
            </a:r>
          </a:p>
        </p:txBody>
      </p:sp>
      <p:sp>
        <p:nvSpPr>
          <p:cNvPr id="26" name="t"/>
          <p:cNvSpPr txBox="1"/>
          <p:nvPr/>
        </p:nvSpPr>
        <p:spPr>
          <a:xfrm>
            <a:off x="4734763" y="2104136"/>
            <a:ext cx="3906316" cy="223012"/>
          </a:xfrm>
          <a:prstGeom prst="rect">
            <a:avLst/>
          </a:prstGeom>
        </p:spPr>
        <p:txBody>
          <a:bodyPr wrap="square" lIns="91440" tIns="45720" rIns="91440" bIns="45720">
            <a:noAutofit/>
          </a:bodyPr>
          <a:lstStyle/>
          <a:p>
            <a:r>
              <a:rPr lang="en-US" sz="950">
                <a:solidFill>
                  <a:srgbClr val="8FA0B8"/>
                </a:solidFill>
                <a:latin typeface="Calibri"/>
              </a:rPr>
              <a:t>under-provisioned storage, retrying</a:t>
            </a:r>
          </a:p>
        </p:txBody>
      </p:sp>
      <p:sp>
        <p:nvSpPr>
          <p:cNvPr id="27" name="t"/>
          <p:cNvSpPr txBox="1"/>
          <p:nvPr/>
        </p:nvSpPr>
        <p:spPr>
          <a:xfrm>
            <a:off x="457200" y="2327148"/>
            <a:ext cx="8229600" cy="223012"/>
          </a:xfrm>
          <a:prstGeom prst="rect">
            <a:avLst/>
          </a:prstGeom>
          <a:solidFill>
            <a:srgbClr val="141B28"/>
          </a:solidFill>
        </p:spPr>
        <p:txBody>
          <a:bodyPr wrap="square" lIns="91440" tIns="45720" rIns="91440" bIns="45720">
            <a:noAutofit/>
          </a:bodyPr>
          <a:lstStyle/>
        </p:txBody>
      </p:sp>
      <p:sp>
        <p:nvSpPr>
          <p:cNvPr id="28" name="t"/>
          <p:cNvSpPr txBox="1"/>
          <p:nvPr/>
        </p:nvSpPr>
        <p:spPr>
          <a:xfrm>
            <a:off x="502920" y="2327148"/>
            <a:ext cx="2115921" cy="223012"/>
          </a:xfrm>
          <a:prstGeom prst="rect">
            <a:avLst/>
          </a:prstGeom>
        </p:spPr>
        <p:txBody>
          <a:bodyPr wrap="square" lIns="91440" tIns="45720" rIns="91440" bIns="45720">
            <a:noAutofit/>
          </a:bodyPr>
          <a:lstStyle/>
          <a:p>
            <a:r>
              <a:rPr lang="en-US" sz="950" b="1">
                <a:solidFill>
                  <a:srgbClr val="E8EDF6"/>
                </a:solidFill>
                <a:latin typeface="Calibri"/>
              </a:rPr>
              <a:t>TransactionMsec</a:t>
            </a:r>
          </a:p>
        </p:txBody>
      </p:sp>
      <p:sp>
        <p:nvSpPr>
          <p:cNvPr id="29" name="t"/>
          <p:cNvSpPr txBox="1"/>
          <p:nvPr/>
        </p:nvSpPr>
        <p:spPr>
          <a:xfrm>
            <a:off x="2618841" y="2327148"/>
            <a:ext cx="2115921" cy="223012"/>
          </a:xfrm>
          <a:prstGeom prst="rect">
            <a:avLst/>
          </a:prstGeom>
        </p:spPr>
        <p:txBody>
          <a:bodyPr wrap="square" lIns="91440" tIns="45720" rIns="91440" bIns="45720">
            <a:noAutofit/>
          </a:bodyPr>
          <a:lstStyle/>
          <a:p>
            <a:r>
              <a:rPr lang="en-US" sz="950">
                <a:solidFill>
                  <a:srgbClr val="8FA0B8"/>
                </a:solidFill>
                <a:latin typeface="Calibri"/>
              </a:rPr>
              <a:t>rising p99</a:t>
            </a:r>
          </a:p>
        </p:txBody>
      </p:sp>
      <p:sp>
        <p:nvSpPr>
          <p:cNvPr id="30" name="t"/>
          <p:cNvSpPr txBox="1"/>
          <p:nvPr/>
        </p:nvSpPr>
        <p:spPr>
          <a:xfrm>
            <a:off x="4734763" y="2327148"/>
            <a:ext cx="3906316" cy="223012"/>
          </a:xfrm>
          <a:prstGeom prst="rect">
            <a:avLst/>
          </a:prstGeom>
        </p:spPr>
        <p:txBody>
          <a:bodyPr wrap="square" lIns="91440" tIns="45720" rIns="91440" bIns="45720">
            <a:noAutofit/>
          </a:bodyPr>
          <a:lstStyle/>
          <a:p>
            <a:r>
              <a:rPr lang="en-US" sz="950">
                <a:solidFill>
                  <a:srgbClr val="8FA0B8"/>
                </a:solidFill>
                <a:latin typeface="Calibri"/>
              </a:rPr>
              <a:t>write latency, storage included</a:t>
            </a:r>
          </a:p>
        </p:txBody>
      </p:sp>
      <p:sp>
        <p:nvSpPr>
          <p:cNvPr id="31" name="t"/>
          <p:cNvSpPr txBox="1"/>
          <p:nvPr/>
        </p:nvSpPr>
        <p:spPr>
          <a:xfrm>
            <a:off x="502920" y="2550160"/>
            <a:ext cx="2115921" cy="223012"/>
          </a:xfrm>
          <a:prstGeom prst="rect">
            <a:avLst/>
          </a:prstGeom>
        </p:spPr>
        <p:txBody>
          <a:bodyPr wrap="square" lIns="91440" tIns="45720" rIns="91440" bIns="45720">
            <a:noAutofit/>
          </a:bodyPr>
          <a:lstStyle/>
          <a:p>
            <a:r>
              <a:rPr lang="en-US" sz="950" b="1">
                <a:solidFill>
                  <a:srgbClr val="E8EDF6"/>
                </a:solidFill>
                <a:latin typeface="Calibri"/>
              </a:rPr>
              <a:t>ObjectCache / Memcache</a:t>
            </a:r>
          </a:p>
        </p:txBody>
      </p:sp>
      <p:sp>
        <p:nvSpPr>
          <p:cNvPr id="32" name="t"/>
          <p:cNvSpPr txBox="1"/>
          <p:nvPr/>
        </p:nvSpPr>
        <p:spPr>
          <a:xfrm>
            <a:off x="2618841" y="2550160"/>
            <a:ext cx="2115921" cy="223012"/>
          </a:xfrm>
          <a:prstGeom prst="rect">
            <a:avLst/>
          </a:prstGeom>
        </p:spPr>
        <p:txBody>
          <a:bodyPr wrap="square" lIns="91440" tIns="45720" rIns="91440" bIns="45720">
            <a:noAutofit/>
          </a:bodyPr>
          <a:lstStyle/>
          <a:p>
            <a:r>
              <a:rPr lang="en-US" sz="950">
                <a:solidFill>
                  <a:srgbClr val="8FA0B8"/>
                </a:solidFill>
                <a:latin typeface="Calibri"/>
              </a:rPr>
              <a:t>below 1.0</a:t>
            </a:r>
          </a:p>
        </p:txBody>
      </p:sp>
      <p:sp>
        <p:nvSpPr>
          <p:cNvPr id="33" name="t"/>
          <p:cNvSpPr txBox="1"/>
          <p:nvPr/>
        </p:nvSpPr>
        <p:spPr>
          <a:xfrm>
            <a:off x="4734763" y="2550160"/>
            <a:ext cx="3906316" cy="223012"/>
          </a:xfrm>
          <a:prstGeom prst="rect">
            <a:avLst/>
          </a:prstGeom>
        </p:spPr>
        <p:txBody>
          <a:bodyPr wrap="square" lIns="91440" tIns="45720" rIns="91440" bIns="45720">
            <a:noAutofit/>
          </a:bodyPr>
          <a:lstStyle/>
          <a:p>
            <a:r>
              <a:rPr lang="en-US" sz="950">
                <a:solidFill>
                  <a:srgbClr val="8FA0B8"/>
                </a:solidFill>
                <a:latin typeface="Calibri"/>
              </a:rPr>
              <a:t>cache too small for the working set</a:t>
            </a:r>
          </a:p>
        </p:txBody>
      </p:sp>
      <p:sp>
        <p:nvSpPr>
          <p:cNvPr id="34" name="t"/>
          <p:cNvSpPr txBox="1"/>
          <p:nvPr/>
        </p:nvSpPr>
        <p:spPr>
          <a:xfrm>
            <a:off x="457200" y="2773172"/>
            <a:ext cx="8229600" cy="223012"/>
          </a:xfrm>
          <a:prstGeom prst="rect">
            <a:avLst/>
          </a:prstGeom>
          <a:solidFill>
            <a:srgbClr val="141B28"/>
          </a:solidFill>
        </p:spPr>
        <p:txBody>
          <a:bodyPr wrap="square" lIns="91440" tIns="45720" rIns="91440" bIns="45720">
            <a:noAutofit/>
          </a:bodyPr>
          <a:lstStyle/>
        </p:txBody>
      </p:sp>
      <p:sp>
        <p:nvSpPr>
          <p:cNvPr id="35" name="t"/>
          <p:cNvSpPr txBox="1"/>
          <p:nvPr/>
        </p:nvSpPr>
        <p:spPr>
          <a:xfrm>
            <a:off x="502920" y="2773172"/>
            <a:ext cx="2115921" cy="223012"/>
          </a:xfrm>
          <a:prstGeom prst="rect">
            <a:avLst/>
          </a:prstGeom>
        </p:spPr>
        <p:txBody>
          <a:bodyPr wrap="square" lIns="91440" tIns="45720" rIns="91440" bIns="45720">
            <a:noAutofit/>
          </a:bodyPr>
          <a:lstStyle/>
          <a:p>
            <a:r>
              <a:rPr lang="en-US" sz="950" b="1">
                <a:solidFill>
                  <a:srgbClr val="E8EDF6"/>
                </a:solidFill>
                <a:latin typeface="Calibri"/>
              </a:rPr>
              <a:t>HeartbeatMsec</a:t>
            </a:r>
          </a:p>
        </p:txBody>
      </p:sp>
      <p:sp>
        <p:nvSpPr>
          <p:cNvPr id="36" name="t"/>
          <p:cNvSpPr txBox="1"/>
          <p:nvPr/>
        </p:nvSpPr>
        <p:spPr>
          <a:xfrm>
            <a:off x="2618841" y="2773172"/>
            <a:ext cx="2115921" cy="223012"/>
          </a:xfrm>
          <a:prstGeom prst="rect">
            <a:avLst/>
          </a:prstGeom>
        </p:spPr>
        <p:txBody>
          <a:bodyPr wrap="square" lIns="91440" tIns="45720" rIns="91440" bIns="45720">
            <a:noAutofit/>
          </a:bodyPr>
          <a:lstStyle/>
          <a:p>
            <a:r>
              <a:rPr lang="en-US" sz="950">
                <a:solidFill>
                  <a:srgbClr val="8FA0B8"/>
                </a:solidFill>
                <a:latin typeface="Calibri"/>
              </a:rPr>
              <a:t>gaps</a:t>
            </a:r>
          </a:p>
        </p:txBody>
      </p:sp>
      <p:sp>
        <p:nvSpPr>
          <p:cNvPr id="37" name="t"/>
          <p:cNvSpPr txBox="1"/>
          <p:nvPr/>
        </p:nvSpPr>
        <p:spPr>
          <a:xfrm>
            <a:off x="4734763" y="2773172"/>
            <a:ext cx="3906316" cy="223012"/>
          </a:xfrm>
          <a:prstGeom prst="rect">
            <a:avLst/>
          </a:prstGeom>
        </p:spPr>
        <p:txBody>
          <a:bodyPr wrap="square" lIns="91440" tIns="45720" rIns="91440" bIns="45720">
            <a:noAutofit/>
          </a:bodyPr>
          <a:lstStyle/>
          <a:p>
            <a:r>
              <a:rPr lang="en-US" sz="950">
                <a:solidFill>
                  <a:srgbClr val="8FA0B8"/>
                </a:solidFill>
                <a:latin typeface="Calibri"/>
              </a:rPr>
              <a:t>failover risk; check GcPauseMsec too</a:t>
            </a:r>
          </a:p>
        </p:txBody>
      </p:sp>
      <p:sp>
        <p:nvSpPr>
          <p:cNvPr id="38" name="t"/>
          <p:cNvSpPr txBox="1"/>
          <p:nvPr/>
        </p:nvSpPr>
        <p:spPr>
          <a:xfrm>
            <a:off x="502920" y="2996184"/>
            <a:ext cx="2115921" cy="223012"/>
          </a:xfrm>
          <a:prstGeom prst="rect">
            <a:avLst/>
          </a:prstGeom>
        </p:spPr>
        <p:txBody>
          <a:bodyPr wrap="square" lIns="91440" tIns="45720" rIns="91440" bIns="45720">
            <a:noAutofit/>
          </a:bodyPr>
          <a:lstStyle/>
          <a:p>
            <a:r>
              <a:rPr lang="en-US" sz="950" b="1">
                <a:solidFill>
                  <a:srgbClr val="E8EDF6"/>
                </a:solidFill>
                <a:latin typeface="Calibri"/>
              </a:rPr>
              <a:t>GcPauseMsec</a:t>
            </a:r>
          </a:p>
        </p:txBody>
      </p:sp>
      <p:sp>
        <p:nvSpPr>
          <p:cNvPr id="39" name="t"/>
          <p:cNvSpPr txBox="1"/>
          <p:nvPr/>
        </p:nvSpPr>
        <p:spPr>
          <a:xfrm>
            <a:off x="2618841" y="2996184"/>
            <a:ext cx="2115921" cy="223012"/>
          </a:xfrm>
          <a:prstGeom prst="rect">
            <a:avLst/>
          </a:prstGeom>
        </p:spPr>
        <p:txBody>
          <a:bodyPr wrap="square" lIns="91440" tIns="45720" rIns="91440" bIns="45720">
            <a:noAutofit/>
          </a:bodyPr>
          <a:lstStyle/>
          <a:p>
            <a:r>
              <a:rPr lang="en-US" sz="950">
                <a:solidFill>
                  <a:srgbClr val="8FA0B8"/>
                </a:solidFill>
                <a:latin typeface="Calibri"/>
              </a:rPr>
              <a:t>long pauses</a:t>
            </a:r>
          </a:p>
        </p:txBody>
      </p:sp>
      <p:sp>
        <p:nvSpPr>
          <p:cNvPr id="40" name="t"/>
          <p:cNvSpPr txBox="1"/>
          <p:nvPr/>
        </p:nvSpPr>
        <p:spPr>
          <a:xfrm>
            <a:off x="4734763" y="2996184"/>
            <a:ext cx="3906316" cy="223012"/>
          </a:xfrm>
          <a:prstGeom prst="rect">
            <a:avLst/>
          </a:prstGeom>
        </p:spPr>
        <p:txBody>
          <a:bodyPr wrap="square" lIns="91440" tIns="45720" rIns="91440" bIns="45720">
            <a:noAutofit/>
          </a:bodyPr>
          <a:lstStyle/>
          <a:p>
            <a:r>
              <a:rPr lang="en-US" sz="950">
                <a:solidFill>
                  <a:srgbClr val="8FA0B8"/>
                </a:solidFill>
                <a:latin typeface="Calibri"/>
              </a:rPr>
              <a:t>the classic cause of spurious failover</a:t>
            </a:r>
          </a:p>
        </p:txBody>
      </p:sp>
      <p:sp>
        <p:nvSpPr>
          <p:cNvPr id="4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4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83</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An operations checklist</a:t>
            </a:r>
          </a:p>
        </p:txBody>
      </p:sp>
      <p:sp>
        <p:nvSpPr>
          <p:cNvPr id="3" name="t"/>
          <p:cNvSpPr txBox="1"/>
          <p:nvPr/>
        </p:nvSpPr>
        <p:spPr>
          <a:xfrm>
            <a:off x="502920" y="766064"/>
            <a:ext cx="3954780" cy="195072"/>
          </a:xfrm>
          <a:prstGeom prst="rect">
            <a:avLst/>
          </a:prstGeom>
        </p:spPr>
        <p:txBody>
          <a:bodyPr wrap="square" lIns="91440" tIns="45720" rIns="91440" bIns="45720">
            <a:noAutofit/>
          </a:bodyPr>
          <a:lstStyle/>
          <a:p>
            <a:r>
              <a:rPr lang="en-US" sz="1200" b="1">
                <a:solidFill>
                  <a:srgbClr val="7BD88F"/>
                </a:solidFill>
                <a:latin typeface="Calibri"/>
              </a:rPr>
              <a:t>Before you go live</a:t>
            </a:r>
          </a:p>
        </p:txBody>
      </p:sp>
      <p:sp>
        <p:nvSpPr>
          <p:cNvPr id="4" name="t"/>
          <p:cNvSpPr txBox="1"/>
          <p:nvPr/>
        </p:nvSpPr>
        <p:spPr>
          <a:xfrm>
            <a:off x="502920" y="1080008"/>
            <a:ext cx="3954780" cy="162560"/>
          </a:xfrm>
          <a:prstGeom prst="rect">
            <a:avLst/>
          </a:prstGeom>
        </p:spPr>
        <p:txBody>
          <a:bodyPr wrap="square" lIns="91440" tIns="45720" rIns="91440" bIns="45720">
            <a:noAutofit/>
          </a:bodyPr>
          <a:lstStyle/>
          <a:p>
            <a:r>
              <a:rPr lang="en-US" sz="1000">
                <a:solidFill>
                  <a:srgbClr val="E8EDF6"/>
                </a:solidFill>
                <a:latin typeface="Calibri"/>
              </a:rPr>
              <a:t>· Two transactors, identical properties</a:t>
            </a:r>
          </a:p>
        </p:txBody>
      </p:sp>
      <p:sp>
        <p:nvSpPr>
          <p:cNvPr id="5" name="t"/>
          <p:cNvSpPr txBox="1"/>
          <p:nvPr/>
        </p:nvSpPr>
        <p:spPr>
          <a:xfrm>
            <a:off x="502920" y="1242568"/>
            <a:ext cx="3954780" cy="162560"/>
          </a:xfrm>
          <a:prstGeom prst="rect">
            <a:avLst/>
          </a:prstGeom>
        </p:spPr>
        <p:txBody>
          <a:bodyPr wrap="square" lIns="91440" tIns="45720" rIns="91440" bIns="45720">
            <a:noAutofit/>
          </a:bodyPr>
          <a:lstStyle/>
          <a:p>
            <a:r>
              <a:rPr lang="en-US" sz="1000">
                <a:solidFill>
                  <a:srgbClr val="E8EDF6"/>
                </a:solidFill>
                <a:latin typeface="Calibri"/>
              </a:rPr>
              <a:t>· Metrics flowing, Alarm alerting</a:t>
            </a:r>
          </a:p>
        </p:txBody>
      </p:sp>
      <p:sp>
        <p:nvSpPr>
          <p:cNvPr id="6" name="t"/>
          <p:cNvSpPr txBox="1"/>
          <p:nvPr/>
        </p:nvSpPr>
        <p:spPr>
          <a:xfrm>
            <a:off x="502920" y="1405128"/>
            <a:ext cx="3954780" cy="162560"/>
          </a:xfrm>
          <a:prstGeom prst="rect">
            <a:avLst/>
          </a:prstGeom>
        </p:spPr>
        <p:txBody>
          <a:bodyPr wrap="square" lIns="91440" tIns="45720" rIns="91440" bIns="45720">
            <a:noAutofit/>
          </a:bodyPr>
          <a:lstStyle/>
          <a:p>
            <a:r>
              <a:rPr lang="en-US" sz="1000">
                <a:solidFill>
                  <a:srgbClr val="E8EDF6"/>
                </a:solidFill>
                <a:latin typeface="Calibri"/>
              </a:rPr>
              <a:t>· Heap sized: max + cache + headroom</a:t>
            </a:r>
          </a:p>
        </p:txBody>
      </p:sp>
      <p:sp>
        <p:nvSpPr>
          <p:cNvPr id="7" name="t"/>
          <p:cNvSpPr txBox="1"/>
          <p:nvPr/>
        </p:nvSpPr>
        <p:spPr>
          <a:xfrm>
            <a:off x="502920" y="1567688"/>
            <a:ext cx="3954780" cy="162560"/>
          </a:xfrm>
          <a:prstGeom prst="rect">
            <a:avLst/>
          </a:prstGeom>
        </p:spPr>
        <p:txBody>
          <a:bodyPr wrap="square" lIns="91440" tIns="45720" rIns="91440" bIns="45720">
            <a:noAutofit/>
          </a:bodyPr>
          <a:lstStyle/>
          <a:p>
            <a:r>
              <a:rPr lang="en-US" sz="1000">
                <a:solidFill>
                  <a:srgbClr val="E8EDF6"/>
                </a:solidFill>
                <a:latin typeface="Calibri"/>
              </a:rPr>
              <a:t>· GC flags verified on the real launch command</a:t>
            </a:r>
          </a:p>
        </p:txBody>
      </p:sp>
      <p:sp>
        <p:nvSpPr>
          <p:cNvPr id="8" name="t"/>
          <p:cNvSpPr txBox="1"/>
          <p:nvPr/>
        </p:nvSpPr>
        <p:spPr>
          <a:xfrm>
            <a:off x="502920" y="1730248"/>
            <a:ext cx="3954780" cy="162560"/>
          </a:xfrm>
          <a:prstGeom prst="rect">
            <a:avLst/>
          </a:prstGeom>
        </p:spPr>
        <p:txBody>
          <a:bodyPr wrap="square" lIns="91440" tIns="45720" rIns="91440" bIns="45720">
            <a:noAutofit/>
          </a:bodyPr>
          <a:lstStyle/>
          <a:p>
            <a:r>
              <a:rPr lang="en-US" sz="1000">
                <a:solidFill>
                  <a:srgbClr val="E8EDF6"/>
                </a:solidFill>
                <a:latin typeface="Calibri"/>
              </a:rPr>
              <a:t>· host / alt-host correct from outside the box</a:t>
            </a:r>
          </a:p>
        </p:txBody>
      </p:sp>
      <p:sp>
        <p:nvSpPr>
          <p:cNvPr id="9" name="t"/>
          <p:cNvSpPr txBox="1"/>
          <p:nvPr/>
        </p:nvSpPr>
        <p:spPr>
          <a:xfrm>
            <a:off x="502920" y="1892808"/>
            <a:ext cx="3954780" cy="162560"/>
          </a:xfrm>
          <a:prstGeom prst="rect">
            <a:avLst/>
          </a:prstGeom>
        </p:spPr>
        <p:txBody>
          <a:bodyPr wrap="square" lIns="91440" tIns="45720" rIns="91440" bIns="45720">
            <a:noAutofit/>
          </a:bodyPr>
          <a:lstStyle/>
          <a:p>
            <a:r>
              <a:rPr lang="en-US" sz="1000">
                <a:solidFill>
                  <a:srgbClr val="E8EDF6"/>
                </a:solidFill>
                <a:latin typeface="Calibri"/>
              </a:rPr>
              <a:t>· A backup job, to a URI you reuse</a:t>
            </a:r>
          </a:p>
        </p:txBody>
      </p:sp>
      <p:sp>
        <p:nvSpPr>
          <p:cNvPr id="10" name="t"/>
          <p:cNvSpPr txBox="1"/>
          <p:nvPr/>
        </p:nvSpPr>
        <p:spPr>
          <a:xfrm>
            <a:off x="502920" y="2055368"/>
            <a:ext cx="3954780" cy="162560"/>
          </a:xfrm>
          <a:prstGeom prst="rect">
            <a:avLst/>
          </a:prstGeom>
        </p:spPr>
        <p:txBody>
          <a:bodyPr wrap="square" lIns="91440" tIns="45720" rIns="91440" bIns="45720">
            <a:noAutofit/>
          </a:bodyPr>
          <a:lstStyle/>
          <a:p>
            <a:r>
              <a:rPr lang="en-US" sz="1000">
                <a:solidFill>
                  <a:srgbClr val="E8EDF6"/>
                </a:solidFill>
                <a:latin typeface="Calibri"/>
              </a:rPr>
              <a:t>· A restore, actually performed once</a:t>
            </a:r>
          </a:p>
        </p:txBody>
      </p:sp>
      <p:sp>
        <p:nvSpPr>
          <p:cNvPr id="11" name="t"/>
          <p:cNvSpPr txBox="1"/>
          <p:nvPr/>
        </p:nvSpPr>
        <p:spPr>
          <a:xfrm>
            <a:off x="4686300" y="766064"/>
            <a:ext cx="3954780" cy="195072"/>
          </a:xfrm>
          <a:prstGeom prst="rect">
            <a:avLst/>
          </a:prstGeom>
        </p:spPr>
        <p:txBody>
          <a:bodyPr wrap="square" lIns="91440" tIns="45720" rIns="91440" bIns="45720">
            <a:noAutofit/>
          </a:bodyPr>
          <a:lstStyle/>
          <a:p>
            <a:r>
              <a:rPr lang="en-US" sz="1200" b="1">
                <a:solidFill>
                  <a:srgbClr val="6FA8FF"/>
                </a:solidFill>
                <a:latin typeface="Calibri"/>
              </a:rPr>
              <a:t>Every week or month</a:t>
            </a:r>
          </a:p>
        </p:txBody>
      </p:sp>
      <p:sp>
        <p:nvSpPr>
          <p:cNvPr id="12" name="t"/>
          <p:cNvSpPr txBox="1"/>
          <p:nvPr/>
        </p:nvSpPr>
        <p:spPr>
          <a:xfrm>
            <a:off x="4686300" y="1080008"/>
            <a:ext cx="3954780" cy="162560"/>
          </a:xfrm>
          <a:prstGeom prst="rect">
            <a:avLst/>
          </a:prstGeom>
        </p:spPr>
        <p:txBody>
          <a:bodyPr wrap="square" lIns="91440" tIns="45720" rIns="91440" bIns="45720">
            <a:noAutofit/>
          </a:bodyPr>
          <a:lstStyle/>
          <a:p>
            <a:r>
              <a:rPr lang="en-US" sz="1000">
                <a:solidFill>
                  <a:srgbClr val="E8EDF6"/>
                </a:solidFill>
                <a:latin typeface="Calibri"/>
              </a:rPr>
              <a:t>· gc-storage on a schedule</a:t>
            </a:r>
          </a:p>
        </p:txBody>
      </p:sp>
      <p:sp>
        <p:nvSpPr>
          <p:cNvPr id="13" name="t"/>
          <p:cNvSpPr txBox="1"/>
          <p:nvPr/>
        </p:nvSpPr>
        <p:spPr>
          <a:xfrm>
            <a:off x="4686300" y="1242568"/>
            <a:ext cx="3954780" cy="162560"/>
          </a:xfrm>
          <a:prstGeom prst="rect">
            <a:avLst/>
          </a:prstGeom>
        </p:spPr>
        <p:txBody>
          <a:bodyPr wrap="square" lIns="91440" tIns="45720" rIns="91440" bIns="45720">
            <a:noAutofit/>
          </a:bodyPr>
          <a:lstStyle/>
          <a:p>
            <a:r>
              <a:rPr lang="en-US" sz="1000">
                <a:solidFill>
                  <a:srgbClr val="E8EDF6"/>
                </a:solidFill>
                <a:latin typeface="Calibri"/>
              </a:rPr>
              <a:t>· gc-deleted-dbs after cleanups</a:t>
            </a:r>
          </a:p>
        </p:txBody>
      </p:sp>
      <p:sp>
        <p:nvSpPr>
          <p:cNvPr id="14" name="t"/>
          <p:cNvSpPr txBox="1"/>
          <p:nvPr/>
        </p:nvSpPr>
        <p:spPr>
          <a:xfrm>
            <a:off x="4686300" y="1405128"/>
            <a:ext cx="3954780" cy="162560"/>
          </a:xfrm>
          <a:prstGeom prst="rect">
            <a:avLst/>
          </a:prstGeom>
        </p:spPr>
        <p:txBody>
          <a:bodyPr wrap="square" lIns="91440" tIns="45720" rIns="91440" bIns="45720">
            <a:noAutofit/>
          </a:bodyPr>
          <a:lstStyle/>
          <a:p>
            <a:r>
              <a:rPr lang="en-US" sz="1000">
                <a:solidFill>
                  <a:srgbClr val="E8EDF6"/>
                </a:solidFill>
                <a:latin typeface="Calibri"/>
              </a:rPr>
              <a:t>· Check cache hit ratios against growth</a:t>
            </a:r>
          </a:p>
        </p:txBody>
      </p:sp>
      <p:sp>
        <p:nvSpPr>
          <p:cNvPr id="15" name="t"/>
          <p:cNvSpPr txBox="1"/>
          <p:nvPr/>
        </p:nvSpPr>
        <p:spPr>
          <a:xfrm>
            <a:off x="4686300" y="1567688"/>
            <a:ext cx="3954780" cy="162560"/>
          </a:xfrm>
          <a:prstGeom prst="rect">
            <a:avLst/>
          </a:prstGeom>
        </p:spPr>
        <p:txBody>
          <a:bodyPr wrap="square" lIns="91440" tIns="45720" rIns="91440" bIns="45720">
            <a:noAutofit/>
          </a:bodyPr>
          <a:lstStyle/>
          <a:p>
            <a:r>
              <a:rPr lang="en-US" sz="1000">
                <a:solidFill>
                  <a:srgbClr val="E8EDF6"/>
                </a:solidFill>
                <a:latin typeface="Calibri"/>
              </a:rPr>
              <a:t>· Check MemoryIndexMB trend</a:t>
            </a:r>
          </a:p>
        </p:txBody>
      </p:sp>
      <p:sp>
        <p:nvSpPr>
          <p:cNvPr id="16" name="t"/>
          <p:cNvSpPr txBox="1"/>
          <p:nvPr/>
        </p:nvSpPr>
        <p:spPr>
          <a:xfrm>
            <a:off x="4686300" y="1730248"/>
            <a:ext cx="3954780" cy="162560"/>
          </a:xfrm>
          <a:prstGeom prst="rect">
            <a:avLst/>
          </a:prstGeom>
        </p:spPr>
        <p:txBody>
          <a:bodyPr wrap="square" lIns="91440" tIns="45720" rIns="91440" bIns="45720">
            <a:noAutofit/>
          </a:bodyPr>
          <a:lstStyle/>
          <a:p>
            <a:r>
              <a:rPr lang="en-US" sz="1000">
                <a:solidFill>
                  <a:srgbClr val="E8EDF6"/>
                </a:solidFill>
                <a:latin typeface="Calibri"/>
              </a:rPr>
              <a:t>· Re-run a restore drill</a:t>
            </a:r>
          </a:p>
        </p:txBody>
      </p:sp>
      <p:sp>
        <p:nvSpPr>
          <p:cNvPr id="17" name="t"/>
          <p:cNvSpPr txBox="1"/>
          <p:nvPr/>
        </p:nvSpPr>
        <p:spPr>
          <a:xfrm>
            <a:off x="4686300" y="1892808"/>
            <a:ext cx="3954780" cy="162560"/>
          </a:xfrm>
          <a:prstGeom prst="rect">
            <a:avLst/>
          </a:prstGeom>
        </p:spPr>
        <p:txBody>
          <a:bodyPr wrap="square" lIns="91440" tIns="45720" rIns="91440" bIns="45720">
            <a:noAutofit/>
          </a:bodyPr>
          <a:lstStyle/>
          <a:p>
            <a:r>
              <a:rPr lang="en-US" sz="1000">
                <a:solidFill>
                  <a:srgbClr val="E8EDF6"/>
                </a:solidFill>
                <a:latin typeface="Calibri"/>
              </a:rPr>
              <a:t>· Review indexing job duration</a:t>
            </a:r>
          </a:p>
        </p:txBody>
      </p:sp>
      <p:sp>
        <p:nvSpPr>
          <p:cNvPr id="18" name="t"/>
          <p:cNvSpPr txBox="1"/>
          <p:nvPr/>
        </p:nvSpPr>
        <p:spPr>
          <a:xfrm>
            <a:off x="4686300" y="2055368"/>
            <a:ext cx="3954780" cy="162560"/>
          </a:xfrm>
          <a:prstGeom prst="rect">
            <a:avLst/>
          </a:prstGeom>
        </p:spPr>
        <p:txBody>
          <a:bodyPr wrap="square" lIns="91440" tIns="45720" rIns="91440" bIns="45720">
            <a:noAutofit/>
          </a:bodyPr>
          <a:lstStyle/>
          <a:p>
            <a:r>
              <a:rPr lang="en-US" sz="1000">
                <a:solidFill>
                  <a:srgbClr val="E8EDF6"/>
                </a:solidFill>
                <a:latin typeface="Calibri"/>
              </a:rPr>
              <a:t>· Confirm the standby is still standing by</a:t>
            </a:r>
          </a:p>
        </p:txBody>
      </p:sp>
      <p:sp>
        <p:nvSpPr>
          <p:cNvPr id="19" name="t"/>
          <p:cNvSpPr txBox="1"/>
          <p:nvPr/>
        </p:nvSpPr>
        <p:spPr>
          <a:xfrm>
            <a:off x="502920" y="2405380"/>
            <a:ext cx="45720" cy="270256"/>
          </a:xfrm>
          <a:prstGeom prst="rect">
            <a:avLst/>
          </a:prstGeom>
          <a:solidFill>
            <a:srgbClr val="FFC66D"/>
          </a:solidFill>
        </p:spPr>
        <p:txBody>
          <a:bodyPr wrap="square" lIns="91440" tIns="45720" rIns="91440" bIns="45720">
            <a:noAutofit/>
          </a:bodyPr>
          <a:lstStyle/>
        </p:txBody>
      </p:sp>
      <p:sp>
        <p:nvSpPr>
          <p:cNvPr id="20" name="t"/>
          <p:cNvSpPr txBox="1"/>
          <p:nvPr/>
        </p:nvSpPr>
        <p:spPr>
          <a:xfrm>
            <a:off x="594360" y="2405380"/>
            <a:ext cx="8046720" cy="270256"/>
          </a:xfrm>
          <a:prstGeom prst="rect">
            <a:avLst/>
          </a:prstGeom>
        </p:spPr>
        <p:txBody>
          <a:bodyPr wrap="square" lIns="91440" tIns="45720" rIns="91440" bIns="45720">
            <a:noAutofit/>
          </a:bodyPr>
          <a:lstStyle/>
          <a:p>
            <a:r>
              <a:rPr lang="en-US" sz="1100">
                <a:solidFill>
                  <a:srgbClr val="E8EDF6"/>
                </a:solidFill>
                <a:latin typeface="Calibri"/>
              </a:rPr>
              <a:t>⚠  The one item people skip is the restore drill. It is also the only one that matters at 3am.</a:t>
            </a:r>
          </a:p>
        </p:txBody>
      </p:sp>
      <p:sp>
        <p:nvSpPr>
          <p:cNvPr id="2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2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84</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Exercise — pick a topology</a:t>
            </a:r>
          </a:p>
        </p:txBody>
      </p:sp>
      <p:sp>
        <p:nvSpPr>
          <p:cNvPr id="3" name="t"/>
          <p:cNvSpPr txBox="1"/>
          <p:nvPr/>
        </p:nvSpPr>
        <p:spPr>
          <a:xfrm>
            <a:off x="502920" y="766064"/>
            <a:ext cx="2621280" cy="1424635"/>
          </a:xfrm>
          <a:prstGeom prst="roundRect">
            <a:avLst/>
          </a:prstGeom>
          <a:solidFill>
            <a:srgbClr val="18202F"/>
          </a:solidFill>
        </p:spPr>
        <p:txBody>
          <a:bodyPr wrap="square" lIns="91440" tIns="45720" rIns="91440" bIns="45720">
            <a:noAutofit/>
          </a:bodyPr>
          <a:lstStyle/>
          <a:p>
            <a:r>
              <a:rPr lang="en-US" sz="1200" b="1">
                <a:solidFill>
                  <a:srgbClr val="C09BFF"/>
                </a:solidFill>
                <a:latin typeface="Calibri"/>
              </a:rPr>
              <a:t>A</a:t>
            </a:r>
          </a:p>
          <a:p>
            <a:endParaRPr lang="en-US" sz="500"/>
          </a:p>
          <a:p>
            <a:r>
              <a:rPr lang="en-US" sz="1000">
                <a:solidFill>
                  <a:srgbClr val="E8EDF6"/>
                </a:solidFill>
                <a:latin typeface="Calibri"/>
              </a:rPr>
              <a:t>A 12-person startup on AWS.</a:t>
            </a:r>
          </a:p>
          <a:p>
            <a:r>
              <a:rPr lang="en-US" sz="1000">
                <a:solidFill>
                  <a:srgbClr val="E8EDF6"/>
                </a:solidFill>
                <a:latin typeface="Calibri"/>
              </a:rPr>
              <a:t>Two services, modest write rate,</a:t>
            </a:r>
          </a:p>
          <a:p>
            <a:r>
              <a:rPr lang="en-US" sz="1000">
                <a:solidFill>
                  <a:srgbClr val="E8EDF6"/>
                </a:solidFill>
                <a:latin typeface="Calibri"/>
              </a:rPr>
              <a:t>no ops team, needs to move fast.</a:t>
            </a:r>
          </a:p>
          <a:p>
            <a:endParaRPr lang="en-US" sz="1000"/>
          </a:p>
          <a:p>
            <a:r>
              <a:rPr lang="en-US" sz="1000">
                <a:solidFill>
                  <a:srgbClr val="E8EDF6"/>
                </a:solidFill>
                <a:latin typeface="Calibri"/>
              </a:rPr>
              <a:t>What do you deploy, and</a:t>
            </a:r>
          </a:p>
          <a:p>
            <a:r>
              <a:rPr lang="en-US" sz="1000">
                <a:solidFill>
                  <a:srgbClr val="E8EDF6"/>
                </a:solidFill>
                <a:latin typeface="Calibri"/>
              </a:rPr>
              <a:t>what worries you first?</a:t>
            </a:r>
          </a:p>
        </p:txBody>
      </p:sp>
      <p:sp>
        <p:nvSpPr>
          <p:cNvPr id="4" name="t"/>
          <p:cNvSpPr txBox="1"/>
          <p:nvPr/>
        </p:nvSpPr>
        <p:spPr>
          <a:xfrm>
            <a:off x="3261360" y="766064"/>
            <a:ext cx="2621280" cy="1424635"/>
          </a:xfrm>
          <a:prstGeom prst="roundRect">
            <a:avLst/>
          </a:prstGeom>
          <a:solidFill>
            <a:srgbClr val="18202F"/>
          </a:solidFill>
        </p:spPr>
        <p:txBody>
          <a:bodyPr wrap="square" lIns="91440" tIns="45720" rIns="91440" bIns="45720">
            <a:noAutofit/>
          </a:bodyPr>
          <a:lstStyle/>
          <a:p>
            <a:r>
              <a:rPr lang="en-US" sz="1200" b="1">
                <a:solidFill>
                  <a:srgbClr val="7BD88F"/>
                </a:solidFill>
                <a:latin typeface="Calibri"/>
              </a:rPr>
              <a:t>B</a:t>
            </a:r>
          </a:p>
          <a:p>
            <a:endParaRPr lang="en-US" sz="500"/>
          </a:p>
          <a:p>
            <a:r>
              <a:rPr lang="en-US" sz="1000">
                <a:solidFill>
                  <a:srgbClr val="E8EDF6"/>
                </a:solidFill>
                <a:latin typeface="Calibri"/>
              </a:rPr>
              <a:t>A bank, on-prem, must prove</a:t>
            </a:r>
          </a:p>
          <a:p>
            <a:r>
              <a:rPr lang="en-US" sz="1000">
                <a:solidFill>
                  <a:srgbClr val="E8EDF6"/>
                </a:solidFill>
                <a:latin typeface="Calibri"/>
              </a:rPr>
              <a:t>point-in-time recovery to an</a:t>
            </a:r>
          </a:p>
          <a:p>
            <a:r>
              <a:rPr lang="en-US" sz="1000">
                <a:solidFill>
                  <a:srgbClr val="E8EDF6"/>
                </a:solidFill>
                <a:latin typeface="Calibri"/>
              </a:rPr>
              <a:t>auditor. High read volume,</a:t>
            </a:r>
          </a:p>
          <a:p>
            <a:r>
              <a:rPr lang="en-US" sz="1000">
                <a:solidFill>
                  <a:srgbClr val="E8EDF6"/>
                </a:solidFill>
                <a:latin typeface="Calibri"/>
              </a:rPr>
              <a:t>low write volume.</a:t>
            </a:r>
          </a:p>
          <a:p>
            <a:endParaRPr lang="en-US" sz="1000"/>
          </a:p>
          <a:p>
            <a:r>
              <a:rPr lang="en-US" sz="1000">
                <a:solidFill>
                  <a:srgbClr val="E8EDF6"/>
                </a:solidFill>
                <a:latin typeface="Calibri"/>
              </a:rPr>
              <a:t>Which product, which storage?</a:t>
            </a:r>
          </a:p>
        </p:txBody>
      </p:sp>
      <p:sp>
        <p:nvSpPr>
          <p:cNvPr id="5" name="t"/>
          <p:cNvSpPr txBox="1"/>
          <p:nvPr/>
        </p:nvSpPr>
        <p:spPr>
          <a:xfrm>
            <a:off x="6019800" y="766064"/>
            <a:ext cx="2621280" cy="1424635"/>
          </a:xfrm>
          <a:prstGeom prst="roundRect">
            <a:avLst/>
          </a:prstGeom>
          <a:solidFill>
            <a:srgbClr val="18202F"/>
          </a:solidFill>
        </p:spPr>
        <p:txBody>
          <a:bodyPr wrap="square" lIns="91440" tIns="45720" rIns="91440" bIns="45720">
            <a:noAutofit/>
          </a:bodyPr>
          <a:lstStyle/>
          <a:p>
            <a:r>
              <a:rPr lang="en-US" sz="1200" b="1">
                <a:solidFill>
                  <a:srgbClr val="FFC66D"/>
                </a:solidFill>
                <a:latin typeface="Calibri"/>
              </a:rPr>
              <a:t>C</a:t>
            </a:r>
          </a:p>
          <a:p>
            <a:endParaRPr lang="en-US" sz="500"/>
          </a:p>
          <a:p>
            <a:r>
              <a:rPr lang="en-US" sz="1000">
                <a:solidFill>
                  <a:srgbClr val="E8EDF6"/>
                </a:solidFill>
                <a:latin typeface="Calibri"/>
              </a:rPr>
              <a:t>An ingestion pipeline writing</a:t>
            </a:r>
          </a:p>
          <a:p>
            <a:r>
              <a:rPr lang="en-US" sz="1000">
                <a:solidFill>
                  <a:srgbClr val="E8EDF6"/>
                </a:solidFill>
                <a:latin typeface="Calibri"/>
              </a:rPr>
              <a:t>50k datoms/second in bursts,</a:t>
            </a:r>
          </a:p>
          <a:p>
            <a:r>
              <a:rPr lang="en-US" sz="1000">
                <a:solidFill>
                  <a:srgbClr val="E8EDF6"/>
                </a:solidFill>
                <a:latin typeface="Calibri"/>
              </a:rPr>
              <a:t>read by a small dashboard.</a:t>
            </a:r>
          </a:p>
          <a:p>
            <a:endParaRPr lang="en-US" sz="1000"/>
          </a:p>
          <a:p>
            <a:r>
              <a:rPr lang="en-US" sz="1000">
                <a:solidFill>
                  <a:srgbClr val="E8EDF6"/>
                </a:solidFill>
                <a:latin typeface="Calibri"/>
              </a:rPr>
              <a:t>Where does this break, and</a:t>
            </a:r>
          </a:p>
          <a:p>
            <a:r>
              <a:rPr lang="en-US" sz="1000">
                <a:solidFill>
                  <a:srgbClr val="E8EDF6"/>
                </a:solidFill>
                <a:latin typeface="Calibri"/>
              </a:rPr>
              <a:t>what do you change?</a:t>
            </a:r>
          </a:p>
        </p:txBody>
      </p:sp>
      <p:sp>
        <p:nvSpPr>
          <p:cNvPr id="6"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7"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85</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F1420"/>
        </a:solidFill>
        <a:effectLst/>
      </p:bgPr>
    </p:bg>
    <p:spTree>
      <p:nvGrpSpPr>
        <p:cNvPr id="1" name=""/>
        <p:cNvGrpSpPr/>
        <p:nvPr/>
      </p:nvGrpSpPr>
      <p:grpSpPr>
        <a:xfrm>
          <a:off x="0" y="0"/>
          <a:ext cx="0" cy="0"/>
          <a:chOff x="0" y="0"/>
          <a:chExt cx="0" cy="0"/>
        </a:xfrm>
      </p:grpSpPr>
      <p:sp>
        <p:nvSpPr>
          <p:cNvPr id="2" name="t"/>
          <p:cNvSpPr txBox="1"/>
          <p:nvPr/>
        </p:nvSpPr>
        <p:spPr>
          <a:xfrm>
            <a:off x="502920" y="320040"/>
            <a:ext cx="8138160" cy="308864"/>
          </a:xfrm>
          <a:prstGeom prst="rect">
            <a:avLst/>
          </a:prstGeom>
        </p:spPr>
        <p:txBody>
          <a:bodyPr wrap="square" lIns="91440" tIns="45720" rIns="91440" bIns="45720">
            <a:noAutofit/>
          </a:bodyPr>
          <a:lstStyle/>
          <a:p>
            <a:r>
              <a:rPr lang="en-US" sz="1900" b="1">
                <a:solidFill>
                  <a:srgbClr val="E8EDF6"/>
                </a:solidFill>
                <a:latin typeface="Arial"/>
              </a:rPr>
              <a:t>Where to go next</a:t>
            </a:r>
          </a:p>
        </p:txBody>
      </p:sp>
      <p:sp>
        <p:nvSpPr>
          <p:cNvPr id="3" name="t"/>
          <p:cNvSpPr txBox="1"/>
          <p:nvPr/>
        </p:nvSpPr>
        <p:spPr>
          <a:xfrm>
            <a:off x="502920" y="766064"/>
            <a:ext cx="8138160" cy="373888"/>
          </a:xfrm>
          <a:prstGeom prst="rect">
            <a:avLst/>
          </a:prstGeom>
        </p:spPr>
        <p:txBody>
          <a:bodyPr wrap="square" lIns="91440" tIns="45720" rIns="91440" bIns="45720">
            <a:noAutofit/>
          </a:bodyPr>
          <a:lstStyle/>
          <a:p>
            <a:r>
              <a:rPr lang="en-US" sz="1150">
                <a:solidFill>
                  <a:srgbClr val="E8EDF6"/>
                </a:solidFill>
                <a:latin typeface="Calibri"/>
              </a:rPr>
              <a:t>▸ docs.datomic.com/operation — capacity, monitoring, HA, backup, system properties. The operations pages are short and worth reading end to end.</a:t>
            </a:r>
          </a:p>
        </p:txBody>
      </p:sp>
      <p:sp>
        <p:nvSpPr>
          <p:cNvPr id="4" name="t"/>
          <p:cNvSpPr txBox="1"/>
          <p:nvPr/>
        </p:nvSpPr>
        <p:spPr>
          <a:xfrm>
            <a:off x="502920" y="1139952"/>
            <a:ext cx="8138160" cy="186944"/>
          </a:xfrm>
          <a:prstGeom prst="rect">
            <a:avLst/>
          </a:prstGeom>
        </p:spPr>
        <p:txBody>
          <a:bodyPr wrap="square" lIns="91440" tIns="45720" rIns="91440" bIns="45720">
            <a:noAutofit/>
          </a:bodyPr>
          <a:lstStyle/>
          <a:p>
            <a:r>
              <a:rPr lang="en-US" sz="1150">
                <a:solidFill>
                  <a:srgbClr val="E8EDF6"/>
                </a:solidFill>
                <a:latin typeface="Calibri"/>
              </a:rPr>
              <a:t>▸ The system-properties page is the single best reference to keep open while tuning</a:t>
            </a:r>
          </a:p>
        </p:txBody>
      </p:sp>
      <p:sp>
        <p:nvSpPr>
          <p:cNvPr id="5" name="t"/>
          <p:cNvSpPr txBox="1"/>
          <p:nvPr/>
        </p:nvSpPr>
        <p:spPr>
          <a:xfrm>
            <a:off x="502920" y="1326896"/>
            <a:ext cx="8138160" cy="186944"/>
          </a:xfrm>
          <a:prstGeom prst="rect">
            <a:avLst/>
          </a:prstGeom>
        </p:spPr>
        <p:txBody>
          <a:bodyPr wrap="square" lIns="91440" tIns="45720" rIns="91440" bIns="45720">
            <a:noAutofit/>
          </a:bodyPr>
          <a:lstStyle/>
          <a:p>
            <a:r>
              <a:rPr lang="en-US" sz="1150">
                <a:solidFill>
                  <a:srgbClr val="FFC66D"/>
                </a:solidFill>
                <a:latin typeface="Calibri"/>
              </a:rPr>
              <a:t>▸ Run the capacity page's import guidance before your first bulk load, not after</a:t>
            </a:r>
          </a:p>
        </p:txBody>
      </p:sp>
      <p:sp>
        <p:nvSpPr>
          <p:cNvPr id="6" name="t"/>
          <p:cNvSpPr txBox="1"/>
          <p:nvPr/>
        </p:nvSpPr>
        <p:spPr>
          <a:xfrm>
            <a:off x="502920" y="1513840"/>
            <a:ext cx="8138160" cy="373888"/>
          </a:xfrm>
          <a:prstGeom prst="rect">
            <a:avLst/>
          </a:prstGeom>
        </p:spPr>
        <p:txBody>
          <a:bodyPr wrap="square" lIns="91440" tIns="45720" rIns="91440" bIns="45720">
            <a:noAutofit/>
          </a:bodyPr>
          <a:lstStyle/>
          <a:p>
            <a:r>
              <a:rPr lang="en-US" sz="1150">
                <a:solidFill>
                  <a:srgbClr val="7BD88F"/>
                </a:solidFill>
                <a:latin typeface="Calibri"/>
              </a:rPr>
              <a:t>▸ The companion class, "One Database, Many Shapes", covers the modeling side — schema decisions that show up here as write amplification and cache pressure</a:t>
            </a:r>
          </a:p>
        </p:txBody>
      </p:sp>
      <p:sp>
        <p:nvSpPr>
          <p:cNvPr id="7" name="t"/>
          <p:cNvSpPr txBox="1"/>
          <p:nvPr/>
        </p:nvSpPr>
        <p:spPr>
          <a:xfrm>
            <a:off x="502920" y="2098040"/>
            <a:ext cx="8138160" cy="195072"/>
          </a:xfrm>
          <a:prstGeom prst="rect">
            <a:avLst/>
          </a:prstGeom>
        </p:spPr>
        <p:txBody>
          <a:bodyPr wrap="square" lIns="91440" tIns="45720" rIns="91440" bIns="45720">
            <a:noAutofit/>
          </a:bodyPr>
          <a:lstStyle/>
          <a:p>
            <a:r>
              <a:rPr lang="en-US" sz="1200" b="1">
                <a:solidFill>
                  <a:srgbClr val="8FA0B8"/>
                </a:solidFill>
                <a:latin typeface="Calibri"/>
              </a:rPr>
              <a:t>Three sentences to keep:</a:t>
            </a:r>
          </a:p>
        </p:txBody>
      </p:sp>
      <p:sp>
        <p:nvSpPr>
          <p:cNvPr id="8" name="t"/>
          <p:cNvSpPr txBox="1"/>
          <p:nvPr/>
        </p:nvSpPr>
        <p:spPr>
          <a:xfrm>
            <a:off x="502920" y="2411984"/>
            <a:ext cx="8138160" cy="195072"/>
          </a:xfrm>
          <a:prstGeom prst="rect">
            <a:avLst/>
          </a:prstGeom>
        </p:spPr>
        <p:txBody>
          <a:bodyPr wrap="square" lIns="91440" tIns="45720" rIns="91440" bIns="45720">
            <a:noAutofit/>
          </a:bodyPr>
          <a:lstStyle/>
          <a:p>
            <a:r>
              <a:rPr lang="en-US" sz="1200">
                <a:solidFill>
                  <a:srgbClr val="FFC66D"/>
                </a:solidFill>
                <a:latin typeface="Calibri"/>
              </a:rPr>
              <a:t>Writes coordinate; reads do not.</a:t>
            </a:r>
          </a:p>
        </p:txBody>
      </p:sp>
      <p:sp>
        <p:nvSpPr>
          <p:cNvPr id="9" name="t"/>
          <p:cNvSpPr txBox="1"/>
          <p:nvPr/>
        </p:nvSpPr>
        <p:spPr>
          <a:xfrm>
            <a:off x="502920" y="2607056"/>
            <a:ext cx="8138160" cy="195072"/>
          </a:xfrm>
          <a:prstGeom prst="rect">
            <a:avLst/>
          </a:prstGeom>
        </p:spPr>
        <p:txBody>
          <a:bodyPr wrap="square" lIns="91440" tIns="45720" rIns="91440" bIns="45720">
            <a:noAutofit/>
          </a:bodyPr>
          <a:lstStyle/>
          <a:p>
            <a:r>
              <a:rPr lang="en-US" sz="1200">
                <a:solidFill>
                  <a:srgbClr val="7BD88F"/>
                </a:solidFill>
                <a:latin typeface="Calibri"/>
              </a:rPr>
              <a:t>Datomic caches only immutable data, so nothing needs invalidating.</a:t>
            </a:r>
          </a:p>
        </p:txBody>
      </p:sp>
      <p:sp>
        <p:nvSpPr>
          <p:cNvPr id="10" name="t"/>
          <p:cNvSpPr txBox="1"/>
          <p:nvPr/>
        </p:nvSpPr>
        <p:spPr>
          <a:xfrm>
            <a:off x="502920" y="2802128"/>
            <a:ext cx="8138160" cy="195072"/>
          </a:xfrm>
          <a:prstGeom prst="rect">
            <a:avLst/>
          </a:prstGeom>
        </p:spPr>
        <p:txBody>
          <a:bodyPr wrap="square" lIns="91440" tIns="45720" rIns="91440" bIns="45720">
            <a:noAutofit/>
          </a:bodyPr>
          <a:lstStyle/>
          <a:p>
            <a:r>
              <a:rPr lang="en-US" sz="1200">
                <a:solidFill>
                  <a:srgbClr val="6FE3D2"/>
                </a:solidFill>
                <a:latin typeface="Calibri"/>
              </a:rPr>
              <a:t>Pro moves the query engine to your code; Cloud moves your code to the query engine.</a:t>
            </a:r>
          </a:p>
        </p:txBody>
      </p:sp>
      <p:sp>
        <p:nvSpPr>
          <p:cNvPr id="11" name="t"/>
          <p:cNvSpPr txBox="1"/>
          <p:nvPr/>
        </p:nvSpPr>
        <p:spPr>
          <a:xfrm>
            <a:off x="502920" y="4869180"/>
            <a:ext cx="5696712" cy="182880"/>
          </a:xfrm>
          <a:prstGeom prst="rect">
            <a:avLst/>
          </a:prstGeom>
        </p:spPr>
        <p:txBody>
          <a:bodyPr wrap="square" lIns="91440" tIns="45720" rIns="91440" bIns="45720">
            <a:noAutofit/>
          </a:bodyPr>
          <a:lstStyle/>
          <a:p>
            <a:r>
              <a:rPr lang="en-US" sz="900">
                <a:solidFill>
                  <a:srgbClr val="6A7891"/>
                </a:solidFill>
                <a:latin typeface="Calibri"/>
              </a:rPr>
              <a:t>Session 4 — Topologies and operations</a:t>
            </a:r>
          </a:p>
        </p:txBody>
      </p:sp>
      <p:sp>
        <p:nvSpPr>
          <p:cNvPr id="12" name="t"/>
          <p:cNvSpPr txBox="1"/>
          <p:nvPr/>
        </p:nvSpPr>
        <p:spPr>
          <a:xfrm>
            <a:off x="6199632" y="4869180"/>
            <a:ext cx="2441448" cy="182880"/>
          </a:xfrm>
          <a:prstGeom prst="rect">
            <a:avLst/>
          </a:prstGeom>
        </p:spPr>
        <p:txBody>
          <a:bodyPr wrap="square" lIns="91440" tIns="45720" rIns="91440" bIns="45720">
            <a:noAutofit/>
          </a:bodyPr>
          <a:lstStyle/>
          <a:p>
            <a:pPr algn="r"/>
            <a:r>
              <a:rPr lang="en-US" sz="900">
                <a:solidFill>
                  <a:srgbClr val="6A7891"/>
                </a:solidFill>
                <a:latin typeface="Calibri"/>
              </a:rPr>
              <a:t>86</a:t>
            </a:r>
          </a:p>
        </p:txBody>
      </p:sp>
    </p:spTree>
  </p:cSld>
  <p:clrMapOvr>
    <a:masterClrMapping/>
  </p:clrMapOvr>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Application>deck_builder.py</Application>
</Properties>
</file>

<file path=docProps/core.xml><?xml version="1.0" encoding="utf-8"?>
<cp:coreProperties xmlns:cp="http://schemas.openxmlformats.org/package/2006/metadata/core-properties" xmlns:dc="http://purl.org/dc/elements/1.1/" xmlns:dcterms="http://purl.org/dc/terms/" xmlns:xsi="http://www.w3.org/2001/XMLSchema-instance">
  <dc:title>Datomic in Production — Infrastructure, Storage &amp; Caches</dc:title>
  <dc:creator>4coders</dc:creator>
  <cp:lastModifiedBy>deck_builder.py</cp:lastModifiedBy>
  <dcterms:created xsi:type="dcterms:W3CDTF">2026-07-30T00:00:00Z</dcterms:created>
  <dcterms:modified xsi:type="dcterms:W3CDTF">2026-07-30T00:00:00Z</dcterms:modified>
</cp:coreProperties>
</file>